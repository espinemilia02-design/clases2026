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 minuto.</a:t>
            </a:r>
          </a:p>
          <a:p>
            <a:r>
              <a:t>Objetivo: reconocer que los microorganismos se estudian por su diversidad y por sus interacciones ambientales.</a:t>
            </a:r>
          </a:p>
          <a:p>
            <a:r>
              <a:t>Pregunta de apertura: ¿qué procesos ocurren en este suelo y esta laguna aunque no podamos ver sus protagonistas?</a:t>
            </a:r>
          </a:p>
          <a:p>
            <a:r>
              <a:t>Señalar suelo, raíces, agua y sedimentos. Las imágenes son representaciones ampliadas; sus tamaños en esta lámina no se comparan.</a:t>
            </a:r>
          </a:p>
          <a:p>
            <a:r>
              <a:t>Las arqueas también habitan ambientes comunes. Los hongos incluyen formas microscópicas, pero el grupo contiene organismos y estructuras macroscópicos. Los virus son agentes acelulares; los incluimos en el estudio microbiológico.</a:t>
            </a:r>
          </a:p>
          <a:p>
            <a:r>
              <a:t>Referencia: [1].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2 minutos.</a:t>
            </a:r>
          </a:p>
          <a:p>
            <a:r>
              <a:t>Leer desde LUCA hacia las puntas. LUCA es el último ancestro común de la vida celular actual; no equivale necesariamente a la primera forma de vida. Su reconstrucción se infiere comparando genomas.</a:t>
            </a:r>
          </a:p>
          <a:p>
            <a:r>
              <a:t>Se muestra una visión simplificada de dos dominios primarios: Bacteria y Archaea, con el linaje eucariota dentro de la radiación arqueana relacionada con Asgard. Las arqueas actuales no se transformaron directamente en los eucariotas actuales: comparten ancestros. La ubicación exacta dentro de Asgard continúa investigándose.</a:t>
            </a:r>
          </a:p>
          <a:p>
            <a:r>
              <a:t>La flecha discontinua teal representa el aporte endosimbiótico bacteriano que originó la mitocondria, no una rama de descendencia ordinaria.</a:t>
            </a:r>
          </a:p>
          <a:p>
            <a:r>
              <a:t>Bacteria y Archaea comprenden células sin núcleo; Eukaryota comprende células con núcleo. El tamaño o la apariencia no bastan para inferir parentesco.</a:t>
            </a:r>
          </a:p>
          <a:p>
            <a:r>
              <a:t>Los virus se presentan aparte: su clasificación evolutiva tiene múltiples grandes linajes y no se insertan como un cuarto dominio en este árbol celular. Las conexiones discontinuas de su recuadro indican infección, no ascendencia.</a:t>
            </a:r>
          </a:p>
          <a:p>
            <a:r>
              <a:t>Fuentes: [2], [3], [6].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2 minutos.</a:t>
            </a:r>
          </a:p>
          <a:p>
            <a:r>
              <a:t>Este es un mapa de ramas eucariotas seleccionadas. La politomía resume las conexiones profundas; no afirma un origen simultáneo ni que todos los grupos sean igualmente cercanos.</a:t>
            </a:r>
          </a:p>
          <a:p>
            <a:r>
              <a:t>Hongos: linaje Fungi, dentro de Opisthokonta, que también contiene animales. Algunas amebas pertenecen a Amoebozoa; no todas las amebas pertenecen a ese linaje.</a:t>
            </a:r>
          </a:p>
          <a:p>
            <a:r>
              <a:t>Archaeplastida incluye las algas verdes y rojas, además de las plantas terrestres. Las formas microscópicas de estas algas son ejemplos de microalgas.</a:t>
            </a:r>
          </a:p>
          <a:p>
            <a:r>
              <a:t>SAR reúne Stramenopiles, Alveolata y Rhizaria. Las diatomeas son estramenópilos y constituyen microalgas; los ciliados son alveolados y se estudian como protozoarios. Hay más ejemplos en SAR, como dinoflagelados y foraminíferos.</a:t>
            </a:r>
          </a:p>
          <a:p>
            <a:r>
              <a:t>Microalgas y protozoarios son términos prácticos que reúnen linajes diversos; no equivalen cada uno a una rama única. Algunos organismos tienen nutrición mixta. Las cianobacterias son Bacteria, aunque fotosinteticen.</a:t>
            </a:r>
          </a:p>
          <a:p>
            <a:r>
              <a:t>La filogenia eucariota se sigue revisando: Adl et al. es una base de clasificación y Williamson et al. aporta una investigación reciente sobre el árbol profundo, cuya resolución completa no se representa aquí.</a:t>
            </a:r>
          </a:p>
          <a:p>
            <a:r>
              <a:t>Pregunta breve: ¿por qué una diatomea y un ciliado aparecen en SAR si realizan funciones distintas?</a:t>
            </a:r>
          </a:p>
          <a:p>
            <a:r>
              <a:t>Fuentes: [4], [5].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2 minutos.</a:t>
            </a:r>
          </a:p>
          <a:p>
            <a:r>
              <a:t>La escala horizontal es logarítmica: cada salto grande multiplica el tamaño por diez. Los iconos identifican grupos; su tamaño dibujado no es una comparación a escala. La comparación cuantitativa está en las barras.</a:t>
            </a:r>
          </a:p>
          <a:p>
            <a:r>
              <a:t>Los intervalos son orientativos y muestran dimensiones lineales frecuentes, no mínimos y máximos universales ni distribuciones medidas de todo el grupo. La dimensión representada depende de la forma celular: longitud en bacilos y ciliados alargados, diámetro en células aproximadamente esféricas.</a:t>
            </a:r>
          </a:p>
          <a:p>
            <a:r>
              <a:t>Virus: muchos viriones se encuentran alrededor de 20–300 nm, pero hay virus gigantes mayores. Bacterias y arqueas tienen tamaños que se solapan ampliamente; el tamaño no permite distinguirlas.</a:t>
            </a:r>
          </a:p>
          <a:p>
            <a:r>
              <a:t>Hongos: la barra representa células de levadura (3–15 µm); para hifas importa distinguir diámetro (con frecuencia 2–10 µm) de longitud y de extensión total del micelio.</a:t>
            </a:r>
          </a:p>
          <a:p>
            <a:r>
              <a:t>Microalgas (1–200 µm) y protozoarios (2–200 µm) son rangos docentes amplios y solapados; hay representantes fuera de ellos. Las colonias pueden ser mucho mayores que las células individuales.</a:t>
            </a:r>
          </a:p>
          <a:p>
            <a:r>
              <a:t>Ejemplo de excepción: Thiomargarita magnifica puede alcanzar dimensiones centimétricas [9]. Evitar concluir que todas las bacterias son pequeñas o que todos los microbios son invisibles a simple vista.</a:t>
            </a:r>
          </a:p>
          <a:p>
            <a:r>
              <a:t>Pregunta breve: ¿podríamos identificar una arquea únicamente por su tamaño?</a:t>
            </a:r>
          </a:p>
          <a:p>
            <a:r>
              <a:t>Fuentes: [1],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2 minutos.</a:t>
            </a:r>
          </a:p>
          <a:p>
            <a:r>
              <a:t>Conectar estructura y fisiología con función ecológica. Estas tarjetas ilustran funciones frecuentes de determinados miembros; no son propiedades universales ni exclusivas de cada grupo.</a:t>
            </a:r>
          </a:p>
          <a:p>
            <a:r>
              <a:t>Bacterias: transforman compuestos y nutrientes; participan en múltiples etapas de los ciclos biogeoquímicos. Algunas también realizan producción primaria.</a:t>
            </a:r>
          </a:p>
          <a:p>
            <a:r>
              <a:t>Arqueas: algunos linajes oxidan amoníaco y otros producen metano; ambos procesos pertenecen a organismos y condiciones diferentes. La metanogénesis es propia de ciertas arqueas y suele darse en condiciones anaerobias. No todas son extremófilas.</a:t>
            </a:r>
          </a:p>
          <a:p>
            <a:r>
              <a:t>Hongos: secretan enzimas, absorben nutrientes y contribuyen a la descomposición; otros establecen asociaciones como micorrizas.</a:t>
            </a:r>
          </a:p>
          <a:p>
            <a:r>
              <a:t>Microalgas: muchas realizan fotosíntesis, fijan carbono y sostienen redes alimentarias acuáticas; algunas tienen nutrición mixta. Las cianobacterias también producen materia orgánica y oxígeno, aunque pertenecen a Bacteria.</a:t>
            </a:r>
          </a:p>
          <a:p>
            <a:r>
              <a:t>Protozoarios: muchos consumen bacterias y otros microbios, transfieren materia en la red trófica y contribuyen al reciclaje de nutrientes. Evitar presentar a todos como parásitos.</a:t>
            </a:r>
          </a:p>
          <a:p>
            <a:r>
              <a:t>Virus: la infección, y en ciertos casos la lisis, modifica poblaciones y libera materia celular; el trabajo de Graham et al. describe diversidad y potencial biogeoquímico, sin demostrar que cada gen predicho actúe en todos los ambientes.</a:t>
            </a:r>
          </a:p>
          <a:p>
            <a:r>
              <a:t>Ejemplos de aplicaciones para anticipar las siguientes clases: transformación de nutrientes → tratamiento de aguas; metanogénesis → biogás; fotosíntesis → biomasa microalgal; enzimas fúngicas → transformación de residuos.</a:t>
            </a:r>
          </a:p>
          <a:p>
            <a:r>
              <a:t>Cierre: ¿qué característica y qué proceso fisiológico permiten cada función?</a:t>
            </a:r>
          </a:p>
          <a:p>
            <a:r>
              <a:t>Fuentes: [1], [6], [7], [8].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láminas son de consulta y no requieren lectura durante la introducción. Los DOI y enlaces son clicables.</a:t>
            </a:r>
          </a:p>
          <a:p>
            <a:r>
              <a:t>No se reutilizaron figuras de los artículos; los diagramas son originales y didácticos. La ilustración ambiental de la primera lámina se generó con IA y se revisó conceptualmente. Los demás gráficos se construyeron con formas vectoriales editables.</a:t>
            </a:r>
          </a:p>
          <a:p>
            <a:r>
              <a:t>Materiales aportados: LibreTexts/Boundless y Lumen Learning sirvieron de orientación didáctica. MicrobiologyClass se contrastó con fuentes académicas: su afirmación de que la mayoría de especies bacterianas causan enfermedades no se incorporó. La página de ICR presenta una perspectiva creacionista y no se usó como respaldo de la filogenia. Para LUCA se consultó directamente Moody et al. (2024).</a:t>
            </a:r>
          </a:p>
          <a:p>
            <a:r>
              <a:t>El árbol refleja una síntesis filogenómica actual y no reproduce sin revisión los diagramas clásicos de los materiales iniciales.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láminas son de consulta y no requieren lectura durante la introducción. Los DOI y enlaces son clicables.</a:t>
            </a:r>
          </a:p>
          <a:p>
            <a:r>
              <a:t>No se reutilizaron figuras de los artículos; los diagramas son originales y didácticos. La ilustración ambiental de la primera lámina se generó con IA y se revisó conceptualmente. Los demás gráficos se construyeron con formas vectoriales editables.</a:t>
            </a:r>
          </a:p>
          <a:p>
            <a:r>
              <a:t>Materiales aportados: LibreTexts/Boundless y Lumen Learning sirvieron de orientación didáctica. MicrobiologyClass se contrastó con fuentes académicas: su afirmación de que la mayoría de especies bacterianas causan enfermedades no se incorporó. La página de ICR presenta una perspectiva creacionista y no se usó como respaldo de la filogenia. Para LUCA se consultó directamente Moody et al. (2024).</a:t>
            </a:r>
          </a:p>
          <a:p>
            <a:r>
              <a:t>El árbol refleja una síntesis filogenómica actual y no reproduce sin revisión los diagramas clásicos de los materiales iniciales.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penstax.org/books/microbiology/pages/1-3-types-of-microorganisms" TargetMode="External"/><Relationship Id="rId4" Type="http://schemas.openxmlformats.org/officeDocument/2006/relationships/hyperlink" Target="https://doi.org/10.1038/s41559-024-02461-1" TargetMode="External"/><Relationship Id="rId5" Type="http://schemas.openxmlformats.org/officeDocument/2006/relationships/hyperlink" Target="https://doi.org/10.1038/s41586-025-09960-6" TargetMode="External"/><Relationship Id="rId6" Type="http://schemas.openxmlformats.org/officeDocument/2006/relationships/hyperlink" Target="https://doi.org/10.1111/jeu.12691" TargetMode="External"/><Relationship Id="rId7" Type="http://schemas.openxmlformats.org/officeDocument/2006/relationships/hyperlink" Target="https://doi.org/10.1038/s41586-025-08709-5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i.org/10.1093/ismejo/wrad042" TargetMode="External"/><Relationship Id="rId4" Type="http://schemas.openxmlformats.org/officeDocument/2006/relationships/hyperlink" Target="https://doi.org/10.1038/s41564-024-01686-x" TargetMode="External"/><Relationship Id="rId5" Type="http://schemas.openxmlformats.org/officeDocument/2006/relationships/hyperlink" Target="https://doi.org/10.1038/nature03911" TargetMode="External"/><Relationship Id="rId6" Type="http://schemas.openxmlformats.org/officeDocument/2006/relationships/hyperlink" Target="https://doi.org/10.1126/science.abb363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254000"/>
            <a:ext cx="1079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MICROBIOLOGÍA AMBIENTAL · 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571500"/>
            <a:ext cx="11176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Diversidad microbiana en el ambiente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192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Seis grupos · múltiples hábitats · una red de interacciones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6438900"/>
            <a:ext cx="11074400" cy="0"/>
          </a:xfrm>
          <a:prstGeom prst="line">
            <a:avLst/>
          </a:prstGeom>
          <a:ln w="1016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6540500"/>
            <a:ext cx="1022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Base conceptual: [1]. Ilustración original generada con IA y revisada; ampliaciones sin escala común.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5278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01 / 07</a:t>
            </a:r>
          </a:p>
        </p:txBody>
      </p:sp>
      <p:pic>
        <p:nvPicPr>
          <p:cNvPr id="9" name="Picture 8" descr="exec-83dbf917-8899-4851-996a-8e69d31b97f2.png"/>
          <p:cNvPicPr>
            <a:picLocks noChangeAspect="1"/>
          </p:cNvPicPr>
          <p:nvPr/>
        </p:nvPicPr>
        <p:blipFill>
          <a:blip r:embed="rId3"/>
          <a:srcRect t="6409" b="21458"/>
          <a:stretch>
            <a:fillRect/>
          </a:stretch>
        </p:blipFill>
        <p:spPr>
          <a:xfrm>
            <a:off x="558800" y="1612900"/>
            <a:ext cx="11074400" cy="44958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7700" y="6121400"/>
            <a:ext cx="88900" cy="889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6070600"/>
            <a:ext cx="1625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1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Bacterias</a:t>
            </a:r>
          </a:p>
        </p:txBody>
      </p:sp>
      <p:sp>
        <p:nvSpPr>
          <p:cNvPr id="12" name="Oval 11"/>
          <p:cNvSpPr/>
          <p:nvPr/>
        </p:nvSpPr>
        <p:spPr>
          <a:xfrm>
            <a:off x="2489200" y="6121400"/>
            <a:ext cx="88900" cy="889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1600" y="6070600"/>
            <a:ext cx="1625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1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Arqueas</a:t>
            </a:r>
          </a:p>
        </p:txBody>
      </p:sp>
      <p:sp>
        <p:nvSpPr>
          <p:cNvPr id="14" name="Oval 13"/>
          <p:cNvSpPr/>
          <p:nvPr/>
        </p:nvSpPr>
        <p:spPr>
          <a:xfrm>
            <a:off x="4330700" y="6121400"/>
            <a:ext cx="88900" cy="88900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100" y="6070600"/>
            <a:ext cx="1625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1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Hongos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6121400"/>
            <a:ext cx="88900" cy="8890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600" y="6070600"/>
            <a:ext cx="1625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1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Microalgas</a:t>
            </a:r>
          </a:p>
        </p:txBody>
      </p:sp>
      <p:sp>
        <p:nvSpPr>
          <p:cNvPr id="18" name="Oval 17"/>
          <p:cNvSpPr/>
          <p:nvPr/>
        </p:nvSpPr>
        <p:spPr>
          <a:xfrm>
            <a:off x="8013700" y="6121400"/>
            <a:ext cx="88900" cy="88900"/>
          </a:xfrm>
          <a:prstGeom prst="ellipse">
            <a:avLst/>
          </a:prstGeom>
          <a:solidFill>
            <a:srgbClr val="33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6100" y="6070600"/>
            <a:ext cx="1625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1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Protozoarios</a:t>
            </a:r>
          </a:p>
        </p:txBody>
      </p:sp>
      <p:sp>
        <p:nvSpPr>
          <p:cNvPr id="20" name="Oval 19"/>
          <p:cNvSpPr/>
          <p:nvPr/>
        </p:nvSpPr>
        <p:spPr>
          <a:xfrm>
            <a:off x="9855200" y="6121400"/>
            <a:ext cx="88900" cy="88900"/>
          </a:xfrm>
          <a:prstGeom prst="ellipse">
            <a:avLst/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7600" y="6070600"/>
            <a:ext cx="1625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1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Virus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254000"/>
            <a:ext cx="1079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01 · PARENTESCO EVOLUTIVO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571500"/>
            <a:ext cx="11176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¿Dónde se ubican en el árbol de la vida?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192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La visión filogenómica actual vincula el origen eucariota con un linaje arqueano.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6438900"/>
            <a:ext cx="11074400" cy="0"/>
          </a:xfrm>
          <a:prstGeom prst="line">
            <a:avLst/>
          </a:prstGeom>
          <a:ln w="1016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6540500"/>
            <a:ext cx="1022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Fuentes: [2,3,6]. Filogenia simplificada; ramas sin escala temporal o de distancia genética.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5278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02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739900"/>
            <a:ext cx="8369300" cy="4241800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889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69400" y="1739900"/>
            <a:ext cx="2463800" cy="4241800"/>
          </a:xfrm>
          <a:prstGeom prst="roundRect">
            <a:avLst>
              <a:gd name="adj" fmla="val 7216"/>
            </a:avLst>
          </a:prstGeom>
          <a:solidFill>
            <a:srgbClr val="F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168400" y="3733800"/>
            <a:ext cx="927100" cy="0"/>
          </a:xfrm>
          <a:prstGeom prst="line">
            <a:avLst/>
          </a:prstGeom>
          <a:ln w="38100">
            <a:solidFill>
              <a:srgbClr val="173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95500" y="2463800"/>
            <a:ext cx="0" cy="1270000"/>
          </a:xfrm>
          <a:prstGeom prst="line">
            <a:avLst/>
          </a:prstGeom>
          <a:ln w="5080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95500" y="2463800"/>
            <a:ext cx="2451100" cy="0"/>
          </a:xfrm>
          <a:prstGeom prst="line">
            <a:avLst/>
          </a:prstGeom>
          <a:ln w="5080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95500" y="3733800"/>
            <a:ext cx="0" cy="876300"/>
          </a:xfrm>
          <a:prstGeom prst="line">
            <a:avLst/>
          </a:prstGeom>
          <a:ln w="508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95500" y="4610100"/>
            <a:ext cx="1308100" cy="0"/>
          </a:xfrm>
          <a:prstGeom prst="line">
            <a:avLst/>
          </a:prstGeom>
          <a:ln w="508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03600" y="3632200"/>
            <a:ext cx="0" cy="977900"/>
          </a:xfrm>
          <a:prstGeom prst="line">
            <a:avLst/>
          </a:prstGeom>
          <a:ln w="381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03600" y="3632200"/>
            <a:ext cx="1968500" cy="0"/>
          </a:xfrm>
          <a:prstGeom prst="line">
            <a:avLst/>
          </a:prstGeom>
          <a:ln w="381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03600" y="4610100"/>
            <a:ext cx="1041400" cy="0"/>
          </a:xfrm>
          <a:prstGeom prst="line">
            <a:avLst/>
          </a:prstGeom>
          <a:ln w="381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45000" y="4610100"/>
            <a:ext cx="927100" cy="0"/>
          </a:xfrm>
          <a:prstGeom prst="line">
            <a:avLst/>
          </a:prstGeom>
          <a:ln w="381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45000" y="4610100"/>
            <a:ext cx="0" cy="838200"/>
          </a:xfrm>
          <a:prstGeom prst="line">
            <a:avLst/>
          </a:prstGeom>
          <a:ln w="38100">
            <a:solidFill>
              <a:srgbClr val="173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45000" y="5448300"/>
            <a:ext cx="1905000" cy="0"/>
          </a:xfrm>
          <a:prstGeom prst="line">
            <a:avLst/>
          </a:prstGeom>
          <a:ln w="38100">
            <a:solidFill>
              <a:srgbClr val="173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117600" y="3683000"/>
            <a:ext cx="101600" cy="101600"/>
          </a:xfrm>
          <a:prstGeom prst="ellipse">
            <a:avLst/>
          </a:prstGeom>
          <a:solidFill>
            <a:srgbClr val="17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44700" y="3683000"/>
            <a:ext cx="101600" cy="101600"/>
          </a:xfrm>
          <a:prstGeom prst="ellipse">
            <a:avLst/>
          </a:prstGeom>
          <a:solidFill>
            <a:srgbClr val="17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52800" y="4559300"/>
            <a:ext cx="101600" cy="1016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94200" y="4559300"/>
            <a:ext cx="101600" cy="1016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3987800"/>
            <a:ext cx="10541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LUCA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4343400"/>
            <a:ext cx="12319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Ancestro común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celular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4553204" y="2230120"/>
            <a:ext cx="80010" cy="4000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21275" y="2270125"/>
            <a:ext cx="80010" cy="2400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4553204" y="2326132"/>
            <a:ext cx="80010" cy="4000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21275" y="2366137"/>
            <a:ext cx="80010" cy="2400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4553204" y="2422144"/>
            <a:ext cx="80010" cy="4000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21275" y="2462149"/>
            <a:ext cx="80010" cy="2400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553204" y="2518156"/>
            <a:ext cx="80010" cy="4000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1275" y="2558161"/>
            <a:ext cx="80010" cy="2400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4553204" y="2614168"/>
            <a:ext cx="80010" cy="4000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1275" y="2654173"/>
            <a:ext cx="80010" cy="2400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601210" y="2230120"/>
            <a:ext cx="520065" cy="400050"/>
          </a:xfrm>
          <a:prstGeom prst="roundRect">
            <a:avLst>
              <a:gd name="adj" fmla="val 48000"/>
            </a:avLst>
          </a:prstGeom>
          <a:solidFill>
            <a:srgbClr val="CCE6E7"/>
          </a:solidFill>
          <a:ln w="215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33214" y="2262124"/>
            <a:ext cx="456056" cy="336041"/>
          </a:xfrm>
          <a:prstGeom prst="roundRect">
            <a:avLst>
              <a:gd name="adj" fmla="val 47619"/>
            </a:avLst>
          </a:prstGeom>
          <a:noFill/>
          <a:ln w="88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4745228" y="2350135"/>
            <a:ext cx="72009" cy="72009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17237" y="2350135"/>
            <a:ext cx="64008" cy="112014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881245" y="2366137"/>
            <a:ext cx="72009" cy="96012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53254" y="2366137"/>
            <a:ext cx="40005" cy="96012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705223" y="2342134"/>
            <a:ext cx="20002" cy="20002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45228" y="2534158"/>
            <a:ext cx="20002" cy="20002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77257" y="2534158"/>
            <a:ext cx="20002" cy="20002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41265" y="2342134"/>
            <a:ext cx="20002" cy="20002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73244" y="2542159"/>
            <a:ext cx="20002" cy="20002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5121275" y="2350135"/>
            <a:ext cx="104013" cy="64008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25288" y="2350135"/>
            <a:ext cx="40005" cy="88011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265293" y="2382139"/>
            <a:ext cx="56007" cy="56007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0" y="2108200"/>
            <a:ext cx="2133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Bacteria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2489200"/>
            <a:ext cx="228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Bacterias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4241800"/>
            <a:ext cx="1066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58B22"/>
                </a:solidFill>
                <a:latin typeface="DejaVu Sans"/>
              </a:defRPr>
            </a:pPr>
            <a:r>
              <a:rPr>
                <a:latin typeface="DejaVu Sans"/>
              </a:rPr>
              <a:t>Archaea</a:t>
            </a:r>
          </a:p>
        </p:txBody>
      </p:sp>
      <p:sp>
        <p:nvSpPr>
          <p:cNvPr id="55" name="Oval 54"/>
          <p:cNvSpPr/>
          <p:nvPr/>
        </p:nvSpPr>
        <p:spPr>
          <a:xfrm>
            <a:off x="5472176" y="3412236"/>
            <a:ext cx="262128" cy="262128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99608" y="3439667"/>
            <a:ext cx="207264" cy="207264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5545571" y="3490874"/>
            <a:ext cx="57669" cy="39319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603240" y="3490874"/>
            <a:ext cx="39319" cy="65532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537708" y="3595725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642559" y="3496116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740400" y="3461004"/>
            <a:ext cx="237744" cy="237744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767832" y="3488436"/>
            <a:ext cx="182880" cy="18288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5806968" y="3532327"/>
            <a:ext cx="52304" cy="35661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859272" y="3532327"/>
            <a:ext cx="35661" cy="59436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5799836" y="3627424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894933" y="3537082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00192" y="3656076"/>
            <a:ext cx="207264" cy="207264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627624" y="3683508"/>
            <a:ext cx="152400" cy="15240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5658225" y="3718255"/>
            <a:ext cx="45599" cy="31089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03824" y="3718255"/>
            <a:ext cx="31089" cy="51816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5652008" y="3801160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734913" y="3722400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84900" y="3441700"/>
            <a:ext cx="2286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58B22"/>
                </a:solidFill>
                <a:latin typeface="DejaVu Sans"/>
              </a:defRPr>
            </a:pPr>
            <a:r>
              <a:rPr>
                <a:latin typeface="DejaVu Sans"/>
              </a:rPr>
              <a:t>Otras arqueas</a:t>
            </a:r>
          </a:p>
        </p:txBody>
      </p:sp>
      <p:sp>
        <p:nvSpPr>
          <p:cNvPr id="74" name="Oval 73"/>
          <p:cNvSpPr/>
          <p:nvPr/>
        </p:nvSpPr>
        <p:spPr>
          <a:xfrm>
            <a:off x="5472176" y="4390136"/>
            <a:ext cx="262128" cy="262128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499608" y="4417568"/>
            <a:ext cx="207264" cy="207264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5545571" y="4468774"/>
            <a:ext cx="57669" cy="39319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603240" y="4468774"/>
            <a:ext cx="39319" cy="65532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5537708" y="4573625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642559" y="4474016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740400" y="4438904"/>
            <a:ext cx="237744" cy="237744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767832" y="4466336"/>
            <a:ext cx="182880" cy="18288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5806968" y="4510227"/>
            <a:ext cx="52304" cy="35661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859272" y="4510227"/>
            <a:ext cx="35661" cy="59436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799836" y="4605324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894933" y="4514982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600192" y="4633976"/>
            <a:ext cx="207264" cy="207264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627624" y="4661408"/>
            <a:ext cx="152400" cy="15240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5658225" y="4696155"/>
            <a:ext cx="45599" cy="31089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703824" y="4696155"/>
            <a:ext cx="31089" cy="51816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5652008" y="4779060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34913" y="4700300"/>
            <a:ext cx="15240" cy="1524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84900" y="4432300"/>
            <a:ext cx="2286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58B22"/>
                </a:solidFill>
                <a:latin typeface="DejaVu Sans"/>
              </a:defRPr>
            </a:pPr>
            <a:r>
              <a:rPr>
                <a:latin typeface="DejaVu Sans"/>
              </a:rPr>
              <a:t>Arqueas Asgard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0" y="4851400"/>
            <a:ext cx="16637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Linaje Asgard</a:t>
            </a:r>
          </a:p>
        </p:txBody>
      </p:sp>
      <p:sp>
        <p:nvSpPr>
          <p:cNvPr id="94" name="Oval 93"/>
          <p:cNvSpPr/>
          <p:nvPr/>
        </p:nvSpPr>
        <p:spPr>
          <a:xfrm>
            <a:off x="6362700" y="5194300"/>
            <a:ext cx="533400" cy="533400"/>
          </a:xfrm>
          <a:prstGeom prst="ellipse">
            <a:avLst/>
          </a:prstGeom>
          <a:solidFill>
            <a:srgbClr val="EBE5F2"/>
          </a:solidFill>
          <a:ln w="1905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515100" y="5346700"/>
            <a:ext cx="190500" cy="190500"/>
          </a:xfrm>
          <a:prstGeom prst="ellipse">
            <a:avLst/>
          </a:prstGeom>
          <a:solidFill>
            <a:srgbClr val="B39ACE"/>
          </a:solidFill>
          <a:ln w="1016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23100" y="5219700"/>
            <a:ext cx="1714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Eukaryota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23100" y="5549900"/>
            <a:ext cx="171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Con núcleo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4889500" y="2654300"/>
            <a:ext cx="0" cy="495300"/>
          </a:xfrm>
          <a:prstGeom prst="line">
            <a:avLst/>
          </a:prstGeom>
          <a:ln w="19050">
            <a:solidFill>
              <a:srgbClr val="168D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889500" y="3149600"/>
            <a:ext cx="3695700" cy="0"/>
          </a:xfrm>
          <a:prstGeom prst="line">
            <a:avLst/>
          </a:prstGeom>
          <a:ln w="19050">
            <a:solidFill>
              <a:srgbClr val="168D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585200" y="3149600"/>
            <a:ext cx="0" cy="1841500"/>
          </a:xfrm>
          <a:prstGeom prst="line">
            <a:avLst/>
          </a:prstGeom>
          <a:ln w="19050">
            <a:solidFill>
              <a:srgbClr val="168D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781800" y="4991100"/>
            <a:ext cx="1803400" cy="0"/>
          </a:xfrm>
          <a:prstGeom prst="line">
            <a:avLst/>
          </a:prstGeom>
          <a:ln w="19050">
            <a:solidFill>
              <a:srgbClr val="168D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781800" y="4991100"/>
            <a:ext cx="0" cy="228600"/>
          </a:xfrm>
          <a:prstGeom prst="line">
            <a:avLst/>
          </a:prstGeom>
          <a:ln w="19050">
            <a:solidFill>
              <a:srgbClr val="168D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6752590" y="5163820"/>
            <a:ext cx="58420" cy="55880"/>
          </a:xfrm>
          <a:custGeom>
            <a:avLst/>
            <a:gdLst/>
            <a:ahLst/>
            <a:cxnLst/>
            <a:rect l="l" t="t" r="r" b="b"/>
            <a:pathLst>
              <a:path w="46" h="44">
                <a:moveTo>
                  <a:pt x="23" y="44"/>
                </a:moveTo>
                <a:lnTo>
                  <a:pt x="0" y="0"/>
                </a:lnTo>
                <a:lnTo>
                  <a:pt x="46" y="0"/>
                </a:lnTo>
                <a:close/>
              </a:path>
            </a:pathLst>
          </a:cu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13500" y="2717800"/>
            <a:ext cx="19812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Endosimbiosis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bacteriana: mitocondria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59900" y="1930400"/>
            <a:ext cx="20828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76E63"/>
                </a:solidFill>
                <a:latin typeface="DejaVu Sans"/>
              </a:defRPr>
            </a:pPr>
            <a:r>
              <a:rPr>
                <a:latin typeface="DejaVu Sans"/>
              </a:rPr>
              <a:t>VIRUS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10190480" y="2382520"/>
            <a:ext cx="421640" cy="462280"/>
          </a:xfrm>
          <a:custGeom>
            <a:avLst/>
            <a:gdLst/>
            <a:ahLst/>
            <a:cxnLst/>
            <a:rect l="l" t="t" r="r" b="b"/>
            <a:pathLst>
              <a:path w="332" h="364">
                <a:moveTo>
                  <a:pt x="166" y="0"/>
                </a:moveTo>
                <a:lnTo>
                  <a:pt x="332" y="89"/>
                </a:lnTo>
                <a:lnTo>
                  <a:pt x="332" y="275"/>
                </a:lnTo>
                <a:lnTo>
                  <a:pt x="166" y="364"/>
                </a:lnTo>
                <a:lnTo>
                  <a:pt x="0" y="275"/>
                </a:lnTo>
                <a:lnTo>
                  <a:pt x="0" y="89"/>
                </a:lnTo>
                <a:close/>
              </a:path>
            </a:pathLst>
          </a:custGeom>
          <a:solidFill>
            <a:srgbClr val="F6DFDD"/>
          </a:solidFill>
          <a:ln w="20320">
            <a:solidFill>
              <a:srgbClr val="D7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10189972" y="2495804"/>
            <a:ext cx="422656" cy="235712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10401300" y="2382012"/>
            <a:ext cx="211328" cy="349504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401300" y="2382012"/>
            <a:ext cx="0" cy="463296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401300" y="2495804"/>
            <a:ext cx="211328" cy="349504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10189972" y="2495804"/>
            <a:ext cx="422656" cy="235712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189972" y="2495804"/>
            <a:ext cx="0" cy="235712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352532" y="2861564"/>
            <a:ext cx="97536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352532" y="2890012"/>
            <a:ext cx="97536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352532" y="2918460"/>
            <a:ext cx="97536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352532" y="2946908"/>
            <a:ext cx="97536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401300" y="2845308"/>
            <a:ext cx="0" cy="170688"/>
          </a:xfrm>
          <a:prstGeom prst="line">
            <a:avLst/>
          </a:prstGeom>
          <a:ln w="2540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10222484" y="2918460"/>
            <a:ext cx="178816" cy="5689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10141204" y="2918460"/>
            <a:ext cx="81280" cy="22758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10303764" y="2999740"/>
            <a:ext cx="97536" cy="5689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10287508" y="3056636"/>
            <a:ext cx="16256" cy="13817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0401300" y="2918460"/>
            <a:ext cx="178816" cy="5689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580116" y="2918460"/>
            <a:ext cx="81280" cy="22758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401300" y="2999740"/>
            <a:ext cx="97536" cy="5689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498836" y="3056636"/>
            <a:ext cx="16256" cy="13817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9385300" y="3403600"/>
            <a:ext cx="2032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Agentes acelulares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23400" y="3784600"/>
            <a:ext cx="19558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Infectan células de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los distintos dominios</a:t>
            </a:r>
          </a:p>
        </p:txBody>
      </p:sp>
      <p:cxnSp>
        <p:nvCxnSpPr>
          <p:cNvPr id="128" name="Connector 127"/>
          <p:cNvCxnSpPr/>
          <p:nvPr/>
        </p:nvCxnSpPr>
        <p:spPr>
          <a:xfrm flipH="1" flipV="1">
            <a:off x="9469120" y="4800600"/>
            <a:ext cx="50800" cy="2540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829800" y="4826000"/>
            <a:ext cx="50800" cy="1524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9469120" y="4861560"/>
            <a:ext cx="50800" cy="2540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829800" y="4886960"/>
            <a:ext cx="50800" cy="1524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 flipV="1">
            <a:off x="9469120" y="4922520"/>
            <a:ext cx="50800" cy="2540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829800" y="4947920"/>
            <a:ext cx="50800" cy="1524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9469120" y="4983480"/>
            <a:ext cx="50800" cy="2540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829800" y="5008880"/>
            <a:ext cx="50800" cy="1524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 flipV="1">
            <a:off x="9469120" y="5044440"/>
            <a:ext cx="50800" cy="2540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829800" y="5069840"/>
            <a:ext cx="50800" cy="1524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9499600" y="4800600"/>
            <a:ext cx="330200" cy="254000"/>
          </a:xfrm>
          <a:prstGeom prst="roundRect">
            <a:avLst>
              <a:gd name="adj" fmla="val 48000"/>
            </a:avLst>
          </a:prstGeom>
          <a:solidFill>
            <a:srgbClr val="CCE6E7"/>
          </a:solidFill>
          <a:ln w="215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9519920" y="4820920"/>
            <a:ext cx="289559" cy="213360"/>
          </a:xfrm>
          <a:prstGeom prst="roundRect">
            <a:avLst>
              <a:gd name="adj" fmla="val 47619"/>
            </a:avLst>
          </a:prstGeom>
          <a:noFill/>
          <a:ln w="88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9591040" y="4876800"/>
            <a:ext cx="45720" cy="45720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636760" y="4876800"/>
            <a:ext cx="40640" cy="71120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677400" y="4886960"/>
            <a:ext cx="45720" cy="60960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723120" y="4886960"/>
            <a:ext cx="25400" cy="60960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9565640" y="4871720"/>
            <a:ext cx="12700" cy="127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591040" y="4993640"/>
            <a:ext cx="12700" cy="127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9738360" y="4993640"/>
            <a:ext cx="12700" cy="127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9779000" y="4871720"/>
            <a:ext cx="12700" cy="127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672320" y="4998720"/>
            <a:ext cx="12700" cy="127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V="1">
            <a:off x="9829800" y="4876800"/>
            <a:ext cx="66040" cy="40640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895840" y="4876800"/>
            <a:ext cx="25400" cy="55880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921240" y="4897120"/>
            <a:ext cx="35560" cy="35560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9702800" y="4343400"/>
            <a:ext cx="685800" cy="317500"/>
          </a:xfrm>
          <a:prstGeom prst="line">
            <a:avLst/>
          </a:prstGeom>
          <a:ln w="10160">
            <a:solidFill>
              <a:srgbClr val="D76E6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Freeform 152"/>
          <p:cNvSpPr/>
          <p:nvPr/>
        </p:nvSpPr>
        <p:spPr>
          <a:xfrm>
            <a:off x="9702800" y="4610100"/>
            <a:ext cx="63500" cy="53340"/>
          </a:xfrm>
          <a:custGeom>
            <a:avLst/>
            <a:gdLst/>
            <a:ahLst/>
            <a:cxnLst/>
            <a:rect l="l" t="t" r="r" b="b"/>
            <a:pathLst>
              <a:path w="50" h="42">
                <a:moveTo>
                  <a:pt x="0" y="40"/>
                </a:moveTo>
                <a:lnTo>
                  <a:pt x="31" y="0"/>
                </a:lnTo>
                <a:lnTo>
                  <a:pt x="50" y="42"/>
                </a:lnTo>
                <a:close/>
              </a:path>
            </a:pathLst>
          </a:cu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126980" y="4780280"/>
            <a:ext cx="218440" cy="218440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149840" y="4803140"/>
            <a:ext cx="172719" cy="172719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 flipV="1">
            <a:off x="10188143" y="4845812"/>
            <a:ext cx="48057" cy="32766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236200" y="4845812"/>
            <a:ext cx="32766" cy="54610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10181590" y="4933188"/>
            <a:ext cx="12700" cy="127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268966" y="4850180"/>
            <a:ext cx="12700" cy="127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350500" y="4820920"/>
            <a:ext cx="198120" cy="198120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373360" y="4843780"/>
            <a:ext cx="152400" cy="15240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 flipV="1">
            <a:off x="10405973" y="4880356"/>
            <a:ext cx="43587" cy="29718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449560" y="4880356"/>
            <a:ext cx="29718" cy="49530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10400030" y="4959604"/>
            <a:ext cx="12700" cy="127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479278" y="4884318"/>
            <a:ext cx="12700" cy="127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233660" y="4983480"/>
            <a:ext cx="172720" cy="172720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256520" y="5006340"/>
            <a:ext cx="127000" cy="12700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 flipV="1">
            <a:off x="10282021" y="5035296"/>
            <a:ext cx="37999" cy="25908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320020" y="5035296"/>
            <a:ext cx="25908" cy="43180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/>
          <p:cNvSpPr/>
          <p:nvPr/>
        </p:nvSpPr>
        <p:spPr>
          <a:xfrm>
            <a:off x="10276840" y="5104384"/>
            <a:ext cx="12700" cy="127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345928" y="5038750"/>
            <a:ext cx="12700" cy="127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 flipH="1">
            <a:off x="10350500" y="4343400"/>
            <a:ext cx="38100" cy="317500"/>
          </a:xfrm>
          <a:prstGeom prst="line">
            <a:avLst/>
          </a:prstGeom>
          <a:ln w="10160">
            <a:solidFill>
              <a:srgbClr val="D76E6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reeform 172"/>
          <p:cNvSpPr/>
          <p:nvPr/>
        </p:nvSpPr>
        <p:spPr>
          <a:xfrm>
            <a:off x="10327640" y="4601210"/>
            <a:ext cx="58420" cy="59690"/>
          </a:xfrm>
          <a:custGeom>
            <a:avLst/>
            <a:gdLst/>
            <a:ahLst/>
            <a:cxnLst/>
            <a:rect l="l" t="t" r="r" b="b"/>
            <a:pathLst>
              <a:path w="46" h="47">
                <a:moveTo>
                  <a:pt x="18" y="47"/>
                </a:moveTo>
                <a:lnTo>
                  <a:pt x="0" y="0"/>
                </a:lnTo>
                <a:lnTo>
                  <a:pt x="46" y="6"/>
                </a:lnTo>
                <a:close/>
              </a:path>
            </a:pathLst>
          </a:cu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800080" y="4749800"/>
            <a:ext cx="396240" cy="396240"/>
          </a:xfrm>
          <a:prstGeom prst="ellipse">
            <a:avLst/>
          </a:prstGeom>
          <a:solidFill>
            <a:srgbClr val="DBE8D5"/>
          </a:solidFill>
          <a:ln w="1651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830560" y="4780280"/>
            <a:ext cx="335280" cy="335280"/>
          </a:xfrm>
          <a:prstGeom prst="ellipse">
            <a:avLst/>
          </a:prstGeom>
          <a:solidFill>
            <a:srgbClr val="A5C695"/>
          </a:solidFill>
          <a:ln w="1143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927080" y="4841240"/>
            <a:ext cx="203200" cy="228600"/>
          </a:xfrm>
          <a:prstGeom prst="ellipse">
            <a:avLst/>
          </a:prstGeom>
          <a:solidFill>
            <a:srgbClr val="DB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947400" y="4892040"/>
            <a:ext cx="91439" cy="96520"/>
          </a:xfrm>
          <a:prstGeom prst="ellipse">
            <a:avLst/>
          </a:prstGeom>
          <a:solidFill>
            <a:srgbClr val="BFAAD6"/>
          </a:solidFill>
          <a:ln w="1143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850880" y="4841240"/>
            <a:ext cx="55880" cy="3556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850880" y="4922520"/>
            <a:ext cx="55880" cy="3556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896600" y="5013960"/>
            <a:ext cx="55880" cy="3556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1023600" y="5024120"/>
            <a:ext cx="55880" cy="3556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064240" y="4795520"/>
            <a:ext cx="55880" cy="3556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059160" y="4968240"/>
            <a:ext cx="35560" cy="35560"/>
          </a:xfrm>
          <a:prstGeom prst="ellipse">
            <a:avLst/>
          </a:prstGeom>
          <a:solidFill>
            <a:srgbClr val="EFF5EC"/>
          </a:solidFill>
          <a:ln w="762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10388600" y="4343400"/>
            <a:ext cx="609600" cy="317500"/>
          </a:xfrm>
          <a:prstGeom prst="line">
            <a:avLst/>
          </a:prstGeom>
          <a:ln w="10160">
            <a:solidFill>
              <a:srgbClr val="D76E6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Freeform 184"/>
          <p:cNvSpPr/>
          <p:nvPr/>
        </p:nvSpPr>
        <p:spPr>
          <a:xfrm>
            <a:off x="10934700" y="4608830"/>
            <a:ext cx="63500" cy="52070"/>
          </a:xfrm>
          <a:custGeom>
            <a:avLst/>
            <a:gdLst/>
            <a:ahLst/>
            <a:cxnLst/>
            <a:rect l="l" t="t" r="r" b="b"/>
            <a:pathLst>
              <a:path w="50" h="41">
                <a:moveTo>
                  <a:pt x="50" y="41"/>
                </a:moveTo>
                <a:lnTo>
                  <a:pt x="0" y="41"/>
                </a:lnTo>
                <a:lnTo>
                  <a:pt x="21" y="0"/>
                </a:lnTo>
                <a:close/>
              </a:path>
            </a:pathLst>
          </a:cu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448800" y="5422900"/>
            <a:ext cx="190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D76E63"/>
                </a:solidFill>
                <a:latin typeface="DejaVu Sans"/>
              </a:defRPr>
            </a:pPr>
            <a:r>
              <a:rPr>
                <a:latin typeface="DejaVu Sans"/>
              </a:rPr>
              <a:t>Líneas = infección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8800" y="609600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El parentesco se infiere con evidencia molecular; el tamaño no determina la posición en el árbol.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254000"/>
            <a:ext cx="1079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02 · RAMAS SELECCIONADAS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571500"/>
            <a:ext cx="11176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Un acercamiento a los eucariotas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192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Hongos, microalgas y protozoarios ocupan posiciones diferentes.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6438900"/>
            <a:ext cx="11074400" cy="0"/>
          </a:xfrm>
          <a:prstGeom prst="line">
            <a:avLst/>
          </a:prstGeom>
          <a:ln w="1016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6540500"/>
            <a:ext cx="1022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Fuentes: [4,5]. Se omiten otros linajes; las relaciones profundas se resumen con una politomía.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5278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03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454400"/>
            <a:ext cx="16129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Eukaryota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1200" y="3657600"/>
            <a:ext cx="419100" cy="0"/>
          </a:xfrm>
          <a:prstGeom prst="line">
            <a:avLst/>
          </a:prstGeom>
          <a:ln w="25400">
            <a:solidFill>
              <a:srgbClr val="173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00300" y="2108200"/>
            <a:ext cx="0" cy="3086100"/>
          </a:xfrm>
          <a:prstGeom prst="line">
            <a:avLst/>
          </a:prstGeom>
          <a:ln w="3810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00300" y="2108200"/>
            <a:ext cx="431800" cy="0"/>
          </a:xfrm>
          <a:prstGeom prst="line">
            <a:avLst/>
          </a:prstGeom>
          <a:ln w="2540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49500" y="2057400"/>
            <a:ext cx="101600" cy="101600"/>
          </a:xfrm>
          <a:prstGeom prst="ellipse">
            <a:avLst/>
          </a:prstGeom>
          <a:solidFill>
            <a:srgbClr val="17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400300" y="3136900"/>
            <a:ext cx="431800" cy="0"/>
          </a:xfrm>
          <a:prstGeom prst="line">
            <a:avLst/>
          </a:prstGeom>
          <a:ln w="2540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49500" y="3086100"/>
            <a:ext cx="101600" cy="101600"/>
          </a:xfrm>
          <a:prstGeom prst="ellipse">
            <a:avLst/>
          </a:prstGeom>
          <a:solidFill>
            <a:srgbClr val="17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400300" y="4165600"/>
            <a:ext cx="431800" cy="0"/>
          </a:xfrm>
          <a:prstGeom prst="line">
            <a:avLst/>
          </a:prstGeom>
          <a:ln w="2540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49500" y="4114800"/>
            <a:ext cx="101600" cy="101600"/>
          </a:xfrm>
          <a:prstGeom prst="ellipse">
            <a:avLst/>
          </a:prstGeom>
          <a:solidFill>
            <a:srgbClr val="17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400300" y="5194300"/>
            <a:ext cx="431800" cy="0"/>
          </a:xfrm>
          <a:prstGeom prst="line">
            <a:avLst/>
          </a:prstGeom>
          <a:ln w="2540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349500" y="5143500"/>
            <a:ext cx="101600" cy="101600"/>
          </a:xfrm>
          <a:prstGeom prst="ellipse">
            <a:avLst/>
          </a:prstGeom>
          <a:solidFill>
            <a:srgbClr val="17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57500" y="1689100"/>
            <a:ext cx="8775700" cy="850900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889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57500" y="2717800"/>
            <a:ext cx="8775700" cy="850900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889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57500" y="3746500"/>
            <a:ext cx="8775700" cy="850900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889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57500" y="4775200"/>
            <a:ext cx="8775700" cy="850900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889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6100" y="1828800"/>
            <a:ext cx="3238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Opisthokonta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6100" y="2184400"/>
            <a:ext cx="3683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También incluye animales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023100" y="2184400"/>
            <a:ext cx="205740" cy="190500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28840" y="2047239"/>
            <a:ext cx="144780" cy="137161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73620" y="1841500"/>
            <a:ext cx="152400" cy="205739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023100" y="2184400"/>
            <a:ext cx="205740" cy="190500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28840" y="2047239"/>
            <a:ext cx="144780" cy="137161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73620" y="1841500"/>
            <a:ext cx="152400" cy="205739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145020" y="1986280"/>
            <a:ext cx="83820" cy="198120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068820" y="1879600"/>
            <a:ext cx="76200" cy="106680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7145020" y="1986280"/>
            <a:ext cx="83820" cy="198120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7068820" y="1879600"/>
            <a:ext cx="76200" cy="106680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66000" y="2062480"/>
            <a:ext cx="182880" cy="38100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48880" y="2009139"/>
            <a:ext cx="106679" cy="91441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66000" y="2062480"/>
            <a:ext cx="182880" cy="38100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548880" y="2009139"/>
            <a:ext cx="106679" cy="91441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22159" y="2275840"/>
            <a:ext cx="45721" cy="5334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97420" y="2085339"/>
            <a:ext cx="45720" cy="5334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19340" y="1925320"/>
            <a:ext cx="53340" cy="45719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145020" y="2016760"/>
            <a:ext cx="53339" cy="1524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442200" y="2230120"/>
            <a:ext cx="205740" cy="251460"/>
          </a:xfrm>
          <a:prstGeom prst="ellipse">
            <a:avLst/>
          </a:prstGeom>
          <a:solidFill>
            <a:srgbClr val="E5DDEE"/>
          </a:solidFill>
          <a:ln w="1651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71740" y="2192020"/>
            <a:ext cx="114300" cy="137160"/>
          </a:xfrm>
          <a:prstGeom prst="ellipse">
            <a:avLst/>
          </a:prstGeom>
          <a:solidFill>
            <a:srgbClr val="E5DDEE"/>
          </a:solidFill>
          <a:ln w="1651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18400" y="2313940"/>
            <a:ext cx="53340" cy="60960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1981200"/>
            <a:ext cx="32893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A64B4"/>
                </a:solidFill>
                <a:latin typeface="DejaVu Sans"/>
              </a:defRPr>
            </a:pPr>
            <a:r>
              <a:rPr>
                <a:latin typeface="DejaVu Sans"/>
              </a:rPr>
              <a:t>Hongos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6100" y="2857500"/>
            <a:ext cx="3238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Amoebozoa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6100" y="3213100"/>
            <a:ext cx="3683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Ejemplo: algunas amebas</a:t>
            </a:r>
          </a:p>
        </p:txBody>
      </p:sp>
      <p:sp>
        <p:nvSpPr>
          <p:cNvPr id="50" name="Freeform 49"/>
          <p:cNvSpPr/>
          <p:nvPr/>
        </p:nvSpPr>
        <p:spPr>
          <a:xfrm>
            <a:off x="7026910" y="2828290"/>
            <a:ext cx="643890" cy="643890"/>
          </a:xfrm>
          <a:custGeom>
            <a:avLst/>
            <a:gdLst/>
            <a:ahLst/>
            <a:cxnLst/>
            <a:rect l="l" t="t" r="r" b="b"/>
            <a:pathLst>
              <a:path w="507" h="507">
                <a:moveTo>
                  <a:pt x="471" y="243"/>
                </a:moveTo>
                <a:lnTo>
                  <a:pt x="492" y="265"/>
                </a:lnTo>
                <a:lnTo>
                  <a:pt x="505" y="290"/>
                </a:lnTo>
                <a:lnTo>
                  <a:pt x="507" y="315"/>
                </a:lnTo>
                <a:lnTo>
                  <a:pt x="496" y="337"/>
                </a:lnTo>
                <a:lnTo>
                  <a:pt x="473" y="353"/>
                </a:lnTo>
                <a:lnTo>
                  <a:pt x="442" y="361"/>
                </a:lnTo>
                <a:lnTo>
                  <a:pt x="408" y="363"/>
                </a:lnTo>
                <a:lnTo>
                  <a:pt x="375" y="358"/>
                </a:lnTo>
                <a:lnTo>
                  <a:pt x="346" y="352"/>
                </a:lnTo>
                <a:lnTo>
                  <a:pt x="326" y="349"/>
                </a:lnTo>
                <a:lnTo>
                  <a:pt x="313" y="352"/>
                </a:lnTo>
                <a:lnTo>
                  <a:pt x="307" y="364"/>
                </a:lnTo>
                <a:lnTo>
                  <a:pt x="303" y="384"/>
                </a:lnTo>
                <a:lnTo>
                  <a:pt x="299" y="412"/>
                </a:lnTo>
                <a:lnTo>
                  <a:pt x="291" y="443"/>
                </a:lnTo>
                <a:lnTo>
                  <a:pt x="277" y="472"/>
                </a:lnTo>
                <a:lnTo>
                  <a:pt x="259" y="495"/>
                </a:lnTo>
                <a:lnTo>
                  <a:pt x="237" y="507"/>
                </a:lnTo>
                <a:lnTo>
                  <a:pt x="214" y="507"/>
                </a:lnTo>
                <a:lnTo>
                  <a:pt x="192" y="496"/>
                </a:lnTo>
                <a:lnTo>
                  <a:pt x="175" y="476"/>
                </a:lnTo>
                <a:lnTo>
                  <a:pt x="161" y="451"/>
                </a:lnTo>
                <a:lnTo>
                  <a:pt x="152" y="426"/>
                </a:lnTo>
                <a:lnTo>
                  <a:pt x="143" y="405"/>
                </a:lnTo>
                <a:lnTo>
                  <a:pt x="134" y="390"/>
                </a:lnTo>
                <a:lnTo>
                  <a:pt x="121" y="381"/>
                </a:lnTo>
                <a:lnTo>
                  <a:pt x="104" y="376"/>
                </a:lnTo>
                <a:lnTo>
                  <a:pt x="81" y="374"/>
                </a:lnTo>
                <a:lnTo>
                  <a:pt x="56" y="370"/>
                </a:lnTo>
                <a:lnTo>
                  <a:pt x="32" y="361"/>
                </a:lnTo>
                <a:lnTo>
                  <a:pt x="12" y="348"/>
                </a:lnTo>
                <a:lnTo>
                  <a:pt x="1" y="329"/>
                </a:lnTo>
                <a:lnTo>
                  <a:pt x="0" y="306"/>
                </a:lnTo>
                <a:lnTo>
                  <a:pt x="10" y="283"/>
                </a:lnTo>
                <a:lnTo>
                  <a:pt x="28" y="261"/>
                </a:lnTo>
                <a:lnTo>
                  <a:pt x="51" y="243"/>
                </a:lnTo>
                <a:lnTo>
                  <a:pt x="74" y="229"/>
                </a:lnTo>
                <a:lnTo>
                  <a:pt x="91" y="217"/>
                </a:lnTo>
                <a:lnTo>
                  <a:pt x="101" y="207"/>
                </a:lnTo>
                <a:lnTo>
                  <a:pt x="101" y="193"/>
                </a:lnTo>
                <a:lnTo>
                  <a:pt x="92" y="176"/>
                </a:lnTo>
                <a:lnTo>
                  <a:pt x="79" y="151"/>
                </a:lnTo>
                <a:lnTo>
                  <a:pt x="64" y="122"/>
                </a:lnTo>
                <a:lnTo>
                  <a:pt x="53" y="88"/>
                </a:lnTo>
                <a:lnTo>
                  <a:pt x="50" y="56"/>
                </a:lnTo>
                <a:lnTo>
                  <a:pt x="56" y="27"/>
                </a:lnTo>
                <a:lnTo>
                  <a:pt x="72" y="8"/>
                </a:lnTo>
                <a:lnTo>
                  <a:pt x="97" y="0"/>
                </a:lnTo>
                <a:lnTo>
                  <a:pt x="125" y="4"/>
                </a:lnTo>
                <a:lnTo>
                  <a:pt x="155" y="17"/>
                </a:lnTo>
                <a:lnTo>
                  <a:pt x="182" y="37"/>
                </a:lnTo>
                <a:lnTo>
                  <a:pt x="204" y="59"/>
                </a:lnTo>
                <a:lnTo>
                  <a:pt x="222" y="76"/>
                </a:lnTo>
                <a:lnTo>
                  <a:pt x="237" y="87"/>
                </a:lnTo>
                <a:lnTo>
                  <a:pt x="250" y="89"/>
                </a:lnTo>
                <a:lnTo>
                  <a:pt x="265" y="82"/>
                </a:lnTo>
                <a:lnTo>
                  <a:pt x="283" y="70"/>
                </a:lnTo>
                <a:lnTo>
                  <a:pt x="305" y="56"/>
                </a:lnTo>
                <a:lnTo>
                  <a:pt x="329" y="46"/>
                </a:lnTo>
                <a:lnTo>
                  <a:pt x="353" y="41"/>
                </a:lnTo>
                <a:lnTo>
                  <a:pt x="375" y="46"/>
                </a:lnTo>
                <a:lnTo>
                  <a:pt x="391" y="59"/>
                </a:lnTo>
                <a:lnTo>
                  <a:pt x="400" y="80"/>
                </a:lnTo>
                <a:lnTo>
                  <a:pt x="403" y="104"/>
                </a:lnTo>
                <a:lnTo>
                  <a:pt x="400" y="129"/>
                </a:lnTo>
                <a:lnTo>
                  <a:pt x="395" y="151"/>
                </a:lnTo>
                <a:lnTo>
                  <a:pt x="393" y="170"/>
                </a:lnTo>
                <a:lnTo>
                  <a:pt x="396" y="185"/>
                </a:lnTo>
                <a:lnTo>
                  <a:pt x="406" y="198"/>
                </a:lnTo>
                <a:lnTo>
                  <a:pt x="424" y="210"/>
                </a:lnTo>
                <a:lnTo>
                  <a:pt x="447" y="225"/>
                </a:lnTo>
                <a:close/>
              </a:path>
            </a:pathLst>
          </a:custGeom>
          <a:solidFill>
            <a:srgbClr val="D0E9F1"/>
          </a:solidFill>
          <a:ln w="1651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244080" y="3037840"/>
            <a:ext cx="152400" cy="167640"/>
          </a:xfrm>
          <a:prstGeom prst="ellipse">
            <a:avLst/>
          </a:prstGeom>
          <a:solidFill>
            <a:srgbClr val="C4B2DA"/>
          </a:solidFill>
          <a:ln w="1143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45020" y="3175000"/>
            <a:ext cx="60960" cy="60960"/>
          </a:xfrm>
          <a:prstGeom prst="ellipse">
            <a:avLst/>
          </a:prstGeom>
          <a:solidFill>
            <a:srgbClr val="70B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42200" y="3121660"/>
            <a:ext cx="60960" cy="60960"/>
          </a:xfrm>
          <a:prstGeom prst="ellipse">
            <a:avLst/>
          </a:prstGeom>
          <a:solidFill>
            <a:srgbClr val="70B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27900" y="2908300"/>
            <a:ext cx="60960" cy="60960"/>
          </a:xfrm>
          <a:prstGeom prst="ellipse">
            <a:avLst/>
          </a:prstGeom>
          <a:solidFill>
            <a:srgbClr val="70B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3009900"/>
            <a:ext cx="32893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9EC1"/>
                </a:solidFill>
                <a:latin typeface="DejaVu Sans"/>
              </a:defRPr>
            </a:pPr>
            <a:r>
              <a:rPr>
                <a:latin typeface="DejaVu Sans"/>
              </a:rPr>
              <a:t>Protozoarios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6100" y="3886200"/>
            <a:ext cx="3238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Archaeplastida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6100" y="4241800"/>
            <a:ext cx="3683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Algas verdes y rojas microscópicas</a:t>
            </a:r>
          </a:p>
        </p:txBody>
      </p:sp>
      <p:sp>
        <p:nvSpPr>
          <p:cNvPr id="58" name="Oval 57"/>
          <p:cNvSpPr/>
          <p:nvPr/>
        </p:nvSpPr>
        <p:spPr>
          <a:xfrm>
            <a:off x="7030720" y="3860800"/>
            <a:ext cx="594360" cy="594360"/>
          </a:xfrm>
          <a:prstGeom prst="ellipse">
            <a:avLst/>
          </a:prstGeom>
          <a:solidFill>
            <a:srgbClr val="DBE8D5"/>
          </a:solidFill>
          <a:ln w="1651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076440" y="3906520"/>
            <a:ext cx="502920" cy="502920"/>
          </a:xfrm>
          <a:prstGeom prst="ellipse">
            <a:avLst/>
          </a:prstGeom>
          <a:solidFill>
            <a:srgbClr val="A5C695"/>
          </a:solidFill>
          <a:ln w="1143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21220" y="3997960"/>
            <a:ext cx="304800" cy="342900"/>
          </a:xfrm>
          <a:prstGeom prst="ellipse">
            <a:avLst/>
          </a:prstGeom>
          <a:solidFill>
            <a:srgbClr val="DB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251700" y="4074160"/>
            <a:ext cx="137160" cy="144780"/>
          </a:xfrm>
          <a:prstGeom prst="ellipse">
            <a:avLst/>
          </a:prstGeom>
          <a:solidFill>
            <a:srgbClr val="BFAAD6"/>
          </a:solidFill>
          <a:ln w="1143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106920" y="3997960"/>
            <a:ext cx="83820" cy="5334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06920" y="4119879"/>
            <a:ext cx="83820" cy="5334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175500" y="4257040"/>
            <a:ext cx="83820" cy="5334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66000" y="4272280"/>
            <a:ext cx="83820" cy="5334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26959" y="3929379"/>
            <a:ext cx="83820" cy="5334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9340" y="4188460"/>
            <a:ext cx="53340" cy="53340"/>
          </a:xfrm>
          <a:prstGeom prst="ellipse">
            <a:avLst/>
          </a:prstGeom>
          <a:solidFill>
            <a:srgbClr val="EFF5EC"/>
          </a:solidFill>
          <a:ln w="762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01000" y="4038600"/>
            <a:ext cx="32893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5B983F"/>
                </a:solidFill>
                <a:latin typeface="DejaVu Sans"/>
              </a:defRPr>
            </a:pPr>
            <a:r>
              <a:rPr>
                <a:latin typeface="DejaVu Sans"/>
              </a:rPr>
              <a:t>Microalgas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86100" y="4927600"/>
            <a:ext cx="1270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SAR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86100" y="5283200"/>
            <a:ext cx="1778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Tres grandes linajes</a:t>
            </a:r>
          </a:p>
        </p:txBody>
      </p:sp>
      <p:sp>
        <p:nvSpPr>
          <p:cNvPr id="71" name="Oval 70"/>
          <p:cNvSpPr/>
          <p:nvPr/>
        </p:nvSpPr>
        <p:spPr>
          <a:xfrm>
            <a:off x="5215890" y="4873625"/>
            <a:ext cx="488950" cy="628650"/>
          </a:xfrm>
          <a:prstGeom prst="ellipse">
            <a:avLst/>
          </a:prstGeom>
          <a:solidFill>
            <a:srgbClr val="DEEAD9"/>
          </a:solidFill>
          <a:ln w="1905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264785" y="4922520"/>
            <a:ext cx="391160" cy="530860"/>
          </a:xfrm>
          <a:prstGeom prst="ellipse">
            <a:avLst/>
          </a:prstGeom>
          <a:noFill/>
          <a:ln w="1016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460365" y="4922520"/>
            <a:ext cx="0" cy="530860"/>
          </a:xfrm>
          <a:prstGeom prst="line">
            <a:avLst/>
          </a:prstGeom>
          <a:ln w="12700">
            <a:solidFill>
              <a:srgbClr val="5B9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341620" y="4978400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551170" y="4978400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41620" y="5037772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551170" y="5037772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41620" y="5097145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551170" y="5097145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41620" y="5156517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51170" y="5156517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341620" y="5215890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551170" y="5215890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341620" y="5275262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551170" y="5275262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341620" y="5334635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51170" y="5334635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41620" y="5394007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551170" y="5394007"/>
            <a:ext cx="24447" cy="2444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05500" y="4889500"/>
            <a:ext cx="17145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Diatomeas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05500" y="5207000"/>
            <a:ext cx="1714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5B983F"/>
                </a:solidFill>
                <a:latin typeface="DejaVu Sans"/>
              </a:defRPr>
            </a:pPr>
            <a:r>
              <a:rPr>
                <a:latin typeface="DejaVu Sans"/>
              </a:rPr>
              <a:t>Microalgas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649970" y="5187950"/>
            <a:ext cx="48895" cy="0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44932" y="5250397"/>
            <a:ext cx="47827" cy="1016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630041" y="5310115"/>
            <a:ext cx="44668" cy="1988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05947" y="5364494"/>
            <a:ext cx="39557" cy="28739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573702" y="5411157"/>
            <a:ext cx="32718" cy="3633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34717" y="5448065"/>
            <a:ext cx="24448" cy="4234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490694" y="5473604"/>
            <a:ext cx="15110" cy="46502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443559" y="5486659"/>
            <a:ext cx="5111" cy="4862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90259" y="5486659"/>
            <a:ext cx="5111" cy="4862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333125" y="5473604"/>
            <a:ext cx="15110" cy="46502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279765" y="5448065"/>
            <a:ext cx="24447" cy="4234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8232509" y="5411157"/>
            <a:ext cx="32718" cy="3633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8193425" y="5364494"/>
            <a:ext cx="39557" cy="28739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8164220" y="5310115"/>
            <a:ext cx="44668" cy="1988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146170" y="5250397"/>
            <a:ext cx="47827" cy="1016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8140065" y="5187950"/>
            <a:ext cx="48894" cy="0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8146170" y="5115336"/>
            <a:ext cx="47827" cy="1016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8164220" y="5045897"/>
            <a:ext cx="44668" cy="1988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8193425" y="4982666"/>
            <a:ext cx="39557" cy="28739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8232509" y="4928406"/>
            <a:ext cx="32718" cy="3633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8279765" y="4885490"/>
            <a:ext cx="24447" cy="4234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8333125" y="4855793"/>
            <a:ext cx="15110" cy="46502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8390259" y="4840613"/>
            <a:ext cx="5111" cy="4862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443559" y="4840613"/>
            <a:ext cx="5111" cy="4862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490694" y="4855793"/>
            <a:ext cx="15110" cy="46502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534717" y="4885490"/>
            <a:ext cx="24448" cy="4234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573702" y="4928406"/>
            <a:ext cx="32718" cy="3633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05947" y="4982666"/>
            <a:ext cx="39557" cy="28739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630041" y="5045897"/>
            <a:ext cx="44668" cy="1988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644932" y="5115336"/>
            <a:ext cx="47827" cy="1016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8188959" y="4894580"/>
            <a:ext cx="461010" cy="586740"/>
          </a:xfrm>
          <a:prstGeom prst="ellipse">
            <a:avLst/>
          </a:prstGeom>
          <a:solidFill>
            <a:srgbClr val="D2EAF1"/>
          </a:solidFill>
          <a:ln w="1651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30870" y="4936490"/>
            <a:ext cx="377190" cy="502920"/>
          </a:xfrm>
          <a:prstGeom prst="ellipse">
            <a:avLst/>
          </a:prstGeom>
          <a:noFill/>
          <a:ln w="8255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328659" y="5062220"/>
            <a:ext cx="167640" cy="223520"/>
          </a:xfrm>
          <a:prstGeom prst="ellipse">
            <a:avLst/>
          </a:prstGeom>
          <a:solidFill>
            <a:srgbClr val="CAB9DD"/>
          </a:solidFill>
          <a:ln w="1270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293734" y="4992370"/>
            <a:ext cx="59372" cy="5937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475345" y="5292725"/>
            <a:ext cx="59372" cy="5937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272780" y="5306695"/>
            <a:ext cx="59372" cy="5937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489315" y="5006340"/>
            <a:ext cx="59372" cy="5937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 flipH="1">
            <a:off x="8461375" y="5139055"/>
            <a:ext cx="55880" cy="62865"/>
          </a:xfrm>
          <a:prstGeom prst="line">
            <a:avLst/>
          </a:prstGeom>
          <a:ln w="12700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461375" y="5201920"/>
            <a:ext cx="55880" cy="41910"/>
          </a:xfrm>
          <a:prstGeom prst="line">
            <a:avLst/>
          </a:prstGeom>
          <a:ln w="12700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8928100" y="4889500"/>
            <a:ext cx="21590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Ciliados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28100" y="5207000"/>
            <a:ext cx="2159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339EC1"/>
                </a:solidFill>
                <a:latin typeface="DejaVu Sans"/>
              </a:defRPr>
            </a:pPr>
            <a:r>
              <a:rPr>
                <a:latin typeface="DejaVu Sans"/>
              </a:rPr>
              <a:t>Protozoarios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400300" y="5880100"/>
            <a:ext cx="9232900" cy="317500"/>
          </a:xfrm>
          <a:prstGeom prst="roundRect">
            <a:avLst>
              <a:gd name="adj" fmla="val 48000"/>
            </a:avLst>
          </a:prstGeom>
          <a:solidFill>
            <a:srgbClr val="E1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501900" y="5930900"/>
            <a:ext cx="9029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Microalgas y protozoarios aparecen en más de una rama.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254000"/>
            <a:ext cx="1079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03 · ESCALA MICROSCÓPICA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571500"/>
            <a:ext cx="11176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¿Cuánto miden?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192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1 µm = 1.000 nm · Los tamaños se solapan entre grupos.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6438900"/>
            <a:ext cx="11074400" cy="0"/>
          </a:xfrm>
          <a:prstGeom prst="line">
            <a:avLst/>
          </a:prstGeom>
          <a:ln w="1016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6540500"/>
            <a:ext cx="1022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Fuentes: [1,9]. Rangos didácticos orientativos; hay especies y estructuras fuera de ellos.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5278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04 / 07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8400" y="1917700"/>
            <a:ext cx="0" cy="3835400"/>
          </a:xfrm>
          <a:prstGeom prst="line">
            <a:avLst/>
          </a:prstGeom>
          <a:ln w="1143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16383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0,01 µm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57140" y="1917700"/>
            <a:ext cx="0" cy="3835400"/>
          </a:xfrm>
          <a:prstGeom prst="line">
            <a:avLst/>
          </a:prstGeom>
          <a:ln w="1143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49140" y="16383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0,1 µm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5880" y="1917700"/>
            <a:ext cx="0" cy="3835400"/>
          </a:xfrm>
          <a:prstGeom prst="line">
            <a:avLst/>
          </a:prstGeom>
          <a:ln w="1143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97880" y="16383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1 µm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54620" y="1917700"/>
            <a:ext cx="0" cy="3835400"/>
          </a:xfrm>
          <a:prstGeom prst="line">
            <a:avLst/>
          </a:prstGeom>
          <a:ln w="1143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46620" y="16383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10 µm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03360" y="1917700"/>
            <a:ext cx="0" cy="3835400"/>
          </a:xfrm>
          <a:prstGeom prst="line">
            <a:avLst/>
          </a:prstGeom>
          <a:ln w="1143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95360" y="16383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100 µm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52100" y="1917700"/>
            <a:ext cx="0" cy="3835400"/>
          </a:xfrm>
          <a:prstGeom prst="line">
            <a:avLst/>
          </a:prstGeom>
          <a:ln w="1143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44100" y="16383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1.000 µm</a:t>
            </a:r>
          </a:p>
        </p:txBody>
      </p:sp>
      <p:sp>
        <p:nvSpPr>
          <p:cNvPr id="21" name="Freeform 20"/>
          <p:cNvSpPr/>
          <p:nvPr/>
        </p:nvSpPr>
        <p:spPr>
          <a:xfrm>
            <a:off x="769620" y="1960880"/>
            <a:ext cx="238760" cy="261620"/>
          </a:xfrm>
          <a:custGeom>
            <a:avLst/>
            <a:gdLst/>
            <a:ahLst/>
            <a:cxnLst/>
            <a:rect l="l" t="t" r="r" b="b"/>
            <a:pathLst>
              <a:path w="188" h="206">
                <a:moveTo>
                  <a:pt x="94" y="0"/>
                </a:moveTo>
                <a:lnTo>
                  <a:pt x="188" y="51"/>
                </a:lnTo>
                <a:lnTo>
                  <a:pt x="188" y="155"/>
                </a:lnTo>
                <a:lnTo>
                  <a:pt x="94" y="206"/>
                </a:lnTo>
                <a:lnTo>
                  <a:pt x="0" y="155"/>
                </a:lnTo>
                <a:lnTo>
                  <a:pt x="0" y="51"/>
                </a:lnTo>
                <a:close/>
              </a:path>
            </a:pathLst>
          </a:custGeom>
          <a:solidFill>
            <a:srgbClr val="F6DFDD"/>
          </a:solidFill>
          <a:ln w="20320">
            <a:solidFill>
              <a:srgbClr val="D7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70128" y="2025395"/>
            <a:ext cx="237744" cy="132589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889000" y="1961388"/>
            <a:ext cx="118872" cy="196596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9000" y="1961388"/>
            <a:ext cx="0" cy="260604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89000" y="2025395"/>
            <a:ext cx="118872" cy="196597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70128" y="2025395"/>
            <a:ext cx="237744" cy="132589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70128" y="2025395"/>
            <a:ext cx="0" cy="132589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1568" y="2231136"/>
            <a:ext cx="54864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1568" y="2247138"/>
            <a:ext cx="54864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1568" y="2263140"/>
            <a:ext cx="54864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1568" y="2279142"/>
            <a:ext cx="54864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9000" y="2221992"/>
            <a:ext cx="0" cy="96012"/>
          </a:xfrm>
          <a:prstGeom prst="line">
            <a:avLst/>
          </a:prstGeom>
          <a:ln w="2540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88416" y="2263140"/>
            <a:ext cx="100584" cy="3200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42696" y="2263140"/>
            <a:ext cx="45720" cy="12801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34136" y="2308860"/>
            <a:ext cx="54864" cy="3200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24991" y="2340864"/>
            <a:ext cx="9145" cy="7772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89000" y="2263140"/>
            <a:ext cx="100584" cy="3200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9584" y="2263140"/>
            <a:ext cx="45720" cy="128016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9000" y="2308860"/>
            <a:ext cx="54863" cy="3200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3863" y="2340864"/>
            <a:ext cx="9144" cy="77724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33500" y="2032000"/>
            <a:ext cx="21717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Virus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411" y="2108200"/>
            <a:ext cx="1586241" cy="152400"/>
          </a:xfrm>
          <a:prstGeom prst="roundRect">
            <a:avLst>
              <a:gd name="adj" fmla="val 50000"/>
            </a:avLst>
          </a:prstGeom>
          <a:solidFill>
            <a:srgbClr val="E2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89011" y="2082800"/>
            <a:ext cx="203200" cy="203200"/>
          </a:xfrm>
          <a:prstGeom prst="ellipse">
            <a:avLst/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73652" y="2082800"/>
            <a:ext cx="203200" cy="203200"/>
          </a:xfrm>
          <a:prstGeom prst="ellipse">
            <a:avLst/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3052" y="2057400"/>
            <a:ext cx="152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D76E63"/>
                </a:solidFill>
                <a:latin typeface="DejaVu Sans"/>
              </a:defRPr>
            </a:pPr>
            <a:r>
              <a:rPr>
                <a:latin typeface="DejaVu Sans"/>
              </a:rPr>
              <a:t>20–300 nm</a:t>
            </a:r>
          </a:p>
        </p:txBody>
      </p:sp>
      <p:cxnSp>
        <p:nvCxnSpPr>
          <p:cNvPr id="46" name="Connector 45"/>
          <p:cNvCxnSpPr/>
          <p:nvPr/>
        </p:nvCxnSpPr>
        <p:spPr>
          <a:xfrm flipH="1" flipV="1">
            <a:off x="678688" y="2656840"/>
            <a:ext cx="45720" cy="2286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3300" y="2679700"/>
            <a:ext cx="45720" cy="13716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678688" y="2711704"/>
            <a:ext cx="45720" cy="2286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3300" y="2734564"/>
            <a:ext cx="45720" cy="13716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678688" y="2766568"/>
            <a:ext cx="45720" cy="2286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3300" y="2789428"/>
            <a:ext cx="45720" cy="13716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678688" y="2821432"/>
            <a:ext cx="45720" cy="2286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3300" y="2844292"/>
            <a:ext cx="45720" cy="13716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78688" y="2876296"/>
            <a:ext cx="45720" cy="22860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03300" y="2899156"/>
            <a:ext cx="45720" cy="13716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06120" y="2656840"/>
            <a:ext cx="297180" cy="228600"/>
          </a:xfrm>
          <a:prstGeom prst="roundRect">
            <a:avLst>
              <a:gd name="adj" fmla="val 48000"/>
            </a:avLst>
          </a:prstGeom>
          <a:solidFill>
            <a:srgbClr val="CCE6E7"/>
          </a:solidFill>
          <a:ln w="215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24408" y="2675128"/>
            <a:ext cx="260604" cy="192024"/>
          </a:xfrm>
          <a:prstGeom prst="roundRect">
            <a:avLst>
              <a:gd name="adj" fmla="val 47619"/>
            </a:avLst>
          </a:prstGeom>
          <a:noFill/>
          <a:ln w="88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788416" y="2725420"/>
            <a:ext cx="41147" cy="41148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9563" y="2725420"/>
            <a:ext cx="36577" cy="64008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66140" y="2734564"/>
            <a:ext cx="41148" cy="54864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07288" y="2734564"/>
            <a:ext cx="22859" cy="54864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65556" y="2720848"/>
            <a:ext cx="11430" cy="1143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8416" y="2830576"/>
            <a:ext cx="11430" cy="1143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21004" y="2830576"/>
            <a:ext cx="11430" cy="1143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7580" y="2720848"/>
            <a:ext cx="11430" cy="1143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1568" y="2835148"/>
            <a:ext cx="11430" cy="1143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1003300" y="2725420"/>
            <a:ext cx="59436" cy="36576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62736" y="2725420"/>
            <a:ext cx="22860" cy="50292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85596" y="2743708"/>
            <a:ext cx="32004" cy="32004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333500" y="2654300"/>
            <a:ext cx="21717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Bacterias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99868" y="2730500"/>
            <a:ext cx="1348739" cy="152400"/>
          </a:xfrm>
          <a:prstGeom prst="roundRect">
            <a:avLst>
              <a:gd name="adj" fmla="val 50000"/>
            </a:avLst>
          </a:prstGeom>
          <a:solidFill>
            <a:srgbClr val="57A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74468" y="2705100"/>
            <a:ext cx="203200" cy="2032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221608" y="2705100"/>
            <a:ext cx="203200" cy="2032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01008" y="2679700"/>
            <a:ext cx="152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0,5–5 µm</a:t>
            </a:r>
          </a:p>
        </p:txBody>
      </p:sp>
      <p:sp>
        <p:nvSpPr>
          <p:cNvPr id="75" name="Oval 74"/>
          <p:cNvSpPr/>
          <p:nvPr/>
        </p:nvSpPr>
        <p:spPr>
          <a:xfrm>
            <a:off x="687832" y="3260852"/>
            <a:ext cx="196596" cy="196596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08406" y="3281426"/>
            <a:ext cx="155447" cy="155447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 flipV="1">
            <a:off x="742878" y="3319830"/>
            <a:ext cx="43252" cy="29490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86130" y="3319830"/>
            <a:ext cx="29489" cy="49149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36981" y="3398469"/>
            <a:ext cx="11430" cy="1143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15619" y="3323762"/>
            <a:ext cx="11430" cy="1143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89000" y="3297428"/>
            <a:ext cx="178308" cy="178308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09574" y="3318002"/>
            <a:ext cx="137160" cy="13716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938926" y="3350920"/>
            <a:ext cx="39228" cy="26746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78154" y="3350920"/>
            <a:ext cx="26746" cy="44577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933577" y="3422243"/>
            <a:ext cx="11430" cy="1143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04900" y="3354486"/>
            <a:ext cx="11430" cy="1143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83844" y="3443732"/>
            <a:ext cx="155448" cy="155448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04418" y="3464306"/>
            <a:ext cx="114300" cy="11430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827369" y="3490366"/>
            <a:ext cx="34199" cy="23317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1568" y="3490366"/>
            <a:ext cx="23317" cy="38862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22706" y="3552545"/>
            <a:ext cx="11430" cy="1143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84885" y="3493475"/>
            <a:ext cx="11430" cy="1143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33500" y="3276600"/>
            <a:ext cx="21717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Arqueas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99868" y="3352800"/>
            <a:ext cx="1348739" cy="152400"/>
          </a:xfrm>
          <a:prstGeom prst="roundRect">
            <a:avLst>
              <a:gd name="adj" fmla="val 50000"/>
            </a:avLst>
          </a:prstGeom>
          <a:solidFill>
            <a:srgbClr val="D5A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974468" y="3327400"/>
            <a:ext cx="203200" cy="2032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221608" y="3327400"/>
            <a:ext cx="203200" cy="203200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01008" y="3302000"/>
            <a:ext cx="152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C58B22"/>
                </a:solidFill>
                <a:latin typeface="DejaVu Sans"/>
              </a:defRPr>
            </a:pPr>
            <a:r>
              <a:rPr>
                <a:latin typeface="DejaVu Sans"/>
              </a:rPr>
              <a:t>0,5–5 µm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706120" y="4084320"/>
            <a:ext cx="123443" cy="114300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29563" y="4002024"/>
            <a:ext cx="86869" cy="82296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16432" y="3878579"/>
            <a:ext cx="91440" cy="123445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06120" y="4084320"/>
            <a:ext cx="123443" cy="114300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29563" y="4002024"/>
            <a:ext cx="86869" cy="82296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16432" y="3878579"/>
            <a:ext cx="91440" cy="123445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779272" y="3965448"/>
            <a:ext cx="50291" cy="118872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33552" y="3901440"/>
            <a:ext cx="45720" cy="64008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779272" y="3965448"/>
            <a:ext cx="50291" cy="118872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733552" y="3901440"/>
            <a:ext cx="45720" cy="64008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11860" y="4011167"/>
            <a:ext cx="109728" cy="22861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21588" y="3979164"/>
            <a:ext cx="64008" cy="54864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11860" y="4011167"/>
            <a:ext cx="109728" cy="22861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21588" y="3979164"/>
            <a:ext cx="64008" cy="54864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65556" y="4139184"/>
            <a:ext cx="27432" cy="320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70712" y="4024884"/>
            <a:ext cx="27432" cy="320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43863" y="3928872"/>
            <a:ext cx="32005" cy="2743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79272" y="3983736"/>
            <a:ext cx="32004" cy="914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957580" y="4111752"/>
            <a:ext cx="123444" cy="150876"/>
          </a:xfrm>
          <a:prstGeom prst="ellipse">
            <a:avLst/>
          </a:prstGeom>
          <a:solidFill>
            <a:srgbClr val="E5DDEE"/>
          </a:solidFill>
          <a:ln w="1651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35304" y="4088891"/>
            <a:ext cx="68580" cy="82296"/>
          </a:xfrm>
          <a:prstGeom prst="ellipse">
            <a:avLst/>
          </a:prstGeom>
          <a:solidFill>
            <a:srgbClr val="E5DDEE"/>
          </a:solidFill>
          <a:ln w="1651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03300" y="4162044"/>
            <a:ext cx="32004" cy="36576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333500" y="3898900"/>
            <a:ext cx="21717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Hongos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33500" y="4165600"/>
            <a:ext cx="22352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1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Barra: células de levadura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049392" y="3975100"/>
            <a:ext cx="942728" cy="152400"/>
          </a:xfrm>
          <a:prstGeom prst="roundRect">
            <a:avLst>
              <a:gd name="adj" fmla="val 50000"/>
            </a:avLst>
          </a:prstGeom>
          <a:solidFill>
            <a:srgbClr val="AB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023992" y="3949700"/>
            <a:ext cx="203200" cy="203200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865121" y="3949700"/>
            <a:ext cx="203200" cy="203200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44521" y="3924300"/>
            <a:ext cx="152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8A64B4"/>
                </a:solidFill>
                <a:latin typeface="DejaVu Sans"/>
              </a:defRPr>
            </a:pPr>
            <a:r>
              <a:rPr>
                <a:latin typeface="DejaVu Sans"/>
              </a:rPr>
              <a:t>3–15 µm</a:t>
            </a:r>
          </a:p>
        </p:txBody>
      </p:sp>
      <p:sp>
        <p:nvSpPr>
          <p:cNvPr id="125" name="Oval 124"/>
          <p:cNvSpPr/>
          <p:nvPr/>
        </p:nvSpPr>
        <p:spPr>
          <a:xfrm>
            <a:off x="710692" y="4478020"/>
            <a:ext cx="356616" cy="356616"/>
          </a:xfrm>
          <a:prstGeom prst="ellipse">
            <a:avLst/>
          </a:prstGeom>
          <a:solidFill>
            <a:srgbClr val="DBE8D5"/>
          </a:solidFill>
          <a:ln w="1651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38124" y="4505452"/>
            <a:ext cx="301752" cy="301752"/>
          </a:xfrm>
          <a:prstGeom prst="ellipse">
            <a:avLst/>
          </a:prstGeom>
          <a:solidFill>
            <a:srgbClr val="A5C695"/>
          </a:solidFill>
          <a:ln w="1143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24991" y="4560316"/>
            <a:ext cx="182880" cy="205740"/>
          </a:xfrm>
          <a:prstGeom prst="ellipse">
            <a:avLst/>
          </a:prstGeom>
          <a:solidFill>
            <a:srgbClr val="DB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43280" y="4606036"/>
            <a:ext cx="82296" cy="86868"/>
          </a:xfrm>
          <a:prstGeom prst="ellipse">
            <a:avLst/>
          </a:prstGeom>
          <a:solidFill>
            <a:srgbClr val="BFAAD6"/>
          </a:solidFill>
          <a:ln w="1143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56412" y="4560316"/>
            <a:ext cx="50292" cy="32004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56412" y="4633468"/>
            <a:ext cx="50292" cy="32004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97560" y="4715764"/>
            <a:ext cx="50292" cy="32004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11860" y="4724908"/>
            <a:ext cx="50292" cy="32004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48436" y="4519168"/>
            <a:ext cx="50292" cy="32004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43863" y="4674616"/>
            <a:ext cx="32004" cy="32004"/>
          </a:xfrm>
          <a:prstGeom prst="ellipse">
            <a:avLst/>
          </a:prstGeom>
          <a:solidFill>
            <a:srgbClr val="EFF5EC"/>
          </a:solidFill>
          <a:ln w="762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333500" y="4521200"/>
            <a:ext cx="21717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Microalgas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405880" y="4597400"/>
            <a:ext cx="3103491" cy="152400"/>
          </a:xfrm>
          <a:prstGeom prst="roundRect">
            <a:avLst>
              <a:gd name="adj" fmla="val 50000"/>
            </a:avLst>
          </a:prstGeom>
          <a:solidFill>
            <a:srgbClr val="89B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80480" y="4572000"/>
            <a:ext cx="203200" cy="20320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382371" y="4572000"/>
            <a:ext cx="203200" cy="203200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661771" y="4546600"/>
            <a:ext cx="152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5B983F"/>
                </a:solidFill>
                <a:latin typeface="DejaVu Sans"/>
              </a:defRPr>
            </a:pPr>
            <a:r>
              <a:rPr>
                <a:latin typeface="DejaVu Sans"/>
              </a:rPr>
              <a:t>1–200 µm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035304" y="5283200"/>
            <a:ext cx="32004" cy="0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32006" y="5324074"/>
            <a:ext cx="31305" cy="665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22260" y="5363162"/>
            <a:ext cx="29237" cy="1301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06489" y="5398756"/>
            <a:ext cx="25892" cy="1881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85383" y="5429299"/>
            <a:ext cx="21415" cy="2378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59866" y="5453457"/>
            <a:ext cx="16002" cy="2771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31051" y="5470173"/>
            <a:ext cx="9890" cy="3043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00198" y="5478719"/>
            <a:ext cx="3346" cy="318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65311" y="5478719"/>
            <a:ext cx="3346" cy="318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827914" y="5470173"/>
            <a:ext cx="9890" cy="3043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792988" y="5453457"/>
            <a:ext cx="16002" cy="2771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762057" y="5429299"/>
            <a:ext cx="21415" cy="2378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736474" y="5398756"/>
            <a:ext cx="25892" cy="1881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717358" y="5363162"/>
            <a:ext cx="29237" cy="1301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705544" y="5324074"/>
            <a:ext cx="31305" cy="665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701548" y="5283200"/>
            <a:ext cx="32004" cy="0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 flipV="1">
            <a:off x="705544" y="5235671"/>
            <a:ext cx="31305" cy="665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 flipV="1">
            <a:off x="717358" y="5190220"/>
            <a:ext cx="29237" cy="1301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 flipV="1">
            <a:off x="736474" y="5148832"/>
            <a:ext cx="25892" cy="1881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 flipV="1">
            <a:off x="762057" y="5113317"/>
            <a:ext cx="21415" cy="2378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 flipV="1">
            <a:off x="792988" y="5085226"/>
            <a:ext cx="16002" cy="2771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 flipV="1">
            <a:off x="827914" y="5065788"/>
            <a:ext cx="9890" cy="3043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 flipV="1">
            <a:off x="865311" y="5055852"/>
            <a:ext cx="3346" cy="318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00198" y="5055852"/>
            <a:ext cx="3346" cy="318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31051" y="5065788"/>
            <a:ext cx="9890" cy="3043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59866" y="5085226"/>
            <a:ext cx="16002" cy="2771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985383" y="5113317"/>
            <a:ext cx="21415" cy="2378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06489" y="5148832"/>
            <a:ext cx="25892" cy="1881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22260" y="5190220"/>
            <a:ext cx="29237" cy="13017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32006" y="5235671"/>
            <a:ext cx="31305" cy="6654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/>
          <p:cNvSpPr/>
          <p:nvPr/>
        </p:nvSpPr>
        <p:spPr>
          <a:xfrm>
            <a:off x="733552" y="5091176"/>
            <a:ext cx="301752" cy="384048"/>
          </a:xfrm>
          <a:prstGeom prst="ellipse">
            <a:avLst/>
          </a:prstGeom>
          <a:solidFill>
            <a:srgbClr val="D2EAF1"/>
          </a:solidFill>
          <a:ln w="1651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60984" y="5118608"/>
            <a:ext cx="246888" cy="329184"/>
          </a:xfrm>
          <a:prstGeom prst="ellipse">
            <a:avLst/>
          </a:prstGeom>
          <a:noFill/>
          <a:ln w="8255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24991" y="5200904"/>
            <a:ext cx="109728" cy="146304"/>
          </a:xfrm>
          <a:prstGeom prst="ellipse">
            <a:avLst/>
          </a:prstGeom>
          <a:solidFill>
            <a:srgbClr val="CAB9DD"/>
          </a:solidFill>
          <a:ln w="1270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802132" y="5155184"/>
            <a:ext cx="38862" cy="3886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21004" y="5351780"/>
            <a:ext cx="38862" cy="3886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8416" y="5360924"/>
            <a:ext cx="38862" cy="3886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30147" y="5164328"/>
            <a:ext cx="38862" cy="38862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 flipH="1">
            <a:off x="911860" y="5251196"/>
            <a:ext cx="36576" cy="41148"/>
          </a:xfrm>
          <a:prstGeom prst="line">
            <a:avLst/>
          </a:prstGeom>
          <a:ln w="12700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11860" y="5292344"/>
            <a:ext cx="36576" cy="27432"/>
          </a:xfrm>
          <a:prstGeom prst="line">
            <a:avLst/>
          </a:prstGeom>
          <a:ln w="12700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1333500" y="5143500"/>
            <a:ext cx="21717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Protozoarios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811891" y="5219700"/>
            <a:ext cx="2697479" cy="152400"/>
          </a:xfrm>
          <a:prstGeom prst="roundRect">
            <a:avLst>
              <a:gd name="adj" fmla="val 50000"/>
            </a:avLst>
          </a:prstGeom>
          <a:solidFill>
            <a:srgbClr val="6C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6786491" y="5194300"/>
            <a:ext cx="203200" cy="203200"/>
          </a:xfrm>
          <a:prstGeom prst="ellipse">
            <a:avLst/>
          </a:prstGeom>
          <a:solidFill>
            <a:srgbClr val="33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382371" y="5194300"/>
            <a:ext cx="203200" cy="203200"/>
          </a:xfrm>
          <a:prstGeom prst="ellipse">
            <a:avLst/>
          </a:prstGeom>
          <a:solidFill>
            <a:srgbClr val="33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661771" y="5168900"/>
            <a:ext cx="152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339EC1"/>
                </a:solidFill>
                <a:latin typeface="DejaVu Sans"/>
              </a:defRPr>
            </a:pPr>
            <a:r>
              <a:rPr>
                <a:latin typeface="DejaVu Sans"/>
              </a:rPr>
              <a:t>2–200 µm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8800" y="5867400"/>
            <a:ext cx="11074400" cy="419100"/>
          </a:xfrm>
          <a:prstGeom prst="roundRect">
            <a:avLst>
              <a:gd name="adj" fmla="val 24242"/>
            </a:avLst>
          </a:prstGeom>
          <a:solidFill>
            <a:srgbClr val="F6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23900" y="5969000"/>
            <a:ext cx="107188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1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Hifas: 2–10 µm de diámetro, con longitud variable. Los iconos no están a escala.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254000"/>
            <a:ext cx="1079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04 · FUNCIONES QUE CONECTAN EL ECOSISTEMA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571500"/>
            <a:ext cx="11176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¿Qué hacen en el ambiente?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192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La materia se recicla; la energía fluye a través de las comunidades.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6438900"/>
            <a:ext cx="11074400" cy="0"/>
          </a:xfrm>
          <a:prstGeom prst="line">
            <a:avLst/>
          </a:prstGeom>
          <a:ln w="1016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6540500"/>
            <a:ext cx="1022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Fuentes: [1,6–8]. Capacidades de distintos integrantes de cada grupo; las funciones no son exclusivas.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5278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05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752600"/>
            <a:ext cx="3505200" cy="1816100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1016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8800" y="1752600"/>
            <a:ext cx="63500" cy="1816100"/>
          </a:xfrm>
          <a:prstGeom prst="roundRect">
            <a:avLst>
              <a:gd name="adj" fmla="val 40000"/>
            </a:avLst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1905000"/>
            <a:ext cx="312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BACTERIAS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86384" y="2484120"/>
            <a:ext cx="92710" cy="4635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44625" y="2530475"/>
            <a:ext cx="92710" cy="2781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86384" y="2595372"/>
            <a:ext cx="92710" cy="4635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44625" y="2641727"/>
            <a:ext cx="92710" cy="2781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86384" y="2706624"/>
            <a:ext cx="92710" cy="4635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44625" y="2752979"/>
            <a:ext cx="92710" cy="2781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786384" y="2817876"/>
            <a:ext cx="92710" cy="4635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44625" y="2864231"/>
            <a:ext cx="92710" cy="2781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86384" y="2929128"/>
            <a:ext cx="92710" cy="46355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4625" y="2975483"/>
            <a:ext cx="92710" cy="27813"/>
          </a:xfrm>
          <a:prstGeom prst="line">
            <a:avLst/>
          </a:prstGeom>
          <a:ln w="1016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2010" y="2484120"/>
            <a:ext cx="602615" cy="463550"/>
          </a:xfrm>
          <a:prstGeom prst="roundRect">
            <a:avLst>
              <a:gd name="adj" fmla="val 48000"/>
            </a:avLst>
          </a:prstGeom>
          <a:solidFill>
            <a:srgbClr val="CCE6E7"/>
          </a:solidFill>
          <a:ln w="215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094" y="2521204"/>
            <a:ext cx="528447" cy="389382"/>
          </a:xfrm>
          <a:prstGeom prst="roundRect">
            <a:avLst>
              <a:gd name="adj" fmla="val 47619"/>
            </a:avLst>
          </a:prstGeom>
          <a:noFill/>
          <a:ln w="889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008888" y="2623185"/>
            <a:ext cx="83439" cy="83439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2327" y="2623185"/>
            <a:ext cx="74168" cy="129794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66495" y="2641727"/>
            <a:ext cx="83439" cy="111252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49934" y="2641727"/>
            <a:ext cx="46355" cy="111252"/>
          </a:xfrm>
          <a:prstGeom prst="line">
            <a:avLst/>
          </a:prstGeom>
          <a:ln w="1651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62532" y="2613914"/>
            <a:ext cx="23177" cy="23177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8888" y="2836418"/>
            <a:ext cx="23177" cy="23177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77747" y="2836418"/>
            <a:ext cx="23177" cy="23177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51915" y="2613914"/>
            <a:ext cx="23177" cy="23177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57224" y="2845689"/>
            <a:ext cx="23177" cy="23177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444625" y="2623185"/>
            <a:ext cx="120523" cy="74168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565148" y="2623185"/>
            <a:ext cx="46355" cy="101981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11503" y="2660269"/>
            <a:ext cx="64897" cy="64897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879600" y="2311400"/>
            <a:ext cx="203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Transformar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9600" y="2730500"/>
            <a:ext cx="19812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Ciclos de nutrientes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300" y="3225800"/>
            <a:ext cx="55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C / 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63800" y="3327400"/>
            <a:ext cx="330200" cy="0"/>
          </a:xfrm>
          <a:prstGeom prst="line">
            <a:avLst/>
          </a:prstGeom>
          <a:ln w="15240">
            <a:solidFill>
              <a:srgbClr val="168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2738120" y="3298190"/>
            <a:ext cx="55880" cy="58420"/>
          </a:xfrm>
          <a:custGeom>
            <a:avLst/>
            <a:gdLst/>
            <a:ahLst/>
            <a:cxnLst/>
            <a:rect l="l" t="t" r="r" b="b"/>
            <a:pathLst>
              <a:path w="44" h="46">
                <a:moveTo>
                  <a:pt x="44" y="23"/>
                </a:moveTo>
                <a:lnTo>
                  <a:pt x="0" y="46"/>
                </a:lnTo>
                <a:lnTo>
                  <a:pt x="0" y="0"/>
                </a:lnTo>
                <a:close/>
              </a:path>
            </a:pathLst>
          </a:cu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2900" y="3225800"/>
            <a:ext cx="825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C / 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1752600"/>
            <a:ext cx="3505200" cy="1816100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1016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43400" y="1752600"/>
            <a:ext cx="63500" cy="1816100"/>
          </a:xfrm>
          <a:prstGeom prst="roundRect">
            <a:avLst>
              <a:gd name="adj" fmla="val 40000"/>
            </a:avLst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3900" y="1905000"/>
            <a:ext cx="312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C58B22"/>
                </a:solidFill>
                <a:latin typeface="DejaVu Sans"/>
              </a:defRPr>
            </a:pPr>
            <a:r>
              <a:rPr>
                <a:latin typeface="DejaVu Sans"/>
              </a:rPr>
              <a:t>ARQUEAS</a:t>
            </a:r>
          </a:p>
        </p:txBody>
      </p:sp>
      <p:sp>
        <p:nvSpPr>
          <p:cNvPr id="45" name="Oval 44"/>
          <p:cNvSpPr/>
          <p:nvPr/>
        </p:nvSpPr>
        <p:spPr>
          <a:xfrm>
            <a:off x="4589526" y="2447036"/>
            <a:ext cx="398653" cy="398653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31245" y="2488755"/>
            <a:ext cx="315213" cy="315213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4701148" y="2566631"/>
            <a:ext cx="87704" cy="59798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88852" y="2566631"/>
            <a:ext cx="59798" cy="99664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689189" y="2726093"/>
            <a:ext cx="23177" cy="23177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48650" y="2574604"/>
            <a:ext cx="23177" cy="23177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97450" y="2521204"/>
            <a:ext cx="361569" cy="361569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39169" y="2562923"/>
            <a:ext cx="278130" cy="278130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5098689" y="2629674"/>
            <a:ext cx="79545" cy="54236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78234" y="2629674"/>
            <a:ext cx="54235" cy="90392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5087842" y="2774302"/>
            <a:ext cx="23177" cy="23177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32469" y="2636906"/>
            <a:ext cx="23177" cy="23177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784217" y="2817876"/>
            <a:ext cx="315214" cy="315214"/>
          </a:xfrm>
          <a:prstGeom prst="ellipse">
            <a:avLst/>
          </a:prstGeom>
          <a:solidFill>
            <a:srgbClr val="F2E5CE"/>
          </a:solidFill>
          <a:ln w="1651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825936" y="2859595"/>
            <a:ext cx="231775" cy="231775"/>
          </a:xfrm>
          <a:prstGeom prst="ellipse">
            <a:avLst/>
          </a:prstGeom>
          <a:noFill/>
          <a:ln w="8890">
            <a:solidFill>
              <a:srgbClr val="C5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4872476" y="2912440"/>
            <a:ext cx="69348" cy="47282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41824" y="2912440"/>
            <a:ext cx="47282" cy="78803"/>
          </a:xfrm>
          <a:prstGeom prst="line">
            <a:avLst/>
          </a:prstGeom>
          <a:ln w="12700">
            <a:solidFill>
              <a:srgbClr val="C5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863020" y="3038525"/>
            <a:ext cx="23177" cy="23177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989106" y="2918744"/>
            <a:ext cx="23177" cy="23177"/>
          </a:xfrm>
          <a:prstGeom prst="ellipse">
            <a:avLst/>
          </a:prstGeom>
          <a:solidFill>
            <a:srgbClr val="C5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4200" y="2311400"/>
            <a:ext cx="203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Transformar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4200" y="2730500"/>
            <a:ext cx="19812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Carbono y nitrógeno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4200" y="3225800"/>
            <a:ext cx="2006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60" b="1">
                <a:solidFill>
                  <a:srgbClr val="C58B22"/>
                </a:solidFill>
                <a:latin typeface="DejaVu Sans"/>
              </a:defRPr>
            </a:pPr>
            <a:r>
              <a:rPr>
                <a:latin typeface="DejaVu Sans"/>
              </a:rPr>
              <a:t>CH₄ · NH₃ → NO₂⁻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28000" y="1752600"/>
            <a:ext cx="3505200" cy="1816100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1016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28000" y="1752600"/>
            <a:ext cx="63500" cy="1816100"/>
          </a:xfrm>
          <a:prstGeom prst="roundRect">
            <a:avLst>
              <a:gd name="adj" fmla="val 40000"/>
            </a:avLst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18500" y="1905000"/>
            <a:ext cx="312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8A64B4"/>
                </a:solidFill>
                <a:latin typeface="DejaVu Sans"/>
              </a:defRPr>
            </a:pPr>
            <a:r>
              <a:rPr>
                <a:latin typeface="DejaVu Sans"/>
              </a:rPr>
              <a:t>HONGOS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8411210" y="2854960"/>
            <a:ext cx="250317" cy="231775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661527" y="2688082"/>
            <a:ext cx="176149" cy="166878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837676" y="2437765"/>
            <a:ext cx="185420" cy="250317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411210" y="2854960"/>
            <a:ext cx="250317" cy="231775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661527" y="2688082"/>
            <a:ext cx="176149" cy="166878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837676" y="2437765"/>
            <a:ext cx="185420" cy="250317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8559546" y="2613914"/>
            <a:ext cx="101981" cy="241046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8466836" y="2484120"/>
            <a:ext cx="92710" cy="129794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8559546" y="2613914"/>
            <a:ext cx="101981" cy="241046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8466836" y="2484120"/>
            <a:ext cx="92710" cy="129794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828405" y="2706624"/>
            <a:ext cx="222504" cy="46355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050909" y="2641727"/>
            <a:ext cx="129794" cy="111252"/>
          </a:xfrm>
          <a:prstGeom prst="line">
            <a:avLst/>
          </a:prstGeom>
          <a:ln w="10160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828405" y="2706624"/>
            <a:ext cx="222504" cy="46355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050909" y="2641727"/>
            <a:ext cx="129794" cy="111252"/>
          </a:xfrm>
          <a:prstGeom prst="line">
            <a:avLst/>
          </a:prstGeom>
          <a:ln w="50800">
            <a:solidFill>
              <a:srgbClr val="CAB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31733" y="2966212"/>
            <a:ext cx="55626" cy="6489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744966" y="2734437"/>
            <a:ext cx="55626" cy="6489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893302" y="2539746"/>
            <a:ext cx="64897" cy="5562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559546" y="2650998"/>
            <a:ext cx="64897" cy="1854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921115" y="2910586"/>
            <a:ext cx="250317" cy="305943"/>
          </a:xfrm>
          <a:prstGeom prst="ellipse">
            <a:avLst/>
          </a:prstGeom>
          <a:solidFill>
            <a:srgbClr val="E5DDEE"/>
          </a:solidFill>
          <a:ln w="1651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078722" y="2864231"/>
            <a:ext cx="139065" cy="166877"/>
          </a:xfrm>
          <a:prstGeom prst="ellipse">
            <a:avLst/>
          </a:prstGeom>
          <a:solidFill>
            <a:srgbClr val="E5DDEE"/>
          </a:solidFill>
          <a:ln w="1651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013825" y="3012567"/>
            <a:ext cx="64897" cy="74168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48800" y="2311400"/>
            <a:ext cx="203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Descomponer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48800" y="2730500"/>
            <a:ext cx="19812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Restos y asociaciones</a:t>
            </a:r>
          </a:p>
        </p:txBody>
      </p:sp>
      <p:sp>
        <p:nvSpPr>
          <p:cNvPr id="92" name="Freeform 91"/>
          <p:cNvSpPr/>
          <p:nvPr/>
        </p:nvSpPr>
        <p:spPr>
          <a:xfrm>
            <a:off x="9550400" y="3225800"/>
            <a:ext cx="165100" cy="139700"/>
          </a:xfrm>
          <a:custGeom>
            <a:avLst/>
            <a:gdLst/>
            <a:ahLst/>
            <a:cxnLst/>
            <a:rect l="l" t="t" r="r" b="b"/>
            <a:pathLst>
              <a:path w="130" h="110">
                <a:moveTo>
                  <a:pt x="0" y="50"/>
                </a:moveTo>
                <a:lnTo>
                  <a:pt x="90" y="0"/>
                </a:lnTo>
                <a:lnTo>
                  <a:pt x="130" y="110"/>
                </a:lnTo>
                <a:close/>
              </a:path>
            </a:pathLst>
          </a:custGeom>
          <a:solidFill>
            <a:srgbClr val="B9A2D2"/>
          </a:solidFill>
          <a:ln w="1270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9842500" y="3327400"/>
            <a:ext cx="457200" cy="0"/>
          </a:xfrm>
          <a:prstGeom prst="line">
            <a:avLst/>
          </a:prstGeom>
          <a:ln w="15240">
            <a:solidFill>
              <a:srgbClr val="8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Freeform 93"/>
          <p:cNvSpPr/>
          <p:nvPr/>
        </p:nvSpPr>
        <p:spPr>
          <a:xfrm>
            <a:off x="10243820" y="3298190"/>
            <a:ext cx="55880" cy="58420"/>
          </a:xfrm>
          <a:custGeom>
            <a:avLst/>
            <a:gdLst/>
            <a:ahLst/>
            <a:cxnLst/>
            <a:rect l="l" t="t" r="r" b="b"/>
            <a:pathLst>
              <a:path w="44" h="46">
                <a:moveTo>
                  <a:pt x="44" y="23"/>
                </a:moveTo>
                <a:lnTo>
                  <a:pt x="0" y="46"/>
                </a:lnTo>
                <a:lnTo>
                  <a:pt x="0" y="0"/>
                </a:lnTo>
                <a:close/>
              </a:path>
            </a:pathLst>
          </a:cu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477500" y="3276600"/>
            <a:ext cx="63500" cy="63500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629900" y="3340100"/>
            <a:ext cx="63500" cy="63500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795000" y="3263900"/>
            <a:ext cx="63500" cy="63500"/>
          </a:xfrm>
          <a:prstGeom prst="ellipse">
            <a:avLst/>
          </a:prstGeom>
          <a:solidFill>
            <a:srgbClr val="8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58800" y="3759200"/>
            <a:ext cx="3505200" cy="1816100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1016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58800" y="3759200"/>
            <a:ext cx="63500" cy="1816100"/>
          </a:xfrm>
          <a:prstGeom prst="roundRect">
            <a:avLst>
              <a:gd name="adj" fmla="val 40000"/>
            </a:avLst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9300" y="3911600"/>
            <a:ext cx="312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5B983F"/>
                </a:solidFill>
                <a:latin typeface="DejaVu Sans"/>
              </a:defRPr>
            </a:pPr>
            <a:r>
              <a:rPr>
                <a:latin typeface="DejaVu Sans"/>
              </a:rPr>
              <a:t>MICROALGAS</a:t>
            </a:r>
          </a:p>
        </p:txBody>
      </p:sp>
      <p:sp>
        <p:nvSpPr>
          <p:cNvPr id="101" name="Oval 100"/>
          <p:cNvSpPr/>
          <p:nvPr/>
        </p:nvSpPr>
        <p:spPr>
          <a:xfrm>
            <a:off x="851281" y="4398010"/>
            <a:ext cx="723138" cy="723138"/>
          </a:xfrm>
          <a:prstGeom prst="ellipse">
            <a:avLst/>
          </a:prstGeom>
          <a:solidFill>
            <a:srgbClr val="DBE8D5"/>
          </a:solidFill>
          <a:ln w="1651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06907" y="4453636"/>
            <a:ext cx="611886" cy="611886"/>
          </a:xfrm>
          <a:prstGeom prst="ellipse">
            <a:avLst/>
          </a:prstGeom>
          <a:solidFill>
            <a:srgbClr val="A5C695"/>
          </a:solidFill>
          <a:ln w="1143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83056" y="4564888"/>
            <a:ext cx="370840" cy="417195"/>
          </a:xfrm>
          <a:prstGeom prst="ellipse">
            <a:avLst/>
          </a:prstGeom>
          <a:solidFill>
            <a:srgbClr val="DB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20140" y="4657598"/>
            <a:ext cx="166877" cy="176149"/>
          </a:xfrm>
          <a:prstGeom prst="ellipse">
            <a:avLst/>
          </a:prstGeom>
          <a:solidFill>
            <a:srgbClr val="BFAAD6"/>
          </a:solidFill>
          <a:ln w="1143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43991" y="4564888"/>
            <a:ext cx="101980" cy="6489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43991" y="4713224"/>
            <a:ext cx="101980" cy="6489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27430" y="4880102"/>
            <a:ext cx="101980" cy="6489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259205" y="4898644"/>
            <a:ext cx="101980" cy="6489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333373" y="4481449"/>
            <a:ext cx="101980" cy="64897"/>
          </a:xfrm>
          <a:prstGeom prst="ellipse">
            <a:avLst/>
          </a:prstGeom>
          <a:solidFill>
            <a:srgbClr val="5B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324102" y="4796663"/>
            <a:ext cx="64897" cy="64897"/>
          </a:xfrm>
          <a:prstGeom prst="ellipse">
            <a:avLst/>
          </a:prstGeom>
          <a:solidFill>
            <a:srgbClr val="EFF5EC"/>
          </a:solidFill>
          <a:ln w="7620">
            <a:solidFill>
              <a:srgbClr val="5B9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879600" y="4318000"/>
            <a:ext cx="203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Producir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79600" y="4737100"/>
            <a:ext cx="19812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Biomasa y oxígeno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79600" y="5232400"/>
            <a:ext cx="2006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B983F"/>
                </a:solidFill>
                <a:latin typeface="DejaVu Sans"/>
              </a:defRPr>
            </a:pPr>
            <a:r>
              <a:rPr>
                <a:latin typeface="DejaVu Sans"/>
              </a:rPr>
              <a:t>Luz + CO₂ → biomasa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43400" y="3759200"/>
            <a:ext cx="3505200" cy="1816100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1016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343400" y="3759200"/>
            <a:ext cx="63500" cy="1816100"/>
          </a:xfrm>
          <a:prstGeom prst="roundRect">
            <a:avLst>
              <a:gd name="adj" fmla="val 40000"/>
            </a:avLst>
          </a:prstGeom>
          <a:solidFill>
            <a:srgbClr val="33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33900" y="3911600"/>
            <a:ext cx="312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339EC1"/>
                </a:solidFill>
                <a:latin typeface="DejaVu Sans"/>
              </a:defRPr>
            </a:pPr>
            <a:r>
              <a:rPr>
                <a:latin typeface="DejaVu Sans"/>
              </a:rPr>
              <a:t>PROTOZOARIOS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5294122" y="4768850"/>
            <a:ext cx="64897" cy="0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287436" y="4851734"/>
            <a:ext cx="63479" cy="1349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267671" y="4930996"/>
            <a:ext cx="59287" cy="2639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235692" y="5003172"/>
            <a:ext cx="52502" cy="38145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192894" y="5065106"/>
            <a:ext cx="43425" cy="482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141150" y="5114093"/>
            <a:ext cx="32449" cy="5620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082720" y="5147991"/>
            <a:ext cx="20054" cy="6172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020158" y="5165319"/>
            <a:ext cx="6784" cy="6454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4949415" y="5165319"/>
            <a:ext cx="6784" cy="6454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4873583" y="5147991"/>
            <a:ext cx="20054" cy="6172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4802759" y="5114093"/>
            <a:ext cx="32448" cy="5620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4740038" y="5065106"/>
            <a:ext cx="43425" cy="482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4688163" y="5003172"/>
            <a:ext cx="52502" cy="38145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4649399" y="4930996"/>
            <a:ext cx="59287" cy="2639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4625442" y="4851734"/>
            <a:ext cx="63479" cy="1349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4617339" y="4768850"/>
            <a:ext cx="64897" cy="0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 flipV="1">
            <a:off x="4625442" y="4672472"/>
            <a:ext cx="63479" cy="1349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4649399" y="4580307"/>
            <a:ext cx="59287" cy="2639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4688163" y="4496382"/>
            <a:ext cx="52502" cy="38145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 flipV="1">
            <a:off x="4740038" y="4424365"/>
            <a:ext cx="43425" cy="482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4802758" y="4367403"/>
            <a:ext cx="32449" cy="5620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4873583" y="4327987"/>
            <a:ext cx="20054" cy="6172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 flipV="1">
            <a:off x="4949415" y="4307839"/>
            <a:ext cx="6784" cy="6454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020158" y="4307839"/>
            <a:ext cx="6784" cy="6454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082720" y="4327987"/>
            <a:ext cx="20054" cy="61721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5141150" y="4367403"/>
            <a:ext cx="32449" cy="5620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192894" y="4424365"/>
            <a:ext cx="43425" cy="48228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235692" y="4496382"/>
            <a:ext cx="52502" cy="38145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267671" y="4580307"/>
            <a:ext cx="59287" cy="26396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5287436" y="4672472"/>
            <a:ext cx="63479" cy="13493"/>
          </a:xfrm>
          <a:prstGeom prst="line">
            <a:avLst/>
          </a:prstGeom>
          <a:ln w="9525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4682236" y="4379468"/>
            <a:ext cx="611886" cy="778764"/>
          </a:xfrm>
          <a:prstGeom prst="ellipse">
            <a:avLst/>
          </a:prstGeom>
          <a:solidFill>
            <a:srgbClr val="D2EAF1"/>
          </a:solidFill>
          <a:ln w="1651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737862" y="4435094"/>
            <a:ext cx="500634" cy="667511"/>
          </a:xfrm>
          <a:prstGeom prst="ellipse">
            <a:avLst/>
          </a:prstGeom>
          <a:noFill/>
          <a:ln w="8255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867656" y="4601972"/>
            <a:ext cx="222504" cy="296672"/>
          </a:xfrm>
          <a:prstGeom prst="ellipse">
            <a:avLst/>
          </a:prstGeom>
          <a:solidFill>
            <a:srgbClr val="CAB9DD"/>
          </a:solidFill>
          <a:ln w="12700">
            <a:solidFill>
              <a:srgbClr val="8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821301" y="4509262"/>
            <a:ext cx="78803" cy="78803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062347" y="4907915"/>
            <a:ext cx="78803" cy="78803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793488" y="4926457"/>
            <a:ext cx="78803" cy="78803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080889" y="4527804"/>
            <a:ext cx="78803" cy="78803"/>
          </a:xfrm>
          <a:prstGeom prst="ellipse">
            <a:avLst/>
          </a:prstGeom>
          <a:solidFill>
            <a:srgbClr val="7AC0D7"/>
          </a:solidFill>
          <a:ln w="8890">
            <a:solidFill>
              <a:srgbClr val="33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H="1">
            <a:off x="5043805" y="4703953"/>
            <a:ext cx="74168" cy="83439"/>
          </a:xfrm>
          <a:prstGeom prst="line">
            <a:avLst/>
          </a:prstGeom>
          <a:ln w="12700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043805" y="4787392"/>
            <a:ext cx="74168" cy="55626"/>
          </a:xfrm>
          <a:prstGeom prst="line">
            <a:avLst/>
          </a:prstGeom>
          <a:ln w="12700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5664200" y="4318000"/>
            <a:ext cx="203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Consumir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664200" y="4737100"/>
            <a:ext cx="19812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Microbios y nutrientes</a:t>
            </a:r>
          </a:p>
        </p:txBody>
      </p:sp>
      <p:sp>
        <p:nvSpPr>
          <p:cNvPr id="158" name="Oval 157"/>
          <p:cNvSpPr/>
          <p:nvPr/>
        </p:nvSpPr>
        <p:spPr>
          <a:xfrm>
            <a:off x="5702300" y="5295900"/>
            <a:ext cx="63500" cy="635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816600" y="5295900"/>
            <a:ext cx="63500" cy="635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930900" y="5295900"/>
            <a:ext cx="63500" cy="63500"/>
          </a:xfrm>
          <a:prstGeom prst="ellipse">
            <a:avLst/>
          </a:prstGeom>
          <a:solidFill>
            <a:srgbClr val="168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>
            <a:off x="6108700" y="5334000"/>
            <a:ext cx="381000" cy="0"/>
          </a:xfrm>
          <a:prstGeom prst="line">
            <a:avLst/>
          </a:prstGeom>
          <a:ln w="15240">
            <a:solidFill>
              <a:srgbClr val="339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Freeform 161"/>
          <p:cNvSpPr/>
          <p:nvPr/>
        </p:nvSpPr>
        <p:spPr>
          <a:xfrm>
            <a:off x="6433820" y="5304790"/>
            <a:ext cx="55880" cy="58420"/>
          </a:xfrm>
          <a:custGeom>
            <a:avLst/>
            <a:gdLst/>
            <a:ahLst/>
            <a:cxnLst/>
            <a:rect l="l" t="t" r="r" b="b"/>
            <a:pathLst>
              <a:path w="44" h="46">
                <a:moveTo>
                  <a:pt x="44" y="23"/>
                </a:moveTo>
                <a:lnTo>
                  <a:pt x="0" y="46"/>
                </a:lnTo>
                <a:lnTo>
                  <a:pt x="0" y="0"/>
                </a:lnTo>
                <a:close/>
              </a:path>
            </a:pathLst>
          </a:custGeom>
          <a:solidFill>
            <a:srgbClr val="33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616700" y="5232400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39EC1"/>
                </a:solidFill>
                <a:latin typeface="DejaVu Sans"/>
              </a:defRPr>
            </a:pPr>
            <a:r>
              <a:rPr>
                <a:latin typeface="DejaVu Sans"/>
              </a:rPr>
              <a:t>Consumo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128000" y="3759200"/>
            <a:ext cx="3505200" cy="1816100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10160">
            <a:solidFill>
              <a:srgbClr val="D8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8128000" y="3759200"/>
            <a:ext cx="63500" cy="1816100"/>
          </a:xfrm>
          <a:prstGeom prst="roundRect">
            <a:avLst>
              <a:gd name="adj" fmla="val 40000"/>
            </a:avLst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318500" y="3911600"/>
            <a:ext cx="312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D76E63"/>
                </a:solidFill>
                <a:latin typeface="DejaVu Sans"/>
              </a:defRPr>
            </a:pPr>
            <a:r>
              <a:rPr>
                <a:latin typeface="DejaVu Sans"/>
              </a:rPr>
              <a:t>VIRUS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8540750" y="4342130"/>
            <a:ext cx="482600" cy="528320"/>
          </a:xfrm>
          <a:custGeom>
            <a:avLst/>
            <a:gdLst/>
            <a:ahLst/>
            <a:cxnLst/>
            <a:rect l="l" t="t" r="r" b="b"/>
            <a:pathLst>
              <a:path w="380" h="416">
                <a:moveTo>
                  <a:pt x="190" y="0"/>
                </a:moveTo>
                <a:lnTo>
                  <a:pt x="380" y="102"/>
                </a:lnTo>
                <a:lnTo>
                  <a:pt x="380" y="314"/>
                </a:lnTo>
                <a:lnTo>
                  <a:pt x="190" y="416"/>
                </a:lnTo>
                <a:lnTo>
                  <a:pt x="0" y="314"/>
                </a:lnTo>
                <a:lnTo>
                  <a:pt x="0" y="102"/>
                </a:lnTo>
                <a:close/>
              </a:path>
            </a:pathLst>
          </a:custGeom>
          <a:solidFill>
            <a:srgbClr val="F6DFDD"/>
          </a:solidFill>
          <a:ln w="20320">
            <a:solidFill>
              <a:srgbClr val="D7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8541004" y="4472178"/>
            <a:ext cx="482092" cy="268859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 flipV="1">
            <a:off x="8782050" y="4342384"/>
            <a:ext cx="241046" cy="398653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782050" y="4342384"/>
            <a:ext cx="0" cy="528447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8782050" y="4472178"/>
            <a:ext cx="241046" cy="398653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8541004" y="4472178"/>
            <a:ext cx="482092" cy="268859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8541004" y="4472178"/>
            <a:ext cx="0" cy="268859"/>
          </a:xfrm>
          <a:prstGeom prst="line">
            <a:avLst/>
          </a:prstGeom>
          <a:ln w="889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726424" y="4889373"/>
            <a:ext cx="111252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8726424" y="4921821"/>
            <a:ext cx="111252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8726424" y="4954270"/>
            <a:ext cx="111252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8726424" y="4986718"/>
            <a:ext cx="111252" cy="0"/>
          </a:xfrm>
          <a:prstGeom prst="line">
            <a:avLst/>
          </a:prstGeom>
          <a:ln w="2032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8782050" y="4870831"/>
            <a:ext cx="0" cy="194691"/>
          </a:xfrm>
          <a:prstGeom prst="line">
            <a:avLst/>
          </a:prstGeom>
          <a:ln w="2540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 flipV="1">
            <a:off x="8578088" y="4954270"/>
            <a:ext cx="203962" cy="64897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8485378" y="4954270"/>
            <a:ext cx="92710" cy="259588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8670798" y="5046980"/>
            <a:ext cx="111252" cy="64897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8652256" y="5111877"/>
            <a:ext cx="18542" cy="157607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8782050" y="4954270"/>
            <a:ext cx="203962" cy="64897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986012" y="4954270"/>
            <a:ext cx="92710" cy="259588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8782050" y="5046980"/>
            <a:ext cx="111252" cy="64897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893302" y="5111877"/>
            <a:ext cx="18542" cy="157607"/>
          </a:xfrm>
          <a:prstGeom prst="line">
            <a:avLst/>
          </a:prstGeom>
          <a:ln w="1905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9448800" y="4318000"/>
            <a:ext cx="203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Regular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448800" y="4737100"/>
            <a:ext cx="19812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Poblaciones y lisis</a:t>
            </a:r>
          </a:p>
        </p:txBody>
      </p:sp>
      <p:sp>
        <p:nvSpPr>
          <p:cNvPr id="189" name="Oval 188"/>
          <p:cNvSpPr/>
          <p:nvPr/>
        </p:nvSpPr>
        <p:spPr>
          <a:xfrm>
            <a:off x="9525000" y="5257800"/>
            <a:ext cx="190500" cy="190500"/>
          </a:xfrm>
          <a:prstGeom prst="ellipse">
            <a:avLst/>
          </a:prstGeom>
          <a:noFill/>
          <a:ln w="12700">
            <a:solidFill>
              <a:srgbClr val="16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9855200" y="5346700"/>
            <a:ext cx="457200" cy="0"/>
          </a:xfrm>
          <a:prstGeom prst="line">
            <a:avLst/>
          </a:prstGeom>
          <a:ln w="15240">
            <a:solidFill>
              <a:srgbClr val="D76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 190"/>
          <p:cNvSpPr/>
          <p:nvPr/>
        </p:nvSpPr>
        <p:spPr>
          <a:xfrm>
            <a:off x="10256520" y="5317490"/>
            <a:ext cx="55880" cy="58420"/>
          </a:xfrm>
          <a:custGeom>
            <a:avLst/>
            <a:gdLst/>
            <a:ahLst/>
            <a:cxnLst/>
            <a:rect l="l" t="t" r="r" b="b"/>
            <a:pathLst>
              <a:path w="44" h="46">
                <a:moveTo>
                  <a:pt x="44" y="23"/>
                </a:moveTo>
                <a:lnTo>
                  <a:pt x="0" y="46"/>
                </a:lnTo>
                <a:lnTo>
                  <a:pt x="0" y="0"/>
                </a:lnTo>
                <a:close/>
              </a:path>
            </a:pathLst>
          </a:cu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464800" y="5308600"/>
            <a:ext cx="50800" cy="50800"/>
          </a:xfrm>
          <a:prstGeom prst="ellipse">
            <a:avLst/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566400" y="5384800"/>
            <a:ext cx="50800" cy="50800"/>
          </a:xfrm>
          <a:prstGeom prst="ellipse">
            <a:avLst/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718800" y="5283200"/>
            <a:ext cx="50800" cy="50800"/>
          </a:xfrm>
          <a:prstGeom prst="ellipse">
            <a:avLst/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845800" y="5346700"/>
            <a:ext cx="50800" cy="50800"/>
          </a:xfrm>
          <a:prstGeom prst="ellipse">
            <a:avLst/>
          </a:prstGeom>
          <a:solidFill>
            <a:srgbClr val="D7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58800" y="5892800"/>
            <a:ext cx="110744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¿Qué características y procesos fisiológicos hacen posibles estas funciones?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254000"/>
            <a:ext cx="1079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REFERENCIAS · CONSULTA POSTERIOR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571500"/>
            <a:ext cx="11176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Bibliografía científica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192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Estudios de 2024–2026 y referencias fundacionales para clasificación y escala.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6438900"/>
            <a:ext cx="11074400" cy="0"/>
          </a:xfrm>
          <a:prstGeom prst="line">
            <a:avLst/>
          </a:prstGeom>
          <a:ln w="1016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6540500"/>
            <a:ext cx="1022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Referencias verificadas en octubre de 2026. Los números coinciden con las citas al pie de las diapositivas.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5278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06 / 07</a:t>
            </a:r>
          </a:p>
        </p:txBody>
      </p:sp>
      <p:sp>
        <p:nvSpPr>
          <p:cNvPr id="9" name="Oval 8"/>
          <p:cNvSpPr/>
          <p:nvPr/>
        </p:nvSpPr>
        <p:spPr>
          <a:xfrm>
            <a:off x="558800" y="17018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800" y="17526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16891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Parker, N., et al. (2016).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19431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Microbiology. Sección 1.3: Types of Microorganisms.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1844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OpenStax. Texto base para grupos y escala microscópica.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24003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3"/>
              </a:rPr>
              <a:t>openstax.org/books/microbiology/pages/1-3-types-of-microorganisms</a:t>
            </a:r>
          </a:p>
        </p:txBody>
      </p:sp>
      <p:sp>
        <p:nvSpPr>
          <p:cNvPr id="15" name="Oval 14"/>
          <p:cNvSpPr/>
          <p:nvPr/>
        </p:nvSpPr>
        <p:spPr>
          <a:xfrm>
            <a:off x="558800" y="26162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800" y="26670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26035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Moody, E. R. R., et al. (2024).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28575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The nature of the last universal common ancestor and its impact on the early Earth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30988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Nature Ecology &amp; Evolution, 8, 1654–1666.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33147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4"/>
              </a:rPr>
              <a:t>doi.org/10.1038/s41559-024-02461-1</a:t>
            </a:r>
          </a:p>
        </p:txBody>
      </p:sp>
      <p:sp>
        <p:nvSpPr>
          <p:cNvPr id="21" name="Oval 20"/>
          <p:cNvSpPr/>
          <p:nvPr/>
        </p:nvSpPr>
        <p:spPr>
          <a:xfrm>
            <a:off x="558800" y="35306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800" y="35814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35179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Tobiasson, V., Luo, J., Wolf, Y. I., &amp; Koonin, E. V. (2026).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37719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Dominant contribution of Asgard archaea to eukaryogenesis.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40132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Nature, 650, 141–149.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42291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5"/>
              </a:rPr>
              <a:t>doi.org/10.1038/s41586-025-09960-6</a:t>
            </a:r>
          </a:p>
        </p:txBody>
      </p:sp>
      <p:sp>
        <p:nvSpPr>
          <p:cNvPr id="27" name="Oval 26"/>
          <p:cNvSpPr/>
          <p:nvPr/>
        </p:nvSpPr>
        <p:spPr>
          <a:xfrm>
            <a:off x="558800" y="44450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800" y="44958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" y="44323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Adl, S. M., et al. (2019).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46863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Revisions to the Classification, Nomenclature, and Diversity of Eukaryotes.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" y="49276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Journal of Eukaryotic Microbiology, 66, 4–119.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" y="51435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6"/>
              </a:rPr>
              <a:t>doi.org/10.1111/jeu.12691</a:t>
            </a:r>
          </a:p>
        </p:txBody>
      </p:sp>
      <p:sp>
        <p:nvSpPr>
          <p:cNvPr id="33" name="Oval 32"/>
          <p:cNvSpPr/>
          <p:nvPr/>
        </p:nvSpPr>
        <p:spPr>
          <a:xfrm>
            <a:off x="558800" y="53594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800" y="54102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" y="53467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Williamson, K., et al. (2025).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" y="56007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 robustly rooted tree of eukaryotes reveals their excavate ancestry.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" y="58420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Nature, 640, 974–981.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" y="60579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7"/>
              </a:rPr>
              <a:t>doi.org/10.1038/s41586-025-08709-5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254000"/>
            <a:ext cx="1079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REFERENCIAS · CONSULTA POSTERIOR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571500"/>
            <a:ext cx="11176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Bibliografía y materiales de apoyo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192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Estudios de 2024–2026 y referencias fundacionales para clasificación y escala.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6438900"/>
            <a:ext cx="11074400" cy="0"/>
          </a:xfrm>
          <a:prstGeom prst="line">
            <a:avLst/>
          </a:prstGeom>
          <a:ln w="10160">
            <a:solidFill>
              <a:srgbClr val="D8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6540500"/>
            <a:ext cx="1022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Referencias verificadas en octubre de 2026. Los números coinciden con las citas al pie de las diapositivas.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5278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07 / 07</a:t>
            </a:r>
          </a:p>
        </p:txBody>
      </p:sp>
      <p:sp>
        <p:nvSpPr>
          <p:cNvPr id="9" name="Oval 8"/>
          <p:cNvSpPr/>
          <p:nvPr/>
        </p:nvSpPr>
        <p:spPr>
          <a:xfrm>
            <a:off x="558800" y="17018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800" y="17526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16891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Koonin, E. V., Kuhn, J. H., Dolja, V. V., &amp; Krupovic, M. (2024).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19431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Megataxonomy and global ecology of the virosphere.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1844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The ISME Journal, 18, wrad042.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24003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3"/>
              </a:rPr>
              <a:t>doi.org/10.1093/ismejo/wrad042</a:t>
            </a:r>
          </a:p>
        </p:txBody>
      </p:sp>
      <p:sp>
        <p:nvSpPr>
          <p:cNvPr id="15" name="Oval 14"/>
          <p:cNvSpPr/>
          <p:nvPr/>
        </p:nvSpPr>
        <p:spPr>
          <a:xfrm>
            <a:off x="558800" y="26162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800" y="26670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26035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Graham, E. B., et al. (2024).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28575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 global atlas of soil viruses reveals unexplored biodiversity and potential biogeochemical impacts.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30988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Nature Microbiology, 9, 1873–1883.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33147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4"/>
              </a:rPr>
              <a:t>doi.org/10.1038/s41564-024-01686-x</a:t>
            </a:r>
          </a:p>
        </p:txBody>
      </p:sp>
      <p:sp>
        <p:nvSpPr>
          <p:cNvPr id="21" name="Oval 20"/>
          <p:cNvSpPr/>
          <p:nvPr/>
        </p:nvSpPr>
        <p:spPr>
          <a:xfrm>
            <a:off x="558800" y="35306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800" y="35814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35179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Könneke, M., et al. (2005).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37719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Isolation of an autotrophic ammonia-oxidizing marine archaeon.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40132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Nature, 437, 543–546. Estudio experimental fundacional.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42291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5"/>
              </a:rPr>
              <a:t>doi.org/10.1038/nature03911</a:t>
            </a:r>
          </a:p>
        </p:txBody>
      </p:sp>
      <p:sp>
        <p:nvSpPr>
          <p:cNvPr id="27" name="Oval 26"/>
          <p:cNvSpPr/>
          <p:nvPr/>
        </p:nvSpPr>
        <p:spPr>
          <a:xfrm>
            <a:off x="558800" y="4445000"/>
            <a:ext cx="304800" cy="304800"/>
          </a:xfrm>
          <a:prstGeom prst="ellipse">
            <a:avLst/>
          </a:prstGeom>
          <a:solidFill>
            <a:srgbClr val="D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800" y="449580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" y="44323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Volland, J.-M., et al. (2022).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4686300"/>
            <a:ext cx="10591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 centimeter-long bacterium with DNA contained in metabolically active, membrane-bound organelles.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" y="4927600"/>
            <a:ext cx="10591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9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Science, 376, 1453–1458. Excepción a los tamaños habituales.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" y="5143500"/>
            <a:ext cx="105918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168D91"/>
                </a:solidFill>
                <a:latin typeface="DejaVu Sans"/>
              </a:defRPr>
            </a:pPr>
            <a:r>
              <a:rPr>
                <a:latin typeface="DejaVu Sans"/>
                <a:hlinkClick r:id="rId6"/>
              </a:rPr>
              <a:t>doi.org/10.1126/science.abb3634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8800" y="5511800"/>
            <a:ext cx="11074400" cy="736600"/>
          </a:xfrm>
          <a:prstGeom prst="roundRect">
            <a:avLst>
              <a:gd name="adj" fmla="val 15517"/>
            </a:avLst>
          </a:prstGeom>
          <a:solidFill>
            <a:srgbClr val="F1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900" y="5626100"/>
            <a:ext cx="107442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70" b="1">
                <a:solidFill>
                  <a:srgbClr val="173746"/>
                </a:solidFill>
                <a:latin typeface="DejaVu Sans"/>
              </a:defRPr>
            </a:pPr>
            <a:r>
              <a:rPr>
                <a:latin typeface="DejaVu Sans"/>
              </a:rPr>
              <a:t>Apoyo didáctico aportado: LibreTexts/Boundless y Lumen Learning.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900" y="5905500"/>
            <a:ext cx="107442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617681"/>
                </a:solidFill>
                <a:latin typeface="DejaVu Sans"/>
              </a:defRPr>
            </a:pPr>
            <a:r>
              <a:rPr>
                <a:latin typeface="DejaVu Sans"/>
              </a:rPr>
              <a:t>Ilustraciones originales de estilo científico. Archivo con notas del docente y gráficos editables.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Diversidad microbiana en el ambiente</dc:title>
  <dc:subject>Introducción visual · filogenia, tamaños y funciones ambientales</dc:subject>
  <dc:creator>Material docente elaborado con asistencia de IA</dc:creator>
  <cp:keywords>bacterias, arqueas, hongos, microalgas, protozoarios, virus, ambiente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