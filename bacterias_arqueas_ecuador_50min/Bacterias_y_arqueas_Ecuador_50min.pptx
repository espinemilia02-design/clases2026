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07d2e4f9a24e53" /><Relationship Type="http://schemas.openxmlformats.org/officeDocument/2006/relationships/extended-properties" Target="/docProps/app.xml" Id="Rfe67901aa1a54493" /><Relationship Type="http://schemas.openxmlformats.org/officeDocument/2006/relationships/officeDocument" Target="/ppt/presentation.xml" Id="Ra5e3f2c4be974fef" /></Relationships>
</file>

<file path=ppt/presentation.xml><?xml version="1.0" encoding="utf-8"?>
<p:presentation xmlns:p="http://schemas.openxmlformats.org/presentationml/2006/main">
  <p:sldMasterIdLst>
    <p:sldMasterId xmlns:r="http://schemas.openxmlformats.org/officeDocument/2006/relationships" id="2147483648" r:id="R61de1ad40ac54b4c"/>
  </p:sldMasterIdLst>
  <p:notesMasterIdLst>
    <p:notesMasterId xmlns:r="http://schemas.openxmlformats.org/officeDocument/2006/relationships" r:id="R4e4c6ba21cba4517"/>
  </p:notesMasterIdLst>
  <p:sldIdLst>
    <p:sldId xmlns:r="http://schemas.openxmlformats.org/officeDocument/2006/relationships" id="256" r:id="R9e119806e94a406f"/>
    <p:sldId xmlns:r="http://schemas.openxmlformats.org/officeDocument/2006/relationships" id="257" r:id="Re8575231ec1a4839"/>
    <p:sldId xmlns:r="http://schemas.openxmlformats.org/officeDocument/2006/relationships" id="258" r:id="R166bc41610884882"/>
    <p:sldId xmlns:r="http://schemas.openxmlformats.org/officeDocument/2006/relationships" id="259" r:id="R154e11d4fc5c4370"/>
    <p:sldId xmlns:r="http://schemas.openxmlformats.org/officeDocument/2006/relationships" id="260" r:id="R37e69f18f4c74b90"/>
    <p:sldId xmlns:r="http://schemas.openxmlformats.org/officeDocument/2006/relationships" id="261" r:id="R00caea38f9e14222"/>
    <p:sldId xmlns:r="http://schemas.openxmlformats.org/officeDocument/2006/relationships" id="262" r:id="R3fc75a58c6344838"/>
    <p:sldId xmlns:r="http://schemas.openxmlformats.org/officeDocument/2006/relationships" id="263" r:id="Rcb1458222e004cb8"/>
    <p:sldId xmlns:r="http://schemas.openxmlformats.org/officeDocument/2006/relationships" id="264" r:id="R60b0e2c10e904c8c"/>
    <p:sldId xmlns:r="http://schemas.openxmlformats.org/officeDocument/2006/relationships" id="265" r:id="R257bc196dc8d47e7"/>
    <p:sldId xmlns:r="http://schemas.openxmlformats.org/officeDocument/2006/relationships" id="266" r:id="Re7c98017dc4c49ef"/>
    <p:sldId xmlns:r="http://schemas.openxmlformats.org/officeDocument/2006/relationships" id="267" r:id="R0b7130db4c4d4451"/>
    <p:sldId xmlns:r="http://schemas.openxmlformats.org/officeDocument/2006/relationships" id="268" r:id="R5d3e54a1ba99414c"/>
    <p:sldId xmlns:r="http://schemas.openxmlformats.org/officeDocument/2006/relationships" id="269" r:id="R2ea332ec41af490b"/>
    <p:sldId xmlns:r="http://schemas.openxmlformats.org/officeDocument/2006/relationships" id="270" r:id="R503f221d0e014cdb"/>
    <p:sldId xmlns:r="http://schemas.openxmlformats.org/officeDocument/2006/relationships" id="271" r:id="R6874dbca0a664067"/>
    <p:sldId xmlns:r="http://schemas.openxmlformats.org/officeDocument/2006/relationships" id="272" r:id="R6e0d2441e7914878"/>
    <p:sldId xmlns:r="http://schemas.openxmlformats.org/officeDocument/2006/relationships" id="273" r:id="R8937c68fea4643ac"/>
    <p:sldId xmlns:r="http://schemas.openxmlformats.org/officeDocument/2006/relationships" id="274" r:id="R19ce0bea1044438c"/>
    <p:sldId xmlns:r="http://schemas.openxmlformats.org/officeDocument/2006/relationships" id="275" r:id="Rf2cee78d3adf42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98a53c94e04d63" /><Relationship Type="http://schemas.openxmlformats.org/officeDocument/2006/relationships/slideMaster" Target="/ppt/slideMasters/slideMaster1.xml" Id="R61de1ad40ac54b4c" /><Relationship Type="http://schemas.openxmlformats.org/officeDocument/2006/relationships/notesMaster" Target="/ppt/notesMasters/notesMaster1.xml" Id="R4e4c6ba21cba4517" /><Relationship Type="http://schemas.openxmlformats.org/officeDocument/2006/relationships/presProps" Target="/ppt/presProps.xml" Id="R6a0a2487773444ff" /><Relationship Type="http://schemas.openxmlformats.org/officeDocument/2006/relationships/tableStyles" Target="/ppt/tableStyles.xml" Id="Re8cab1de07224aed" /><Relationship Type="http://schemas.openxmlformats.org/officeDocument/2006/relationships/slide" Target="/ppt/slides/slide1.xml" Id="R9e119806e94a406f" /><Relationship Type="http://schemas.openxmlformats.org/officeDocument/2006/relationships/slide" Target="/ppt/slides/slide2.xml" Id="Re8575231ec1a4839" /><Relationship Type="http://schemas.openxmlformats.org/officeDocument/2006/relationships/slide" Target="/ppt/slides/slide3.xml" Id="R166bc41610884882" /><Relationship Type="http://schemas.openxmlformats.org/officeDocument/2006/relationships/slide" Target="/ppt/slides/slide4.xml" Id="R154e11d4fc5c4370" /><Relationship Type="http://schemas.openxmlformats.org/officeDocument/2006/relationships/slide" Target="/ppt/slides/slide5.xml" Id="R37e69f18f4c74b90" /><Relationship Type="http://schemas.openxmlformats.org/officeDocument/2006/relationships/slide" Target="/ppt/slides/slide6.xml" Id="R00caea38f9e14222" /><Relationship Type="http://schemas.openxmlformats.org/officeDocument/2006/relationships/slide" Target="/ppt/slides/slide7.xml" Id="R3fc75a58c6344838" /><Relationship Type="http://schemas.openxmlformats.org/officeDocument/2006/relationships/slide" Target="/ppt/slides/slide8.xml" Id="Rcb1458222e004cb8" /><Relationship Type="http://schemas.openxmlformats.org/officeDocument/2006/relationships/slide" Target="/ppt/slides/slide9.xml" Id="R60b0e2c10e904c8c" /><Relationship Type="http://schemas.openxmlformats.org/officeDocument/2006/relationships/slide" Target="/ppt/slides/slide10.xml" Id="R257bc196dc8d47e7" /><Relationship Type="http://schemas.openxmlformats.org/officeDocument/2006/relationships/slide" Target="/ppt/slides/slide11.xml" Id="Re7c98017dc4c49ef" /><Relationship Type="http://schemas.openxmlformats.org/officeDocument/2006/relationships/slide" Target="/ppt/slides/slide12.xml" Id="R0b7130db4c4d4451" /><Relationship Type="http://schemas.openxmlformats.org/officeDocument/2006/relationships/slide" Target="/ppt/slides/slide13.xml" Id="R5d3e54a1ba99414c" /><Relationship Type="http://schemas.openxmlformats.org/officeDocument/2006/relationships/slide" Target="/ppt/slides/slide14.xml" Id="R2ea332ec41af490b" /><Relationship Type="http://schemas.openxmlformats.org/officeDocument/2006/relationships/slide" Target="/ppt/slides/slide15.xml" Id="R503f221d0e014cdb" /><Relationship Type="http://schemas.openxmlformats.org/officeDocument/2006/relationships/slide" Target="/ppt/slides/slide16.xml" Id="R6874dbca0a664067" /><Relationship Type="http://schemas.openxmlformats.org/officeDocument/2006/relationships/slide" Target="/ppt/slides/slide17.xml" Id="R6e0d2441e7914878" /><Relationship Type="http://schemas.openxmlformats.org/officeDocument/2006/relationships/slide" Target="/ppt/slides/slide18.xml" Id="R8937c68fea4643ac" /><Relationship Type="http://schemas.openxmlformats.org/officeDocument/2006/relationships/slide" Target="/ppt/slides/slide19.xml" Id="R19ce0bea1044438c" /><Relationship Type="http://schemas.openxmlformats.org/officeDocument/2006/relationships/slide" Target="/ppt/slides/slide20.xml" Id="Rf2cee78d3adf42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9e6d269c2040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f9794f37f746f3" /><Relationship Type="http://schemas.openxmlformats.org/officeDocument/2006/relationships/notesMaster" Target="/ppt/notesMasters/notesMaster1.xml" Id="Rcd53df00fe6643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df31bcce5748ae" /><Relationship Type="http://schemas.openxmlformats.org/officeDocument/2006/relationships/notesMaster" Target="/ppt/notesMasters/notesMaster1.xml" Id="Rb367cb6619764c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f9c2f0f41d442c" /><Relationship Type="http://schemas.openxmlformats.org/officeDocument/2006/relationships/notesMaster" Target="/ppt/notesMasters/notesMaster1.xml" Id="R8c5a81d3e62a42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03a359d39e41ea" /><Relationship Type="http://schemas.openxmlformats.org/officeDocument/2006/relationships/notesMaster" Target="/ppt/notesMasters/notesMaster1.xml" Id="Rcb9b022fc03740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f2621ba83d496f" /><Relationship Type="http://schemas.openxmlformats.org/officeDocument/2006/relationships/notesMaster" Target="/ppt/notesMasters/notesMaster1.xml" Id="R701c2fb9ac7943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3e0f8ea6cb4239" /><Relationship Type="http://schemas.openxmlformats.org/officeDocument/2006/relationships/notesMaster" Target="/ppt/notesMasters/notesMaster1.xml" Id="Rf8b2e7fe1e454d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de60af77b243bd" /><Relationship Type="http://schemas.openxmlformats.org/officeDocument/2006/relationships/notesMaster" Target="/ppt/notesMasters/notesMaster1.xml" Id="Rf5ffb3a1779349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1302b35f534add" /><Relationship Type="http://schemas.openxmlformats.org/officeDocument/2006/relationships/notesMaster" Target="/ppt/notesMasters/notesMaster1.xml" Id="R0c1f051aa60744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019e53b0334b50" /><Relationship Type="http://schemas.openxmlformats.org/officeDocument/2006/relationships/notesMaster" Target="/ppt/notesMasters/notesMaster1.xml" Id="Rd79adc66b9b249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8d157091c24024" /><Relationship Type="http://schemas.openxmlformats.org/officeDocument/2006/relationships/notesMaster" Target="/ppt/notesMasters/notesMaster1.xml" Id="R0e097d2b145f43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074322ef164d3c" /><Relationship Type="http://schemas.openxmlformats.org/officeDocument/2006/relationships/notesMaster" Target="/ppt/notesMasters/notesMaster1.xml" Id="Rd07753e959e442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70592cee20471e" /><Relationship Type="http://schemas.openxmlformats.org/officeDocument/2006/relationships/notesMaster" Target="/ppt/notesMasters/notesMaster1.xml" Id="Rf5d81fa981df43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e43181cb274a33" /><Relationship Type="http://schemas.openxmlformats.org/officeDocument/2006/relationships/notesMaster" Target="/ppt/notesMasters/notesMaster1.xml" Id="R67d9f163794246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e366b8dff34cae" /><Relationship Type="http://schemas.openxmlformats.org/officeDocument/2006/relationships/notesMaster" Target="/ppt/notesMasters/notesMaster1.xml" Id="Re7a7810f44244e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b0e9a4f3584608" /><Relationship Type="http://schemas.openxmlformats.org/officeDocument/2006/relationships/notesMaster" Target="/ppt/notesMasters/notesMaster1.xml" Id="Rf3a3d0b0a5ef44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5403da59c541ff" /><Relationship Type="http://schemas.openxmlformats.org/officeDocument/2006/relationships/notesMaster" Target="/ppt/notesMasters/notesMaster1.xml" Id="R52e27824ed9b48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d68f4f8b70450f" /><Relationship Type="http://schemas.openxmlformats.org/officeDocument/2006/relationships/notesMaster" Target="/ppt/notesMasters/notesMaster1.xml" Id="R24658cb59eb146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b0f98eb5104e0b" /><Relationship Type="http://schemas.openxmlformats.org/officeDocument/2006/relationships/notesMaster" Target="/ppt/notesMasters/notesMaster1.xml" Id="R1ef4005eb8914a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d57d573e0848db" /><Relationship Type="http://schemas.openxmlformats.org/officeDocument/2006/relationships/notesMaster" Target="/ppt/notesMasters/notesMaster1.xml" Id="R2ae1adf0ec4c41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7d322758b14cca" /><Relationship Type="http://schemas.openxmlformats.org/officeDocument/2006/relationships/notesMaster" Target="/ppt/notesMasters/notesMaster1.xml" Id="R4e9fc50de31b4a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Bacterias y arqueas</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0–2 min.</a:t>
            </a:r>
          </a:p>
          <a:p xmlns:a="http://schemas.openxmlformats.org/drawingml/2006/main">
            <a:r>
              <a:t>Apertura: pide identificar qué tienen en común las dos células. Recoge dos hipótesis sin exigir vocabulario técnico. Explica que compararemos estructura y funcionamiento y los conectaremos con trabajos realizados en Ecuador. La portada es una ilustración conceptual generada con IA: no representa micrografías ni reconstruye cepas concretas. No comparar tamaños a partir de la ilustración.</a:t>
            </a:r>
          </a:p>
          <a:p xmlns:a="http://schemas.openxmlformats.org/drawingml/2006/main">
            <a:r>
              <a:t/>
            </a:r>
          </a:p>
          <a:p xmlns:a="http://schemas.openxmlformats.org/drawingml/2006/main">
            <a:r>
              <a:t>Referencias: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Preguntas desde tu carrera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2–4 min.</a:t>
            </a:r>
          </a:p>
          <a:p xmlns:a="http://schemas.openxmlformats.org/drawingml/2006/main">
            <a:r>
              <a:t>Presenta las tres miradas como complementarias, sin asignar intereses fijos por carrera. Microbiología: cultivar, identificar y comparar cepas. Biología: explicar interacciones y ciclos. Ciencias biomédicas: relacionar genes, fenotipos y salud humana o animal. Cada estudiante elige la pregunta que más le interese. El mapa sitúa los contextos de los casos; los puntos son orientativos y no reproducen el muestreo de los artículos. Cartografía: https://raw.githubusercontent.com/johan/world.geo.json/master/countries/ECU.geo.json</a:t>
            </a:r>
          </a:p>
          <a:p xmlns:a="http://schemas.openxmlformats.org/drawingml/2006/main">
            <a:r>
              <a:t/>
            </a:r>
          </a:p>
          <a:p xmlns:a="http://schemas.openxmlformats.org/drawingml/2006/main">
            <a:r>
              <a:t>Referencias:</a:t>
            </a:r>
          </a:p>
          <a:p xmlns:a="http://schemas.openxmlformats.org/drawingml/2006/main">
            <a:r>
              <a:t>[3] Delamuta, J. R. M., et al. (2020). Genetic diversity of Agrobacterium species isolated from nodules of common bean and soybean in Brazil, Mexico, Ecuador and Mozambique, and description of the new species Agrobacterium fabacearum sp. nov. International Journal of Systematic and Evolutionary Microbiology, 70, 4233–4244. https://doi.org/10.1099/ijsem.0.004278</a:t>
            </a:r>
          </a:p>
          <a:p xmlns:a="http://schemas.openxmlformats.org/drawingml/2006/main">
            <a:r>
              <a:t>[4] León-Cadena, A., et al. (2026). Updating the description of Rhizobium diversity associated with common bean cultivars in the Ecuadorian Andes: A phylogenetic and functional perspective. PLOS One, 21(1), e0339774. https://doi.org/10.1371/journal.pone.0339774</a:t>
            </a:r>
          </a:p>
          <a:p xmlns:a="http://schemas.openxmlformats.org/drawingml/2006/main">
            <a:r>
              <a:t>[5] Reyes, G., Betancourt, I., Borbor, M., &amp; Bayot, B. (2024). Draft genome sequence of Bacillus velezensis strain 3TSA-3, a potential probiotic for Pacific white shrimp Penaeus vannamei postlarvae isolated from commercial hatchery tanks. Microbiology Resource Announcements, 13(4), e01208-23. https://doi.org/10.1128/mra.01208-23</a:t>
            </a:r>
          </a:p>
          <a:p xmlns:a="http://schemas.openxmlformats.org/drawingml/2006/main">
            <a:r>
              <a:t>[6] Salinas, L., Cárdenas, P., Graham, J. P., &amp; Trueba, G. (2024). IS26 drives the dissemination of blaCTX-M genes in an Ecuadorian community. Microbiology Spectrum, 12(1), e02504-23. Publicación electrónica: diciembre de 2023. https://doi.org/10.1128/spectrum.02504-23</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[8] Calderón-Tapia, C., et al. (2024). Exploration of bacterial strains with bioremediation potential for mercury and cyanide from mine tailings in San Carlos de las Minas, Ecuador. AIMS Environmental Science, 11, 381–400. https://doi.org/10.3934/environsci.2024019</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Organización celular compartida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4–7 min.</a:t>
            </a:r>
          </a:p>
          <a:p xmlns:a="http://schemas.openxmlformats.org/drawingml/2006/main">
            <a:r>
              <a:t>Señala membrana, citoplasma, ADN y ribosomas antes de nombrar diferencias. El ADN se concentra en una región llamada nucleoide. Los ribosomas producen proteínas. Bacterias y arqueas son linajes distintos aunque ambas tengan organización procariota. No afirmar que carecen de toda organización interna ni que todas tienen un único cromosoma circular. Las formas ilustradas son ejemplos, no diagnósticos de cada dominio.</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 características</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7–10 min.</a:t>
            </a:r>
          </a:p>
          <a:p xmlns:a="http://schemas.openxmlformats.org/drawingml/2006/main">
            <a:r>
              <a:t>Lee la tabla horizontalmente. Peptidoglucano es una red de moléculas que forma la pared de muchas bacterias. Las arqueas carecen de peptidoglucano bacteriano, pero pueden tener otras paredes o capas superficiales. Algunas bacterias tampoco tienen pared. Introduce éster y éter como nombres de enlaces, sin exigir memorizar estructuras químicas. Ambos grupos habitan ambientes comunes y ambientes extremos.</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a:p xmlns:a="http://schemas.openxmlformats.org/drawingml/2006/main">
            <a:r>
              <a:t>[2] Zeng, Z., et al. (2018). Calditol-linked membrane lipids are required for acid tolerance in Sulfolobus acidocaldarius. PNAS, 115, 12932–12937. https://doi.org/10.1073/pnas.1814048115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Pared y membrana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10–13 min.</a:t>
            </a:r>
          </a:p>
          <a:p xmlns:a="http://schemas.openxmlformats.org/drawingml/2006/main">
            <a:r>
              <a:t>Distingue pared de membrana: no son sinónimos. Las cabezas y colas del esquema representan lípidos, no átomos ni una escala real. En bacterias predominan ácidos grasos unidos por enlaces éster; en arqueas, cadenas isoprenoides con enlaces éter. Hay variaciones y algunas arqueas forman monocapas. Zeng y colaboradores demostraron un papel específico de lípidos con calditol en tolerancia al ácido en Sulfolobus acidocaldarius; el resultado no se extiende automáticamente a todas las arqueas.</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a:p xmlns:a="http://schemas.openxmlformats.org/drawingml/2006/main">
            <a:r>
              <a:t>[2] Zeng, Z., et al. (2018). Calditol-linked membrane lipids are required for acid tolerance in Sulfolobus acidocaldarius. PNAS, 115, 12932–12937. https://doi.org/10.1073/pnas.1814048115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Fisiología: cómo funciona una célula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13–15 min.</a:t>
            </a:r>
          </a:p>
          <a:p xmlns:a="http://schemas.openxmlformats.org/drawingml/2006/main">
            <a:r>
              <a:t>Define fisiología como estudio del funcionamiento. El carbono aporta material para construir biomoléculas; la energía permite mantener procesos y crecer. El oxígeno no es sinónimo de energía: algunas células lo utilizan en respiración y otras viven sin él. La fuente de carbono y la fuente de energía deben distinguirse. Pregunta qué ocurriría si una cepa tiene alimento pero la temperatura impide su crecimiento.</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del funcionamiento</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15–18 min.</a:t>
            </a:r>
          </a:p>
          <a:p xmlns:a="http://schemas.openxmlformats.org/drawingml/2006/main">
            <a:r>
              <a:t>Evita atribuir un único metabolismo a todo un dominio. En ambos hay diversidad nutricional y relaciones diferentes con el oxígeno. Algunas bacterias realizan fotosíntesis; algunas arqueas captan luz mediante proteínas, un proceso distinto de la fotosíntesis oxigénica. La metanogénesis clásica es característica de ciertos linajes arqueanos. En un biodigestor, bacterias y arqueas cooperan: unas generan sustratos y otras forman metano.</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División celular e intercambio de ADN</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18–20 min.</a:t>
            </a:r>
          </a:p>
          <a:p xmlns:a="http://schemas.openxmlformats.org/drawingml/2006/main">
            <a:r>
              <a:t>En la fisión binaria se duplica el material genético y se forman dos células hijas. Es frecuente en bacterias y arqueas, aunque hay otras modalidades de división. La transferencia horizontal es el paso de material genético entre células y no equivale a multiplicarse. Un plásmido es una molécula de ADN que puede portar genes. El intercambio de ADN puede cambiar características de una cepa. Las figuras son esquemas generales y no reproducen un experimento del estudio. En el ejemplo de transferencia horizontal, ambos colores representan células bacterianas distintas, no los dos dominios.</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a:p xmlns:a="http://schemas.openxmlformats.org/drawingml/2006/main">
            <a:r>
              <a:t>[6] Salinas, L., Cárdenas, P., Graham, J. P., &amp; Trueba, G. (2024). IS26 drives the dissemination of blaCTX-M genes in an Ecuadorian community. Microbiology Spectrum, 12(1), e02504-23. Publicación electrónica: diciembre de 2023. https://doi.org/10.1128/spectrum.02504-23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especie nueva vinculada a Ecuador</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20–23 min.</a:t>
            </a:r>
          </a:p>
          <a:p xmlns:a="http://schemas.openxmlformats.org/drawingml/2006/main">
            <a:r>
              <a:t>La cepa tipo CNPSo 675ᵀ procede de un nódulo de fréjol de Pallatanga, Chimborazo. La especie se delimitó comparando genomas y características. No logró volver a nodular al hospedero en el ensayo: su presencia en un nódulo no prueba que sea un biofertilizante. Cepa nombra un aislamiento; especie, una unidad que puede contener muchas cepas. La T indica referencia nomenclatural, no una cepa superior.</a:t>
            </a:r>
          </a:p>
          <a:p xmlns:a="http://schemas.openxmlformats.org/drawingml/2006/main">
            <a:r>
              <a:t/>
            </a:r>
          </a:p>
          <a:p xmlns:a="http://schemas.openxmlformats.org/drawingml/2006/main">
            <a:r>
              <a:t>Referencias:</a:t>
            </a:r>
          </a:p>
          <a:p xmlns:a="http://schemas.openxmlformats.org/drawingml/2006/main">
            <a:r>
              <a:t>[3] Delamuta, J. R. M., et al. (2020). Genetic diversity of Agrobacterium species isolated from nodules of common bean and soybean in Brazil, Mexico, Ecuador and Mozambique, and description of the new species Agrobacterium fabacearum sp. nov. International Journal of Systematic and Evolutionary Microbiology, 70, 4233–4244. https://doi.org/10.1099/ijsem.0.004278</a:t>
            </a:r>
          </a:p>
          <a:p xmlns:a="http://schemas.openxmlformats.org/drawingml/2006/main">
            <a:r>
              <a:t>[10] LPSN / DSMZ (2026). Agrobacterium fabacearum: estado nomenclatural y cepa tipo CNPSo 675. Registro taxonómico consultado el 26 de octubre de 2026. https://lpsn.dsmz.de/species/agrobacterium-fabacearum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Cepas nativas y nodulación del fréjol</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23–26 min.</a:t>
            </a:r>
          </a:p>
          <a:p xmlns:a="http://schemas.openxmlformats.org/drawingml/2006/main">
            <a:r>
              <a:t>El estudio aisló 46 cepas de cuatro provincias y evaluó nodulación en variedades locales. Define nódulo como una estructura de la raíz que puede albergar bacterias. Estos resultados proponen candidatas a bioinoculantes, sin demostrar todavía rendimiento agrícola general en campo. Explica la simbiosis: la planta aporta compuestos de carbono y los rizobios fijadores pueden aportar nitrógeno. El trabajo de 2026 actualiza diversidad; no describe por primera vez Rhizobium ecuadorense.</a:t>
            </a:r>
          </a:p>
          <a:p xmlns:a="http://schemas.openxmlformats.org/drawingml/2006/main">
            <a:r>
              <a:t/>
            </a:r>
          </a:p>
          <a:p xmlns:a="http://schemas.openxmlformats.org/drawingml/2006/main">
            <a:r>
              <a:t>Referencias:</a:t>
            </a:r>
          </a:p>
          <a:p xmlns:a="http://schemas.openxmlformats.org/drawingml/2006/main">
            <a:r>
              <a:t>[4] León-Cadena, A., et al. (2026). Updating the description of Rhizobium diversity associated with common bean cultivars in the Ecuadorian Andes: A phylogenetic and functional perspective. PLOS One, 21(1), e0339774. https://doi.org/10.1371/journal.pone.0339774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cepa candidata para acuicultura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26–29 min.</a:t>
            </a:r>
          </a:p>
          <a:p xmlns:a="http://schemas.openxmlformats.org/drawingml/2006/main">
            <a:r>
              <a:t>Reyes y colaboradores reportaron el genoma borrador de la cepa 3TSA-3, obtenida de postlarvas de camarón. Detectaron genes de bacteriocinas y la propusieron como candidata a probiótico. Explica que las bacteriocinas son péptidos o proteínas que pueden inhibir otras bacterias. Un gen predicho orienta ensayos, pero no prueba eficacia ni seguridad por sí solo. No extrapolar a uso humano. Pregunta qué compararían en un ensayo con controles: supervivencia, colonización y efectos adversos son ejemplos de variables.</a:t>
            </a:r>
          </a:p>
          <a:p xmlns:a="http://schemas.openxmlformats.org/drawingml/2006/main">
            <a:r>
              <a:t/>
            </a:r>
          </a:p>
          <a:p xmlns:a="http://schemas.openxmlformats.org/drawingml/2006/main">
            <a:r>
              <a:t>Referencias:</a:t>
            </a:r>
          </a:p>
          <a:p xmlns:a="http://schemas.openxmlformats.org/drawingml/2006/main">
            <a:r>
              <a:t>[5] Reyes, G., Betancourt, I., Borbor, M., &amp; Bayot, B. (2024). Draft genome sequence of Bacillus velezensis strain 3TSA-3, a potential probiotic for Pacific white shrimp Penaeus vannamei postlarvae isolated from commercial hatchery tanks. Microbiology Resource Announcements, 13(4), e01208-23. https://doi.org/10.1128/mra.01208-23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Cepas, genes y resistencia antimicrobiana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29–32 min.</a:t>
            </a:r>
          </a:p>
          <a:p xmlns:a="http://schemas.openxmlformats.org/drawingml/2006/main">
            <a:r>
              <a:t>El estudio comparó aislamientos de personas y animales domésticos y encontró contextos genéticos con IS26 y genes blaCTX-M. IS26 es un elemento móvil de ADN. Los genes blaCTX-M pueden codificar beta-lactamasas, enzimas que inactivan ciertos antibióticos. Su análisis ayuda a estudiar la circulación de resistencia. El parecido genético no determina por sí solo quién transmitió a quién. Conecta genómica y pruebas de sensibilidad, evitando presentar un gen como sustituto de toda evaluación del fenotipo.</a:t>
            </a:r>
          </a:p>
          <a:p xmlns:a="http://schemas.openxmlformats.org/drawingml/2006/main">
            <a:r>
              <a:t/>
            </a:r>
          </a:p>
          <a:p xmlns:a="http://schemas.openxmlformats.org/drawingml/2006/main">
            <a:r>
              <a:t>Referencias:</a:t>
            </a:r>
          </a:p>
          <a:p xmlns:a="http://schemas.openxmlformats.org/drawingml/2006/main">
            <a:r>
              <a:t>[6] Salinas, L., Cárdenas, P., Graham, J. P., &amp; Trueba, G. (2024). IS26 drives the dissemination of blaCTX-M genes in an Ecuadorian community. Microbiology Spectrum, 12(1), e02504-23. Publicación electrónica: diciembre de 2023. https://doi.org/10.1128/spectrum.02504-23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Arqueas y producción de metano</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32–35 min.</a:t>
            </a:r>
          </a:p>
          <a:p xmlns:a="http://schemas.openxmlformats.org/drawingml/2006/main">
            <a:r>
              <a:t>En bromelias del sur de Ecuador se caracterizaron comunidades e incubaciones productoras de metano. En El Empalme se estudió un biodigestor piloto y su comunidad microbiana. Ambos casos tratan comunidades, no describen nuevas especies arqueanas. El esquema resume cooperación: las bacterias aportan sustratos y ciertas arqueas producen metano. La detección de taxones o genes no demuestra por sí sola rendimiento energético ni remediación.</a:t>
            </a:r>
          </a:p>
          <a:p xmlns:a="http://schemas.openxmlformats.org/drawingml/2006/main">
            <a:r>
              <a:t/>
            </a:r>
          </a:p>
          <a:p xmlns:a="http://schemas.openxmlformats.org/drawingml/2006/main">
            <a:r>
              <a:t>Referencias:</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Cepas con potencial de remediación</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35–37 min.</a:t>
            </a:r>
          </a:p>
          <a:p xmlns:a="http://schemas.openxmlformats.org/drawingml/2006/main">
            <a:r>
              <a:t>El trabajo aisló bacterias de relaves y evaluó su respuesta a cianuro y mercurio en laboratorio. La identificación reportada de E2 fue Pseudomonas alcaliphila. Se trata de cepas de especies ya conocidas, no de una descripción taxonómica nueva. No reproducir la expresión degradación del mercurio como destrucción del elemento: el Hg cambia de forma, fase o destino. Para evaluar remediación importa comprobar ese destino y la exposición.</a:t>
            </a:r>
          </a:p>
          <a:p xmlns:a="http://schemas.openxmlformats.org/drawingml/2006/main">
            <a:r>
              <a:t/>
            </a:r>
          </a:p>
          <a:p xmlns:a="http://schemas.openxmlformats.org/drawingml/2006/main">
            <a:r>
              <a:t>Referencias:</a:t>
            </a:r>
          </a:p>
          <a:p xmlns:a="http://schemas.openxmlformats.org/drawingml/2006/main">
            <a:r>
              <a:t>[8] Calderón-Tapia, C., et al. (2024). Exploration of bacterial strains with bioremediation potential for mercury and cyanide from mine tailings in San Carlos de las Minas, Ecuador. AIMS Environmental Science, 11, 381–400. https://doi.org/10.3934/environsci.2024019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 aplicaciones y evidencia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3 min. Intervalo sugerido: 37–40 min.</a:t>
            </a:r>
          </a:p>
          <a:p xmlns:a="http://schemas.openxmlformats.org/drawingml/2006/main">
            <a:r>
              <a:t>Utiliza esta tabla para integrar, no para presentar contenido nuevo. En bacterias hay ejemplos de nueva especie, cepas cultivadas, ensayos en plantas y análisis genómico. En arqueas, los trabajos seleccionados estudian comunidades y metanogénesis; no describen aquí nuevas especies ni validan una terapia. Distingue niveles de evidencia por caso. Pide a cada carrera identificar una pregunta que podría aportar a un mismo proyecto.</a:t>
            </a:r>
          </a:p>
          <a:p xmlns:a="http://schemas.openxmlformats.org/drawingml/2006/main">
            <a:r>
              <a:t/>
            </a:r>
          </a:p>
          <a:p xmlns:a="http://schemas.openxmlformats.org/drawingml/2006/main">
            <a:r>
              <a:t>Referencias:</a:t>
            </a:r>
          </a:p>
          <a:p xmlns:a="http://schemas.openxmlformats.org/drawingml/2006/main">
            <a:r>
              <a:t>[3] Delamuta, J. R. M., et al. (2020). Genetic diversity of Agrobacterium species isolated from nodules of common bean and soybean in Brazil, Mexico, Ecuador and Mozambique, and description of the new species Agrobacterium fabacearum sp. nov. International Journal of Systematic and Evolutionary Microbiology, 70, 4233–4244. https://doi.org/10.1099/ijsem.0.004278</a:t>
            </a:r>
          </a:p>
          <a:p xmlns:a="http://schemas.openxmlformats.org/drawingml/2006/main">
            <a:r>
              <a:t>[4] León-Cadena, A., et al. (2026). Updating the description of Rhizobium diversity associated with common bean cultivars in the Ecuadorian Andes: A phylogenetic and functional perspective. PLOS One, 21(1), e0339774. https://doi.org/10.1371/journal.pone.0339774</a:t>
            </a:r>
          </a:p>
          <a:p xmlns:a="http://schemas.openxmlformats.org/drawingml/2006/main">
            <a:r>
              <a:t>[5] Reyes, G., Betancourt, I., Borbor, M., &amp; Bayot, B. (2024). Draft genome sequence of Bacillus velezensis strain 3TSA-3, a potential probiotic for Pacific white shrimp Penaeus vannamei postlarvae isolated from commercial hatchery tanks. Microbiology Resource Announcements, 13(4), e01208-23. https://doi.org/10.1128/mra.01208-23</a:t>
            </a:r>
          </a:p>
          <a:p xmlns:a="http://schemas.openxmlformats.org/drawingml/2006/main">
            <a:r>
              <a:t>[6] Salinas, L., Cárdenas, P., Graham, J. P., &amp; Trueba, G. (2024). IS26 drives the dissemination of blaCTX-M genes in an Ecuadorian community. Microbiology Spectrum, 12(1), e02504-23. Publicación electrónica: diciembre de 2023. https://doi.org/10.1128/spectrum.02504-23</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[8] Calderón-Tapia, C., et al. (2024). Exploration of bacterial strains with bioremediation potential for mercury and cyanide from mine tailings in San Carlos de las Minas, Ecuador. AIMS Environmental Science, 11, 381–400. https://doi.org/10.3934/environsci.2024019</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Actividad: elegir una conclusión defendible</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8 min. Intervalo sugerido: 40–48 min.</a:t>
            </a:r>
          </a:p>
          <a:p xmlns:a="http://schemas.openxmlformats.org/drawingml/2006/main">
            <a:r>
              <a:t>Ocho minutos: 2 para leer y elegir; 4 para discutir; 2 para compartir. Cada equipo identifica grupo, función, evidencia y un siguiente paso. No necesita que las tres carreras estén representadas. A: nueva especie de un nódulo no implica biofertilizante; B: genes de bacteriocinas no prueban protección; C: algunas arqueas hacen metanogénesis y las bacterias pueden aportar sustratos. Evalúa exactitud del concepto, uso de la evidencia y justificación del siguiente paso.</a:t>
            </a:r>
          </a:p>
          <a:p xmlns:a="http://schemas.openxmlformats.org/drawingml/2006/main">
            <a:r>
              <a:t/>
            </a:r>
          </a:p>
          <a:p xmlns:a="http://schemas.openxmlformats.org/drawingml/2006/main">
            <a:r>
              <a:t>Referencias:</a:t>
            </a:r>
          </a:p>
          <a:p xmlns:a="http://schemas.openxmlformats.org/drawingml/2006/main">
            <a:r>
              <a:t>[3] Delamuta, J. R. M., et al. (2020). Genetic diversity of Agrobacterium species isolated from nodules of common bean and soybean in Brazil, Mexico, Ecuador and Mozambique, and description of the new species Agrobacterium fabacearum sp. nov. International Journal of Systematic and Evolutionary Microbiology, 70, 4233–4244. https://doi.org/10.1099/ijsem.0.004278</a:t>
            </a:r>
          </a:p>
          <a:p xmlns:a="http://schemas.openxmlformats.org/drawingml/2006/main">
            <a:r>
              <a:t>[5] Reyes, G., Betancourt, I., Borbor, M., &amp; Bayot, B. (2024). Draft genome sequence of Bacillus velezensis strain 3TSA-3, a potential probiotic for Pacific white shrimp Penaeus vannamei postlarvae isolated from commercial hatchery tanks. Microbiology Resource Announcements, 13(4), e01208-23. https://doi.org/10.1128/mra.01208-23</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explica con un ejemplo de Ecuador</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2 min. Intervalo sugerido: 48–50 min.</a:t>
            </a:r>
          </a:p>
          <a:p xmlns:a="http://schemas.openxmlformats.org/drawingml/2006/main">
            <a:r>
              <a:t>Dos minutos: un minuto para responder y uno para escuchar dos respuestas. Solicita una diferencia celular válida, una relación entre funcionamiento y aplicación en un caso ecuatoriano y una limitación de la evidencia. Ejemplos correctos: pared o membrana; nodulación y bioinoculación; metanogénesis y biodigestión; genoma candidato no equivale a eficacia. Cierra retomando las hipótesis iniciales y corrigiendo generalizaciones sobre ambos dominios.</a:t>
            </a:r>
          </a:p>
          <a:p xmlns:a="http://schemas.openxmlformats.org/drawingml/2006/main">
            <a:r>
              <a:t/>
            </a:r>
          </a:p>
          <a:p xmlns:a="http://schemas.openxmlformats.org/drawingml/2006/main">
            <a:r>
              <a:t>Referencias:</a:t>
            </a:r>
          </a:p>
          <a:p xmlns:a="http://schemas.openxmlformats.org/drawingml/2006/main">
            <a:r>
              <a:t>[1] Parker, N., et al. (2016). Microbiology. Características celulares, metabolismo y crecimiento de procariotas. OpenStax, secciones 3.3, 8 y 9. Publicado el 1 de noviembre de 2016. https://openstax.org/books/microbiology/pages/3-3-unique-characteristics-of-prokaryotic-cells</a:t>
            </a:r>
          </a:p>
          <a:p xmlns:a="http://schemas.openxmlformats.org/drawingml/2006/main">
            <a:r>
              <a:t>[3] Delamuta, J. R. M., et al. (2020). Genetic diversity of Agrobacterium species isolated from nodules of common bean and soybean in Brazil, Mexico, Ecuador and Mozambique, and description of the new species Agrobacterium fabacearum sp. nov. International Journal of Systematic and Evolutionary Microbiology, 70, 4233–4244. https://doi.org/10.1099/ijsem.0.004278</a:t>
            </a:r>
          </a:p>
          <a:p xmlns:a="http://schemas.openxmlformats.org/drawingml/2006/main">
            <a:r>
              <a:t>[4] León-Cadena, A., et al. (2026). Updating the description of Rhizobium diversity associated with common bean cultivars in the Ecuadorian Andes: A phylogenetic and functional perspective. PLOS One, 21(1), e0339774. https://doi.org/10.1371/journal.pone.0339774</a:t>
            </a:r>
          </a:p>
          <a:p xmlns:a="http://schemas.openxmlformats.org/drawingml/2006/main">
            <a:r>
              <a:t>[5] Reyes, G., Betancourt, I., Borbor, M., &amp; Bayot, B. (2024). Draft genome sequence of Bacillus velezensis strain 3TSA-3, a potential probiotic for Pacific white shrimp Penaeus vannamei postlarvae isolated from commercial hatchery tanks. Microbiology Resource Announcements, 13(4), e01208-23. https://doi.org/10.1128/mra.01208-23</a:t>
            </a:r>
          </a:p>
          <a:p xmlns:a="http://schemas.openxmlformats.org/drawingml/2006/main">
            <a:r>
              <a:t>[6] Salinas, L., Cárdenas, P., Graham, J. P., &amp; Trueba, G. (2024). IS26 drives the dissemination of blaCTX-M genes in an Ecuadorian community. Microbiology Spectrum, 12(1), e02504-23. Publicación electrónica: diciembre de 2023. https://doi.org/10.1128/spectrum.02504-23</a:t>
            </a:r>
          </a:p>
          <a:p xmlns:a="http://schemas.openxmlformats.org/drawingml/2006/main">
            <a:r>
              <a:t>[7] Martinson, G. O., et al. (2018). Hydrogenotrophic methanogenesis is the dominant methanogenic pathway in neotropical tank bromeliad wetlands. Environmental Microbiology Reports, 10, 33–39. Publicación electrónica: diciembre de 2017. https://doi.org/10.1111/1758-2229.12602</a:t>
            </a:r>
          </a:p>
          <a:p xmlns:a="http://schemas.openxmlformats.org/drawingml/2006/main">
            <a:r>
              <a:t>[8] Calderón-Tapia, C., et al. (2024). Exploration of bacterial strains with bioremediation potential for mercury and cyanide from mine tailings in San Carlos de las Minas, Ecuador. AIMS Environmental Science, 11, 381–400. https://doi.org/10.3934/environsci.2024019</a:t>
            </a:r>
          </a:p>
          <a:p xmlns:a="http://schemas.openxmlformats.org/drawingml/2006/main">
            <a:r>
              <a:t>[9] Barragán-Monrroy, R., et al. (2026). Análisis metagenómico de comunidades microbianas en la biodigestión anaeróbica de deyecciones bovinas: implicaciones biotecnológicas para la biorremediación de suelos contaminados. Terra Latinoamericana, 44, e2436. https://doi.org/10.28940/terralatinoamericana.v44i.2436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0 min. Intervalo sugerido: 50–50 min.</a:t>
            </a:r>
          </a:p>
          <a:p xmlns:a="http://schemas.openxmlformats.org/drawingml/2006/main">
            <a:r>
              <a:t>Diapositiva de consulta, fuera del tiempo oral previsto. Los enlaces remiten a los artículos y al registro taxonómico. Las ilustraciones son originales y no reproducen figuras de los artículos. La fuente general de OpenStax se publicó en noviembre de 2016; los estudios ecuatorianos seleccionados se publicaron entre 2018 y 2026.</a:t>
            </a:r>
          </a:p>
          <a:p xmlns:a="http://schemas.openxmlformats.org/drawingml/2006/main">
            <a:r>
              <a:t/>
            </a:r>
          </a:p>
          <a:p xmlns:a="http://schemas.openxmlformats.org/drawingml/2006/main">
            <a:r>
              <a:t>Referencias: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0 min. Intervalo sugerido: 50–50 min.</a:t>
            </a:r>
          </a:p>
          <a:p xmlns:a="http://schemas.openxmlformats.org/drawingml/2006/main">
            <a:r>
              <a:t>Diapositiva de consulta, fuera del tiempo oral previsto. Los enlaces remiten a los artículos y al registro taxonómico. Las ilustraciones son originales y no reproducen figuras de los artículos. La fuente general de OpenStax se publicó en noviembre de 2016; los estudios ecuatorianos seleccionados se publicaron entre 2018 y 2026.</a:t>
            </a:r>
          </a:p>
          <a:p xmlns:a="http://schemas.openxmlformats.org/drawingml/2006/main">
            <a:r>
              <a:t/>
            </a:r>
          </a:p>
          <a:p xmlns:a="http://schemas.openxmlformats.org/drawingml/2006/main">
            <a:r>
              <a:t>Referencias: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Ilustraciones conceptuales originales generadas con IA, sin escala común. No son micrografías ni datos o fotografías de los experimentos.</a:t>
            </a:r>
          </a:p>
          <a:p xmlns:a="http://schemas.openxmlformats.org/drawingml/2006/main">
            <a:r>
              <a:t>Tiempo: 0 min. Intervalo sugerido: 50–50 min.</a:t>
            </a:r>
          </a:p>
          <a:p xmlns:a="http://schemas.openxmlformats.org/drawingml/2006/main">
            <a:r>
              <a:t>Diapositiva de consulta, fuera del tiempo oral previsto. Los enlaces remiten a los artículos y al registro taxonómico. Las ilustraciones son originales y no reproducen figuras de los artículos. La fuente general de OpenStax se publicó en noviembre de 2016; los estudios ecuatorianos seleccionados se publicaron entre 2018 y 2026.</a:t>
            </a:r>
          </a:p>
          <a:p xmlns:a="http://schemas.openxmlformats.org/drawingml/2006/main">
            <a:r>
              <a:t/>
            </a:r>
          </a:p>
          <a:p xmlns:a="http://schemas.openxmlformats.org/drawingml/2006/main">
            <a:r>
              <a:t>Referencias: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f91a9bda744c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44f30844a149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564c9d25f94a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da7f3fea274d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ffdb0ad2be44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35be4e2c864c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0110D4-F73E-441A-8827-037D2F375B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21036F-7826-4276-BCD3-88C67BF17E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77B60E-4ED5-40B9-8315-A8DDAF3A55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DA453E-9C89-4FD4-9699-09AC33DB26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4CC018-335F-43BA-B331-E69E390C0C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53DC51-8DEF-40C5-B92E-D839959B86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D49F9E-11E2-456E-9680-E00ABB2F33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502881-0C8D-4C49-8D50-D9F9F3D041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EC014-B96C-4ECB-8234-706EC2D0A4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5BF2A3-4562-4C71-907E-18095EDA9F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323847298f41b5" /><Relationship Type="http://schemas.openxmlformats.org/officeDocument/2006/relationships/slideLayout" Target="/ppt/slideLayouts/slideLayout1.xml" Id="R394a7dd9dae14f2e" /><Relationship Type="http://schemas.openxmlformats.org/officeDocument/2006/relationships/slideLayout" Target="/ppt/slideLayouts/slideLayout2.xml" Id="Rd9832ed3e05d4d89" /><Relationship Type="http://schemas.openxmlformats.org/officeDocument/2006/relationships/slideLayout" Target="/ppt/slideLayouts/slideLayout3.xml" Id="Re6e1544e83064142" /><Relationship Type="http://schemas.openxmlformats.org/officeDocument/2006/relationships/slideLayout" Target="/ppt/slideLayouts/slideLayout4.xml" Id="Re34ea3caf21841de" /><Relationship Type="http://schemas.openxmlformats.org/officeDocument/2006/relationships/slideLayout" Target="/ppt/slideLayouts/slideLayout5.xml" Id="R73172e0f22ee4dfd" /><Relationship Type="http://schemas.openxmlformats.org/officeDocument/2006/relationships/slideLayout" Target="/ppt/slideLayouts/slideLayout6.xml" Id="Rbfbf82ccd77a4b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4a7dd9dae14f2e"/>
    <p:sldLayoutId xmlns:r="http://schemas.openxmlformats.org/officeDocument/2006/relationships" id="2147483650" r:id="Rd9832ed3e05d4d89"/>
    <p:sldLayoutId xmlns:r="http://schemas.openxmlformats.org/officeDocument/2006/relationships" id="2147483651" r:id="Re6e1544e83064142"/>
    <p:sldLayoutId xmlns:r="http://schemas.openxmlformats.org/officeDocument/2006/relationships" id="2147483652" r:id="Re34ea3caf21841de"/>
    <p:sldLayoutId xmlns:r="http://schemas.openxmlformats.org/officeDocument/2006/relationships" id="2147483653" r:id="R73172e0f22ee4dfd"/>
    <p:sldLayoutId xmlns:r="http://schemas.openxmlformats.org/officeDocument/2006/relationships" id="2147483654" r:id="Rbfbf82ccd77a4b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5b75e30031437c" /><Relationship Type="http://schemas.openxmlformats.org/officeDocument/2006/relationships/image" Target="/ppt/media/image.jpeg" Id="R7e8d5c4f818f4420" /><Relationship Type="http://schemas.openxmlformats.org/officeDocument/2006/relationships/notesSlide" Target="/ppt/notesSlides/notesSlide1.xml" Id="R9f4eee2e817f4f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bb22a46e20423a" /><Relationship Type="http://schemas.openxmlformats.org/officeDocument/2006/relationships/notesSlide" Target="/ppt/notesSlides/notesSlide2.xml" Id="R79b3784ebb4a41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9bacf438564ef8" /><Relationship Type="http://schemas.openxmlformats.org/officeDocument/2006/relationships/image" Target="/ppt/media/image2.jpeg" Id="Ra1b5c6dee69c484d" /><Relationship Type="http://schemas.openxmlformats.org/officeDocument/2006/relationships/notesSlide" Target="/ppt/notesSlides/notesSlide3.xml" Id="Rab90aa430f8b43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5d01cddb014c02" /><Relationship Type="http://schemas.openxmlformats.org/officeDocument/2006/relationships/notesSlide" Target="/ppt/notesSlides/notesSlide4.xml" Id="R62809b26cd9346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72949b538642d3" /><Relationship Type="http://schemas.openxmlformats.org/officeDocument/2006/relationships/image" Target="/ppt/media/image3.jpeg" Id="R0980098093ef4ffd" /><Relationship Type="http://schemas.openxmlformats.org/officeDocument/2006/relationships/notesSlide" Target="/ppt/notesSlides/notesSlide5.xml" Id="Rb139a547a2bc4c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303f351ca64eee" /><Relationship Type="http://schemas.openxmlformats.org/officeDocument/2006/relationships/image" Target="/ppt/media/image4.jpeg" Id="R9e353c0587454a7b" /><Relationship Type="http://schemas.openxmlformats.org/officeDocument/2006/relationships/notesSlide" Target="/ppt/notesSlides/notesSlide6.xml" Id="Re022e7a9a96b4f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2b654313fd4845" /><Relationship Type="http://schemas.openxmlformats.org/officeDocument/2006/relationships/notesSlide" Target="/ppt/notesSlides/notesSlide7.xml" Id="R4a362a81f2ce45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714f696d5e4322" /><Relationship Type="http://schemas.openxmlformats.org/officeDocument/2006/relationships/image" Target="/ppt/media/image5.jpeg" Id="R1f9ba2b97eb34c20" /><Relationship Type="http://schemas.openxmlformats.org/officeDocument/2006/relationships/notesSlide" Target="/ppt/notesSlides/notesSlide8.xml" Id="R79142a7e27be41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d29373b82a4dac" /><Relationship Type="http://schemas.openxmlformats.org/officeDocument/2006/relationships/image" Target="/ppt/media/image6.jpeg" Id="Rb2b39b4173044093" /><Relationship Type="http://schemas.openxmlformats.org/officeDocument/2006/relationships/notesSlide" Target="/ppt/notesSlides/notesSlide9.xml" Id="Raff04e12bb484d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e9634b39c3431f" /><Relationship Type="http://schemas.openxmlformats.org/officeDocument/2006/relationships/image" Target="/ppt/media/image7.jpeg" Id="R95c05257e1dc4417" /><Relationship Type="http://schemas.openxmlformats.org/officeDocument/2006/relationships/notesSlide" Target="/ppt/notesSlides/notesSlide10.xml" Id="R06107bfc58364a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3f568a738f4a3c" /><Relationship Type="http://schemas.openxmlformats.org/officeDocument/2006/relationships/image" Target="/ppt/media/image8.jpeg" Id="Rb78a3b0bce64400c" /><Relationship Type="http://schemas.openxmlformats.org/officeDocument/2006/relationships/notesSlide" Target="/ppt/notesSlides/notesSlide11.xml" Id="Rc49058ae6e2041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fddfe52c274f95" /><Relationship Type="http://schemas.openxmlformats.org/officeDocument/2006/relationships/image" Target="/ppt/media/image9.jpeg" Id="R5e60bc9c0f6f4eb5" /><Relationship Type="http://schemas.openxmlformats.org/officeDocument/2006/relationships/notesSlide" Target="/ppt/notesSlides/notesSlide12.xml" Id="R39aa779caf514f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63dfbb54554f95" /><Relationship Type="http://schemas.openxmlformats.org/officeDocument/2006/relationships/image" Target="/ppt/media/image10.jpeg" Id="Rff590bae26f1427e" /><Relationship Type="http://schemas.openxmlformats.org/officeDocument/2006/relationships/notesSlide" Target="/ppt/notesSlides/notesSlide13.xml" Id="R3f882dfd0ae548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51ccfcf36ff4eee" /><Relationship Type="http://schemas.openxmlformats.org/officeDocument/2006/relationships/image" Target="/ppt/media/image11.jpeg" Id="Rc303b562d2364c71" /><Relationship Type="http://schemas.openxmlformats.org/officeDocument/2006/relationships/notesSlide" Target="/ppt/notesSlides/notesSlide14.xml" Id="R469ad256acfd4b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88e38931c24596" /><Relationship Type="http://schemas.openxmlformats.org/officeDocument/2006/relationships/notesSlide" Target="/ppt/notesSlides/notesSlide15.xml" Id="Rfea0c34807b545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f117a65a7d44145" /><Relationship Type="http://schemas.openxmlformats.org/officeDocument/2006/relationships/notesSlide" Target="/ppt/notesSlides/notesSlide16.xml" Id="R41c58a652f1a4d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528ab733f74483c" /><Relationship Type="http://schemas.openxmlformats.org/officeDocument/2006/relationships/notesSlide" Target="/ppt/notesSlides/notesSlide17.xml" Id="Rbafd747ba9044e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933fcf3ff8a47a4" /><Relationship Type="http://schemas.openxmlformats.org/officeDocument/2006/relationships/hyperlink" Target="https://openstax.org/books/microbiology/pages/3-3-unique-characteristics-of-prokaryotic-cells" TargetMode="External" Id="R8f6ab8bb7e4a4d36" /><Relationship Type="http://schemas.openxmlformats.org/officeDocument/2006/relationships/hyperlink" Target="https://doi.org/10.1073/pnas.1814048115" TargetMode="External" Id="Rb1b0f249d018430b" /><Relationship Type="http://schemas.openxmlformats.org/officeDocument/2006/relationships/hyperlink" Target="https://doi.org/10.1099/ijsem.0.004278" TargetMode="External" Id="Rbc4db6d87c3c4f9a" /><Relationship Type="http://schemas.openxmlformats.org/officeDocument/2006/relationships/notesSlide" Target="/ppt/notesSlides/notesSlide18.xml" Id="R67c4fb2fe7ea44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041eb0930c74880" /><Relationship Type="http://schemas.openxmlformats.org/officeDocument/2006/relationships/hyperlink" Target="https://doi.org/10.1371/journal.pone.0339774" TargetMode="External" Id="R6ed4ad2b4adc4346" /><Relationship Type="http://schemas.openxmlformats.org/officeDocument/2006/relationships/hyperlink" Target="https://doi.org/10.1128/mra.01208-23" TargetMode="External" Id="R424a95b13f6a4064" /><Relationship Type="http://schemas.openxmlformats.org/officeDocument/2006/relationships/hyperlink" Target="https://doi.org/10.1128/spectrum.02504-23" TargetMode="External" Id="R143883c53ecc4b34" /><Relationship Type="http://schemas.openxmlformats.org/officeDocument/2006/relationships/notesSlide" Target="/ppt/notesSlides/notesSlide19.xml" Id="Ra0dae1c2049946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32ef117d28d4383" /><Relationship Type="http://schemas.openxmlformats.org/officeDocument/2006/relationships/hyperlink" Target="https://doi.org/10.1111/1758-2229.12602" TargetMode="External" Id="R5851bdb203224f16" /><Relationship Type="http://schemas.openxmlformats.org/officeDocument/2006/relationships/hyperlink" Target="https://doi.org/10.3934/environsci.2024019" TargetMode="External" Id="R5790bde888c940d4" /><Relationship Type="http://schemas.openxmlformats.org/officeDocument/2006/relationships/hyperlink" Target="https://doi.org/10.28940/terralatinoamericana.v44i.2436" TargetMode="External" Id="R2d3558e66e2f46ea" /><Relationship Type="http://schemas.openxmlformats.org/officeDocument/2006/relationships/hyperlink" Target="https://lpsn.dsmz.de/species/agrobacterium-fabacearum" TargetMode="External" Id="Rdffaa0e2ed7e4f4a" /><Relationship Type="http://schemas.openxmlformats.org/officeDocument/2006/relationships/notesSlide" Target="/ppt/notesSlides/notesSlide20.xml" Id="Rec1f681c54fa440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ath-1">
            <a:extLst xmlns:a="http://schemas.openxmlformats.org/drawingml/2006/main">
              <a:ext uri="{FF2B5EF4-FFF2-40B4-BE49-F238E27FC236}">
                <a16:creationId xmlns:a16="http://schemas.microsoft.com/office/drawing/2014/main" id="{67D4CF66-4580-4A86-9682-5C8BF0912E6A}"/>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2" name="text-2">
            <a:extLst xmlns:a="http://schemas.openxmlformats.org/drawingml/2006/main">
              <a:ext uri="{FF2B5EF4-FFF2-40B4-BE49-F238E27FC236}">
                <a16:creationId xmlns:a16="http://schemas.microsoft.com/office/drawing/2014/main" id="{98A5E479-A532-4B84-9607-9F5F1E9669F1}"/>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Bibliografía de consulta.</a:t>
            </a:r>
          </a:p>
        </p:txBody>
      </p:sp>
      <p:sp>
        <p:nvSpPr>
          <p:cNvPr id="3" name="text-3">
            <a:extLst xmlns:a="http://schemas.openxmlformats.org/drawingml/2006/main">
              <a:ext uri="{FF2B5EF4-FFF2-40B4-BE49-F238E27FC236}">
                <a16:creationId xmlns:a16="http://schemas.microsoft.com/office/drawing/2014/main" id="{5EBD88D5-F720-440F-8A86-99E66EA13813}"/>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01 / 20</a:t>
            </a:r>
          </a:p>
        </p:txBody>
      </p:sp>
      <p:pic>
        <p:nvPicPr>
          <p:cNvPr id="4" name="">
            <a:extLst xmlns:a="http://schemas.openxmlformats.org/drawingml/2006/main">
              <a:ext uri="{FF2B5EF4-FFF2-40B4-BE49-F238E27FC236}">
                <a16:creationId xmlns:a16="http://schemas.microsoft.com/office/drawing/2014/main" id="{1ED3C9B1-5DC7-4A55-8132-3A240DCAE414}"/>
              </a:ext>
            </a:extLst>
          </p:cNvPr>
          <p:cNvPicPr>
            <a:picLocks xmlns:a="http://schemas.openxmlformats.org/drawingml/2006/main" noChangeAspect="1"/>
          </p:cNvPicPr>
          <p:nvPr/>
        </p:nvPicPr>
        <p:blipFill>
          <a:blip xmlns:r="http://schemas.openxmlformats.org/officeDocument/2006/relationships" xmlns:a="http://schemas.openxmlformats.org/drawingml/2006/main" r:embed="R7e8d5c4f818f4420"/>
          <a:srcRect xmlns:a="http://schemas.openxmlformats.org/drawingml/2006/main" l="0" t="3497" r="0" b="3497"/>
          <a:stretch xmlns:a="http://schemas.openxmlformats.org/drawingml/2006/main">
            <a:fillRect l="0" t="0" r="0" b="0"/>
          </a:stretch>
        </p:blipFill>
        <p:spPr>
          <a:xfrm xmlns:a="http://schemas.openxmlformats.org/drawingml/2006/main">
            <a:off x="0" y="0"/>
            <a:ext cx="12192000" cy="6381750"/>
          </a:xfrm>
          <a:prstGeom xmlns:a="http://schemas.openxmlformats.org/drawingml/2006/main" prst="rect">
            <a:avLst/>
          </a:prstGeom>
        </p:spPr>
      </p:pic>
      <p:sp>
        <p:nvSpPr>
          <p:cNvPr id="5" name="rect-4">
            <a:extLst xmlns:a="http://schemas.openxmlformats.org/drawingml/2006/main">
              <a:ext uri="{FF2B5EF4-FFF2-40B4-BE49-F238E27FC236}">
                <a16:creationId xmlns:a16="http://schemas.microsoft.com/office/drawing/2014/main" id="{02C8C47B-C4F6-4327-88A8-8BAC5A36098A}"/>
              </a:ext>
            </a:extLst>
          </p:cNvPr>
          <p:cNvSpPr>
            <a:spLocks xmlns:a="http://schemas.openxmlformats.org/drawingml/2006/main" noGrp="1"/>
          </p:cNvSpPr>
          <p:nvPr/>
        </p:nvSpPr>
        <p:spPr>
          <a:xfrm xmlns:a="http://schemas.openxmlformats.org/drawingml/2006/main">
            <a:off x="400050" y="457200"/>
            <a:ext cx="4619625" cy="2952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CD10C33C-F029-4F47-AB28-610FD172FC74}"/>
              </a:ext>
            </a:extLst>
          </p:cNvPr>
          <p:cNvSpPr>
            <a:spLocks xmlns:a="http://schemas.openxmlformats.org/drawingml/2006/main" noGrp="1"/>
          </p:cNvSpPr>
          <p:nvPr/>
        </p:nvSpPr>
        <p:spPr>
          <a:xfrm xmlns:a="http://schemas.openxmlformats.org/drawingml/2006/main">
            <a:off x="609600" y="647700"/>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350" b="1" i="0">
                <a:solidFill>
                  <a:srgbClr val="173746"/>
                </a:solidFill>
                <a:latin typeface="DejaVu Sans"/>
                <a:ea typeface="DejaVu Sans"/>
                <a:cs typeface="DejaVu Sans"/>
              </a:defRPr>
            </a:defPPr>
          </a:lstStyle>
          <a:p xmlns:a="http://schemas.openxmlformats.org/drawingml/2006/main">
            <a:pPr algn="l">
              <a:lnSpc>
                <a:spcPct val="113000"/>
              </a:lnSpc>
              <a:buNone/>
              <a:defRPr sz="4350" b="1" i="0">
                <a:solidFill>
                  <a:srgbClr val="173746"/>
                </a:solidFill>
                <a:latin typeface="DejaVu Sans"/>
                <a:ea typeface="DejaVu Sans"/>
                <a:cs typeface="DejaVu Sans"/>
              </a:defRPr>
            </a:pPr>
            <a:r>
              <a:rPr sz="4350" b="1" i="0">
                <a:solidFill>
                  <a:srgbClr val="173746"/>
                </a:solidFill>
                <a:latin typeface="DejaVu Sans"/>
                <a:ea typeface="DejaVu Sans"/>
                <a:cs typeface="DejaVu Sans"/>
              </a:rPr>
              <a:t>Bacterias</a:t>
            </a:r>
          </a:p>
          <a:p xmlns:a="http://schemas.openxmlformats.org/drawingml/2006/main">
            <a:pPr algn="l">
              <a:lnSpc>
                <a:spcPct val="113000"/>
              </a:lnSpc>
              <a:buNone/>
              <a:defRPr sz="4350" b="1" i="0">
                <a:solidFill>
                  <a:srgbClr val="173746"/>
                </a:solidFill>
                <a:latin typeface="DejaVu Sans"/>
                <a:ea typeface="DejaVu Sans"/>
                <a:cs typeface="DejaVu Sans"/>
              </a:defRPr>
            </a:pPr>
            <a:r>
              <a:rPr sz="4350" b="1" i="0">
                <a:solidFill>
                  <a:srgbClr val="173746"/>
                </a:solidFill>
                <a:latin typeface="DejaVu Sans"/>
                <a:ea typeface="DejaVu Sans"/>
                <a:cs typeface="DejaVu Sans"/>
              </a:rPr>
              <a:t>y arqueas</a:t>
            </a:r>
          </a:p>
        </p:txBody>
      </p:sp>
      <p:sp>
        <p:nvSpPr>
          <p:cNvPr id="7" name="text-6">
            <a:extLst xmlns:a="http://schemas.openxmlformats.org/drawingml/2006/main">
              <a:ext uri="{FF2B5EF4-FFF2-40B4-BE49-F238E27FC236}">
                <a16:creationId xmlns:a16="http://schemas.microsoft.com/office/drawing/2014/main" id="{2D1A687D-CBD0-4F11-B9D2-A3F09E3E9E6F}"/>
              </a:ext>
            </a:extLst>
          </p:cNvPr>
          <p:cNvSpPr>
            <a:spLocks xmlns:a="http://schemas.openxmlformats.org/drawingml/2006/main" noGrp="1"/>
          </p:cNvSpPr>
          <p:nvPr/>
        </p:nvSpPr>
        <p:spPr>
          <a:xfrm xmlns:a="http://schemas.openxmlformats.org/drawingml/2006/main">
            <a:off x="609600" y="2228850"/>
            <a:ext cx="4257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168D91"/>
                </a:solidFill>
                <a:latin typeface="DejaVu Sans"/>
                <a:ea typeface="DejaVu Sans"/>
                <a:cs typeface="DejaVu Sans"/>
              </a:defRPr>
            </a:defPPr>
          </a:lstStyle>
          <a:p xmlns:a="http://schemas.openxmlformats.org/drawingml/2006/main">
            <a:pPr algn="l">
              <a:lnSpc>
                <a:spcPct val="113000"/>
              </a:lnSpc>
              <a:buNone/>
              <a:defRPr sz="2250" b="1" i="0">
                <a:solidFill>
                  <a:srgbClr val="168D91"/>
                </a:solidFill>
                <a:latin typeface="DejaVu Sans"/>
                <a:ea typeface="DejaVu Sans"/>
                <a:cs typeface="DejaVu Sans"/>
              </a:defRPr>
            </a:pPr>
            <a:r>
              <a:rPr sz="2250" b="1" i="0">
                <a:solidFill>
                  <a:srgbClr val="168D91"/>
                </a:solidFill>
                <a:latin typeface="DejaVu Sans"/>
                <a:ea typeface="DejaVu Sans"/>
                <a:cs typeface="DejaVu Sans"/>
              </a:rPr>
              <a:t>Aplicaciones en Ecuador</a:t>
            </a:r>
          </a:p>
        </p:txBody>
      </p:sp>
      <p:sp>
        <p:nvSpPr>
          <p:cNvPr id="8" name="text-7">
            <a:extLst xmlns:a="http://schemas.openxmlformats.org/drawingml/2006/main">
              <a:ext uri="{FF2B5EF4-FFF2-40B4-BE49-F238E27FC236}">
                <a16:creationId xmlns:a16="http://schemas.microsoft.com/office/drawing/2014/main" id="{0CFEC065-7A69-46AE-AA6E-A6D0C57E28D6}"/>
              </a:ext>
            </a:extLst>
          </p:cNvPr>
          <p:cNvSpPr>
            <a:spLocks xmlns:a="http://schemas.openxmlformats.org/drawingml/2006/main" noGrp="1"/>
          </p:cNvSpPr>
          <p:nvPr/>
        </p:nvSpPr>
        <p:spPr>
          <a:xfrm xmlns:a="http://schemas.openxmlformats.org/drawingml/2006/main">
            <a:off x="609600" y="2733675"/>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07781"/>
                </a:solidFill>
                <a:latin typeface="DejaVu Sans"/>
                <a:ea typeface="DejaVu Sans"/>
                <a:cs typeface="DejaVu Sans"/>
              </a:defRPr>
            </a:defPPr>
          </a:lstStyle>
          <a:p xmlns:a="http://schemas.openxmlformats.org/drawingml/2006/main">
            <a:pPr algn="l">
              <a:lnSpc>
                <a:spcPct val="113000"/>
              </a:lnSpc>
              <a:buNone/>
              <a:defRPr sz="1800" b="0" i="0">
                <a:solidFill>
                  <a:srgbClr val="607781"/>
                </a:solidFill>
                <a:latin typeface="DejaVu Sans"/>
                <a:ea typeface="DejaVu Sans"/>
                <a:cs typeface="DejaVu Sans"/>
              </a:defRPr>
            </a:pPr>
            <a:r>
              <a:rPr sz="1800" b="0" i="0">
                <a:solidFill>
                  <a:srgbClr val="607781"/>
                </a:solidFill>
                <a:latin typeface="DejaVu Sans"/>
                <a:ea typeface="DejaVu Sans"/>
                <a:cs typeface="DejaVu Sans"/>
              </a:rPr>
              <a:t>Primer semestre</a:t>
            </a:r>
          </a:p>
          <a:p xmlns:a="http://schemas.openxmlformats.org/drawingml/2006/main">
            <a:pPr algn="l">
              <a:lnSpc>
                <a:spcPct val="113000"/>
              </a:lnSpc>
              <a:buNone/>
              <a:defRPr sz="1800" b="0" i="0">
                <a:solidFill>
                  <a:srgbClr val="607781"/>
                </a:solidFill>
                <a:latin typeface="DejaVu Sans"/>
                <a:ea typeface="DejaVu Sans"/>
                <a:cs typeface="DejaVu Sans"/>
              </a:defRPr>
            </a:pPr>
            <a:r>
              <a:rPr sz="1800" b="0" i="0">
                <a:solidFill>
                  <a:srgbClr val="607781"/>
                </a:solidFill>
                <a:latin typeface="DejaVu Sans"/>
                <a:ea typeface="DejaVu Sans"/>
                <a:cs typeface="DejaVu Sans"/>
              </a:rPr>
              <a:t>Clase de 50 minutos</a:t>
            </a:r>
          </a:p>
        </p:txBody>
      </p:sp>
    </p:spTree>
    <p:extLst>
      <p:ext uri="{BB962C8B-B14F-4D97-AF65-F5344CB8AC3E}">
        <p14:creationId xmlns:p14="http://schemas.microsoft.com/office/powerpoint/2010/main" val="20659632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
            <a:extLst xmlns:a="http://schemas.openxmlformats.org/drawingml/2006/main">
              <a:ext uri="{FF2B5EF4-FFF2-40B4-BE49-F238E27FC236}">
                <a16:creationId xmlns:a16="http://schemas.microsoft.com/office/drawing/2014/main" id="{3F716D4B-62AA-4D03-9262-E810024C7F98}"/>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Preguntas desde tu carrera</a:t>
            </a:r>
          </a:p>
        </p:txBody>
      </p:sp>
      <p:sp>
        <p:nvSpPr>
          <p:cNvPr id="2" name="text-2">
            <a:extLst xmlns:a="http://schemas.openxmlformats.org/drawingml/2006/main">
              <a:ext uri="{FF2B5EF4-FFF2-40B4-BE49-F238E27FC236}">
                <a16:creationId xmlns:a16="http://schemas.microsoft.com/office/drawing/2014/main" id="{5DBB5B84-452E-4645-B3C8-396FA281BF29}"/>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Una misma célula abre preguntas diferentes.</a:t>
            </a:r>
          </a:p>
        </p:txBody>
      </p:sp>
      <p:sp>
        <p:nvSpPr>
          <p:cNvPr id="3" name="path-3">
            <a:extLst xmlns:a="http://schemas.openxmlformats.org/drawingml/2006/main">
              <a:ext uri="{FF2B5EF4-FFF2-40B4-BE49-F238E27FC236}">
                <a16:creationId xmlns:a16="http://schemas.microsoft.com/office/drawing/2014/main" id="{447D2A8E-D52A-4BB8-8D16-522199AB78A3}"/>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C7A95B04-E7E6-4D6D-AEC2-A5210EA19052}"/>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[3] [4] [5] [6] [7] [8] [9]. Esquemas originales.</a:t>
            </a:r>
          </a:p>
        </p:txBody>
      </p:sp>
      <p:sp>
        <p:nvSpPr>
          <p:cNvPr id="5" name="text-5">
            <a:extLst xmlns:a="http://schemas.openxmlformats.org/drawingml/2006/main">
              <a:ext uri="{FF2B5EF4-FFF2-40B4-BE49-F238E27FC236}">
                <a16:creationId xmlns:a16="http://schemas.microsoft.com/office/drawing/2014/main" id="{BE1711D0-A1A6-458A-9EB4-3E03D954CA9F}"/>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02 / 20</a:t>
            </a:r>
          </a:p>
        </p:txBody>
      </p:sp>
      <p:sp>
        <p:nvSpPr>
          <p:cNvPr id="6" name="path-6">
            <a:extLst xmlns:a="http://schemas.openxmlformats.org/drawingml/2006/main">
              <a:ext uri="{FF2B5EF4-FFF2-40B4-BE49-F238E27FC236}">
                <a16:creationId xmlns:a16="http://schemas.microsoft.com/office/drawing/2014/main" id="{962DC9CA-8DCA-4962-A7BD-921113EB28C2}"/>
              </a:ext>
            </a:extLst>
          </p:cNvPr>
          <p:cNvSpPr>
            <a:spLocks xmlns:a="http://schemas.openxmlformats.org/drawingml/2006/main" noGrp="1"/>
          </p:cNvSpPr>
          <p:nvPr/>
        </p:nvSpPr>
        <p:spPr>
          <a:xfrm xmlns:a="http://schemas.openxmlformats.org/drawingml/2006/main">
            <a:off x="1000818" y="1809750"/>
            <a:ext cx="3618114" cy="4000500"/>
          </a:xfrm>
          <a:custGeom xmlns:a="http://schemas.openxmlformats.org/drawingml/2006/main">
            <a:pathLst>
              <a:path w="3618114" h="4000500">
                <a:moveTo>
                  <a:pt x="419736" y="3019772"/>
                </a:moveTo>
                <a:lnTo>
                  <a:pt x="755591" y="2548206"/>
                </a:lnTo>
                <a:lnTo>
                  <a:pt x="619130" y="2272642"/>
                </a:lnTo>
                <a:lnTo>
                  <a:pt x="377950" y="2565651"/>
                </a:lnTo>
                <a:lnTo>
                  <a:pt x="0" y="2289142"/>
                </a:lnTo>
                <a:lnTo>
                  <a:pt x="128065" y="2111270"/>
                </a:lnTo>
                <a:lnTo>
                  <a:pt x="21520" y="1538589"/>
                </a:lnTo>
                <a:lnTo>
                  <a:pt x="242549" y="1443441"/>
                </a:lnTo>
                <a:lnTo>
                  <a:pt x="358679" y="1050360"/>
                </a:lnTo>
                <a:lnTo>
                  <a:pt x="597462" y="643977"/>
                </a:lnTo>
                <a:lnTo>
                  <a:pt x="553475" y="386477"/>
                </a:lnTo>
                <a:lnTo>
                  <a:pt x="899160" y="251125"/>
                </a:lnTo>
                <a:lnTo>
                  <a:pt x="1332967" y="0"/>
                </a:lnTo>
                <a:lnTo>
                  <a:pt x="1964080" y="360294"/>
                </a:lnTo>
                <a:lnTo>
                  <a:pt x="2081727" y="350218"/>
                </a:lnTo>
                <a:lnTo>
                  <a:pt x="2235454" y="621673"/>
                </a:lnTo>
                <a:lnTo>
                  <a:pt x="2770913" y="709223"/>
                </a:lnTo>
                <a:lnTo>
                  <a:pt x="2950155" y="608826"/>
                </a:lnTo>
                <a:lnTo>
                  <a:pt x="3259875" y="817839"/>
                </a:lnTo>
                <a:lnTo>
                  <a:pt x="3530091" y="967277"/>
                </a:lnTo>
                <a:lnTo>
                  <a:pt x="3618114" y="1446441"/>
                </a:lnTo>
                <a:lnTo>
                  <a:pt x="3421704" y="1856705"/>
                </a:lnTo>
                <a:lnTo>
                  <a:pt x="2733676" y="2517393"/>
                </a:lnTo>
                <a:lnTo>
                  <a:pt x="1974905" y="2766219"/>
                </a:lnTo>
                <a:lnTo>
                  <a:pt x="1588249" y="3315226"/>
                </a:lnTo>
                <a:lnTo>
                  <a:pt x="1468858" y="3740946"/>
                </a:lnTo>
                <a:lnTo>
                  <a:pt x="1112102" y="4000500"/>
                </a:lnTo>
                <a:lnTo>
                  <a:pt x="847282" y="3681894"/>
                </a:lnTo>
                <a:lnTo>
                  <a:pt x="592408" y="3613680"/>
                </a:lnTo>
                <a:lnTo>
                  <a:pt x="331599" y="3663928"/>
                </a:lnTo>
                <a:lnTo>
                  <a:pt x="314529" y="3432710"/>
                </a:lnTo>
                <a:lnTo>
                  <a:pt x="494537" y="3282456"/>
                </a:lnTo>
                <a:lnTo>
                  <a:pt x="419736" y="3019772"/>
                </a:lnTo>
                <a:close/>
              </a:path>
            </a:pathLst>
          </a:custGeom>
          <a:solidFill xmlns:a="http://schemas.openxmlformats.org/drawingml/2006/main">
            <a:srgbClr val="E5EEF0"/>
          </a:solidFill>
          <a:ln xmlns:a="http://schemas.openxmlformats.org/drawingml/2006/main" w="17145">
            <a:solidFill>
              <a:srgbClr val="91ACB5"/>
            </a:solidFill>
            <a:prstDash val="solid"/>
          </a:ln>
        </p:spPr>
      </p:sp>
      <p:sp>
        <p:nvSpPr>
          <p:cNvPr id="7" name="ellipse-7">
            <a:extLst xmlns:a="http://schemas.openxmlformats.org/drawingml/2006/main">
              <a:ext uri="{FF2B5EF4-FFF2-40B4-BE49-F238E27FC236}">
                <a16:creationId xmlns:a16="http://schemas.microsoft.com/office/drawing/2014/main" id="{21B3C0D1-7618-4E86-BAE4-F9C9C46ADEAD}"/>
              </a:ext>
            </a:extLst>
          </p:cNvPr>
          <p:cNvSpPr>
            <a:spLocks xmlns:a="http://schemas.openxmlformats.org/drawingml/2006/main" noGrp="1"/>
          </p:cNvSpPr>
          <p:nvPr/>
        </p:nvSpPr>
        <p:spPr>
          <a:xfrm xmlns:a="http://schemas.openxmlformats.org/drawingml/2006/main">
            <a:off x="2226379" y="3889139"/>
            <a:ext cx="95250" cy="95250"/>
          </a:xfrm>
          <a:prstGeom xmlns:a="http://schemas.openxmlformats.org/drawingml/2006/main" prst="ellipse">
            <a:avLst/>
          </a:prstGeom>
          <a:solidFill xmlns:a="http://schemas.openxmlformats.org/drawingml/2006/main">
            <a:srgbClr val="5B983F"/>
          </a:solidFill>
          <a:ln xmlns:a="http://schemas.openxmlformats.org/drawingml/2006/main" w="12383">
            <a:solidFill>
              <a:srgbClr val="FFFFFF"/>
            </a:solidFill>
            <a:prstDash val="solid"/>
          </a:ln>
        </p:spPr>
      </p:sp>
      <p:sp>
        <p:nvSpPr>
          <p:cNvPr id="8" name="ellipse-8">
            <a:extLst xmlns:a="http://schemas.openxmlformats.org/drawingml/2006/main">
              <a:ext uri="{FF2B5EF4-FFF2-40B4-BE49-F238E27FC236}">
                <a16:creationId xmlns:a16="http://schemas.microsoft.com/office/drawing/2014/main" id="{61654DEA-4AC3-4169-AD97-6EB6F300D7EA}"/>
              </a:ext>
            </a:extLst>
          </p:cNvPr>
          <p:cNvSpPr>
            <a:spLocks xmlns:a="http://schemas.openxmlformats.org/drawingml/2006/main" noGrp="1"/>
          </p:cNvSpPr>
          <p:nvPr/>
        </p:nvSpPr>
        <p:spPr>
          <a:xfrm xmlns:a="http://schemas.openxmlformats.org/drawingml/2006/main">
            <a:off x="1021191" y="4040576"/>
            <a:ext cx="95250" cy="95250"/>
          </a:xfrm>
          <a:prstGeom xmlns:a="http://schemas.openxmlformats.org/drawingml/2006/main" prst="ellipse">
            <a:avLst/>
          </a:prstGeom>
          <a:solidFill xmlns:a="http://schemas.openxmlformats.org/drawingml/2006/main">
            <a:srgbClr val="168D91"/>
          </a:solidFill>
          <a:ln xmlns:a="http://schemas.openxmlformats.org/drawingml/2006/main" w="12383">
            <a:solidFill>
              <a:srgbClr val="FFFFFF"/>
            </a:solidFill>
            <a:prstDash val="solid"/>
          </a:ln>
        </p:spPr>
      </p:sp>
      <p:sp>
        <p:nvSpPr>
          <p:cNvPr id="9" name="ellipse-9">
            <a:extLst xmlns:a="http://schemas.openxmlformats.org/drawingml/2006/main">
              <a:ext uri="{FF2B5EF4-FFF2-40B4-BE49-F238E27FC236}">
                <a16:creationId xmlns:a16="http://schemas.microsoft.com/office/drawing/2014/main" id="{3F6EB7AA-349C-46DE-A59E-695DDC6DB871}"/>
              </a:ext>
            </a:extLst>
          </p:cNvPr>
          <p:cNvSpPr>
            <a:spLocks xmlns:a="http://schemas.openxmlformats.org/drawingml/2006/main" noGrp="1"/>
          </p:cNvSpPr>
          <p:nvPr/>
        </p:nvSpPr>
        <p:spPr>
          <a:xfrm xmlns:a="http://schemas.openxmlformats.org/drawingml/2006/main">
            <a:off x="2150661" y="5144806"/>
            <a:ext cx="95250" cy="95250"/>
          </a:xfrm>
          <a:prstGeom xmlns:a="http://schemas.openxmlformats.org/drawingml/2006/main" prst="ellipse">
            <a:avLst/>
          </a:prstGeom>
          <a:solidFill xmlns:a="http://schemas.openxmlformats.org/drawingml/2006/main">
            <a:srgbClr val="C58B22"/>
          </a:solidFill>
          <a:ln xmlns:a="http://schemas.openxmlformats.org/drawingml/2006/main" w="12383">
            <a:solidFill>
              <a:srgbClr val="FFFFFF"/>
            </a:solidFill>
            <a:prstDash val="solid"/>
          </a:ln>
        </p:spPr>
      </p:sp>
      <p:sp>
        <p:nvSpPr>
          <p:cNvPr id="10" name="ellipse-10">
            <a:extLst xmlns:a="http://schemas.openxmlformats.org/drawingml/2006/main">
              <a:ext uri="{FF2B5EF4-FFF2-40B4-BE49-F238E27FC236}">
                <a16:creationId xmlns:a16="http://schemas.microsoft.com/office/drawing/2014/main" id="{E0738AC9-B0D9-4B60-A5D4-6AE254DE28E2}"/>
              </a:ext>
            </a:extLst>
          </p:cNvPr>
          <p:cNvSpPr>
            <a:spLocks xmlns:a="http://schemas.openxmlformats.org/drawingml/2006/main" noGrp="1"/>
          </p:cNvSpPr>
          <p:nvPr/>
        </p:nvSpPr>
        <p:spPr>
          <a:xfrm xmlns:a="http://schemas.openxmlformats.org/drawingml/2006/main">
            <a:off x="2257929" y="5188975"/>
            <a:ext cx="95250" cy="95250"/>
          </a:xfrm>
          <a:prstGeom xmlns:a="http://schemas.openxmlformats.org/drawingml/2006/main" prst="ellipse">
            <a:avLst/>
          </a:prstGeom>
          <a:solidFill xmlns:a="http://schemas.openxmlformats.org/drawingml/2006/main">
            <a:srgbClr val="8A64B4"/>
          </a:solidFill>
          <a:ln xmlns:a="http://schemas.openxmlformats.org/drawingml/2006/main" w="12383">
            <a:solidFill>
              <a:srgbClr val="FFFFFF"/>
            </a:solidFill>
            <a:prstDash val="solid"/>
          </a:ln>
        </p:spPr>
      </p:sp>
      <p:sp>
        <p:nvSpPr>
          <p:cNvPr id="11" name="ellipse-11">
            <a:extLst xmlns:a="http://schemas.openxmlformats.org/drawingml/2006/main">
              <a:ext uri="{FF2B5EF4-FFF2-40B4-BE49-F238E27FC236}">
                <a16:creationId xmlns:a16="http://schemas.microsoft.com/office/drawing/2014/main" id="{613DF074-6D64-4AD2-ACEF-398BBFE3514F}"/>
              </a:ext>
            </a:extLst>
          </p:cNvPr>
          <p:cNvSpPr>
            <a:spLocks xmlns:a="http://schemas.openxmlformats.org/drawingml/2006/main" noGrp="1"/>
          </p:cNvSpPr>
          <p:nvPr/>
        </p:nvSpPr>
        <p:spPr>
          <a:xfrm xmlns:a="http://schemas.openxmlformats.org/drawingml/2006/main">
            <a:off x="1809927" y="3296010"/>
            <a:ext cx="95250" cy="95250"/>
          </a:xfrm>
          <a:prstGeom xmlns:a="http://schemas.openxmlformats.org/drawingml/2006/main" prst="ellipse">
            <a:avLst/>
          </a:prstGeom>
          <a:solidFill xmlns:a="http://schemas.openxmlformats.org/drawingml/2006/main">
            <a:srgbClr val="C58B22"/>
          </a:solidFill>
          <a:ln xmlns:a="http://schemas.openxmlformats.org/drawingml/2006/main" w="12383">
            <a:solidFill>
              <a:srgbClr val="FFFFFF"/>
            </a:solidFill>
            <a:prstDash val="solid"/>
          </a:ln>
        </p:spPr>
      </p:sp>
      <p:sp>
        <p:nvSpPr>
          <p:cNvPr id="12" name="text-12">
            <a:extLst xmlns:a="http://schemas.openxmlformats.org/drawingml/2006/main">
              <a:ext uri="{FF2B5EF4-FFF2-40B4-BE49-F238E27FC236}">
                <a16:creationId xmlns:a16="http://schemas.microsoft.com/office/drawing/2014/main" id="{58A16862-8529-43B1-AB81-46D9AA59B8C2}"/>
              </a:ext>
            </a:extLst>
          </p:cNvPr>
          <p:cNvSpPr>
            <a:spLocks xmlns:a="http://schemas.openxmlformats.org/drawingml/2006/main" noGrp="1"/>
          </p:cNvSpPr>
          <p:nvPr/>
        </p:nvSpPr>
        <p:spPr>
          <a:xfrm xmlns:a="http://schemas.openxmlformats.org/drawingml/2006/main">
            <a:off x="904875" y="59055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00" b="0" i="0">
                <a:solidFill>
                  <a:srgbClr val="607781"/>
                </a:solidFill>
                <a:latin typeface="DejaVu Sans"/>
                <a:ea typeface="DejaVu Sans"/>
                <a:cs typeface="DejaVu Sans"/>
              </a:defRPr>
            </a:defPPr>
          </a:lstStyle>
          <a:p xmlns:a="http://schemas.openxmlformats.org/drawingml/2006/main">
            <a:pPr algn="ctr">
              <a:lnSpc>
                <a:spcPct val="113000"/>
              </a:lnSpc>
              <a:buNone/>
              <a:defRPr sz="1500" b="0" i="0">
                <a:solidFill>
                  <a:srgbClr val="607781"/>
                </a:solidFill>
                <a:latin typeface="DejaVu Sans"/>
                <a:ea typeface="DejaVu Sans"/>
                <a:cs typeface="DejaVu Sans"/>
              </a:defRPr>
            </a:pPr>
            <a:r>
              <a:rPr sz="1500" b="0" i="0">
                <a:solidFill>
                  <a:srgbClr val="607781"/>
                </a:solidFill>
                <a:latin typeface="DejaVu Sans"/>
                <a:ea typeface="DejaVu Sans"/>
                <a:cs typeface="DejaVu Sans"/>
              </a:rPr>
              <a:t>Costa, Andes y sur amazónico</a:t>
            </a:r>
          </a:p>
        </p:txBody>
      </p:sp>
      <p:sp>
        <p:nvSpPr>
          <p:cNvPr id="13" name="text-13">
            <a:extLst xmlns:a="http://schemas.openxmlformats.org/drawingml/2006/main">
              <a:ext uri="{FF2B5EF4-FFF2-40B4-BE49-F238E27FC236}">
                <a16:creationId xmlns:a16="http://schemas.microsoft.com/office/drawing/2014/main" id="{215793CC-1B18-4EC6-A782-DDE0503DB78A}"/>
              </a:ext>
            </a:extLst>
          </p:cNvPr>
          <p:cNvSpPr>
            <a:spLocks xmlns:a="http://schemas.openxmlformats.org/drawingml/2006/main" noGrp="1"/>
          </p:cNvSpPr>
          <p:nvPr/>
        </p:nvSpPr>
        <p:spPr>
          <a:xfrm xmlns:a="http://schemas.openxmlformats.org/drawingml/2006/main">
            <a:off x="5715000" y="1800225"/>
            <a:ext cx="566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168D91"/>
                </a:solidFill>
                <a:latin typeface="DejaVu Sans"/>
                <a:ea typeface="DejaVu Sans"/>
                <a:cs typeface="DejaVu Sans"/>
              </a:defRPr>
            </a:defPPr>
          </a:lstStyle>
          <a:p xmlns:a="http://schemas.openxmlformats.org/drawingml/2006/main">
            <a:pPr algn="l">
              <a:lnSpc>
                <a:spcPct val="113000"/>
              </a:lnSpc>
              <a:buNone/>
              <a:defRPr sz="2100" b="1" i="0">
                <a:solidFill>
                  <a:srgbClr val="168D91"/>
                </a:solidFill>
                <a:latin typeface="DejaVu Sans"/>
                <a:ea typeface="DejaVu Sans"/>
                <a:cs typeface="DejaVu Sans"/>
              </a:defRPr>
            </a:pPr>
            <a:r>
              <a:rPr sz="2100" b="1" i="0">
                <a:solidFill>
                  <a:srgbClr val="168D91"/>
                </a:solidFill>
                <a:latin typeface="DejaVu Sans"/>
                <a:ea typeface="DejaVu Sans"/>
                <a:cs typeface="DejaVu Sans"/>
              </a:rPr>
              <a:t>Microbiología</a:t>
            </a:r>
          </a:p>
        </p:txBody>
      </p:sp>
      <p:sp>
        <p:nvSpPr>
          <p:cNvPr id="14" name="text-14">
            <a:extLst xmlns:a="http://schemas.openxmlformats.org/drawingml/2006/main">
              <a:ext uri="{FF2B5EF4-FFF2-40B4-BE49-F238E27FC236}">
                <a16:creationId xmlns:a16="http://schemas.microsoft.com/office/drawing/2014/main" id="{88E0723C-8122-4A57-8C4C-7E6CCB1FD7FD}"/>
              </a:ext>
            </a:extLst>
          </p:cNvPr>
          <p:cNvSpPr>
            <a:spLocks xmlns:a="http://schemas.openxmlformats.org/drawingml/2006/main" noGrp="1"/>
          </p:cNvSpPr>
          <p:nvPr/>
        </p:nvSpPr>
        <p:spPr>
          <a:xfrm xmlns:a="http://schemas.openxmlformats.org/drawingml/2006/main">
            <a:off x="5715000" y="2190750"/>
            <a:ext cx="5667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173746"/>
                </a:solidFill>
                <a:latin typeface="DejaVu Sans"/>
                <a:ea typeface="DejaVu Sans"/>
                <a:cs typeface="DejaVu Sans"/>
              </a:defRPr>
            </a:defPPr>
          </a:lstStyle>
          <a:p xmlns:a="http://schemas.openxmlformats.org/drawingml/2006/main">
            <a:pPr algn="l">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¿Cómo identifico y evalúo una cepa?</a:t>
            </a:r>
          </a:p>
        </p:txBody>
      </p:sp>
      <p:sp>
        <p:nvSpPr>
          <p:cNvPr id="15" name="text-15">
            <a:extLst xmlns:a="http://schemas.openxmlformats.org/drawingml/2006/main">
              <a:ext uri="{FF2B5EF4-FFF2-40B4-BE49-F238E27FC236}">
                <a16:creationId xmlns:a16="http://schemas.microsoft.com/office/drawing/2014/main" id="{AA6ED4BF-8BD9-4D66-9F17-862A82DCD71B}"/>
              </a:ext>
            </a:extLst>
          </p:cNvPr>
          <p:cNvSpPr>
            <a:spLocks xmlns:a="http://schemas.openxmlformats.org/drawingml/2006/main" noGrp="1"/>
          </p:cNvSpPr>
          <p:nvPr/>
        </p:nvSpPr>
        <p:spPr>
          <a:xfrm xmlns:a="http://schemas.openxmlformats.org/drawingml/2006/main">
            <a:off x="5715000" y="3162300"/>
            <a:ext cx="566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5B983F"/>
                </a:solidFill>
                <a:latin typeface="DejaVu Sans"/>
                <a:ea typeface="DejaVu Sans"/>
                <a:cs typeface="DejaVu Sans"/>
              </a:defRPr>
            </a:defPPr>
          </a:lstStyle>
          <a:p xmlns:a="http://schemas.openxmlformats.org/drawingml/2006/main">
            <a:pPr algn="l">
              <a:lnSpc>
                <a:spcPct val="113000"/>
              </a:lnSpc>
              <a:buNone/>
              <a:defRPr sz="2100" b="1" i="0">
                <a:solidFill>
                  <a:srgbClr val="5B983F"/>
                </a:solidFill>
                <a:latin typeface="DejaVu Sans"/>
                <a:ea typeface="DejaVu Sans"/>
                <a:cs typeface="DejaVu Sans"/>
              </a:defRPr>
            </a:pPr>
            <a:r>
              <a:rPr sz="2100" b="1" i="0">
                <a:solidFill>
                  <a:srgbClr val="5B983F"/>
                </a:solidFill>
                <a:latin typeface="DejaVu Sans"/>
                <a:ea typeface="DejaVu Sans"/>
                <a:cs typeface="DejaVu Sans"/>
              </a:rPr>
              <a:t>Biología</a:t>
            </a:r>
          </a:p>
        </p:txBody>
      </p:sp>
      <p:sp>
        <p:nvSpPr>
          <p:cNvPr id="16" name="text-16">
            <a:extLst xmlns:a="http://schemas.openxmlformats.org/drawingml/2006/main">
              <a:ext uri="{FF2B5EF4-FFF2-40B4-BE49-F238E27FC236}">
                <a16:creationId xmlns:a16="http://schemas.microsoft.com/office/drawing/2014/main" id="{2B6ED294-59C2-4E97-9AF6-0B1247FCD322}"/>
              </a:ext>
            </a:extLst>
          </p:cNvPr>
          <p:cNvSpPr>
            <a:spLocks xmlns:a="http://schemas.openxmlformats.org/drawingml/2006/main" noGrp="1"/>
          </p:cNvSpPr>
          <p:nvPr/>
        </p:nvSpPr>
        <p:spPr>
          <a:xfrm xmlns:a="http://schemas.openxmlformats.org/drawingml/2006/main">
            <a:off x="5715000" y="3543300"/>
            <a:ext cx="5667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173746"/>
                </a:solidFill>
                <a:latin typeface="DejaVu Sans"/>
                <a:ea typeface="DejaVu Sans"/>
                <a:cs typeface="DejaVu Sans"/>
              </a:defRPr>
            </a:defPPr>
          </a:lstStyle>
          <a:p xmlns:a="http://schemas.openxmlformats.org/drawingml/2006/main">
            <a:pPr algn="l">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¿Qué función cumple en su ambiente?</a:t>
            </a:r>
          </a:p>
        </p:txBody>
      </p:sp>
      <p:sp>
        <p:nvSpPr>
          <p:cNvPr id="17" name="text-17">
            <a:extLst xmlns:a="http://schemas.openxmlformats.org/drawingml/2006/main">
              <a:ext uri="{FF2B5EF4-FFF2-40B4-BE49-F238E27FC236}">
                <a16:creationId xmlns:a16="http://schemas.microsoft.com/office/drawing/2014/main" id="{A8909652-6C84-49FF-A9CD-5C7DF55AA155}"/>
              </a:ext>
            </a:extLst>
          </p:cNvPr>
          <p:cNvSpPr>
            <a:spLocks xmlns:a="http://schemas.openxmlformats.org/drawingml/2006/main" noGrp="1"/>
          </p:cNvSpPr>
          <p:nvPr/>
        </p:nvSpPr>
        <p:spPr>
          <a:xfrm xmlns:a="http://schemas.openxmlformats.org/drawingml/2006/main">
            <a:off x="5715000" y="4524375"/>
            <a:ext cx="566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8A64B4"/>
                </a:solidFill>
                <a:latin typeface="DejaVu Sans"/>
                <a:ea typeface="DejaVu Sans"/>
                <a:cs typeface="DejaVu Sans"/>
              </a:defRPr>
            </a:defPPr>
          </a:lstStyle>
          <a:p xmlns:a="http://schemas.openxmlformats.org/drawingml/2006/main">
            <a:pPr algn="l">
              <a:lnSpc>
                <a:spcPct val="113000"/>
              </a:lnSpc>
              <a:buNone/>
              <a:defRPr sz="2100" b="1" i="0">
                <a:solidFill>
                  <a:srgbClr val="8A64B4"/>
                </a:solidFill>
                <a:latin typeface="DejaVu Sans"/>
                <a:ea typeface="DejaVu Sans"/>
                <a:cs typeface="DejaVu Sans"/>
              </a:defRPr>
            </a:pPr>
            <a:r>
              <a:rPr sz="2100" b="1" i="0">
                <a:solidFill>
                  <a:srgbClr val="8A64B4"/>
                </a:solidFill>
                <a:latin typeface="DejaVu Sans"/>
                <a:ea typeface="DejaVu Sans"/>
                <a:cs typeface="DejaVu Sans"/>
              </a:rPr>
              <a:t>Ciencias biomédicas</a:t>
            </a:r>
          </a:p>
        </p:txBody>
      </p:sp>
      <p:sp>
        <p:nvSpPr>
          <p:cNvPr id="18" name="text-18">
            <a:extLst xmlns:a="http://schemas.openxmlformats.org/drawingml/2006/main">
              <a:ext uri="{FF2B5EF4-FFF2-40B4-BE49-F238E27FC236}">
                <a16:creationId xmlns:a16="http://schemas.microsoft.com/office/drawing/2014/main" id="{E5EA071B-7370-4879-837A-A1486043A0ED}"/>
              </a:ext>
            </a:extLst>
          </p:cNvPr>
          <p:cNvSpPr>
            <a:spLocks xmlns:a="http://schemas.openxmlformats.org/drawingml/2006/main" noGrp="1"/>
          </p:cNvSpPr>
          <p:nvPr/>
        </p:nvSpPr>
        <p:spPr>
          <a:xfrm xmlns:a="http://schemas.openxmlformats.org/drawingml/2006/main">
            <a:off x="5715000" y="4914900"/>
            <a:ext cx="5667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173746"/>
                </a:solidFill>
                <a:latin typeface="DejaVu Sans"/>
                <a:ea typeface="DejaVu Sans"/>
                <a:cs typeface="DejaVu Sans"/>
              </a:defRPr>
            </a:defPPr>
          </a:lstStyle>
          <a:p xmlns:a="http://schemas.openxmlformats.org/drawingml/2006/main">
            <a:pPr algn="l">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¿Qué evidencia conecta una cepa con un</a:t>
            </a:r>
          </a:p>
          <a:p xmlns:a="http://schemas.openxmlformats.org/drawingml/2006/main">
            <a:pPr algn="l">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beneficio o un riesgo?</a:t>
            </a:r>
          </a:p>
        </p:txBody>
      </p:sp>
    </p:spTree>
    <p:extLst>
      <p:ext uri="{BB962C8B-B14F-4D97-AF65-F5344CB8AC3E}">
        <p14:creationId xmlns:p14="http://schemas.microsoft.com/office/powerpoint/2010/main" val="1088725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
            <a:extLst xmlns:a="http://schemas.openxmlformats.org/drawingml/2006/main">
              <a:ext uri="{FF2B5EF4-FFF2-40B4-BE49-F238E27FC236}">
                <a16:creationId xmlns:a16="http://schemas.microsoft.com/office/drawing/2014/main" id="{F27C429F-1B04-4C10-BA4E-D0ECDE80646E}"/>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Organización celular compartida</a:t>
            </a:r>
          </a:p>
        </p:txBody>
      </p:sp>
      <p:sp>
        <p:nvSpPr>
          <p:cNvPr id="2" name="text-2">
            <a:extLst xmlns:a="http://schemas.openxmlformats.org/drawingml/2006/main">
              <a:ext uri="{FF2B5EF4-FFF2-40B4-BE49-F238E27FC236}">
                <a16:creationId xmlns:a16="http://schemas.microsoft.com/office/drawing/2014/main" id="{8C6C2CD3-F262-4961-A92A-1A34577C3D7A}"/>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Procariota: célula sin un núcleo delimitado por membrana.</a:t>
            </a:r>
          </a:p>
        </p:txBody>
      </p:sp>
      <p:sp>
        <p:nvSpPr>
          <p:cNvPr id="3" name="path-3">
            <a:extLst xmlns:a="http://schemas.openxmlformats.org/drawingml/2006/main">
              <a:ext uri="{FF2B5EF4-FFF2-40B4-BE49-F238E27FC236}">
                <a16:creationId xmlns:a16="http://schemas.microsoft.com/office/drawing/2014/main" id="{38BA9B4D-0D88-4906-A329-A44984B3F7E6}"/>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0CCE2C12-692F-4E42-B39D-D6FD5134198D}"/>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Esquemas originales.</a:t>
            </a:r>
          </a:p>
        </p:txBody>
      </p:sp>
      <p:sp>
        <p:nvSpPr>
          <p:cNvPr id="5" name="text-5">
            <a:extLst xmlns:a="http://schemas.openxmlformats.org/drawingml/2006/main">
              <a:ext uri="{FF2B5EF4-FFF2-40B4-BE49-F238E27FC236}">
                <a16:creationId xmlns:a16="http://schemas.microsoft.com/office/drawing/2014/main" id="{BF4E7A9C-559D-49A6-865C-0DBB9050480F}"/>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03 / 20</a:t>
            </a:r>
          </a:p>
        </p:txBody>
      </p:sp>
      <p:pic>
        <p:nvPicPr>
          <p:cNvPr id="6" name="">
            <a:extLst xmlns:a="http://schemas.openxmlformats.org/drawingml/2006/main">
              <a:ext uri="{FF2B5EF4-FFF2-40B4-BE49-F238E27FC236}">
                <a16:creationId xmlns:a16="http://schemas.microsoft.com/office/drawing/2014/main" id="{69610A72-E63C-4C02-B6C5-6DF43CCB6A80}"/>
              </a:ext>
            </a:extLst>
          </p:cNvPr>
          <p:cNvPicPr>
            <a:picLocks xmlns:a="http://schemas.openxmlformats.org/drawingml/2006/main" noChangeAspect="1"/>
          </p:cNvPicPr>
          <p:nvPr/>
        </p:nvPicPr>
        <p:blipFill>
          <a:blip xmlns:r="http://schemas.openxmlformats.org/officeDocument/2006/relationships" xmlns:a="http://schemas.openxmlformats.org/drawingml/2006/main" r:embed="Ra1b5c6dee69c484d"/>
          <a:stretch xmlns:a="http://schemas.openxmlformats.org/drawingml/2006/main"/>
        </p:blipFill>
        <p:spPr>
          <a:xfrm xmlns:a="http://schemas.openxmlformats.org/drawingml/2006/main">
            <a:off x="2499579" y="1657350"/>
            <a:ext cx="7192843" cy="404812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D13A7713-C5B2-4A35-BC6D-B997642849D1}"/>
              </a:ext>
            </a:extLst>
          </p:cNvPr>
          <p:cNvSpPr>
            <a:spLocks xmlns:a="http://schemas.openxmlformats.org/drawingml/2006/main" noGrp="1"/>
          </p:cNvSpPr>
          <p:nvPr/>
        </p:nvSpPr>
        <p:spPr>
          <a:xfrm xmlns:a="http://schemas.openxmlformats.org/drawingml/2006/main">
            <a:off x="2190750" y="5619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168D91"/>
                </a:solidFill>
                <a:latin typeface="DejaVu Sans"/>
                <a:ea typeface="DejaVu Sans"/>
                <a:cs typeface="DejaVu Sans"/>
              </a:defRPr>
            </a:defPPr>
          </a:lstStyle>
          <a:p xmlns:a="http://schemas.openxmlformats.org/drawingml/2006/main">
            <a:pPr algn="ctr">
              <a:lnSpc>
                <a:spcPct val="113000"/>
              </a:lnSpc>
              <a:buNone/>
              <a:defRPr sz="2475" b="1" i="0">
                <a:solidFill>
                  <a:srgbClr val="168D91"/>
                </a:solidFill>
                <a:latin typeface="DejaVu Sans"/>
                <a:ea typeface="DejaVu Sans"/>
                <a:cs typeface="DejaVu Sans"/>
              </a:defRPr>
            </a:pPr>
            <a:r>
              <a:rPr sz="2475" b="1" i="0">
                <a:solidFill>
                  <a:srgbClr val="168D91"/>
                </a:solidFill>
                <a:latin typeface="DejaVu Sans"/>
                <a:ea typeface="DejaVu Sans"/>
                <a:cs typeface="DejaVu Sans"/>
              </a:rPr>
              <a:t>Bacterias</a:t>
            </a:r>
          </a:p>
        </p:txBody>
      </p:sp>
      <p:sp>
        <p:nvSpPr>
          <p:cNvPr id="8" name="text-7">
            <a:extLst xmlns:a="http://schemas.openxmlformats.org/drawingml/2006/main">
              <a:ext uri="{FF2B5EF4-FFF2-40B4-BE49-F238E27FC236}">
                <a16:creationId xmlns:a16="http://schemas.microsoft.com/office/drawing/2014/main" id="{4BB5043A-1603-49B9-9F6F-061129734D7A}"/>
              </a:ext>
            </a:extLst>
          </p:cNvPr>
          <p:cNvSpPr>
            <a:spLocks xmlns:a="http://schemas.openxmlformats.org/drawingml/2006/main" noGrp="1"/>
          </p:cNvSpPr>
          <p:nvPr/>
        </p:nvSpPr>
        <p:spPr>
          <a:xfrm xmlns:a="http://schemas.openxmlformats.org/drawingml/2006/main">
            <a:off x="7620000" y="5619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C58B22"/>
                </a:solidFill>
                <a:latin typeface="DejaVu Sans"/>
                <a:ea typeface="DejaVu Sans"/>
                <a:cs typeface="DejaVu Sans"/>
              </a:defRPr>
            </a:defPPr>
          </a:lstStyle>
          <a:p xmlns:a="http://schemas.openxmlformats.org/drawingml/2006/main">
            <a:pPr algn="ctr">
              <a:lnSpc>
                <a:spcPct val="113000"/>
              </a:lnSpc>
              <a:buNone/>
              <a:defRPr sz="2475" b="1" i="0">
                <a:solidFill>
                  <a:srgbClr val="C58B22"/>
                </a:solidFill>
                <a:latin typeface="DejaVu Sans"/>
                <a:ea typeface="DejaVu Sans"/>
                <a:cs typeface="DejaVu Sans"/>
              </a:defRPr>
            </a:pPr>
            <a:r>
              <a:rPr sz="2475" b="1" i="0">
                <a:solidFill>
                  <a:srgbClr val="C58B22"/>
                </a:solidFill>
                <a:latin typeface="DejaVu Sans"/>
                <a:ea typeface="DejaVu Sans"/>
                <a:cs typeface="DejaVu Sans"/>
              </a:rPr>
              <a:t>Arqueas</a:t>
            </a:r>
          </a:p>
        </p:txBody>
      </p:sp>
      <p:sp>
        <p:nvSpPr>
          <p:cNvPr id="9" name="text-8">
            <a:extLst xmlns:a="http://schemas.openxmlformats.org/drawingml/2006/main">
              <a:ext uri="{FF2B5EF4-FFF2-40B4-BE49-F238E27FC236}">
                <a16:creationId xmlns:a16="http://schemas.microsoft.com/office/drawing/2014/main" id="{C6F1911C-20F2-4F82-BBC8-48A40D348864}"/>
              </a:ext>
            </a:extLst>
          </p:cNvPr>
          <p:cNvSpPr>
            <a:spLocks xmlns:a="http://schemas.openxmlformats.org/drawingml/2006/main" noGrp="1"/>
          </p:cNvSpPr>
          <p:nvPr/>
        </p:nvSpPr>
        <p:spPr>
          <a:xfrm xmlns:a="http://schemas.openxmlformats.org/drawingml/2006/main">
            <a:off x="5048250" y="22574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173746"/>
                </a:solidFill>
                <a:latin typeface="DejaVu Sans"/>
                <a:ea typeface="DejaVu Sans"/>
                <a:cs typeface="DejaVu Sans"/>
              </a:defRPr>
            </a:defPPr>
          </a:lstStyle>
          <a:p xmlns:a="http://schemas.openxmlformats.org/drawingml/2006/main">
            <a:pPr algn="ctr">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ADN</a:t>
            </a:r>
          </a:p>
        </p:txBody>
      </p:sp>
      <p:sp>
        <p:nvSpPr>
          <p:cNvPr id="10" name="path-9">
            <a:extLst xmlns:a="http://schemas.openxmlformats.org/drawingml/2006/main">
              <a:ext uri="{FF2B5EF4-FFF2-40B4-BE49-F238E27FC236}">
                <a16:creationId xmlns:a16="http://schemas.microsoft.com/office/drawing/2014/main" id="{AC0EC693-AAD0-40C0-B107-8AE916CD62D3}"/>
              </a:ext>
            </a:extLst>
          </p:cNvPr>
          <p:cNvSpPr>
            <a:spLocks xmlns:a="http://schemas.openxmlformats.org/drawingml/2006/main" noGrp="1"/>
          </p:cNvSpPr>
          <p:nvPr/>
        </p:nvSpPr>
        <p:spPr>
          <a:xfrm xmlns:a="http://schemas.openxmlformats.org/drawingml/2006/main">
            <a:off x="3714750" y="2638425"/>
            <a:ext cx="1504950" cy="561975"/>
          </a:xfrm>
          <a:custGeom xmlns:a="http://schemas.openxmlformats.org/drawingml/2006/main">
            <a:pathLst>
              <a:path w="1504950" h="561975">
                <a:moveTo>
                  <a:pt x="1504950" y="0"/>
                </a:moveTo>
                <a:lnTo>
                  <a:pt x="0" y="561975"/>
                </a:lnTo>
              </a:path>
            </a:pathLst>
          </a:custGeom>
          <a:noFill xmlns:a="http://schemas.openxmlformats.org/drawingml/2006/main"/>
          <a:ln xmlns:a="http://schemas.openxmlformats.org/drawingml/2006/main" w="14288">
            <a:solidFill>
              <a:srgbClr val="8A64B4"/>
            </a:solidFill>
            <a:prstDash val="solid"/>
          </a:ln>
        </p:spPr>
      </p:sp>
      <p:sp>
        <p:nvSpPr>
          <p:cNvPr id="11" name="path-10">
            <a:extLst xmlns:a="http://schemas.openxmlformats.org/drawingml/2006/main">
              <a:ext uri="{FF2B5EF4-FFF2-40B4-BE49-F238E27FC236}">
                <a16:creationId xmlns:a16="http://schemas.microsoft.com/office/drawing/2014/main" id="{17D0B799-8B32-4C58-A023-EF14504D7CE0}"/>
              </a:ext>
            </a:extLst>
          </p:cNvPr>
          <p:cNvSpPr>
            <a:spLocks xmlns:a="http://schemas.openxmlformats.org/drawingml/2006/main" noGrp="1"/>
          </p:cNvSpPr>
          <p:nvPr/>
        </p:nvSpPr>
        <p:spPr>
          <a:xfrm xmlns:a="http://schemas.openxmlformats.org/drawingml/2006/main">
            <a:off x="6981825" y="2638425"/>
            <a:ext cx="1724025" cy="800100"/>
          </a:xfrm>
          <a:custGeom xmlns:a="http://schemas.openxmlformats.org/drawingml/2006/main">
            <a:pathLst>
              <a:path w="1724025" h="800100">
                <a:moveTo>
                  <a:pt x="0" y="0"/>
                </a:moveTo>
                <a:lnTo>
                  <a:pt x="1724025" y="800100"/>
                </a:lnTo>
              </a:path>
            </a:pathLst>
          </a:custGeom>
          <a:noFill xmlns:a="http://schemas.openxmlformats.org/drawingml/2006/main"/>
          <a:ln xmlns:a="http://schemas.openxmlformats.org/drawingml/2006/main" w="14288">
            <a:solidFill>
              <a:srgbClr val="8A64B4"/>
            </a:solidFill>
            <a:prstDash val="solid"/>
          </a:ln>
        </p:spPr>
      </p:sp>
      <p:sp>
        <p:nvSpPr>
          <p:cNvPr id="12" name="text-11">
            <a:extLst xmlns:a="http://schemas.openxmlformats.org/drawingml/2006/main">
              <a:ext uri="{FF2B5EF4-FFF2-40B4-BE49-F238E27FC236}">
                <a16:creationId xmlns:a16="http://schemas.microsoft.com/office/drawing/2014/main" id="{09C31192-F1C2-42D3-A171-509E99EFD513}"/>
              </a:ext>
            </a:extLst>
          </p:cNvPr>
          <p:cNvSpPr>
            <a:spLocks xmlns:a="http://schemas.openxmlformats.org/drawingml/2006/main" noGrp="1"/>
          </p:cNvSpPr>
          <p:nvPr/>
        </p:nvSpPr>
        <p:spPr>
          <a:xfrm xmlns:a="http://schemas.openxmlformats.org/drawingml/2006/main">
            <a:off x="4933950" y="3476625"/>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173746"/>
                </a:solidFill>
                <a:latin typeface="DejaVu Sans"/>
                <a:ea typeface="DejaVu Sans"/>
                <a:cs typeface="DejaVu Sans"/>
              </a:defRPr>
            </a:defPPr>
          </a:lstStyle>
          <a:p xmlns:a="http://schemas.openxmlformats.org/drawingml/2006/main">
            <a:pPr algn="ctr">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Ribosomas</a:t>
            </a:r>
          </a:p>
        </p:txBody>
      </p:sp>
      <p:sp>
        <p:nvSpPr>
          <p:cNvPr id="13" name="path-12">
            <a:extLst xmlns:a="http://schemas.openxmlformats.org/drawingml/2006/main">
              <a:ext uri="{FF2B5EF4-FFF2-40B4-BE49-F238E27FC236}">
                <a16:creationId xmlns:a16="http://schemas.microsoft.com/office/drawing/2014/main" id="{C3AF4439-03F0-4104-B43B-204A788DA169}"/>
              </a:ext>
            </a:extLst>
          </p:cNvPr>
          <p:cNvSpPr>
            <a:spLocks xmlns:a="http://schemas.openxmlformats.org/drawingml/2006/main" noGrp="1"/>
          </p:cNvSpPr>
          <p:nvPr/>
        </p:nvSpPr>
        <p:spPr>
          <a:xfrm xmlns:a="http://schemas.openxmlformats.org/drawingml/2006/main">
            <a:off x="3667125" y="3895725"/>
            <a:ext cx="1428750" cy="438150"/>
          </a:xfrm>
          <a:custGeom xmlns:a="http://schemas.openxmlformats.org/drawingml/2006/main">
            <a:pathLst>
              <a:path w="1428750" h="438150">
                <a:moveTo>
                  <a:pt x="1428750" y="0"/>
                </a:moveTo>
                <a:lnTo>
                  <a:pt x="0" y="438150"/>
                </a:lnTo>
              </a:path>
            </a:pathLst>
          </a:custGeom>
          <a:noFill xmlns:a="http://schemas.openxmlformats.org/drawingml/2006/main"/>
          <a:ln xmlns:a="http://schemas.openxmlformats.org/drawingml/2006/main" w="14288">
            <a:solidFill>
              <a:srgbClr val="607781"/>
            </a:solidFill>
            <a:prstDash val="solid"/>
          </a:ln>
        </p:spPr>
      </p:sp>
      <p:sp>
        <p:nvSpPr>
          <p:cNvPr id="14" name="path-13">
            <a:extLst xmlns:a="http://schemas.openxmlformats.org/drawingml/2006/main">
              <a:ext uri="{FF2B5EF4-FFF2-40B4-BE49-F238E27FC236}">
                <a16:creationId xmlns:a16="http://schemas.microsoft.com/office/drawing/2014/main" id="{939A35BC-6675-4AFD-9839-9FA9BC839FB9}"/>
              </a:ext>
            </a:extLst>
          </p:cNvPr>
          <p:cNvSpPr>
            <a:spLocks xmlns:a="http://schemas.openxmlformats.org/drawingml/2006/main" noGrp="1"/>
          </p:cNvSpPr>
          <p:nvPr/>
        </p:nvSpPr>
        <p:spPr>
          <a:xfrm xmlns:a="http://schemas.openxmlformats.org/drawingml/2006/main">
            <a:off x="7105650" y="3895725"/>
            <a:ext cx="1647825" cy="504825"/>
          </a:xfrm>
          <a:custGeom xmlns:a="http://schemas.openxmlformats.org/drawingml/2006/main">
            <a:pathLst>
              <a:path w="1647825" h="504825">
                <a:moveTo>
                  <a:pt x="0" y="0"/>
                </a:moveTo>
                <a:lnTo>
                  <a:pt x="1647825" y="504825"/>
                </a:lnTo>
              </a:path>
            </a:pathLst>
          </a:custGeom>
          <a:noFill xmlns:a="http://schemas.openxmlformats.org/drawingml/2006/main"/>
          <a:ln xmlns:a="http://schemas.openxmlformats.org/drawingml/2006/main" w="14288">
            <a:solidFill>
              <a:srgbClr val="607781"/>
            </a:solidFill>
            <a:prstDash val="solid"/>
          </a:ln>
        </p:spPr>
      </p:sp>
      <p:sp>
        <p:nvSpPr>
          <p:cNvPr id="15" name="text-14">
            <a:extLst xmlns:a="http://schemas.openxmlformats.org/drawingml/2006/main">
              <a:ext uri="{FF2B5EF4-FFF2-40B4-BE49-F238E27FC236}">
                <a16:creationId xmlns:a16="http://schemas.microsoft.com/office/drawing/2014/main" id="{78B40F29-1818-4823-9E42-E5ED6D62C4B3}"/>
              </a:ext>
            </a:extLst>
          </p:cNvPr>
          <p:cNvSpPr>
            <a:spLocks xmlns:a="http://schemas.openxmlformats.org/drawingml/2006/main" noGrp="1"/>
          </p:cNvSpPr>
          <p:nvPr/>
        </p:nvSpPr>
        <p:spPr>
          <a:xfrm xmlns:a="http://schemas.openxmlformats.org/drawingml/2006/main">
            <a:off x="4933950" y="4657725"/>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173746"/>
                </a:solidFill>
                <a:latin typeface="DejaVu Sans"/>
                <a:ea typeface="DejaVu Sans"/>
                <a:cs typeface="DejaVu Sans"/>
              </a:defRPr>
            </a:defPPr>
          </a:lstStyle>
          <a:p xmlns:a="http://schemas.openxmlformats.org/drawingml/2006/main">
            <a:pPr algn="ctr">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Membrana</a:t>
            </a:r>
          </a:p>
        </p:txBody>
      </p:sp>
      <p:sp>
        <p:nvSpPr>
          <p:cNvPr id="16" name="path-15">
            <a:extLst xmlns:a="http://schemas.openxmlformats.org/drawingml/2006/main">
              <a:ext uri="{FF2B5EF4-FFF2-40B4-BE49-F238E27FC236}">
                <a16:creationId xmlns:a16="http://schemas.microsoft.com/office/drawing/2014/main" id="{9F3B9D95-EDDE-42B8-8D29-557E5A59081B}"/>
              </a:ext>
            </a:extLst>
          </p:cNvPr>
          <p:cNvSpPr>
            <a:spLocks xmlns:a="http://schemas.openxmlformats.org/drawingml/2006/main" noGrp="1"/>
          </p:cNvSpPr>
          <p:nvPr/>
        </p:nvSpPr>
        <p:spPr>
          <a:xfrm xmlns:a="http://schemas.openxmlformats.org/drawingml/2006/main">
            <a:off x="3362325" y="4962525"/>
            <a:ext cx="1743075" cy="47625"/>
          </a:xfrm>
          <a:custGeom xmlns:a="http://schemas.openxmlformats.org/drawingml/2006/main">
            <a:pathLst>
              <a:path w="1743075" h="47625">
                <a:moveTo>
                  <a:pt x="1743075" y="47625"/>
                </a:moveTo>
                <a:lnTo>
                  <a:pt x="0" y="0"/>
                </a:lnTo>
              </a:path>
            </a:pathLst>
          </a:custGeom>
          <a:noFill xmlns:a="http://schemas.openxmlformats.org/drawingml/2006/main"/>
          <a:ln xmlns:a="http://schemas.openxmlformats.org/drawingml/2006/main" w="14288">
            <a:solidFill>
              <a:srgbClr val="607781"/>
            </a:solidFill>
            <a:prstDash val="solid"/>
          </a:ln>
        </p:spPr>
      </p:sp>
      <p:sp>
        <p:nvSpPr>
          <p:cNvPr id="17" name="path-16">
            <a:extLst xmlns:a="http://schemas.openxmlformats.org/drawingml/2006/main">
              <a:ext uri="{FF2B5EF4-FFF2-40B4-BE49-F238E27FC236}">
                <a16:creationId xmlns:a16="http://schemas.microsoft.com/office/drawing/2014/main" id="{40FA7CA4-5171-4D4F-BB03-F22544EDC0FA}"/>
              </a:ext>
            </a:extLst>
          </p:cNvPr>
          <p:cNvSpPr>
            <a:spLocks xmlns:a="http://schemas.openxmlformats.org/drawingml/2006/main" noGrp="1"/>
          </p:cNvSpPr>
          <p:nvPr/>
        </p:nvSpPr>
        <p:spPr>
          <a:xfrm xmlns:a="http://schemas.openxmlformats.org/drawingml/2006/main">
            <a:off x="7105650" y="4676775"/>
            <a:ext cx="1266825" cy="333375"/>
          </a:xfrm>
          <a:custGeom xmlns:a="http://schemas.openxmlformats.org/drawingml/2006/main">
            <a:pathLst>
              <a:path w="1266825" h="333375">
                <a:moveTo>
                  <a:pt x="0" y="333375"/>
                </a:moveTo>
                <a:lnTo>
                  <a:pt x="1266825" y="0"/>
                </a:lnTo>
              </a:path>
            </a:pathLst>
          </a:custGeom>
          <a:noFill xmlns:a="http://schemas.openxmlformats.org/drawingml/2006/main"/>
          <a:ln xmlns:a="http://schemas.openxmlformats.org/drawingml/2006/main" w="14288">
            <a:solidFill>
              <a:srgbClr val="607781"/>
            </a:solidFill>
            <a:prstDash val="solid"/>
          </a:ln>
        </p:spPr>
      </p:sp>
      <p:sp>
        <p:nvSpPr>
          <p:cNvPr id="18" name="text-17">
            <a:extLst xmlns:a="http://schemas.openxmlformats.org/drawingml/2006/main">
              <a:ext uri="{FF2B5EF4-FFF2-40B4-BE49-F238E27FC236}">
                <a16:creationId xmlns:a16="http://schemas.microsoft.com/office/drawing/2014/main" id="{EEB5C5FF-D835-4688-978E-BF3853557BC5}"/>
              </a:ext>
            </a:extLst>
          </p:cNvPr>
          <p:cNvSpPr>
            <a:spLocks xmlns:a="http://schemas.openxmlformats.org/drawingml/2006/main" noGrp="1"/>
          </p:cNvSpPr>
          <p:nvPr/>
        </p:nvSpPr>
        <p:spPr>
          <a:xfrm xmlns:a="http://schemas.openxmlformats.org/drawingml/2006/main">
            <a:off x="666750" y="6115050"/>
            <a:ext cx="10858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i="0">
                <a:solidFill>
                  <a:srgbClr val="607781"/>
                </a:solidFill>
                <a:latin typeface="DejaVu Sans"/>
                <a:ea typeface="DejaVu Sans"/>
                <a:cs typeface="DejaVu Sans"/>
              </a:defRPr>
            </a:defPPr>
          </a:lstStyle>
          <a:p xmlns:a="http://schemas.openxmlformats.org/drawingml/2006/main">
            <a:pPr algn="ctr">
              <a:lnSpc>
                <a:spcPct val="113000"/>
              </a:lnSpc>
              <a:buNone/>
              <a:defRPr sz="1575" b="0" i="0">
                <a:solidFill>
                  <a:srgbClr val="607781"/>
                </a:solidFill>
                <a:latin typeface="DejaVu Sans"/>
                <a:ea typeface="DejaVu Sans"/>
                <a:cs typeface="DejaVu Sans"/>
              </a:defRPr>
            </a:pPr>
            <a:r>
              <a:rPr sz="1575" b="0" i="0">
                <a:solidFill>
                  <a:srgbClr val="607781"/>
                </a:solidFill>
                <a:latin typeface="DejaVu Sans"/>
                <a:ea typeface="DejaVu Sans"/>
                <a:cs typeface="DejaVu Sans"/>
              </a:rPr>
              <a:t>Formas ilustrativas. Los dos dominios incluyen morfologías diversas.</a:t>
            </a:r>
          </a:p>
        </p:txBody>
      </p:sp>
    </p:spTree>
    <p:extLst>
      <p:ext uri="{BB962C8B-B14F-4D97-AF65-F5344CB8AC3E}">
        <p14:creationId xmlns:p14="http://schemas.microsoft.com/office/powerpoint/2010/main" val="11558077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3A2ED586-E81A-4642-A1EB-266829BE7EC3}"/>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Comparación de características</a:t>
            </a:r>
          </a:p>
        </p:txBody>
      </p:sp>
      <p:sp>
        <p:nvSpPr>
          <p:cNvPr id="2" name="text-2">
            <a:extLst xmlns:a="http://schemas.openxmlformats.org/drawingml/2006/main">
              <a:ext uri="{FF2B5EF4-FFF2-40B4-BE49-F238E27FC236}">
                <a16:creationId xmlns:a16="http://schemas.microsoft.com/office/drawing/2014/main" id="{C4AE98A3-4091-4C51-976B-340BAA99FAD0}"/>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Los dos grupos comparten organización, pero su composición es diferente.</a:t>
            </a:r>
          </a:p>
        </p:txBody>
      </p:sp>
      <p:sp>
        <p:nvSpPr>
          <p:cNvPr id="3" name="path-3">
            <a:extLst xmlns:a="http://schemas.openxmlformats.org/drawingml/2006/main">
              <a:ext uri="{FF2B5EF4-FFF2-40B4-BE49-F238E27FC236}">
                <a16:creationId xmlns:a16="http://schemas.microsoft.com/office/drawing/2014/main" id="{F9ADA0FA-1570-4024-B254-E2635F160D07}"/>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C0D01507-4309-4079-AA1A-C9B5AF69A97B}"/>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[2]. Esquemas originales.</a:t>
            </a:r>
          </a:p>
        </p:txBody>
      </p:sp>
      <p:sp>
        <p:nvSpPr>
          <p:cNvPr id="5" name="text-5">
            <a:extLst xmlns:a="http://schemas.openxmlformats.org/drawingml/2006/main">
              <a:ext uri="{FF2B5EF4-FFF2-40B4-BE49-F238E27FC236}">
                <a16:creationId xmlns:a16="http://schemas.microsoft.com/office/drawing/2014/main" id="{7053C791-534C-4C8E-8F2B-DC2BF64AA850}"/>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04 / 20</a:t>
            </a:r>
          </a:p>
        </p:txBody>
      </p:sp>
      <p:graphicFrame>
        <p:nvGraphicFramePr>
          <p:cNvPr id="6" name="">
            <a:extLst xmlns:a="http://schemas.openxmlformats.org/drawingml/2006/main">
              <a:ext uri="{FF2B5EF4-FFF2-40B4-BE49-F238E27FC236}">
                <a16:creationId xmlns:a16="http://schemas.microsoft.com/office/drawing/2014/main" id="{F48905D8-3C10-467E-9B3F-B7365A726107}"/>
              </a:ext>
            </a:extLst>
          </p:cNvPr>
          <p:cNvGraphicFramePr/>
          <p:nvPr/>
        </p:nvGraphicFramePr>
        <p:xfrm>
          <a:off xmlns:a="http://schemas.openxmlformats.org/drawingml/2006/main" x="609600" y="1790700"/>
          <a:ext xmlns:a="http://schemas.openxmlformats.org/drawingml/2006/main" cx="10972800" cy="4010025"/>
        </p:xfrm>
        <a:graphic xmlns:a="http://schemas.openxmlformats.org/drawingml/2006/main">
          <a:graphicData uri="http://schemas.openxmlformats.org/drawingml/2006/table">
            <a:tbl>
              <a:tblPr/>
              <a:tblGrid>
                <a:gridCol w="2667000"/>
                <a:gridCol w="4152900"/>
                <a:gridCol w="4152900"/>
              </a:tblGrid>
              <a:tr h="533400">
                <a:tc>
                  <a:txBody>
                    <a:bodyPr lIns="133350" tIns="133350" rIns="133350" bIns="133350"/>
                    <a:lstStyle/>
                    <a:p>
                      <a:pPr>
                        <a:lnSpc>
                          <a:spcPct val="110000"/>
                        </a:lnSpc>
                        <a:buNone/>
                      </a:pPr>
                      <a:r>
                        <a:rPr sz="1875" b="1">
                          <a:solidFill>
                            <a:srgbClr val="FFFFFF"/>
                          </a:solidFill>
                          <a:latin typeface="DejaVu Sans"/>
                          <a:ea typeface="DejaVu Sans"/>
                          <a:cs typeface="DejaVu Sans"/>
                        </a:rPr>
                        <a:t>Rasgo</a:t>
                      </a:r>
                    </a:p>
                  </a:txBody>
                  <a:tcPr marL="91440" marR="91440" marT="45720" marB="45720" anchor="ctr">
                    <a:lnL w="9525">
                      <a:solidFill>
                        <a:srgbClr val="D8E3E7"/>
                      </a:solidFill>
                      <a:prstDash val="solid"/>
                    </a:lnL>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75" b="1">
                          <a:solidFill>
                            <a:srgbClr val="FFFFFF"/>
                          </a:solidFill>
                          <a:latin typeface="DejaVu Sans"/>
                          <a:ea typeface="DejaVu Sans"/>
                          <a:cs typeface="DejaVu Sans"/>
                        </a:rPr>
                        <a:t>Bacterias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75" b="1">
                          <a:solidFill>
                            <a:srgbClr val="FFFFFF"/>
                          </a:solidFill>
                          <a:latin typeface="DejaVu Sans"/>
                          <a:ea typeface="DejaVu Sans"/>
                          <a:cs typeface="DejaVu Sans"/>
                        </a:rPr>
                        <a:t>Arqueas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r>
              <a:tr h="695325">
                <a:tc>
                  <a:txBody>
                    <a:bodyPr lIns="133350" tIns="133350" rIns="133350" bIns="133350"/>
                    <a:lstStyle/>
                    <a:p>
                      <a:pPr>
                        <a:lnSpc>
                          <a:spcPct val="110000"/>
                        </a:lnSpc>
                        <a:buNone/>
                      </a:pPr>
                      <a:r>
                        <a:rPr sz="1875" b="1">
                          <a:solidFill>
                            <a:srgbClr val="173746"/>
                          </a:solidFill>
                          <a:latin typeface="DejaVu Sans"/>
                          <a:ea typeface="DejaVu Sans"/>
                          <a:cs typeface="DejaVu Sans"/>
                        </a:rPr>
                        <a:t>Núcleo</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Sin núcleo</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Sin núcleo</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695325">
                <a:tc>
                  <a:txBody>
                    <a:bodyPr lIns="133350" tIns="133350" rIns="133350" bIns="133350"/>
                    <a:lstStyle/>
                    <a:p>
                      <a:pPr>
                        <a:lnSpc>
                          <a:spcPct val="110000"/>
                        </a:lnSpc>
                        <a:buNone/>
                      </a:pPr>
                      <a:r>
                        <a:rPr sz="1875" b="1">
                          <a:solidFill>
                            <a:srgbClr val="173746"/>
                          </a:solidFill>
                          <a:latin typeface="DejaVu Sans"/>
                          <a:ea typeface="DejaVu Sans"/>
                          <a:cs typeface="DejaVu Sans"/>
                        </a:rPr>
                        <a:t>ADN y ribosomas</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Presentes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Presentes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695325">
                <a:tc>
                  <a:txBody>
                    <a:bodyPr lIns="133350" tIns="133350" rIns="133350" bIns="133350"/>
                    <a:lstStyle/>
                    <a:p>
                      <a:pPr>
                        <a:lnSpc>
                          <a:spcPct val="110000"/>
                        </a:lnSpc>
                        <a:buNone/>
                      </a:pPr>
                      <a:r>
                        <a:rPr sz="1875" b="1">
                          <a:solidFill>
                            <a:srgbClr val="173746"/>
                          </a:solidFill>
                          <a:latin typeface="DejaVu Sans"/>
                          <a:ea typeface="DejaVu Sans"/>
                          <a:cs typeface="DejaVu Sans"/>
                        </a:rPr>
                        <a:t>Pared celular</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Usualmente con peptidoglucano</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Sin peptidoglucano</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695325">
                <a:tc>
                  <a:txBody>
                    <a:bodyPr lIns="133350" tIns="133350" rIns="133350" bIns="133350"/>
                    <a:lstStyle/>
                    <a:p>
                      <a:pPr>
                        <a:lnSpc>
                          <a:spcPct val="110000"/>
                        </a:lnSpc>
                        <a:buNone/>
                      </a:pPr>
                      <a:r>
                        <a:rPr sz="1875" b="1">
                          <a:solidFill>
                            <a:srgbClr val="173746"/>
                          </a:solidFill>
                          <a:latin typeface="DejaVu Sans"/>
                          <a:ea typeface="DejaVu Sans"/>
                          <a:cs typeface="DejaVu Sans"/>
                        </a:rPr>
                        <a:t>Lípidos de</a:t>
                      </a:r>
                    </a:p>
                    <a:p>
                      <a:pPr>
                        <a:lnSpc>
                          <a:spcPct val="110000"/>
                        </a:lnSpc>
                        <a:buNone/>
                      </a:pPr>
                      <a:r>
                        <a:rPr sz="1875" b="1">
                          <a:solidFill>
                            <a:srgbClr val="173746"/>
                          </a:solidFill>
                          <a:latin typeface="DejaVu Sans"/>
                          <a:ea typeface="DejaVu Sans"/>
                          <a:cs typeface="DejaVu Sans"/>
                        </a:rPr>
                        <a:t>membrana</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Enlaces éster típicos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Enlaces éter típicos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695325">
                <a:tc>
                  <a:txBody>
                    <a:bodyPr lIns="133350" tIns="133350" rIns="133350" bIns="133350"/>
                    <a:lstStyle/>
                    <a:p>
                      <a:pPr>
                        <a:lnSpc>
                          <a:spcPct val="110000"/>
                        </a:lnSpc>
                        <a:buNone/>
                      </a:pPr>
                      <a:r>
                        <a:rPr sz="1875" b="1">
                          <a:solidFill>
                            <a:srgbClr val="173746"/>
                          </a:solidFill>
                          <a:latin typeface="DejaVu Sans"/>
                          <a:ea typeface="DejaVu Sans"/>
                          <a:cs typeface="DejaVu Sans"/>
                        </a:rPr>
                        <a:t>Hábitats</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Comunes y extremos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Comunes y extremos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bl>
          </a:graphicData>
        </a:graphic>
      </p:graphicFrame>
    </p:spTree>
    <p:extLst>
      <p:ext uri="{BB962C8B-B14F-4D97-AF65-F5344CB8AC3E}">
        <p14:creationId xmlns:p14="http://schemas.microsoft.com/office/powerpoint/2010/main" val="16808782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02752E92-3998-48D5-BB83-7BD17D06344A}"/>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Pared y membrana</a:t>
            </a:r>
          </a:p>
        </p:txBody>
      </p:sp>
      <p:sp>
        <p:nvSpPr>
          <p:cNvPr id="2" name="text-2">
            <a:extLst xmlns:a="http://schemas.openxmlformats.org/drawingml/2006/main">
              <a:ext uri="{FF2B5EF4-FFF2-40B4-BE49-F238E27FC236}">
                <a16:creationId xmlns:a16="http://schemas.microsoft.com/office/drawing/2014/main" id="{2CC98161-A066-4070-93FC-E2429D98AC0E}"/>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La composición de la envoltura se relaciona con el funcionamiento celular.</a:t>
            </a:r>
          </a:p>
        </p:txBody>
      </p:sp>
      <p:sp>
        <p:nvSpPr>
          <p:cNvPr id="3" name="path-3">
            <a:extLst xmlns:a="http://schemas.openxmlformats.org/drawingml/2006/main">
              <a:ext uri="{FF2B5EF4-FFF2-40B4-BE49-F238E27FC236}">
                <a16:creationId xmlns:a16="http://schemas.microsoft.com/office/drawing/2014/main" id="{4EBF1ADA-F88E-42C4-8509-7D4EEE91544D}"/>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292ACD3E-D8F4-4590-890A-C0D447AC4EEE}"/>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[2]. Esquemas originales.</a:t>
            </a:r>
          </a:p>
        </p:txBody>
      </p:sp>
      <p:sp>
        <p:nvSpPr>
          <p:cNvPr id="5" name="text-5">
            <a:extLst xmlns:a="http://schemas.openxmlformats.org/drawingml/2006/main">
              <a:ext uri="{FF2B5EF4-FFF2-40B4-BE49-F238E27FC236}">
                <a16:creationId xmlns:a16="http://schemas.microsoft.com/office/drawing/2014/main" id="{01BEEBF3-412E-4028-B2CC-AA05A3EAE3ED}"/>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05 / 20</a:t>
            </a:r>
          </a:p>
        </p:txBody>
      </p:sp>
      <p:pic>
        <p:nvPicPr>
          <p:cNvPr id="6" name="">
            <a:extLst xmlns:a="http://schemas.openxmlformats.org/drawingml/2006/main">
              <a:ext uri="{FF2B5EF4-FFF2-40B4-BE49-F238E27FC236}">
                <a16:creationId xmlns:a16="http://schemas.microsoft.com/office/drawing/2014/main" id="{BE31CC67-0BCC-4523-AB11-E9F7CB0681FF}"/>
              </a:ext>
            </a:extLst>
          </p:cNvPr>
          <p:cNvPicPr>
            <a:picLocks xmlns:a="http://schemas.openxmlformats.org/drawingml/2006/main" noChangeAspect="1"/>
          </p:cNvPicPr>
          <p:nvPr/>
        </p:nvPicPr>
        <p:blipFill>
          <a:blip xmlns:r="http://schemas.openxmlformats.org/officeDocument/2006/relationships" xmlns:a="http://schemas.openxmlformats.org/drawingml/2006/main" r:embed="R0980098093ef4ffd"/>
          <a:stretch xmlns:a="http://schemas.openxmlformats.org/drawingml/2006/main"/>
        </p:blipFill>
        <p:spPr>
          <a:xfrm xmlns:a="http://schemas.openxmlformats.org/drawingml/2006/main">
            <a:off x="2897301" y="1771650"/>
            <a:ext cx="6397399" cy="3600450"/>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509B1351-4A6B-401A-9D3C-388744D4D2B0}"/>
              </a:ext>
            </a:extLst>
          </p:cNvPr>
          <p:cNvSpPr>
            <a:spLocks xmlns:a="http://schemas.openxmlformats.org/drawingml/2006/main" noGrp="1"/>
          </p:cNvSpPr>
          <p:nvPr/>
        </p:nvSpPr>
        <p:spPr>
          <a:xfrm xmlns:a="http://schemas.openxmlformats.org/drawingml/2006/main">
            <a:off x="1000125" y="1771650"/>
            <a:ext cx="4429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168D91"/>
                </a:solidFill>
                <a:latin typeface="DejaVu Sans"/>
                <a:ea typeface="DejaVu Sans"/>
                <a:cs typeface="DejaVu Sans"/>
              </a:defRPr>
            </a:defPPr>
          </a:lstStyle>
          <a:p xmlns:a="http://schemas.openxmlformats.org/drawingml/2006/main">
            <a:pPr algn="ctr">
              <a:lnSpc>
                <a:spcPct val="113000"/>
              </a:lnSpc>
              <a:buNone/>
              <a:defRPr sz="2475" b="1" i="0">
                <a:solidFill>
                  <a:srgbClr val="168D91"/>
                </a:solidFill>
                <a:latin typeface="DejaVu Sans"/>
                <a:ea typeface="DejaVu Sans"/>
                <a:cs typeface="DejaVu Sans"/>
              </a:defRPr>
            </a:pPr>
            <a:r>
              <a:rPr sz="2475" b="1" i="0">
                <a:solidFill>
                  <a:srgbClr val="168D91"/>
                </a:solidFill>
                <a:latin typeface="DejaVu Sans"/>
                <a:ea typeface="DejaVu Sans"/>
                <a:cs typeface="DejaVu Sans"/>
              </a:rPr>
              <a:t>Bacterias</a:t>
            </a:r>
          </a:p>
        </p:txBody>
      </p:sp>
      <p:sp>
        <p:nvSpPr>
          <p:cNvPr id="8" name="text-7">
            <a:extLst xmlns:a="http://schemas.openxmlformats.org/drawingml/2006/main">
              <a:ext uri="{FF2B5EF4-FFF2-40B4-BE49-F238E27FC236}">
                <a16:creationId xmlns:a16="http://schemas.microsoft.com/office/drawing/2014/main" id="{BAA546DD-7825-4C9B-B546-72C46027D23C}"/>
              </a:ext>
            </a:extLst>
          </p:cNvPr>
          <p:cNvSpPr>
            <a:spLocks xmlns:a="http://schemas.openxmlformats.org/drawingml/2006/main" noGrp="1"/>
          </p:cNvSpPr>
          <p:nvPr/>
        </p:nvSpPr>
        <p:spPr>
          <a:xfrm xmlns:a="http://schemas.openxmlformats.org/drawingml/2006/main">
            <a:off x="6762750" y="1771650"/>
            <a:ext cx="4429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C58B22"/>
                </a:solidFill>
                <a:latin typeface="DejaVu Sans"/>
                <a:ea typeface="DejaVu Sans"/>
                <a:cs typeface="DejaVu Sans"/>
              </a:defRPr>
            </a:defPPr>
          </a:lstStyle>
          <a:p xmlns:a="http://schemas.openxmlformats.org/drawingml/2006/main">
            <a:pPr algn="ctr">
              <a:lnSpc>
                <a:spcPct val="113000"/>
              </a:lnSpc>
              <a:buNone/>
              <a:defRPr sz="2475" b="1" i="0">
                <a:solidFill>
                  <a:srgbClr val="C58B22"/>
                </a:solidFill>
                <a:latin typeface="DejaVu Sans"/>
                <a:ea typeface="DejaVu Sans"/>
                <a:cs typeface="DejaVu Sans"/>
              </a:defRPr>
            </a:pPr>
            <a:r>
              <a:rPr sz="2475" b="1" i="0">
                <a:solidFill>
                  <a:srgbClr val="C58B22"/>
                </a:solidFill>
                <a:latin typeface="DejaVu Sans"/>
                <a:ea typeface="DejaVu Sans"/>
                <a:cs typeface="DejaVu Sans"/>
              </a:rPr>
              <a:t>Arqueas</a:t>
            </a:r>
          </a:p>
        </p:txBody>
      </p:sp>
      <p:sp>
        <p:nvSpPr>
          <p:cNvPr id="9" name="text-8">
            <a:extLst xmlns:a="http://schemas.openxmlformats.org/drawingml/2006/main">
              <a:ext uri="{FF2B5EF4-FFF2-40B4-BE49-F238E27FC236}">
                <a16:creationId xmlns:a16="http://schemas.microsoft.com/office/drawing/2014/main" id="{1C1AFE89-CB50-4DFF-B5A6-6BFBAE982D6B}"/>
              </a:ext>
            </a:extLst>
          </p:cNvPr>
          <p:cNvSpPr>
            <a:spLocks xmlns:a="http://schemas.openxmlformats.org/drawingml/2006/main" noGrp="1"/>
          </p:cNvSpPr>
          <p:nvPr/>
        </p:nvSpPr>
        <p:spPr>
          <a:xfrm xmlns:a="http://schemas.openxmlformats.org/drawingml/2006/main">
            <a:off x="952500" y="5238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0">
                <a:solidFill>
                  <a:srgbClr val="168D91"/>
                </a:solidFill>
                <a:latin typeface="DejaVu Sans"/>
                <a:ea typeface="DejaVu Sans"/>
                <a:cs typeface="DejaVu Sans"/>
              </a:defRPr>
            </a:defPPr>
          </a:lstStyle>
          <a:p xmlns:a="http://schemas.openxmlformats.org/drawingml/2006/main">
            <a:pPr algn="ctr">
              <a:lnSpc>
                <a:spcPct val="113000"/>
              </a:lnSpc>
              <a:buNone/>
              <a:defRPr sz="2175" b="1" i="0">
                <a:solidFill>
                  <a:srgbClr val="168D91"/>
                </a:solidFill>
                <a:latin typeface="DejaVu Sans"/>
                <a:ea typeface="DejaVu Sans"/>
                <a:cs typeface="DejaVu Sans"/>
              </a:defRPr>
            </a:pPr>
            <a:r>
              <a:rPr sz="2175" b="1" i="0">
                <a:solidFill>
                  <a:srgbClr val="168D91"/>
                </a:solidFill>
                <a:latin typeface="DejaVu Sans"/>
                <a:ea typeface="DejaVu Sans"/>
                <a:cs typeface="DejaVu Sans"/>
              </a:rPr>
              <a:t>Enlaces éster típicos</a:t>
            </a:r>
          </a:p>
        </p:txBody>
      </p:sp>
      <p:sp>
        <p:nvSpPr>
          <p:cNvPr id="10" name="text-9">
            <a:extLst xmlns:a="http://schemas.openxmlformats.org/drawingml/2006/main">
              <a:ext uri="{FF2B5EF4-FFF2-40B4-BE49-F238E27FC236}">
                <a16:creationId xmlns:a16="http://schemas.microsoft.com/office/drawing/2014/main" id="{8D5E432F-C010-4AC7-AB58-CFD7FE2D66CB}"/>
              </a:ext>
            </a:extLst>
          </p:cNvPr>
          <p:cNvSpPr>
            <a:spLocks xmlns:a="http://schemas.openxmlformats.org/drawingml/2006/main" noGrp="1"/>
          </p:cNvSpPr>
          <p:nvPr/>
        </p:nvSpPr>
        <p:spPr>
          <a:xfrm xmlns:a="http://schemas.openxmlformats.org/drawingml/2006/main">
            <a:off x="6743700" y="5238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0">
                <a:solidFill>
                  <a:srgbClr val="C58B22"/>
                </a:solidFill>
                <a:latin typeface="DejaVu Sans"/>
                <a:ea typeface="DejaVu Sans"/>
                <a:cs typeface="DejaVu Sans"/>
              </a:defRPr>
            </a:defPPr>
          </a:lstStyle>
          <a:p xmlns:a="http://schemas.openxmlformats.org/drawingml/2006/main">
            <a:pPr algn="ctr">
              <a:lnSpc>
                <a:spcPct val="113000"/>
              </a:lnSpc>
              <a:buNone/>
              <a:defRPr sz="2175" b="1" i="0">
                <a:solidFill>
                  <a:srgbClr val="C58B22"/>
                </a:solidFill>
                <a:latin typeface="DejaVu Sans"/>
                <a:ea typeface="DejaVu Sans"/>
                <a:cs typeface="DejaVu Sans"/>
              </a:defRPr>
            </a:pPr>
            <a:r>
              <a:rPr sz="2175" b="1" i="0">
                <a:solidFill>
                  <a:srgbClr val="C58B22"/>
                </a:solidFill>
                <a:latin typeface="DejaVu Sans"/>
                <a:ea typeface="DejaVu Sans"/>
                <a:cs typeface="DejaVu Sans"/>
              </a:rPr>
              <a:t>Enlaces éter típicos</a:t>
            </a:r>
          </a:p>
        </p:txBody>
      </p:sp>
      <p:sp>
        <p:nvSpPr>
          <p:cNvPr id="11" name="text-10">
            <a:extLst xmlns:a="http://schemas.openxmlformats.org/drawingml/2006/main">
              <a:ext uri="{FF2B5EF4-FFF2-40B4-BE49-F238E27FC236}">
                <a16:creationId xmlns:a16="http://schemas.microsoft.com/office/drawing/2014/main" id="{F7883BD3-658D-4BCA-A712-826811F45160}"/>
              </a:ext>
            </a:extLst>
          </p:cNvPr>
          <p:cNvSpPr>
            <a:spLocks xmlns:a="http://schemas.openxmlformats.org/drawingml/2006/main" noGrp="1"/>
          </p:cNvSpPr>
          <p:nvPr/>
        </p:nvSpPr>
        <p:spPr>
          <a:xfrm xmlns:a="http://schemas.openxmlformats.org/drawingml/2006/main">
            <a:off x="952500" y="57721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607781"/>
                </a:solidFill>
                <a:latin typeface="DejaVu Sans"/>
                <a:ea typeface="DejaVu Sans"/>
                <a:cs typeface="DejaVu Sans"/>
              </a:defRPr>
            </a:defPPr>
          </a:lstStyle>
          <a:p xmlns:a="http://schemas.openxmlformats.org/drawingml/2006/main">
            <a:pPr algn="ctr">
              <a:lnSpc>
                <a:spcPct val="113000"/>
              </a:lnSpc>
              <a:buNone/>
              <a:defRPr sz="1725" b="0" i="0">
                <a:solidFill>
                  <a:srgbClr val="607781"/>
                </a:solidFill>
                <a:latin typeface="DejaVu Sans"/>
                <a:ea typeface="DejaVu Sans"/>
                <a:cs typeface="DejaVu Sans"/>
              </a:defRPr>
            </a:pPr>
            <a:r>
              <a:rPr sz="1725" b="0" i="0">
                <a:solidFill>
                  <a:srgbClr val="607781"/>
                </a:solidFill>
                <a:latin typeface="DejaVu Sans"/>
                <a:ea typeface="DejaVu Sans"/>
                <a:cs typeface="DejaVu Sans"/>
              </a:rPr>
              <a:t>Pared: suele incluir peptidoglucano</a:t>
            </a:r>
          </a:p>
        </p:txBody>
      </p:sp>
      <p:sp>
        <p:nvSpPr>
          <p:cNvPr id="12" name="text-11">
            <a:extLst xmlns:a="http://schemas.openxmlformats.org/drawingml/2006/main">
              <a:ext uri="{FF2B5EF4-FFF2-40B4-BE49-F238E27FC236}">
                <a16:creationId xmlns:a16="http://schemas.microsoft.com/office/drawing/2014/main" id="{F92876A8-7D79-43AB-9444-9218CEE3AD53}"/>
              </a:ext>
            </a:extLst>
          </p:cNvPr>
          <p:cNvSpPr>
            <a:spLocks xmlns:a="http://schemas.openxmlformats.org/drawingml/2006/main" noGrp="1"/>
          </p:cNvSpPr>
          <p:nvPr/>
        </p:nvSpPr>
        <p:spPr>
          <a:xfrm xmlns:a="http://schemas.openxmlformats.org/drawingml/2006/main">
            <a:off x="6743700" y="57721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607781"/>
                </a:solidFill>
                <a:latin typeface="DejaVu Sans"/>
                <a:ea typeface="DejaVu Sans"/>
                <a:cs typeface="DejaVu Sans"/>
              </a:defRPr>
            </a:defPPr>
          </a:lstStyle>
          <a:p xmlns:a="http://schemas.openxmlformats.org/drawingml/2006/main">
            <a:pPr algn="ctr">
              <a:lnSpc>
                <a:spcPct val="113000"/>
              </a:lnSpc>
              <a:buNone/>
              <a:defRPr sz="1725" b="0" i="0">
                <a:solidFill>
                  <a:srgbClr val="607781"/>
                </a:solidFill>
                <a:latin typeface="DejaVu Sans"/>
                <a:ea typeface="DejaVu Sans"/>
                <a:cs typeface="DejaVu Sans"/>
              </a:defRPr>
            </a:pPr>
            <a:r>
              <a:rPr sz="1725" b="0" i="0">
                <a:solidFill>
                  <a:srgbClr val="607781"/>
                </a:solidFill>
                <a:latin typeface="DejaVu Sans"/>
                <a:ea typeface="DejaVu Sans"/>
                <a:cs typeface="DejaVu Sans"/>
              </a:rPr>
              <a:t>Paredes o capas superficiales diversas</a:t>
            </a:r>
          </a:p>
        </p:txBody>
      </p:sp>
    </p:spTree>
    <p:extLst>
      <p:ext uri="{BB962C8B-B14F-4D97-AF65-F5344CB8AC3E}">
        <p14:creationId xmlns:p14="http://schemas.microsoft.com/office/powerpoint/2010/main" val="20617033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CEA9BDC9-787F-456E-BA3A-757A08134D1D}"/>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Fisiología: cómo funciona una célula</a:t>
            </a:r>
          </a:p>
        </p:txBody>
      </p:sp>
      <p:sp>
        <p:nvSpPr>
          <p:cNvPr id="2" name="text-2">
            <a:extLst xmlns:a="http://schemas.openxmlformats.org/drawingml/2006/main">
              <a:ext uri="{FF2B5EF4-FFF2-40B4-BE49-F238E27FC236}">
                <a16:creationId xmlns:a16="http://schemas.microsoft.com/office/drawing/2014/main" id="{7783152D-C58E-43FA-A44A-02624C2DD99D}"/>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Carbono, energía y condiciones del entorno.</a:t>
            </a:r>
          </a:p>
        </p:txBody>
      </p:sp>
      <p:sp>
        <p:nvSpPr>
          <p:cNvPr id="3" name="path-3">
            <a:extLst xmlns:a="http://schemas.openxmlformats.org/drawingml/2006/main">
              <a:ext uri="{FF2B5EF4-FFF2-40B4-BE49-F238E27FC236}">
                <a16:creationId xmlns:a16="http://schemas.microsoft.com/office/drawing/2014/main" id="{35945464-F29E-4FD6-8A59-D78015358A21}"/>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9DED0C01-ED3E-4F1D-99CB-240975E985ED}"/>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Esquemas originales.</a:t>
            </a:r>
          </a:p>
        </p:txBody>
      </p:sp>
      <p:sp>
        <p:nvSpPr>
          <p:cNvPr id="5" name="text-5">
            <a:extLst xmlns:a="http://schemas.openxmlformats.org/drawingml/2006/main">
              <a:ext uri="{FF2B5EF4-FFF2-40B4-BE49-F238E27FC236}">
                <a16:creationId xmlns:a16="http://schemas.microsoft.com/office/drawing/2014/main" id="{872D481C-5DE6-41AA-B5F2-8AE9C3E68CC0}"/>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06 / 20</a:t>
            </a:r>
          </a:p>
        </p:txBody>
      </p:sp>
      <p:pic>
        <p:nvPicPr>
          <p:cNvPr id="6" name="">
            <a:extLst xmlns:a="http://schemas.openxmlformats.org/drawingml/2006/main">
              <a:ext uri="{FF2B5EF4-FFF2-40B4-BE49-F238E27FC236}">
                <a16:creationId xmlns:a16="http://schemas.microsoft.com/office/drawing/2014/main" id="{E8B3124E-50F0-40B6-A3D1-B91564C90731}"/>
              </a:ext>
            </a:extLst>
          </p:cNvPr>
          <p:cNvPicPr>
            <a:picLocks xmlns:a="http://schemas.openxmlformats.org/drawingml/2006/main" noChangeAspect="1"/>
          </p:cNvPicPr>
          <p:nvPr/>
        </p:nvPicPr>
        <p:blipFill>
          <a:blip xmlns:r="http://schemas.openxmlformats.org/officeDocument/2006/relationships" xmlns:a="http://schemas.openxmlformats.org/drawingml/2006/main" r:embed="R9e353c0587454a7b"/>
          <a:stretch xmlns:a="http://schemas.openxmlformats.org/drawingml/2006/main"/>
        </p:blipFill>
        <p:spPr>
          <a:xfrm xmlns:a="http://schemas.openxmlformats.org/drawingml/2006/main">
            <a:off x="2668822" y="1905000"/>
            <a:ext cx="6854356" cy="385762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7D28DFAF-18CA-49EB-955E-12C018D1B34C}"/>
              </a:ext>
            </a:extLst>
          </p:cNvPr>
          <p:cNvSpPr>
            <a:spLocks xmlns:a="http://schemas.openxmlformats.org/drawingml/2006/main" noGrp="1"/>
          </p:cNvSpPr>
          <p:nvPr/>
        </p:nvSpPr>
        <p:spPr>
          <a:xfrm xmlns:a="http://schemas.openxmlformats.org/drawingml/2006/main">
            <a:off x="619125" y="1809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i="0">
                <a:solidFill>
                  <a:srgbClr val="5B983F"/>
                </a:solidFill>
                <a:latin typeface="DejaVu Sans"/>
                <a:ea typeface="DejaVu Sans"/>
                <a:cs typeface="DejaVu Sans"/>
              </a:defRPr>
            </a:defPPr>
          </a:lstStyle>
          <a:p xmlns:a="http://schemas.openxmlformats.org/drawingml/2006/main">
            <a:pPr algn="ctr">
              <a:lnSpc>
                <a:spcPct val="113000"/>
              </a:lnSpc>
              <a:buNone/>
              <a:defRPr sz="2250" b="1" i="0">
                <a:solidFill>
                  <a:srgbClr val="5B983F"/>
                </a:solidFill>
                <a:latin typeface="DejaVu Sans"/>
                <a:ea typeface="DejaVu Sans"/>
                <a:cs typeface="DejaVu Sans"/>
              </a:defRPr>
            </a:pPr>
            <a:r>
              <a:rPr sz="2250" b="1" i="0">
                <a:solidFill>
                  <a:srgbClr val="5B983F"/>
                </a:solidFill>
                <a:latin typeface="DejaVu Sans"/>
                <a:ea typeface="DejaVu Sans"/>
                <a:cs typeface="DejaVu Sans"/>
              </a:rPr>
              <a:t>Carbono</a:t>
            </a:r>
          </a:p>
        </p:txBody>
      </p:sp>
      <p:sp>
        <p:nvSpPr>
          <p:cNvPr id="8" name="text-7">
            <a:extLst xmlns:a="http://schemas.openxmlformats.org/drawingml/2006/main">
              <a:ext uri="{FF2B5EF4-FFF2-40B4-BE49-F238E27FC236}">
                <a16:creationId xmlns:a16="http://schemas.microsoft.com/office/drawing/2014/main" id="{A8C86D5A-67EA-49BB-92AA-776779403B3A}"/>
              </a:ext>
            </a:extLst>
          </p:cNvPr>
          <p:cNvSpPr>
            <a:spLocks xmlns:a="http://schemas.openxmlformats.org/drawingml/2006/main" noGrp="1"/>
          </p:cNvSpPr>
          <p:nvPr/>
        </p:nvSpPr>
        <p:spPr>
          <a:xfrm xmlns:a="http://schemas.openxmlformats.org/drawingml/2006/main">
            <a:off x="619125" y="50387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173746"/>
                </a:solidFill>
                <a:latin typeface="DejaVu Sans"/>
                <a:ea typeface="DejaVu Sans"/>
                <a:cs typeface="DejaVu Sans"/>
              </a:defRPr>
            </a:defPPr>
          </a:lstStyle>
          <a:p xmlns:a="http://schemas.openxmlformats.org/drawingml/2006/main">
            <a:pPr algn="ctr">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CO₂ o compuestos</a:t>
            </a:r>
          </a:p>
          <a:p xmlns:a="http://schemas.openxmlformats.org/drawingml/2006/main">
            <a:pPr algn="ctr">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orgánicos</a:t>
            </a:r>
          </a:p>
        </p:txBody>
      </p:sp>
      <p:sp>
        <p:nvSpPr>
          <p:cNvPr id="9" name="text-8">
            <a:extLst xmlns:a="http://schemas.openxmlformats.org/drawingml/2006/main">
              <a:ext uri="{FF2B5EF4-FFF2-40B4-BE49-F238E27FC236}">
                <a16:creationId xmlns:a16="http://schemas.microsoft.com/office/drawing/2014/main" id="{E9E0124A-AC96-400E-80A7-18942F6F64C2}"/>
              </a:ext>
            </a:extLst>
          </p:cNvPr>
          <p:cNvSpPr>
            <a:spLocks xmlns:a="http://schemas.openxmlformats.org/drawingml/2006/main" noGrp="1"/>
          </p:cNvSpPr>
          <p:nvPr/>
        </p:nvSpPr>
        <p:spPr>
          <a:xfrm xmlns:a="http://schemas.openxmlformats.org/drawingml/2006/main">
            <a:off x="8820150" y="18097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i="0">
                <a:solidFill>
                  <a:srgbClr val="C58B22"/>
                </a:solidFill>
                <a:latin typeface="DejaVu Sans"/>
                <a:ea typeface="DejaVu Sans"/>
                <a:cs typeface="DejaVu Sans"/>
              </a:defRPr>
            </a:defPPr>
          </a:lstStyle>
          <a:p xmlns:a="http://schemas.openxmlformats.org/drawingml/2006/main">
            <a:pPr algn="ctr">
              <a:lnSpc>
                <a:spcPct val="113000"/>
              </a:lnSpc>
              <a:buNone/>
              <a:defRPr sz="2250" b="1" i="0">
                <a:solidFill>
                  <a:srgbClr val="C58B22"/>
                </a:solidFill>
                <a:latin typeface="DejaVu Sans"/>
                <a:ea typeface="DejaVu Sans"/>
                <a:cs typeface="DejaVu Sans"/>
              </a:defRPr>
            </a:pPr>
            <a:r>
              <a:rPr sz="2250" b="1" i="0">
                <a:solidFill>
                  <a:srgbClr val="C58B22"/>
                </a:solidFill>
                <a:latin typeface="DejaVu Sans"/>
                <a:ea typeface="DejaVu Sans"/>
                <a:cs typeface="DejaVu Sans"/>
              </a:rPr>
              <a:t>Energía</a:t>
            </a:r>
          </a:p>
        </p:txBody>
      </p:sp>
      <p:sp>
        <p:nvSpPr>
          <p:cNvPr id="10" name="text-9">
            <a:extLst xmlns:a="http://schemas.openxmlformats.org/drawingml/2006/main">
              <a:ext uri="{FF2B5EF4-FFF2-40B4-BE49-F238E27FC236}">
                <a16:creationId xmlns:a16="http://schemas.microsoft.com/office/drawing/2014/main" id="{59E37763-40AD-483C-8C08-2709CC3B50D7}"/>
              </a:ext>
            </a:extLst>
          </p:cNvPr>
          <p:cNvSpPr>
            <a:spLocks xmlns:a="http://schemas.openxmlformats.org/drawingml/2006/main" noGrp="1"/>
          </p:cNvSpPr>
          <p:nvPr/>
        </p:nvSpPr>
        <p:spPr>
          <a:xfrm xmlns:a="http://schemas.openxmlformats.org/drawingml/2006/main">
            <a:off x="8763000" y="5038725"/>
            <a:ext cx="2819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173746"/>
                </a:solidFill>
                <a:latin typeface="DejaVu Sans"/>
                <a:ea typeface="DejaVu Sans"/>
                <a:cs typeface="DejaVu Sans"/>
              </a:defRPr>
            </a:defPPr>
          </a:lstStyle>
          <a:p xmlns:a="http://schemas.openxmlformats.org/drawingml/2006/main">
            <a:pPr algn="ctr">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Luz o reacciones</a:t>
            </a:r>
          </a:p>
          <a:p xmlns:a="http://schemas.openxmlformats.org/drawingml/2006/main">
            <a:pPr algn="ctr">
              <a:lnSpc>
                <a:spcPct val="113000"/>
              </a:lnSpc>
              <a:buNone/>
              <a:defRPr sz="1875" b="0" i="0">
                <a:solidFill>
                  <a:srgbClr val="173746"/>
                </a:solidFill>
                <a:latin typeface="DejaVu Sans"/>
                <a:ea typeface="DejaVu Sans"/>
                <a:cs typeface="DejaVu Sans"/>
              </a:defRPr>
            </a:pPr>
            <a:r>
              <a:rPr sz="1875" b="0" i="0">
                <a:solidFill>
                  <a:srgbClr val="173746"/>
                </a:solidFill>
                <a:latin typeface="DejaVu Sans"/>
                <a:ea typeface="DejaVu Sans"/>
                <a:cs typeface="DejaVu Sans"/>
              </a:rPr>
              <a:t>químicas</a:t>
            </a:r>
          </a:p>
        </p:txBody>
      </p:sp>
      <p:sp>
        <p:nvSpPr>
          <p:cNvPr id="11" name="text-10">
            <a:extLst xmlns:a="http://schemas.openxmlformats.org/drawingml/2006/main">
              <a:ext uri="{FF2B5EF4-FFF2-40B4-BE49-F238E27FC236}">
                <a16:creationId xmlns:a16="http://schemas.microsoft.com/office/drawing/2014/main" id="{E71CD483-9C1C-483A-9022-CA3600C04069}"/>
              </a:ext>
            </a:extLst>
          </p:cNvPr>
          <p:cNvSpPr>
            <a:spLocks xmlns:a="http://schemas.openxmlformats.org/drawingml/2006/main" noGrp="1"/>
          </p:cNvSpPr>
          <p:nvPr/>
        </p:nvSpPr>
        <p:spPr>
          <a:xfrm xmlns:a="http://schemas.openxmlformats.org/drawingml/2006/main">
            <a:off x="3286125" y="6029325"/>
            <a:ext cx="561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607781"/>
                </a:solidFill>
                <a:latin typeface="DejaVu Sans"/>
                <a:ea typeface="DejaVu Sans"/>
                <a:cs typeface="DejaVu Sans"/>
              </a:defRPr>
            </a:defPPr>
          </a:lstStyle>
          <a:p xmlns:a="http://schemas.openxmlformats.org/drawingml/2006/main">
            <a:pPr algn="ctr">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Temperatura, pH y oxígeno</a:t>
            </a:r>
          </a:p>
        </p:txBody>
      </p:sp>
    </p:spTree>
    <p:extLst>
      <p:ext uri="{BB962C8B-B14F-4D97-AF65-F5344CB8AC3E}">
        <p14:creationId xmlns:p14="http://schemas.microsoft.com/office/powerpoint/2010/main" val="1715786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E8A8A32B-9ED3-40BB-899B-ABA455FD87DC}"/>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Comparación del funcionamiento</a:t>
            </a:r>
          </a:p>
        </p:txBody>
      </p:sp>
      <p:sp>
        <p:nvSpPr>
          <p:cNvPr id="2" name="text-2">
            <a:extLst xmlns:a="http://schemas.openxmlformats.org/drawingml/2006/main">
              <a:ext uri="{FF2B5EF4-FFF2-40B4-BE49-F238E27FC236}">
                <a16:creationId xmlns:a16="http://schemas.microsoft.com/office/drawing/2014/main" id="{4550C792-DA83-40E9-B86E-9721EAF666D1}"/>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Las capacidades dependen del linaje y de la cepa.</a:t>
            </a:r>
          </a:p>
        </p:txBody>
      </p:sp>
      <p:sp>
        <p:nvSpPr>
          <p:cNvPr id="3" name="path-3">
            <a:extLst xmlns:a="http://schemas.openxmlformats.org/drawingml/2006/main">
              <a:ext uri="{FF2B5EF4-FFF2-40B4-BE49-F238E27FC236}">
                <a16:creationId xmlns:a16="http://schemas.microsoft.com/office/drawing/2014/main" id="{1C7370ED-465C-49F2-ACD4-003F8AD9275A}"/>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8DECBAF4-A833-40E6-BB2A-1B537CA930D3}"/>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[7] [9]. Esquemas originales.</a:t>
            </a:r>
          </a:p>
        </p:txBody>
      </p:sp>
      <p:sp>
        <p:nvSpPr>
          <p:cNvPr id="5" name="text-5">
            <a:extLst xmlns:a="http://schemas.openxmlformats.org/drawingml/2006/main">
              <a:ext uri="{FF2B5EF4-FFF2-40B4-BE49-F238E27FC236}">
                <a16:creationId xmlns:a16="http://schemas.microsoft.com/office/drawing/2014/main" id="{B4AFA1EA-A401-4808-80DC-803FB3B7C4CD}"/>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07 / 20</a:t>
            </a:r>
          </a:p>
        </p:txBody>
      </p:sp>
      <p:graphicFrame>
        <p:nvGraphicFramePr>
          <p:cNvPr id="6" name="">
            <a:extLst xmlns:a="http://schemas.openxmlformats.org/drawingml/2006/main">
              <a:ext uri="{FF2B5EF4-FFF2-40B4-BE49-F238E27FC236}">
                <a16:creationId xmlns:a16="http://schemas.microsoft.com/office/drawing/2014/main" id="{811B4F30-7A53-4D4B-969B-7941D3F8E3AA}"/>
              </a:ext>
            </a:extLst>
          </p:cNvPr>
          <p:cNvGraphicFramePr/>
          <p:nvPr/>
        </p:nvGraphicFramePr>
        <p:xfrm>
          <a:off xmlns:a="http://schemas.openxmlformats.org/drawingml/2006/main" x="609600" y="1971675"/>
          <a:ext xmlns:a="http://schemas.openxmlformats.org/drawingml/2006/main" cx="10972800" cy="3848100"/>
        </p:xfrm>
        <a:graphic xmlns:a="http://schemas.openxmlformats.org/drawingml/2006/main">
          <a:graphicData uri="http://schemas.openxmlformats.org/drawingml/2006/table">
            <a:tbl>
              <a:tblPr/>
              <a:tblGrid>
                <a:gridCol w="2667000"/>
                <a:gridCol w="4152900"/>
                <a:gridCol w="4152900"/>
              </a:tblGrid>
              <a:tr h="533400">
                <a:tc>
                  <a:txBody>
                    <a:bodyPr lIns="133350" tIns="133350" rIns="133350" bIns="133350"/>
                    <a:lstStyle/>
                    <a:p>
                      <a:pPr>
                        <a:lnSpc>
                          <a:spcPct val="110000"/>
                        </a:lnSpc>
                        <a:buNone/>
                      </a:pPr>
                      <a:r>
                        <a:rPr sz="1875" b="1">
                          <a:solidFill>
                            <a:srgbClr val="FFFFFF"/>
                          </a:solidFill>
                          <a:latin typeface="DejaVu Sans"/>
                          <a:ea typeface="DejaVu Sans"/>
                          <a:cs typeface="DejaVu Sans"/>
                        </a:rPr>
                        <a:t>Proceso</a:t>
                      </a:r>
                    </a:p>
                  </a:txBody>
                  <a:tcPr marL="91440" marR="91440" marT="45720" marB="45720" anchor="ctr">
                    <a:lnL w="9525">
                      <a:solidFill>
                        <a:srgbClr val="D8E3E7"/>
                      </a:solidFill>
                      <a:prstDash val="solid"/>
                    </a:lnL>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75" b="1">
                          <a:solidFill>
                            <a:srgbClr val="FFFFFF"/>
                          </a:solidFill>
                          <a:latin typeface="DejaVu Sans"/>
                          <a:ea typeface="DejaVu Sans"/>
                          <a:cs typeface="DejaVu Sans"/>
                        </a:rPr>
                        <a:t>Bacterias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75" b="1">
                          <a:solidFill>
                            <a:srgbClr val="FFFFFF"/>
                          </a:solidFill>
                          <a:latin typeface="DejaVu Sans"/>
                          <a:ea typeface="DejaVu Sans"/>
                          <a:cs typeface="DejaVu Sans"/>
                        </a:rPr>
                        <a:t>Arqueas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r>
              <a:tr h="828675">
                <a:tc>
                  <a:txBody>
                    <a:bodyPr lIns="133350" tIns="133350" rIns="133350" bIns="133350"/>
                    <a:lstStyle/>
                    <a:p>
                      <a:pPr>
                        <a:lnSpc>
                          <a:spcPct val="110000"/>
                        </a:lnSpc>
                        <a:buNone/>
                      </a:pPr>
                      <a:r>
                        <a:rPr sz="1875" b="1">
                          <a:solidFill>
                            <a:srgbClr val="173746"/>
                          </a:solidFill>
                          <a:latin typeface="DejaVu Sans"/>
                          <a:ea typeface="DejaVu Sans"/>
                          <a:cs typeface="DejaVu Sans"/>
                        </a:rPr>
                        <a:t>Carbono</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CO₂ o carbono orgánico</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CO₂ o carbono orgánico</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28675">
                <a:tc>
                  <a:txBody>
                    <a:bodyPr lIns="133350" tIns="133350" rIns="133350" bIns="133350"/>
                    <a:lstStyle/>
                    <a:p>
                      <a:pPr>
                        <a:lnSpc>
                          <a:spcPct val="110000"/>
                        </a:lnSpc>
                        <a:buNone/>
                      </a:pPr>
                      <a:r>
                        <a:rPr sz="1875" b="1">
                          <a:solidFill>
                            <a:srgbClr val="173746"/>
                          </a:solidFill>
                          <a:latin typeface="DejaVu Sans"/>
                          <a:ea typeface="DejaVu Sans"/>
                          <a:cs typeface="DejaVu Sans"/>
                        </a:rPr>
                        <a:t>Energía</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Luz o reacciones químicas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Química; algunas captan luz</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28675">
                <a:tc>
                  <a:txBody>
                    <a:bodyPr lIns="133350" tIns="133350" rIns="133350" bIns="133350"/>
                    <a:lstStyle/>
                    <a:p>
                      <a:pPr>
                        <a:lnSpc>
                          <a:spcPct val="110000"/>
                        </a:lnSpc>
                        <a:buNone/>
                      </a:pPr>
                      <a:r>
                        <a:rPr sz="1875" b="1">
                          <a:solidFill>
                            <a:srgbClr val="173746"/>
                          </a:solidFill>
                          <a:latin typeface="DejaVu Sans"/>
                          <a:ea typeface="DejaVu Sans"/>
                          <a:cs typeface="DejaVu Sans"/>
                        </a:rPr>
                        <a:t>Relación con O₂</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Hay aerobias y anaerobias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Hay aerobias y anaerobias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28675">
                <a:tc>
                  <a:txBody>
                    <a:bodyPr lIns="133350" tIns="133350" rIns="133350" bIns="133350"/>
                    <a:lstStyle/>
                    <a:p>
                      <a:pPr>
                        <a:lnSpc>
                          <a:spcPct val="110000"/>
                        </a:lnSpc>
                        <a:buNone/>
                      </a:pPr>
                      <a:r>
                        <a:rPr sz="1875" b="1">
                          <a:solidFill>
                            <a:srgbClr val="173746"/>
                          </a:solidFill>
                          <a:latin typeface="DejaVu Sans"/>
                          <a:ea typeface="DejaVu Sans"/>
                          <a:cs typeface="DejaVu Sans"/>
                        </a:rPr>
                        <a:t>Consorcio</a:t>
                      </a:r>
                    </a:p>
                    <a:p>
                      <a:pPr>
                        <a:lnSpc>
                          <a:spcPct val="110000"/>
                        </a:lnSpc>
                        <a:buNone/>
                      </a:pPr>
                      <a:r>
                        <a:rPr sz="1875" b="1">
                          <a:solidFill>
                            <a:srgbClr val="173746"/>
                          </a:solidFill>
                          <a:latin typeface="DejaVu Sans"/>
                          <a:ea typeface="DejaVu Sans"/>
                          <a:cs typeface="DejaVu Sans"/>
                        </a:rPr>
                        <a:t>productor de CH₄</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Pueden aportar sustratos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75" b="0">
                          <a:solidFill>
                            <a:srgbClr val="173746"/>
                          </a:solidFill>
                          <a:latin typeface="DejaVu Sans"/>
                          <a:ea typeface="DejaVu Sans"/>
                          <a:cs typeface="DejaVu Sans"/>
                        </a:rPr>
                        <a:t>Algunas hacen metanogénesis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bl>
          </a:graphicData>
        </a:graphic>
      </p:graphicFrame>
    </p:spTree>
    <p:extLst>
      <p:ext uri="{BB962C8B-B14F-4D97-AF65-F5344CB8AC3E}">
        <p14:creationId xmlns:p14="http://schemas.microsoft.com/office/powerpoint/2010/main" val="11961119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F9EED04E-B2BD-4F68-8B7B-47F289B0F50B}"/>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División celular e intercambio de ADN</a:t>
            </a:r>
          </a:p>
        </p:txBody>
      </p:sp>
      <p:sp>
        <p:nvSpPr>
          <p:cNvPr id="2" name="text-2">
            <a:extLst xmlns:a="http://schemas.openxmlformats.org/drawingml/2006/main">
              <a:ext uri="{FF2B5EF4-FFF2-40B4-BE49-F238E27FC236}">
                <a16:creationId xmlns:a16="http://schemas.microsoft.com/office/drawing/2014/main" id="{6B7AE7CB-CB38-4C22-B800-898770D7D199}"/>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Crecer y cambiar información genética son procesos diferentes.</a:t>
            </a:r>
          </a:p>
        </p:txBody>
      </p:sp>
      <p:sp>
        <p:nvSpPr>
          <p:cNvPr id="3" name="path-3">
            <a:extLst xmlns:a="http://schemas.openxmlformats.org/drawingml/2006/main">
              <a:ext uri="{FF2B5EF4-FFF2-40B4-BE49-F238E27FC236}">
                <a16:creationId xmlns:a16="http://schemas.microsoft.com/office/drawing/2014/main" id="{22DFF9F2-C039-4878-9693-6F75A31D1049}"/>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F05BC650-5502-4719-947E-AEB126AC7DFA}"/>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[6]. Esquemas originales.</a:t>
            </a:r>
          </a:p>
        </p:txBody>
      </p:sp>
      <p:sp>
        <p:nvSpPr>
          <p:cNvPr id="5" name="text-5">
            <a:extLst xmlns:a="http://schemas.openxmlformats.org/drawingml/2006/main">
              <a:ext uri="{FF2B5EF4-FFF2-40B4-BE49-F238E27FC236}">
                <a16:creationId xmlns:a16="http://schemas.microsoft.com/office/drawing/2014/main" id="{2C814C5D-B4F9-44A7-9833-B58B81E2CB6E}"/>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08 / 20</a:t>
            </a:r>
          </a:p>
        </p:txBody>
      </p:sp>
      <p:pic>
        <p:nvPicPr>
          <p:cNvPr id="6" name="">
            <a:extLst xmlns:a="http://schemas.openxmlformats.org/drawingml/2006/main">
              <a:ext uri="{FF2B5EF4-FFF2-40B4-BE49-F238E27FC236}">
                <a16:creationId xmlns:a16="http://schemas.microsoft.com/office/drawing/2014/main" id="{81334789-C632-4342-98B5-574EDD884E1F}"/>
              </a:ext>
            </a:extLst>
          </p:cNvPr>
          <p:cNvPicPr>
            <a:picLocks xmlns:a="http://schemas.openxmlformats.org/drawingml/2006/main" noChangeAspect="1"/>
          </p:cNvPicPr>
          <p:nvPr/>
        </p:nvPicPr>
        <p:blipFill>
          <a:blip xmlns:r="http://schemas.openxmlformats.org/officeDocument/2006/relationships" xmlns:a="http://schemas.openxmlformats.org/drawingml/2006/main" r:embed="R1f9ba2b97eb34c20"/>
          <a:stretch xmlns:a="http://schemas.openxmlformats.org/drawingml/2006/main"/>
        </p:blipFill>
        <p:spPr>
          <a:xfrm xmlns:a="http://schemas.openxmlformats.org/drawingml/2006/main">
            <a:off x="2414957" y="1790700"/>
            <a:ext cx="7362086" cy="414337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7880B872-5499-4317-A0D9-F3CECCDBA5C9}"/>
              </a:ext>
            </a:extLst>
          </p:cNvPr>
          <p:cNvSpPr>
            <a:spLocks xmlns:a="http://schemas.openxmlformats.org/drawingml/2006/main" noGrp="1"/>
          </p:cNvSpPr>
          <p:nvPr/>
        </p:nvSpPr>
        <p:spPr>
          <a:xfrm xmlns:a="http://schemas.openxmlformats.org/drawingml/2006/main">
            <a:off x="628650" y="17335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168D91"/>
                </a:solidFill>
                <a:latin typeface="DejaVu Sans"/>
                <a:ea typeface="DejaVu Sans"/>
                <a:cs typeface="DejaVu Sans"/>
              </a:defRPr>
            </a:defPPr>
          </a:lstStyle>
          <a:p xmlns:a="http://schemas.openxmlformats.org/drawingml/2006/main">
            <a:pPr algn="l">
              <a:lnSpc>
                <a:spcPct val="113000"/>
              </a:lnSpc>
              <a:buNone/>
              <a:defRPr sz="2100" b="1" i="0">
                <a:solidFill>
                  <a:srgbClr val="168D91"/>
                </a:solidFill>
                <a:latin typeface="DejaVu Sans"/>
                <a:ea typeface="DejaVu Sans"/>
                <a:cs typeface="DejaVu Sans"/>
              </a:defRPr>
            </a:pPr>
            <a:r>
              <a:rPr sz="2100" b="1" i="0">
                <a:solidFill>
                  <a:srgbClr val="168D91"/>
                </a:solidFill>
                <a:latin typeface="DejaVu Sans"/>
                <a:ea typeface="DejaVu Sans"/>
                <a:cs typeface="DejaVu Sans"/>
              </a:rPr>
              <a:t>División celular</a:t>
            </a:r>
          </a:p>
        </p:txBody>
      </p:sp>
      <p:sp>
        <p:nvSpPr>
          <p:cNvPr id="8" name="text-7">
            <a:extLst xmlns:a="http://schemas.openxmlformats.org/drawingml/2006/main">
              <a:ext uri="{FF2B5EF4-FFF2-40B4-BE49-F238E27FC236}">
                <a16:creationId xmlns:a16="http://schemas.microsoft.com/office/drawing/2014/main" id="{C9C56D52-3E7A-4B04-BCD2-D9A97ADAB99B}"/>
              </a:ext>
            </a:extLst>
          </p:cNvPr>
          <p:cNvSpPr>
            <a:spLocks xmlns:a="http://schemas.openxmlformats.org/drawingml/2006/main" noGrp="1"/>
          </p:cNvSpPr>
          <p:nvPr/>
        </p:nvSpPr>
        <p:spPr>
          <a:xfrm xmlns:a="http://schemas.openxmlformats.org/drawingml/2006/main">
            <a:off x="4191000" y="368617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607781"/>
                </a:solidFill>
                <a:latin typeface="DejaVu Sans"/>
                <a:ea typeface="DejaVu Sans"/>
                <a:cs typeface="DejaVu Sans"/>
              </a:defRPr>
            </a:defPPr>
          </a:lstStyle>
          <a:p xmlns:a="http://schemas.openxmlformats.org/drawingml/2006/main">
            <a:pPr algn="ctr">
              <a:lnSpc>
                <a:spcPct val="113000"/>
              </a:lnSpc>
              <a:buNone/>
              <a:defRPr sz="1725" b="0" i="0">
                <a:solidFill>
                  <a:srgbClr val="607781"/>
                </a:solidFill>
                <a:latin typeface="DejaVu Sans"/>
                <a:ea typeface="DejaVu Sans"/>
                <a:cs typeface="DejaVu Sans"/>
              </a:defRPr>
            </a:pPr>
            <a:r>
              <a:rPr sz="1725" b="0" i="0">
                <a:solidFill>
                  <a:srgbClr val="607781"/>
                </a:solidFill>
                <a:latin typeface="DejaVu Sans"/>
                <a:ea typeface="DejaVu Sans"/>
                <a:cs typeface="DejaVu Sans"/>
              </a:rPr>
              <a:t>Copia del ADN y separación</a:t>
            </a:r>
          </a:p>
        </p:txBody>
      </p:sp>
      <p:sp>
        <p:nvSpPr>
          <p:cNvPr id="9" name="text-8">
            <a:extLst xmlns:a="http://schemas.openxmlformats.org/drawingml/2006/main">
              <a:ext uri="{FF2B5EF4-FFF2-40B4-BE49-F238E27FC236}">
                <a16:creationId xmlns:a16="http://schemas.microsoft.com/office/drawing/2014/main" id="{8A4F1E39-D0C2-49E3-9DBC-203ABE6696B3}"/>
              </a:ext>
            </a:extLst>
          </p:cNvPr>
          <p:cNvSpPr>
            <a:spLocks xmlns:a="http://schemas.openxmlformats.org/drawingml/2006/main" noGrp="1"/>
          </p:cNvSpPr>
          <p:nvPr/>
        </p:nvSpPr>
        <p:spPr>
          <a:xfrm xmlns:a="http://schemas.openxmlformats.org/drawingml/2006/main">
            <a:off x="628650" y="436245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8A64B4"/>
                </a:solidFill>
                <a:latin typeface="DejaVu Sans"/>
                <a:ea typeface="DejaVu Sans"/>
                <a:cs typeface="DejaVu Sans"/>
              </a:defRPr>
            </a:defPPr>
          </a:lstStyle>
          <a:p xmlns:a="http://schemas.openxmlformats.org/drawingml/2006/main">
            <a:pPr algn="l">
              <a:lnSpc>
                <a:spcPct val="113000"/>
              </a:lnSpc>
              <a:buNone/>
              <a:defRPr sz="1950" b="1" i="0">
                <a:solidFill>
                  <a:srgbClr val="8A64B4"/>
                </a:solidFill>
                <a:latin typeface="DejaVu Sans"/>
                <a:ea typeface="DejaVu Sans"/>
                <a:cs typeface="DejaVu Sans"/>
              </a:defRPr>
            </a:pPr>
            <a:r>
              <a:rPr sz="1950" b="1" i="0">
                <a:solidFill>
                  <a:srgbClr val="8A64B4"/>
                </a:solidFill>
                <a:latin typeface="DejaVu Sans"/>
                <a:ea typeface="DejaVu Sans"/>
                <a:cs typeface="DejaVu Sans"/>
              </a:rPr>
              <a:t>Transferencia</a:t>
            </a:r>
          </a:p>
          <a:p xmlns:a="http://schemas.openxmlformats.org/drawingml/2006/main">
            <a:pPr algn="l">
              <a:lnSpc>
                <a:spcPct val="113000"/>
              </a:lnSpc>
              <a:buNone/>
              <a:defRPr sz="1950" b="1" i="0">
                <a:solidFill>
                  <a:srgbClr val="8A64B4"/>
                </a:solidFill>
                <a:latin typeface="DejaVu Sans"/>
                <a:ea typeface="DejaVu Sans"/>
                <a:cs typeface="DejaVu Sans"/>
              </a:defRPr>
            </a:pPr>
            <a:r>
              <a:rPr sz="1950" b="1" i="0">
                <a:solidFill>
                  <a:srgbClr val="8A64B4"/>
                </a:solidFill>
                <a:latin typeface="DejaVu Sans"/>
                <a:ea typeface="DejaVu Sans"/>
                <a:cs typeface="DejaVu Sans"/>
              </a:rPr>
              <a:t>horizontal</a:t>
            </a:r>
          </a:p>
        </p:txBody>
      </p:sp>
      <p:sp>
        <p:nvSpPr>
          <p:cNvPr id="10" name="text-9">
            <a:extLst xmlns:a="http://schemas.openxmlformats.org/drawingml/2006/main">
              <a:ext uri="{FF2B5EF4-FFF2-40B4-BE49-F238E27FC236}">
                <a16:creationId xmlns:a16="http://schemas.microsoft.com/office/drawing/2014/main" id="{BFE7A75B-65D5-4F4D-AF08-B21E470C3036}"/>
              </a:ext>
            </a:extLst>
          </p:cNvPr>
          <p:cNvSpPr>
            <a:spLocks xmlns:a="http://schemas.openxmlformats.org/drawingml/2006/main" noGrp="1"/>
          </p:cNvSpPr>
          <p:nvPr/>
        </p:nvSpPr>
        <p:spPr>
          <a:xfrm xmlns:a="http://schemas.openxmlformats.org/drawingml/2006/main">
            <a:off x="3324225" y="606742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8A64B4"/>
                </a:solidFill>
                <a:latin typeface="DejaVu Sans"/>
                <a:ea typeface="DejaVu Sans"/>
                <a:cs typeface="DejaVu Sans"/>
              </a:defRPr>
            </a:defPPr>
          </a:lstStyle>
          <a:p xmlns:a="http://schemas.openxmlformats.org/drawingml/2006/main">
            <a:pPr algn="ctr">
              <a:lnSpc>
                <a:spcPct val="113000"/>
              </a:lnSpc>
              <a:buNone/>
              <a:defRPr sz="1875" b="0" i="0">
                <a:solidFill>
                  <a:srgbClr val="8A64B4"/>
                </a:solidFill>
                <a:latin typeface="DejaVu Sans"/>
                <a:ea typeface="DejaVu Sans"/>
                <a:cs typeface="DejaVu Sans"/>
              </a:defRPr>
            </a:pPr>
            <a:r>
              <a:rPr sz="1875" b="0" i="0">
                <a:solidFill>
                  <a:srgbClr val="8A64B4"/>
                </a:solidFill>
                <a:latin typeface="DejaVu Sans"/>
                <a:ea typeface="DejaVu Sans"/>
                <a:cs typeface="DejaVu Sans"/>
              </a:rPr>
              <a:t>ADN entre células</a:t>
            </a:r>
          </a:p>
        </p:txBody>
      </p:sp>
    </p:spTree>
    <p:extLst>
      <p:ext uri="{BB962C8B-B14F-4D97-AF65-F5344CB8AC3E}">
        <p14:creationId xmlns:p14="http://schemas.microsoft.com/office/powerpoint/2010/main" val="3233594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091CF069-0A1F-4094-86A7-61D349AF3C68}"/>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Una especie nueva vinculada a Ecuador</a:t>
            </a:r>
          </a:p>
        </p:txBody>
      </p:sp>
      <p:sp>
        <p:nvSpPr>
          <p:cNvPr id="2" name="text-2">
            <a:extLst xmlns:a="http://schemas.openxmlformats.org/drawingml/2006/main">
              <a:ext uri="{FF2B5EF4-FFF2-40B4-BE49-F238E27FC236}">
                <a16:creationId xmlns:a16="http://schemas.microsoft.com/office/drawing/2014/main" id="{3FC5323D-8BE2-4294-9C1F-3EE0AD364504}"/>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Especie: grupo taxonómico. Cepa: aislamiento concreto.</a:t>
            </a:r>
          </a:p>
        </p:txBody>
      </p:sp>
      <p:sp>
        <p:nvSpPr>
          <p:cNvPr id="3" name="path-3">
            <a:extLst xmlns:a="http://schemas.openxmlformats.org/drawingml/2006/main">
              <a:ext uri="{FF2B5EF4-FFF2-40B4-BE49-F238E27FC236}">
                <a16:creationId xmlns:a16="http://schemas.microsoft.com/office/drawing/2014/main" id="{D18FF722-984E-4EDF-A098-37F4A05D9DC6}"/>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D8049513-6929-428C-A328-A1AC88140A26}"/>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[3] [10]. Esquemas originales.</a:t>
            </a:r>
          </a:p>
        </p:txBody>
      </p:sp>
      <p:sp>
        <p:nvSpPr>
          <p:cNvPr id="5" name="text-5">
            <a:extLst xmlns:a="http://schemas.openxmlformats.org/drawingml/2006/main">
              <a:ext uri="{FF2B5EF4-FFF2-40B4-BE49-F238E27FC236}">
                <a16:creationId xmlns:a16="http://schemas.microsoft.com/office/drawing/2014/main" id="{32980747-97B4-401C-8378-B4983ABEC2DF}"/>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09 / 20</a:t>
            </a:r>
          </a:p>
        </p:txBody>
      </p:sp>
      <p:pic>
        <p:nvPicPr>
          <p:cNvPr id="6" name="">
            <a:extLst xmlns:a="http://schemas.openxmlformats.org/drawingml/2006/main">
              <a:ext uri="{FF2B5EF4-FFF2-40B4-BE49-F238E27FC236}">
                <a16:creationId xmlns:a16="http://schemas.microsoft.com/office/drawing/2014/main" id="{43B3B5E9-5885-4EFE-A1AD-4114753A64E9}"/>
              </a:ext>
            </a:extLst>
          </p:cNvPr>
          <p:cNvPicPr>
            <a:picLocks xmlns:a="http://schemas.openxmlformats.org/drawingml/2006/main" noChangeAspect="1"/>
          </p:cNvPicPr>
          <p:nvPr/>
        </p:nvPicPr>
        <p:blipFill>
          <a:blip xmlns:r="http://schemas.openxmlformats.org/officeDocument/2006/relationships" xmlns:a="http://schemas.openxmlformats.org/drawingml/2006/main" r:embed="Rb2b39b4173044093"/>
          <a:srcRect xmlns:a="http://schemas.openxmlformats.org/drawingml/2006/main" l="0" t="0" r="66667" b="50000"/>
          <a:stretch xmlns:a="http://schemas.openxmlformats.org/drawingml/2006/main"/>
        </p:blipFill>
        <p:spPr>
          <a:xfrm xmlns:a="http://schemas.openxmlformats.org/drawingml/2006/main">
            <a:off x="609600" y="1781175"/>
            <a:ext cx="5905500" cy="404812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2798CE5E-EF2A-49B3-A22E-16EE704D4BF8}"/>
              </a:ext>
            </a:extLst>
          </p:cNvPr>
          <p:cNvSpPr>
            <a:spLocks xmlns:a="http://schemas.openxmlformats.org/drawingml/2006/main" noGrp="1"/>
          </p:cNvSpPr>
          <p:nvPr/>
        </p:nvSpPr>
        <p:spPr>
          <a:xfrm xmlns:a="http://schemas.openxmlformats.org/drawingml/2006/main">
            <a:off x="6972300" y="18288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1">
                <a:solidFill>
                  <a:srgbClr val="168D91"/>
                </a:solidFill>
                <a:latin typeface="DejaVu Sans"/>
                <a:ea typeface="DejaVu Sans"/>
                <a:cs typeface="DejaVu Sans"/>
              </a:defRPr>
            </a:defPPr>
          </a:lstStyle>
          <a:p xmlns:a="http://schemas.openxmlformats.org/drawingml/2006/main">
            <a:pPr algn="l">
              <a:lnSpc>
                <a:spcPct val="113000"/>
              </a:lnSpc>
              <a:buNone/>
              <a:defRPr sz="2325" b="1" i="1">
                <a:solidFill>
                  <a:srgbClr val="168D91"/>
                </a:solidFill>
                <a:latin typeface="DejaVu Sans"/>
                <a:ea typeface="DejaVu Sans"/>
                <a:cs typeface="DejaVu Sans"/>
              </a:defRPr>
            </a:pPr>
            <a:r>
              <a:rPr sz="2325" b="1" i="1">
                <a:solidFill>
                  <a:srgbClr val="168D91"/>
                </a:solidFill>
                <a:latin typeface="DejaVu Sans"/>
                <a:ea typeface="DejaVu Sans"/>
                <a:cs typeface="DejaVu Sans"/>
              </a:rPr>
              <a:t>Agrobacterium</a:t>
            </a:r>
          </a:p>
          <a:p xmlns:a="http://schemas.openxmlformats.org/drawingml/2006/main">
            <a:pPr algn="l">
              <a:lnSpc>
                <a:spcPct val="113000"/>
              </a:lnSpc>
              <a:buNone/>
              <a:defRPr sz="2325" b="1" i="1">
                <a:solidFill>
                  <a:srgbClr val="168D91"/>
                </a:solidFill>
                <a:latin typeface="DejaVu Sans"/>
                <a:ea typeface="DejaVu Sans"/>
                <a:cs typeface="DejaVu Sans"/>
              </a:defRPr>
            </a:pPr>
            <a:r>
              <a:rPr sz="2325" b="1" i="1">
                <a:solidFill>
                  <a:srgbClr val="168D91"/>
                </a:solidFill>
                <a:latin typeface="DejaVu Sans"/>
                <a:ea typeface="DejaVu Sans"/>
                <a:cs typeface="DejaVu Sans"/>
              </a:rPr>
              <a:t>fabacearum</a:t>
            </a:r>
          </a:p>
        </p:txBody>
      </p:sp>
      <p:sp>
        <p:nvSpPr>
          <p:cNvPr id="8" name="text-7">
            <a:extLst xmlns:a="http://schemas.openxmlformats.org/drawingml/2006/main">
              <a:ext uri="{FF2B5EF4-FFF2-40B4-BE49-F238E27FC236}">
                <a16:creationId xmlns:a16="http://schemas.microsoft.com/office/drawing/2014/main" id="{B43CFA8C-553D-4DD7-8A5C-841B53020D72}"/>
              </a:ext>
            </a:extLst>
          </p:cNvPr>
          <p:cNvSpPr>
            <a:spLocks xmlns:a="http://schemas.openxmlformats.org/drawingml/2006/main" noGrp="1"/>
          </p:cNvSpPr>
          <p:nvPr/>
        </p:nvSpPr>
        <p:spPr>
          <a:xfrm xmlns:a="http://schemas.openxmlformats.org/drawingml/2006/main">
            <a:off x="6991350" y="2876550"/>
            <a:ext cx="438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i="0">
                <a:solidFill>
                  <a:srgbClr val="168D91"/>
                </a:solidFill>
                <a:latin typeface="DejaVu Sans"/>
                <a:ea typeface="DejaVu Sans"/>
                <a:cs typeface="DejaVu Sans"/>
              </a:defRPr>
            </a:defPPr>
          </a:lstStyle>
          <a:p xmlns:a="http://schemas.openxmlformats.org/drawingml/2006/main">
            <a:pPr algn="l">
              <a:lnSpc>
                <a:spcPct val="113000"/>
              </a:lnSpc>
              <a:buNone/>
              <a:defRPr sz="2475" b="1" i="0">
                <a:solidFill>
                  <a:srgbClr val="168D91"/>
                </a:solidFill>
                <a:latin typeface="DejaVu Sans"/>
                <a:ea typeface="DejaVu Sans"/>
                <a:cs typeface="DejaVu Sans"/>
              </a:defRPr>
            </a:pPr>
            <a:r>
              <a:rPr sz="2475" b="1" i="0">
                <a:solidFill>
                  <a:srgbClr val="168D91"/>
                </a:solidFill>
                <a:latin typeface="DejaVu Sans"/>
                <a:ea typeface="DejaVu Sans"/>
                <a:cs typeface="DejaVu Sans"/>
              </a:rPr>
              <a:t>CNPSo 675ᵀ</a:t>
            </a:r>
          </a:p>
        </p:txBody>
      </p:sp>
      <p:sp>
        <p:nvSpPr>
          <p:cNvPr id="9" name="text-8">
            <a:extLst xmlns:a="http://schemas.openxmlformats.org/drawingml/2006/main">
              <a:ext uri="{FF2B5EF4-FFF2-40B4-BE49-F238E27FC236}">
                <a16:creationId xmlns:a16="http://schemas.microsoft.com/office/drawing/2014/main" id="{5D77A6FC-7CD3-49C8-B709-F2B8822BE5E0}"/>
              </a:ext>
            </a:extLst>
          </p:cNvPr>
          <p:cNvSpPr>
            <a:spLocks xmlns:a="http://schemas.openxmlformats.org/drawingml/2006/main" noGrp="1"/>
          </p:cNvSpPr>
          <p:nvPr/>
        </p:nvSpPr>
        <p:spPr>
          <a:xfrm xmlns:a="http://schemas.openxmlformats.org/drawingml/2006/main">
            <a:off x="6991350" y="3533775"/>
            <a:ext cx="4429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i="0">
                <a:solidFill>
                  <a:srgbClr val="607781"/>
                </a:solidFill>
                <a:latin typeface="DejaVu Sans"/>
                <a:ea typeface="DejaVu Sans"/>
                <a:cs typeface="DejaVu Sans"/>
              </a:defRPr>
            </a:defPPr>
          </a:lstStyle>
          <a:p xmlns:a="http://schemas.openxmlformats.org/drawingml/2006/main">
            <a:pPr algn="l">
              <a:lnSpc>
                <a:spcPct val="113000"/>
              </a:lnSpc>
              <a:buNone/>
              <a:defRPr sz="1950" b="0" i="0">
                <a:solidFill>
                  <a:srgbClr val="607781"/>
                </a:solidFill>
                <a:latin typeface="DejaVu Sans"/>
                <a:ea typeface="DejaVu Sans"/>
                <a:cs typeface="DejaVu Sans"/>
              </a:defRPr>
            </a:pPr>
            <a:r>
              <a:rPr sz="1950" b="0" i="0">
                <a:solidFill>
                  <a:srgbClr val="607781"/>
                </a:solidFill>
                <a:latin typeface="DejaVu Sans"/>
                <a:ea typeface="DejaVu Sans"/>
                <a:cs typeface="DejaVu Sans"/>
              </a:rPr>
              <a:t>Pallatanga, Chimborazo</a:t>
            </a:r>
          </a:p>
          <a:p xmlns:a="http://schemas.openxmlformats.org/drawingml/2006/main">
            <a:pPr algn="l">
              <a:lnSpc>
                <a:spcPct val="113000"/>
              </a:lnSpc>
              <a:buNone/>
              <a:defRPr sz="1950" b="0" i="0">
                <a:solidFill>
                  <a:srgbClr val="607781"/>
                </a:solidFill>
                <a:latin typeface="DejaVu Sans"/>
                <a:ea typeface="DejaVu Sans"/>
                <a:cs typeface="DejaVu Sans"/>
              </a:defRPr>
            </a:pPr>
            <a:r>
              <a:rPr sz="1950" b="0" i="0">
                <a:solidFill>
                  <a:srgbClr val="607781"/>
                </a:solidFill>
                <a:latin typeface="DejaVu Sans"/>
                <a:ea typeface="DejaVu Sans"/>
                <a:cs typeface="DejaVu Sans"/>
              </a:rPr>
              <a:t>Descripción: 2020</a:t>
            </a:r>
          </a:p>
        </p:txBody>
      </p:sp>
      <p:sp>
        <p:nvSpPr>
          <p:cNvPr id="10" name="text-9">
            <a:extLst xmlns:a="http://schemas.openxmlformats.org/drawingml/2006/main">
              <a:ext uri="{FF2B5EF4-FFF2-40B4-BE49-F238E27FC236}">
                <a16:creationId xmlns:a16="http://schemas.microsoft.com/office/drawing/2014/main" id="{F45C7245-F860-4A55-815C-EF807420BDAD}"/>
              </a:ext>
            </a:extLst>
          </p:cNvPr>
          <p:cNvSpPr>
            <a:spLocks xmlns:a="http://schemas.openxmlformats.org/drawingml/2006/main" noGrp="1"/>
          </p:cNvSpPr>
          <p:nvPr/>
        </p:nvSpPr>
        <p:spPr>
          <a:xfrm xmlns:a="http://schemas.openxmlformats.org/drawingml/2006/main">
            <a:off x="6991350" y="4581525"/>
            <a:ext cx="44291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173746"/>
                </a:solidFill>
                <a:latin typeface="DejaVu Sans"/>
                <a:ea typeface="DejaVu Sans"/>
                <a:cs typeface="DejaVu Sans"/>
              </a:defRPr>
            </a:defPPr>
          </a:lstStyle>
          <a:p xmlns:a="http://schemas.openxmlformats.org/drawingml/2006/main">
            <a:pPr algn="l">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Genomas y rasgos sustentan</a:t>
            </a:r>
          </a:p>
          <a:p xmlns:a="http://schemas.openxmlformats.org/drawingml/2006/main">
            <a:pPr algn="l">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la especie nueva.</a:t>
            </a:r>
          </a:p>
        </p:txBody>
      </p:sp>
      <p:sp>
        <p:nvSpPr>
          <p:cNvPr id="11" name="text-10">
            <a:extLst xmlns:a="http://schemas.openxmlformats.org/drawingml/2006/main">
              <a:ext uri="{FF2B5EF4-FFF2-40B4-BE49-F238E27FC236}">
                <a16:creationId xmlns:a16="http://schemas.microsoft.com/office/drawing/2014/main" id="{829CBA0D-F169-46A8-8CAB-AF835D1961DA}"/>
              </a:ext>
            </a:extLst>
          </p:cNvPr>
          <p:cNvSpPr>
            <a:spLocks xmlns:a="http://schemas.openxmlformats.org/drawingml/2006/main" noGrp="1"/>
          </p:cNvSpPr>
          <p:nvPr/>
        </p:nvSpPr>
        <p:spPr>
          <a:xfrm xmlns:a="http://schemas.openxmlformats.org/drawingml/2006/main">
            <a:off x="609600" y="60388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173746"/>
                </a:solidFill>
                <a:latin typeface="DejaVu Sans"/>
                <a:ea typeface="DejaVu Sans"/>
                <a:cs typeface="DejaVu Sans"/>
              </a:defRPr>
            </a:defPPr>
          </a:lstStyle>
          <a:p xmlns:a="http://schemas.openxmlformats.org/drawingml/2006/main">
            <a:pPr algn="ctr">
              <a:lnSpc>
                <a:spcPct val="113000"/>
              </a:lnSpc>
              <a:buNone/>
              <a:defRPr sz="1875" b="1" i="0">
                <a:solidFill>
                  <a:srgbClr val="173746"/>
                </a:solidFill>
                <a:latin typeface="DejaVu Sans"/>
                <a:ea typeface="DejaVu Sans"/>
                <a:cs typeface="DejaVu Sans"/>
              </a:defRPr>
            </a:pPr>
            <a:r>
              <a:rPr sz="1875" b="1" i="0">
                <a:solidFill>
                  <a:srgbClr val="173746"/>
                </a:solidFill>
                <a:latin typeface="DejaVu Sans"/>
                <a:ea typeface="DejaVu Sans"/>
                <a:cs typeface="DejaVu Sans"/>
              </a:rPr>
              <a:t>La función agrícola de esta cepa todavía necesita comprobarse.</a:t>
            </a:r>
          </a:p>
        </p:txBody>
      </p:sp>
    </p:spTree>
    <p:extLst>
      <p:ext uri="{BB962C8B-B14F-4D97-AF65-F5344CB8AC3E}">
        <p14:creationId xmlns:p14="http://schemas.microsoft.com/office/powerpoint/2010/main" val="14029296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C926378D-8FE8-434F-9957-912DE5492921}"/>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Cepas nativas y nodulación del fréjol</a:t>
            </a:r>
          </a:p>
        </p:txBody>
      </p:sp>
      <p:sp>
        <p:nvSpPr>
          <p:cNvPr id="2" name="text-2">
            <a:extLst xmlns:a="http://schemas.openxmlformats.org/drawingml/2006/main">
              <a:ext uri="{FF2B5EF4-FFF2-40B4-BE49-F238E27FC236}">
                <a16:creationId xmlns:a16="http://schemas.microsoft.com/office/drawing/2014/main" id="{F79F457F-AC13-4B71-A604-6C4BBF603264}"/>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Rhizobium: diversidad y ensayo en invernadero (2026).</a:t>
            </a:r>
          </a:p>
        </p:txBody>
      </p:sp>
      <p:sp>
        <p:nvSpPr>
          <p:cNvPr id="3" name="path-3">
            <a:extLst xmlns:a="http://schemas.openxmlformats.org/drawingml/2006/main">
              <a:ext uri="{FF2B5EF4-FFF2-40B4-BE49-F238E27FC236}">
                <a16:creationId xmlns:a16="http://schemas.microsoft.com/office/drawing/2014/main" id="{F578FDED-3F86-4724-8B92-66939320EECB}"/>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9230ED17-707C-4290-B715-E8544600CEF8}"/>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[4]. Esquemas originales.</a:t>
            </a:r>
          </a:p>
        </p:txBody>
      </p:sp>
      <p:sp>
        <p:nvSpPr>
          <p:cNvPr id="5" name="text-5">
            <a:extLst xmlns:a="http://schemas.openxmlformats.org/drawingml/2006/main">
              <a:ext uri="{FF2B5EF4-FFF2-40B4-BE49-F238E27FC236}">
                <a16:creationId xmlns:a16="http://schemas.microsoft.com/office/drawing/2014/main" id="{1E8DFE93-5BDF-4049-960B-E2453A49ABD3}"/>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10 / 20</a:t>
            </a:r>
          </a:p>
        </p:txBody>
      </p:sp>
      <p:pic>
        <p:nvPicPr>
          <p:cNvPr id="6" name="">
            <a:extLst xmlns:a="http://schemas.openxmlformats.org/drawingml/2006/main">
              <a:ext uri="{FF2B5EF4-FFF2-40B4-BE49-F238E27FC236}">
                <a16:creationId xmlns:a16="http://schemas.microsoft.com/office/drawing/2014/main" id="{BCFEE2B8-E285-4D7F-B173-BD2A9D3AAB5B}"/>
              </a:ext>
            </a:extLst>
          </p:cNvPr>
          <p:cNvPicPr>
            <a:picLocks xmlns:a="http://schemas.openxmlformats.org/drawingml/2006/main" noChangeAspect="1"/>
          </p:cNvPicPr>
          <p:nvPr/>
        </p:nvPicPr>
        <p:blipFill>
          <a:blip xmlns:r="http://schemas.openxmlformats.org/officeDocument/2006/relationships" xmlns:a="http://schemas.openxmlformats.org/drawingml/2006/main" r:embed="R95c05257e1dc4417"/>
          <a:srcRect xmlns:a="http://schemas.openxmlformats.org/drawingml/2006/main" l="33333" t="0" r="33333" b="50000"/>
          <a:stretch xmlns:a="http://schemas.openxmlformats.org/drawingml/2006/main"/>
        </p:blipFill>
        <p:spPr>
          <a:xfrm xmlns:a="http://schemas.openxmlformats.org/drawingml/2006/main">
            <a:off x="4143375" y="1752600"/>
            <a:ext cx="7239000" cy="401002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51CB7697-40CC-4935-95AC-BC2117C19C20}"/>
              </a:ext>
            </a:extLst>
          </p:cNvPr>
          <p:cNvSpPr>
            <a:spLocks xmlns:a="http://schemas.openxmlformats.org/drawingml/2006/main" noGrp="1"/>
          </p:cNvSpPr>
          <p:nvPr/>
        </p:nvSpPr>
        <p:spPr>
          <a:xfrm xmlns:a="http://schemas.openxmlformats.org/drawingml/2006/main">
            <a:off x="685800" y="1809750"/>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5700" b="1" i="0">
                <a:solidFill>
                  <a:srgbClr val="168D91"/>
                </a:solidFill>
                <a:latin typeface="DejaVu Sans"/>
                <a:ea typeface="DejaVu Sans"/>
                <a:cs typeface="DejaVu Sans"/>
              </a:defRPr>
            </a:defPPr>
          </a:lstStyle>
          <a:p xmlns:a="http://schemas.openxmlformats.org/drawingml/2006/main">
            <a:pPr algn="l">
              <a:lnSpc>
                <a:spcPct val="113000"/>
              </a:lnSpc>
              <a:buNone/>
              <a:defRPr sz="5700" b="1" i="0">
                <a:solidFill>
                  <a:srgbClr val="168D91"/>
                </a:solidFill>
                <a:latin typeface="DejaVu Sans"/>
                <a:ea typeface="DejaVu Sans"/>
                <a:cs typeface="DejaVu Sans"/>
              </a:defRPr>
            </a:pPr>
            <a:r>
              <a:rPr sz="5700" b="1" i="0">
                <a:solidFill>
                  <a:srgbClr val="168D91"/>
                </a:solidFill>
                <a:latin typeface="DejaVu Sans"/>
                <a:ea typeface="DejaVu Sans"/>
                <a:cs typeface="DejaVu Sans"/>
              </a:rPr>
              <a:t>46</a:t>
            </a:r>
          </a:p>
        </p:txBody>
      </p:sp>
      <p:sp>
        <p:nvSpPr>
          <p:cNvPr id="8" name="text-7">
            <a:extLst xmlns:a="http://schemas.openxmlformats.org/drawingml/2006/main">
              <a:ext uri="{FF2B5EF4-FFF2-40B4-BE49-F238E27FC236}">
                <a16:creationId xmlns:a16="http://schemas.microsoft.com/office/drawing/2014/main" id="{7384364E-4876-4D65-B24F-50B1049B41E6}"/>
              </a:ext>
            </a:extLst>
          </p:cNvPr>
          <p:cNvSpPr>
            <a:spLocks xmlns:a="http://schemas.openxmlformats.org/drawingml/2006/main" noGrp="1"/>
          </p:cNvSpPr>
          <p:nvPr/>
        </p:nvSpPr>
        <p:spPr>
          <a:xfrm xmlns:a="http://schemas.openxmlformats.org/drawingml/2006/main">
            <a:off x="704850" y="27146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173746"/>
                </a:solidFill>
                <a:latin typeface="DejaVu Sans"/>
                <a:ea typeface="DejaVu Sans"/>
                <a:cs typeface="DejaVu Sans"/>
              </a:defRPr>
            </a:defPPr>
          </a:lstStyle>
          <a:p xmlns:a="http://schemas.openxmlformats.org/drawingml/2006/main">
            <a:pPr algn="l">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cepas nativas</a:t>
            </a:r>
          </a:p>
        </p:txBody>
      </p:sp>
      <p:sp>
        <p:nvSpPr>
          <p:cNvPr id="9" name="text-8">
            <a:extLst xmlns:a="http://schemas.openxmlformats.org/drawingml/2006/main">
              <a:ext uri="{FF2B5EF4-FFF2-40B4-BE49-F238E27FC236}">
                <a16:creationId xmlns:a16="http://schemas.microsoft.com/office/drawing/2014/main" id="{727013C4-8854-4D8D-84A9-DD9631CAD1C8}"/>
              </a:ext>
            </a:extLst>
          </p:cNvPr>
          <p:cNvSpPr>
            <a:spLocks xmlns:a="http://schemas.openxmlformats.org/drawingml/2006/main" noGrp="1"/>
          </p:cNvSpPr>
          <p:nvPr/>
        </p:nvSpPr>
        <p:spPr>
          <a:xfrm xmlns:a="http://schemas.openxmlformats.org/drawingml/2006/main">
            <a:off x="704850" y="3314700"/>
            <a:ext cx="333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i="0">
                <a:solidFill>
                  <a:srgbClr val="607781"/>
                </a:solidFill>
                <a:latin typeface="DejaVu Sans"/>
                <a:ea typeface="DejaVu Sans"/>
                <a:cs typeface="DejaVu Sans"/>
              </a:defRPr>
            </a:defPPr>
          </a:lstStyle>
          <a:p xmlns:a="http://schemas.openxmlformats.org/drawingml/2006/main">
            <a:pPr algn="l">
              <a:lnSpc>
                <a:spcPct val="113000"/>
              </a:lnSpc>
              <a:buNone/>
              <a:defRPr sz="2175" b="0" i="0">
                <a:solidFill>
                  <a:srgbClr val="607781"/>
                </a:solidFill>
                <a:latin typeface="DejaVu Sans"/>
                <a:ea typeface="DejaVu Sans"/>
                <a:cs typeface="DejaVu Sans"/>
              </a:defRPr>
            </a:pPr>
            <a:r>
              <a:rPr sz="2175" b="0" i="0">
                <a:solidFill>
                  <a:srgbClr val="607781"/>
                </a:solidFill>
                <a:latin typeface="DejaVu Sans"/>
                <a:ea typeface="DejaVu Sans"/>
                <a:cs typeface="DejaVu Sans"/>
              </a:rPr>
              <a:t>Imbabura</a:t>
            </a:r>
          </a:p>
          <a:p xmlns:a="http://schemas.openxmlformats.org/drawingml/2006/main">
            <a:pPr algn="l">
              <a:lnSpc>
                <a:spcPct val="113000"/>
              </a:lnSpc>
              <a:buNone/>
              <a:defRPr sz="2175" b="0" i="0">
                <a:solidFill>
                  <a:srgbClr val="607781"/>
                </a:solidFill>
                <a:latin typeface="DejaVu Sans"/>
                <a:ea typeface="DejaVu Sans"/>
                <a:cs typeface="DejaVu Sans"/>
              </a:defRPr>
            </a:pPr>
            <a:r>
              <a:rPr sz="2175" b="0" i="0">
                <a:solidFill>
                  <a:srgbClr val="607781"/>
                </a:solidFill>
                <a:latin typeface="DejaVu Sans"/>
                <a:ea typeface="DejaVu Sans"/>
                <a:cs typeface="DejaVu Sans"/>
              </a:rPr>
              <a:t>Pichincha</a:t>
            </a:r>
          </a:p>
          <a:p xmlns:a="http://schemas.openxmlformats.org/drawingml/2006/main">
            <a:pPr algn="l">
              <a:lnSpc>
                <a:spcPct val="113000"/>
              </a:lnSpc>
              <a:buNone/>
              <a:defRPr sz="2175" b="0" i="0">
                <a:solidFill>
                  <a:srgbClr val="607781"/>
                </a:solidFill>
                <a:latin typeface="DejaVu Sans"/>
                <a:ea typeface="DejaVu Sans"/>
                <a:cs typeface="DejaVu Sans"/>
              </a:defRPr>
            </a:pPr>
            <a:r>
              <a:rPr sz="2175" b="0" i="0">
                <a:solidFill>
                  <a:srgbClr val="607781"/>
                </a:solidFill>
                <a:latin typeface="DejaVu Sans"/>
                <a:ea typeface="DejaVu Sans"/>
                <a:cs typeface="DejaVu Sans"/>
              </a:rPr>
              <a:t>Chimborazo</a:t>
            </a:r>
          </a:p>
          <a:p xmlns:a="http://schemas.openxmlformats.org/drawingml/2006/main">
            <a:pPr algn="l">
              <a:lnSpc>
                <a:spcPct val="113000"/>
              </a:lnSpc>
              <a:buNone/>
              <a:defRPr sz="2175" b="0" i="0">
                <a:solidFill>
                  <a:srgbClr val="607781"/>
                </a:solidFill>
                <a:latin typeface="DejaVu Sans"/>
                <a:ea typeface="DejaVu Sans"/>
                <a:cs typeface="DejaVu Sans"/>
              </a:defRPr>
            </a:pPr>
            <a:r>
              <a:rPr sz="2175" b="0" i="0">
                <a:solidFill>
                  <a:srgbClr val="607781"/>
                </a:solidFill>
                <a:latin typeface="DejaVu Sans"/>
                <a:ea typeface="DejaVu Sans"/>
                <a:cs typeface="DejaVu Sans"/>
              </a:rPr>
              <a:t>Loja</a:t>
            </a:r>
          </a:p>
        </p:txBody>
      </p:sp>
      <p:sp>
        <p:nvSpPr>
          <p:cNvPr id="10" name="text-9">
            <a:extLst xmlns:a="http://schemas.openxmlformats.org/drawingml/2006/main">
              <a:ext uri="{FF2B5EF4-FFF2-40B4-BE49-F238E27FC236}">
                <a16:creationId xmlns:a16="http://schemas.microsoft.com/office/drawing/2014/main" id="{85925BB7-D700-4734-9CF1-0F3C98BE9AAC}"/>
              </a:ext>
            </a:extLst>
          </p:cNvPr>
          <p:cNvSpPr>
            <a:spLocks xmlns:a="http://schemas.openxmlformats.org/drawingml/2006/main" noGrp="1"/>
          </p:cNvSpPr>
          <p:nvPr/>
        </p:nvSpPr>
        <p:spPr>
          <a:xfrm xmlns:a="http://schemas.openxmlformats.org/drawingml/2006/main">
            <a:off x="4381500" y="5562600"/>
            <a:ext cx="6858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i="0">
                <a:solidFill>
                  <a:srgbClr val="5B983F"/>
                </a:solidFill>
                <a:latin typeface="DejaVu Sans"/>
                <a:ea typeface="DejaVu Sans"/>
                <a:cs typeface="DejaVu Sans"/>
              </a:defRPr>
            </a:defPPr>
          </a:lstStyle>
          <a:p xmlns:a="http://schemas.openxmlformats.org/drawingml/2006/main">
            <a:pPr algn="ctr">
              <a:lnSpc>
                <a:spcPct val="113000"/>
              </a:lnSpc>
              <a:buNone/>
              <a:defRPr sz="1950" b="1" i="0">
                <a:solidFill>
                  <a:srgbClr val="5B983F"/>
                </a:solidFill>
                <a:latin typeface="DejaVu Sans"/>
                <a:ea typeface="DejaVu Sans"/>
                <a:cs typeface="DejaVu Sans"/>
              </a:defRPr>
            </a:pPr>
            <a:r>
              <a:rPr sz="1950" b="1" i="0">
                <a:solidFill>
                  <a:srgbClr val="5B983F"/>
                </a:solidFill>
                <a:latin typeface="DejaVu Sans"/>
                <a:ea typeface="DejaVu Sans"/>
                <a:cs typeface="DejaVu Sans"/>
              </a:rPr>
              <a:t>Nodulación en Canario y Centenario</a:t>
            </a:r>
          </a:p>
        </p:txBody>
      </p:sp>
      <p:sp>
        <p:nvSpPr>
          <p:cNvPr id="11" name="text-10">
            <a:extLst xmlns:a="http://schemas.openxmlformats.org/drawingml/2006/main">
              <a:ext uri="{FF2B5EF4-FFF2-40B4-BE49-F238E27FC236}">
                <a16:creationId xmlns:a16="http://schemas.microsoft.com/office/drawing/2014/main" id="{DB17EA7D-C07D-488A-986F-DCE9099E9BFE}"/>
              </a:ext>
            </a:extLst>
          </p:cNvPr>
          <p:cNvSpPr>
            <a:spLocks xmlns:a="http://schemas.openxmlformats.org/drawingml/2006/main" noGrp="1"/>
          </p:cNvSpPr>
          <p:nvPr/>
        </p:nvSpPr>
        <p:spPr>
          <a:xfrm xmlns:a="http://schemas.openxmlformats.org/drawingml/2006/main">
            <a:off x="628650" y="60579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173746"/>
                </a:solidFill>
                <a:latin typeface="DejaVu Sans"/>
                <a:ea typeface="DejaVu Sans"/>
                <a:cs typeface="DejaVu Sans"/>
              </a:defRPr>
            </a:defPPr>
          </a:lstStyle>
          <a:p xmlns:a="http://schemas.openxmlformats.org/drawingml/2006/main">
            <a:pPr algn="ctr">
              <a:lnSpc>
                <a:spcPct val="113000"/>
              </a:lnSpc>
              <a:buNone/>
              <a:defRPr sz="1875" b="1" i="0">
                <a:solidFill>
                  <a:srgbClr val="173746"/>
                </a:solidFill>
                <a:latin typeface="DejaVu Sans"/>
                <a:ea typeface="DejaVu Sans"/>
                <a:cs typeface="DejaVu Sans"/>
              </a:defRPr>
            </a:pPr>
            <a:r>
              <a:rPr sz="1875" b="1" i="0">
                <a:solidFill>
                  <a:srgbClr val="173746"/>
                </a:solidFill>
                <a:latin typeface="DejaVu Sans"/>
                <a:ea typeface="DejaVu Sans"/>
                <a:cs typeface="DejaVu Sans"/>
              </a:rPr>
              <a:t>Aplicación investigada: selección de bioinoculantes.</a:t>
            </a:r>
          </a:p>
        </p:txBody>
      </p:sp>
    </p:spTree>
    <p:extLst>
      <p:ext uri="{BB962C8B-B14F-4D97-AF65-F5344CB8AC3E}">
        <p14:creationId xmlns:p14="http://schemas.microsoft.com/office/powerpoint/2010/main" val="6372540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4C7C15AC-21E5-41ED-8AD0-61EFC39255B4}"/>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Una cepa candidata para acuicultura</a:t>
            </a:r>
          </a:p>
        </p:txBody>
      </p:sp>
      <p:sp>
        <p:nvSpPr>
          <p:cNvPr id="2" name="text-2">
            <a:extLst xmlns:a="http://schemas.openxmlformats.org/drawingml/2006/main">
              <a:ext uri="{FF2B5EF4-FFF2-40B4-BE49-F238E27FC236}">
                <a16:creationId xmlns:a16="http://schemas.microsoft.com/office/drawing/2014/main" id="{8AE1D5C0-261F-454F-B887-E77CF92A493B}"/>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Bacillus velezensis 3TSA-3, aislada en Santa Elena.</a:t>
            </a:r>
          </a:p>
        </p:txBody>
      </p:sp>
      <p:sp>
        <p:nvSpPr>
          <p:cNvPr id="3" name="path-3">
            <a:extLst xmlns:a="http://schemas.openxmlformats.org/drawingml/2006/main">
              <a:ext uri="{FF2B5EF4-FFF2-40B4-BE49-F238E27FC236}">
                <a16:creationId xmlns:a16="http://schemas.microsoft.com/office/drawing/2014/main" id="{169376FF-982E-46B0-9E24-74B1F6AB4CA5}"/>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2770BF05-1B66-42D3-A719-182E7E23543B}"/>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[5]. Esquemas originales.</a:t>
            </a:r>
          </a:p>
        </p:txBody>
      </p:sp>
      <p:sp>
        <p:nvSpPr>
          <p:cNvPr id="5" name="text-5">
            <a:extLst xmlns:a="http://schemas.openxmlformats.org/drawingml/2006/main">
              <a:ext uri="{FF2B5EF4-FFF2-40B4-BE49-F238E27FC236}">
                <a16:creationId xmlns:a16="http://schemas.microsoft.com/office/drawing/2014/main" id="{94D026AF-02CB-40DB-80AD-0A50FAFC2A7A}"/>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11 / 20</a:t>
            </a:r>
          </a:p>
        </p:txBody>
      </p:sp>
      <p:pic>
        <p:nvPicPr>
          <p:cNvPr id="6" name="">
            <a:extLst xmlns:a="http://schemas.openxmlformats.org/drawingml/2006/main">
              <a:ext uri="{FF2B5EF4-FFF2-40B4-BE49-F238E27FC236}">
                <a16:creationId xmlns:a16="http://schemas.microsoft.com/office/drawing/2014/main" id="{7B5181E5-0E0B-4712-9007-35C42EABAAFD}"/>
              </a:ext>
            </a:extLst>
          </p:cNvPr>
          <p:cNvPicPr>
            <a:picLocks xmlns:a="http://schemas.openxmlformats.org/drawingml/2006/main" noChangeAspect="1"/>
          </p:cNvPicPr>
          <p:nvPr/>
        </p:nvPicPr>
        <p:blipFill>
          <a:blip xmlns:r="http://schemas.openxmlformats.org/officeDocument/2006/relationships" xmlns:a="http://schemas.openxmlformats.org/drawingml/2006/main" r:embed="Rb78a3b0bce64400c"/>
          <a:srcRect xmlns:a="http://schemas.openxmlformats.org/drawingml/2006/main" l="66667" t="0" r="0" b="50000"/>
          <a:stretch xmlns:a="http://schemas.openxmlformats.org/drawingml/2006/main"/>
        </p:blipFill>
        <p:spPr>
          <a:xfrm xmlns:a="http://schemas.openxmlformats.org/drawingml/2006/main">
            <a:off x="609600" y="1809750"/>
            <a:ext cx="6286500" cy="4000500"/>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515DE8B8-E0AA-4CA0-9588-5141A7AAF9FF}"/>
              </a:ext>
            </a:extLst>
          </p:cNvPr>
          <p:cNvSpPr>
            <a:spLocks xmlns:a="http://schemas.openxmlformats.org/drawingml/2006/main" noGrp="1"/>
          </p:cNvSpPr>
          <p:nvPr/>
        </p:nvSpPr>
        <p:spPr>
          <a:xfrm xmlns:a="http://schemas.openxmlformats.org/drawingml/2006/main">
            <a:off x="7372350" y="20955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168D91"/>
                </a:solidFill>
                <a:latin typeface="DejaVu Sans"/>
                <a:ea typeface="DejaVu Sans"/>
                <a:cs typeface="DejaVu Sans"/>
              </a:defRPr>
            </a:defPPr>
          </a:lstStyle>
          <a:p xmlns:a="http://schemas.openxmlformats.org/drawingml/2006/main">
            <a:pPr algn="l">
              <a:lnSpc>
                <a:spcPct val="113000"/>
              </a:lnSpc>
              <a:buNone/>
              <a:defRPr sz="2400" b="1" i="0">
                <a:solidFill>
                  <a:srgbClr val="168D91"/>
                </a:solidFill>
                <a:latin typeface="DejaVu Sans"/>
                <a:ea typeface="DejaVu Sans"/>
                <a:cs typeface="DejaVu Sans"/>
              </a:defRPr>
            </a:pPr>
            <a:r>
              <a:rPr sz="2400" b="1" i="0">
                <a:solidFill>
                  <a:srgbClr val="168D91"/>
                </a:solidFill>
                <a:latin typeface="DejaVu Sans"/>
                <a:ea typeface="DejaVu Sans"/>
                <a:cs typeface="DejaVu Sans"/>
              </a:rPr>
              <a:t>Cepa 3TSA-3</a:t>
            </a:r>
          </a:p>
        </p:txBody>
      </p:sp>
      <p:sp>
        <p:nvSpPr>
          <p:cNvPr id="8" name="text-7">
            <a:extLst xmlns:a="http://schemas.openxmlformats.org/drawingml/2006/main">
              <a:ext uri="{FF2B5EF4-FFF2-40B4-BE49-F238E27FC236}">
                <a16:creationId xmlns:a16="http://schemas.microsoft.com/office/drawing/2014/main" id="{BDC48F5C-7EA7-46DE-BF50-038D2C2A6B85}"/>
              </a:ext>
            </a:extLst>
          </p:cNvPr>
          <p:cNvSpPr>
            <a:spLocks xmlns:a="http://schemas.openxmlformats.org/drawingml/2006/main" noGrp="1"/>
          </p:cNvSpPr>
          <p:nvPr/>
        </p:nvSpPr>
        <p:spPr>
          <a:xfrm xmlns:a="http://schemas.openxmlformats.org/drawingml/2006/main">
            <a:off x="7372350" y="2933700"/>
            <a:ext cx="40005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8A64B4"/>
                </a:solidFill>
                <a:latin typeface="DejaVu Sans"/>
                <a:ea typeface="DejaVu Sans"/>
                <a:cs typeface="DejaVu Sans"/>
              </a:defRPr>
            </a:defPPr>
          </a:lstStyle>
          <a:p xmlns:a="http://schemas.openxmlformats.org/drawingml/2006/main">
            <a:pPr algn="l">
              <a:lnSpc>
                <a:spcPct val="113000"/>
              </a:lnSpc>
              <a:buNone/>
              <a:defRPr sz="2175" b="1" i="0">
                <a:solidFill>
                  <a:srgbClr val="8A64B4"/>
                </a:solidFill>
                <a:latin typeface="DejaVu Sans"/>
                <a:ea typeface="DejaVu Sans"/>
                <a:cs typeface="DejaVu Sans"/>
              </a:defRPr>
            </a:pPr>
            <a:r>
              <a:rPr sz="2175" b="1" i="0">
                <a:solidFill>
                  <a:srgbClr val="8A64B4"/>
                </a:solidFill>
                <a:latin typeface="DejaVu Sans"/>
                <a:ea typeface="DejaVu Sans"/>
                <a:cs typeface="DejaVu Sans"/>
              </a:rPr>
              <a:t>Genoma borrador y</a:t>
            </a:r>
          </a:p>
          <a:p xmlns:a="http://schemas.openxmlformats.org/drawingml/2006/main">
            <a:pPr algn="l">
              <a:lnSpc>
                <a:spcPct val="113000"/>
              </a:lnSpc>
              <a:buNone/>
              <a:defRPr sz="2175" b="1" i="0">
                <a:solidFill>
                  <a:srgbClr val="8A64B4"/>
                </a:solidFill>
                <a:latin typeface="DejaVu Sans"/>
                <a:ea typeface="DejaVu Sans"/>
                <a:cs typeface="DejaVu Sans"/>
              </a:defRPr>
            </a:pPr>
            <a:r>
              <a:rPr sz="2175" b="1" i="0">
                <a:solidFill>
                  <a:srgbClr val="8A64B4"/>
                </a:solidFill>
                <a:latin typeface="DejaVu Sans"/>
                <a:ea typeface="DejaVu Sans"/>
                <a:cs typeface="DejaVu Sans"/>
              </a:rPr>
              <a:t>genes de bacteriocinas</a:t>
            </a:r>
          </a:p>
        </p:txBody>
      </p:sp>
      <p:sp>
        <p:nvSpPr>
          <p:cNvPr id="9" name="text-8">
            <a:extLst xmlns:a="http://schemas.openxmlformats.org/drawingml/2006/main">
              <a:ext uri="{FF2B5EF4-FFF2-40B4-BE49-F238E27FC236}">
                <a16:creationId xmlns:a16="http://schemas.microsoft.com/office/drawing/2014/main" id="{40504842-0358-40AB-BDFD-F4A8430541E1}"/>
              </a:ext>
            </a:extLst>
          </p:cNvPr>
          <p:cNvSpPr>
            <a:spLocks xmlns:a="http://schemas.openxmlformats.org/drawingml/2006/main" noGrp="1"/>
          </p:cNvSpPr>
          <p:nvPr/>
        </p:nvSpPr>
        <p:spPr>
          <a:xfrm xmlns:a="http://schemas.openxmlformats.org/drawingml/2006/main">
            <a:off x="7372350" y="4333875"/>
            <a:ext cx="400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173746"/>
                </a:solidFill>
                <a:latin typeface="DejaVu Sans"/>
                <a:ea typeface="DejaVu Sans"/>
                <a:cs typeface="DejaVu Sans"/>
              </a:defRPr>
            </a:defPPr>
          </a:lstStyle>
          <a:p xmlns:a="http://schemas.openxmlformats.org/drawingml/2006/main">
            <a:pPr algn="l">
              <a:lnSpc>
                <a:spcPct val="113000"/>
              </a:lnSpc>
              <a:buNone/>
              <a:defRPr sz="2025" b="0" i="0">
                <a:solidFill>
                  <a:srgbClr val="173746"/>
                </a:solidFill>
                <a:latin typeface="DejaVu Sans"/>
                <a:ea typeface="DejaVu Sans"/>
                <a:cs typeface="DejaVu Sans"/>
              </a:defRPr>
            </a:pPr>
            <a:r>
              <a:rPr sz="2025" b="0" i="0">
                <a:solidFill>
                  <a:srgbClr val="173746"/>
                </a:solidFill>
                <a:latin typeface="DejaVu Sans"/>
                <a:ea typeface="DejaVu Sans"/>
                <a:cs typeface="DejaVu Sans"/>
              </a:rPr>
              <a:t>¿Qué compararías para</a:t>
            </a:r>
          </a:p>
          <a:p xmlns:a="http://schemas.openxmlformats.org/drawingml/2006/main">
            <a:pPr algn="l">
              <a:lnSpc>
                <a:spcPct val="113000"/>
              </a:lnSpc>
              <a:buNone/>
              <a:defRPr sz="2025" b="0" i="0">
                <a:solidFill>
                  <a:srgbClr val="173746"/>
                </a:solidFill>
                <a:latin typeface="DejaVu Sans"/>
                <a:ea typeface="DejaVu Sans"/>
                <a:cs typeface="DejaVu Sans"/>
              </a:defRPr>
            </a:pPr>
            <a:r>
              <a:rPr sz="2025" b="0" i="0">
                <a:solidFill>
                  <a:srgbClr val="173746"/>
                </a:solidFill>
                <a:latin typeface="DejaVu Sans"/>
                <a:ea typeface="DejaVu Sans"/>
                <a:cs typeface="DejaVu Sans"/>
              </a:rPr>
              <a:t>evaluar protección y</a:t>
            </a:r>
          </a:p>
          <a:p xmlns:a="http://schemas.openxmlformats.org/drawingml/2006/main">
            <a:pPr algn="l">
              <a:lnSpc>
                <a:spcPct val="113000"/>
              </a:lnSpc>
              <a:buNone/>
              <a:defRPr sz="2025" b="0" i="0">
                <a:solidFill>
                  <a:srgbClr val="173746"/>
                </a:solidFill>
                <a:latin typeface="DejaVu Sans"/>
                <a:ea typeface="DejaVu Sans"/>
                <a:cs typeface="DejaVu Sans"/>
              </a:defRPr>
            </a:pPr>
            <a:r>
              <a:rPr sz="2025" b="0" i="0">
                <a:solidFill>
                  <a:srgbClr val="173746"/>
                </a:solidFill>
                <a:latin typeface="DejaVu Sans"/>
                <a:ea typeface="DejaVu Sans"/>
                <a:cs typeface="DejaVu Sans"/>
              </a:rPr>
              <a:t>seguridad?</a:t>
            </a:r>
          </a:p>
        </p:txBody>
      </p:sp>
      <p:sp>
        <p:nvSpPr>
          <p:cNvPr id="10" name="text-9">
            <a:extLst xmlns:a="http://schemas.openxmlformats.org/drawingml/2006/main">
              <a:ext uri="{FF2B5EF4-FFF2-40B4-BE49-F238E27FC236}">
                <a16:creationId xmlns:a16="http://schemas.microsoft.com/office/drawing/2014/main" id="{A4B8BFCE-0F78-4207-92EC-0F4C19D6E452}"/>
              </a:ext>
            </a:extLst>
          </p:cNvPr>
          <p:cNvSpPr>
            <a:spLocks xmlns:a="http://schemas.openxmlformats.org/drawingml/2006/main" noGrp="1"/>
          </p:cNvSpPr>
          <p:nvPr/>
        </p:nvSpPr>
        <p:spPr>
          <a:xfrm xmlns:a="http://schemas.openxmlformats.org/drawingml/2006/main">
            <a:off x="619125" y="6048375"/>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173746"/>
                </a:solidFill>
                <a:latin typeface="DejaVu Sans"/>
                <a:ea typeface="DejaVu Sans"/>
                <a:cs typeface="DejaVu Sans"/>
              </a:defRPr>
            </a:defPPr>
          </a:lstStyle>
          <a:p xmlns:a="http://schemas.openxmlformats.org/drawingml/2006/main">
            <a:pPr algn="ctr">
              <a:lnSpc>
                <a:spcPct val="113000"/>
              </a:lnSpc>
              <a:buNone/>
              <a:defRPr sz="1875" b="1" i="0">
                <a:solidFill>
                  <a:srgbClr val="173746"/>
                </a:solidFill>
                <a:latin typeface="DejaVu Sans"/>
                <a:ea typeface="DejaVu Sans"/>
                <a:cs typeface="DejaVu Sans"/>
              </a:defRPr>
            </a:pPr>
            <a:r>
              <a:rPr sz="1875" b="1" i="0">
                <a:solidFill>
                  <a:srgbClr val="173746"/>
                </a:solidFill>
                <a:latin typeface="DejaVu Sans"/>
                <a:ea typeface="DejaVu Sans"/>
                <a:cs typeface="DejaVu Sans"/>
              </a:rPr>
              <a:t>Potencial probiótico: una hipótesis que requiere ensayos.</a:t>
            </a:r>
          </a:p>
        </p:txBody>
      </p:sp>
    </p:spTree>
    <p:extLst>
      <p:ext uri="{BB962C8B-B14F-4D97-AF65-F5344CB8AC3E}">
        <p14:creationId xmlns:p14="http://schemas.microsoft.com/office/powerpoint/2010/main" val="8341676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C0C8F9BD-7ED6-456E-AB32-5E2E5F916681}"/>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Cepas, genes y resistencia antimicrobiana</a:t>
            </a:r>
          </a:p>
        </p:txBody>
      </p:sp>
      <p:sp>
        <p:nvSpPr>
          <p:cNvPr id="2" name="text-2">
            <a:extLst xmlns:a="http://schemas.openxmlformats.org/drawingml/2006/main">
              <a:ext uri="{FF2B5EF4-FFF2-40B4-BE49-F238E27FC236}">
                <a16:creationId xmlns:a16="http://schemas.microsoft.com/office/drawing/2014/main" id="{D26E2A23-79A2-46E4-B063-320C04CEC46D}"/>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Escherichia coli en comunidades ecuatorianas.</a:t>
            </a:r>
          </a:p>
        </p:txBody>
      </p:sp>
      <p:sp>
        <p:nvSpPr>
          <p:cNvPr id="3" name="path-3">
            <a:extLst xmlns:a="http://schemas.openxmlformats.org/drawingml/2006/main">
              <a:ext uri="{FF2B5EF4-FFF2-40B4-BE49-F238E27FC236}">
                <a16:creationId xmlns:a16="http://schemas.microsoft.com/office/drawing/2014/main" id="{E06FC79D-33A1-46B1-9624-5BFD9FEBCEB8}"/>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DBD00D1D-B5BD-45EB-9E4E-364E5D576C2E}"/>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[6]. Esquemas originales.</a:t>
            </a:r>
          </a:p>
        </p:txBody>
      </p:sp>
      <p:sp>
        <p:nvSpPr>
          <p:cNvPr id="5" name="text-5">
            <a:extLst xmlns:a="http://schemas.openxmlformats.org/drawingml/2006/main">
              <a:ext uri="{FF2B5EF4-FFF2-40B4-BE49-F238E27FC236}">
                <a16:creationId xmlns:a16="http://schemas.microsoft.com/office/drawing/2014/main" id="{63E5851B-A33E-484B-BBFE-C1B9C7EA565E}"/>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12 / 20</a:t>
            </a:r>
          </a:p>
        </p:txBody>
      </p:sp>
      <p:pic>
        <p:nvPicPr>
          <p:cNvPr id="6" name="">
            <a:extLst xmlns:a="http://schemas.openxmlformats.org/drawingml/2006/main">
              <a:ext uri="{FF2B5EF4-FFF2-40B4-BE49-F238E27FC236}">
                <a16:creationId xmlns:a16="http://schemas.microsoft.com/office/drawing/2014/main" id="{970E1044-871E-4437-AE7C-AAFDAB53C38C}"/>
              </a:ext>
            </a:extLst>
          </p:cNvPr>
          <p:cNvPicPr>
            <a:picLocks xmlns:a="http://schemas.openxmlformats.org/drawingml/2006/main" noChangeAspect="1"/>
          </p:cNvPicPr>
          <p:nvPr/>
        </p:nvPicPr>
        <p:blipFill>
          <a:blip xmlns:r="http://schemas.openxmlformats.org/officeDocument/2006/relationships" xmlns:a="http://schemas.openxmlformats.org/drawingml/2006/main" r:embed="R5e60bc9c0f6f4eb5"/>
          <a:srcRect xmlns:a="http://schemas.openxmlformats.org/drawingml/2006/main" l="0" t="50000" r="66667" b="0"/>
          <a:stretch xmlns:a="http://schemas.openxmlformats.org/drawingml/2006/main"/>
        </p:blipFill>
        <p:spPr>
          <a:xfrm xmlns:a="http://schemas.openxmlformats.org/drawingml/2006/main">
            <a:off x="609600" y="1790700"/>
            <a:ext cx="6191250" cy="4095750"/>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D7E31909-67F9-4360-A5EC-4300D4B8D29C}"/>
              </a:ext>
            </a:extLst>
          </p:cNvPr>
          <p:cNvSpPr>
            <a:spLocks xmlns:a="http://schemas.openxmlformats.org/drawingml/2006/main" noGrp="1"/>
          </p:cNvSpPr>
          <p:nvPr/>
        </p:nvSpPr>
        <p:spPr>
          <a:xfrm xmlns:a="http://schemas.openxmlformats.org/drawingml/2006/main">
            <a:off x="7286625" y="20193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168D91"/>
                </a:solidFill>
                <a:latin typeface="DejaVu Sans"/>
                <a:ea typeface="DejaVu Sans"/>
                <a:cs typeface="DejaVu Sans"/>
              </a:defRPr>
            </a:defPPr>
          </a:lstStyle>
          <a:p xmlns:a="http://schemas.openxmlformats.org/drawingml/2006/main">
            <a:pPr algn="l">
              <a:lnSpc>
                <a:spcPct val="113000"/>
              </a:lnSpc>
              <a:buNone/>
              <a:defRPr sz="2250" b="1" i="0">
                <a:solidFill>
                  <a:srgbClr val="168D91"/>
                </a:solidFill>
                <a:latin typeface="DejaVu Sans"/>
                <a:ea typeface="DejaVu Sans"/>
                <a:cs typeface="DejaVu Sans"/>
              </a:defRPr>
            </a:pPr>
            <a:r>
              <a:rPr sz="2250" b="1" i="0">
                <a:solidFill>
                  <a:srgbClr val="168D91"/>
                </a:solidFill>
                <a:latin typeface="DejaVu Sans"/>
                <a:ea typeface="DejaVu Sans"/>
                <a:cs typeface="DejaVu Sans"/>
              </a:rPr>
              <a:t>Aislamientos locales</a:t>
            </a:r>
          </a:p>
        </p:txBody>
      </p:sp>
      <p:sp>
        <p:nvSpPr>
          <p:cNvPr id="8" name="text-7">
            <a:extLst xmlns:a="http://schemas.openxmlformats.org/drawingml/2006/main">
              <a:ext uri="{FF2B5EF4-FFF2-40B4-BE49-F238E27FC236}">
                <a16:creationId xmlns:a16="http://schemas.microsoft.com/office/drawing/2014/main" id="{AE934C59-7E31-437A-A6FF-A0B2236609E6}"/>
              </a:ext>
            </a:extLst>
          </p:cNvPr>
          <p:cNvSpPr>
            <a:spLocks xmlns:a="http://schemas.openxmlformats.org/drawingml/2006/main" noGrp="1"/>
          </p:cNvSpPr>
          <p:nvPr/>
        </p:nvSpPr>
        <p:spPr>
          <a:xfrm xmlns:a="http://schemas.openxmlformats.org/drawingml/2006/main">
            <a:off x="7286625" y="2762250"/>
            <a:ext cx="41433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8A64B4"/>
                </a:solidFill>
                <a:latin typeface="DejaVu Sans"/>
                <a:ea typeface="DejaVu Sans"/>
                <a:cs typeface="DejaVu Sans"/>
              </a:defRPr>
            </a:defPPr>
          </a:lstStyle>
          <a:p xmlns:a="http://schemas.openxmlformats.org/drawingml/2006/main">
            <a:pPr algn="l">
              <a:lnSpc>
                <a:spcPct val="113000"/>
              </a:lnSpc>
              <a:buNone/>
              <a:defRPr sz="2250" b="1" i="0">
                <a:solidFill>
                  <a:srgbClr val="8A64B4"/>
                </a:solidFill>
                <a:latin typeface="DejaVu Sans"/>
                <a:ea typeface="DejaVu Sans"/>
                <a:cs typeface="DejaVu Sans"/>
              </a:defRPr>
            </a:pPr>
            <a:r>
              <a:rPr sz="2250" b="1" i="0">
                <a:solidFill>
                  <a:srgbClr val="8A64B4"/>
                </a:solidFill>
                <a:latin typeface="DejaVu Sans"/>
                <a:ea typeface="DejaVu Sans"/>
                <a:cs typeface="DejaVu Sans"/>
              </a:rPr>
              <a:t>IS26 y genes blaCTX-M</a:t>
            </a:r>
          </a:p>
        </p:txBody>
      </p:sp>
      <p:sp>
        <p:nvSpPr>
          <p:cNvPr id="9" name="text-8">
            <a:extLst xmlns:a="http://schemas.openxmlformats.org/drawingml/2006/main">
              <a:ext uri="{FF2B5EF4-FFF2-40B4-BE49-F238E27FC236}">
                <a16:creationId xmlns:a16="http://schemas.microsoft.com/office/drawing/2014/main" id="{639DB74D-813F-4C6B-8313-202F91AC9A9F}"/>
              </a:ext>
            </a:extLst>
          </p:cNvPr>
          <p:cNvSpPr>
            <a:spLocks xmlns:a="http://schemas.openxmlformats.org/drawingml/2006/main" noGrp="1"/>
          </p:cNvSpPr>
          <p:nvPr/>
        </p:nvSpPr>
        <p:spPr>
          <a:xfrm xmlns:a="http://schemas.openxmlformats.org/drawingml/2006/main">
            <a:off x="7286625" y="3943350"/>
            <a:ext cx="4143375"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173746"/>
                </a:solidFill>
                <a:latin typeface="DejaVu Sans"/>
                <a:ea typeface="DejaVu Sans"/>
                <a:cs typeface="DejaVu Sans"/>
              </a:defRPr>
            </a:defPPr>
          </a:lstStyle>
          <a:p xmlns:a="http://schemas.openxmlformats.org/drawingml/2006/main">
            <a:pPr algn="l">
              <a:lnSpc>
                <a:spcPct val="113000"/>
              </a:lnSpc>
              <a:buNone/>
              <a:defRPr sz="2025" b="0" i="0">
                <a:solidFill>
                  <a:srgbClr val="173746"/>
                </a:solidFill>
                <a:latin typeface="DejaVu Sans"/>
                <a:ea typeface="DejaVu Sans"/>
                <a:cs typeface="DejaVu Sans"/>
              </a:defRPr>
            </a:pPr>
            <a:r>
              <a:rPr sz="2025" b="0" i="0">
                <a:solidFill>
                  <a:srgbClr val="173746"/>
                </a:solidFill>
                <a:latin typeface="DejaVu Sans"/>
                <a:ea typeface="DejaVu Sans"/>
                <a:cs typeface="DejaVu Sans"/>
              </a:rPr>
              <a:t>El ADN móvil ayuda a estudiar</a:t>
            </a:r>
          </a:p>
          <a:p xmlns:a="http://schemas.openxmlformats.org/drawingml/2006/main">
            <a:pPr algn="l">
              <a:lnSpc>
                <a:spcPct val="113000"/>
              </a:lnSpc>
              <a:buNone/>
              <a:defRPr sz="2025" b="0" i="0">
                <a:solidFill>
                  <a:srgbClr val="173746"/>
                </a:solidFill>
                <a:latin typeface="DejaVu Sans"/>
                <a:ea typeface="DejaVu Sans"/>
                <a:cs typeface="DejaVu Sans"/>
              </a:defRPr>
            </a:pPr>
            <a:r>
              <a:rPr sz="2025" b="0" i="0">
                <a:solidFill>
                  <a:srgbClr val="173746"/>
                </a:solidFill>
                <a:latin typeface="DejaVu Sans"/>
                <a:ea typeface="DejaVu Sans"/>
                <a:cs typeface="DejaVu Sans"/>
              </a:rPr>
              <a:t>la circulación de resistencia.</a:t>
            </a:r>
          </a:p>
        </p:txBody>
      </p:sp>
      <p:sp>
        <p:nvSpPr>
          <p:cNvPr id="10" name="text-9">
            <a:extLst xmlns:a="http://schemas.openxmlformats.org/drawingml/2006/main">
              <a:ext uri="{FF2B5EF4-FFF2-40B4-BE49-F238E27FC236}">
                <a16:creationId xmlns:a16="http://schemas.microsoft.com/office/drawing/2014/main" id="{24A64374-1B6A-41DD-B11F-75DC735D4E71}"/>
              </a:ext>
            </a:extLst>
          </p:cNvPr>
          <p:cNvSpPr>
            <a:spLocks xmlns:a="http://schemas.openxmlformats.org/drawingml/2006/main" noGrp="1"/>
          </p:cNvSpPr>
          <p:nvPr/>
        </p:nvSpPr>
        <p:spPr>
          <a:xfrm xmlns:a="http://schemas.openxmlformats.org/drawingml/2006/main">
            <a:off x="619125" y="60579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173746"/>
                </a:solidFill>
                <a:latin typeface="DejaVu Sans"/>
                <a:ea typeface="DejaVu Sans"/>
                <a:cs typeface="DejaVu Sans"/>
              </a:defRPr>
            </a:defPPr>
          </a:lstStyle>
          <a:p xmlns:a="http://schemas.openxmlformats.org/drawingml/2006/main">
            <a:pPr algn="ctr">
              <a:lnSpc>
                <a:spcPct val="113000"/>
              </a:lnSpc>
              <a:buNone/>
              <a:defRPr sz="1875" b="1" i="0">
                <a:solidFill>
                  <a:srgbClr val="173746"/>
                </a:solidFill>
                <a:latin typeface="DejaVu Sans"/>
                <a:ea typeface="DejaVu Sans"/>
                <a:cs typeface="DejaVu Sans"/>
              </a:defRPr>
            </a:pPr>
            <a:r>
              <a:rPr sz="1875" b="1" i="0">
                <a:solidFill>
                  <a:srgbClr val="173746"/>
                </a:solidFill>
                <a:latin typeface="DejaVu Sans"/>
                <a:ea typeface="DejaVu Sans"/>
                <a:cs typeface="DejaVu Sans"/>
              </a:rPr>
              <a:t>Aplicación: vigilancia genética con interés biomédico.</a:t>
            </a:r>
          </a:p>
        </p:txBody>
      </p:sp>
    </p:spTree>
    <p:extLst>
      <p:ext uri="{BB962C8B-B14F-4D97-AF65-F5344CB8AC3E}">
        <p14:creationId xmlns:p14="http://schemas.microsoft.com/office/powerpoint/2010/main" val="7980514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D09D6EFF-00A1-4F29-80D5-E8D7FD4197EE}"/>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Arqueas y producción de metano</a:t>
            </a:r>
          </a:p>
        </p:txBody>
      </p:sp>
      <p:sp>
        <p:nvSpPr>
          <p:cNvPr id="2" name="text-2">
            <a:extLst xmlns:a="http://schemas.openxmlformats.org/drawingml/2006/main">
              <a:ext uri="{FF2B5EF4-FFF2-40B4-BE49-F238E27FC236}">
                <a16:creationId xmlns:a16="http://schemas.microsoft.com/office/drawing/2014/main" id="{82CF88CB-3915-43E8-88B1-89BF3C1D07CC}"/>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Un proceso observado en ambientes naturales y estudiado en biodigestores.</a:t>
            </a:r>
          </a:p>
        </p:txBody>
      </p:sp>
      <p:sp>
        <p:nvSpPr>
          <p:cNvPr id="3" name="path-3">
            <a:extLst xmlns:a="http://schemas.openxmlformats.org/drawingml/2006/main">
              <a:ext uri="{FF2B5EF4-FFF2-40B4-BE49-F238E27FC236}">
                <a16:creationId xmlns:a16="http://schemas.microsoft.com/office/drawing/2014/main" id="{B67E4619-ECD5-499A-BF2E-275ECE9AFD09}"/>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C2E7B001-E137-4397-ABBC-D0BE7068BD8E}"/>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[7] [9]. Esquemas originales.</a:t>
            </a:r>
          </a:p>
        </p:txBody>
      </p:sp>
      <p:sp>
        <p:nvSpPr>
          <p:cNvPr id="5" name="text-5">
            <a:extLst xmlns:a="http://schemas.openxmlformats.org/drawingml/2006/main">
              <a:ext uri="{FF2B5EF4-FFF2-40B4-BE49-F238E27FC236}">
                <a16:creationId xmlns:a16="http://schemas.microsoft.com/office/drawing/2014/main" id="{1760D569-25C6-477F-B0EC-27DBE0EBA6A0}"/>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13 / 20</a:t>
            </a:r>
          </a:p>
        </p:txBody>
      </p:sp>
      <p:pic>
        <p:nvPicPr>
          <p:cNvPr id="6" name="">
            <a:extLst xmlns:a="http://schemas.openxmlformats.org/drawingml/2006/main">
              <a:ext uri="{FF2B5EF4-FFF2-40B4-BE49-F238E27FC236}">
                <a16:creationId xmlns:a16="http://schemas.microsoft.com/office/drawing/2014/main" id="{F415BFB8-AF6A-4A89-BA9D-AFB83D7E9A7C}"/>
              </a:ext>
            </a:extLst>
          </p:cNvPr>
          <p:cNvPicPr>
            <a:picLocks xmlns:a="http://schemas.openxmlformats.org/drawingml/2006/main" noChangeAspect="1"/>
          </p:cNvPicPr>
          <p:nvPr/>
        </p:nvPicPr>
        <p:blipFill>
          <a:blip xmlns:r="http://schemas.openxmlformats.org/officeDocument/2006/relationships" xmlns:a="http://schemas.openxmlformats.org/drawingml/2006/main" r:embed="Rff590bae26f1427e"/>
          <a:srcRect xmlns:a="http://schemas.openxmlformats.org/drawingml/2006/main" l="33333" t="50000" r="33333" b="0"/>
          <a:stretch xmlns:a="http://schemas.openxmlformats.org/drawingml/2006/main"/>
        </p:blipFill>
        <p:spPr>
          <a:xfrm xmlns:a="http://schemas.openxmlformats.org/drawingml/2006/main">
            <a:off x="609600" y="1733550"/>
            <a:ext cx="7239000" cy="4191000"/>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7C381E98-E16F-4635-BBCF-6B07F554EECF}"/>
              </a:ext>
            </a:extLst>
          </p:cNvPr>
          <p:cNvSpPr>
            <a:spLocks xmlns:a="http://schemas.openxmlformats.org/drawingml/2006/main" noGrp="1"/>
          </p:cNvSpPr>
          <p:nvPr/>
        </p:nvSpPr>
        <p:spPr>
          <a:xfrm xmlns:a="http://schemas.openxmlformats.org/drawingml/2006/main">
            <a:off x="8229600" y="2009775"/>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5B983F"/>
                </a:solidFill>
                <a:latin typeface="DejaVu Sans"/>
                <a:ea typeface="DejaVu Sans"/>
                <a:cs typeface="DejaVu Sans"/>
              </a:defRPr>
            </a:defPPr>
          </a:lstStyle>
          <a:p xmlns:a="http://schemas.openxmlformats.org/drawingml/2006/main">
            <a:pPr algn="l">
              <a:lnSpc>
                <a:spcPct val="113000"/>
              </a:lnSpc>
              <a:buNone/>
              <a:defRPr sz="2325" b="1" i="0">
                <a:solidFill>
                  <a:srgbClr val="5B983F"/>
                </a:solidFill>
                <a:latin typeface="DejaVu Sans"/>
                <a:ea typeface="DejaVu Sans"/>
                <a:cs typeface="DejaVu Sans"/>
              </a:defRPr>
            </a:pPr>
            <a:r>
              <a:rPr sz="2325" b="1" i="0">
                <a:solidFill>
                  <a:srgbClr val="5B983F"/>
                </a:solidFill>
                <a:latin typeface="DejaVu Sans"/>
                <a:ea typeface="DejaVu Sans"/>
                <a:cs typeface="DejaVu Sans"/>
              </a:rPr>
              <a:t>Bromelias del sur</a:t>
            </a:r>
          </a:p>
        </p:txBody>
      </p:sp>
      <p:sp>
        <p:nvSpPr>
          <p:cNvPr id="8" name="text-7">
            <a:extLst xmlns:a="http://schemas.openxmlformats.org/drawingml/2006/main">
              <a:ext uri="{FF2B5EF4-FFF2-40B4-BE49-F238E27FC236}">
                <a16:creationId xmlns:a16="http://schemas.microsoft.com/office/drawing/2014/main" id="{EE80CA5F-F607-4286-A2D8-1FAF5042D99D}"/>
              </a:ext>
            </a:extLst>
          </p:cNvPr>
          <p:cNvSpPr>
            <a:spLocks xmlns:a="http://schemas.openxmlformats.org/drawingml/2006/main" noGrp="1"/>
          </p:cNvSpPr>
          <p:nvPr/>
        </p:nvSpPr>
        <p:spPr>
          <a:xfrm xmlns:a="http://schemas.openxmlformats.org/drawingml/2006/main">
            <a:off x="8229600" y="2971800"/>
            <a:ext cx="3238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i="0">
                <a:solidFill>
                  <a:srgbClr val="607781"/>
                </a:solidFill>
                <a:latin typeface="DejaVu Sans"/>
                <a:ea typeface="DejaVu Sans"/>
                <a:cs typeface="DejaVu Sans"/>
              </a:defRPr>
            </a:defPPr>
          </a:lstStyle>
          <a:p xmlns:a="http://schemas.openxmlformats.org/drawingml/2006/main">
            <a:pPr algn="l">
              <a:lnSpc>
                <a:spcPct val="113000"/>
              </a:lnSpc>
              <a:buNone/>
              <a:defRPr sz="1950" b="0" i="0">
                <a:solidFill>
                  <a:srgbClr val="607781"/>
                </a:solidFill>
                <a:latin typeface="DejaVu Sans"/>
                <a:ea typeface="DejaVu Sans"/>
                <a:cs typeface="DejaVu Sans"/>
              </a:defRPr>
            </a:pPr>
            <a:r>
              <a:rPr sz="1950" b="0" i="0">
                <a:solidFill>
                  <a:srgbClr val="607781"/>
                </a:solidFill>
                <a:latin typeface="DejaVu Sans"/>
                <a:ea typeface="DejaVu Sans"/>
                <a:cs typeface="DejaVu Sans"/>
              </a:rPr>
              <a:t>Estudio ecológico</a:t>
            </a:r>
          </a:p>
        </p:txBody>
      </p:sp>
      <p:sp>
        <p:nvSpPr>
          <p:cNvPr id="9" name="text-8">
            <a:extLst xmlns:a="http://schemas.openxmlformats.org/drawingml/2006/main">
              <a:ext uri="{FF2B5EF4-FFF2-40B4-BE49-F238E27FC236}">
                <a16:creationId xmlns:a16="http://schemas.microsoft.com/office/drawing/2014/main" id="{1B8124E5-D663-4D96-B7BA-F1293B50C7CD}"/>
              </a:ext>
            </a:extLst>
          </p:cNvPr>
          <p:cNvSpPr>
            <a:spLocks xmlns:a="http://schemas.openxmlformats.org/drawingml/2006/main" noGrp="1"/>
          </p:cNvSpPr>
          <p:nvPr/>
        </p:nvSpPr>
        <p:spPr>
          <a:xfrm xmlns:a="http://schemas.openxmlformats.org/drawingml/2006/main">
            <a:off x="8229600" y="3943350"/>
            <a:ext cx="3238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C58B22"/>
                </a:solidFill>
                <a:latin typeface="DejaVu Sans"/>
                <a:ea typeface="DejaVu Sans"/>
                <a:cs typeface="DejaVu Sans"/>
              </a:defRPr>
            </a:defPPr>
          </a:lstStyle>
          <a:p xmlns:a="http://schemas.openxmlformats.org/drawingml/2006/main">
            <a:pPr algn="l">
              <a:lnSpc>
                <a:spcPct val="113000"/>
              </a:lnSpc>
              <a:buNone/>
              <a:defRPr sz="2325" b="1" i="0">
                <a:solidFill>
                  <a:srgbClr val="C58B22"/>
                </a:solidFill>
                <a:latin typeface="DejaVu Sans"/>
                <a:ea typeface="DejaVu Sans"/>
                <a:cs typeface="DejaVu Sans"/>
              </a:defRPr>
            </a:pPr>
            <a:r>
              <a:rPr sz="2325" b="1" i="0">
                <a:solidFill>
                  <a:srgbClr val="C58B22"/>
                </a:solidFill>
                <a:latin typeface="DejaVu Sans"/>
                <a:ea typeface="DejaVu Sans"/>
                <a:cs typeface="DejaVu Sans"/>
              </a:rPr>
              <a:t>El Empalme</a:t>
            </a:r>
          </a:p>
        </p:txBody>
      </p:sp>
      <p:sp>
        <p:nvSpPr>
          <p:cNvPr id="10" name="text-9">
            <a:extLst xmlns:a="http://schemas.openxmlformats.org/drawingml/2006/main">
              <a:ext uri="{FF2B5EF4-FFF2-40B4-BE49-F238E27FC236}">
                <a16:creationId xmlns:a16="http://schemas.microsoft.com/office/drawing/2014/main" id="{66A6097A-6C28-4222-BB8F-DB75EEE32D75}"/>
              </a:ext>
            </a:extLst>
          </p:cNvPr>
          <p:cNvSpPr>
            <a:spLocks xmlns:a="http://schemas.openxmlformats.org/drawingml/2006/main" noGrp="1"/>
          </p:cNvSpPr>
          <p:nvPr/>
        </p:nvSpPr>
        <p:spPr>
          <a:xfrm xmlns:a="http://schemas.openxmlformats.org/drawingml/2006/main">
            <a:off x="8229600" y="45148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i="0">
                <a:solidFill>
                  <a:srgbClr val="607781"/>
                </a:solidFill>
                <a:latin typeface="DejaVu Sans"/>
                <a:ea typeface="DejaVu Sans"/>
                <a:cs typeface="DejaVu Sans"/>
              </a:defRPr>
            </a:defPPr>
          </a:lstStyle>
          <a:p xmlns:a="http://schemas.openxmlformats.org/drawingml/2006/main">
            <a:pPr algn="l">
              <a:lnSpc>
                <a:spcPct val="113000"/>
              </a:lnSpc>
              <a:buNone/>
              <a:defRPr sz="1950" b="0" i="0">
                <a:solidFill>
                  <a:srgbClr val="607781"/>
                </a:solidFill>
                <a:latin typeface="DejaVu Sans"/>
                <a:ea typeface="DejaVu Sans"/>
                <a:cs typeface="DejaVu Sans"/>
              </a:defRPr>
            </a:pPr>
            <a:r>
              <a:rPr sz="1950" b="0" i="0">
                <a:solidFill>
                  <a:srgbClr val="607781"/>
                </a:solidFill>
                <a:latin typeface="DejaVu Sans"/>
                <a:ea typeface="DejaVu Sans"/>
                <a:cs typeface="DejaVu Sans"/>
              </a:rPr>
              <a:t>Biodigestor piloto</a:t>
            </a:r>
          </a:p>
        </p:txBody>
      </p:sp>
      <p:sp>
        <p:nvSpPr>
          <p:cNvPr id="11" name="text-10">
            <a:extLst xmlns:a="http://schemas.openxmlformats.org/drawingml/2006/main">
              <a:ext uri="{FF2B5EF4-FFF2-40B4-BE49-F238E27FC236}">
                <a16:creationId xmlns:a16="http://schemas.microsoft.com/office/drawing/2014/main" id="{45F743F1-A6D2-4496-9146-EF2903B5AF34}"/>
              </a:ext>
            </a:extLst>
          </p:cNvPr>
          <p:cNvSpPr>
            <a:spLocks xmlns:a="http://schemas.openxmlformats.org/drawingml/2006/main" noGrp="1"/>
          </p:cNvSpPr>
          <p:nvPr/>
        </p:nvSpPr>
        <p:spPr>
          <a:xfrm xmlns:a="http://schemas.openxmlformats.org/drawingml/2006/main">
            <a:off x="609600" y="6029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i="0">
                <a:solidFill>
                  <a:srgbClr val="173746"/>
                </a:solidFill>
                <a:latin typeface="DejaVu Sans"/>
                <a:ea typeface="DejaVu Sans"/>
                <a:cs typeface="DejaVu Sans"/>
              </a:defRPr>
            </a:defPPr>
          </a:lstStyle>
          <a:p xmlns:a="http://schemas.openxmlformats.org/drawingml/2006/main">
            <a:pPr algn="ctr">
              <a:lnSpc>
                <a:spcPct val="113000"/>
              </a:lnSpc>
              <a:buNone/>
              <a:defRPr sz="1950" b="1" i="0">
                <a:solidFill>
                  <a:srgbClr val="173746"/>
                </a:solidFill>
                <a:latin typeface="DejaVu Sans"/>
                <a:ea typeface="DejaVu Sans"/>
                <a:cs typeface="DejaVu Sans"/>
              </a:defRPr>
            </a:pPr>
            <a:r>
              <a:rPr sz="1950" b="1" i="0">
                <a:solidFill>
                  <a:srgbClr val="173746"/>
                </a:solidFill>
                <a:latin typeface="DejaVu Sans"/>
                <a:ea typeface="DejaVu Sans"/>
                <a:cs typeface="DejaVu Sans"/>
              </a:rPr>
              <a:t>Metanogénesis: CO₂ + 4 H₂ → CH₄ + 2 H₂O</a:t>
            </a:r>
          </a:p>
        </p:txBody>
      </p:sp>
    </p:spTree>
    <p:extLst>
      <p:ext uri="{BB962C8B-B14F-4D97-AF65-F5344CB8AC3E}">
        <p14:creationId xmlns:p14="http://schemas.microsoft.com/office/powerpoint/2010/main" val="18937323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3B05DC82-14C8-4223-8E39-4289AE55F8E0}"/>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Cepas con potencial de remediación</a:t>
            </a:r>
          </a:p>
        </p:txBody>
      </p:sp>
      <p:sp>
        <p:nvSpPr>
          <p:cNvPr id="2" name="text-2">
            <a:extLst xmlns:a="http://schemas.openxmlformats.org/drawingml/2006/main">
              <a:ext uri="{FF2B5EF4-FFF2-40B4-BE49-F238E27FC236}">
                <a16:creationId xmlns:a16="http://schemas.microsoft.com/office/drawing/2014/main" id="{57F7548E-49F2-4D53-BEC6-A6EC54058995}"/>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San Carlos de las Minas, Zamora Chinchipe.</a:t>
            </a:r>
          </a:p>
        </p:txBody>
      </p:sp>
      <p:sp>
        <p:nvSpPr>
          <p:cNvPr id="3" name="path-3">
            <a:extLst xmlns:a="http://schemas.openxmlformats.org/drawingml/2006/main">
              <a:ext uri="{FF2B5EF4-FFF2-40B4-BE49-F238E27FC236}">
                <a16:creationId xmlns:a16="http://schemas.microsoft.com/office/drawing/2014/main" id="{8C130D48-58C0-43F8-AFBC-5ED742DCFCA4}"/>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3F433AD1-D5C9-45CB-ACF8-26DA333C4D09}"/>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[8]. Esquemas originales.</a:t>
            </a:r>
          </a:p>
        </p:txBody>
      </p:sp>
      <p:sp>
        <p:nvSpPr>
          <p:cNvPr id="5" name="text-5">
            <a:extLst xmlns:a="http://schemas.openxmlformats.org/drawingml/2006/main">
              <a:ext uri="{FF2B5EF4-FFF2-40B4-BE49-F238E27FC236}">
                <a16:creationId xmlns:a16="http://schemas.microsoft.com/office/drawing/2014/main" id="{60603C8C-77A3-4730-979B-F882C118EBD2}"/>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14 / 20</a:t>
            </a:r>
          </a:p>
        </p:txBody>
      </p:sp>
      <p:pic>
        <p:nvPicPr>
          <p:cNvPr id="6" name="">
            <a:extLst xmlns:a="http://schemas.openxmlformats.org/drawingml/2006/main">
              <a:ext uri="{FF2B5EF4-FFF2-40B4-BE49-F238E27FC236}">
                <a16:creationId xmlns:a16="http://schemas.microsoft.com/office/drawing/2014/main" id="{CA3EFDE1-4D80-4276-8CF5-048BDFF52D5B}"/>
              </a:ext>
            </a:extLst>
          </p:cNvPr>
          <p:cNvPicPr>
            <a:picLocks xmlns:a="http://schemas.openxmlformats.org/drawingml/2006/main" noChangeAspect="1"/>
          </p:cNvPicPr>
          <p:nvPr/>
        </p:nvPicPr>
        <p:blipFill>
          <a:blip xmlns:r="http://schemas.openxmlformats.org/officeDocument/2006/relationships" xmlns:a="http://schemas.openxmlformats.org/drawingml/2006/main" r:embed="Rc303b562d2364c71"/>
          <a:srcRect xmlns:a="http://schemas.openxmlformats.org/drawingml/2006/main" l="66667" t="50000" r="0" b="0"/>
          <a:stretch xmlns:a="http://schemas.openxmlformats.org/drawingml/2006/main"/>
        </p:blipFill>
        <p:spPr>
          <a:xfrm xmlns:a="http://schemas.openxmlformats.org/drawingml/2006/main">
            <a:off x="609600" y="1809750"/>
            <a:ext cx="6191250" cy="4048125"/>
          </a:xfrm>
          <a:prstGeom xmlns:a="http://schemas.openxmlformats.org/drawingml/2006/main" prst="rect">
            <a:avLst/>
          </a:prstGeom>
        </p:spPr>
      </p:pic>
      <p:sp>
        <p:nvSpPr>
          <p:cNvPr id="7" name="text-6">
            <a:extLst xmlns:a="http://schemas.openxmlformats.org/drawingml/2006/main">
              <a:ext uri="{FF2B5EF4-FFF2-40B4-BE49-F238E27FC236}">
                <a16:creationId xmlns:a16="http://schemas.microsoft.com/office/drawing/2014/main" id="{781CAF4A-6821-4E8F-AD21-2D7F6F942243}"/>
              </a:ext>
            </a:extLst>
          </p:cNvPr>
          <p:cNvSpPr>
            <a:spLocks xmlns:a="http://schemas.openxmlformats.org/drawingml/2006/main" noGrp="1"/>
          </p:cNvSpPr>
          <p:nvPr/>
        </p:nvSpPr>
        <p:spPr>
          <a:xfrm xmlns:a="http://schemas.openxmlformats.org/drawingml/2006/main">
            <a:off x="7296150" y="193357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168D91"/>
                </a:solidFill>
                <a:latin typeface="DejaVu Sans"/>
                <a:ea typeface="DejaVu Sans"/>
                <a:cs typeface="DejaVu Sans"/>
              </a:defRPr>
            </a:defPPr>
          </a:lstStyle>
          <a:p xmlns:a="http://schemas.openxmlformats.org/drawingml/2006/main">
            <a:pPr algn="l">
              <a:lnSpc>
                <a:spcPct val="113000"/>
              </a:lnSpc>
              <a:buNone/>
              <a:defRPr sz="2400" b="1" i="0">
                <a:solidFill>
                  <a:srgbClr val="168D91"/>
                </a:solidFill>
                <a:latin typeface="DejaVu Sans"/>
                <a:ea typeface="DejaVu Sans"/>
                <a:cs typeface="DejaVu Sans"/>
              </a:defRPr>
            </a:pPr>
            <a:r>
              <a:rPr sz="2400" b="1" i="0">
                <a:solidFill>
                  <a:srgbClr val="168D91"/>
                </a:solidFill>
                <a:latin typeface="DejaVu Sans"/>
                <a:ea typeface="DejaVu Sans"/>
                <a:cs typeface="DejaVu Sans"/>
              </a:rPr>
              <a:t>Cepa E2</a:t>
            </a:r>
          </a:p>
        </p:txBody>
      </p:sp>
      <p:sp>
        <p:nvSpPr>
          <p:cNvPr id="8" name="text-7">
            <a:extLst xmlns:a="http://schemas.openxmlformats.org/drawingml/2006/main">
              <a:ext uri="{FF2B5EF4-FFF2-40B4-BE49-F238E27FC236}">
                <a16:creationId xmlns:a16="http://schemas.microsoft.com/office/drawing/2014/main" id="{DD0E4A49-14EC-4170-9DFF-E8CCEA02D946}"/>
              </a:ext>
            </a:extLst>
          </p:cNvPr>
          <p:cNvSpPr>
            <a:spLocks xmlns:a="http://schemas.openxmlformats.org/drawingml/2006/main" noGrp="1"/>
          </p:cNvSpPr>
          <p:nvPr/>
        </p:nvSpPr>
        <p:spPr>
          <a:xfrm xmlns:a="http://schemas.openxmlformats.org/drawingml/2006/main">
            <a:off x="7296150" y="2524125"/>
            <a:ext cx="4143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1">
                <a:solidFill>
                  <a:srgbClr val="168D91"/>
                </a:solidFill>
                <a:latin typeface="DejaVu Sans"/>
                <a:ea typeface="DejaVu Sans"/>
                <a:cs typeface="DejaVu Sans"/>
              </a:defRPr>
            </a:defPPr>
          </a:lstStyle>
          <a:p xmlns:a="http://schemas.openxmlformats.org/drawingml/2006/main">
            <a:pPr algn="l">
              <a:lnSpc>
                <a:spcPct val="113000"/>
              </a:lnSpc>
              <a:buNone/>
              <a:defRPr sz="2100" b="0" i="1">
                <a:solidFill>
                  <a:srgbClr val="168D91"/>
                </a:solidFill>
                <a:latin typeface="DejaVu Sans"/>
                <a:ea typeface="DejaVu Sans"/>
                <a:cs typeface="DejaVu Sans"/>
              </a:defRPr>
            </a:pPr>
            <a:r>
              <a:rPr sz="2100" b="0" i="1">
                <a:solidFill>
                  <a:srgbClr val="168D91"/>
                </a:solidFill>
                <a:latin typeface="DejaVu Sans"/>
                <a:ea typeface="DejaVu Sans"/>
                <a:cs typeface="DejaVu Sans"/>
              </a:rPr>
              <a:t>Pseudomonas alcaliphila</a:t>
            </a:r>
          </a:p>
        </p:txBody>
      </p:sp>
      <p:sp>
        <p:nvSpPr>
          <p:cNvPr id="9" name="text-8">
            <a:extLst xmlns:a="http://schemas.openxmlformats.org/drawingml/2006/main">
              <a:ext uri="{FF2B5EF4-FFF2-40B4-BE49-F238E27FC236}">
                <a16:creationId xmlns:a16="http://schemas.microsoft.com/office/drawing/2014/main" id="{2E525842-1944-440A-AD77-6B82F7E511ED}"/>
              </a:ext>
            </a:extLst>
          </p:cNvPr>
          <p:cNvSpPr>
            <a:spLocks xmlns:a="http://schemas.openxmlformats.org/drawingml/2006/main" noGrp="1"/>
          </p:cNvSpPr>
          <p:nvPr/>
        </p:nvSpPr>
        <p:spPr>
          <a:xfrm xmlns:a="http://schemas.openxmlformats.org/drawingml/2006/main">
            <a:off x="7296150" y="3524250"/>
            <a:ext cx="4143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173746"/>
                </a:solidFill>
                <a:latin typeface="DejaVu Sans"/>
                <a:ea typeface="DejaVu Sans"/>
                <a:cs typeface="DejaVu Sans"/>
              </a:defRPr>
            </a:defPPr>
          </a:lstStyle>
          <a:p xmlns:a="http://schemas.openxmlformats.org/drawingml/2006/main">
            <a:pPr algn="l">
              <a:lnSpc>
                <a:spcPct val="113000"/>
              </a:lnSpc>
              <a:buNone/>
              <a:defRPr sz="2175" b="1" i="0">
                <a:solidFill>
                  <a:srgbClr val="173746"/>
                </a:solidFill>
                <a:latin typeface="DejaVu Sans"/>
                <a:ea typeface="DejaVu Sans"/>
                <a:cs typeface="DejaVu Sans"/>
              </a:defRPr>
            </a:pPr>
            <a:r>
              <a:rPr sz="2175" b="1" i="0">
                <a:solidFill>
                  <a:srgbClr val="173746"/>
                </a:solidFill>
                <a:latin typeface="DejaVu Sans"/>
                <a:ea typeface="DejaVu Sans"/>
                <a:cs typeface="DejaVu Sans"/>
              </a:rPr>
              <a:t>Cianuro y mercurio</a:t>
            </a:r>
          </a:p>
        </p:txBody>
      </p:sp>
      <p:sp>
        <p:nvSpPr>
          <p:cNvPr id="10" name="text-9">
            <a:extLst xmlns:a="http://schemas.openxmlformats.org/drawingml/2006/main">
              <a:ext uri="{FF2B5EF4-FFF2-40B4-BE49-F238E27FC236}">
                <a16:creationId xmlns:a16="http://schemas.microsoft.com/office/drawing/2014/main" id="{0D7B5906-5AEC-4BFF-A709-C63ABDE551B7}"/>
              </a:ext>
            </a:extLst>
          </p:cNvPr>
          <p:cNvSpPr>
            <a:spLocks xmlns:a="http://schemas.openxmlformats.org/drawingml/2006/main" noGrp="1"/>
          </p:cNvSpPr>
          <p:nvPr/>
        </p:nvSpPr>
        <p:spPr>
          <a:xfrm xmlns:a="http://schemas.openxmlformats.org/drawingml/2006/main">
            <a:off x="7296150" y="4362450"/>
            <a:ext cx="41433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607781"/>
                </a:solidFill>
                <a:latin typeface="DejaVu Sans"/>
                <a:ea typeface="DejaVu Sans"/>
                <a:cs typeface="DejaVu Sans"/>
              </a:defRPr>
            </a:defPPr>
          </a:lstStyle>
          <a:p xmlns:a="http://schemas.openxmlformats.org/drawingml/2006/main">
            <a:pPr algn="l">
              <a:lnSpc>
                <a:spcPct val="113000"/>
              </a:lnSpc>
              <a:buNone/>
              <a:defRPr sz="2025" b="0" i="0">
                <a:solidFill>
                  <a:srgbClr val="607781"/>
                </a:solidFill>
                <a:latin typeface="DejaVu Sans"/>
                <a:ea typeface="DejaVu Sans"/>
                <a:cs typeface="DejaVu Sans"/>
              </a:defRPr>
            </a:pPr>
            <a:r>
              <a:rPr sz="2025" b="0" i="0">
                <a:solidFill>
                  <a:srgbClr val="607781"/>
                </a:solidFill>
                <a:latin typeface="DejaVu Sans"/>
                <a:ea typeface="DejaVu Sans"/>
                <a:cs typeface="DejaVu Sans"/>
              </a:rPr>
              <a:t>El mercurio puede cambiar de</a:t>
            </a:r>
          </a:p>
          <a:p xmlns:a="http://schemas.openxmlformats.org/drawingml/2006/main">
            <a:pPr algn="l">
              <a:lnSpc>
                <a:spcPct val="113000"/>
              </a:lnSpc>
              <a:buNone/>
              <a:defRPr sz="2025" b="0" i="0">
                <a:solidFill>
                  <a:srgbClr val="607781"/>
                </a:solidFill>
                <a:latin typeface="DejaVu Sans"/>
                <a:ea typeface="DejaVu Sans"/>
                <a:cs typeface="DejaVu Sans"/>
              </a:defRPr>
            </a:pPr>
            <a:r>
              <a:rPr sz="2025" b="0" i="0">
                <a:solidFill>
                  <a:srgbClr val="607781"/>
                </a:solidFill>
                <a:latin typeface="DejaVu Sans"/>
                <a:ea typeface="DejaVu Sans"/>
                <a:cs typeface="DejaVu Sans"/>
              </a:rPr>
              <a:t>forma o destino.</a:t>
            </a:r>
          </a:p>
        </p:txBody>
      </p:sp>
      <p:sp>
        <p:nvSpPr>
          <p:cNvPr id="11" name="text-10">
            <a:extLst xmlns:a="http://schemas.openxmlformats.org/drawingml/2006/main">
              <a:ext uri="{FF2B5EF4-FFF2-40B4-BE49-F238E27FC236}">
                <a16:creationId xmlns:a16="http://schemas.microsoft.com/office/drawing/2014/main" id="{EEA455DE-F048-41C4-934A-6CCC329B2093}"/>
              </a:ext>
            </a:extLst>
          </p:cNvPr>
          <p:cNvSpPr>
            <a:spLocks xmlns:a="http://schemas.openxmlformats.org/drawingml/2006/main" noGrp="1"/>
          </p:cNvSpPr>
          <p:nvPr/>
        </p:nvSpPr>
        <p:spPr>
          <a:xfrm xmlns:a="http://schemas.openxmlformats.org/drawingml/2006/main">
            <a:off x="619125" y="60579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173746"/>
                </a:solidFill>
                <a:latin typeface="DejaVu Sans"/>
                <a:ea typeface="DejaVu Sans"/>
                <a:cs typeface="DejaVu Sans"/>
              </a:defRPr>
            </a:defPPr>
          </a:lstStyle>
          <a:p xmlns:a="http://schemas.openxmlformats.org/drawingml/2006/main">
            <a:pPr algn="ctr">
              <a:lnSpc>
                <a:spcPct val="113000"/>
              </a:lnSpc>
              <a:buNone/>
              <a:defRPr sz="1800" b="1" i="0">
                <a:solidFill>
                  <a:srgbClr val="173746"/>
                </a:solidFill>
                <a:latin typeface="DejaVu Sans"/>
                <a:ea typeface="DejaVu Sans"/>
                <a:cs typeface="DejaVu Sans"/>
              </a:defRPr>
            </a:pPr>
            <a:r>
              <a:rPr sz="1800" b="1" i="0">
                <a:solidFill>
                  <a:srgbClr val="173746"/>
                </a:solidFill>
                <a:latin typeface="DejaVu Sans"/>
                <a:ea typeface="DejaVu Sans"/>
                <a:cs typeface="DejaVu Sans"/>
              </a:rPr>
              <a:t>Evidencia de laboratorio. Falta validar la aplicación en campo.</a:t>
            </a:r>
          </a:p>
        </p:txBody>
      </p:sp>
    </p:spTree>
    <p:extLst>
      <p:ext uri="{BB962C8B-B14F-4D97-AF65-F5344CB8AC3E}">
        <p14:creationId xmlns:p14="http://schemas.microsoft.com/office/powerpoint/2010/main" val="1615469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CBADB06C-61F4-472D-90F1-05F9DCD32C7A}"/>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Comparación de aplicaciones y evidencia</a:t>
            </a:r>
          </a:p>
        </p:txBody>
      </p:sp>
      <p:sp>
        <p:nvSpPr>
          <p:cNvPr id="2" name="text-2">
            <a:extLst xmlns:a="http://schemas.openxmlformats.org/drawingml/2006/main">
              <a:ext uri="{FF2B5EF4-FFF2-40B4-BE49-F238E27FC236}">
                <a16:creationId xmlns:a16="http://schemas.microsoft.com/office/drawing/2014/main" id="{54E64720-0778-4F16-8F60-E46C139839B4}"/>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Ejemplos seleccionados de estudios realizados en Ecuador.</a:t>
            </a:r>
          </a:p>
        </p:txBody>
      </p:sp>
      <p:sp>
        <p:nvSpPr>
          <p:cNvPr id="3" name="path-3">
            <a:extLst xmlns:a="http://schemas.openxmlformats.org/drawingml/2006/main">
              <a:ext uri="{FF2B5EF4-FFF2-40B4-BE49-F238E27FC236}">
                <a16:creationId xmlns:a16="http://schemas.microsoft.com/office/drawing/2014/main" id="{43C6292F-9B7D-4F4F-8AA6-B66967B0177D}"/>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34BC0B44-ABBA-41FF-A16E-5EBABCD28F83}"/>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[3] [4] [5] [6] [7] [8] [9]. Esquemas originales.</a:t>
            </a:r>
          </a:p>
        </p:txBody>
      </p:sp>
      <p:sp>
        <p:nvSpPr>
          <p:cNvPr id="5" name="text-5">
            <a:extLst xmlns:a="http://schemas.openxmlformats.org/drawingml/2006/main">
              <a:ext uri="{FF2B5EF4-FFF2-40B4-BE49-F238E27FC236}">
                <a16:creationId xmlns:a16="http://schemas.microsoft.com/office/drawing/2014/main" id="{6D98AA93-E86C-4F91-9B15-0193F9901381}"/>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15 / 20</a:t>
            </a:r>
          </a:p>
        </p:txBody>
      </p:sp>
      <p:graphicFrame>
        <p:nvGraphicFramePr>
          <p:cNvPr id="6" name="">
            <a:extLst xmlns:a="http://schemas.openxmlformats.org/drawingml/2006/main">
              <a:ext uri="{FF2B5EF4-FFF2-40B4-BE49-F238E27FC236}">
                <a16:creationId xmlns:a16="http://schemas.microsoft.com/office/drawing/2014/main" id="{1898ECDF-463E-4960-90B5-00E083824B71}"/>
              </a:ext>
            </a:extLst>
          </p:cNvPr>
          <p:cNvGraphicFramePr/>
          <p:nvPr/>
        </p:nvGraphicFramePr>
        <p:xfrm>
          <a:off xmlns:a="http://schemas.openxmlformats.org/drawingml/2006/main" x="609600" y="1962150"/>
          <a:ext xmlns:a="http://schemas.openxmlformats.org/drawingml/2006/main" cx="10972800" cy="3886200"/>
        </p:xfrm>
        <a:graphic xmlns:a="http://schemas.openxmlformats.org/drawingml/2006/main">
          <a:graphicData uri="http://schemas.openxmlformats.org/drawingml/2006/table">
            <a:tbl>
              <a:tblPr/>
              <a:tblGrid>
                <a:gridCol w="2667000"/>
                <a:gridCol w="4152900"/>
                <a:gridCol w="4152900"/>
              </a:tblGrid>
              <a:tr h="533400">
                <a:tc>
                  <a:txBody>
                    <a:bodyPr lIns="133350" tIns="133350" rIns="133350" bIns="133350"/>
                    <a:lstStyle/>
                    <a:p>
                      <a:pPr>
                        <a:lnSpc>
                          <a:spcPct val="110000"/>
                        </a:lnSpc>
                        <a:buNone/>
                      </a:pPr>
                      <a:r>
                        <a:rPr sz="1800" b="1">
                          <a:solidFill>
                            <a:srgbClr val="FFFFFF"/>
                          </a:solidFill>
                          <a:latin typeface="DejaVu Sans"/>
                          <a:ea typeface="DejaVu Sans"/>
                          <a:cs typeface="DejaVu Sans"/>
                        </a:rPr>
                        <a:t>Tema</a:t>
                      </a:r>
                    </a:p>
                  </a:txBody>
                  <a:tcPr marL="91440" marR="91440" marT="45720" marB="45720" anchor="ctr">
                    <a:lnL w="9525">
                      <a:solidFill>
                        <a:srgbClr val="D8E3E7"/>
                      </a:solidFill>
                      <a:prstDash val="solid"/>
                    </a:lnL>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00" b="1">
                          <a:solidFill>
                            <a:srgbClr val="FFFFFF"/>
                          </a:solidFill>
                          <a:latin typeface="DejaVu Sans"/>
                          <a:ea typeface="DejaVu Sans"/>
                          <a:cs typeface="DejaVu Sans"/>
                        </a:rPr>
                        <a:t>Bacterias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c>
                  <a:txBody>
                    <a:bodyPr lIns="133350" tIns="133350" rIns="133350" bIns="133350"/>
                    <a:lstStyle/>
                    <a:p>
                      <a:pPr>
                        <a:lnSpc>
                          <a:spcPct val="110000"/>
                        </a:lnSpc>
                        <a:buNone/>
                      </a:pPr>
                      <a:r>
                        <a:rPr sz="1800" b="1">
                          <a:solidFill>
                            <a:srgbClr val="FFFFFF"/>
                          </a:solidFill>
                          <a:latin typeface="DejaVu Sans"/>
                          <a:ea typeface="DejaVu Sans"/>
                          <a:cs typeface="DejaVu Sans"/>
                        </a:rPr>
                        <a:t>Arqueas</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73746"/>
                    </a:solidFill>
                  </a:tcPr>
                </a:tc>
              </a:tr>
              <a:tr h="838200">
                <a:tc>
                  <a:txBody>
                    <a:bodyPr lIns="133350" tIns="133350" rIns="133350" bIns="133350"/>
                    <a:lstStyle/>
                    <a:p>
                      <a:pPr>
                        <a:lnSpc>
                          <a:spcPct val="110000"/>
                        </a:lnSpc>
                        <a:buNone/>
                      </a:pPr>
                      <a:r>
                        <a:rPr sz="1800" b="1">
                          <a:solidFill>
                            <a:srgbClr val="173746"/>
                          </a:solidFill>
                          <a:latin typeface="DejaVu Sans"/>
                          <a:ea typeface="DejaVu Sans"/>
                          <a:cs typeface="DejaVu Sans"/>
                        </a:rPr>
                        <a:t>Diversidad local</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Especie y cepas caracterizadas</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Comunidades caracterizadas</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38200">
                <a:tc>
                  <a:txBody>
                    <a:bodyPr lIns="133350" tIns="133350" rIns="133350" bIns="133350"/>
                    <a:lstStyle/>
                    <a:p>
                      <a:pPr>
                        <a:lnSpc>
                          <a:spcPct val="110000"/>
                        </a:lnSpc>
                        <a:buNone/>
                      </a:pPr>
                      <a:r>
                        <a:rPr sz="1800" b="1">
                          <a:solidFill>
                            <a:srgbClr val="173746"/>
                          </a:solidFill>
                          <a:latin typeface="DejaVu Sans"/>
                          <a:ea typeface="DejaVu Sans"/>
                          <a:cs typeface="DejaVu Sans"/>
                        </a:rPr>
                        <a:t>Funciones</a:t>
                      </a:r>
                    </a:p>
                    <a:p>
                      <a:pPr>
                        <a:lnSpc>
                          <a:spcPct val="110000"/>
                        </a:lnSpc>
                        <a:buNone/>
                      </a:pPr>
                      <a:r>
                        <a:rPr sz="1800" b="1">
                          <a:solidFill>
                            <a:srgbClr val="173746"/>
                          </a:solidFill>
                          <a:latin typeface="DejaVu Sans"/>
                          <a:ea typeface="DejaVu Sans"/>
                          <a:cs typeface="DejaVu Sans"/>
                        </a:rPr>
                        <a:t>ilustradas</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Nodulación, antagonismo</a:t>
                      </a:r>
                    </a:p>
                    <a:p>
                      <a:pPr>
                        <a:lnSpc>
                          <a:spcPct val="110000"/>
                        </a:lnSpc>
                        <a:buNone/>
                      </a:pPr>
                      <a:r>
                        <a:rPr sz="1800" b="0">
                          <a:solidFill>
                            <a:srgbClr val="173746"/>
                          </a:solidFill>
                          <a:latin typeface="DejaVu Sans"/>
                          <a:ea typeface="DejaVu Sans"/>
                          <a:cs typeface="DejaVu Sans"/>
                        </a:rPr>
                        <a:t>potencial, resistencia</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Metanogénesis en comunidad</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38200">
                <a:tc>
                  <a:txBody>
                    <a:bodyPr lIns="133350" tIns="133350" rIns="133350" bIns="133350"/>
                    <a:lstStyle/>
                    <a:p>
                      <a:pPr>
                        <a:lnSpc>
                          <a:spcPct val="110000"/>
                        </a:lnSpc>
                        <a:buNone/>
                      </a:pPr>
                      <a:r>
                        <a:rPr sz="1800" b="1">
                          <a:solidFill>
                            <a:srgbClr val="173746"/>
                          </a:solidFill>
                          <a:latin typeface="DejaVu Sans"/>
                          <a:ea typeface="DejaVu Sans"/>
                          <a:cs typeface="DejaVu Sans"/>
                        </a:rPr>
                        <a:t>Aplicaciones</a:t>
                      </a:r>
                    </a:p>
                    <a:p>
                      <a:pPr>
                        <a:lnSpc>
                          <a:spcPct val="110000"/>
                        </a:lnSpc>
                        <a:buNone/>
                      </a:pPr>
                      <a:r>
                        <a:rPr sz="1800" b="1">
                          <a:solidFill>
                            <a:srgbClr val="173746"/>
                          </a:solidFill>
                          <a:latin typeface="DejaVu Sans"/>
                          <a:ea typeface="DejaVu Sans"/>
                          <a:cs typeface="DejaVu Sans"/>
                        </a:rPr>
                        <a:t>estudiadas</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Agricultura, acuicultura, salud y</a:t>
                      </a:r>
                    </a:p>
                    <a:p>
                      <a:pPr>
                        <a:lnSpc>
                          <a:spcPct val="110000"/>
                        </a:lnSpc>
                        <a:buNone/>
                      </a:pPr>
                      <a:r>
                        <a:rPr sz="1800" b="0">
                          <a:solidFill>
                            <a:srgbClr val="173746"/>
                          </a:solidFill>
                          <a:latin typeface="DejaVu Sans"/>
                          <a:ea typeface="DejaVu Sans"/>
                          <a:cs typeface="DejaVu Sans"/>
                        </a:rPr>
                        <a:t>remediación</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Ciclo del metano y biodigestión</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r h="838200">
                <a:tc>
                  <a:txBody>
                    <a:bodyPr lIns="133350" tIns="133350" rIns="133350" bIns="133350"/>
                    <a:lstStyle/>
                    <a:p>
                      <a:pPr>
                        <a:lnSpc>
                          <a:spcPct val="110000"/>
                        </a:lnSpc>
                        <a:buNone/>
                      </a:pPr>
                      <a:r>
                        <a:rPr sz="1800" b="1">
                          <a:solidFill>
                            <a:srgbClr val="173746"/>
                          </a:solidFill>
                          <a:latin typeface="DejaVu Sans"/>
                          <a:ea typeface="DejaVu Sans"/>
                          <a:cs typeface="DejaVu Sans"/>
                        </a:rPr>
                        <a:t>Qué se debe</a:t>
                      </a:r>
                    </a:p>
                    <a:p>
                      <a:pPr>
                        <a:lnSpc>
                          <a:spcPct val="110000"/>
                        </a:lnSpc>
                        <a:buNone/>
                      </a:pPr>
                      <a:r>
                        <a:rPr sz="1800" b="1">
                          <a:solidFill>
                            <a:srgbClr val="173746"/>
                          </a:solidFill>
                          <a:latin typeface="DejaVu Sans"/>
                          <a:ea typeface="DejaVu Sans"/>
                          <a:cs typeface="DejaVu Sans"/>
                        </a:rPr>
                        <a:t>validar</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Depende de la cepa y el ensayo</a:t>
                      </a:r>
                    </a:p>
                  </a:txBody>
                  <a:tcPr marL="91440" marR="91440" marT="45720" marB="45720" anchor="ctr">
                    <a:lnR w="9525">
                      <a:solidFill>
                        <a:srgbClr val="D8E3E7"/>
                      </a:solidFill>
                      <a:prstDash val="solid"/>
                    </a:lnR>
                    <a:lnB w="9525">
                      <a:solidFill>
                        <a:srgbClr val="D8E3E7"/>
                      </a:solidFill>
                      <a:prstDash val="solid"/>
                    </a:lnB>
                    <a:solidFill>
                      <a:srgbClr val="ECF6F6"/>
                    </a:solidFill>
                  </a:tcPr>
                </a:tc>
                <a:tc>
                  <a:txBody>
                    <a:bodyPr lIns="133350" tIns="133350" rIns="133350" bIns="133350"/>
                    <a:lstStyle/>
                    <a:p>
                      <a:pPr>
                        <a:lnSpc>
                          <a:spcPct val="110000"/>
                        </a:lnSpc>
                        <a:buNone/>
                      </a:pPr>
                      <a:r>
                        <a:rPr sz="1800" b="0">
                          <a:solidFill>
                            <a:srgbClr val="173746"/>
                          </a:solidFill>
                          <a:latin typeface="DejaVu Sans"/>
                          <a:ea typeface="DejaVu Sans"/>
                          <a:cs typeface="DejaVu Sans"/>
                        </a:rPr>
                        <a:t>Función, rendimiento y contexto</a:t>
                      </a:r>
                    </a:p>
                  </a:txBody>
                  <a:tcPr marL="91440" marR="91440" marT="45720" marB="45720" anchor="ctr">
                    <a:lnR w="9525">
                      <a:solidFill>
                        <a:srgbClr val="D8E3E7"/>
                      </a:solidFill>
                      <a:prstDash val="solid"/>
                    </a:lnR>
                    <a:lnB w="9525">
                      <a:solidFill>
                        <a:srgbClr val="D8E3E7"/>
                      </a:solidFill>
                      <a:prstDash val="solid"/>
                    </a:lnB>
                    <a:solidFill>
                      <a:srgbClr val="FAF5EB"/>
                    </a:solidFill>
                  </a:tcPr>
                </a:tc>
              </a:tr>
            </a:tbl>
          </a:graphicData>
        </a:graphic>
      </p:graphicFrame>
    </p:spTree>
    <p:extLst>
      <p:ext uri="{BB962C8B-B14F-4D97-AF65-F5344CB8AC3E}">
        <p14:creationId xmlns:p14="http://schemas.microsoft.com/office/powerpoint/2010/main" val="12459613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1">
            <a:extLst xmlns:a="http://schemas.openxmlformats.org/drawingml/2006/main">
              <a:ext uri="{FF2B5EF4-FFF2-40B4-BE49-F238E27FC236}">
                <a16:creationId xmlns:a16="http://schemas.microsoft.com/office/drawing/2014/main" id="{527DDAA4-C68F-4B7F-800C-0900941622D4}"/>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Actividad: elegir una conclusión defendible</a:t>
            </a:r>
          </a:p>
        </p:txBody>
      </p:sp>
      <p:sp>
        <p:nvSpPr>
          <p:cNvPr id="2" name="text-2">
            <a:extLst xmlns:a="http://schemas.openxmlformats.org/drawingml/2006/main">
              <a:ext uri="{FF2B5EF4-FFF2-40B4-BE49-F238E27FC236}">
                <a16:creationId xmlns:a16="http://schemas.microsoft.com/office/drawing/2014/main" id="{4C628874-A122-47BC-BD21-F5101869EC54}"/>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En parejas o tríos, elijan un caso y una mirada profesional.</a:t>
            </a:r>
          </a:p>
        </p:txBody>
      </p:sp>
      <p:sp>
        <p:nvSpPr>
          <p:cNvPr id="3" name="path-3">
            <a:extLst xmlns:a="http://schemas.openxmlformats.org/drawingml/2006/main">
              <a:ext uri="{FF2B5EF4-FFF2-40B4-BE49-F238E27FC236}">
                <a16:creationId xmlns:a16="http://schemas.microsoft.com/office/drawing/2014/main" id="{BD98A4CB-2E89-4704-A4C8-1FBA68720319}"/>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DF25F6C9-2F9D-4D15-868B-6A6A752255AA}"/>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[3] [5] [7] [9]. Esquemas originales.</a:t>
            </a:r>
          </a:p>
        </p:txBody>
      </p:sp>
      <p:sp>
        <p:nvSpPr>
          <p:cNvPr id="5" name="text-5">
            <a:extLst xmlns:a="http://schemas.openxmlformats.org/drawingml/2006/main">
              <a:ext uri="{FF2B5EF4-FFF2-40B4-BE49-F238E27FC236}">
                <a16:creationId xmlns:a16="http://schemas.microsoft.com/office/drawing/2014/main" id="{22368B85-3227-4433-85F9-3EB252049203}"/>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16 / 20</a:t>
            </a:r>
          </a:p>
        </p:txBody>
      </p:sp>
      <p:sp>
        <p:nvSpPr>
          <p:cNvPr id="6" name="text-6">
            <a:extLst xmlns:a="http://schemas.openxmlformats.org/drawingml/2006/main">
              <a:ext uri="{FF2B5EF4-FFF2-40B4-BE49-F238E27FC236}">
                <a16:creationId xmlns:a16="http://schemas.microsoft.com/office/drawing/2014/main" id="{C3F8D614-7688-49D9-9D5A-A851C5872E37}"/>
              </a:ext>
            </a:extLst>
          </p:cNvPr>
          <p:cNvSpPr>
            <a:spLocks xmlns:a="http://schemas.openxmlformats.org/drawingml/2006/main" noGrp="1"/>
          </p:cNvSpPr>
          <p:nvPr/>
        </p:nvSpPr>
        <p:spPr>
          <a:xfrm xmlns:a="http://schemas.openxmlformats.org/drawingml/2006/main">
            <a:off x="657225" y="1809750"/>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i="0">
                <a:solidFill>
                  <a:srgbClr val="5B983F"/>
                </a:solidFill>
                <a:latin typeface="DejaVu Sans"/>
                <a:ea typeface="DejaVu Sans"/>
                <a:cs typeface="DejaVu Sans"/>
              </a:defRPr>
            </a:defPPr>
          </a:lstStyle>
          <a:p xmlns:a="http://schemas.openxmlformats.org/drawingml/2006/main">
            <a:pPr algn="l">
              <a:lnSpc>
                <a:spcPct val="113000"/>
              </a:lnSpc>
              <a:buNone/>
              <a:defRPr sz="4800" b="1" i="0">
                <a:solidFill>
                  <a:srgbClr val="5B983F"/>
                </a:solidFill>
                <a:latin typeface="DejaVu Sans"/>
                <a:ea typeface="DejaVu Sans"/>
                <a:cs typeface="DejaVu Sans"/>
              </a:defRPr>
            </a:pPr>
            <a:r>
              <a:rPr sz="4800" b="1" i="0">
                <a:solidFill>
                  <a:srgbClr val="5B983F"/>
                </a:solidFill>
                <a:latin typeface="DejaVu Sans"/>
                <a:ea typeface="DejaVu Sans"/>
                <a:cs typeface="DejaVu Sans"/>
              </a:rPr>
              <a:t>A</a:t>
            </a:r>
          </a:p>
        </p:txBody>
      </p:sp>
      <p:sp>
        <p:nvSpPr>
          <p:cNvPr id="7" name="text-7">
            <a:extLst xmlns:a="http://schemas.openxmlformats.org/drawingml/2006/main">
              <a:ext uri="{FF2B5EF4-FFF2-40B4-BE49-F238E27FC236}">
                <a16:creationId xmlns:a16="http://schemas.microsoft.com/office/drawing/2014/main" id="{C7CCA7A7-C50E-464B-BE4B-F5EB174D8F67}"/>
              </a:ext>
            </a:extLst>
          </p:cNvPr>
          <p:cNvSpPr>
            <a:spLocks xmlns:a="http://schemas.openxmlformats.org/drawingml/2006/main" noGrp="1"/>
          </p:cNvSpPr>
          <p:nvPr/>
        </p:nvSpPr>
        <p:spPr>
          <a:xfrm xmlns:a="http://schemas.openxmlformats.org/drawingml/2006/main">
            <a:off x="657225" y="2724150"/>
            <a:ext cx="333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173746"/>
                </a:solidFill>
                <a:latin typeface="DejaVu Sans"/>
                <a:ea typeface="DejaVu Sans"/>
                <a:cs typeface="DejaVu Sans"/>
              </a:defRPr>
            </a:defPPr>
          </a:lstStyle>
          <a:p xmlns:a="http://schemas.openxmlformats.org/drawingml/2006/main">
            <a:pPr algn="l">
              <a:lnSpc>
                <a:spcPct val="113000"/>
              </a:lnSpc>
              <a:buNone/>
              <a:defRPr sz="2025" b="1" i="0">
                <a:solidFill>
                  <a:srgbClr val="173746"/>
                </a:solidFill>
                <a:latin typeface="DejaVu Sans"/>
                <a:ea typeface="DejaVu Sans"/>
                <a:cs typeface="DejaVu Sans"/>
              </a:defRPr>
            </a:pPr>
            <a:r>
              <a:rPr sz="2025" b="1" i="0">
                <a:solidFill>
                  <a:srgbClr val="173746"/>
                </a:solidFill>
                <a:latin typeface="DejaVu Sans"/>
                <a:ea typeface="DejaVu Sans"/>
                <a:cs typeface="DejaVu Sans"/>
              </a:rPr>
              <a:t>Nódulo y especie</a:t>
            </a:r>
          </a:p>
          <a:p xmlns:a="http://schemas.openxmlformats.org/drawingml/2006/main">
            <a:pPr algn="l">
              <a:lnSpc>
                <a:spcPct val="113000"/>
              </a:lnSpc>
              <a:buNone/>
              <a:defRPr sz="2025" b="1" i="0">
                <a:solidFill>
                  <a:srgbClr val="173746"/>
                </a:solidFill>
                <a:latin typeface="DejaVu Sans"/>
                <a:ea typeface="DejaVu Sans"/>
                <a:cs typeface="DejaVu Sans"/>
              </a:defRPr>
            </a:pPr>
            <a:r>
              <a:rPr sz="2025" b="1" i="0">
                <a:solidFill>
                  <a:srgbClr val="173746"/>
                </a:solidFill>
                <a:latin typeface="DejaVu Sans"/>
                <a:ea typeface="DejaVu Sans"/>
                <a:cs typeface="DejaVu Sans"/>
              </a:rPr>
              <a:t>nueva</a:t>
            </a:r>
          </a:p>
        </p:txBody>
      </p:sp>
      <p:sp>
        <p:nvSpPr>
          <p:cNvPr id="8" name="text-8">
            <a:extLst xmlns:a="http://schemas.openxmlformats.org/drawingml/2006/main">
              <a:ext uri="{FF2B5EF4-FFF2-40B4-BE49-F238E27FC236}">
                <a16:creationId xmlns:a16="http://schemas.microsoft.com/office/drawing/2014/main" id="{13D8D56F-873F-4BB8-A6D9-29D187B78D38}"/>
              </a:ext>
            </a:extLst>
          </p:cNvPr>
          <p:cNvSpPr>
            <a:spLocks xmlns:a="http://schemas.openxmlformats.org/drawingml/2006/main" noGrp="1"/>
          </p:cNvSpPr>
          <p:nvPr/>
        </p:nvSpPr>
        <p:spPr>
          <a:xfrm xmlns:a="http://schemas.openxmlformats.org/drawingml/2006/main">
            <a:off x="657225" y="3505200"/>
            <a:ext cx="3333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CNPSo 675ᵀ no volvió a</a:t>
            </a:r>
          </a:p>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formar nódulos.</a:t>
            </a:r>
          </a:p>
        </p:txBody>
      </p:sp>
      <p:sp>
        <p:nvSpPr>
          <p:cNvPr id="9" name="text-9">
            <a:extLst xmlns:a="http://schemas.openxmlformats.org/drawingml/2006/main">
              <a:ext uri="{FF2B5EF4-FFF2-40B4-BE49-F238E27FC236}">
                <a16:creationId xmlns:a16="http://schemas.microsoft.com/office/drawing/2014/main" id="{75EC3EFF-1A41-44D6-9459-10D789F33482}"/>
              </a:ext>
            </a:extLst>
          </p:cNvPr>
          <p:cNvSpPr>
            <a:spLocks xmlns:a="http://schemas.openxmlformats.org/drawingml/2006/main" noGrp="1"/>
          </p:cNvSpPr>
          <p:nvPr/>
        </p:nvSpPr>
        <p:spPr>
          <a:xfrm xmlns:a="http://schemas.openxmlformats.org/drawingml/2006/main">
            <a:off x="657225" y="47625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5B983F"/>
                </a:solidFill>
                <a:latin typeface="DejaVu Sans"/>
                <a:ea typeface="DejaVu Sans"/>
                <a:cs typeface="DejaVu Sans"/>
              </a:defRPr>
            </a:defPPr>
          </a:lstStyle>
          <a:p xmlns:a="http://schemas.openxmlformats.org/drawingml/2006/main">
            <a:pPr algn="l">
              <a:lnSpc>
                <a:spcPct val="113000"/>
              </a:lnSpc>
              <a:buNone/>
              <a:defRPr sz="2025" b="1" i="0">
                <a:solidFill>
                  <a:srgbClr val="5B983F"/>
                </a:solidFill>
                <a:latin typeface="DejaVu Sans"/>
                <a:ea typeface="DejaVu Sans"/>
                <a:cs typeface="DejaVu Sans"/>
              </a:defRPr>
            </a:pPr>
            <a:r>
              <a:rPr sz="2025" b="1" i="0">
                <a:solidFill>
                  <a:srgbClr val="5B983F"/>
                </a:solidFill>
                <a:latin typeface="DejaVu Sans"/>
                <a:ea typeface="DejaVu Sans"/>
                <a:cs typeface="DejaVu Sans"/>
              </a:rPr>
              <a:t>¿Biofertilizante listo?</a:t>
            </a:r>
          </a:p>
        </p:txBody>
      </p:sp>
      <p:sp>
        <p:nvSpPr>
          <p:cNvPr id="10" name="path-10">
            <a:extLst xmlns:a="http://schemas.openxmlformats.org/drawingml/2006/main">
              <a:ext uri="{FF2B5EF4-FFF2-40B4-BE49-F238E27FC236}">
                <a16:creationId xmlns:a16="http://schemas.microsoft.com/office/drawing/2014/main" id="{A319C504-EE4D-4C16-B038-ED55DFB4469D}"/>
              </a:ext>
            </a:extLst>
          </p:cNvPr>
          <p:cNvSpPr>
            <a:spLocks xmlns:a="http://schemas.openxmlformats.org/drawingml/2006/main" noGrp="1"/>
          </p:cNvSpPr>
          <p:nvPr/>
        </p:nvSpPr>
        <p:spPr>
          <a:xfrm xmlns:a="http://schemas.openxmlformats.org/drawingml/2006/main">
            <a:off x="4229100" y="1809750"/>
            <a:ext cx="953" cy="3667125"/>
          </a:xfrm>
          <a:custGeom xmlns:a="http://schemas.openxmlformats.org/drawingml/2006/main">
            <a:pathLst>
              <a:path w="953" h="3667125">
                <a:moveTo>
                  <a:pt x="0" y="0"/>
                </a:moveTo>
                <a:lnTo>
                  <a:pt x="0" y="3667125"/>
                </a:lnTo>
              </a:path>
            </a:pathLst>
          </a:custGeom>
          <a:noFill xmlns:a="http://schemas.openxmlformats.org/drawingml/2006/main"/>
          <a:ln xmlns:a="http://schemas.openxmlformats.org/drawingml/2006/main" w="11430">
            <a:solidFill>
              <a:srgbClr val="D8E3E7"/>
            </a:solidFill>
            <a:prstDash val="solid"/>
          </a:ln>
        </p:spPr>
      </p:sp>
      <p:sp>
        <p:nvSpPr>
          <p:cNvPr id="11" name="text-11">
            <a:extLst xmlns:a="http://schemas.openxmlformats.org/drawingml/2006/main">
              <a:ext uri="{FF2B5EF4-FFF2-40B4-BE49-F238E27FC236}">
                <a16:creationId xmlns:a16="http://schemas.microsoft.com/office/drawing/2014/main" id="{F7832848-473A-43F8-8F24-7C52CC10073E}"/>
              </a:ext>
            </a:extLst>
          </p:cNvPr>
          <p:cNvSpPr>
            <a:spLocks xmlns:a="http://schemas.openxmlformats.org/drawingml/2006/main" noGrp="1"/>
          </p:cNvSpPr>
          <p:nvPr/>
        </p:nvSpPr>
        <p:spPr>
          <a:xfrm xmlns:a="http://schemas.openxmlformats.org/drawingml/2006/main">
            <a:off x="4467225" y="1809750"/>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i="0">
                <a:solidFill>
                  <a:srgbClr val="168D91"/>
                </a:solidFill>
                <a:latin typeface="DejaVu Sans"/>
                <a:ea typeface="DejaVu Sans"/>
                <a:cs typeface="DejaVu Sans"/>
              </a:defRPr>
            </a:defPPr>
          </a:lstStyle>
          <a:p xmlns:a="http://schemas.openxmlformats.org/drawingml/2006/main">
            <a:pPr algn="l">
              <a:lnSpc>
                <a:spcPct val="113000"/>
              </a:lnSpc>
              <a:buNone/>
              <a:defRPr sz="4800" b="1" i="0">
                <a:solidFill>
                  <a:srgbClr val="168D91"/>
                </a:solidFill>
                <a:latin typeface="DejaVu Sans"/>
                <a:ea typeface="DejaVu Sans"/>
                <a:cs typeface="DejaVu Sans"/>
              </a:defRPr>
            </a:pPr>
            <a:r>
              <a:rPr sz="4800" b="1" i="0">
                <a:solidFill>
                  <a:srgbClr val="168D91"/>
                </a:solidFill>
                <a:latin typeface="DejaVu Sans"/>
                <a:ea typeface="DejaVu Sans"/>
                <a:cs typeface="DejaVu Sans"/>
              </a:rPr>
              <a:t>B</a:t>
            </a:r>
          </a:p>
        </p:txBody>
      </p:sp>
      <p:sp>
        <p:nvSpPr>
          <p:cNvPr id="12" name="text-12">
            <a:extLst xmlns:a="http://schemas.openxmlformats.org/drawingml/2006/main">
              <a:ext uri="{FF2B5EF4-FFF2-40B4-BE49-F238E27FC236}">
                <a16:creationId xmlns:a16="http://schemas.microsoft.com/office/drawing/2014/main" id="{41454D46-38D5-41DF-A4E1-76D49C57D09D}"/>
              </a:ext>
            </a:extLst>
          </p:cNvPr>
          <p:cNvSpPr>
            <a:spLocks xmlns:a="http://schemas.openxmlformats.org/drawingml/2006/main" noGrp="1"/>
          </p:cNvSpPr>
          <p:nvPr/>
        </p:nvSpPr>
        <p:spPr>
          <a:xfrm xmlns:a="http://schemas.openxmlformats.org/drawingml/2006/main">
            <a:off x="4467225" y="2724150"/>
            <a:ext cx="333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173746"/>
                </a:solidFill>
                <a:latin typeface="DejaVu Sans"/>
                <a:ea typeface="DejaVu Sans"/>
                <a:cs typeface="DejaVu Sans"/>
              </a:defRPr>
            </a:defPPr>
          </a:lstStyle>
          <a:p xmlns:a="http://schemas.openxmlformats.org/drawingml/2006/main">
            <a:pPr algn="l">
              <a:lnSpc>
                <a:spcPct val="113000"/>
              </a:lnSpc>
              <a:buNone/>
              <a:defRPr sz="2025" b="1" i="0">
                <a:solidFill>
                  <a:srgbClr val="173746"/>
                </a:solidFill>
                <a:latin typeface="DejaVu Sans"/>
                <a:ea typeface="DejaVu Sans"/>
                <a:cs typeface="DejaVu Sans"/>
              </a:defRPr>
            </a:pPr>
            <a:r>
              <a:rPr sz="2025" b="1" i="0">
                <a:solidFill>
                  <a:srgbClr val="173746"/>
                </a:solidFill>
                <a:latin typeface="DejaVu Sans"/>
                <a:ea typeface="DejaVu Sans"/>
                <a:cs typeface="DejaVu Sans"/>
              </a:rPr>
              <a:t>Genoma de 3TSA-3</a:t>
            </a:r>
          </a:p>
        </p:txBody>
      </p:sp>
      <p:sp>
        <p:nvSpPr>
          <p:cNvPr id="13" name="text-13">
            <a:extLst xmlns:a="http://schemas.openxmlformats.org/drawingml/2006/main">
              <a:ext uri="{FF2B5EF4-FFF2-40B4-BE49-F238E27FC236}">
                <a16:creationId xmlns:a16="http://schemas.microsoft.com/office/drawing/2014/main" id="{91413138-6E50-4A11-956F-47B7F661E118}"/>
              </a:ext>
            </a:extLst>
          </p:cNvPr>
          <p:cNvSpPr>
            <a:spLocks xmlns:a="http://schemas.openxmlformats.org/drawingml/2006/main" noGrp="1"/>
          </p:cNvSpPr>
          <p:nvPr/>
        </p:nvSpPr>
        <p:spPr>
          <a:xfrm xmlns:a="http://schemas.openxmlformats.org/drawingml/2006/main">
            <a:off x="4467225" y="3505200"/>
            <a:ext cx="3333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Se detectaron genes de</a:t>
            </a:r>
          </a:p>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bacteriocinas.</a:t>
            </a:r>
          </a:p>
        </p:txBody>
      </p:sp>
      <p:sp>
        <p:nvSpPr>
          <p:cNvPr id="14" name="text-14">
            <a:extLst xmlns:a="http://schemas.openxmlformats.org/drawingml/2006/main">
              <a:ext uri="{FF2B5EF4-FFF2-40B4-BE49-F238E27FC236}">
                <a16:creationId xmlns:a16="http://schemas.microsoft.com/office/drawing/2014/main" id="{8DC9EB93-9672-4C89-96FD-711ED8C2BA9C}"/>
              </a:ext>
            </a:extLst>
          </p:cNvPr>
          <p:cNvSpPr>
            <a:spLocks xmlns:a="http://schemas.openxmlformats.org/drawingml/2006/main" noGrp="1"/>
          </p:cNvSpPr>
          <p:nvPr/>
        </p:nvSpPr>
        <p:spPr>
          <a:xfrm xmlns:a="http://schemas.openxmlformats.org/drawingml/2006/main">
            <a:off x="4467225" y="47625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168D91"/>
                </a:solidFill>
                <a:latin typeface="DejaVu Sans"/>
                <a:ea typeface="DejaVu Sans"/>
                <a:cs typeface="DejaVu Sans"/>
              </a:defRPr>
            </a:defPPr>
          </a:lstStyle>
          <a:p xmlns:a="http://schemas.openxmlformats.org/drawingml/2006/main">
            <a:pPr algn="l">
              <a:lnSpc>
                <a:spcPct val="113000"/>
              </a:lnSpc>
              <a:buNone/>
              <a:defRPr sz="2025" b="1" i="0">
                <a:solidFill>
                  <a:srgbClr val="168D91"/>
                </a:solidFill>
                <a:latin typeface="DejaVu Sans"/>
                <a:ea typeface="DejaVu Sans"/>
                <a:cs typeface="DejaVu Sans"/>
              </a:defRPr>
            </a:pPr>
            <a:r>
              <a:rPr sz="2025" b="1" i="0">
                <a:solidFill>
                  <a:srgbClr val="168D91"/>
                </a:solidFill>
                <a:latin typeface="DejaVu Sans"/>
                <a:ea typeface="DejaVu Sans"/>
                <a:cs typeface="DejaVu Sans"/>
              </a:rPr>
              <a:t>¿Protección</a:t>
            </a:r>
          </a:p>
          <a:p xmlns:a="http://schemas.openxmlformats.org/drawingml/2006/main">
            <a:pPr algn="l">
              <a:lnSpc>
                <a:spcPct val="113000"/>
              </a:lnSpc>
              <a:buNone/>
              <a:defRPr sz="2025" b="1" i="0">
                <a:solidFill>
                  <a:srgbClr val="168D91"/>
                </a:solidFill>
                <a:latin typeface="DejaVu Sans"/>
                <a:ea typeface="DejaVu Sans"/>
                <a:cs typeface="DejaVu Sans"/>
              </a:defRPr>
            </a:pPr>
            <a:r>
              <a:rPr sz="2025" b="1" i="0">
                <a:solidFill>
                  <a:srgbClr val="168D91"/>
                </a:solidFill>
                <a:latin typeface="DejaVu Sans"/>
                <a:ea typeface="DejaVu Sans"/>
                <a:cs typeface="DejaVu Sans"/>
              </a:rPr>
              <a:t>comprobada?</a:t>
            </a:r>
          </a:p>
        </p:txBody>
      </p:sp>
      <p:sp>
        <p:nvSpPr>
          <p:cNvPr id="15" name="path-15">
            <a:extLst xmlns:a="http://schemas.openxmlformats.org/drawingml/2006/main">
              <a:ext uri="{FF2B5EF4-FFF2-40B4-BE49-F238E27FC236}">
                <a16:creationId xmlns:a16="http://schemas.microsoft.com/office/drawing/2014/main" id="{5609FFC7-12D4-4748-9498-AF2A8F9289AD}"/>
              </a:ext>
            </a:extLst>
          </p:cNvPr>
          <p:cNvSpPr>
            <a:spLocks xmlns:a="http://schemas.openxmlformats.org/drawingml/2006/main" noGrp="1"/>
          </p:cNvSpPr>
          <p:nvPr/>
        </p:nvSpPr>
        <p:spPr>
          <a:xfrm xmlns:a="http://schemas.openxmlformats.org/drawingml/2006/main">
            <a:off x="8039100" y="1809750"/>
            <a:ext cx="953" cy="3667125"/>
          </a:xfrm>
          <a:custGeom xmlns:a="http://schemas.openxmlformats.org/drawingml/2006/main">
            <a:pathLst>
              <a:path w="953" h="3667125">
                <a:moveTo>
                  <a:pt x="0" y="0"/>
                </a:moveTo>
                <a:lnTo>
                  <a:pt x="0" y="3667125"/>
                </a:lnTo>
              </a:path>
            </a:pathLst>
          </a:custGeom>
          <a:noFill xmlns:a="http://schemas.openxmlformats.org/drawingml/2006/main"/>
          <a:ln xmlns:a="http://schemas.openxmlformats.org/drawingml/2006/main" w="11430">
            <a:solidFill>
              <a:srgbClr val="D8E3E7"/>
            </a:solidFill>
            <a:prstDash val="solid"/>
          </a:ln>
        </p:spPr>
      </p:sp>
      <p:sp>
        <p:nvSpPr>
          <p:cNvPr id="16" name="text-16">
            <a:extLst xmlns:a="http://schemas.openxmlformats.org/drawingml/2006/main">
              <a:ext uri="{FF2B5EF4-FFF2-40B4-BE49-F238E27FC236}">
                <a16:creationId xmlns:a16="http://schemas.microsoft.com/office/drawing/2014/main" id="{3D6008FD-A145-4737-A771-2EA836FD1973}"/>
              </a:ext>
            </a:extLst>
          </p:cNvPr>
          <p:cNvSpPr>
            <a:spLocks xmlns:a="http://schemas.openxmlformats.org/drawingml/2006/main" noGrp="1"/>
          </p:cNvSpPr>
          <p:nvPr/>
        </p:nvSpPr>
        <p:spPr>
          <a:xfrm xmlns:a="http://schemas.openxmlformats.org/drawingml/2006/main">
            <a:off x="8277225" y="1809750"/>
            <a:ext cx="3333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i="0">
                <a:solidFill>
                  <a:srgbClr val="C58B22"/>
                </a:solidFill>
                <a:latin typeface="DejaVu Sans"/>
                <a:ea typeface="DejaVu Sans"/>
                <a:cs typeface="DejaVu Sans"/>
              </a:defRPr>
            </a:defPPr>
          </a:lstStyle>
          <a:p xmlns:a="http://schemas.openxmlformats.org/drawingml/2006/main">
            <a:pPr algn="l">
              <a:lnSpc>
                <a:spcPct val="113000"/>
              </a:lnSpc>
              <a:buNone/>
              <a:defRPr sz="4800" b="1" i="0">
                <a:solidFill>
                  <a:srgbClr val="C58B22"/>
                </a:solidFill>
                <a:latin typeface="DejaVu Sans"/>
                <a:ea typeface="DejaVu Sans"/>
                <a:cs typeface="DejaVu Sans"/>
              </a:defRPr>
            </a:pPr>
            <a:r>
              <a:rPr sz="4800" b="1" i="0">
                <a:solidFill>
                  <a:srgbClr val="C58B22"/>
                </a:solidFill>
                <a:latin typeface="DejaVu Sans"/>
                <a:ea typeface="DejaVu Sans"/>
                <a:cs typeface="DejaVu Sans"/>
              </a:rPr>
              <a:t>C</a:t>
            </a:r>
          </a:p>
        </p:txBody>
      </p:sp>
      <p:sp>
        <p:nvSpPr>
          <p:cNvPr id="17" name="text-17">
            <a:extLst xmlns:a="http://schemas.openxmlformats.org/drawingml/2006/main">
              <a:ext uri="{FF2B5EF4-FFF2-40B4-BE49-F238E27FC236}">
                <a16:creationId xmlns:a16="http://schemas.microsoft.com/office/drawing/2014/main" id="{C3346571-745E-4877-B6C2-F4EC602DEE3D}"/>
              </a:ext>
            </a:extLst>
          </p:cNvPr>
          <p:cNvSpPr>
            <a:spLocks xmlns:a="http://schemas.openxmlformats.org/drawingml/2006/main" noGrp="1"/>
          </p:cNvSpPr>
          <p:nvPr/>
        </p:nvSpPr>
        <p:spPr>
          <a:xfrm xmlns:a="http://schemas.openxmlformats.org/drawingml/2006/main">
            <a:off x="8277225" y="2724150"/>
            <a:ext cx="333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173746"/>
                </a:solidFill>
                <a:latin typeface="DejaVu Sans"/>
                <a:ea typeface="DejaVu Sans"/>
                <a:cs typeface="DejaVu Sans"/>
              </a:defRPr>
            </a:defPPr>
          </a:lstStyle>
          <a:p xmlns:a="http://schemas.openxmlformats.org/drawingml/2006/main">
            <a:pPr algn="l">
              <a:lnSpc>
                <a:spcPct val="113000"/>
              </a:lnSpc>
              <a:buNone/>
              <a:defRPr sz="2025" b="1" i="0">
                <a:solidFill>
                  <a:srgbClr val="173746"/>
                </a:solidFill>
                <a:latin typeface="DejaVu Sans"/>
                <a:ea typeface="DejaVu Sans"/>
                <a:cs typeface="DejaVu Sans"/>
              </a:defRPr>
            </a:pPr>
            <a:r>
              <a:rPr sz="2025" b="1" i="0">
                <a:solidFill>
                  <a:srgbClr val="173746"/>
                </a:solidFill>
                <a:latin typeface="DejaVu Sans"/>
                <a:ea typeface="DejaVu Sans"/>
                <a:cs typeface="DejaVu Sans"/>
              </a:rPr>
              <a:t>Consorcio de</a:t>
            </a:r>
          </a:p>
          <a:p xmlns:a="http://schemas.openxmlformats.org/drawingml/2006/main">
            <a:pPr algn="l">
              <a:lnSpc>
                <a:spcPct val="113000"/>
              </a:lnSpc>
              <a:buNone/>
              <a:defRPr sz="2025" b="1" i="0">
                <a:solidFill>
                  <a:srgbClr val="173746"/>
                </a:solidFill>
                <a:latin typeface="DejaVu Sans"/>
                <a:ea typeface="DejaVu Sans"/>
                <a:cs typeface="DejaVu Sans"/>
              </a:defRPr>
            </a:pPr>
            <a:r>
              <a:rPr sz="2025" b="1" i="0">
                <a:solidFill>
                  <a:srgbClr val="173746"/>
                </a:solidFill>
                <a:latin typeface="DejaVu Sans"/>
                <a:ea typeface="DejaVu Sans"/>
                <a:cs typeface="DejaVu Sans"/>
              </a:rPr>
              <a:t>biodigestor</a:t>
            </a:r>
          </a:p>
        </p:txBody>
      </p:sp>
      <p:sp>
        <p:nvSpPr>
          <p:cNvPr id="18" name="text-18">
            <a:extLst xmlns:a="http://schemas.openxmlformats.org/drawingml/2006/main">
              <a:ext uri="{FF2B5EF4-FFF2-40B4-BE49-F238E27FC236}">
                <a16:creationId xmlns:a16="http://schemas.microsoft.com/office/drawing/2014/main" id="{F5940240-2831-48E3-BAE6-E8549CB59BCC}"/>
              </a:ext>
            </a:extLst>
          </p:cNvPr>
          <p:cNvSpPr>
            <a:spLocks xmlns:a="http://schemas.openxmlformats.org/drawingml/2006/main" noGrp="1"/>
          </p:cNvSpPr>
          <p:nvPr/>
        </p:nvSpPr>
        <p:spPr>
          <a:xfrm xmlns:a="http://schemas.openxmlformats.org/drawingml/2006/main">
            <a:off x="8277225" y="3505200"/>
            <a:ext cx="3333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Se detectaron bacterias y</a:t>
            </a:r>
          </a:p>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arqueas.</a:t>
            </a:r>
          </a:p>
        </p:txBody>
      </p:sp>
      <p:sp>
        <p:nvSpPr>
          <p:cNvPr id="19" name="text-19">
            <a:extLst xmlns:a="http://schemas.openxmlformats.org/drawingml/2006/main">
              <a:ext uri="{FF2B5EF4-FFF2-40B4-BE49-F238E27FC236}">
                <a16:creationId xmlns:a16="http://schemas.microsoft.com/office/drawing/2014/main" id="{404DAFC8-31E1-48C8-B86D-5460E1724223}"/>
              </a:ext>
            </a:extLst>
          </p:cNvPr>
          <p:cNvSpPr>
            <a:spLocks xmlns:a="http://schemas.openxmlformats.org/drawingml/2006/main" noGrp="1"/>
          </p:cNvSpPr>
          <p:nvPr/>
        </p:nvSpPr>
        <p:spPr>
          <a:xfrm xmlns:a="http://schemas.openxmlformats.org/drawingml/2006/main">
            <a:off x="8277225" y="47625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C58B22"/>
                </a:solidFill>
                <a:latin typeface="DejaVu Sans"/>
                <a:ea typeface="DejaVu Sans"/>
                <a:cs typeface="DejaVu Sans"/>
              </a:defRPr>
            </a:defPPr>
          </a:lstStyle>
          <a:p xmlns:a="http://schemas.openxmlformats.org/drawingml/2006/main">
            <a:pPr algn="l">
              <a:lnSpc>
                <a:spcPct val="113000"/>
              </a:lnSpc>
              <a:buNone/>
              <a:defRPr sz="2025" b="1" i="0">
                <a:solidFill>
                  <a:srgbClr val="C58B22"/>
                </a:solidFill>
                <a:latin typeface="DejaVu Sans"/>
                <a:ea typeface="DejaVu Sans"/>
                <a:cs typeface="DejaVu Sans"/>
              </a:defRPr>
            </a:pPr>
            <a:r>
              <a:rPr sz="2025" b="1" i="0">
                <a:solidFill>
                  <a:srgbClr val="C58B22"/>
                </a:solidFill>
                <a:latin typeface="DejaVu Sans"/>
                <a:ea typeface="DejaVu Sans"/>
                <a:cs typeface="DejaVu Sans"/>
              </a:rPr>
              <a:t>¿Quién forma metano?</a:t>
            </a:r>
          </a:p>
        </p:txBody>
      </p:sp>
      <p:sp>
        <p:nvSpPr>
          <p:cNvPr id="20" name="text-20">
            <a:extLst xmlns:a="http://schemas.openxmlformats.org/drawingml/2006/main">
              <a:ext uri="{FF2B5EF4-FFF2-40B4-BE49-F238E27FC236}">
                <a16:creationId xmlns:a16="http://schemas.microsoft.com/office/drawing/2014/main" id="{BAF3FD55-8300-4656-BD5B-054317B35F9C}"/>
              </a:ext>
            </a:extLst>
          </p:cNvPr>
          <p:cNvSpPr>
            <a:spLocks xmlns:a="http://schemas.openxmlformats.org/drawingml/2006/main" noGrp="1"/>
          </p:cNvSpPr>
          <p:nvPr/>
        </p:nvSpPr>
        <p:spPr>
          <a:xfrm xmlns:a="http://schemas.openxmlformats.org/drawingml/2006/main">
            <a:off x="619125" y="5838825"/>
            <a:ext cx="1095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173746"/>
                </a:solidFill>
                <a:latin typeface="DejaVu Sans"/>
                <a:ea typeface="DejaVu Sans"/>
                <a:cs typeface="DejaVu Sans"/>
              </a:defRPr>
            </a:defPPr>
          </a:lstStyle>
          <a:p xmlns:a="http://schemas.openxmlformats.org/drawingml/2006/main">
            <a:pPr algn="ctr">
              <a:lnSpc>
                <a:spcPct val="113000"/>
              </a:lnSpc>
              <a:buNone/>
              <a:defRPr sz="2100" b="1" i="0">
                <a:solidFill>
                  <a:srgbClr val="173746"/>
                </a:solidFill>
                <a:latin typeface="DejaVu Sans"/>
                <a:ea typeface="DejaVu Sans"/>
                <a:cs typeface="DejaVu Sans"/>
              </a:defRPr>
            </a:pPr>
            <a:r>
              <a:rPr sz="2100" b="1" i="0">
                <a:solidFill>
                  <a:srgbClr val="173746"/>
                </a:solidFill>
                <a:latin typeface="DejaVu Sans"/>
                <a:ea typeface="DejaVu Sans"/>
                <a:cs typeface="DejaVu Sans"/>
              </a:rPr>
              <a:t>Grupo + función + evidencia + siguiente paso</a:t>
            </a:r>
          </a:p>
        </p:txBody>
      </p:sp>
    </p:spTree>
    <p:extLst>
      <p:ext uri="{BB962C8B-B14F-4D97-AF65-F5344CB8AC3E}">
        <p14:creationId xmlns:p14="http://schemas.microsoft.com/office/powerpoint/2010/main" val="7390770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B7733B9C-7F82-4975-9490-CDF0CD22890A}"/>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Cierre: explica con un ejemplo de Ecuador</a:t>
            </a:r>
          </a:p>
        </p:txBody>
      </p:sp>
      <p:sp>
        <p:nvSpPr>
          <p:cNvPr id="2" name="text-2">
            <a:extLst xmlns:a="http://schemas.openxmlformats.org/drawingml/2006/main">
              <a:ext uri="{FF2B5EF4-FFF2-40B4-BE49-F238E27FC236}">
                <a16:creationId xmlns:a16="http://schemas.microsoft.com/office/drawing/2014/main" id="{CA7D7CDD-87AD-499C-AAC2-93BCC374F038}"/>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Respuesta breve, individual.</a:t>
            </a:r>
          </a:p>
        </p:txBody>
      </p:sp>
      <p:sp>
        <p:nvSpPr>
          <p:cNvPr id="3" name="path-3">
            <a:extLst xmlns:a="http://schemas.openxmlformats.org/drawingml/2006/main">
              <a:ext uri="{FF2B5EF4-FFF2-40B4-BE49-F238E27FC236}">
                <a16:creationId xmlns:a16="http://schemas.microsoft.com/office/drawing/2014/main" id="{20D257C5-2DAF-46ED-9487-D109411F31BB}"/>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2AF6FEA5-76AE-4E7B-AC90-0E27F25D1FF0}"/>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Fuentes: [1] [3] [4] [5] [6] [7] [8] [9]. Esquemas originales.</a:t>
            </a:r>
          </a:p>
        </p:txBody>
      </p:sp>
      <p:sp>
        <p:nvSpPr>
          <p:cNvPr id="5" name="text-5">
            <a:extLst xmlns:a="http://schemas.openxmlformats.org/drawingml/2006/main">
              <a:ext uri="{FF2B5EF4-FFF2-40B4-BE49-F238E27FC236}">
                <a16:creationId xmlns:a16="http://schemas.microsoft.com/office/drawing/2014/main" id="{4F86CCF3-70BF-4D67-A49D-1A31A95DE55E}"/>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17 / 20</a:t>
            </a:r>
          </a:p>
        </p:txBody>
      </p:sp>
      <p:sp>
        <p:nvSpPr>
          <p:cNvPr id="6" name="text-6">
            <a:extLst xmlns:a="http://schemas.openxmlformats.org/drawingml/2006/main">
              <a:ext uri="{FF2B5EF4-FFF2-40B4-BE49-F238E27FC236}">
                <a16:creationId xmlns:a16="http://schemas.microsoft.com/office/drawing/2014/main" id="{2AD03FEA-C50E-4E89-9FA0-B3B65C1E02AE}"/>
              </a:ext>
            </a:extLst>
          </p:cNvPr>
          <p:cNvSpPr>
            <a:spLocks xmlns:a="http://schemas.openxmlformats.org/drawingml/2006/main" noGrp="1"/>
          </p:cNvSpPr>
          <p:nvPr/>
        </p:nvSpPr>
        <p:spPr>
          <a:xfrm xmlns:a="http://schemas.openxmlformats.org/drawingml/2006/main">
            <a:off x="733425" y="2076450"/>
            <a:ext cx="704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925" b="1" i="0">
                <a:solidFill>
                  <a:srgbClr val="168D91"/>
                </a:solidFill>
                <a:latin typeface="DejaVu Sans"/>
                <a:ea typeface="DejaVu Sans"/>
                <a:cs typeface="DejaVu Sans"/>
              </a:defRPr>
            </a:defPPr>
          </a:lstStyle>
          <a:p xmlns:a="http://schemas.openxmlformats.org/drawingml/2006/main">
            <a:pPr algn="ctr">
              <a:lnSpc>
                <a:spcPct val="113000"/>
              </a:lnSpc>
              <a:buNone/>
              <a:defRPr sz="2925" b="1" i="0">
                <a:solidFill>
                  <a:srgbClr val="168D91"/>
                </a:solidFill>
                <a:latin typeface="DejaVu Sans"/>
                <a:ea typeface="DejaVu Sans"/>
                <a:cs typeface="DejaVu Sans"/>
              </a:defRPr>
            </a:pPr>
            <a:r>
              <a:rPr sz="2925" b="1" i="0">
                <a:solidFill>
                  <a:srgbClr val="168D91"/>
                </a:solidFill>
                <a:latin typeface="DejaVu Sans"/>
                <a:ea typeface="DejaVu Sans"/>
                <a:cs typeface="DejaVu Sans"/>
              </a:rPr>
              <a:t>1</a:t>
            </a:r>
          </a:p>
        </p:txBody>
      </p:sp>
      <p:sp>
        <p:nvSpPr>
          <p:cNvPr id="7" name="text-7">
            <a:extLst xmlns:a="http://schemas.openxmlformats.org/drawingml/2006/main">
              <a:ext uri="{FF2B5EF4-FFF2-40B4-BE49-F238E27FC236}">
                <a16:creationId xmlns:a16="http://schemas.microsoft.com/office/drawing/2014/main" id="{C6429A87-3768-4E28-832D-86C572D10E10}"/>
              </a:ext>
            </a:extLst>
          </p:cNvPr>
          <p:cNvSpPr>
            <a:spLocks xmlns:a="http://schemas.openxmlformats.org/drawingml/2006/main" noGrp="1"/>
          </p:cNvSpPr>
          <p:nvPr/>
        </p:nvSpPr>
        <p:spPr>
          <a:xfrm xmlns:a="http://schemas.openxmlformats.org/drawingml/2006/main">
            <a:off x="1885950" y="2028825"/>
            <a:ext cx="92487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173746"/>
                </a:solidFill>
                <a:latin typeface="DejaVu Sans"/>
                <a:ea typeface="DejaVu Sans"/>
                <a:cs typeface="DejaVu Sans"/>
              </a:defRPr>
            </a:defPPr>
          </a:lstStyle>
          <a:p xmlns:a="http://schemas.openxmlformats.org/drawingml/2006/main">
            <a:pPr algn="l">
              <a:lnSpc>
                <a:spcPct val="113000"/>
              </a:lnSpc>
              <a:buNone/>
              <a:defRPr sz="2400" b="1" i="0">
                <a:solidFill>
                  <a:srgbClr val="173746"/>
                </a:solidFill>
                <a:latin typeface="DejaVu Sans"/>
                <a:ea typeface="DejaVu Sans"/>
                <a:cs typeface="DejaVu Sans"/>
              </a:defRPr>
            </a:pPr>
            <a:r>
              <a:rPr sz="2400" b="1" i="0">
                <a:solidFill>
                  <a:srgbClr val="173746"/>
                </a:solidFill>
                <a:latin typeface="DejaVu Sans"/>
                <a:ea typeface="DejaVu Sans"/>
                <a:cs typeface="DejaVu Sans"/>
              </a:rPr>
              <a:t>Una diferencia entre bacterias y arqueas.</a:t>
            </a:r>
          </a:p>
        </p:txBody>
      </p:sp>
      <p:sp>
        <p:nvSpPr>
          <p:cNvPr id="8" name="text-8">
            <a:extLst xmlns:a="http://schemas.openxmlformats.org/drawingml/2006/main">
              <a:ext uri="{FF2B5EF4-FFF2-40B4-BE49-F238E27FC236}">
                <a16:creationId xmlns:a16="http://schemas.microsoft.com/office/drawing/2014/main" id="{50087EE6-4BE7-42F9-81F0-636C94EB0CFD}"/>
              </a:ext>
            </a:extLst>
          </p:cNvPr>
          <p:cNvSpPr>
            <a:spLocks xmlns:a="http://schemas.openxmlformats.org/drawingml/2006/main" noGrp="1"/>
          </p:cNvSpPr>
          <p:nvPr/>
        </p:nvSpPr>
        <p:spPr>
          <a:xfrm xmlns:a="http://schemas.openxmlformats.org/drawingml/2006/main">
            <a:off x="733425" y="3486150"/>
            <a:ext cx="704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925" b="1" i="0">
                <a:solidFill>
                  <a:srgbClr val="C58B22"/>
                </a:solidFill>
                <a:latin typeface="DejaVu Sans"/>
                <a:ea typeface="DejaVu Sans"/>
                <a:cs typeface="DejaVu Sans"/>
              </a:defRPr>
            </a:defPPr>
          </a:lstStyle>
          <a:p xmlns:a="http://schemas.openxmlformats.org/drawingml/2006/main">
            <a:pPr algn="ctr">
              <a:lnSpc>
                <a:spcPct val="113000"/>
              </a:lnSpc>
              <a:buNone/>
              <a:defRPr sz="2925" b="1" i="0">
                <a:solidFill>
                  <a:srgbClr val="C58B22"/>
                </a:solidFill>
                <a:latin typeface="DejaVu Sans"/>
                <a:ea typeface="DejaVu Sans"/>
                <a:cs typeface="DejaVu Sans"/>
              </a:defRPr>
            </a:pPr>
            <a:r>
              <a:rPr sz="2925" b="1" i="0">
                <a:solidFill>
                  <a:srgbClr val="C58B22"/>
                </a:solidFill>
                <a:latin typeface="DejaVu Sans"/>
                <a:ea typeface="DejaVu Sans"/>
                <a:cs typeface="DejaVu Sans"/>
              </a:rPr>
              <a:t>2</a:t>
            </a:r>
          </a:p>
        </p:txBody>
      </p:sp>
      <p:sp>
        <p:nvSpPr>
          <p:cNvPr id="9" name="text-9">
            <a:extLst xmlns:a="http://schemas.openxmlformats.org/drawingml/2006/main">
              <a:ext uri="{FF2B5EF4-FFF2-40B4-BE49-F238E27FC236}">
                <a16:creationId xmlns:a16="http://schemas.microsoft.com/office/drawing/2014/main" id="{9E1AFDDD-7670-4D8B-A448-5C1BEA48ECC3}"/>
              </a:ext>
            </a:extLst>
          </p:cNvPr>
          <p:cNvSpPr>
            <a:spLocks xmlns:a="http://schemas.openxmlformats.org/drawingml/2006/main" noGrp="1"/>
          </p:cNvSpPr>
          <p:nvPr/>
        </p:nvSpPr>
        <p:spPr>
          <a:xfrm xmlns:a="http://schemas.openxmlformats.org/drawingml/2006/main">
            <a:off x="1885950" y="3438525"/>
            <a:ext cx="92487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173746"/>
                </a:solidFill>
                <a:latin typeface="DejaVu Sans"/>
                <a:ea typeface="DejaVu Sans"/>
                <a:cs typeface="DejaVu Sans"/>
              </a:defRPr>
            </a:defPPr>
          </a:lstStyle>
          <a:p xmlns:a="http://schemas.openxmlformats.org/drawingml/2006/main">
            <a:pPr algn="l">
              <a:lnSpc>
                <a:spcPct val="113000"/>
              </a:lnSpc>
              <a:buNone/>
              <a:defRPr sz="2400" b="1" i="0">
                <a:solidFill>
                  <a:srgbClr val="173746"/>
                </a:solidFill>
                <a:latin typeface="DejaVu Sans"/>
                <a:ea typeface="DejaVu Sans"/>
                <a:cs typeface="DejaVu Sans"/>
              </a:defRPr>
            </a:pPr>
            <a:r>
              <a:rPr sz="2400" b="1" i="0">
                <a:solidFill>
                  <a:srgbClr val="173746"/>
                </a:solidFill>
                <a:latin typeface="DejaVu Sans"/>
                <a:ea typeface="DejaVu Sans"/>
                <a:cs typeface="DejaVu Sans"/>
              </a:rPr>
              <a:t>Una función y una aplicación estudiada en Ecuador.</a:t>
            </a:r>
          </a:p>
        </p:txBody>
      </p:sp>
      <p:sp>
        <p:nvSpPr>
          <p:cNvPr id="10" name="text-10">
            <a:extLst xmlns:a="http://schemas.openxmlformats.org/drawingml/2006/main">
              <a:ext uri="{FF2B5EF4-FFF2-40B4-BE49-F238E27FC236}">
                <a16:creationId xmlns:a16="http://schemas.microsoft.com/office/drawing/2014/main" id="{4AC5B7A9-8B60-421C-96C9-73B138B09E7F}"/>
              </a:ext>
            </a:extLst>
          </p:cNvPr>
          <p:cNvSpPr>
            <a:spLocks xmlns:a="http://schemas.openxmlformats.org/drawingml/2006/main" noGrp="1"/>
          </p:cNvSpPr>
          <p:nvPr/>
        </p:nvSpPr>
        <p:spPr>
          <a:xfrm xmlns:a="http://schemas.openxmlformats.org/drawingml/2006/main">
            <a:off x="733425" y="4905375"/>
            <a:ext cx="704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925" b="1" i="0">
                <a:solidFill>
                  <a:srgbClr val="8A64B4"/>
                </a:solidFill>
                <a:latin typeface="DejaVu Sans"/>
                <a:ea typeface="DejaVu Sans"/>
                <a:cs typeface="DejaVu Sans"/>
              </a:defRPr>
            </a:defPPr>
          </a:lstStyle>
          <a:p xmlns:a="http://schemas.openxmlformats.org/drawingml/2006/main">
            <a:pPr algn="ctr">
              <a:lnSpc>
                <a:spcPct val="113000"/>
              </a:lnSpc>
              <a:buNone/>
              <a:defRPr sz="2925" b="1" i="0">
                <a:solidFill>
                  <a:srgbClr val="8A64B4"/>
                </a:solidFill>
                <a:latin typeface="DejaVu Sans"/>
                <a:ea typeface="DejaVu Sans"/>
                <a:cs typeface="DejaVu Sans"/>
              </a:defRPr>
            </a:pPr>
            <a:r>
              <a:rPr sz="2925" b="1" i="0">
                <a:solidFill>
                  <a:srgbClr val="8A64B4"/>
                </a:solidFill>
                <a:latin typeface="DejaVu Sans"/>
                <a:ea typeface="DejaVu Sans"/>
                <a:cs typeface="DejaVu Sans"/>
              </a:rPr>
              <a:t>3</a:t>
            </a:r>
          </a:p>
        </p:txBody>
      </p:sp>
      <p:sp>
        <p:nvSpPr>
          <p:cNvPr id="11" name="text-11">
            <a:extLst xmlns:a="http://schemas.openxmlformats.org/drawingml/2006/main">
              <a:ext uri="{FF2B5EF4-FFF2-40B4-BE49-F238E27FC236}">
                <a16:creationId xmlns:a16="http://schemas.microsoft.com/office/drawing/2014/main" id="{A98F67B1-3CCB-4F13-8B7E-9BCF9A631328}"/>
              </a:ext>
            </a:extLst>
          </p:cNvPr>
          <p:cNvSpPr>
            <a:spLocks xmlns:a="http://schemas.openxmlformats.org/drawingml/2006/main" noGrp="1"/>
          </p:cNvSpPr>
          <p:nvPr/>
        </p:nvSpPr>
        <p:spPr>
          <a:xfrm xmlns:a="http://schemas.openxmlformats.org/drawingml/2006/main">
            <a:off x="1885950" y="4857750"/>
            <a:ext cx="92487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173746"/>
                </a:solidFill>
                <a:latin typeface="DejaVu Sans"/>
                <a:ea typeface="DejaVu Sans"/>
                <a:cs typeface="DejaVu Sans"/>
              </a:defRPr>
            </a:defPPr>
          </a:lstStyle>
          <a:p xmlns:a="http://schemas.openxmlformats.org/drawingml/2006/main">
            <a:pPr algn="l">
              <a:lnSpc>
                <a:spcPct val="113000"/>
              </a:lnSpc>
              <a:buNone/>
              <a:defRPr sz="2400" b="1" i="0">
                <a:solidFill>
                  <a:srgbClr val="173746"/>
                </a:solidFill>
                <a:latin typeface="DejaVu Sans"/>
                <a:ea typeface="DejaVu Sans"/>
                <a:cs typeface="DejaVu Sans"/>
              </a:defRPr>
            </a:pPr>
            <a:r>
              <a:rPr sz="2400" b="1" i="0">
                <a:solidFill>
                  <a:srgbClr val="173746"/>
                </a:solidFill>
                <a:latin typeface="DejaVu Sans"/>
                <a:ea typeface="DejaVu Sans"/>
                <a:cs typeface="DejaVu Sans"/>
              </a:rPr>
              <a:t>Una conclusión que todavía necesitaría más</a:t>
            </a:r>
          </a:p>
          <a:p xmlns:a="http://schemas.openxmlformats.org/drawingml/2006/main">
            <a:pPr algn="l">
              <a:lnSpc>
                <a:spcPct val="113000"/>
              </a:lnSpc>
              <a:buNone/>
              <a:defRPr sz="2400" b="1" i="0">
                <a:solidFill>
                  <a:srgbClr val="173746"/>
                </a:solidFill>
                <a:latin typeface="DejaVu Sans"/>
                <a:ea typeface="DejaVu Sans"/>
                <a:cs typeface="DejaVu Sans"/>
              </a:defRPr>
            </a:pPr>
            <a:r>
              <a:rPr sz="2400" b="1" i="0">
                <a:solidFill>
                  <a:srgbClr val="173746"/>
                </a:solidFill>
                <a:latin typeface="DejaVu Sans"/>
                <a:ea typeface="DejaVu Sans"/>
                <a:cs typeface="DejaVu Sans"/>
              </a:rPr>
              <a:t>evidencia.</a:t>
            </a:r>
          </a:p>
        </p:txBody>
      </p:sp>
    </p:spTree>
    <p:extLst>
      <p:ext uri="{BB962C8B-B14F-4D97-AF65-F5344CB8AC3E}">
        <p14:creationId xmlns:p14="http://schemas.microsoft.com/office/powerpoint/2010/main" val="16297523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1">
            <a:extLst xmlns:a="http://schemas.openxmlformats.org/drawingml/2006/main">
              <a:ext uri="{FF2B5EF4-FFF2-40B4-BE49-F238E27FC236}">
                <a16:creationId xmlns:a16="http://schemas.microsoft.com/office/drawing/2014/main" id="{062220EE-8F3F-47EB-BAA5-25208FE6110B}"/>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Bibliografía</a:t>
            </a:r>
          </a:p>
        </p:txBody>
      </p:sp>
      <p:sp>
        <p:nvSpPr>
          <p:cNvPr id="2" name="text-2">
            <a:extLst xmlns:a="http://schemas.openxmlformats.org/drawingml/2006/main">
              <a:ext uri="{FF2B5EF4-FFF2-40B4-BE49-F238E27FC236}">
                <a16:creationId xmlns:a16="http://schemas.microsoft.com/office/drawing/2014/main" id="{20D4FA16-D812-4FB5-865E-F83F69FDCEFD}"/>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Fuentes de 2016–2026. Los casos ecuatorianos son investigaciones primarias.</a:t>
            </a:r>
          </a:p>
        </p:txBody>
      </p:sp>
      <p:sp>
        <p:nvSpPr>
          <p:cNvPr id="3" name="path-3">
            <a:extLst xmlns:a="http://schemas.openxmlformats.org/drawingml/2006/main">
              <a:ext uri="{FF2B5EF4-FFF2-40B4-BE49-F238E27FC236}">
                <a16:creationId xmlns:a16="http://schemas.microsoft.com/office/drawing/2014/main" id="{7EEF7B3B-66AA-4580-9D96-A49F5832A6F1}"/>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101E884A-662B-43FE-86FB-36C964DD29B5}"/>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Bibliografía de consulta.</a:t>
            </a:r>
          </a:p>
        </p:txBody>
      </p:sp>
      <p:sp>
        <p:nvSpPr>
          <p:cNvPr id="5" name="text-5">
            <a:extLst xmlns:a="http://schemas.openxmlformats.org/drawingml/2006/main">
              <a:ext uri="{FF2B5EF4-FFF2-40B4-BE49-F238E27FC236}">
                <a16:creationId xmlns:a16="http://schemas.microsoft.com/office/drawing/2014/main" id="{77251C55-B42D-47CF-9F16-5AEB0B988CBE}"/>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18 / 20</a:t>
            </a:r>
          </a:p>
        </p:txBody>
      </p:sp>
      <p:sp>
        <p:nvSpPr>
          <p:cNvPr id="6" name="text-6">
            <a:extLst xmlns:a="http://schemas.openxmlformats.org/drawingml/2006/main">
              <a:ext uri="{FF2B5EF4-FFF2-40B4-BE49-F238E27FC236}">
                <a16:creationId xmlns:a16="http://schemas.microsoft.com/office/drawing/2014/main" id="{DE1E7B33-6D46-4930-9886-07C6B2ABFCD1}"/>
              </a:ext>
            </a:extLst>
          </p:cNvPr>
          <p:cNvSpPr>
            <a:spLocks xmlns:a="http://schemas.openxmlformats.org/drawingml/2006/main" noGrp="1"/>
          </p:cNvSpPr>
          <p:nvPr/>
        </p:nvSpPr>
        <p:spPr>
          <a:xfrm xmlns:a="http://schemas.openxmlformats.org/drawingml/2006/main">
            <a:off x="609600" y="17145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[1]</a:t>
            </a:r>
          </a:p>
        </p:txBody>
      </p:sp>
      <p:sp>
        <p:nvSpPr>
          <p:cNvPr id="7" name="text-7">
            <a:extLst xmlns:a="http://schemas.openxmlformats.org/drawingml/2006/main">
              <a:ext uri="{FF2B5EF4-FFF2-40B4-BE49-F238E27FC236}">
                <a16:creationId xmlns:a16="http://schemas.microsoft.com/office/drawing/2014/main" id="{8CAF58BE-2A85-4552-BF97-440378898677}"/>
              </a:ext>
            </a:extLst>
          </p:cNvPr>
          <p:cNvSpPr>
            <a:spLocks xmlns:a="http://schemas.openxmlformats.org/drawingml/2006/main" noGrp="1"/>
          </p:cNvSpPr>
          <p:nvPr/>
        </p:nvSpPr>
        <p:spPr>
          <a:xfrm xmlns:a="http://schemas.openxmlformats.org/drawingml/2006/main">
            <a:off x="1200150" y="171450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Parker, N., et al. (2016)</a:t>
            </a:r>
          </a:p>
        </p:txBody>
      </p:sp>
      <p:sp>
        <p:nvSpPr>
          <p:cNvPr id="8" name="text-8">
            <a:extLst xmlns:a="http://schemas.openxmlformats.org/drawingml/2006/main">
              <a:ext uri="{FF2B5EF4-FFF2-40B4-BE49-F238E27FC236}">
                <a16:creationId xmlns:a16="http://schemas.microsoft.com/office/drawing/2014/main" id="{D7914652-869C-4E22-A5EE-33279CAE1CA9}"/>
              </a:ext>
            </a:extLst>
          </p:cNvPr>
          <p:cNvSpPr>
            <a:spLocks xmlns:a="http://schemas.openxmlformats.org/drawingml/2006/main" noGrp="1"/>
          </p:cNvSpPr>
          <p:nvPr/>
        </p:nvSpPr>
        <p:spPr>
          <a:xfrm xmlns:a="http://schemas.openxmlformats.org/drawingml/2006/main">
            <a:off x="1200150" y="2047875"/>
            <a:ext cx="10382250" cy="2140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Microbiology. Características celulares, metabolismo y crecimiento de procariotas.</a:t>
            </a:r>
          </a:p>
        </p:txBody>
      </p:sp>
      <p:sp>
        <p:nvSpPr>
          <p:cNvPr id="9" name="text-9">
            <a:extLst xmlns:a="http://schemas.openxmlformats.org/drawingml/2006/main">
              <a:ext uri="{FF2B5EF4-FFF2-40B4-BE49-F238E27FC236}">
                <a16:creationId xmlns:a16="http://schemas.microsoft.com/office/drawing/2014/main" id="{A3ABF4F1-504E-4A1E-BA36-F1D8C6E74575}"/>
              </a:ext>
            </a:extLst>
          </p:cNvPr>
          <p:cNvSpPr>
            <a:spLocks xmlns:a="http://schemas.openxmlformats.org/drawingml/2006/main" noGrp="1"/>
          </p:cNvSpPr>
          <p:nvPr/>
        </p:nvSpPr>
        <p:spPr>
          <a:xfrm xmlns:a="http://schemas.openxmlformats.org/drawingml/2006/main">
            <a:off x="1200150" y="2309527"/>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OpenStax, secciones 3.3, 8 y 9. Publicado el 1 de noviembre de 2016.</a:t>
            </a:r>
          </a:p>
        </p:txBody>
      </p:sp>
      <p:sp>
        <p:nvSpPr>
          <p:cNvPr id="10" name="text-10">
            <a:extLst xmlns:a="http://schemas.openxmlformats.org/drawingml/2006/main">
              <a:ext uri="{FF2B5EF4-FFF2-40B4-BE49-F238E27FC236}">
                <a16:creationId xmlns:a16="http://schemas.microsoft.com/office/drawing/2014/main" id="{DB2E4811-C951-41D1-A8A7-29462CB40381}"/>
              </a:ext>
            </a:extLst>
          </p:cNvPr>
          <p:cNvSpPr>
            <a:spLocks xmlns:a="http://schemas.openxmlformats.org/drawingml/2006/main" noGrp="1"/>
          </p:cNvSpPr>
          <p:nvPr/>
        </p:nvSpPr>
        <p:spPr>
          <a:xfrm xmlns:a="http://schemas.openxmlformats.org/drawingml/2006/main">
            <a:off x="1200150" y="2545509"/>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8f6ab8bb7e4a4d36"/>
              </a:rPr>
              <a:t>openstax.org/books/microbiology/pages/3-3-unique-characteristics-of-prokaryotic-cells</a:t>
            </a:r>
          </a:p>
        </p:txBody>
      </p:sp>
      <p:sp>
        <p:nvSpPr>
          <p:cNvPr id="11" name="text-11">
            <a:extLst xmlns:a="http://schemas.openxmlformats.org/drawingml/2006/main">
              <a:ext uri="{FF2B5EF4-FFF2-40B4-BE49-F238E27FC236}">
                <a16:creationId xmlns:a16="http://schemas.microsoft.com/office/drawing/2014/main" id="{7A98014D-F026-4358-B13A-E59631686EEB}"/>
              </a:ext>
            </a:extLst>
          </p:cNvPr>
          <p:cNvSpPr>
            <a:spLocks xmlns:a="http://schemas.openxmlformats.org/drawingml/2006/main" noGrp="1"/>
          </p:cNvSpPr>
          <p:nvPr/>
        </p:nvSpPr>
        <p:spPr>
          <a:xfrm xmlns:a="http://schemas.openxmlformats.org/drawingml/2006/main">
            <a:off x="609600" y="31813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[2]</a:t>
            </a:r>
          </a:p>
        </p:txBody>
      </p:sp>
      <p:sp>
        <p:nvSpPr>
          <p:cNvPr id="12" name="text-12">
            <a:extLst xmlns:a="http://schemas.openxmlformats.org/drawingml/2006/main">
              <a:ext uri="{FF2B5EF4-FFF2-40B4-BE49-F238E27FC236}">
                <a16:creationId xmlns:a16="http://schemas.microsoft.com/office/drawing/2014/main" id="{A4DBE7BC-F250-4274-8003-C5E4806953F2}"/>
              </a:ext>
            </a:extLst>
          </p:cNvPr>
          <p:cNvSpPr>
            <a:spLocks xmlns:a="http://schemas.openxmlformats.org/drawingml/2006/main" noGrp="1"/>
          </p:cNvSpPr>
          <p:nvPr/>
        </p:nvSpPr>
        <p:spPr>
          <a:xfrm xmlns:a="http://schemas.openxmlformats.org/drawingml/2006/main">
            <a:off x="1200150" y="31813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Zeng, Z., et al. (2018)</a:t>
            </a:r>
          </a:p>
        </p:txBody>
      </p:sp>
      <p:sp>
        <p:nvSpPr>
          <p:cNvPr id="13" name="text-13">
            <a:extLst xmlns:a="http://schemas.openxmlformats.org/drawingml/2006/main">
              <a:ext uri="{FF2B5EF4-FFF2-40B4-BE49-F238E27FC236}">
                <a16:creationId xmlns:a16="http://schemas.microsoft.com/office/drawing/2014/main" id="{17D67E08-680F-4DD0-B7D9-AB805F94E0A4}"/>
              </a:ext>
            </a:extLst>
          </p:cNvPr>
          <p:cNvSpPr>
            <a:spLocks xmlns:a="http://schemas.openxmlformats.org/drawingml/2006/main" noGrp="1"/>
          </p:cNvSpPr>
          <p:nvPr/>
        </p:nvSpPr>
        <p:spPr>
          <a:xfrm xmlns:a="http://schemas.openxmlformats.org/drawingml/2006/main">
            <a:off x="1200150" y="3514725"/>
            <a:ext cx="10382250" cy="2140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Calditol-linked membrane lipids are required for acid tolerance in Sulfolobus acidocaldarius.</a:t>
            </a:r>
          </a:p>
        </p:txBody>
      </p:sp>
      <p:sp>
        <p:nvSpPr>
          <p:cNvPr id="14" name="text-14">
            <a:extLst xmlns:a="http://schemas.openxmlformats.org/drawingml/2006/main">
              <a:ext uri="{FF2B5EF4-FFF2-40B4-BE49-F238E27FC236}">
                <a16:creationId xmlns:a16="http://schemas.microsoft.com/office/drawing/2014/main" id="{6EC4D418-45B7-4B99-8295-53D95D1202A8}"/>
              </a:ext>
            </a:extLst>
          </p:cNvPr>
          <p:cNvSpPr>
            <a:spLocks xmlns:a="http://schemas.openxmlformats.org/drawingml/2006/main" noGrp="1"/>
          </p:cNvSpPr>
          <p:nvPr/>
        </p:nvSpPr>
        <p:spPr>
          <a:xfrm xmlns:a="http://schemas.openxmlformats.org/drawingml/2006/main">
            <a:off x="1200150" y="3776377"/>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PNAS, 115, 12932–12937.</a:t>
            </a:r>
          </a:p>
        </p:txBody>
      </p:sp>
      <p:sp>
        <p:nvSpPr>
          <p:cNvPr id="15" name="text-15">
            <a:extLst xmlns:a="http://schemas.openxmlformats.org/drawingml/2006/main">
              <a:ext uri="{FF2B5EF4-FFF2-40B4-BE49-F238E27FC236}">
                <a16:creationId xmlns:a16="http://schemas.microsoft.com/office/drawing/2014/main" id="{D2225B15-0481-45FF-A655-0881C664999B}"/>
              </a:ext>
            </a:extLst>
          </p:cNvPr>
          <p:cNvSpPr>
            <a:spLocks xmlns:a="http://schemas.openxmlformats.org/drawingml/2006/main" noGrp="1"/>
          </p:cNvSpPr>
          <p:nvPr/>
        </p:nvSpPr>
        <p:spPr>
          <a:xfrm xmlns:a="http://schemas.openxmlformats.org/drawingml/2006/main">
            <a:off x="1200150" y="4012359"/>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b1b0f249d018430b"/>
              </a:rPr>
              <a:t>doi.org/10.1073/pnas.1814048115</a:t>
            </a:r>
          </a:p>
        </p:txBody>
      </p:sp>
      <p:sp>
        <p:nvSpPr>
          <p:cNvPr id="16" name="text-16">
            <a:extLst xmlns:a="http://schemas.openxmlformats.org/drawingml/2006/main">
              <a:ext uri="{FF2B5EF4-FFF2-40B4-BE49-F238E27FC236}">
                <a16:creationId xmlns:a16="http://schemas.microsoft.com/office/drawing/2014/main" id="{AF60E15D-242D-4C6D-9377-C37647A04BF6}"/>
              </a:ext>
            </a:extLst>
          </p:cNvPr>
          <p:cNvSpPr>
            <a:spLocks xmlns:a="http://schemas.openxmlformats.org/drawingml/2006/main" noGrp="1"/>
          </p:cNvSpPr>
          <p:nvPr/>
        </p:nvSpPr>
        <p:spPr>
          <a:xfrm xmlns:a="http://schemas.openxmlformats.org/drawingml/2006/main">
            <a:off x="609600" y="46482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[3]</a:t>
            </a:r>
          </a:p>
        </p:txBody>
      </p:sp>
      <p:sp>
        <p:nvSpPr>
          <p:cNvPr id="17" name="text-17">
            <a:extLst xmlns:a="http://schemas.openxmlformats.org/drawingml/2006/main">
              <a:ext uri="{FF2B5EF4-FFF2-40B4-BE49-F238E27FC236}">
                <a16:creationId xmlns:a16="http://schemas.microsoft.com/office/drawing/2014/main" id="{EA85303D-F73C-408D-99D5-63CA5D2A82E6}"/>
              </a:ext>
            </a:extLst>
          </p:cNvPr>
          <p:cNvSpPr>
            <a:spLocks xmlns:a="http://schemas.openxmlformats.org/drawingml/2006/main" noGrp="1"/>
          </p:cNvSpPr>
          <p:nvPr/>
        </p:nvSpPr>
        <p:spPr>
          <a:xfrm xmlns:a="http://schemas.openxmlformats.org/drawingml/2006/main">
            <a:off x="1200150" y="464820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Delamuta, J. R. M., et al. (2020)</a:t>
            </a:r>
          </a:p>
        </p:txBody>
      </p:sp>
      <p:sp>
        <p:nvSpPr>
          <p:cNvPr id="18" name="text-18">
            <a:extLst xmlns:a="http://schemas.openxmlformats.org/drawingml/2006/main">
              <a:ext uri="{FF2B5EF4-FFF2-40B4-BE49-F238E27FC236}">
                <a16:creationId xmlns:a16="http://schemas.microsoft.com/office/drawing/2014/main" id="{7D758079-69CD-4DB7-AAA8-276CAD040585}"/>
              </a:ext>
            </a:extLst>
          </p:cNvPr>
          <p:cNvSpPr>
            <a:spLocks xmlns:a="http://schemas.openxmlformats.org/drawingml/2006/main" noGrp="1"/>
          </p:cNvSpPr>
          <p:nvPr/>
        </p:nvSpPr>
        <p:spPr>
          <a:xfrm xmlns:a="http://schemas.openxmlformats.org/drawingml/2006/main">
            <a:off x="1200150" y="498157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Genetic diversity of Agrobacterium species isolated from nodules of common bean and soybean in Brazil, Mexico,</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Ecuador and Mozambique, and description of the new species Agrobacterium fabacearum sp. nov.</a:t>
            </a:r>
          </a:p>
        </p:txBody>
      </p:sp>
      <p:sp>
        <p:nvSpPr>
          <p:cNvPr id="19" name="text-19">
            <a:extLst xmlns:a="http://schemas.openxmlformats.org/drawingml/2006/main">
              <a:ext uri="{FF2B5EF4-FFF2-40B4-BE49-F238E27FC236}">
                <a16:creationId xmlns:a16="http://schemas.microsoft.com/office/drawing/2014/main" id="{4AB3BE2E-B731-4B80-BB36-15E6D1D19599}"/>
              </a:ext>
            </a:extLst>
          </p:cNvPr>
          <p:cNvSpPr>
            <a:spLocks xmlns:a="http://schemas.openxmlformats.org/drawingml/2006/main" noGrp="1"/>
          </p:cNvSpPr>
          <p:nvPr/>
        </p:nvSpPr>
        <p:spPr>
          <a:xfrm xmlns:a="http://schemas.openxmlformats.org/drawingml/2006/main">
            <a:off x="1200150" y="544772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International Journal of Systematic and Evolutionary Microbiology, 70, 4233–4244.</a:t>
            </a:r>
          </a:p>
        </p:txBody>
      </p:sp>
      <p:sp>
        <p:nvSpPr>
          <p:cNvPr id="20" name="text-20">
            <a:extLst xmlns:a="http://schemas.openxmlformats.org/drawingml/2006/main">
              <a:ext uri="{FF2B5EF4-FFF2-40B4-BE49-F238E27FC236}">
                <a16:creationId xmlns:a16="http://schemas.microsoft.com/office/drawing/2014/main" id="{AD484093-1F25-4769-B491-0BE693D5A4D3}"/>
              </a:ext>
            </a:extLst>
          </p:cNvPr>
          <p:cNvSpPr>
            <a:spLocks xmlns:a="http://schemas.openxmlformats.org/drawingml/2006/main" noGrp="1"/>
          </p:cNvSpPr>
          <p:nvPr/>
        </p:nvSpPr>
        <p:spPr>
          <a:xfrm xmlns:a="http://schemas.openxmlformats.org/drawingml/2006/main">
            <a:off x="1200150" y="568371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bc4db6d87c3c4f9a"/>
              </a:rPr>
              <a:t>doi.org/10.1099/ijsem.0.004278</a:t>
            </a:r>
          </a:p>
        </p:txBody>
      </p:sp>
    </p:spTree>
    <p:extLst>
      <p:ext uri="{BB962C8B-B14F-4D97-AF65-F5344CB8AC3E}">
        <p14:creationId xmlns:p14="http://schemas.microsoft.com/office/powerpoint/2010/main" val="19129770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1">
            <a:extLst xmlns:a="http://schemas.openxmlformats.org/drawingml/2006/main">
              <a:ext uri="{FF2B5EF4-FFF2-40B4-BE49-F238E27FC236}">
                <a16:creationId xmlns:a16="http://schemas.microsoft.com/office/drawing/2014/main" id="{956B2B6C-9FC3-465C-92E7-D6D8A3EB532F}"/>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Bibliografía</a:t>
            </a:r>
          </a:p>
        </p:txBody>
      </p:sp>
      <p:sp>
        <p:nvSpPr>
          <p:cNvPr id="2" name="text-2">
            <a:extLst xmlns:a="http://schemas.openxmlformats.org/drawingml/2006/main">
              <a:ext uri="{FF2B5EF4-FFF2-40B4-BE49-F238E27FC236}">
                <a16:creationId xmlns:a16="http://schemas.microsoft.com/office/drawing/2014/main" id="{D847FEFC-C8CC-49ED-B38D-603A58938F21}"/>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Fuentes de 2016–2026. Los casos ecuatorianos son investigaciones primarias.</a:t>
            </a:r>
          </a:p>
        </p:txBody>
      </p:sp>
      <p:sp>
        <p:nvSpPr>
          <p:cNvPr id="3" name="path-3">
            <a:extLst xmlns:a="http://schemas.openxmlformats.org/drawingml/2006/main">
              <a:ext uri="{FF2B5EF4-FFF2-40B4-BE49-F238E27FC236}">
                <a16:creationId xmlns:a16="http://schemas.microsoft.com/office/drawing/2014/main" id="{164913C0-159F-4E00-96BE-6A209DC4B089}"/>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66F1A5EF-E261-42F7-BE53-1230CCB9D557}"/>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Bibliografía de consulta.</a:t>
            </a:r>
          </a:p>
        </p:txBody>
      </p:sp>
      <p:sp>
        <p:nvSpPr>
          <p:cNvPr id="5" name="text-5">
            <a:extLst xmlns:a="http://schemas.openxmlformats.org/drawingml/2006/main">
              <a:ext uri="{FF2B5EF4-FFF2-40B4-BE49-F238E27FC236}">
                <a16:creationId xmlns:a16="http://schemas.microsoft.com/office/drawing/2014/main" id="{C91B831D-AD66-43BB-9484-F29588A2C31E}"/>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19 / 20</a:t>
            </a:r>
          </a:p>
        </p:txBody>
      </p:sp>
      <p:sp>
        <p:nvSpPr>
          <p:cNvPr id="6" name="text-6">
            <a:extLst xmlns:a="http://schemas.openxmlformats.org/drawingml/2006/main">
              <a:ext uri="{FF2B5EF4-FFF2-40B4-BE49-F238E27FC236}">
                <a16:creationId xmlns:a16="http://schemas.microsoft.com/office/drawing/2014/main" id="{7FF85D48-864E-491B-8E66-4CE35C19A54A}"/>
              </a:ext>
            </a:extLst>
          </p:cNvPr>
          <p:cNvSpPr>
            <a:spLocks xmlns:a="http://schemas.openxmlformats.org/drawingml/2006/main" noGrp="1"/>
          </p:cNvSpPr>
          <p:nvPr/>
        </p:nvSpPr>
        <p:spPr>
          <a:xfrm xmlns:a="http://schemas.openxmlformats.org/drawingml/2006/main">
            <a:off x="609600" y="17145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[4]</a:t>
            </a:r>
          </a:p>
        </p:txBody>
      </p:sp>
      <p:sp>
        <p:nvSpPr>
          <p:cNvPr id="7" name="text-7">
            <a:extLst xmlns:a="http://schemas.openxmlformats.org/drawingml/2006/main">
              <a:ext uri="{FF2B5EF4-FFF2-40B4-BE49-F238E27FC236}">
                <a16:creationId xmlns:a16="http://schemas.microsoft.com/office/drawing/2014/main" id="{27C6D59B-1A8C-4459-A7F0-390265A40492}"/>
              </a:ext>
            </a:extLst>
          </p:cNvPr>
          <p:cNvSpPr>
            <a:spLocks xmlns:a="http://schemas.openxmlformats.org/drawingml/2006/main" noGrp="1"/>
          </p:cNvSpPr>
          <p:nvPr/>
        </p:nvSpPr>
        <p:spPr>
          <a:xfrm xmlns:a="http://schemas.openxmlformats.org/drawingml/2006/main">
            <a:off x="1200150" y="171450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León-Cadena, A., et al. (2026)</a:t>
            </a:r>
          </a:p>
        </p:txBody>
      </p:sp>
      <p:sp>
        <p:nvSpPr>
          <p:cNvPr id="8" name="text-8">
            <a:extLst xmlns:a="http://schemas.openxmlformats.org/drawingml/2006/main">
              <a:ext uri="{FF2B5EF4-FFF2-40B4-BE49-F238E27FC236}">
                <a16:creationId xmlns:a16="http://schemas.microsoft.com/office/drawing/2014/main" id="{B68A920C-78CC-4B44-8254-15EA3DF90B4D}"/>
              </a:ext>
            </a:extLst>
          </p:cNvPr>
          <p:cNvSpPr>
            <a:spLocks xmlns:a="http://schemas.openxmlformats.org/drawingml/2006/main" noGrp="1"/>
          </p:cNvSpPr>
          <p:nvPr/>
        </p:nvSpPr>
        <p:spPr>
          <a:xfrm xmlns:a="http://schemas.openxmlformats.org/drawingml/2006/main">
            <a:off x="1200150" y="204787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Updating the description of Rhizobium diversity associated with common bean cultivars in the Ecuadorian Andes:</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A phylogenetic and functional perspective.</a:t>
            </a:r>
          </a:p>
        </p:txBody>
      </p:sp>
      <p:sp>
        <p:nvSpPr>
          <p:cNvPr id="9" name="text-9">
            <a:extLst xmlns:a="http://schemas.openxmlformats.org/drawingml/2006/main">
              <a:ext uri="{FF2B5EF4-FFF2-40B4-BE49-F238E27FC236}">
                <a16:creationId xmlns:a16="http://schemas.microsoft.com/office/drawing/2014/main" id="{301D02BC-F218-4B3F-930F-11E3E45ABE58}"/>
              </a:ext>
            </a:extLst>
          </p:cNvPr>
          <p:cNvSpPr>
            <a:spLocks xmlns:a="http://schemas.openxmlformats.org/drawingml/2006/main" noGrp="1"/>
          </p:cNvSpPr>
          <p:nvPr/>
        </p:nvSpPr>
        <p:spPr>
          <a:xfrm xmlns:a="http://schemas.openxmlformats.org/drawingml/2006/main">
            <a:off x="1200150" y="251402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PLOS One, 21(1), e0339774.</a:t>
            </a:r>
          </a:p>
        </p:txBody>
      </p:sp>
      <p:sp>
        <p:nvSpPr>
          <p:cNvPr id="10" name="text-10">
            <a:extLst xmlns:a="http://schemas.openxmlformats.org/drawingml/2006/main">
              <a:ext uri="{FF2B5EF4-FFF2-40B4-BE49-F238E27FC236}">
                <a16:creationId xmlns:a16="http://schemas.microsoft.com/office/drawing/2014/main" id="{5B8DA0C7-4DB8-4641-8D7A-9C3ABA908BC6}"/>
              </a:ext>
            </a:extLst>
          </p:cNvPr>
          <p:cNvSpPr>
            <a:spLocks xmlns:a="http://schemas.openxmlformats.org/drawingml/2006/main" noGrp="1"/>
          </p:cNvSpPr>
          <p:nvPr/>
        </p:nvSpPr>
        <p:spPr>
          <a:xfrm xmlns:a="http://schemas.openxmlformats.org/drawingml/2006/main">
            <a:off x="1200150" y="275001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6ed4ad2b4adc4346"/>
              </a:rPr>
              <a:t>doi.org/10.1371/journal.pone.0339774</a:t>
            </a:r>
          </a:p>
        </p:txBody>
      </p:sp>
      <p:sp>
        <p:nvSpPr>
          <p:cNvPr id="11" name="text-11">
            <a:extLst xmlns:a="http://schemas.openxmlformats.org/drawingml/2006/main">
              <a:ext uri="{FF2B5EF4-FFF2-40B4-BE49-F238E27FC236}">
                <a16:creationId xmlns:a16="http://schemas.microsoft.com/office/drawing/2014/main" id="{011858F2-EAEB-49DC-ACC8-89582E18E179}"/>
              </a:ext>
            </a:extLst>
          </p:cNvPr>
          <p:cNvSpPr>
            <a:spLocks xmlns:a="http://schemas.openxmlformats.org/drawingml/2006/main" noGrp="1"/>
          </p:cNvSpPr>
          <p:nvPr/>
        </p:nvSpPr>
        <p:spPr>
          <a:xfrm xmlns:a="http://schemas.openxmlformats.org/drawingml/2006/main">
            <a:off x="609600" y="31813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[5]</a:t>
            </a:r>
          </a:p>
        </p:txBody>
      </p:sp>
      <p:sp>
        <p:nvSpPr>
          <p:cNvPr id="12" name="text-12">
            <a:extLst xmlns:a="http://schemas.openxmlformats.org/drawingml/2006/main">
              <a:ext uri="{FF2B5EF4-FFF2-40B4-BE49-F238E27FC236}">
                <a16:creationId xmlns:a16="http://schemas.microsoft.com/office/drawing/2014/main" id="{1E19465D-D5DA-466E-95EB-8BF5A5AFE4FE}"/>
              </a:ext>
            </a:extLst>
          </p:cNvPr>
          <p:cNvSpPr>
            <a:spLocks xmlns:a="http://schemas.openxmlformats.org/drawingml/2006/main" noGrp="1"/>
          </p:cNvSpPr>
          <p:nvPr/>
        </p:nvSpPr>
        <p:spPr>
          <a:xfrm xmlns:a="http://schemas.openxmlformats.org/drawingml/2006/main">
            <a:off x="1200150" y="31813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Reyes, G., Betancourt, I., Borbor, M., &amp; Bayot, B. (2024)</a:t>
            </a:r>
          </a:p>
        </p:txBody>
      </p:sp>
      <p:sp>
        <p:nvSpPr>
          <p:cNvPr id="13" name="text-13">
            <a:extLst xmlns:a="http://schemas.openxmlformats.org/drawingml/2006/main">
              <a:ext uri="{FF2B5EF4-FFF2-40B4-BE49-F238E27FC236}">
                <a16:creationId xmlns:a16="http://schemas.microsoft.com/office/drawing/2014/main" id="{F84178DF-216A-43E9-8E1B-F754AB2032EA}"/>
              </a:ext>
            </a:extLst>
          </p:cNvPr>
          <p:cNvSpPr>
            <a:spLocks xmlns:a="http://schemas.openxmlformats.org/drawingml/2006/main" noGrp="1"/>
          </p:cNvSpPr>
          <p:nvPr/>
        </p:nvSpPr>
        <p:spPr>
          <a:xfrm xmlns:a="http://schemas.openxmlformats.org/drawingml/2006/main">
            <a:off x="1200150" y="351472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Draft genome sequence of Bacillus velezensis strain 3TSA-3, a potential probiotic for Pacific white shrimp Penaeus</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vannamei postlarvae isolated from commercial hatchery tanks.</a:t>
            </a:r>
          </a:p>
        </p:txBody>
      </p:sp>
      <p:sp>
        <p:nvSpPr>
          <p:cNvPr id="14" name="text-14">
            <a:extLst xmlns:a="http://schemas.openxmlformats.org/drawingml/2006/main">
              <a:ext uri="{FF2B5EF4-FFF2-40B4-BE49-F238E27FC236}">
                <a16:creationId xmlns:a16="http://schemas.microsoft.com/office/drawing/2014/main" id="{19B7FF06-15B6-45D1-8DD2-0D62C0EC441F}"/>
              </a:ext>
            </a:extLst>
          </p:cNvPr>
          <p:cNvSpPr>
            <a:spLocks xmlns:a="http://schemas.openxmlformats.org/drawingml/2006/main" noGrp="1"/>
          </p:cNvSpPr>
          <p:nvPr/>
        </p:nvSpPr>
        <p:spPr>
          <a:xfrm xmlns:a="http://schemas.openxmlformats.org/drawingml/2006/main">
            <a:off x="1200150" y="398087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Microbiology Resource Announcements, 13(4), e01208-23.</a:t>
            </a:r>
          </a:p>
        </p:txBody>
      </p:sp>
      <p:sp>
        <p:nvSpPr>
          <p:cNvPr id="15" name="text-15">
            <a:extLst xmlns:a="http://schemas.openxmlformats.org/drawingml/2006/main">
              <a:ext uri="{FF2B5EF4-FFF2-40B4-BE49-F238E27FC236}">
                <a16:creationId xmlns:a16="http://schemas.microsoft.com/office/drawing/2014/main" id="{68ED6996-4FEE-4C61-9D99-6530A9D740C2}"/>
              </a:ext>
            </a:extLst>
          </p:cNvPr>
          <p:cNvSpPr>
            <a:spLocks xmlns:a="http://schemas.openxmlformats.org/drawingml/2006/main" noGrp="1"/>
          </p:cNvSpPr>
          <p:nvPr/>
        </p:nvSpPr>
        <p:spPr>
          <a:xfrm xmlns:a="http://schemas.openxmlformats.org/drawingml/2006/main">
            <a:off x="1200150" y="421686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424a95b13f6a4064"/>
              </a:rPr>
              <a:t>doi.org/10.1128/mra.01208-23</a:t>
            </a:r>
          </a:p>
        </p:txBody>
      </p:sp>
      <p:sp>
        <p:nvSpPr>
          <p:cNvPr id="16" name="text-16">
            <a:extLst xmlns:a="http://schemas.openxmlformats.org/drawingml/2006/main">
              <a:ext uri="{FF2B5EF4-FFF2-40B4-BE49-F238E27FC236}">
                <a16:creationId xmlns:a16="http://schemas.microsoft.com/office/drawing/2014/main" id="{FA3A1EFA-57CA-4D2D-805C-808B47DC9D3D}"/>
              </a:ext>
            </a:extLst>
          </p:cNvPr>
          <p:cNvSpPr>
            <a:spLocks xmlns:a="http://schemas.openxmlformats.org/drawingml/2006/main" noGrp="1"/>
          </p:cNvSpPr>
          <p:nvPr/>
        </p:nvSpPr>
        <p:spPr>
          <a:xfrm xmlns:a="http://schemas.openxmlformats.org/drawingml/2006/main">
            <a:off x="609600" y="46482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[6]</a:t>
            </a:r>
          </a:p>
        </p:txBody>
      </p:sp>
      <p:sp>
        <p:nvSpPr>
          <p:cNvPr id="17" name="text-17">
            <a:extLst xmlns:a="http://schemas.openxmlformats.org/drawingml/2006/main">
              <a:ext uri="{FF2B5EF4-FFF2-40B4-BE49-F238E27FC236}">
                <a16:creationId xmlns:a16="http://schemas.microsoft.com/office/drawing/2014/main" id="{072259CD-C1B2-4F58-9B9E-405B5B865CD3}"/>
              </a:ext>
            </a:extLst>
          </p:cNvPr>
          <p:cNvSpPr>
            <a:spLocks xmlns:a="http://schemas.openxmlformats.org/drawingml/2006/main" noGrp="1"/>
          </p:cNvSpPr>
          <p:nvPr/>
        </p:nvSpPr>
        <p:spPr>
          <a:xfrm xmlns:a="http://schemas.openxmlformats.org/drawingml/2006/main">
            <a:off x="1200150" y="464820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Salinas, L., Cárdenas, P., Graham, J. P., &amp; Trueba, G. (2024)</a:t>
            </a:r>
          </a:p>
        </p:txBody>
      </p:sp>
      <p:sp>
        <p:nvSpPr>
          <p:cNvPr id="18" name="text-18">
            <a:extLst xmlns:a="http://schemas.openxmlformats.org/drawingml/2006/main">
              <a:ext uri="{FF2B5EF4-FFF2-40B4-BE49-F238E27FC236}">
                <a16:creationId xmlns:a16="http://schemas.microsoft.com/office/drawing/2014/main" id="{312CA87C-7935-4F05-8B48-A53ED45D90EC}"/>
              </a:ext>
            </a:extLst>
          </p:cNvPr>
          <p:cNvSpPr>
            <a:spLocks xmlns:a="http://schemas.openxmlformats.org/drawingml/2006/main" noGrp="1"/>
          </p:cNvSpPr>
          <p:nvPr/>
        </p:nvSpPr>
        <p:spPr>
          <a:xfrm xmlns:a="http://schemas.openxmlformats.org/drawingml/2006/main">
            <a:off x="1200150" y="4981575"/>
            <a:ext cx="10382250" cy="2140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IS26 drives the dissemination of blaCTX-M genes in an Ecuadorian community.</a:t>
            </a:r>
          </a:p>
        </p:txBody>
      </p:sp>
      <p:sp>
        <p:nvSpPr>
          <p:cNvPr id="19" name="text-19">
            <a:extLst xmlns:a="http://schemas.openxmlformats.org/drawingml/2006/main">
              <a:ext uri="{FF2B5EF4-FFF2-40B4-BE49-F238E27FC236}">
                <a16:creationId xmlns:a16="http://schemas.microsoft.com/office/drawing/2014/main" id="{AD6CB705-C6E8-4AFF-A6BE-26F33DF9E0E4}"/>
              </a:ext>
            </a:extLst>
          </p:cNvPr>
          <p:cNvSpPr>
            <a:spLocks xmlns:a="http://schemas.openxmlformats.org/drawingml/2006/main" noGrp="1"/>
          </p:cNvSpPr>
          <p:nvPr/>
        </p:nvSpPr>
        <p:spPr>
          <a:xfrm xmlns:a="http://schemas.openxmlformats.org/drawingml/2006/main">
            <a:off x="1200150" y="5243227"/>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Microbiology Spectrum, 12(1), e02504-23. Publicación electrónica: diciembre de 2023.</a:t>
            </a:r>
          </a:p>
        </p:txBody>
      </p:sp>
      <p:sp>
        <p:nvSpPr>
          <p:cNvPr id="20" name="text-20">
            <a:extLst xmlns:a="http://schemas.openxmlformats.org/drawingml/2006/main">
              <a:ext uri="{FF2B5EF4-FFF2-40B4-BE49-F238E27FC236}">
                <a16:creationId xmlns:a16="http://schemas.microsoft.com/office/drawing/2014/main" id="{5A875FC5-0D3A-4B6E-8872-E4CDFCE12958}"/>
              </a:ext>
            </a:extLst>
          </p:cNvPr>
          <p:cNvSpPr>
            <a:spLocks xmlns:a="http://schemas.openxmlformats.org/drawingml/2006/main" noGrp="1"/>
          </p:cNvSpPr>
          <p:nvPr/>
        </p:nvSpPr>
        <p:spPr>
          <a:xfrm xmlns:a="http://schemas.openxmlformats.org/drawingml/2006/main">
            <a:off x="1200150" y="5479209"/>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143883c53ecc4b34"/>
              </a:rPr>
              <a:t>doi.org/10.1128/spectrum.02504-23</a:t>
            </a:r>
          </a:p>
        </p:txBody>
      </p:sp>
    </p:spTree>
    <p:extLst>
      <p:ext uri="{BB962C8B-B14F-4D97-AF65-F5344CB8AC3E}">
        <p14:creationId xmlns:p14="http://schemas.microsoft.com/office/powerpoint/2010/main" val="1085596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1">
            <a:extLst xmlns:a="http://schemas.openxmlformats.org/drawingml/2006/main">
              <a:ext uri="{FF2B5EF4-FFF2-40B4-BE49-F238E27FC236}">
                <a16:creationId xmlns:a16="http://schemas.microsoft.com/office/drawing/2014/main" id="{8578018D-7F3D-48F4-8C2B-2AB174CBE8EF}"/>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i="0">
                <a:solidFill>
                  <a:srgbClr val="173746"/>
                </a:solidFill>
                <a:latin typeface="DejaVu Sans"/>
                <a:ea typeface="DejaVu Sans"/>
                <a:cs typeface="DejaVu Sans"/>
              </a:defRPr>
            </a:defPPr>
          </a:lstStyle>
          <a:p xmlns:a="http://schemas.openxmlformats.org/drawingml/2006/main">
            <a:pPr algn="l">
              <a:lnSpc>
                <a:spcPct val="113000"/>
              </a:lnSpc>
              <a:buNone/>
              <a:defRPr sz="3225" b="1" i="0">
                <a:solidFill>
                  <a:srgbClr val="173746"/>
                </a:solidFill>
                <a:latin typeface="DejaVu Sans"/>
                <a:ea typeface="DejaVu Sans"/>
                <a:cs typeface="DejaVu Sans"/>
              </a:defRPr>
            </a:pPr>
            <a:r>
              <a:rPr sz="3225" b="1" i="0">
                <a:solidFill>
                  <a:srgbClr val="173746"/>
                </a:solidFill>
                <a:latin typeface="DejaVu Sans"/>
                <a:ea typeface="DejaVu Sans"/>
                <a:cs typeface="DejaVu Sans"/>
              </a:rPr>
              <a:t>Bibliografía</a:t>
            </a:r>
          </a:p>
        </p:txBody>
      </p:sp>
      <p:sp>
        <p:nvSpPr>
          <p:cNvPr id="2" name="text-2">
            <a:extLst xmlns:a="http://schemas.openxmlformats.org/drawingml/2006/main">
              <a:ext uri="{FF2B5EF4-FFF2-40B4-BE49-F238E27FC236}">
                <a16:creationId xmlns:a16="http://schemas.microsoft.com/office/drawing/2014/main" id="{C1D38B05-19C6-4D87-ACBA-659121226FFC}"/>
              </a:ext>
            </a:extLst>
          </p:cNvPr>
          <p:cNvSpPr>
            <a:spLocks xmlns:a="http://schemas.openxmlformats.org/drawingml/2006/main" noGrp="1"/>
          </p:cNvSpPr>
          <p:nvPr/>
        </p:nvSpPr>
        <p:spPr>
          <a:xfrm xmlns:a="http://schemas.openxmlformats.org/drawingml/2006/main">
            <a:off x="609600" y="1123950"/>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i="0">
                <a:solidFill>
                  <a:srgbClr val="607781"/>
                </a:solidFill>
                <a:latin typeface="DejaVu Sans"/>
                <a:ea typeface="DejaVu Sans"/>
                <a:cs typeface="DejaVu Sans"/>
              </a:defRPr>
            </a:defPPr>
          </a:lstStyle>
          <a:p xmlns:a="http://schemas.openxmlformats.org/drawingml/2006/main">
            <a:pPr algn="l">
              <a:lnSpc>
                <a:spcPct val="113000"/>
              </a:lnSpc>
              <a:buNone/>
              <a:defRPr sz="1875" b="0" i="0">
                <a:solidFill>
                  <a:srgbClr val="607781"/>
                </a:solidFill>
                <a:latin typeface="DejaVu Sans"/>
                <a:ea typeface="DejaVu Sans"/>
                <a:cs typeface="DejaVu Sans"/>
              </a:defRPr>
            </a:pPr>
            <a:r>
              <a:rPr sz="1875" b="0" i="0">
                <a:solidFill>
                  <a:srgbClr val="607781"/>
                </a:solidFill>
                <a:latin typeface="DejaVu Sans"/>
                <a:ea typeface="DejaVu Sans"/>
                <a:cs typeface="DejaVu Sans"/>
              </a:rPr>
              <a:t>Fuentes de 2016–2026. Los casos ecuatorianos son investigaciones primarias.</a:t>
            </a:r>
          </a:p>
        </p:txBody>
      </p:sp>
      <p:sp>
        <p:nvSpPr>
          <p:cNvPr id="3" name="path-3">
            <a:extLst xmlns:a="http://schemas.openxmlformats.org/drawingml/2006/main">
              <a:ext uri="{FF2B5EF4-FFF2-40B4-BE49-F238E27FC236}">
                <a16:creationId xmlns:a16="http://schemas.microsoft.com/office/drawing/2014/main" id="{AAC12E58-3BE3-4588-9854-2341577A11A5}"/>
              </a:ext>
            </a:extLst>
          </p:cNvPr>
          <p:cNvSpPr>
            <a:spLocks xmlns:a="http://schemas.openxmlformats.org/drawingml/2006/main" noGrp="1"/>
          </p:cNvSpPr>
          <p:nvPr/>
        </p:nvSpPr>
        <p:spPr>
          <a:xfrm xmlns:a="http://schemas.openxmlformats.org/drawingml/2006/main">
            <a:off x="609600" y="6486525"/>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8E3E7"/>
            </a:solidFill>
            <a:prstDash val="solid"/>
          </a:ln>
        </p:spPr>
      </p:sp>
      <p:sp>
        <p:nvSpPr>
          <p:cNvPr id="4" name="text-4">
            <a:extLst xmlns:a="http://schemas.openxmlformats.org/drawingml/2006/main">
              <a:ext uri="{FF2B5EF4-FFF2-40B4-BE49-F238E27FC236}">
                <a16:creationId xmlns:a16="http://schemas.microsoft.com/office/drawing/2014/main" id="{329E9303-EEDF-4F7B-A99C-B5647E437480}"/>
              </a:ext>
            </a:extLst>
          </p:cNvPr>
          <p:cNvSpPr>
            <a:spLocks xmlns:a="http://schemas.openxmlformats.org/drawingml/2006/main" noGrp="1"/>
          </p:cNvSpPr>
          <p:nvPr/>
        </p:nvSpPr>
        <p:spPr>
          <a:xfrm xmlns:a="http://schemas.openxmlformats.org/drawingml/2006/main">
            <a:off x="609600" y="6572250"/>
            <a:ext cx="1009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i="0">
                <a:solidFill>
                  <a:srgbClr val="607781"/>
                </a:solidFill>
                <a:latin typeface="DejaVu Sans"/>
                <a:ea typeface="DejaVu Sans"/>
                <a:cs typeface="DejaVu Sans"/>
              </a:defRPr>
            </a:defPPr>
          </a:lstStyle>
          <a:p xmlns:a="http://schemas.openxmlformats.org/drawingml/2006/main">
            <a:pPr algn="l">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Bibliografía de consulta.</a:t>
            </a:r>
          </a:p>
        </p:txBody>
      </p:sp>
      <p:sp>
        <p:nvSpPr>
          <p:cNvPr id="5" name="text-5">
            <a:extLst xmlns:a="http://schemas.openxmlformats.org/drawingml/2006/main">
              <a:ext uri="{FF2B5EF4-FFF2-40B4-BE49-F238E27FC236}">
                <a16:creationId xmlns:a16="http://schemas.microsoft.com/office/drawing/2014/main" id="{A1053A54-272D-4E95-9764-471260F216F3}"/>
              </a:ext>
            </a:extLst>
          </p:cNvPr>
          <p:cNvSpPr>
            <a:spLocks xmlns:a="http://schemas.openxmlformats.org/drawingml/2006/main" noGrp="1"/>
          </p:cNvSpPr>
          <p:nvPr/>
        </p:nvSpPr>
        <p:spPr>
          <a:xfrm xmlns:a="http://schemas.openxmlformats.org/drawingml/2006/main">
            <a:off x="11068050" y="6572250"/>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i="0">
                <a:solidFill>
                  <a:srgbClr val="607781"/>
                </a:solidFill>
                <a:latin typeface="DejaVu Sans"/>
                <a:ea typeface="DejaVu Sans"/>
                <a:cs typeface="DejaVu Sans"/>
              </a:defRPr>
            </a:defPPr>
          </a:lstStyle>
          <a:p xmlns:a="http://schemas.openxmlformats.org/drawingml/2006/main">
            <a:pPr algn="r">
              <a:lnSpc>
                <a:spcPct val="113000"/>
              </a:lnSpc>
              <a:buNone/>
              <a:defRPr sz="1050" b="0" i="0">
                <a:solidFill>
                  <a:srgbClr val="607781"/>
                </a:solidFill>
                <a:latin typeface="DejaVu Sans"/>
                <a:ea typeface="DejaVu Sans"/>
                <a:cs typeface="DejaVu Sans"/>
              </a:defRPr>
            </a:pPr>
            <a:r>
              <a:rPr sz="1050" b="0" i="0">
                <a:solidFill>
                  <a:srgbClr val="607781"/>
                </a:solidFill>
                <a:latin typeface="DejaVu Sans"/>
                <a:ea typeface="DejaVu Sans"/>
                <a:cs typeface="DejaVu Sans"/>
              </a:rPr>
              <a:t>20 / 20</a:t>
            </a:r>
          </a:p>
        </p:txBody>
      </p:sp>
      <p:sp>
        <p:nvSpPr>
          <p:cNvPr id="6" name="text-6">
            <a:extLst xmlns:a="http://schemas.openxmlformats.org/drawingml/2006/main">
              <a:ext uri="{FF2B5EF4-FFF2-40B4-BE49-F238E27FC236}">
                <a16:creationId xmlns:a16="http://schemas.microsoft.com/office/drawing/2014/main" id="{613C695C-17FC-4E15-9731-8C4B786DA6D4}"/>
              </a:ext>
            </a:extLst>
          </p:cNvPr>
          <p:cNvSpPr>
            <a:spLocks xmlns:a="http://schemas.openxmlformats.org/drawingml/2006/main" noGrp="1"/>
          </p:cNvSpPr>
          <p:nvPr/>
        </p:nvSpPr>
        <p:spPr>
          <a:xfrm xmlns:a="http://schemas.openxmlformats.org/drawingml/2006/main">
            <a:off x="609600" y="15811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[7]</a:t>
            </a:r>
          </a:p>
        </p:txBody>
      </p:sp>
      <p:sp>
        <p:nvSpPr>
          <p:cNvPr id="7" name="text-7">
            <a:extLst xmlns:a="http://schemas.openxmlformats.org/drawingml/2006/main">
              <a:ext uri="{FF2B5EF4-FFF2-40B4-BE49-F238E27FC236}">
                <a16:creationId xmlns:a16="http://schemas.microsoft.com/office/drawing/2014/main" id="{0F8FB7CF-A340-4C27-835E-8A237CED7CFE}"/>
              </a:ext>
            </a:extLst>
          </p:cNvPr>
          <p:cNvSpPr>
            <a:spLocks xmlns:a="http://schemas.openxmlformats.org/drawingml/2006/main" noGrp="1"/>
          </p:cNvSpPr>
          <p:nvPr/>
        </p:nvSpPr>
        <p:spPr>
          <a:xfrm xmlns:a="http://schemas.openxmlformats.org/drawingml/2006/main">
            <a:off x="1200150" y="15811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Martinson, G. O., et al. (2018)</a:t>
            </a:r>
          </a:p>
        </p:txBody>
      </p:sp>
      <p:sp>
        <p:nvSpPr>
          <p:cNvPr id="8" name="text-8">
            <a:extLst xmlns:a="http://schemas.openxmlformats.org/drawingml/2006/main">
              <a:ext uri="{FF2B5EF4-FFF2-40B4-BE49-F238E27FC236}">
                <a16:creationId xmlns:a16="http://schemas.microsoft.com/office/drawing/2014/main" id="{C5062C5E-A2E5-45A7-9F3C-13D0E5D4B84F}"/>
              </a:ext>
            </a:extLst>
          </p:cNvPr>
          <p:cNvSpPr>
            <a:spLocks xmlns:a="http://schemas.openxmlformats.org/drawingml/2006/main" noGrp="1"/>
          </p:cNvSpPr>
          <p:nvPr/>
        </p:nvSpPr>
        <p:spPr>
          <a:xfrm xmlns:a="http://schemas.openxmlformats.org/drawingml/2006/main">
            <a:off x="1200150" y="191452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Hydrogenotrophic methanogenesis is the dominant methanogenic pathway in neotropical tank bromeliad</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wetlands.</a:t>
            </a:r>
          </a:p>
        </p:txBody>
      </p:sp>
      <p:sp>
        <p:nvSpPr>
          <p:cNvPr id="9" name="text-9">
            <a:extLst xmlns:a="http://schemas.openxmlformats.org/drawingml/2006/main">
              <a:ext uri="{FF2B5EF4-FFF2-40B4-BE49-F238E27FC236}">
                <a16:creationId xmlns:a16="http://schemas.microsoft.com/office/drawing/2014/main" id="{7D0010B4-DF43-45A5-9FF7-55FFD1F61C36}"/>
              </a:ext>
            </a:extLst>
          </p:cNvPr>
          <p:cNvSpPr>
            <a:spLocks xmlns:a="http://schemas.openxmlformats.org/drawingml/2006/main" noGrp="1"/>
          </p:cNvSpPr>
          <p:nvPr/>
        </p:nvSpPr>
        <p:spPr>
          <a:xfrm xmlns:a="http://schemas.openxmlformats.org/drawingml/2006/main">
            <a:off x="1200150" y="238067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Environmental Microbiology Reports, 10, 33–39. Publicación electrónica: diciembre de 2017.</a:t>
            </a:r>
          </a:p>
        </p:txBody>
      </p:sp>
      <p:sp>
        <p:nvSpPr>
          <p:cNvPr id="10" name="text-10">
            <a:extLst xmlns:a="http://schemas.openxmlformats.org/drawingml/2006/main">
              <a:ext uri="{FF2B5EF4-FFF2-40B4-BE49-F238E27FC236}">
                <a16:creationId xmlns:a16="http://schemas.microsoft.com/office/drawing/2014/main" id="{82DD3802-E125-4082-82C6-B1188B13AE0E}"/>
              </a:ext>
            </a:extLst>
          </p:cNvPr>
          <p:cNvSpPr>
            <a:spLocks xmlns:a="http://schemas.openxmlformats.org/drawingml/2006/main" noGrp="1"/>
          </p:cNvSpPr>
          <p:nvPr/>
        </p:nvSpPr>
        <p:spPr>
          <a:xfrm xmlns:a="http://schemas.openxmlformats.org/drawingml/2006/main">
            <a:off x="1200150" y="261666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5851bdb203224f16"/>
              </a:rPr>
              <a:t>doi.org/10.1111/1758-2229.12602</a:t>
            </a:r>
          </a:p>
        </p:txBody>
      </p:sp>
      <p:sp>
        <p:nvSpPr>
          <p:cNvPr id="11" name="text-11">
            <a:extLst xmlns:a="http://schemas.openxmlformats.org/drawingml/2006/main">
              <a:ext uri="{FF2B5EF4-FFF2-40B4-BE49-F238E27FC236}">
                <a16:creationId xmlns:a16="http://schemas.microsoft.com/office/drawing/2014/main" id="{9256E355-BD14-489E-A899-A67EE53F15A3}"/>
              </a:ext>
            </a:extLst>
          </p:cNvPr>
          <p:cNvSpPr>
            <a:spLocks xmlns:a="http://schemas.openxmlformats.org/drawingml/2006/main" noGrp="1"/>
          </p:cNvSpPr>
          <p:nvPr/>
        </p:nvSpPr>
        <p:spPr>
          <a:xfrm xmlns:a="http://schemas.openxmlformats.org/drawingml/2006/main">
            <a:off x="609600" y="28003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[8]</a:t>
            </a:r>
          </a:p>
        </p:txBody>
      </p:sp>
      <p:sp>
        <p:nvSpPr>
          <p:cNvPr id="12" name="text-12">
            <a:extLst xmlns:a="http://schemas.openxmlformats.org/drawingml/2006/main">
              <a:ext uri="{FF2B5EF4-FFF2-40B4-BE49-F238E27FC236}">
                <a16:creationId xmlns:a16="http://schemas.microsoft.com/office/drawing/2014/main" id="{92A6E4FE-C164-4FF6-A4C1-89C9A3987F79}"/>
              </a:ext>
            </a:extLst>
          </p:cNvPr>
          <p:cNvSpPr>
            <a:spLocks xmlns:a="http://schemas.openxmlformats.org/drawingml/2006/main" noGrp="1"/>
          </p:cNvSpPr>
          <p:nvPr/>
        </p:nvSpPr>
        <p:spPr>
          <a:xfrm xmlns:a="http://schemas.openxmlformats.org/drawingml/2006/main">
            <a:off x="1200150" y="28003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Calderón-Tapia, C., et al. (2024)</a:t>
            </a:r>
          </a:p>
        </p:txBody>
      </p:sp>
      <p:sp>
        <p:nvSpPr>
          <p:cNvPr id="13" name="text-13">
            <a:extLst xmlns:a="http://schemas.openxmlformats.org/drawingml/2006/main">
              <a:ext uri="{FF2B5EF4-FFF2-40B4-BE49-F238E27FC236}">
                <a16:creationId xmlns:a16="http://schemas.microsoft.com/office/drawing/2014/main" id="{773B659B-3116-4004-875B-2047221D80C3}"/>
              </a:ext>
            </a:extLst>
          </p:cNvPr>
          <p:cNvSpPr>
            <a:spLocks xmlns:a="http://schemas.openxmlformats.org/drawingml/2006/main" noGrp="1"/>
          </p:cNvSpPr>
          <p:nvPr/>
        </p:nvSpPr>
        <p:spPr>
          <a:xfrm xmlns:a="http://schemas.openxmlformats.org/drawingml/2006/main">
            <a:off x="1200150" y="313372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Exploration of bacterial strains with bioremediation potential for mercury and cyanide from mine tailings in San</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Carlos de las Minas, Ecuador.</a:t>
            </a:r>
          </a:p>
        </p:txBody>
      </p:sp>
      <p:sp>
        <p:nvSpPr>
          <p:cNvPr id="14" name="text-14">
            <a:extLst xmlns:a="http://schemas.openxmlformats.org/drawingml/2006/main">
              <a:ext uri="{FF2B5EF4-FFF2-40B4-BE49-F238E27FC236}">
                <a16:creationId xmlns:a16="http://schemas.microsoft.com/office/drawing/2014/main" id="{9872F3B5-F031-4B9F-A1FA-B9D4BEE24D67}"/>
              </a:ext>
            </a:extLst>
          </p:cNvPr>
          <p:cNvSpPr>
            <a:spLocks xmlns:a="http://schemas.openxmlformats.org/drawingml/2006/main" noGrp="1"/>
          </p:cNvSpPr>
          <p:nvPr/>
        </p:nvSpPr>
        <p:spPr>
          <a:xfrm xmlns:a="http://schemas.openxmlformats.org/drawingml/2006/main">
            <a:off x="1200150" y="359987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AIMS Environmental Science, 11, 381–400.</a:t>
            </a:r>
          </a:p>
        </p:txBody>
      </p:sp>
      <p:sp>
        <p:nvSpPr>
          <p:cNvPr id="15" name="text-15">
            <a:extLst xmlns:a="http://schemas.openxmlformats.org/drawingml/2006/main">
              <a:ext uri="{FF2B5EF4-FFF2-40B4-BE49-F238E27FC236}">
                <a16:creationId xmlns:a16="http://schemas.microsoft.com/office/drawing/2014/main" id="{A90F3E7B-DD47-4934-B1FA-86B8557B48B6}"/>
              </a:ext>
            </a:extLst>
          </p:cNvPr>
          <p:cNvSpPr>
            <a:spLocks xmlns:a="http://schemas.openxmlformats.org/drawingml/2006/main" noGrp="1"/>
          </p:cNvSpPr>
          <p:nvPr/>
        </p:nvSpPr>
        <p:spPr>
          <a:xfrm xmlns:a="http://schemas.openxmlformats.org/drawingml/2006/main">
            <a:off x="1200150" y="383586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5790bde888c940d4"/>
              </a:rPr>
              <a:t>doi.org/10.3934/environsci.2024019</a:t>
            </a:r>
          </a:p>
        </p:txBody>
      </p:sp>
      <p:sp>
        <p:nvSpPr>
          <p:cNvPr id="16" name="text-16">
            <a:extLst xmlns:a="http://schemas.openxmlformats.org/drawingml/2006/main">
              <a:ext uri="{FF2B5EF4-FFF2-40B4-BE49-F238E27FC236}">
                <a16:creationId xmlns:a16="http://schemas.microsoft.com/office/drawing/2014/main" id="{9B13E98B-C40B-478A-849B-DFAEFE6C30D3}"/>
              </a:ext>
            </a:extLst>
          </p:cNvPr>
          <p:cNvSpPr>
            <a:spLocks xmlns:a="http://schemas.openxmlformats.org/drawingml/2006/main" noGrp="1"/>
          </p:cNvSpPr>
          <p:nvPr/>
        </p:nvSpPr>
        <p:spPr>
          <a:xfrm xmlns:a="http://schemas.openxmlformats.org/drawingml/2006/main">
            <a:off x="609600" y="40195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[9]</a:t>
            </a:r>
          </a:p>
        </p:txBody>
      </p:sp>
      <p:sp>
        <p:nvSpPr>
          <p:cNvPr id="17" name="text-17">
            <a:extLst xmlns:a="http://schemas.openxmlformats.org/drawingml/2006/main">
              <a:ext uri="{FF2B5EF4-FFF2-40B4-BE49-F238E27FC236}">
                <a16:creationId xmlns:a16="http://schemas.microsoft.com/office/drawing/2014/main" id="{BD3B145F-956E-4290-96C8-9241236EF891}"/>
              </a:ext>
            </a:extLst>
          </p:cNvPr>
          <p:cNvSpPr>
            <a:spLocks xmlns:a="http://schemas.openxmlformats.org/drawingml/2006/main" noGrp="1"/>
          </p:cNvSpPr>
          <p:nvPr/>
        </p:nvSpPr>
        <p:spPr>
          <a:xfrm xmlns:a="http://schemas.openxmlformats.org/drawingml/2006/main">
            <a:off x="1200150" y="40195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Barragán-Monrroy, R., et al. (2026)</a:t>
            </a:r>
          </a:p>
        </p:txBody>
      </p:sp>
      <p:sp>
        <p:nvSpPr>
          <p:cNvPr id="18" name="text-18">
            <a:extLst xmlns:a="http://schemas.openxmlformats.org/drawingml/2006/main">
              <a:ext uri="{FF2B5EF4-FFF2-40B4-BE49-F238E27FC236}">
                <a16:creationId xmlns:a16="http://schemas.microsoft.com/office/drawing/2014/main" id="{16105E65-E5A9-473E-9128-40995B0F7EAA}"/>
              </a:ext>
            </a:extLst>
          </p:cNvPr>
          <p:cNvSpPr>
            <a:spLocks xmlns:a="http://schemas.openxmlformats.org/drawingml/2006/main" noGrp="1"/>
          </p:cNvSpPr>
          <p:nvPr/>
        </p:nvSpPr>
        <p:spPr>
          <a:xfrm xmlns:a="http://schemas.openxmlformats.org/drawingml/2006/main">
            <a:off x="1200150" y="4352925"/>
            <a:ext cx="10382250" cy="4185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Análisis metagenómico de comunidades microbianas en la biodigestión anaeróbica de deyecciones bovinas:</a:t>
            </a:r>
          </a:p>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implicaciones biotecnológicas para la biorremediación de suelos contaminados.</a:t>
            </a:r>
          </a:p>
        </p:txBody>
      </p:sp>
      <p:sp>
        <p:nvSpPr>
          <p:cNvPr id="19" name="text-19">
            <a:extLst xmlns:a="http://schemas.openxmlformats.org/drawingml/2006/main">
              <a:ext uri="{FF2B5EF4-FFF2-40B4-BE49-F238E27FC236}">
                <a16:creationId xmlns:a16="http://schemas.microsoft.com/office/drawing/2014/main" id="{9CDEEFCD-265A-4D94-AE1F-D2BE3D6208E8}"/>
              </a:ext>
            </a:extLst>
          </p:cNvPr>
          <p:cNvSpPr>
            <a:spLocks xmlns:a="http://schemas.openxmlformats.org/drawingml/2006/main" noGrp="1"/>
          </p:cNvSpPr>
          <p:nvPr/>
        </p:nvSpPr>
        <p:spPr>
          <a:xfrm xmlns:a="http://schemas.openxmlformats.org/drawingml/2006/main">
            <a:off x="1200150" y="4819079"/>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Terra Latinoamericana, 44, e2436.</a:t>
            </a:r>
          </a:p>
        </p:txBody>
      </p:sp>
      <p:sp>
        <p:nvSpPr>
          <p:cNvPr id="20" name="text-20">
            <a:extLst xmlns:a="http://schemas.openxmlformats.org/drawingml/2006/main">
              <a:ext uri="{FF2B5EF4-FFF2-40B4-BE49-F238E27FC236}">
                <a16:creationId xmlns:a16="http://schemas.microsoft.com/office/drawing/2014/main" id="{866ED471-D08F-450C-B7BC-B58EC542B39B}"/>
              </a:ext>
            </a:extLst>
          </p:cNvPr>
          <p:cNvSpPr>
            <a:spLocks xmlns:a="http://schemas.openxmlformats.org/drawingml/2006/main" noGrp="1"/>
          </p:cNvSpPr>
          <p:nvPr/>
        </p:nvSpPr>
        <p:spPr>
          <a:xfrm xmlns:a="http://schemas.openxmlformats.org/drawingml/2006/main">
            <a:off x="1200150" y="5055060"/>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2d3558e66e2f46ea"/>
              </a:rPr>
              <a:t>doi.org/10.28940/terralatinoamericana.v44i.2436</a:t>
            </a:r>
          </a:p>
        </p:txBody>
      </p:sp>
      <p:sp>
        <p:nvSpPr>
          <p:cNvPr id="21" name="text-21">
            <a:extLst xmlns:a="http://schemas.openxmlformats.org/drawingml/2006/main">
              <a:ext uri="{FF2B5EF4-FFF2-40B4-BE49-F238E27FC236}">
                <a16:creationId xmlns:a16="http://schemas.microsoft.com/office/drawing/2014/main" id="{1CB2AC65-ECD0-410E-91A1-D6511C05B247}"/>
              </a:ext>
            </a:extLst>
          </p:cNvPr>
          <p:cNvSpPr>
            <a:spLocks xmlns:a="http://schemas.openxmlformats.org/drawingml/2006/main" noGrp="1"/>
          </p:cNvSpPr>
          <p:nvPr/>
        </p:nvSpPr>
        <p:spPr>
          <a:xfrm xmlns:a="http://schemas.openxmlformats.org/drawingml/2006/main">
            <a:off x="609600" y="52387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D91"/>
                </a:solidFill>
                <a:latin typeface="DejaVu Sans"/>
                <a:ea typeface="DejaVu Sans"/>
                <a:cs typeface="DejaVu Sans"/>
              </a:defRPr>
            </a:defPPr>
          </a:lstStyle>
          <a:p xmlns:a="http://schemas.openxmlformats.org/drawingml/2006/main">
            <a:pPr algn="l">
              <a:lnSpc>
                <a:spcPct val="113000"/>
              </a:lnSpc>
              <a:buNone/>
              <a:defRPr sz="1725" b="1" i="0">
                <a:solidFill>
                  <a:srgbClr val="168D91"/>
                </a:solidFill>
                <a:latin typeface="DejaVu Sans"/>
                <a:ea typeface="DejaVu Sans"/>
                <a:cs typeface="DejaVu Sans"/>
              </a:defRPr>
            </a:pPr>
            <a:r>
              <a:rPr sz="1725" b="1" i="0">
                <a:solidFill>
                  <a:srgbClr val="168D91"/>
                </a:solidFill>
                <a:latin typeface="DejaVu Sans"/>
                <a:ea typeface="DejaVu Sans"/>
                <a:cs typeface="DejaVu Sans"/>
              </a:rPr>
              <a:t>[10]</a:t>
            </a:r>
          </a:p>
        </p:txBody>
      </p:sp>
      <p:sp>
        <p:nvSpPr>
          <p:cNvPr id="22" name="text-22">
            <a:extLst xmlns:a="http://schemas.openxmlformats.org/drawingml/2006/main">
              <a:ext uri="{FF2B5EF4-FFF2-40B4-BE49-F238E27FC236}">
                <a16:creationId xmlns:a16="http://schemas.microsoft.com/office/drawing/2014/main" id="{88E191A7-6C50-4D83-A1C5-AC66027B2F40}"/>
              </a:ext>
            </a:extLst>
          </p:cNvPr>
          <p:cNvSpPr>
            <a:spLocks xmlns:a="http://schemas.openxmlformats.org/drawingml/2006/main" noGrp="1"/>
          </p:cNvSpPr>
          <p:nvPr/>
        </p:nvSpPr>
        <p:spPr>
          <a:xfrm xmlns:a="http://schemas.openxmlformats.org/drawingml/2006/main">
            <a:off x="1200150" y="5238750"/>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173746"/>
                </a:solidFill>
                <a:latin typeface="DejaVu Sans"/>
                <a:ea typeface="DejaVu Sans"/>
                <a:cs typeface="DejaVu Sans"/>
              </a:defRPr>
            </a:defPPr>
          </a:lstStyle>
          <a:p xmlns:a="http://schemas.openxmlformats.org/drawingml/2006/main">
            <a:pPr algn="l">
              <a:lnSpc>
                <a:spcPct val="113000"/>
              </a:lnSpc>
              <a:buNone/>
              <a:defRPr sz="1650" b="1" i="0">
                <a:solidFill>
                  <a:srgbClr val="173746"/>
                </a:solidFill>
                <a:latin typeface="DejaVu Sans"/>
                <a:ea typeface="DejaVu Sans"/>
                <a:cs typeface="DejaVu Sans"/>
              </a:defRPr>
            </a:pPr>
            <a:r>
              <a:rPr sz="1650" b="1" i="0">
                <a:solidFill>
                  <a:srgbClr val="173746"/>
                </a:solidFill>
                <a:latin typeface="DejaVu Sans"/>
                <a:ea typeface="DejaVu Sans"/>
                <a:cs typeface="DejaVu Sans"/>
              </a:rPr>
              <a:t>LPSN / DSMZ (2026)</a:t>
            </a:r>
          </a:p>
        </p:txBody>
      </p:sp>
      <p:sp>
        <p:nvSpPr>
          <p:cNvPr id="23" name="text-23">
            <a:extLst xmlns:a="http://schemas.openxmlformats.org/drawingml/2006/main">
              <a:ext uri="{FF2B5EF4-FFF2-40B4-BE49-F238E27FC236}">
                <a16:creationId xmlns:a16="http://schemas.microsoft.com/office/drawing/2014/main" id="{DF1CDD02-08E0-4A54-9251-0A7BC105721C}"/>
              </a:ext>
            </a:extLst>
          </p:cNvPr>
          <p:cNvSpPr>
            <a:spLocks xmlns:a="http://schemas.openxmlformats.org/drawingml/2006/main" noGrp="1"/>
          </p:cNvSpPr>
          <p:nvPr/>
        </p:nvSpPr>
        <p:spPr>
          <a:xfrm xmlns:a="http://schemas.openxmlformats.org/drawingml/2006/main">
            <a:off x="1200150" y="5572125"/>
            <a:ext cx="10382250" cy="2140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173746"/>
                </a:solidFill>
                <a:latin typeface="DejaVu Sans"/>
                <a:ea typeface="DejaVu Sans"/>
                <a:cs typeface="DejaVu Sans"/>
              </a:defRPr>
            </a:defPPr>
          </a:lstStyle>
          <a:p xmlns:a="http://schemas.openxmlformats.org/drawingml/2006/main">
            <a:pPr algn="l">
              <a:lnSpc>
                <a:spcPct val="113000"/>
              </a:lnSpc>
              <a:buNone/>
              <a:defRPr sz="1425" b="0" i="0">
                <a:solidFill>
                  <a:srgbClr val="173746"/>
                </a:solidFill>
                <a:latin typeface="DejaVu Sans"/>
                <a:ea typeface="DejaVu Sans"/>
                <a:cs typeface="DejaVu Sans"/>
              </a:defRPr>
            </a:pPr>
            <a:r>
              <a:rPr sz="1425" b="0" i="0">
                <a:solidFill>
                  <a:srgbClr val="173746"/>
                </a:solidFill>
                <a:latin typeface="DejaVu Sans"/>
                <a:ea typeface="DejaVu Sans"/>
                <a:cs typeface="DejaVu Sans"/>
              </a:rPr>
              <a:t>Agrobacterium fabacearum: estado nomenclatural y cepa tipo CNPSo 675.</a:t>
            </a:r>
          </a:p>
        </p:txBody>
      </p:sp>
      <p:sp>
        <p:nvSpPr>
          <p:cNvPr id="24" name="text-24">
            <a:extLst xmlns:a="http://schemas.openxmlformats.org/drawingml/2006/main">
              <a:ext uri="{FF2B5EF4-FFF2-40B4-BE49-F238E27FC236}">
                <a16:creationId xmlns:a16="http://schemas.microsoft.com/office/drawing/2014/main" id="{C5BF6774-E788-4151-9F7A-A1974E6472C6}"/>
              </a:ext>
            </a:extLst>
          </p:cNvPr>
          <p:cNvSpPr>
            <a:spLocks xmlns:a="http://schemas.openxmlformats.org/drawingml/2006/main" noGrp="1"/>
          </p:cNvSpPr>
          <p:nvPr/>
        </p:nvSpPr>
        <p:spPr>
          <a:xfrm xmlns:a="http://schemas.openxmlformats.org/drawingml/2006/main">
            <a:off x="1200150" y="5833777"/>
            <a:ext cx="10382250" cy="1978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13" b="0" i="0">
                <a:solidFill>
                  <a:srgbClr val="607781"/>
                </a:solidFill>
                <a:latin typeface="DejaVu Sans"/>
                <a:ea typeface="DejaVu Sans"/>
                <a:cs typeface="DejaVu Sans"/>
              </a:defRPr>
            </a:defPPr>
          </a:lstStyle>
          <a:p xmlns:a="http://schemas.openxmlformats.org/drawingml/2006/main">
            <a:pPr algn="l">
              <a:lnSpc>
                <a:spcPct val="113000"/>
              </a:lnSpc>
              <a:buNone/>
              <a:defRPr sz="1313" b="0" i="0">
                <a:solidFill>
                  <a:srgbClr val="607781"/>
                </a:solidFill>
                <a:latin typeface="DejaVu Sans"/>
                <a:ea typeface="DejaVu Sans"/>
                <a:cs typeface="DejaVu Sans"/>
              </a:defRPr>
            </a:pPr>
            <a:r>
              <a:rPr sz="1313" b="0" i="0">
                <a:solidFill>
                  <a:srgbClr val="607781"/>
                </a:solidFill>
                <a:latin typeface="DejaVu Sans"/>
                <a:ea typeface="DejaVu Sans"/>
                <a:cs typeface="DejaVu Sans"/>
              </a:rPr>
              <a:t>Registro taxonómico consultado el 26 de octubre de 2026.</a:t>
            </a:r>
          </a:p>
        </p:txBody>
      </p:sp>
      <p:sp>
        <p:nvSpPr>
          <p:cNvPr id="25" name="text-25">
            <a:extLst xmlns:a="http://schemas.openxmlformats.org/drawingml/2006/main">
              <a:ext uri="{FF2B5EF4-FFF2-40B4-BE49-F238E27FC236}">
                <a16:creationId xmlns:a16="http://schemas.microsoft.com/office/drawing/2014/main" id="{8EFD13FD-43AF-45E5-BD2F-00B5CF967A9D}"/>
              </a:ext>
            </a:extLst>
          </p:cNvPr>
          <p:cNvSpPr>
            <a:spLocks xmlns:a="http://schemas.openxmlformats.org/drawingml/2006/main" noGrp="1"/>
          </p:cNvSpPr>
          <p:nvPr/>
        </p:nvSpPr>
        <p:spPr>
          <a:xfrm xmlns:a="http://schemas.openxmlformats.org/drawingml/2006/main">
            <a:off x="1200150" y="6069759"/>
            <a:ext cx="1038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38" b="0" i="0">
                <a:solidFill>
                  <a:srgbClr val="168D91"/>
                </a:solidFill>
                <a:latin typeface="DejaVu Sans"/>
                <a:ea typeface="DejaVu Sans"/>
                <a:cs typeface="DejaVu Sans"/>
              </a:defRPr>
            </a:defPPr>
          </a:lstStyle>
          <a:p xmlns:a="http://schemas.openxmlformats.org/drawingml/2006/main">
            <a:pPr algn="l">
              <a:lnSpc>
                <a:spcPct val="113000"/>
              </a:lnSpc>
              <a:buNone/>
              <a:defRPr sz="1238" b="0" i="0">
                <a:solidFill>
                  <a:srgbClr val="168D91"/>
                </a:solidFill>
                <a:latin typeface="DejaVu Sans"/>
                <a:ea typeface="DejaVu Sans"/>
                <a:cs typeface="DejaVu Sans"/>
              </a:defRPr>
            </a:pPr>
            <a:r>
              <a:rPr sz="1238" b="0" i="0">
                <a:solidFill>
                  <a:srgbClr val="168D91"/>
                </a:solidFill>
                <a:latin typeface="DejaVu Sans"/>
                <a:ea typeface="DejaVu Sans"/>
                <a:cs typeface="DejaVu Sans"/>
                <a:hlinkClick xmlns:r="http://schemas.openxmlformats.org/officeDocument/2006/relationships" r:id="Rdffaa0e2ed7e4f4a"/>
              </a:rPr>
              <a:t>lpsn.dsmz.de/species/agrobacterium-fabacearum</a:t>
            </a:r>
          </a:p>
        </p:txBody>
      </p:sp>
    </p:spTree>
    <p:extLst>
      <p:ext uri="{BB962C8B-B14F-4D97-AF65-F5344CB8AC3E}">
        <p14:creationId xmlns:p14="http://schemas.microsoft.com/office/powerpoint/2010/main" val="1018764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2026-10-27T00:17:53.2620000Z</dcterms:created>
  <dcterms:modified xsi:type="dcterms:W3CDTF">2026-10-27T00:17:53.2620000Z</dcterms:modified>
</coreProperties>
</file>