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Shannon</c:v>
                </c:pt>
              </c:strCache>
            </c:strRef>
          </c:tx>
          <c:dPt>
            <c:idx val="0"/>
            <c:spPr>
              <a:solidFill>
                <a:srgbClr val="126E70"/>
              </a:solidFill>
              <a:ln>
                <a:noFill/>
              </a:ln>
            </c:spPr>
          </c:dPt>
          <c:dPt>
            <c:idx val="1"/>
            <c:spPr>
              <a:solidFill>
                <a:srgbClr val="E97C5B"/>
              </a:solidFill>
              <a:ln>
                <a:noFill/>
              </a:ln>
            </c:spPr>
          </c:dPt>
          <c:dPt>
            <c:idx val="2"/>
            <c:spPr>
              <a:solidFill>
                <a:srgbClr val="143543"/>
              </a:solidFill>
              <a:ln>
                <a:noFill/>
              </a:ln>
            </c:spPr>
          </c:dPt>
          <c:cat>
            <c:strRef>
              <c:f>Sheet1!$A$2:$A$4</c:f>
              <c:strCache>
                <c:ptCount val="3"/>
                <c:pt idx="0">
                  <c:v>Sedimento · Canadá</c:v>
                </c:pt>
                <c:pt idx="1">
                  <c:v>Agua · Canadá</c:v>
                </c:pt>
                <c:pt idx="2">
                  <c:v>Agua · Ecuador</c:v>
                </c:pt>
              </c:strCache>
            </c:strRef>
          </c:cat>
          <c:val>
            <c:numRef>
              <c:f>Sheet1!$B$2:$B$4</c:f>
              <c:numCache>
                <c:formatCode>General</c:formatCode>
                <c:ptCount val="3"/>
                <c:pt idx="0">
                  <c:v>4.07</c:v>
                </c:pt>
                <c:pt idx="1">
                  <c:v>2.37</c:v>
                </c:pt>
                <c:pt idx="2">
                  <c:v>1.28</c:v>
                </c:pt>
              </c:numCache>
            </c:numRef>
          </c:val>
        </c:ser>
        <c:dLbls>
          <c:numFmt formatCode="0.00" sourceLinked="0"/>
          <c:txPr>
            <a:bodyPr/>
            <a:lstStyle/>
            <a:p>
              <a:pPr>
                <a:defRPr sz="1300" b="1">
                  <a:solidFill>
                    <a:srgbClr val="143543"/>
                  </a:solidFill>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300">
                <a:latin typeface="DejaVu Sans"/>
              </a:defRPr>
            </a:pPr>
          </a:p>
        </c:txPr>
        <c:crossAx val="-2113994440"/>
        <c:crosses val="autoZero"/>
        <c:auto val="1"/>
        <c:lblAlgn val="ctr"/>
        <c:lblOffset val="100"/>
        <c:noMultiLvlLbl val="0"/>
      </c:catAx>
      <c:valAx>
        <c:axId val="-2113994440"/>
        <c:scaling>
          <c:max val="5.0"/>
          <c:min val="0.0"/>
        </c:scaling>
        <c:delete val="0"/>
        <c:axPos val="b"/>
        <c:majorGridlines>
          <c:spPr>
            <a:ln>
              <a:solidFill>
                <a:srgbClr val="D9E2D7"/>
              </a:solidFill>
            </a:ln>
          </c:spPr>
        </c:majorGridlines>
        <c:majorTickMark val="none"/>
        <c:minorTickMark val="none"/>
        <c:tickLblPos val="nextTo"/>
        <c:spPr>
          <a:ln>
            <a:noFill/>
          </a:ln>
        </c:spPr>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Simpson</c:v>
                </c:pt>
              </c:strCache>
            </c:strRef>
          </c:tx>
          <c:dPt>
            <c:idx val="0"/>
            <c:spPr>
              <a:solidFill>
                <a:srgbClr val="126E70"/>
              </a:solidFill>
              <a:ln>
                <a:noFill/>
              </a:ln>
            </c:spPr>
          </c:dPt>
          <c:dPt>
            <c:idx val="1"/>
            <c:spPr>
              <a:solidFill>
                <a:srgbClr val="E97C5B"/>
              </a:solidFill>
              <a:ln>
                <a:noFill/>
              </a:ln>
            </c:spPr>
          </c:dPt>
          <c:dPt>
            <c:idx val="2"/>
            <c:spPr>
              <a:solidFill>
                <a:srgbClr val="143543"/>
              </a:solidFill>
              <a:ln>
                <a:noFill/>
              </a:ln>
            </c:spPr>
          </c:dPt>
          <c:cat>
            <c:strRef>
              <c:f>Sheet1!$A$2:$A$4</c:f>
              <c:strCache>
                <c:ptCount val="3"/>
                <c:pt idx="0">
                  <c:v>Sedimento · Canadá</c:v>
                </c:pt>
                <c:pt idx="1">
                  <c:v>Agua · Canadá</c:v>
                </c:pt>
                <c:pt idx="2">
                  <c:v>Agua · Ecuador</c:v>
                </c:pt>
              </c:strCache>
            </c:strRef>
          </c:cat>
          <c:val>
            <c:numRef>
              <c:f>Sheet1!$B$2:$B$4</c:f>
              <c:numCache>
                <c:formatCode>General</c:formatCode>
                <c:ptCount val="3"/>
                <c:pt idx="0">
                  <c:v>0.96</c:v>
                </c:pt>
                <c:pt idx="1">
                  <c:v>0.85</c:v>
                </c:pt>
                <c:pt idx="2">
                  <c:v>0.55</c:v>
                </c:pt>
              </c:numCache>
            </c:numRef>
          </c:val>
        </c:ser>
        <c:dLbls>
          <c:numFmt formatCode="0.00" sourceLinked="0"/>
          <c:txPr>
            <a:bodyPr/>
            <a:lstStyle/>
            <a:p>
              <a:pPr>
                <a:defRPr sz="1300" b="1">
                  <a:solidFill>
                    <a:srgbClr val="143543"/>
                  </a:solidFill>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300">
                <a:latin typeface="DejaVu Sans"/>
              </a:defRPr>
            </a:pPr>
          </a:p>
        </c:txPr>
        <c:crossAx val="-2113994440"/>
        <c:crosses val="autoZero"/>
        <c:auto val="1"/>
        <c:lblAlgn val="ctr"/>
        <c:lblOffset val="100"/>
        <c:noMultiLvlLbl val="0"/>
      </c:catAx>
      <c:valAx>
        <c:axId val="-2113994440"/>
        <c:scaling>
          <c:max val="1.0"/>
          <c:min val="0.0"/>
        </c:scaling>
        <c:delete val="0"/>
        <c:axPos val="b"/>
        <c:majorGridlines>
          <c:spPr>
            <a:ln>
              <a:solidFill>
                <a:srgbClr val="D9E2D7"/>
              </a:solidFill>
            </a:ln>
          </c:spPr>
        </c:majorGridlines>
        <c:majorTickMark val="none"/>
        <c:minorTickMark val="none"/>
        <c:tickLblPos val="nextTo"/>
        <c:spPr>
          <a:ln>
            <a:noFill/>
          </a:ln>
        </c:spPr>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Riqueza</c:v>
                </c:pt>
              </c:strCache>
            </c:strRef>
          </c:tx>
          <c:dPt>
            <c:idx val="0"/>
            <c:spPr>
              <a:solidFill>
                <a:srgbClr val="126E70"/>
              </a:solidFill>
              <a:ln>
                <a:noFill/>
              </a:ln>
            </c:spPr>
          </c:dPt>
          <c:dPt>
            <c:idx val="1"/>
            <c:spPr>
              <a:solidFill>
                <a:srgbClr val="E97C5B"/>
              </a:solidFill>
              <a:ln>
                <a:noFill/>
              </a:ln>
            </c:spPr>
          </c:dPt>
          <c:dPt>
            <c:idx val="2"/>
            <c:spPr>
              <a:solidFill>
                <a:srgbClr val="143543"/>
              </a:solidFill>
              <a:ln>
                <a:noFill/>
              </a:ln>
            </c:spPr>
          </c:dPt>
          <c:cat>
            <c:strRef>
              <c:f>Sheet1!$A$2:$A$4</c:f>
              <c:strCache>
                <c:ptCount val="3"/>
                <c:pt idx="0">
                  <c:v>Sedimento · Canadá</c:v>
                </c:pt>
                <c:pt idx="1">
                  <c:v>Agua · Canadá</c:v>
                </c:pt>
                <c:pt idx="2">
                  <c:v>Agua · Ecuador</c:v>
                </c:pt>
              </c:strCache>
            </c:strRef>
          </c:cat>
          <c:val>
            <c:numRef>
              <c:f>Sheet1!$B$2:$B$4</c:f>
              <c:numCache>
                <c:formatCode>General</c:formatCode>
                <c:ptCount val="3"/>
                <c:pt idx="0">
                  <c:v>141.86</c:v>
                </c:pt>
                <c:pt idx="1">
                  <c:v>93.75</c:v>
                </c:pt>
                <c:pt idx="2">
                  <c:v>13.0</c:v>
                </c:pt>
              </c:numCache>
            </c:numRef>
          </c:val>
        </c:ser>
        <c:dLbls>
          <c:numFmt formatCode="0.00" sourceLinked="0"/>
          <c:txPr>
            <a:bodyPr/>
            <a:lstStyle/>
            <a:p>
              <a:pPr>
                <a:defRPr sz="1300" b="1">
                  <a:solidFill>
                    <a:srgbClr val="143543"/>
                  </a:solidFill>
                </a:defRPr>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300">
                <a:latin typeface="DejaVu Sans"/>
              </a:defRPr>
            </a:pPr>
          </a:p>
        </c:txPr>
        <c:crossAx val="-2113994440"/>
        <c:crosses val="autoZero"/>
        <c:auto val="1"/>
        <c:lblAlgn val="ctr"/>
        <c:lblOffset val="100"/>
        <c:noMultiLvlLbl val="0"/>
      </c:catAx>
      <c:valAx>
        <c:axId val="-2113994440"/>
        <c:scaling>
          <c:max val="160.0"/>
          <c:min val="0.0"/>
        </c:scaling>
        <c:delete val="0"/>
        <c:axPos val="b"/>
        <c:majorGridlines>
          <c:spPr>
            <a:ln>
              <a:solidFill>
                <a:srgbClr val="D9E2D7"/>
              </a:solidFill>
            </a:ln>
          </c:spPr>
        </c:majorGridlines>
        <c:majorTickMark val="none"/>
        <c:minorTickMark val="none"/>
        <c:tickLblPos val="nextTo"/>
        <c:spPr>
          <a:ln>
            <a:noFill/>
          </a:ln>
        </c:spPr>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1/23 | Duración orientativa 00:45 | Tramo 00:00–00:45</a:t>
            </a:r>
          </a:p>
          <a:p/>
          <a:p>
            <a:r>
              <a:t>Preséntate como microbióloga y magíster en Biología, mención Ciencias Biomédicas. «Mi experiencia conecta el trabajo de laboratorio, la investigación y los desafíos de las comunidades. Quiero mostrarles cómo esa experiencia puede convertirse en aprendizaje de microbiología». Anticipa tres ejes: tu formación y recorrido, ejemplos de proyectos y tu propuesta para llevarlos al aula. El CV menciona experiencia en docencia universitaria sin detallar asignaturas ni cargos; no atribuyas cursos o años de docencia que no estén documentados.</a:t>
            </a:r>
          </a:p>
          <a:p/>
          <a:p>
            <a:r>
              <a:t>Fuente: Casos de estudio: STARS–Loja y metagenómica Ecuador–Canadá.</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2/23 | Duración orientativa 01:15 | Tramo 00:45–02:00</a:t>
            </a:r>
          </a:p>
          <a:p/>
          <a:p>
            <a:r>
              <a:t>Usa esta pregunta como una breve muestra de tu forma de explicar microbiología. Pide una votación y una razón antes de revelar B. «Empiezo con una situación cotidiana para que el grupo formule una hipótesis; después buscamos la evidencia necesaria». Aclara que apariencia y seguridad microbiológica son cosas distintas. Conecta con tu experiencia: investigar agua en comunidades te ha enseñado a interpretar un resultado en su contexto. No alargues la discusión: este es un ejemplo docente dentro de tu presentación profesional.</a:t>
            </a:r>
          </a:p>
          <a:p/>
          <a:p>
            <a:r>
              <a:t>Fuente: Síntesis didáctica de DS_Agua_Loja_2025, diaps. 9–11.</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3/23 | Duración orientativa 01:00 | Tramo 02:00–03:00</a:t>
            </a:r>
          </a:p>
          <a:p/>
          <a:p>
            <a:r>
              <a:t>Explica que estos tres pilares organizan tu experiencia y los contenidos que puedes conectar en el aula. En microbiología, destaca preparación de cultivos, diagnóstico e identificación parasitológica; en biología molecular, extracción de ADN y PCR tradicional, cuantitativa y digital; en salud ambiental, vigilancia de agua y trabajo de campo. Evita presentarlos como tres títulos académicos: son ámbitos de competencia del CV. Cierra con la idea de enseñar tanto la ejecución técnica como el razonamiento para decidir qué método responde a cada pregunta.</a:t>
            </a:r>
          </a:p>
          <a:p/>
          <a:p>
            <a:r>
              <a:t>Fuente: CV, págs. 1–2: perfil y competencias técnicas.</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4/23 | Duración orientativa 01:30 | Tramo 03:00–04:30</a:t>
            </a:r>
          </a:p>
          <a:p/>
          <a:p>
            <a:r>
              <a:t>Recorre la licenciatura en Microbiología en la PUCE, 2020–2024; la maestría en Biología, mención Ciencias Biomédicas, 2024–2026; y el diplomado en Microbiología Clínica de la Universidad Central del Ecuador, 2024–2025. Son recorridos que se superponen en el tiempo; no los dibujes como etapas excluyentes. Explica cómo la formación inicial te dio bases de laboratorio y cómo el posgrado amplió tu interpretación de problemas biomédicos. Menciona, solo si aporta al contexto, la formación complementaria en bioseguridad y tratamiento de aguas. No es necesario mostrar identificaciones ni registros personales.</a:t>
            </a:r>
          </a:p>
          <a:p/>
          <a:p>
            <a:r>
              <a:t>Fuente: CV, pág. 2: formación académica.</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5/23 | Duración orientativa 01:30 | Tramo 04:30–06:00</a:t>
            </a:r>
          </a:p>
          <a:p/>
          <a:p>
            <a:r>
              <a:t>Presenta los tres roles documentados: técnica de laboratorio en CISeAL con MSc. César Yumiseva, agosto de 2023 a julio de 2024; técnica de laboratorio y coordinadora de campo del programa STARS, julio a diciembre de 2025; y Visiting Research Student, becaria ELAP, en University of Manitoba, enero a junio de 2026. Resume el aprendizaje de cada experiencia: calidad de la medición, coordinación del trabajo de campo e interpretación de datos metagenómicos. Explica que el valor docente está en conectar conceptos con decisiones reales, no solo en mostrar una cronología.</a:t>
            </a:r>
          </a:p>
          <a:p/>
          <a:p>
            <a:r>
              <a:t>Fuente: CV, págs. 1–2: cargos, instituciones y fechas.</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6/23 | Duración orientativa 01:30 | Tramo 06:00–07:30</a:t>
            </a:r>
          </a:p>
          <a:p/>
          <a:p>
            <a:r>
              <a:t>Describe lo que efectivamente aparece en el CV: procesamiento de agua, diagnóstico de coliformes por fermentación multitubo y Número Más Probable, e identificación de estructuras parasitarias por microscopía. No conviertas NMP en UFC: son medidas y métodos diferentes. Vincula cada tarea con una capacidad a desarrollar en estudiantes: seguir un procedimiento, registrar observaciones, reconocer límites de un resultado y sostener una interpretación. Puedes contar una experiencia concreta de tu trabajo si deseas añadirla oralmente; no se han inventado anécdotas, resultados ni responsabilidades de supervisión en este rol.</a:t>
            </a:r>
          </a:p>
          <a:p/>
          <a:p>
            <a:r>
              <a:t>Fuente: CV, pág. 2: Técnica de Laboratorio – MSc. César Yumiseva.</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7/23 | Duración orientativa 00:45 | Tramo 07:30–08:15</a:t>
            </a:r>
          </a:p>
          <a:p/>
          <a:p>
            <a:r>
              <a:t>Añade tres fotos propias que representen esta primera experiencia: un procedimiento, una herramienta o estación de trabajo y el equipo. Cuenta brevemente qué aprendiste y cómo lo traducirías a una explicación clara para estudiantes. Estos marcos quedan vacíos a propósito para que selecciones las imágenes. Evita dedicar este espacio a presentar personas que el público no conoce; concentra el relato en el aprendizaje y el trabajo colaborativo.</a:t>
            </a:r>
          </a:p>
          <a:p/>
          <a:p>
            <a:r>
              <a:t>Fuente: Galería reservada para fotografías que añadirás antes de la clase.</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8/23 | Duración orientativa 02:00 | Tramo 08:15–10:15</a:t>
            </a:r>
          </a:p>
          <a:p/>
          <a:p>
            <a:r>
              <a:t>Presenta el programa STARS como investigación aplicada y aprendizaje de servicio en comunidades desatendidas. Ubica Bellamaría, Guara y Chaquizca en Calvas, Loja. Tu rol documentado combina coordinación de campo, organización de campañas de muestreo, liderazgo de equipo, procesamiento microbiológico y técnicas de biología molecular. Dedica un minuto a explicar cómo se conectan logística y calidad científica: un equipo coordinado conserva trazabilidad y permite interpretar mejor los datos. El esquema de comunidades no es georreferenciado ni atribuye valores específicos a cada una. Cierra con una conexión docente: las preguntas del entorno pueden organizar prácticas y estudios de caso.</a:t>
            </a:r>
          </a:p>
          <a:p/>
          <a:p>
            <a:r>
              <a:t>Fuente: DS_Agua_Loja_2025, diaps. 1–5 y 16; CV, experiencia STARS.</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9/23 | Duración orientativa 01:30 | Tramo 10:15–11:45</a:t>
            </a:r>
          </a:p>
          <a:p/>
          <a:p>
            <a:r>
              <a:t>Recorre muestreo, medición, registro y transporte como partes de un mismo proceso. Tu CV documenta coordinación y supervisión de campañas bajo estándares técnicos. Explica que esta experiencia te permite enseñar por qué un resultado sin identidad, fecha o matriz pierde valor. Usa el código GU–TB–07 como ejemplo del material. Haz clic en «Registrar» y pide a alguien identificar qué información falta si un frasco solo dice «agua». No atribuyas a tu trabajo cifras de mejora ni protocolos que no aparecen en los documentos. Esta escena muestra cómo integrar organización, técnica y criterio en una actividad de aula.</a:t>
            </a:r>
          </a:p>
          <a:p/>
          <a:p>
            <a:r>
              <a:t>Fuente: DS_Agua_Loja_2025, diaps. 13–16; referencia de muestreo: ISO 19458:2006.</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10/23 | Duración orientativa 01:15 | Tramo 11:45–13:00</a:t>
            </a:r>
          </a:p>
          <a:p/>
          <a:p>
            <a:r>
              <a:t>Muestra cómo explicarías la diferencia entre coliformes totales y E. coli con un gráfico de grupos incluidos. Define indicador antes de introducir el nombre del microorganismo. E. coli pertenece a los coliformes y se utiliza como indicador de contaminación fecal; no todas sus cepas son patógenas. Señala que un resultado negativo no descarta todos los peligros. Tu objetivo docente en este ejemplo es que el estudiante distinga medición e interpretación. No presentes las estimaciones de exposición del material original como probabilidades de infección individual.</a:t>
            </a:r>
          </a:p>
          <a:p/>
          <a:p>
            <a:r>
              <a:t>Fuente: DS_Agua_Loja_2025, diaps. 9 y 17; CV, técnicas de diagnóstico.</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11/23 | Duración orientativa 00:45 | Tramo 13:00–13:45</a:t>
            </a:r>
          </a:p>
          <a:p/>
          <a:p>
            <a:r>
              <a:t>Inserta fotografías propias del proyecto Loja. Cuenta una idea que quieras que el público recuerde sobre tu experiencia de campo y trabajo colaborativo. Conecta con el siguiente proyecto: del análisis de indicadores a preguntas más amplias sobre la comunidad microbiana. No es necesario llenar los tres espacios si solo quieres mostrar una o dos imágenes.</a:t>
            </a:r>
          </a:p>
          <a:p/>
          <a:p>
            <a:r>
              <a:t>Fuente: Galería reservada para fotografías que añadirás antes de la clase.</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12/23 | Duración orientativa 01:30 | Tramo 13:45–15:15</a:t>
            </a:r>
          </a:p>
          <a:p/>
          <a:p>
            <a:r>
              <a:t>Contextualiza tu estancia como Visiting Research Student y becaria ELAP en University of Manitoba, enero a junio de 2026. La investigación compara comunidades microbianas de agua en Chugchilán y Tataskweyak Cree Nation. El material describe 24 muestras de agua ecuatoriana, 16 de agua canadiense y 14 de sedimento canadiense, 54 en total. Destaca el aprendizaje de integrar trabajo molecular y análisis bioinformático. Explica con rigor la asimetría del diseño: no hay un grupo de sedimento ecuatoriano en esta comparación, de modo que ubicación y matriz no se separan por completo.</a:t>
            </a:r>
          </a:p>
          <a:p/>
          <a:p>
            <a:r>
              <a:t>Fuente: ECCA_EE_CY_vc1, diaps. 6–9. CAWA/CASE: Canadá; ECWA: Ecuador.</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13/23 | Duración orientativa 01:45 | Tramo 15:15–17:00</a:t>
            </a:r>
          </a:p>
          <a:p/>
          <a:p>
            <a:r>
              <a:t>La animación es un esquema de captura y recuperación, no una simulación de eficiencia. El protocolo aportado usa aproximadamente 500 mL de agua, membrana PES de 0,22 micrómetros y DNeasy PowerLyzer PowerSoil. Qubit 1X dsDNA HS estima la concentración de ADN; no identifica taxones. Diferencia esta cuantificación de la dPCR dirigida que veremos enseguida. Destaca que la filtración descrita corresponde al agua; no extrapoles el mismo volumen de preparación al sedimento. Pregunta qué error conceptual habría en llamar «número de bacterias» a cualquier cantidad de ADN total. Cierra explicando que una animación permite detener un proceso complejo en etapas observables: qué entra, qué se hace y qué información sale. Este es un recurso que propones para tus clases, no un registro de una asignatura ya impartida.</a:t>
            </a:r>
          </a:p>
          <a:p/>
          <a:p>
            <a:r>
              <a:t>Fuente: ECCA_EE_CY_vc1, diap. 10. Filtración descrita para las muestras de agua.</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14/23 | Duración orientativa 01:30 | Tramo 17:00–18:30</a:t>
            </a:r>
          </a:p>
          <a:p/>
          <a:p>
            <a:r>
              <a:t>Explica la lógica de la PCR digital: distribuir una reacción en particiones, amplificar y distinguir particiones positivas y negativas; la cuantificación requiere el modelo correspondiente y controles. Los blancos documentados son 16S rRNA y uidA, con QuantStudio Absolute Q. El trabajo usa control positivo de E. coli, negativo de agua libre de nucleasas y diluciones seriadas. La pantalla no reproduce datos reales. Para la normalización se consideraron volumen filtrado y copias génicas: el factor 5,26 de 16S usado en la presentación es un supuesto promedio, no una constante biológica universal. Copias génicas no equivalen automáticamente a células viables.</a:t>
            </a:r>
          </a:p>
          <a:p/>
          <a:p>
            <a:r>
              <a:t>Fuente: ECCA_EE_CY_vc1, diaps. 10 y 12. Esquema de particiones ilustrativo.</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15/23 | Duración orientativa 01:30 | Tramo 18:30–20:00</a:t>
            </a:r>
          </a:p>
          <a:p/>
          <a:p>
            <a:r>
              <a:t>Usa la animación para mostrar que el ADN pasa a generar lecturas que luego deben asignarse e interpretarse. Los barcodes distinguen muestras procesadas juntas; no son el nombre de la especie. La presentación fuente documenta Native Barcoding Kit 96 V14 y PromethION 2 Solo. Evita prometer identificación perfecta: la calidad de lectura y las bases de referencia influyen en la clasificación. Compara con dPCR: una pregunta dirigida sobre genes frente a una exploración amplia de la comunidad. Son enfoques complementarios y no medidas intercambiables. Resume después el análisis: curación con Porechop y Chopper, remoción de ADN humano con minimap2 y SAMtools, clasificación con Kraken2 y estimación con Bracken. Presenta las herramientas por su función, sin convertir la clase en una lista de software.</a:t>
            </a:r>
          </a:p>
          <a:p/>
          <a:p>
            <a:r>
              <a:t>Fuente: ECCA_EE_CY_vc1, diaps. 9–11. Kit Native Barcoding 96 V14.</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16/23 | Duración orientativa 01:30 | Tramo 20:00–21:30</a:t>
            </a:r>
          </a:p>
          <a:p/>
          <a:p>
            <a:r>
              <a:t>Muestra primero Shannon: sedimento Canadá 4,07; agua Canadá 2,37; agua Ecuador 1,28. Explica que Shannon combina riqueza y distribución de abundancias: el valor no es un conteo de patógenos. En HTML puedes cambiar a Simpson o riqueza; los valores y los ± son los de la tabla aportada. No llames desviación estándar o error estándar a esos ± porque la diapositiva no lo especifica. Pregunta qué grupo tiene mayor diversidad media y después qué NO permite concluir ese orden. Evita interpretar las diferencias como causadas exclusivamente por país o matriz.</a:t>
            </a:r>
          </a:p>
          <a:p/>
          <a:p>
            <a:r>
              <a:t>Fuente: ECCA_EE_CY_vc1, diap. 14. Significado de ± no especificado en la fuente.</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17/23 | Duración orientativa 01:15 | Tramo 21:30–22:45</a:t>
            </a:r>
          </a:p>
          <a:p/>
          <a:p>
            <a:r>
              <a:t>Haz votar antes de mostrar B. Pide identificar la variable observada: un índice de diversidad. Después enumera qué faltaría para evaluar riesgo: organismos o genes relevantes, viabilidad cuando corresponda, exposición y contexto. Señala que detectar ADN asignado a un taxón potencialmente patógeno no prueba por sí solo infección ni viabilidad. El estudio encontró patrones de interés para vigilancia, no una predicción clínica individual. Introduce con esta cautela la idea del sedimento como reservorio.</a:t>
            </a:r>
          </a:p>
          <a:p/>
          <a:p>
            <a:r>
              <a:t>Fuente: ECCA_EE_CY_vc1, diaps. 14–15 y 20; actividad de interpretación.</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18/23 | Duración orientativa 00:45 | Tramo 22:45–23:30</a:t>
            </a:r>
          </a:p>
          <a:p/>
          <a:p>
            <a:r>
              <a:t>Añade imágenes de laboratorio, intercambio o comunicación científica que quieras usar para conectar investigación y docencia. Explica una dificultad concreta aprendida durante el proceso: por ejemplo, conservar la trazabilidad o justificar una interpretación. No conviertas la galería en un repaso extenso del CV. La función es humanizar el trabajo y abrir la pregunta de cómo se convierte un resultado en una comunicación que otras personas puedan evaluar.</a:t>
            </a:r>
          </a:p>
          <a:p/>
          <a:p>
            <a:r>
              <a:t>Fuente: Galería reservada para fotografías que añadirás antes de la clase.</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19/23 | Duración orientativa 01:30 | Tramo 23:30–25:00</a:t>
            </a:r>
          </a:p>
          <a:p/>
          <a:p>
            <a:r>
              <a:t>Presenta el artículo consignado en tu CV: «Microbiological quality of drinking water in three rural communities of the Calvas Canton (Loja)», Revista Ecuatoriana de Medicina y Ciencias Biológicas, DOI 10.26807/remcb.v46i2.1053. No atribuyas a ese artículo las cifras del estudio metagenómico: son trabajos distintos. El flujo de pregunta, método, análisis y comunicación es una síntesis pedagógica del proceso científico, no un registro editorial del artículo. Diferencia artículo, póster y ponencia; el CV registra presentaciones en 2024, 2025 y 2026. Pregunta qué información de un método necesitaría otra persona para evaluar un resultado. Relaciona esta experiencia con enseñar a leer artículos: identificar pregunta, método, resultado y límite. Las ponencias del CV incluyen Jornadas Nacionales de Biología 2025, WEST 2026 y BIOSaG 2026; el póster corresponde a las Jornadas de 2024. No presentes esas participaciones como artículos adicionales.</a:t>
            </a:r>
          </a:p>
          <a:p/>
          <a:p>
            <a:r>
              <a:t>Fuente: CV, pág. 3: publicación y participaciones científicas.</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20/23 | Duración orientativa 02:00 | Tramo 25:00–27:00</a:t>
            </a:r>
          </a:p>
          <a:p/>
          <a:p>
            <a:r>
              <a:t>Presenta esta lámina explícitamente como tu propuesta. Explica que partirías de un caso de agua de consumo, usarías esquemas y procesos animados para comprender técnicas y pedirías interpretar resultados en parejas. La retroalimentación se centraría en la calidad del argumento, no solo en acertar una alternativa. Vincula con posibles contenidos de microbiología, biología molecular, bioseguridad y salud ambiental; no los enumeres como asignaturas ya dictadas. Puedes adaptar la complejidad al nivel: conceptos de indicadores en un curso inicial, diseño e inferencia en un curso avanzado. La propuesta permite mostrar tu criterio docente con evidencia de experiencia profesional.</a:t>
            </a:r>
          </a:p>
          <a:p/>
          <a:p>
            <a:r>
              <a:t>Fuente: Propuesta docente basada en el perfil profesional y los proyectos aportados.</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21/23 | Duración orientativa 01:30 | Tramo 27:00–28:30</a:t>
            </a:r>
          </a:p>
          <a:p/>
          <a:p>
            <a:r>
              <a:t>Presenta este ejercicio breve como una muestra de evaluación formativa. Es un caso hipotético: E. coli detectada en un punto de distribución y ADN asignado a Aeromonas en metagenómica, sin confirmación de viabilidad. Da treinta segundos para pensar en parejas y pide una respuesta con tres piezas: dónde comparar, qué método complementar y qué límite expresar. Revela la guía y comenta que evaluarías el razonamiento y la prudencia de la conclusión. No se pide diseñar un tratamiento ni estimar una probabilidad clínica. El ejercicio hace visible cómo usarías tu experiencia para enseñar.</a:t>
            </a:r>
          </a:p>
          <a:p/>
          <a:p>
            <a:r>
              <a:t>Fuente: Actividad didáctica creada para esta clase.</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22/23 | Duración orientativa 00:45 | Tramo 28:30–29:15</a:t>
            </a:r>
          </a:p>
          <a:p/>
          <a:p>
            <a:r>
              <a:t>Resume tu aporte en tres ideas: procedimientos bien fundamentados, interpretación crítica y relación entre microbiología y problemas del entorno. Distingue la experiencia documentada de investigación y campo de la propuesta pedagógica que acabas de mostrar. Esta lámina es tu cierre profesional: conecta lo que has hecho con lo que quieres que tus estudiantes sepan hacer. Evita añadir cifras de estudiantes, cursos, evaluaciones o años de docencia no aportados.</a:t>
            </a:r>
          </a:p>
          <a:p/>
          <a:p>
            <a:r>
              <a:t>Fuente: Síntesis profesional y propuesta docente a partir del CV y los proyectos aportados.</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23/23 | Duración orientativa 00:45 | Tramo 29:15–30:00</a:t>
            </a:r>
          </a:p>
          <a:p/>
          <a:p>
            <a:r>
              <a:t>Agradece y retoma la pregunta inicial: un agua transparente no resuelve por sí sola la pregunta sobre seguridad. «Quiero que mis estudiantes sepan ejecutar una técnica y también argumentar qué pueden concluir con ella». Esta frase conecta tu identidad docente con las experiencias presentadas. Reserva el cierre para una pregunta breve o para invitar a conversar sobre el curso. La duración planificada es de treinta minutos; las fuentes y respuestas adicionales no forman parte del recorrido cronometrado.</a:t>
            </a:r>
          </a:p>
          <a:p/>
          <a:p>
            <a:r>
              <a:t>Fuente: Síntesis de los casos aportados por Emilia Espín Loza.</a:t>
            </a:r>
          </a:p>
          <a:p/>
          <a:p>
            <a:r>
              <a:t>Diseño propio de estilo Business Review; la plantilla enlazada no estuvo accesible. Las imágenes animadas son esquemas didácticos.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de consulta: no añade tiempo al recorrido. Necesitamos contexto, un muestreo adecuado y análisis. La turbidez puede orientar, pero no identifica por sí sola microorganismos ni su riesgo.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de consulta: no añade tiempo al recorrido. La evaluación depende de identidades, viabilidad, exposición y contexto. El diseño tampoco separa de forma independiente ubicación y matriz.</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de consulta: no añade tiempo al recorrido. Revisar muestreo y controles → comparar puntos pertinentes → proponer métodos confirmatorios según la pregunta.</a:t>
            </a:r>
          </a:p>
          <a:p/>
          <a:p>
            <a:r>
              <a:t>El hallazgo no demuestra infección ni identifica por sí solo la causa.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2.xml"/><Relationship Id="rId4" Type="http://schemas.openxmlformats.org/officeDocument/2006/relationships/slide" Target="slide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3.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4.xml"/><Relationship Id="rId4" Type="http://schemas.openxmlformats.org/officeDocument/2006/relationships/image" Target="../media/image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5.xml"/><Relationship Id="rId4" Type="http://schemas.openxmlformats.org/officeDocument/2006/relationships/image" Target="../media/image4.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16.xml"/><Relationship Id="rId4" Type="http://schemas.openxmlformats.org/officeDocument/2006/relationships/slide" Target="slide29.xml"/><Relationship Id="rId5" Type="http://schemas.openxmlformats.org/officeDocument/2006/relationships/slide" Target="slide30.xml"/><Relationship Id="rId6" Type="http://schemas.openxmlformats.org/officeDocument/2006/relationships/chart" Target="../charts/char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7.xml"/><Relationship Id="rId4" Type="http://schemas.openxmlformats.org/officeDocument/2006/relationships/slide" Target="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19.xml"/><Relationship Id="rId4" Type="http://schemas.openxmlformats.org/officeDocument/2006/relationships/hyperlink" Target="https://doi.org/10.26807/remcb.v46i2.1053" TargetMode="External"/><Relationship Id="rId5" Type="http://schemas.openxmlformats.org/officeDocument/2006/relationships/image" Target="../media/image5.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21.xml"/><Relationship Id="rId4" Type="http://schemas.openxmlformats.org/officeDocument/2006/relationships/slide" Target="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22.xml"/><Relationship Id="rId25" Type="http://schemas.openxmlformats.org/officeDocument/2006/relationships/slide" Target="slide23.xml"/><Relationship Id="rId2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17.xml"/><Relationship Id="rId4" Type="http://schemas.openxmlformats.org/officeDocument/2006/relationships/slide" Target="slide18.xml"/><Relationship Id="rId5"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21.xml"/><Relationship Id="rId4" Type="http://schemas.openxmlformats.org/officeDocument/2006/relationships/slide" Target="slide22.xml"/><Relationship Id="rId5"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16.xml"/><Relationship Id="rId4" Type="http://schemas.openxmlformats.org/officeDocument/2006/relationships/slide" Target="slide29.xml"/><Relationship Id="rId5" Type="http://schemas.openxmlformats.org/officeDocument/2006/relationships/slide" Target="slide30.xml"/><Relationship Id="rId6"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16.xml"/><Relationship Id="rId4" Type="http://schemas.openxmlformats.org/officeDocument/2006/relationships/slide" Target="slide29.xml"/><Relationship Id="rId5" Type="http://schemas.openxmlformats.org/officeDocument/2006/relationships/slide" Target="slide30.xml"/><Relationship Id="rId6"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PRESENTACIÓN DOCENTE · MICROBIOLOGÍA</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Casos de estudio: STARS–Loja y metagenómica Ecuador–Canadá.</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01</a:t>
            </a:r>
          </a:p>
        </p:txBody>
      </p:sp>
      <p:sp>
        <p:nvSpPr>
          <p:cNvPr id="7" name="Rectangle 6"/>
          <p:cNvSpPr/>
          <p:nvPr/>
        </p:nvSpPr>
        <p:spPr>
          <a:xfrm>
            <a:off x="0" y="6821424"/>
            <a:ext cx="530085"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pic>
        <p:nvPicPr>
          <p:cNvPr id="10" name="Picture 9" descr="agua_03_04.jpg"/>
          <p:cNvPicPr>
            <a:picLocks noChangeAspect="1"/>
          </p:cNvPicPr>
          <p:nvPr/>
        </p:nvPicPr>
        <p:blipFill>
          <a:blip r:embed="rId4"/>
          <a:srcRect l="2089" r="2089"/>
          <a:stretch>
            <a:fillRect/>
          </a:stretch>
        </p:blipFill>
        <p:spPr>
          <a:xfrm>
            <a:off x="7269480" y="0"/>
            <a:ext cx="4928616" cy="6858000"/>
          </a:xfrm>
          <a:prstGeom prst="rect">
            <a:avLst/>
          </a:prstGeom>
        </p:spPr>
      </p:pic>
      <p:sp>
        <p:nvSpPr>
          <p:cNvPr id="11" name="Rectangle 10"/>
          <p:cNvSpPr/>
          <p:nvPr/>
        </p:nvSpPr>
        <p:spPr>
          <a:xfrm>
            <a:off x="7269480" y="4700016"/>
            <a:ext cx="4928616" cy="2157984"/>
          </a:xfrm>
          <a:prstGeom prst="rect">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5020056"/>
            <a:ext cx="3977639" cy="1371600"/>
          </a:xfrm>
          <a:prstGeom prst="rect">
            <a:avLst/>
          </a:prstGeom>
          <a:noFill/>
        </p:spPr>
        <p:txBody>
          <a:bodyPr wrap="square" lIns="0" rIns="0" tIns="0" bIns="0">
            <a:spAutoFit/>
          </a:bodyPr>
          <a:lstStyle/>
          <a:p>
            <a:pPr algn="l">
              <a:lnSpc>
                <a:spcPct val="102000"/>
              </a:lnSpc>
              <a:spcAft>
                <a:spcPts val="300"/>
              </a:spcAft>
              <a:defRPr sz="2800" b="1">
                <a:solidFill>
                  <a:srgbClr val="FFFFFF"/>
                </a:solidFill>
                <a:latin typeface="DejaVu Sans"/>
              </a:defRPr>
            </a:pPr>
            <a:r>
              <a:t>AULA</a:t>
            </a:r>
          </a:p>
          <a:p>
            <a:pPr algn="l">
              <a:lnSpc>
                <a:spcPct val="102000"/>
              </a:lnSpc>
              <a:spcAft>
                <a:spcPts val="300"/>
              </a:spcAft>
              <a:defRPr sz="2800" b="1">
                <a:solidFill>
                  <a:srgbClr val="FFFFFF"/>
                </a:solidFill>
                <a:latin typeface="DejaVu Sans"/>
              </a:defRPr>
            </a:pPr>
            <a:r>
              <a:t>LABORATORIO</a:t>
            </a:r>
          </a:p>
          <a:p>
            <a:pPr algn="l">
              <a:lnSpc>
                <a:spcPct val="102000"/>
              </a:lnSpc>
              <a:spcAft>
                <a:spcPts val="300"/>
              </a:spcAft>
              <a:defRPr sz="2800" b="1">
                <a:solidFill>
                  <a:srgbClr val="FFFFFF"/>
                </a:solidFill>
                <a:latin typeface="DejaVu Sans"/>
              </a:defRPr>
            </a:pPr>
            <a:r>
              <a:t>COMUNIDAD</a:t>
            </a:r>
          </a:p>
        </p:txBody>
      </p:sp>
      <p:sp>
        <p:nvSpPr>
          <p:cNvPr id="13" name="TextBox 12"/>
          <p:cNvSpPr txBox="1"/>
          <p:nvPr/>
        </p:nvSpPr>
        <p:spPr>
          <a:xfrm>
            <a:off x="548640" y="1197864"/>
            <a:ext cx="6583680" cy="1965960"/>
          </a:xfrm>
          <a:prstGeom prst="rect">
            <a:avLst/>
          </a:prstGeom>
          <a:noFill/>
        </p:spPr>
        <p:txBody>
          <a:bodyPr wrap="square" lIns="0" rIns="0" tIns="0" bIns="0">
            <a:spAutoFit/>
          </a:bodyPr>
          <a:lstStyle/>
          <a:p>
            <a:pPr algn="l">
              <a:lnSpc>
                <a:spcPct val="102000"/>
              </a:lnSpc>
              <a:spcAft>
                <a:spcPts val="300"/>
              </a:spcAft>
              <a:defRPr sz="7200" b="1">
                <a:solidFill>
                  <a:srgbClr val="143543"/>
                </a:solidFill>
                <a:latin typeface="DejaVu Sans"/>
              </a:defRPr>
            </a:pPr>
            <a:r>
              <a:t>Emilia</a:t>
            </a:r>
          </a:p>
          <a:p>
            <a:pPr algn="l">
              <a:lnSpc>
                <a:spcPct val="102000"/>
              </a:lnSpc>
              <a:spcAft>
                <a:spcPts val="300"/>
              </a:spcAft>
              <a:defRPr sz="7200" b="1">
                <a:solidFill>
                  <a:srgbClr val="143543"/>
                </a:solidFill>
                <a:latin typeface="DejaVu Sans"/>
              </a:defRPr>
            </a:pPr>
            <a:r>
              <a:t>Espín Loza</a:t>
            </a:r>
          </a:p>
        </p:txBody>
      </p:sp>
      <p:sp>
        <p:nvSpPr>
          <p:cNvPr id="14" name="TextBox 13"/>
          <p:cNvSpPr txBox="1"/>
          <p:nvPr/>
        </p:nvSpPr>
        <p:spPr>
          <a:xfrm>
            <a:off x="576072" y="3310128"/>
            <a:ext cx="6309360" cy="1005840"/>
          </a:xfrm>
          <a:prstGeom prst="rect">
            <a:avLst/>
          </a:prstGeom>
          <a:noFill/>
        </p:spPr>
        <p:txBody>
          <a:bodyPr wrap="square" lIns="0" rIns="0" tIns="0" bIns="0">
            <a:spAutoFit/>
          </a:bodyPr>
          <a:lstStyle/>
          <a:p>
            <a:pPr algn="l">
              <a:lnSpc>
                <a:spcPct val="102000"/>
              </a:lnSpc>
              <a:spcAft>
                <a:spcPts val="300"/>
              </a:spcAft>
              <a:defRPr sz="2300" b="0">
                <a:solidFill>
                  <a:srgbClr val="143543"/>
                </a:solidFill>
                <a:latin typeface="DejaVu Sans"/>
              </a:defRPr>
            </a:pPr>
            <a:r>
              <a:t>Microbiología que conecta</a:t>
            </a:r>
          </a:p>
          <a:p>
            <a:pPr algn="l">
              <a:lnSpc>
                <a:spcPct val="102000"/>
              </a:lnSpc>
              <a:spcAft>
                <a:spcPts val="300"/>
              </a:spcAft>
              <a:defRPr sz="2300" b="0">
                <a:solidFill>
                  <a:srgbClr val="143543"/>
                </a:solidFill>
                <a:latin typeface="DejaVu Sans"/>
              </a:defRPr>
            </a:pPr>
            <a:r>
              <a:t>aula, laboratorio y comunidad</a:t>
            </a:r>
          </a:p>
        </p:txBody>
      </p:sp>
      <p:sp>
        <p:nvSpPr>
          <p:cNvPr id="15" name="TextBox 14"/>
          <p:cNvSpPr txBox="1"/>
          <p:nvPr/>
        </p:nvSpPr>
        <p:spPr>
          <a:xfrm>
            <a:off x="576072" y="4736592"/>
            <a:ext cx="6217920" cy="64008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Lic. en Microbiología</a:t>
            </a:r>
          </a:p>
          <a:p>
            <a:pPr algn="l">
              <a:lnSpc>
                <a:spcPct val="102000"/>
              </a:lnSpc>
              <a:spcAft>
                <a:spcPts val="300"/>
              </a:spcAft>
              <a:defRPr sz="1600" b="0">
                <a:solidFill>
                  <a:srgbClr val="143543"/>
                </a:solidFill>
                <a:latin typeface="DejaVu Sans"/>
              </a:defRPr>
            </a:pPr>
            <a:r>
              <a:t>MSc. en Biología · Ciencias Biomédicas</a:t>
            </a:r>
          </a:p>
        </p:txBody>
      </p:sp>
      <p:sp>
        <p:nvSpPr>
          <p:cNvPr id="16" name="Rounded Rectangle 15"/>
          <p:cNvSpPr/>
          <p:nvPr/>
        </p:nvSpPr>
        <p:spPr>
          <a:xfrm>
            <a:off x="576072" y="5751576"/>
            <a:ext cx="1965960" cy="34747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5815584"/>
            <a:ext cx="1810512" cy="182880"/>
          </a:xfrm>
          <a:prstGeom prst="rect">
            <a:avLst/>
          </a:prstGeom>
          <a:noFill/>
        </p:spPr>
        <p:txBody>
          <a:bodyPr wrap="square" lIns="0" rIns="0" tIns="0" bIns="0">
            <a:spAutoFit/>
          </a:bodyPr>
          <a:lstStyle/>
          <a:p>
            <a:pPr algn="l">
              <a:lnSpc>
                <a:spcPct val="102000"/>
              </a:lnSpc>
              <a:spcAft>
                <a:spcPts val="300"/>
              </a:spcAft>
              <a:defRPr sz="950" b="0">
                <a:solidFill>
                  <a:srgbClr val="126E70"/>
                </a:solidFill>
                <a:latin typeface="DejaVu Sans"/>
              </a:defRPr>
            </a:pPr>
            <a:r>
              <a:t>Experiencia aplicada</a:t>
            </a:r>
          </a:p>
        </p:txBody>
      </p:sp>
      <p:sp>
        <p:nvSpPr>
          <p:cNvPr id="18" name="Rounded Rectangle 17"/>
          <p:cNvSpPr/>
          <p:nvPr/>
        </p:nvSpPr>
        <p:spPr>
          <a:xfrm>
            <a:off x="2724912" y="5751576"/>
            <a:ext cx="1965960" cy="34747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16352" y="5815584"/>
            <a:ext cx="1810512" cy="182880"/>
          </a:xfrm>
          <a:prstGeom prst="rect">
            <a:avLst/>
          </a:prstGeom>
          <a:noFill/>
        </p:spPr>
        <p:txBody>
          <a:bodyPr wrap="square" lIns="0" rIns="0" tIns="0" bIns="0">
            <a:spAutoFit/>
          </a:bodyPr>
          <a:lstStyle/>
          <a:p>
            <a:pPr algn="l">
              <a:lnSpc>
                <a:spcPct val="102000"/>
              </a:lnSpc>
              <a:spcAft>
                <a:spcPts val="300"/>
              </a:spcAft>
              <a:defRPr sz="950" b="0">
                <a:solidFill>
                  <a:srgbClr val="126E70"/>
                </a:solidFill>
                <a:latin typeface="DejaVu Sans"/>
              </a:defRPr>
            </a:pPr>
            <a:r>
              <a:t>Investigación</a:t>
            </a:r>
          </a:p>
        </p:txBody>
      </p:sp>
      <p:sp>
        <p:nvSpPr>
          <p:cNvPr id="20" name="Rounded Rectangle 19"/>
          <p:cNvSpPr/>
          <p:nvPr/>
        </p:nvSpPr>
        <p:spPr>
          <a:xfrm>
            <a:off x="4873752" y="5751576"/>
            <a:ext cx="1965960" cy="34747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65192" y="5815584"/>
            <a:ext cx="1810512" cy="182880"/>
          </a:xfrm>
          <a:prstGeom prst="rect">
            <a:avLst/>
          </a:prstGeom>
          <a:noFill/>
        </p:spPr>
        <p:txBody>
          <a:bodyPr wrap="square" lIns="0" rIns="0" tIns="0" bIns="0">
            <a:spAutoFit/>
          </a:bodyPr>
          <a:lstStyle/>
          <a:p>
            <a:pPr algn="l">
              <a:lnSpc>
                <a:spcPct val="102000"/>
              </a:lnSpc>
              <a:spcAft>
                <a:spcPts val="300"/>
              </a:spcAft>
              <a:defRPr sz="950" b="0">
                <a:solidFill>
                  <a:srgbClr val="126E70"/>
                </a:solidFill>
                <a:latin typeface="DejaVu Sans"/>
              </a:defRPr>
            </a:pPr>
            <a:r>
              <a:t>Propuesta docente</a:t>
            </a:r>
          </a:p>
        </p:txBody>
      </p:sp>
      <p:sp>
        <p:nvSpPr>
          <p:cNvPr id="22" name="Rounded Rectangle 21">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24" name="TextBox 23"/>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FFFFFF"/>
                </a:solidFill>
                <a:latin typeface="DejaVu Sans"/>
              </a:defRPr>
            </a:pPr>
            <a:r>
              <a:t>01</a:t>
            </a:r>
          </a:p>
        </p:txBody>
      </p:sp>
    </p:spTree>
  </p:cSld>
  <p:clrMapOvr>
    <a:masterClrMapping/>
  </p:clrMapOvr>
  <p:transition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ASÍ ABRIRÍA UNA CLASE</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El agua se ve limpia.</a:t>
            </a:r>
          </a:p>
          <a:p>
            <a:pPr algn="l">
              <a:lnSpc>
                <a:spcPct val="102000"/>
              </a:lnSpc>
              <a:spcAft>
                <a:spcPts val="300"/>
              </a:spcAft>
              <a:defRPr sz="4200" b="1">
                <a:solidFill>
                  <a:srgbClr val="143543"/>
                </a:solidFill>
                <a:latin typeface="DejaVu Sans"/>
              </a:defRPr>
            </a:pPr>
            <a:r>
              <a:t>¿La beberías?</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Vota primero. Justifica después.</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Síntesis didáctica de DS_Agua_Loja_2025, diaps. 9–11.</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02</a:t>
            </a:r>
          </a:p>
        </p:txBody>
      </p:sp>
      <p:sp>
        <p:nvSpPr>
          <p:cNvPr id="7" name="Rectangle 6"/>
          <p:cNvSpPr/>
          <p:nvPr/>
        </p:nvSpPr>
        <p:spPr>
          <a:xfrm>
            <a:off x="0" y="6821424"/>
            <a:ext cx="1060171"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76072" y="2788920"/>
            <a:ext cx="2971800" cy="3044952"/>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ardrop 10"/>
          <p:cNvSpPr/>
          <p:nvPr/>
        </p:nvSpPr>
        <p:spPr>
          <a:xfrm rot="18900000">
            <a:off x="1021842" y="3063240"/>
            <a:ext cx="672084" cy="960120"/>
          </a:xfrm>
          <a:prstGeom prst="teardrop">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31720" y="2944368"/>
            <a:ext cx="731520" cy="914400"/>
          </a:xfrm>
          <a:prstGeom prst="rect">
            <a:avLst/>
          </a:prstGeom>
          <a:noFill/>
        </p:spPr>
        <p:txBody>
          <a:bodyPr wrap="square" lIns="0" rIns="0" tIns="0" bIns="0">
            <a:spAutoFit/>
          </a:bodyPr>
          <a:lstStyle/>
          <a:p>
            <a:pPr algn="l">
              <a:lnSpc>
                <a:spcPct val="102000"/>
              </a:lnSpc>
              <a:spcAft>
                <a:spcPts val="300"/>
              </a:spcAft>
              <a:defRPr sz="7000" b="1">
                <a:solidFill>
                  <a:srgbClr val="E97C5B"/>
                </a:solidFill>
                <a:latin typeface="DejaVu Sans"/>
              </a:defRPr>
            </a:pPr>
            <a:r>
              <a:t>?</a:t>
            </a:r>
          </a:p>
        </p:txBody>
      </p:sp>
      <p:sp>
        <p:nvSpPr>
          <p:cNvPr id="13" name="TextBox 12"/>
          <p:cNvSpPr txBox="1"/>
          <p:nvPr/>
        </p:nvSpPr>
        <p:spPr>
          <a:xfrm>
            <a:off x="877824" y="4480560"/>
            <a:ext cx="2423160" cy="1005840"/>
          </a:xfrm>
          <a:prstGeom prst="rect">
            <a:avLst/>
          </a:prstGeom>
          <a:noFill/>
        </p:spPr>
        <p:txBody>
          <a:bodyPr wrap="square" lIns="0" rIns="0" tIns="0" bIns="0">
            <a:spAutoFit/>
          </a:bodyPr>
          <a:lstStyle/>
          <a:p>
            <a:pPr algn="l">
              <a:lnSpc>
                <a:spcPct val="102000"/>
              </a:lnSpc>
              <a:spcAft>
                <a:spcPts val="300"/>
              </a:spcAft>
              <a:defRPr sz="2300" b="0">
                <a:solidFill>
                  <a:srgbClr val="FFFFFF"/>
                </a:solidFill>
                <a:latin typeface="DejaVu Sans"/>
              </a:defRPr>
            </a:pPr>
            <a:r>
              <a:t>Observa.</a:t>
            </a:r>
          </a:p>
          <a:p>
            <a:pPr algn="l">
              <a:lnSpc>
                <a:spcPct val="102000"/>
              </a:lnSpc>
              <a:spcAft>
                <a:spcPts val="300"/>
              </a:spcAft>
              <a:defRPr sz="2300" b="0">
                <a:solidFill>
                  <a:srgbClr val="FFFFFF"/>
                </a:solidFill>
                <a:latin typeface="DejaVu Sans"/>
              </a:defRPr>
            </a:pPr>
            <a:r>
              <a:t>Argumenta.</a:t>
            </a:r>
          </a:p>
          <a:p>
            <a:pPr algn="l">
              <a:lnSpc>
                <a:spcPct val="102000"/>
              </a:lnSpc>
              <a:spcAft>
                <a:spcPts val="300"/>
              </a:spcAft>
              <a:defRPr sz="2300" b="0">
                <a:solidFill>
                  <a:srgbClr val="FFFFFF"/>
                </a:solidFill>
                <a:latin typeface="DejaVu Sans"/>
              </a:defRPr>
            </a:pPr>
            <a:r>
              <a:t>Contrasta.</a:t>
            </a:r>
          </a:p>
        </p:txBody>
      </p:sp>
      <p:sp>
        <p:nvSpPr>
          <p:cNvPr id="14" name="Rounded Rectangle 13">
            <a:hlinkClick action="ppaction://hlinksldjump" r:id="rId4"/>
          </p:cNvPr>
          <p:cNvSpPr/>
          <p:nvPr/>
        </p:nvSpPr>
        <p:spPr>
          <a:xfrm>
            <a:off x="4023360" y="2788920"/>
            <a:ext cx="7589520" cy="7589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4"/>
          </p:cNvPr>
          <p:cNvSpPr txBox="1"/>
          <p:nvPr/>
        </p:nvSpPr>
        <p:spPr>
          <a:xfrm>
            <a:off x="4142232" y="2862072"/>
            <a:ext cx="7351776" cy="667512"/>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A   Sí: la transparencia basta</a:t>
            </a:r>
          </a:p>
        </p:txBody>
      </p:sp>
      <p:sp>
        <p:nvSpPr>
          <p:cNvPr id="16" name="Rounded Rectangle 15">
            <a:hlinkClick action="ppaction://hlinksldjump" r:id="rId4"/>
          </p:cNvPr>
          <p:cNvSpPr/>
          <p:nvPr/>
        </p:nvSpPr>
        <p:spPr>
          <a:xfrm>
            <a:off x="4023360" y="3712463"/>
            <a:ext cx="7589520" cy="7589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action="ppaction://hlinksldjump" r:id="rId4"/>
          </p:cNvPr>
          <p:cNvSpPr txBox="1"/>
          <p:nvPr/>
        </p:nvSpPr>
        <p:spPr>
          <a:xfrm>
            <a:off x="4142232" y="3785615"/>
            <a:ext cx="7351776" cy="667512"/>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B   No podemos decidir solo al verla</a:t>
            </a:r>
          </a:p>
        </p:txBody>
      </p:sp>
      <p:sp>
        <p:nvSpPr>
          <p:cNvPr id="18" name="Rounded Rectangle 17">
            <a:hlinkClick action="ppaction://hlinksldjump" r:id="rId4"/>
          </p:cNvPr>
          <p:cNvSpPr/>
          <p:nvPr/>
        </p:nvSpPr>
        <p:spPr>
          <a:xfrm>
            <a:off x="4023360" y="4636008"/>
            <a:ext cx="7589520" cy="7589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4"/>
          </p:cNvPr>
          <p:cNvSpPr txBox="1"/>
          <p:nvPr/>
        </p:nvSpPr>
        <p:spPr>
          <a:xfrm>
            <a:off x="4142232" y="4709160"/>
            <a:ext cx="7351776" cy="667512"/>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C   No: toda agua superficial es igual</a:t>
            </a:r>
          </a:p>
        </p:txBody>
      </p:sp>
      <p:sp>
        <p:nvSpPr>
          <p:cNvPr id="20" name="TextBox 19"/>
          <p:cNvSpPr txBox="1"/>
          <p:nvPr/>
        </p:nvSpPr>
        <p:spPr>
          <a:xfrm>
            <a:off x="4050791" y="5742432"/>
            <a:ext cx="7315200" cy="32004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Elige una opción para consultar la explicación.</a:t>
            </a:r>
          </a:p>
        </p:txBody>
      </p:sp>
    </p:spTree>
  </p:cSld>
  <p:clrMapOvr>
    <a:masterClrMapping/>
  </p:clrMapOvr>
  <p:transition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MI PERFIL</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Una base científica.</a:t>
            </a:r>
          </a:p>
          <a:p>
            <a:pPr algn="l">
              <a:lnSpc>
                <a:spcPct val="102000"/>
              </a:lnSpc>
              <a:spcAft>
                <a:spcPts val="300"/>
              </a:spcAft>
              <a:defRPr sz="4200" b="1">
                <a:solidFill>
                  <a:srgbClr val="143543"/>
                </a:solidFill>
                <a:latin typeface="DejaVu Sans"/>
              </a:defRPr>
            </a:pPr>
            <a:r>
              <a:t>Tres formas de aportar.</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CV, págs. 1–2: perfil y competencias técnicas.</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03</a:t>
            </a:r>
          </a:p>
        </p:txBody>
      </p:sp>
      <p:sp>
        <p:nvSpPr>
          <p:cNvPr id="6" name="Rectangle 5"/>
          <p:cNvSpPr/>
          <p:nvPr/>
        </p:nvSpPr>
        <p:spPr>
          <a:xfrm>
            <a:off x="0" y="6821424"/>
            <a:ext cx="1590256"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48640" y="2697480"/>
            <a:ext cx="3566160"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2898648"/>
            <a:ext cx="411480" cy="274320"/>
          </a:xfrm>
          <a:prstGeom prst="rect">
            <a:avLst/>
          </a:prstGeom>
          <a:noFill/>
        </p:spPr>
        <p:txBody>
          <a:bodyPr wrap="square" lIns="0" rIns="0" tIns="0" bIns="0">
            <a:spAutoFit/>
          </a:bodyPr>
          <a:lstStyle/>
          <a:p>
            <a:pPr algn="l">
              <a:lnSpc>
                <a:spcPct val="102000"/>
              </a:lnSpc>
              <a:spcAft>
                <a:spcPts val="300"/>
              </a:spcAft>
              <a:defRPr sz="1300" b="0">
                <a:solidFill>
                  <a:srgbClr val="126E70"/>
                </a:solidFill>
                <a:latin typeface="DejaVu Sans"/>
              </a:defRPr>
            </a:pPr>
            <a:r>
              <a:t>01</a:t>
            </a:r>
          </a:p>
        </p:txBody>
      </p:sp>
      <p:sp>
        <p:nvSpPr>
          <p:cNvPr id="11" name="Trapezoid 10"/>
          <p:cNvSpPr/>
          <p:nvPr/>
        </p:nvSpPr>
        <p:spPr>
          <a:xfrm>
            <a:off x="906170" y="3273552"/>
            <a:ext cx="480059" cy="352044"/>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2591" y="3055924"/>
            <a:ext cx="147218" cy="288036"/>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8583" y="3446373"/>
            <a:ext cx="2752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59" y="3959352"/>
            <a:ext cx="3017520" cy="822960"/>
          </a:xfrm>
          <a:prstGeom prst="rect">
            <a:avLst/>
          </a:prstGeom>
          <a:noFill/>
        </p:spPr>
        <p:txBody>
          <a:bodyPr wrap="square" lIns="0" rIns="0" tIns="0" bIns="0">
            <a:spAutoFit/>
          </a:bodyPr>
          <a:lstStyle/>
          <a:p>
            <a:pPr algn="l">
              <a:lnSpc>
                <a:spcPct val="102000"/>
              </a:lnSpc>
              <a:spcAft>
                <a:spcPts val="300"/>
              </a:spcAft>
              <a:defRPr sz="2200" b="1">
                <a:solidFill>
                  <a:srgbClr val="143543"/>
                </a:solidFill>
                <a:latin typeface="DejaVu Sans"/>
              </a:defRPr>
            </a:pPr>
            <a:r>
              <a:t>Microbiología</a:t>
            </a:r>
          </a:p>
        </p:txBody>
      </p:sp>
      <p:sp>
        <p:nvSpPr>
          <p:cNvPr id="15" name="TextBox 14"/>
          <p:cNvSpPr txBox="1"/>
          <p:nvPr/>
        </p:nvSpPr>
        <p:spPr>
          <a:xfrm>
            <a:off x="822959" y="4782312"/>
            <a:ext cx="3017520" cy="57607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Cultivo, diagnóstico y bioseguridad.</a:t>
            </a:r>
          </a:p>
        </p:txBody>
      </p:sp>
      <p:sp>
        <p:nvSpPr>
          <p:cNvPr id="16" name="Rounded Rectangle 15"/>
          <p:cNvSpPr/>
          <p:nvPr/>
        </p:nvSpPr>
        <p:spPr>
          <a:xfrm>
            <a:off x="4325112" y="2697480"/>
            <a:ext cx="3566160" cy="301752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5471" y="2898648"/>
            <a:ext cx="411480" cy="274320"/>
          </a:xfrm>
          <a:prstGeom prst="rect">
            <a:avLst/>
          </a:prstGeom>
          <a:noFill/>
        </p:spPr>
        <p:txBody>
          <a:bodyPr wrap="square" lIns="0" rIns="0" tIns="0" bIns="0">
            <a:spAutoFit/>
          </a:bodyPr>
          <a:lstStyle/>
          <a:p>
            <a:pPr algn="l">
              <a:lnSpc>
                <a:spcPct val="102000"/>
              </a:lnSpc>
              <a:spcAft>
                <a:spcPts val="300"/>
              </a:spcAft>
              <a:defRPr sz="1300" b="0">
                <a:solidFill>
                  <a:srgbClr val="D8EB80"/>
                </a:solidFill>
                <a:latin typeface="DejaVu Sans"/>
              </a:defRPr>
            </a:pPr>
            <a:r>
              <a:t>02</a:t>
            </a:r>
          </a:p>
        </p:txBody>
      </p:sp>
      <p:sp>
        <p:nvSpPr>
          <p:cNvPr id="18" name="Oval 17"/>
          <p:cNvSpPr/>
          <p:nvPr/>
        </p:nvSpPr>
        <p:spPr>
          <a:xfrm>
            <a:off x="4919471" y="30175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19471" y="30175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919471" y="3017520"/>
            <a:ext cx="0"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984183" y="30530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54760" y="30530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040163" y="30886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8780" y="30886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79860" y="31242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9083" y="31242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4759083" y="3124200"/>
            <a:ext cx="32077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097917" y="315976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41026" y="315976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91898" y="31953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47045" y="31953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62615" y="32308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76328" y="32308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H="1">
            <a:off x="4776328" y="3230880"/>
            <a:ext cx="28628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5014020" y="32664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24923" y="32664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952668" y="33020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86275" y="33020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86837" y="333756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952106" y="333756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886837" y="3337560"/>
            <a:ext cx="65269"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825409" y="33731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013534" y="33731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76672" y="34086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062271" y="34086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47202" y="34442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091741" y="34442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747202" y="3444240"/>
            <a:ext cx="344539"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4740974" y="34798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097969" y="34798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758829" y="351536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080114" y="351536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798358" y="35509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040585" y="35509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4798358" y="3550920"/>
            <a:ext cx="24222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854228" y="35864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984715" y="35864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918901" y="36220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920042" y="36220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99431" y="3959352"/>
            <a:ext cx="3017520" cy="822960"/>
          </a:xfrm>
          <a:prstGeom prst="rect">
            <a:avLst/>
          </a:prstGeom>
          <a:noFill/>
        </p:spPr>
        <p:txBody>
          <a:bodyPr wrap="square" lIns="0" rIns="0" tIns="0" bIns="0">
            <a:spAutoFit/>
          </a:bodyPr>
          <a:lstStyle/>
          <a:p>
            <a:pPr algn="l">
              <a:lnSpc>
                <a:spcPct val="102000"/>
              </a:lnSpc>
              <a:spcAft>
                <a:spcPts val="300"/>
              </a:spcAft>
              <a:defRPr sz="2200" b="1">
                <a:solidFill>
                  <a:srgbClr val="FFFFFF"/>
                </a:solidFill>
                <a:latin typeface="DejaVu Sans"/>
              </a:defRPr>
            </a:pPr>
            <a:r>
              <a:t>Biología molecular</a:t>
            </a:r>
          </a:p>
        </p:txBody>
      </p:sp>
      <p:sp>
        <p:nvSpPr>
          <p:cNvPr id="61" name="TextBox 60"/>
          <p:cNvSpPr txBox="1"/>
          <p:nvPr/>
        </p:nvSpPr>
        <p:spPr>
          <a:xfrm>
            <a:off x="4599431" y="4782312"/>
            <a:ext cx="3017520" cy="576072"/>
          </a:xfrm>
          <a:prstGeom prst="rect">
            <a:avLst/>
          </a:prstGeom>
          <a:noFill/>
        </p:spPr>
        <p:txBody>
          <a:bodyPr wrap="square" lIns="0" rIns="0" tIns="0" bIns="0">
            <a:spAutoFit/>
          </a:bodyPr>
          <a:lstStyle/>
          <a:p>
            <a:pPr algn="l">
              <a:lnSpc>
                <a:spcPct val="102000"/>
              </a:lnSpc>
              <a:spcAft>
                <a:spcPts val="300"/>
              </a:spcAft>
              <a:defRPr sz="1500" b="0">
                <a:solidFill>
                  <a:srgbClr val="FFFFFF"/>
                </a:solidFill>
                <a:latin typeface="DejaVu Sans"/>
              </a:defRPr>
            </a:pPr>
            <a:r>
              <a:t>ADN, PCR y secuenciación.</a:t>
            </a:r>
          </a:p>
        </p:txBody>
      </p:sp>
      <p:sp>
        <p:nvSpPr>
          <p:cNvPr id="62" name="Rounded Rectangle 61"/>
          <p:cNvSpPr/>
          <p:nvPr/>
        </p:nvSpPr>
        <p:spPr>
          <a:xfrm>
            <a:off x="8101583" y="2697480"/>
            <a:ext cx="3566160" cy="301752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981944" y="2898648"/>
            <a:ext cx="411480" cy="274320"/>
          </a:xfrm>
          <a:prstGeom prst="rect">
            <a:avLst/>
          </a:prstGeom>
          <a:noFill/>
        </p:spPr>
        <p:txBody>
          <a:bodyPr wrap="square" lIns="0" rIns="0" tIns="0" bIns="0">
            <a:spAutoFit/>
          </a:bodyPr>
          <a:lstStyle/>
          <a:p>
            <a:pPr algn="l">
              <a:lnSpc>
                <a:spcPct val="102000"/>
              </a:lnSpc>
              <a:spcAft>
                <a:spcPts val="300"/>
              </a:spcAft>
              <a:defRPr sz="1300" b="0">
                <a:solidFill>
                  <a:srgbClr val="126E70"/>
                </a:solidFill>
                <a:latin typeface="DejaVu Sans"/>
              </a:defRPr>
            </a:pPr>
            <a:r>
              <a:t>03</a:t>
            </a:r>
          </a:p>
        </p:txBody>
      </p:sp>
      <p:sp>
        <p:nvSpPr>
          <p:cNvPr id="64" name="Teardrop 63"/>
          <p:cNvSpPr/>
          <p:nvPr/>
        </p:nvSpPr>
        <p:spPr>
          <a:xfrm rot="18900000">
            <a:off x="8471916" y="3017520"/>
            <a:ext cx="448055" cy="640080"/>
          </a:xfrm>
          <a:prstGeom prst="teardrop">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75904" y="3959352"/>
            <a:ext cx="3017520" cy="822960"/>
          </a:xfrm>
          <a:prstGeom prst="rect">
            <a:avLst/>
          </a:prstGeom>
          <a:noFill/>
        </p:spPr>
        <p:txBody>
          <a:bodyPr wrap="square" lIns="0" rIns="0" tIns="0" bIns="0">
            <a:spAutoFit/>
          </a:bodyPr>
          <a:lstStyle/>
          <a:p>
            <a:pPr algn="l">
              <a:lnSpc>
                <a:spcPct val="102000"/>
              </a:lnSpc>
              <a:spcAft>
                <a:spcPts val="300"/>
              </a:spcAft>
              <a:defRPr sz="2200" b="1">
                <a:solidFill>
                  <a:srgbClr val="143543"/>
                </a:solidFill>
                <a:latin typeface="DejaVu Sans"/>
              </a:defRPr>
            </a:pPr>
            <a:r>
              <a:t>Salud ambiental</a:t>
            </a:r>
          </a:p>
        </p:txBody>
      </p:sp>
      <p:sp>
        <p:nvSpPr>
          <p:cNvPr id="66" name="TextBox 65"/>
          <p:cNvSpPr txBox="1"/>
          <p:nvPr/>
        </p:nvSpPr>
        <p:spPr>
          <a:xfrm>
            <a:off x="8375904" y="4782312"/>
            <a:ext cx="3017520" cy="57607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Agua, vigilancia y comunidades.</a:t>
            </a:r>
          </a:p>
        </p:txBody>
      </p:sp>
    </p:spTree>
  </p:cSld>
  <p:clrMapOvr>
    <a:masterClrMapping/>
  </p:clrMapOvr>
  <p:transition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FORMACIÓN ACADÉMICA</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De la microbiología</a:t>
            </a:r>
          </a:p>
          <a:p>
            <a:pPr algn="l">
              <a:lnSpc>
                <a:spcPct val="102000"/>
              </a:lnSpc>
              <a:spcAft>
                <a:spcPts val="300"/>
              </a:spcAft>
              <a:defRPr sz="4200" b="1">
                <a:solidFill>
                  <a:srgbClr val="143543"/>
                </a:solidFill>
                <a:latin typeface="DejaVu Sans"/>
              </a:defRPr>
            </a:pPr>
            <a:r>
              <a:t>a las ciencias biomédicas</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CV, pág. 2: formación académica.</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04</a:t>
            </a:r>
          </a:p>
        </p:txBody>
      </p:sp>
      <p:sp>
        <p:nvSpPr>
          <p:cNvPr id="6" name="Rectangle 5"/>
          <p:cNvSpPr/>
          <p:nvPr/>
        </p:nvSpPr>
        <p:spPr>
          <a:xfrm>
            <a:off x="0" y="6821424"/>
            <a:ext cx="2120342"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76072" y="2724912"/>
            <a:ext cx="3547872" cy="299923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 y="2724912"/>
            <a:ext cx="3547872"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2944368"/>
            <a:ext cx="3017520" cy="365760"/>
          </a:xfrm>
          <a:prstGeom prst="rect">
            <a:avLst/>
          </a:prstGeom>
          <a:noFill/>
        </p:spPr>
        <p:txBody>
          <a:bodyPr wrap="square" lIns="0" rIns="0" tIns="0" bIns="0">
            <a:spAutoFit/>
          </a:bodyPr>
          <a:lstStyle/>
          <a:p>
            <a:pPr algn="l">
              <a:lnSpc>
                <a:spcPct val="102000"/>
              </a:lnSpc>
              <a:spcAft>
                <a:spcPts val="300"/>
              </a:spcAft>
              <a:defRPr sz="1700" b="0">
                <a:solidFill>
                  <a:srgbClr val="126E70"/>
                </a:solidFill>
                <a:latin typeface="DejaVu Sans"/>
              </a:defRPr>
            </a:pPr>
            <a:r>
              <a:t>2020–2024</a:t>
            </a:r>
          </a:p>
        </p:txBody>
      </p:sp>
      <p:sp>
        <p:nvSpPr>
          <p:cNvPr id="12" name="Trapezoid 11"/>
          <p:cNvSpPr/>
          <p:nvPr/>
        </p:nvSpPr>
        <p:spPr>
          <a:xfrm>
            <a:off x="896660" y="3747211"/>
            <a:ext cx="425196" cy="311810"/>
          </a:xfrm>
          <a:prstGeom prst="trapezoid">
            <a:avLst/>
          </a:prstGeom>
          <a:noFill/>
          <a:ln w="15240">
            <a:solidFill>
              <a:srgbClr val="1435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4061" y="3554455"/>
            <a:ext cx="130393" cy="255117"/>
          </a:xfrm>
          <a:prstGeom prst="rect">
            <a:avLst/>
          </a:prstGeom>
          <a:solidFill>
            <a:srgbClr val="F4F5EF"/>
          </a:solidFill>
          <a:ln w="15240">
            <a:solidFill>
              <a:srgbClr val="1435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987369" y="3900281"/>
            <a:ext cx="243779" cy="0"/>
          </a:xfrm>
          <a:prstGeom prst="line">
            <a:avLst/>
          </a:prstGeom>
          <a:ln w="25400">
            <a:solidFill>
              <a:srgbClr val="14354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13816" y="4325112"/>
            <a:ext cx="3063240" cy="777240"/>
          </a:xfrm>
          <a:prstGeom prst="rect">
            <a:avLst/>
          </a:prstGeom>
          <a:noFill/>
        </p:spPr>
        <p:txBody>
          <a:bodyPr wrap="square" lIns="0" rIns="0" tIns="0" bIns="0">
            <a:spAutoFit/>
          </a:bodyPr>
          <a:lstStyle/>
          <a:p>
            <a:pPr algn="l">
              <a:lnSpc>
                <a:spcPct val="102000"/>
              </a:lnSpc>
              <a:spcAft>
                <a:spcPts val="300"/>
              </a:spcAft>
              <a:defRPr sz="2100" b="1">
                <a:solidFill>
                  <a:srgbClr val="143543"/>
                </a:solidFill>
                <a:latin typeface="DejaVu Sans"/>
              </a:defRPr>
            </a:pPr>
            <a:r>
              <a:t>Licenciatura</a:t>
            </a:r>
          </a:p>
          <a:p>
            <a:pPr algn="l">
              <a:lnSpc>
                <a:spcPct val="102000"/>
              </a:lnSpc>
              <a:spcAft>
                <a:spcPts val="300"/>
              </a:spcAft>
              <a:defRPr sz="2100" b="1">
                <a:solidFill>
                  <a:srgbClr val="143543"/>
                </a:solidFill>
                <a:latin typeface="DejaVu Sans"/>
              </a:defRPr>
            </a:pPr>
            <a:r>
              <a:t>en Microbiología</a:t>
            </a:r>
          </a:p>
        </p:txBody>
      </p:sp>
      <p:sp>
        <p:nvSpPr>
          <p:cNvPr id="16" name="TextBox 15"/>
          <p:cNvSpPr txBox="1"/>
          <p:nvPr/>
        </p:nvSpPr>
        <p:spPr>
          <a:xfrm>
            <a:off x="813816" y="5230368"/>
            <a:ext cx="3063240" cy="475488"/>
          </a:xfrm>
          <a:prstGeom prst="rect">
            <a:avLst/>
          </a:prstGeom>
          <a:noFill/>
        </p:spPr>
        <p:txBody>
          <a:bodyPr wrap="square" lIns="0" rIns="0" tIns="0" bIns="0">
            <a:spAutoFit/>
          </a:bodyPr>
          <a:lstStyle/>
          <a:p>
            <a:pPr algn="l">
              <a:lnSpc>
                <a:spcPct val="102000"/>
              </a:lnSpc>
              <a:spcAft>
                <a:spcPts val="300"/>
              </a:spcAft>
              <a:defRPr sz="1200" b="0">
                <a:solidFill>
                  <a:srgbClr val="143543"/>
                </a:solidFill>
                <a:latin typeface="DejaVu Sans"/>
              </a:defRPr>
            </a:pPr>
            <a:r>
              <a:t>PUCE</a:t>
            </a:r>
          </a:p>
        </p:txBody>
      </p:sp>
      <p:sp>
        <p:nvSpPr>
          <p:cNvPr id="17" name="Rounded Rectangle 16"/>
          <p:cNvSpPr/>
          <p:nvPr/>
        </p:nvSpPr>
        <p:spPr>
          <a:xfrm>
            <a:off x="4343400" y="2724912"/>
            <a:ext cx="3547872" cy="2999232"/>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3400" y="2724912"/>
            <a:ext cx="3547872" cy="36576"/>
          </a:xfrm>
          <a:prstGeom prst="rect">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1144" y="2944368"/>
            <a:ext cx="3017520" cy="365760"/>
          </a:xfrm>
          <a:prstGeom prst="rect">
            <a:avLst/>
          </a:prstGeom>
          <a:noFill/>
        </p:spPr>
        <p:txBody>
          <a:bodyPr wrap="square" lIns="0" rIns="0" tIns="0" bIns="0">
            <a:spAutoFit/>
          </a:bodyPr>
          <a:lstStyle/>
          <a:p>
            <a:pPr algn="l">
              <a:lnSpc>
                <a:spcPct val="102000"/>
              </a:lnSpc>
              <a:spcAft>
                <a:spcPts val="300"/>
              </a:spcAft>
              <a:defRPr sz="1700" b="0">
                <a:solidFill>
                  <a:srgbClr val="D8EB80"/>
                </a:solidFill>
                <a:latin typeface="DejaVu Sans"/>
              </a:defRPr>
            </a:pPr>
            <a:r>
              <a:t>2024–2026</a:t>
            </a:r>
          </a:p>
        </p:txBody>
      </p:sp>
      <p:sp>
        <p:nvSpPr>
          <p:cNvPr id="20" name="Oval 19"/>
          <p:cNvSpPr/>
          <p:nvPr/>
        </p:nvSpPr>
        <p:spPr>
          <a:xfrm>
            <a:off x="4873751" y="35204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73751" y="352044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4873751" y="3520440"/>
            <a:ext cx="0"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931067" y="355193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16436" y="355193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980650" y="3583432"/>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66853" y="3583432"/>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15810" y="361492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31693" y="361492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4731693" y="3614928"/>
            <a:ext cx="28411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031803" y="3646424"/>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15700" y="3646424"/>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26472" y="36779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21031" y="367792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000536" y="370941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746967" y="370941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H="1">
            <a:off x="4746967" y="3709416"/>
            <a:ext cx="253569"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957494" y="3740912"/>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790009" y="3740912"/>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903154" y="37724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844349" y="37724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844846" y="3803904"/>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902657" y="3803904"/>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4844846" y="3803904"/>
            <a:ext cx="57811"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4790439" y="38354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957064" y="383540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47272" y="386689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000231" y="386689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721170" y="3898392"/>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026333" y="3898392"/>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4721170" y="3898392"/>
            <a:ext cx="305163"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4715654" y="392988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031849" y="392988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731468" y="3961384"/>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016035" y="3961384"/>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766480" y="39928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981023" y="3992880"/>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4766480" y="3992880"/>
            <a:ext cx="214543"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4815965" y="402437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931538" y="4024376"/>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873246" y="4055871"/>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874257" y="4055871"/>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81144" y="4325112"/>
            <a:ext cx="3063240" cy="777240"/>
          </a:xfrm>
          <a:prstGeom prst="rect">
            <a:avLst/>
          </a:prstGeom>
          <a:noFill/>
        </p:spPr>
        <p:txBody>
          <a:bodyPr wrap="square" lIns="0" rIns="0" tIns="0" bIns="0">
            <a:spAutoFit/>
          </a:bodyPr>
          <a:lstStyle/>
          <a:p>
            <a:pPr algn="l">
              <a:lnSpc>
                <a:spcPct val="102000"/>
              </a:lnSpc>
              <a:spcAft>
                <a:spcPts val="300"/>
              </a:spcAft>
              <a:defRPr sz="2100" b="1">
                <a:solidFill>
                  <a:srgbClr val="FFFFFF"/>
                </a:solidFill>
                <a:latin typeface="DejaVu Sans"/>
              </a:defRPr>
            </a:pPr>
            <a:r>
              <a:t>Maestría en Biología</a:t>
            </a:r>
          </a:p>
        </p:txBody>
      </p:sp>
      <p:sp>
        <p:nvSpPr>
          <p:cNvPr id="63" name="TextBox 62"/>
          <p:cNvSpPr txBox="1"/>
          <p:nvPr/>
        </p:nvSpPr>
        <p:spPr>
          <a:xfrm>
            <a:off x="4581144" y="5230368"/>
            <a:ext cx="3063240" cy="475488"/>
          </a:xfrm>
          <a:prstGeom prst="rect">
            <a:avLst/>
          </a:prstGeom>
          <a:noFill/>
        </p:spPr>
        <p:txBody>
          <a:bodyPr wrap="square" lIns="0" rIns="0" tIns="0" bIns="0">
            <a:spAutoFit/>
          </a:bodyPr>
          <a:lstStyle/>
          <a:p>
            <a:pPr algn="l">
              <a:lnSpc>
                <a:spcPct val="102000"/>
              </a:lnSpc>
              <a:spcAft>
                <a:spcPts val="300"/>
              </a:spcAft>
              <a:defRPr sz="1200" b="0">
                <a:solidFill>
                  <a:srgbClr val="FFFFFF"/>
                </a:solidFill>
                <a:latin typeface="DejaVu Sans"/>
              </a:defRPr>
            </a:pPr>
            <a:r>
              <a:t>Ciencias Biomédicas · PUCE</a:t>
            </a:r>
          </a:p>
        </p:txBody>
      </p:sp>
      <p:sp>
        <p:nvSpPr>
          <p:cNvPr id="64" name="Rounded Rectangle 63"/>
          <p:cNvSpPr/>
          <p:nvPr/>
        </p:nvSpPr>
        <p:spPr>
          <a:xfrm>
            <a:off x="8110728" y="2724912"/>
            <a:ext cx="3547872" cy="299923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110728" y="2724912"/>
            <a:ext cx="3547872"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348472" y="2944368"/>
            <a:ext cx="3017520" cy="365760"/>
          </a:xfrm>
          <a:prstGeom prst="rect">
            <a:avLst/>
          </a:prstGeom>
          <a:noFill/>
        </p:spPr>
        <p:txBody>
          <a:bodyPr wrap="square" lIns="0" rIns="0" tIns="0" bIns="0">
            <a:spAutoFit/>
          </a:bodyPr>
          <a:lstStyle/>
          <a:p>
            <a:pPr algn="l">
              <a:lnSpc>
                <a:spcPct val="102000"/>
              </a:lnSpc>
              <a:spcAft>
                <a:spcPts val="300"/>
              </a:spcAft>
              <a:defRPr sz="1700" b="0">
                <a:solidFill>
                  <a:srgbClr val="126E70"/>
                </a:solidFill>
                <a:latin typeface="DejaVu Sans"/>
              </a:defRPr>
            </a:pPr>
            <a:r>
              <a:t>2024–2025</a:t>
            </a:r>
          </a:p>
        </p:txBody>
      </p:sp>
      <p:sp>
        <p:nvSpPr>
          <p:cNvPr id="67" name="Rectangle 66"/>
          <p:cNvSpPr/>
          <p:nvPr/>
        </p:nvSpPr>
        <p:spPr>
          <a:xfrm>
            <a:off x="8357616" y="3520440"/>
            <a:ext cx="566928" cy="510235"/>
          </a:xfrm>
          <a:prstGeom prst="rect">
            <a:avLst/>
          </a:prstGeom>
          <a:noFill/>
          <a:ln w="15240">
            <a:solidFill>
              <a:srgbClr val="1435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8453993" y="3633825"/>
            <a:ext cx="368503" cy="0"/>
          </a:xfrm>
          <a:prstGeom prst="line">
            <a:avLst/>
          </a:prstGeom>
          <a:ln w="25400">
            <a:solidFill>
              <a:srgbClr val="143543"/>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453993" y="3764219"/>
            <a:ext cx="368503" cy="0"/>
          </a:xfrm>
          <a:prstGeom prst="line">
            <a:avLst/>
          </a:prstGeom>
          <a:ln w="25400">
            <a:solidFill>
              <a:srgbClr val="143543"/>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453993" y="3894612"/>
            <a:ext cx="368503" cy="0"/>
          </a:xfrm>
          <a:prstGeom prst="line">
            <a:avLst/>
          </a:prstGeom>
          <a:ln w="25400">
            <a:solidFill>
              <a:srgbClr val="143543"/>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8348472" y="4325112"/>
            <a:ext cx="3063240" cy="777240"/>
          </a:xfrm>
          <a:prstGeom prst="rect">
            <a:avLst/>
          </a:prstGeom>
          <a:noFill/>
        </p:spPr>
        <p:txBody>
          <a:bodyPr wrap="square" lIns="0" rIns="0" tIns="0" bIns="0">
            <a:spAutoFit/>
          </a:bodyPr>
          <a:lstStyle/>
          <a:p>
            <a:pPr algn="l">
              <a:lnSpc>
                <a:spcPct val="102000"/>
              </a:lnSpc>
              <a:spcAft>
                <a:spcPts val="300"/>
              </a:spcAft>
              <a:defRPr sz="1800" b="1">
                <a:solidFill>
                  <a:srgbClr val="143543"/>
                </a:solidFill>
                <a:latin typeface="DejaVu Sans"/>
              </a:defRPr>
            </a:pPr>
            <a:r>
              <a:t>Diplomado</a:t>
            </a:r>
          </a:p>
          <a:p>
            <a:pPr algn="l">
              <a:lnSpc>
                <a:spcPct val="102000"/>
              </a:lnSpc>
              <a:spcAft>
                <a:spcPts val="300"/>
              </a:spcAft>
              <a:defRPr sz="1800" b="1">
                <a:solidFill>
                  <a:srgbClr val="143543"/>
                </a:solidFill>
                <a:latin typeface="DejaVu Sans"/>
              </a:defRPr>
            </a:pPr>
            <a:r>
              <a:t>en Microbiología Clínica</a:t>
            </a:r>
          </a:p>
        </p:txBody>
      </p:sp>
      <p:sp>
        <p:nvSpPr>
          <p:cNvPr id="72" name="TextBox 71"/>
          <p:cNvSpPr txBox="1"/>
          <p:nvPr/>
        </p:nvSpPr>
        <p:spPr>
          <a:xfrm>
            <a:off x="8348472" y="5230368"/>
            <a:ext cx="3063240" cy="475488"/>
          </a:xfrm>
          <a:prstGeom prst="rect">
            <a:avLst/>
          </a:prstGeom>
          <a:noFill/>
        </p:spPr>
        <p:txBody>
          <a:bodyPr wrap="square" lIns="0" rIns="0" tIns="0" bIns="0">
            <a:spAutoFit/>
          </a:bodyPr>
          <a:lstStyle/>
          <a:p>
            <a:pPr algn="l">
              <a:lnSpc>
                <a:spcPct val="102000"/>
              </a:lnSpc>
              <a:spcAft>
                <a:spcPts val="300"/>
              </a:spcAft>
              <a:defRPr sz="1200" b="0">
                <a:solidFill>
                  <a:srgbClr val="143543"/>
                </a:solidFill>
                <a:latin typeface="DejaVu Sans"/>
              </a:defRPr>
            </a:pPr>
            <a:r>
              <a:t>Universidad Central del Ecuador</a:t>
            </a:r>
          </a:p>
        </p:txBody>
      </p:sp>
    </p:spTree>
  </p:cSld>
  <p:clrMapOvr>
    <a:masterClrMapping/>
  </p:clrMapOvr>
  <p:transition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EXPERIENCIA APLICADA</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Tres experiencias</a:t>
            </a:r>
          </a:p>
          <a:p>
            <a:pPr algn="l">
              <a:lnSpc>
                <a:spcPct val="102000"/>
              </a:lnSpc>
              <a:spcAft>
                <a:spcPts val="300"/>
              </a:spcAft>
              <a:defRPr sz="4200" b="1">
                <a:solidFill>
                  <a:srgbClr val="143543"/>
                </a:solidFill>
                <a:latin typeface="DejaVu Sans"/>
              </a:defRPr>
            </a:pPr>
            <a:r>
              <a:t>que conecto con el aula</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CV, págs. 1–2: cargos, instituciones y fechas.</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05</a:t>
            </a:r>
          </a:p>
        </p:txBody>
      </p:sp>
      <p:sp>
        <p:nvSpPr>
          <p:cNvPr id="6" name="Rectangle 5"/>
          <p:cNvSpPr/>
          <p:nvPr/>
        </p:nvSpPr>
        <p:spPr>
          <a:xfrm>
            <a:off x="0" y="6821424"/>
            <a:ext cx="2650428"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cxnSp>
        <p:nvCxnSpPr>
          <p:cNvPr id="9" name="Connector 8"/>
          <p:cNvCxnSpPr/>
          <p:nvPr/>
        </p:nvCxnSpPr>
        <p:spPr>
          <a:xfrm>
            <a:off x="594360" y="3447288"/>
            <a:ext cx="10927080" cy="0"/>
          </a:xfrm>
          <a:prstGeom prst="line">
            <a:avLst/>
          </a:prstGeom>
          <a:ln w="25400">
            <a:solidFill>
              <a:srgbClr val="A3BCA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2761488"/>
            <a:ext cx="3566160" cy="457200"/>
          </a:xfrm>
          <a:prstGeom prst="rect">
            <a:avLst/>
          </a:prstGeom>
          <a:noFill/>
        </p:spPr>
        <p:txBody>
          <a:bodyPr wrap="square" lIns="0" rIns="0" tIns="0" bIns="0">
            <a:spAutoFit/>
          </a:bodyPr>
          <a:lstStyle/>
          <a:p>
            <a:pPr algn="l">
              <a:lnSpc>
                <a:spcPct val="102000"/>
              </a:lnSpc>
              <a:spcAft>
                <a:spcPts val="300"/>
              </a:spcAft>
              <a:defRPr sz="2900" b="0">
                <a:solidFill>
                  <a:srgbClr val="126E70"/>
                </a:solidFill>
                <a:latin typeface="DejaVu Sans"/>
              </a:defRPr>
            </a:pPr>
            <a:r>
              <a:t>2023–2024</a:t>
            </a:r>
          </a:p>
        </p:txBody>
      </p:sp>
      <p:sp>
        <p:nvSpPr>
          <p:cNvPr id="11" name="Oval 10"/>
          <p:cNvSpPr/>
          <p:nvPr/>
        </p:nvSpPr>
        <p:spPr>
          <a:xfrm>
            <a:off x="594360" y="3374136"/>
            <a:ext cx="146304" cy="146304"/>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749039"/>
            <a:ext cx="3474720" cy="484632"/>
          </a:xfrm>
          <a:prstGeom prst="rect">
            <a:avLst/>
          </a:prstGeom>
          <a:noFill/>
        </p:spPr>
        <p:txBody>
          <a:bodyPr wrap="square" lIns="0" rIns="0" tIns="0" bIns="0">
            <a:spAutoFit/>
          </a:bodyPr>
          <a:lstStyle/>
          <a:p>
            <a:pPr algn="l">
              <a:lnSpc>
                <a:spcPct val="102000"/>
              </a:lnSpc>
              <a:spcAft>
                <a:spcPts val="300"/>
              </a:spcAft>
              <a:defRPr sz="2100" b="1">
                <a:solidFill>
                  <a:srgbClr val="143543"/>
                </a:solidFill>
                <a:latin typeface="DejaVu Sans"/>
              </a:defRPr>
            </a:pPr>
            <a:r>
              <a:t>CISeAL</a:t>
            </a:r>
          </a:p>
        </p:txBody>
      </p:sp>
      <p:sp>
        <p:nvSpPr>
          <p:cNvPr id="13" name="TextBox 12"/>
          <p:cNvSpPr txBox="1"/>
          <p:nvPr/>
        </p:nvSpPr>
        <p:spPr>
          <a:xfrm>
            <a:off x="594360" y="4361688"/>
            <a:ext cx="3474720" cy="621792"/>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Técnica de laboratorio</a:t>
            </a:r>
          </a:p>
        </p:txBody>
      </p:sp>
      <p:sp>
        <p:nvSpPr>
          <p:cNvPr id="14" name="TextBox 13"/>
          <p:cNvSpPr txBox="1"/>
          <p:nvPr/>
        </p:nvSpPr>
        <p:spPr>
          <a:xfrm>
            <a:off x="594360" y="5138928"/>
            <a:ext cx="3474720" cy="502920"/>
          </a:xfrm>
          <a:prstGeom prst="rect">
            <a:avLst/>
          </a:prstGeom>
          <a:noFill/>
        </p:spPr>
        <p:txBody>
          <a:bodyPr wrap="square" lIns="0" rIns="0" tIns="0" bIns="0">
            <a:spAutoFit/>
          </a:bodyPr>
          <a:lstStyle/>
          <a:p>
            <a:pPr algn="l">
              <a:lnSpc>
                <a:spcPct val="102000"/>
              </a:lnSpc>
              <a:spcAft>
                <a:spcPts val="300"/>
              </a:spcAft>
              <a:defRPr sz="1300" b="1">
                <a:solidFill>
                  <a:srgbClr val="126E70"/>
                </a:solidFill>
                <a:latin typeface="DejaVu Sans"/>
              </a:defRPr>
            </a:pPr>
            <a:r>
              <a:t>Medición y diagnóstico</a:t>
            </a:r>
          </a:p>
        </p:txBody>
      </p:sp>
      <p:sp>
        <p:nvSpPr>
          <p:cNvPr id="15" name="TextBox 14"/>
          <p:cNvSpPr txBox="1"/>
          <p:nvPr/>
        </p:nvSpPr>
        <p:spPr>
          <a:xfrm>
            <a:off x="4389120" y="2761488"/>
            <a:ext cx="3566160" cy="457200"/>
          </a:xfrm>
          <a:prstGeom prst="rect">
            <a:avLst/>
          </a:prstGeom>
          <a:noFill/>
        </p:spPr>
        <p:txBody>
          <a:bodyPr wrap="square" lIns="0" rIns="0" tIns="0" bIns="0">
            <a:spAutoFit/>
          </a:bodyPr>
          <a:lstStyle/>
          <a:p>
            <a:pPr algn="l">
              <a:lnSpc>
                <a:spcPct val="102000"/>
              </a:lnSpc>
              <a:spcAft>
                <a:spcPts val="300"/>
              </a:spcAft>
              <a:defRPr sz="2900" b="0">
                <a:solidFill>
                  <a:srgbClr val="126E70"/>
                </a:solidFill>
                <a:latin typeface="DejaVu Sans"/>
              </a:defRPr>
            </a:pPr>
            <a:r>
              <a:t>2025</a:t>
            </a:r>
          </a:p>
        </p:txBody>
      </p:sp>
      <p:sp>
        <p:nvSpPr>
          <p:cNvPr id="16" name="Oval 15"/>
          <p:cNvSpPr/>
          <p:nvPr/>
        </p:nvSpPr>
        <p:spPr>
          <a:xfrm>
            <a:off x="4389120" y="3374136"/>
            <a:ext cx="146304" cy="146304"/>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3749039"/>
            <a:ext cx="3474720" cy="484632"/>
          </a:xfrm>
          <a:prstGeom prst="rect">
            <a:avLst/>
          </a:prstGeom>
          <a:noFill/>
        </p:spPr>
        <p:txBody>
          <a:bodyPr wrap="square" lIns="0" rIns="0" tIns="0" bIns="0">
            <a:spAutoFit/>
          </a:bodyPr>
          <a:lstStyle/>
          <a:p>
            <a:pPr algn="l">
              <a:lnSpc>
                <a:spcPct val="102000"/>
              </a:lnSpc>
              <a:spcAft>
                <a:spcPts val="300"/>
              </a:spcAft>
              <a:defRPr sz="2100" b="1">
                <a:solidFill>
                  <a:srgbClr val="143543"/>
                </a:solidFill>
                <a:latin typeface="DejaVu Sans"/>
              </a:defRPr>
            </a:pPr>
            <a:r>
              <a:t>STARS · Loja</a:t>
            </a:r>
          </a:p>
        </p:txBody>
      </p:sp>
      <p:sp>
        <p:nvSpPr>
          <p:cNvPr id="18" name="TextBox 17"/>
          <p:cNvSpPr txBox="1"/>
          <p:nvPr/>
        </p:nvSpPr>
        <p:spPr>
          <a:xfrm>
            <a:off x="4389120" y="4361688"/>
            <a:ext cx="3474720" cy="621792"/>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Técnica y coordinadora</a:t>
            </a:r>
          </a:p>
          <a:p>
            <a:pPr algn="l">
              <a:lnSpc>
                <a:spcPct val="102000"/>
              </a:lnSpc>
              <a:spcAft>
                <a:spcPts val="300"/>
              </a:spcAft>
              <a:defRPr sz="1600" b="0">
                <a:solidFill>
                  <a:srgbClr val="143543"/>
                </a:solidFill>
                <a:latin typeface="DejaVu Sans"/>
              </a:defRPr>
            </a:pPr>
            <a:r>
              <a:t>de campo</a:t>
            </a:r>
          </a:p>
        </p:txBody>
      </p:sp>
      <p:sp>
        <p:nvSpPr>
          <p:cNvPr id="19" name="TextBox 18"/>
          <p:cNvSpPr txBox="1"/>
          <p:nvPr/>
        </p:nvSpPr>
        <p:spPr>
          <a:xfrm>
            <a:off x="4389120" y="5138928"/>
            <a:ext cx="3474720" cy="502920"/>
          </a:xfrm>
          <a:prstGeom prst="rect">
            <a:avLst/>
          </a:prstGeom>
          <a:noFill/>
        </p:spPr>
        <p:txBody>
          <a:bodyPr wrap="square" lIns="0" rIns="0" tIns="0" bIns="0">
            <a:spAutoFit/>
          </a:bodyPr>
          <a:lstStyle/>
          <a:p>
            <a:pPr algn="l">
              <a:lnSpc>
                <a:spcPct val="102000"/>
              </a:lnSpc>
              <a:spcAft>
                <a:spcPts val="300"/>
              </a:spcAft>
              <a:defRPr sz="1300" b="1">
                <a:solidFill>
                  <a:srgbClr val="126E70"/>
                </a:solidFill>
                <a:latin typeface="DejaVu Sans"/>
              </a:defRPr>
            </a:pPr>
            <a:r>
              <a:t>Equipo, muestreo y comunidad</a:t>
            </a:r>
          </a:p>
        </p:txBody>
      </p:sp>
      <p:sp>
        <p:nvSpPr>
          <p:cNvPr id="20" name="TextBox 19"/>
          <p:cNvSpPr txBox="1"/>
          <p:nvPr/>
        </p:nvSpPr>
        <p:spPr>
          <a:xfrm>
            <a:off x="8183880" y="2761488"/>
            <a:ext cx="3566160" cy="457200"/>
          </a:xfrm>
          <a:prstGeom prst="rect">
            <a:avLst/>
          </a:prstGeom>
          <a:noFill/>
        </p:spPr>
        <p:txBody>
          <a:bodyPr wrap="square" lIns="0" rIns="0" tIns="0" bIns="0">
            <a:spAutoFit/>
          </a:bodyPr>
          <a:lstStyle/>
          <a:p>
            <a:pPr algn="l">
              <a:lnSpc>
                <a:spcPct val="102000"/>
              </a:lnSpc>
              <a:spcAft>
                <a:spcPts val="300"/>
              </a:spcAft>
              <a:defRPr sz="2900" b="0">
                <a:solidFill>
                  <a:srgbClr val="126E70"/>
                </a:solidFill>
                <a:latin typeface="DejaVu Sans"/>
              </a:defRPr>
            </a:pPr>
            <a:r>
              <a:t>2026</a:t>
            </a:r>
          </a:p>
        </p:txBody>
      </p:sp>
      <p:sp>
        <p:nvSpPr>
          <p:cNvPr id="21" name="Oval 20"/>
          <p:cNvSpPr/>
          <p:nvPr/>
        </p:nvSpPr>
        <p:spPr>
          <a:xfrm>
            <a:off x="8183880" y="3374136"/>
            <a:ext cx="146304" cy="146304"/>
          </a:xfrm>
          <a:prstGeom prst="ellipse">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80" y="3749039"/>
            <a:ext cx="3474720" cy="484632"/>
          </a:xfrm>
          <a:prstGeom prst="rect">
            <a:avLst/>
          </a:prstGeom>
          <a:noFill/>
        </p:spPr>
        <p:txBody>
          <a:bodyPr wrap="square" lIns="0" rIns="0" tIns="0" bIns="0">
            <a:spAutoFit/>
          </a:bodyPr>
          <a:lstStyle/>
          <a:p>
            <a:pPr algn="l">
              <a:lnSpc>
                <a:spcPct val="102000"/>
              </a:lnSpc>
              <a:spcAft>
                <a:spcPts val="300"/>
              </a:spcAft>
              <a:defRPr sz="2100" b="1">
                <a:solidFill>
                  <a:srgbClr val="143543"/>
                </a:solidFill>
                <a:latin typeface="DejaVu Sans"/>
              </a:defRPr>
            </a:pPr>
            <a:r>
              <a:t>University of Manitoba</a:t>
            </a:r>
          </a:p>
        </p:txBody>
      </p:sp>
      <p:sp>
        <p:nvSpPr>
          <p:cNvPr id="23" name="TextBox 22"/>
          <p:cNvSpPr txBox="1"/>
          <p:nvPr/>
        </p:nvSpPr>
        <p:spPr>
          <a:xfrm>
            <a:off x="8183880" y="4361688"/>
            <a:ext cx="3474720" cy="621792"/>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Visiting Research Student</a:t>
            </a:r>
          </a:p>
          <a:p>
            <a:pPr algn="l">
              <a:lnSpc>
                <a:spcPct val="102000"/>
              </a:lnSpc>
              <a:spcAft>
                <a:spcPts val="300"/>
              </a:spcAft>
              <a:defRPr sz="1600" b="0">
                <a:solidFill>
                  <a:srgbClr val="143543"/>
                </a:solidFill>
                <a:latin typeface="DejaVu Sans"/>
              </a:defRPr>
            </a:pPr>
            <a:r>
              <a:t>Becaria ELAP</a:t>
            </a:r>
          </a:p>
        </p:txBody>
      </p:sp>
      <p:sp>
        <p:nvSpPr>
          <p:cNvPr id="24" name="TextBox 23"/>
          <p:cNvSpPr txBox="1"/>
          <p:nvPr/>
        </p:nvSpPr>
        <p:spPr>
          <a:xfrm>
            <a:off x="8183880" y="5138928"/>
            <a:ext cx="3474720" cy="502920"/>
          </a:xfrm>
          <a:prstGeom prst="rect">
            <a:avLst/>
          </a:prstGeom>
          <a:noFill/>
        </p:spPr>
        <p:txBody>
          <a:bodyPr wrap="square" lIns="0" rIns="0" tIns="0" bIns="0">
            <a:spAutoFit/>
          </a:bodyPr>
          <a:lstStyle/>
          <a:p>
            <a:pPr algn="l">
              <a:lnSpc>
                <a:spcPct val="102000"/>
              </a:lnSpc>
              <a:spcAft>
                <a:spcPts val="300"/>
              </a:spcAft>
              <a:defRPr sz="1300" b="1">
                <a:solidFill>
                  <a:srgbClr val="126E70"/>
                </a:solidFill>
                <a:latin typeface="DejaVu Sans"/>
              </a:defRPr>
            </a:pPr>
            <a:r>
              <a:t>Metagenómica y análisis</a:t>
            </a:r>
          </a:p>
        </p:txBody>
      </p:sp>
      <p:sp>
        <p:nvSpPr>
          <p:cNvPr id="25" name="Rounded Rectangle 24"/>
          <p:cNvSpPr/>
          <p:nvPr/>
        </p:nvSpPr>
        <p:spPr>
          <a:xfrm>
            <a:off x="594360" y="5779008"/>
            <a:ext cx="10972800" cy="393192"/>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861304"/>
            <a:ext cx="10607040" cy="228600"/>
          </a:xfrm>
          <a:prstGeom prst="rect">
            <a:avLst/>
          </a:prstGeom>
          <a:noFill/>
        </p:spPr>
        <p:txBody>
          <a:bodyPr wrap="square" lIns="0" rIns="0" tIns="0" bIns="0">
            <a:spAutoFit/>
          </a:bodyPr>
          <a:lstStyle/>
          <a:p>
            <a:pPr algn="l">
              <a:lnSpc>
                <a:spcPct val="102000"/>
              </a:lnSpc>
              <a:spcAft>
                <a:spcPts val="300"/>
              </a:spcAft>
              <a:defRPr sz="1300" b="0">
                <a:solidFill>
                  <a:srgbClr val="FFFFFF"/>
                </a:solidFill>
                <a:latin typeface="DejaVu Sans"/>
              </a:defRPr>
            </a:pPr>
            <a:r>
              <a:t>Mi conexión con la docencia: convertir procedimientos en preguntas y decisiones.</a:t>
            </a:r>
          </a:p>
        </p:txBody>
      </p:sp>
    </p:spTree>
  </p:cSld>
  <p:clrMapOvr>
    <a:masterClrMapping/>
  </p:clrMapOvr>
  <p:transition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EXPERIENCIA 01 · CISEAL · 2023–2024</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El laboratorio como</a:t>
            </a:r>
          </a:p>
          <a:p>
            <a:pPr algn="l">
              <a:lnSpc>
                <a:spcPct val="102000"/>
              </a:lnSpc>
              <a:spcAft>
                <a:spcPts val="300"/>
              </a:spcAft>
              <a:defRPr sz="4200" b="1">
                <a:solidFill>
                  <a:srgbClr val="143543"/>
                </a:solidFill>
                <a:latin typeface="DejaVu Sans"/>
              </a:defRPr>
            </a:pPr>
            <a:r>
              <a:t>escuela de criterio técnico</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CV, pág. 2: Técnica de Laboratorio – MSc. César Yumiseva.</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06</a:t>
            </a:r>
          </a:p>
        </p:txBody>
      </p:sp>
      <p:sp>
        <p:nvSpPr>
          <p:cNvPr id="6" name="Rectangle 5"/>
          <p:cNvSpPr/>
          <p:nvPr/>
        </p:nvSpPr>
        <p:spPr>
          <a:xfrm>
            <a:off x="0" y="6821424"/>
            <a:ext cx="3180513"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48640" y="2724912"/>
            <a:ext cx="2649474" cy="301752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67762"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D8EB80"/>
                </a:solidFill>
                <a:latin typeface="DejaVu Sans"/>
              </a:defRPr>
            </a:pPr>
            <a:r>
              <a:t>01</a:t>
            </a:r>
          </a:p>
        </p:txBody>
      </p:sp>
      <p:sp>
        <p:nvSpPr>
          <p:cNvPr id="11" name="Teardrop 10"/>
          <p:cNvSpPr/>
          <p:nvPr/>
        </p:nvSpPr>
        <p:spPr>
          <a:xfrm rot="18900000">
            <a:off x="866394" y="3108960"/>
            <a:ext cx="416051" cy="594360"/>
          </a:xfrm>
          <a:prstGeom prst="teardrop">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FFFFFF"/>
                </a:solidFill>
                <a:latin typeface="DejaVu Sans"/>
              </a:defRPr>
            </a:pPr>
            <a:r>
              <a:t>Procesar</a:t>
            </a:r>
          </a:p>
        </p:txBody>
      </p:sp>
      <p:sp>
        <p:nvSpPr>
          <p:cNvPr id="13" name="TextBox 12"/>
          <p:cNvSpPr txBox="1"/>
          <p:nvPr/>
        </p:nvSpPr>
        <p:spPr>
          <a:xfrm>
            <a:off x="777240"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FFFFFF"/>
                </a:solidFill>
                <a:latin typeface="DejaVu Sans"/>
              </a:defRPr>
            </a:pPr>
            <a:r>
              <a:t>Muestras de agua para control microbiológico.</a:t>
            </a:r>
          </a:p>
        </p:txBody>
      </p:sp>
      <p:sp>
        <p:nvSpPr>
          <p:cNvPr id="14" name="TextBox 13"/>
          <p:cNvSpPr txBox="1"/>
          <p:nvPr/>
        </p:nvSpPr>
        <p:spPr>
          <a:xfrm>
            <a:off x="3179826" y="3849624"/>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15" name="Rounded Rectangle 14"/>
          <p:cNvSpPr/>
          <p:nvPr/>
        </p:nvSpPr>
        <p:spPr>
          <a:xfrm>
            <a:off x="3362706" y="2724912"/>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1828"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02</a:t>
            </a:r>
          </a:p>
        </p:txBody>
      </p:sp>
      <p:sp>
        <p:nvSpPr>
          <p:cNvPr id="17" name="Trapezoid 16"/>
          <p:cNvSpPr/>
          <p:nvPr/>
        </p:nvSpPr>
        <p:spPr>
          <a:xfrm>
            <a:off x="3668572" y="3346704"/>
            <a:ext cx="445770" cy="326898"/>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23106" y="3144621"/>
            <a:ext cx="136702" cy="267462"/>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763670" y="3507181"/>
            <a:ext cx="255575"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91306"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Diagnosticar</a:t>
            </a:r>
          </a:p>
        </p:txBody>
      </p:sp>
      <p:sp>
        <p:nvSpPr>
          <p:cNvPr id="21" name="TextBox 20"/>
          <p:cNvSpPr txBox="1"/>
          <p:nvPr/>
        </p:nvSpPr>
        <p:spPr>
          <a:xfrm>
            <a:off x="3591306"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Coliformes por fermentación multitubo / NMP.</a:t>
            </a:r>
          </a:p>
        </p:txBody>
      </p:sp>
      <p:sp>
        <p:nvSpPr>
          <p:cNvPr id="22" name="TextBox 21"/>
          <p:cNvSpPr txBox="1"/>
          <p:nvPr/>
        </p:nvSpPr>
        <p:spPr>
          <a:xfrm>
            <a:off x="5993892" y="3849624"/>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23" name="Rounded Rectangle 22"/>
          <p:cNvSpPr/>
          <p:nvPr/>
        </p:nvSpPr>
        <p:spPr>
          <a:xfrm>
            <a:off x="6176772" y="2724912"/>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5894"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03</a:t>
            </a:r>
          </a:p>
        </p:txBody>
      </p:sp>
      <p:sp>
        <p:nvSpPr>
          <p:cNvPr id="25" name="Rectangle 24"/>
          <p:cNvSpPr/>
          <p:nvPr/>
        </p:nvSpPr>
        <p:spPr>
          <a:xfrm>
            <a:off x="6405372" y="3108960"/>
            <a:ext cx="594360" cy="534924"/>
          </a:xfrm>
          <a:prstGeom prst="rect">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6506413" y="3227832"/>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06413" y="3364534"/>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506413" y="3501237"/>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5372"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Observar</a:t>
            </a:r>
          </a:p>
        </p:txBody>
      </p:sp>
      <p:sp>
        <p:nvSpPr>
          <p:cNvPr id="30" name="TextBox 29"/>
          <p:cNvSpPr txBox="1"/>
          <p:nvPr/>
        </p:nvSpPr>
        <p:spPr>
          <a:xfrm>
            <a:off x="6405372"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Estructuras parasitarias por microscopía.</a:t>
            </a:r>
          </a:p>
        </p:txBody>
      </p:sp>
      <p:sp>
        <p:nvSpPr>
          <p:cNvPr id="31" name="TextBox 30"/>
          <p:cNvSpPr txBox="1"/>
          <p:nvPr/>
        </p:nvSpPr>
        <p:spPr>
          <a:xfrm>
            <a:off x="8807958" y="3849624"/>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32" name="Rounded Rectangle 31"/>
          <p:cNvSpPr/>
          <p:nvPr/>
        </p:nvSpPr>
        <p:spPr>
          <a:xfrm>
            <a:off x="8990838" y="2724912"/>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09960"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04</a:t>
            </a:r>
          </a:p>
        </p:txBody>
      </p:sp>
      <p:cxnSp>
        <p:nvCxnSpPr>
          <p:cNvPr id="34" name="Connector 33"/>
          <p:cNvCxnSpPr/>
          <p:nvPr/>
        </p:nvCxnSpPr>
        <p:spPr>
          <a:xfrm>
            <a:off x="9219438" y="3703320"/>
            <a:ext cx="594360"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9438" y="3108960"/>
            <a:ext cx="0" cy="59436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314535" y="3495294"/>
            <a:ext cx="95097" cy="208025"/>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75012" y="3316986"/>
            <a:ext cx="95097" cy="386334"/>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35490" y="3168396"/>
            <a:ext cx="95097" cy="534924"/>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19438"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Interpretar</a:t>
            </a:r>
          </a:p>
        </p:txBody>
      </p:sp>
      <p:sp>
        <p:nvSpPr>
          <p:cNvPr id="40" name="TextBox 39"/>
          <p:cNvSpPr txBox="1"/>
          <p:nvPr/>
        </p:nvSpPr>
        <p:spPr>
          <a:xfrm>
            <a:off x="9219438"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Resultados en contexto de salud pública.</a:t>
            </a:r>
          </a:p>
        </p:txBody>
      </p:sp>
    </p:spTree>
  </p:cSld>
  <p:clrMapOvr>
    <a:masterClrMapping/>
  </p:clrMapOvr>
  <p:transition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PUENTE ENTRE PROYECTOS</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Personas y procesos</a:t>
            </a:r>
          </a:p>
          <a:p>
            <a:pPr algn="l">
              <a:lnSpc>
                <a:spcPct val="102000"/>
              </a:lnSpc>
              <a:spcAft>
                <a:spcPts val="300"/>
              </a:spcAft>
              <a:defRPr sz="4200" b="1">
                <a:solidFill>
                  <a:srgbClr val="143543"/>
                </a:solidFill>
                <a:latin typeface="DejaVu Sans"/>
              </a:defRPr>
            </a:pPr>
            <a:r>
              <a:t>detrás del laboratorio</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Tu galería · CISeAL 2023–2024</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Galería reservada para fotografías que añadirás antes de la clase.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07</a:t>
            </a:r>
          </a:p>
        </p:txBody>
      </p:sp>
      <p:sp>
        <p:nvSpPr>
          <p:cNvPr id="7" name="Rectangle 6"/>
          <p:cNvSpPr/>
          <p:nvPr/>
        </p:nvSpPr>
        <p:spPr>
          <a:xfrm>
            <a:off x="0" y="6821424"/>
            <a:ext cx="371059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94360"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38528"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12" name="TextBox 11"/>
          <p:cNvSpPr txBox="1"/>
          <p:nvPr/>
        </p:nvSpPr>
        <p:spPr>
          <a:xfrm>
            <a:off x="1024128"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13" name="TextBox 12"/>
          <p:cNvSpPr txBox="1"/>
          <p:nvPr/>
        </p:nvSpPr>
        <p:spPr>
          <a:xfrm>
            <a:off x="640080"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Trabajo de laboratorio</a:t>
            </a:r>
          </a:p>
        </p:txBody>
      </p:sp>
      <p:sp>
        <p:nvSpPr>
          <p:cNvPr id="14" name="Rounded Rectangle 13"/>
          <p:cNvSpPr/>
          <p:nvPr/>
        </p:nvSpPr>
        <p:spPr>
          <a:xfrm>
            <a:off x="4370832"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0"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16" name="TextBox 15"/>
          <p:cNvSpPr txBox="1"/>
          <p:nvPr/>
        </p:nvSpPr>
        <p:spPr>
          <a:xfrm>
            <a:off x="4800600"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17" name="TextBox 16"/>
          <p:cNvSpPr txBox="1"/>
          <p:nvPr/>
        </p:nvSpPr>
        <p:spPr>
          <a:xfrm>
            <a:off x="4416552"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Microscopía o procesamiento</a:t>
            </a:r>
          </a:p>
        </p:txBody>
      </p:sp>
      <p:sp>
        <p:nvSpPr>
          <p:cNvPr id="18" name="Rounded Rectangle 17"/>
          <p:cNvSpPr/>
          <p:nvPr/>
        </p:nvSpPr>
        <p:spPr>
          <a:xfrm>
            <a:off x="8147304"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20" name="TextBox 19"/>
          <p:cNvSpPr txBox="1"/>
          <p:nvPr/>
        </p:nvSpPr>
        <p:spPr>
          <a:xfrm>
            <a:off x="8577072"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21" name="TextBox 20"/>
          <p:cNvSpPr txBox="1"/>
          <p:nvPr/>
        </p:nvSpPr>
        <p:spPr>
          <a:xfrm>
            <a:off x="8193024"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Equipo de investigación</a:t>
            </a:r>
          </a:p>
        </p:txBody>
      </p:sp>
    </p:spTree>
  </p:cSld>
  <p:clrMapOvr>
    <a:masterClrMapping/>
  </p:clrMapOvr>
  <p:transition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EXPERIENCIA 02 · STARS · 2025</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Loja: coordinar,</a:t>
            </a:r>
          </a:p>
          <a:p>
            <a:pPr algn="l">
              <a:lnSpc>
                <a:spcPct val="102000"/>
              </a:lnSpc>
              <a:spcAft>
                <a:spcPts val="300"/>
              </a:spcAft>
              <a:defRPr sz="4200" b="1">
                <a:solidFill>
                  <a:srgbClr val="143543"/>
                </a:solidFill>
                <a:latin typeface="DejaVu Sans"/>
              </a:defRPr>
            </a:pPr>
            <a:r>
              <a:t>muestrear y aprender</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Programa STARS · Calvas, Loja</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DS_Agua_Loja_2025, diaps. 1–5 y 16; CV, experiencia STARS.</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08</a:t>
            </a:r>
          </a:p>
        </p:txBody>
      </p:sp>
      <p:sp>
        <p:nvSpPr>
          <p:cNvPr id="7" name="Rectangle 6"/>
          <p:cNvSpPr/>
          <p:nvPr/>
        </p:nvSpPr>
        <p:spPr>
          <a:xfrm>
            <a:off x="0" y="6821424"/>
            <a:ext cx="4240685"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85216" y="2761488"/>
            <a:ext cx="5074920" cy="3072384"/>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734056" y="3127248"/>
            <a:ext cx="521207" cy="521207"/>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rot="10800000">
            <a:off x="2803550" y="3474720"/>
            <a:ext cx="390906" cy="521207"/>
          </a:xfrm>
          <a:prstGeom prst="triangl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890418" y="3274923"/>
            <a:ext cx="208483" cy="208483"/>
          </a:xfrm>
          <a:prstGeom prst="ellipse">
            <a:avLst/>
          </a:prstGeom>
          <a:solidFill>
            <a:srgbClr val="F4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4206240"/>
            <a:ext cx="1828800" cy="594360"/>
          </a:xfrm>
          <a:prstGeom prst="rect">
            <a:avLst/>
          </a:prstGeom>
          <a:noFill/>
        </p:spPr>
        <p:txBody>
          <a:bodyPr wrap="square" lIns="0" rIns="0" tIns="0" bIns="0">
            <a:spAutoFit/>
          </a:bodyPr>
          <a:lstStyle/>
          <a:p>
            <a:pPr algn="ctr">
              <a:lnSpc>
                <a:spcPct val="102000"/>
              </a:lnSpc>
              <a:spcAft>
                <a:spcPts val="300"/>
              </a:spcAft>
              <a:defRPr sz="2200" b="1">
                <a:solidFill>
                  <a:srgbClr val="FFFFFF"/>
                </a:solidFill>
                <a:latin typeface="DejaVu Sans"/>
              </a:defRPr>
            </a:pPr>
            <a:r>
              <a:t>CALVAS</a:t>
            </a:r>
          </a:p>
          <a:p>
            <a:pPr algn="ctr">
              <a:lnSpc>
                <a:spcPct val="102000"/>
              </a:lnSpc>
              <a:spcAft>
                <a:spcPts val="300"/>
              </a:spcAft>
              <a:defRPr sz="2200" b="1">
                <a:solidFill>
                  <a:srgbClr val="FFFFFF"/>
                </a:solidFill>
                <a:latin typeface="DejaVu Sans"/>
              </a:defRPr>
            </a:pPr>
            <a:r>
              <a:t>LOJA</a:t>
            </a:r>
          </a:p>
        </p:txBody>
      </p:sp>
      <p:sp>
        <p:nvSpPr>
          <p:cNvPr id="15" name="Rounded Rectangle 14"/>
          <p:cNvSpPr/>
          <p:nvPr/>
        </p:nvSpPr>
        <p:spPr>
          <a:xfrm>
            <a:off x="914400" y="3154680"/>
            <a:ext cx="1463040" cy="384048"/>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227832"/>
            <a:ext cx="1280160" cy="237744"/>
          </a:xfrm>
          <a:prstGeom prst="rect">
            <a:avLst/>
          </a:prstGeom>
          <a:noFill/>
        </p:spPr>
        <p:txBody>
          <a:bodyPr wrap="square" lIns="0" rIns="0" tIns="0" bIns="0">
            <a:spAutoFit/>
          </a:bodyPr>
          <a:lstStyle/>
          <a:p>
            <a:pPr algn="l">
              <a:lnSpc>
                <a:spcPct val="102000"/>
              </a:lnSpc>
              <a:spcAft>
                <a:spcPts val="300"/>
              </a:spcAft>
              <a:defRPr sz="1300" b="0">
                <a:solidFill>
                  <a:srgbClr val="FFFFFF"/>
                </a:solidFill>
                <a:latin typeface="DejaVu Sans"/>
              </a:defRPr>
            </a:pPr>
            <a:r>
              <a:t>Bellamaría</a:t>
            </a:r>
          </a:p>
        </p:txBody>
      </p:sp>
      <p:sp>
        <p:nvSpPr>
          <p:cNvPr id="17" name="Rounded Rectangle 16"/>
          <p:cNvSpPr/>
          <p:nvPr/>
        </p:nvSpPr>
        <p:spPr>
          <a:xfrm>
            <a:off x="3867912" y="3794760"/>
            <a:ext cx="1463040" cy="384048"/>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59352" y="3867912"/>
            <a:ext cx="1280160" cy="237744"/>
          </a:xfrm>
          <a:prstGeom prst="rect">
            <a:avLst/>
          </a:prstGeom>
          <a:noFill/>
        </p:spPr>
        <p:txBody>
          <a:bodyPr wrap="square" lIns="0" rIns="0" tIns="0" bIns="0">
            <a:spAutoFit/>
          </a:bodyPr>
          <a:lstStyle/>
          <a:p>
            <a:pPr algn="l">
              <a:lnSpc>
                <a:spcPct val="102000"/>
              </a:lnSpc>
              <a:spcAft>
                <a:spcPts val="300"/>
              </a:spcAft>
              <a:defRPr sz="1300" b="0">
                <a:solidFill>
                  <a:srgbClr val="FFFFFF"/>
                </a:solidFill>
                <a:latin typeface="DejaVu Sans"/>
              </a:defRPr>
            </a:pPr>
            <a:r>
              <a:t>Guara</a:t>
            </a:r>
          </a:p>
        </p:txBody>
      </p:sp>
      <p:sp>
        <p:nvSpPr>
          <p:cNvPr id="19" name="Rounded Rectangle 18"/>
          <p:cNvSpPr/>
          <p:nvPr/>
        </p:nvSpPr>
        <p:spPr>
          <a:xfrm>
            <a:off x="896112" y="4617720"/>
            <a:ext cx="1463040" cy="384048"/>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690872"/>
            <a:ext cx="1280160" cy="237744"/>
          </a:xfrm>
          <a:prstGeom prst="rect">
            <a:avLst/>
          </a:prstGeom>
          <a:noFill/>
        </p:spPr>
        <p:txBody>
          <a:bodyPr wrap="square" lIns="0" rIns="0" tIns="0" bIns="0">
            <a:spAutoFit/>
          </a:bodyPr>
          <a:lstStyle/>
          <a:p>
            <a:pPr algn="l">
              <a:lnSpc>
                <a:spcPct val="102000"/>
              </a:lnSpc>
              <a:spcAft>
                <a:spcPts val="300"/>
              </a:spcAft>
              <a:defRPr sz="1300" b="0">
                <a:solidFill>
                  <a:srgbClr val="FFFFFF"/>
                </a:solidFill>
                <a:latin typeface="DejaVu Sans"/>
              </a:defRPr>
            </a:pPr>
            <a:r>
              <a:t>Chaquizca</a:t>
            </a:r>
          </a:p>
        </p:txBody>
      </p:sp>
      <p:sp>
        <p:nvSpPr>
          <p:cNvPr id="21" name="TextBox 20"/>
          <p:cNvSpPr txBox="1"/>
          <p:nvPr/>
        </p:nvSpPr>
        <p:spPr>
          <a:xfrm>
            <a:off x="850392" y="5504688"/>
            <a:ext cx="4389120" cy="182880"/>
          </a:xfrm>
          <a:prstGeom prst="rect">
            <a:avLst/>
          </a:prstGeom>
          <a:noFill/>
        </p:spPr>
        <p:txBody>
          <a:bodyPr wrap="square" lIns="0" rIns="0" tIns="0" bIns="0">
            <a:spAutoFit/>
          </a:bodyPr>
          <a:lstStyle/>
          <a:p>
            <a:pPr algn="l">
              <a:lnSpc>
                <a:spcPct val="102000"/>
              </a:lnSpc>
              <a:spcAft>
                <a:spcPts val="300"/>
              </a:spcAft>
              <a:defRPr sz="900" b="0">
                <a:solidFill>
                  <a:srgbClr val="CBDBD2"/>
                </a:solidFill>
                <a:latin typeface="DejaVu Sans"/>
              </a:defRPr>
            </a:pPr>
            <a:r>
              <a:t>Esquema de comunidades · sin escala</a:t>
            </a:r>
          </a:p>
        </p:txBody>
      </p:sp>
      <p:sp>
        <p:nvSpPr>
          <p:cNvPr id="22" name="TextBox 21"/>
          <p:cNvSpPr txBox="1"/>
          <p:nvPr/>
        </p:nvSpPr>
        <p:spPr>
          <a:xfrm>
            <a:off x="6172200" y="2770632"/>
            <a:ext cx="4937760" cy="27432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MI ROL · JUL–DIC 2025</a:t>
            </a:r>
          </a:p>
        </p:txBody>
      </p:sp>
      <p:sp>
        <p:nvSpPr>
          <p:cNvPr id="23" name="TextBox 22"/>
          <p:cNvSpPr txBox="1"/>
          <p:nvPr/>
        </p:nvSpPr>
        <p:spPr>
          <a:xfrm>
            <a:off x="6172200" y="3246120"/>
            <a:ext cx="5029200" cy="822960"/>
          </a:xfrm>
          <a:prstGeom prst="rect">
            <a:avLst/>
          </a:prstGeom>
          <a:noFill/>
        </p:spPr>
        <p:txBody>
          <a:bodyPr wrap="square" lIns="0" rIns="0" tIns="0" bIns="0">
            <a:spAutoFit/>
          </a:bodyPr>
          <a:lstStyle/>
          <a:p>
            <a:pPr algn="l">
              <a:lnSpc>
                <a:spcPct val="102000"/>
              </a:lnSpc>
              <a:spcAft>
                <a:spcPts val="300"/>
              </a:spcAft>
              <a:defRPr sz="2500" b="1">
                <a:solidFill>
                  <a:srgbClr val="143543"/>
                </a:solidFill>
                <a:latin typeface="DejaVu Sans"/>
              </a:defRPr>
            </a:pPr>
            <a:r>
              <a:t>Laboratorio +</a:t>
            </a:r>
          </a:p>
          <a:p>
            <a:pPr algn="l">
              <a:lnSpc>
                <a:spcPct val="102000"/>
              </a:lnSpc>
              <a:spcAft>
                <a:spcPts val="300"/>
              </a:spcAft>
              <a:defRPr sz="2500" b="1">
                <a:solidFill>
                  <a:srgbClr val="143543"/>
                </a:solidFill>
                <a:latin typeface="DejaVu Sans"/>
              </a:defRPr>
            </a:pPr>
            <a:r>
              <a:t>coordinación de campo</a:t>
            </a:r>
          </a:p>
        </p:txBody>
      </p:sp>
      <p:sp>
        <p:nvSpPr>
          <p:cNvPr id="24" name="Oval 23"/>
          <p:cNvSpPr/>
          <p:nvPr/>
        </p:nvSpPr>
        <p:spPr>
          <a:xfrm>
            <a:off x="6253581" y="4324837"/>
            <a:ext cx="54918" cy="54918"/>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46449" y="4392238"/>
            <a:ext cx="67400" cy="92363"/>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35455" y="4324837"/>
            <a:ext cx="54918" cy="54918"/>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28323" y="4392238"/>
            <a:ext cx="67400" cy="92363"/>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42735" y="4242816"/>
            <a:ext cx="78455" cy="78455"/>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35603" y="4339102"/>
            <a:ext cx="96286" cy="131947"/>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4242816"/>
            <a:ext cx="4709160" cy="50292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Organizar equipos y campañas</a:t>
            </a:r>
          </a:p>
        </p:txBody>
      </p:sp>
      <p:sp>
        <p:nvSpPr>
          <p:cNvPr id="31" name="Teardrop 30"/>
          <p:cNvSpPr/>
          <p:nvPr/>
        </p:nvSpPr>
        <p:spPr>
          <a:xfrm rot="18900000">
            <a:off x="6271412" y="4782312"/>
            <a:ext cx="249631" cy="356616"/>
          </a:xfrm>
          <a:prstGeom prst="teardrop">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2280" y="4782312"/>
            <a:ext cx="4709160" cy="50292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Muestreo normado de agua</a:t>
            </a:r>
          </a:p>
        </p:txBody>
      </p:sp>
      <p:sp>
        <p:nvSpPr>
          <p:cNvPr id="33" name="Trapezoid 32"/>
          <p:cNvSpPr/>
          <p:nvPr/>
        </p:nvSpPr>
        <p:spPr>
          <a:xfrm>
            <a:off x="6264280" y="5464454"/>
            <a:ext cx="267462" cy="196138"/>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357000" y="5343204"/>
            <a:ext cx="82021" cy="160477"/>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6321338" y="5560740"/>
            <a:ext cx="153345"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12280" y="5321807"/>
            <a:ext cx="4709160" cy="50292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Procesamiento microbiológico</a:t>
            </a:r>
          </a:p>
          <a:p>
            <a:pPr algn="l">
              <a:lnSpc>
                <a:spcPct val="102000"/>
              </a:lnSpc>
              <a:spcAft>
                <a:spcPts val="300"/>
              </a:spcAft>
              <a:defRPr sz="1600" b="0">
                <a:solidFill>
                  <a:srgbClr val="143543"/>
                </a:solidFill>
                <a:latin typeface="DejaVu Sans"/>
              </a:defRPr>
            </a:pPr>
            <a:r>
              <a:t>y molecular</a:t>
            </a:r>
          </a:p>
        </p:txBody>
      </p:sp>
    </p:spTree>
  </p:cSld>
  <p:clrMapOvr>
    <a:masterClrMapping/>
  </p:clrMapOvr>
  <p:transition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STARS · MI APORTE AL PROCESO</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Coordinar también es</a:t>
            </a:r>
          </a:p>
          <a:p>
            <a:pPr algn="l">
              <a:lnSpc>
                <a:spcPct val="102000"/>
              </a:lnSpc>
              <a:spcAft>
                <a:spcPts val="300"/>
              </a:spcAft>
              <a:defRPr sz="4200" b="1">
                <a:solidFill>
                  <a:srgbClr val="143543"/>
                </a:solidFill>
                <a:latin typeface="DejaVu Sans"/>
              </a:defRPr>
            </a:pPr>
            <a:r>
              <a:t>cuidar la calidad del dato</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DS_Agua_Loja_2025, diaps. 13–16; referencia de muestreo: ISO 19458:2006.</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09</a:t>
            </a:r>
          </a:p>
        </p:txBody>
      </p:sp>
      <p:sp>
        <p:nvSpPr>
          <p:cNvPr id="6" name="Rectangle 5"/>
          <p:cNvSpPr/>
          <p:nvPr/>
        </p:nvSpPr>
        <p:spPr>
          <a:xfrm>
            <a:off x="0" y="6821424"/>
            <a:ext cx="4770770"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48640" y="2724912"/>
            <a:ext cx="2649474" cy="301752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67762"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D8EB80"/>
                </a:solidFill>
                <a:latin typeface="DejaVu Sans"/>
              </a:defRPr>
            </a:pPr>
            <a:r>
              <a:t>01</a:t>
            </a:r>
          </a:p>
        </p:txBody>
      </p:sp>
      <p:sp>
        <p:nvSpPr>
          <p:cNvPr id="11" name="Teardrop 10"/>
          <p:cNvSpPr/>
          <p:nvPr/>
        </p:nvSpPr>
        <p:spPr>
          <a:xfrm rot="18900000">
            <a:off x="866394" y="3108960"/>
            <a:ext cx="416051" cy="594360"/>
          </a:xfrm>
          <a:prstGeom prst="teardrop">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FFFFFF"/>
                </a:solidFill>
                <a:latin typeface="DejaVu Sans"/>
              </a:defRPr>
            </a:pPr>
            <a:r>
              <a:t>Muestrear</a:t>
            </a:r>
          </a:p>
        </p:txBody>
      </p:sp>
      <p:sp>
        <p:nvSpPr>
          <p:cNvPr id="13" name="TextBox 12"/>
          <p:cNvSpPr txBox="1"/>
          <p:nvPr/>
        </p:nvSpPr>
        <p:spPr>
          <a:xfrm>
            <a:off x="777240"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FFFFFF"/>
                </a:solidFill>
                <a:latin typeface="DejaVu Sans"/>
              </a:defRPr>
            </a:pPr>
            <a:r>
              <a:t>Procedimiento y prevención de contaminación.</a:t>
            </a:r>
          </a:p>
        </p:txBody>
      </p:sp>
      <p:sp>
        <p:nvSpPr>
          <p:cNvPr id="14" name="TextBox 13"/>
          <p:cNvSpPr txBox="1"/>
          <p:nvPr/>
        </p:nvSpPr>
        <p:spPr>
          <a:xfrm>
            <a:off x="3179826" y="3849624"/>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15" name="Rounded Rectangle 14"/>
          <p:cNvSpPr/>
          <p:nvPr/>
        </p:nvSpPr>
        <p:spPr>
          <a:xfrm>
            <a:off x="3362706" y="2724912"/>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1828"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02</a:t>
            </a:r>
          </a:p>
        </p:txBody>
      </p:sp>
      <p:sp>
        <p:nvSpPr>
          <p:cNvPr id="17" name="Trapezoid 16"/>
          <p:cNvSpPr/>
          <p:nvPr/>
        </p:nvSpPr>
        <p:spPr>
          <a:xfrm>
            <a:off x="3668572" y="3346704"/>
            <a:ext cx="445770" cy="326898"/>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23106" y="3144621"/>
            <a:ext cx="136702" cy="267462"/>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763670" y="3507181"/>
            <a:ext cx="255575"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91306"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Medir</a:t>
            </a:r>
          </a:p>
        </p:txBody>
      </p:sp>
      <p:sp>
        <p:nvSpPr>
          <p:cNvPr id="21" name="TextBox 20"/>
          <p:cNvSpPr txBox="1"/>
          <p:nvPr/>
        </p:nvSpPr>
        <p:spPr>
          <a:xfrm>
            <a:off x="3591306"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pH, cloro, conductividad y temperatura.</a:t>
            </a:r>
          </a:p>
        </p:txBody>
      </p:sp>
      <p:sp>
        <p:nvSpPr>
          <p:cNvPr id="22" name="TextBox 21"/>
          <p:cNvSpPr txBox="1"/>
          <p:nvPr/>
        </p:nvSpPr>
        <p:spPr>
          <a:xfrm>
            <a:off x="5993892" y="3849624"/>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23" name="Rounded Rectangle 22"/>
          <p:cNvSpPr/>
          <p:nvPr/>
        </p:nvSpPr>
        <p:spPr>
          <a:xfrm>
            <a:off x="6176772" y="2724912"/>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5894"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03</a:t>
            </a:r>
          </a:p>
        </p:txBody>
      </p:sp>
      <p:sp>
        <p:nvSpPr>
          <p:cNvPr id="25" name="Rectangle 24"/>
          <p:cNvSpPr/>
          <p:nvPr/>
        </p:nvSpPr>
        <p:spPr>
          <a:xfrm>
            <a:off x="6405372" y="3108960"/>
            <a:ext cx="594360" cy="534924"/>
          </a:xfrm>
          <a:prstGeom prst="rect">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6506413" y="3227832"/>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06413" y="3364534"/>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506413" y="3501237"/>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5372"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Registrar</a:t>
            </a:r>
          </a:p>
        </p:txBody>
      </p:sp>
      <p:sp>
        <p:nvSpPr>
          <p:cNvPr id="30" name="TextBox 29"/>
          <p:cNvSpPr txBox="1"/>
          <p:nvPr/>
        </p:nvSpPr>
        <p:spPr>
          <a:xfrm>
            <a:off x="6405372"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Código, matriz, coordenadas, fecha y hora.</a:t>
            </a:r>
          </a:p>
        </p:txBody>
      </p:sp>
      <p:sp>
        <p:nvSpPr>
          <p:cNvPr id="31" name="TextBox 30"/>
          <p:cNvSpPr txBox="1"/>
          <p:nvPr/>
        </p:nvSpPr>
        <p:spPr>
          <a:xfrm>
            <a:off x="8807958" y="3849624"/>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32" name="Rounded Rectangle 31"/>
          <p:cNvSpPr/>
          <p:nvPr/>
        </p:nvSpPr>
        <p:spPr>
          <a:xfrm>
            <a:off x="8990838" y="2724912"/>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09960" y="2953512"/>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04</a:t>
            </a:r>
          </a:p>
        </p:txBody>
      </p:sp>
      <p:cxnSp>
        <p:nvCxnSpPr>
          <p:cNvPr id="34" name="Connector 33"/>
          <p:cNvCxnSpPr/>
          <p:nvPr/>
        </p:nvCxnSpPr>
        <p:spPr>
          <a:xfrm>
            <a:off x="9219438" y="3703320"/>
            <a:ext cx="594360"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9438" y="3108960"/>
            <a:ext cx="0" cy="59436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314535" y="3495294"/>
            <a:ext cx="95097" cy="208025"/>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75012" y="3316986"/>
            <a:ext cx="95097" cy="386334"/>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35490" y="3168396"/>
            <a:ext cx="95097" cy="534924"/>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19438" y="4023360"/>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Transportar</a:t>
            </a:r>
          </a:p>
        </p:txBody>
      </p:sp>
      <p:sp>
        <p:nvSpPr>
          <p:cNvPr id="40" name="TextBox 39"/>
          <p:cNvSpPr txBox="1"/>
          <p:nvPr/>
        </p:nvSpPr>
        <p:spPr>
          <a:xfrm>
            <a:off x="9219438" y="4599431"/>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Etiquetado, condiciones y trazabilidad.</a:t>
            </a:r>
          </a:p>
        </p:txBody>
      </p:sp>
    </p:spTree>
  </p:cSld>
  <p:clrMapOvr>
    <a:masterClrMapping/>
  </p:clrMapOvr>
  <p:transition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UN EJEMPLO DE EXPLICACIÓN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Un indicador responde</a:t>
            </a:r>
          </a:p>
          <a:p>
            <a:pPr algn="l">
              <a:lnSpc>
                <a:spcPct val="102000"/>
              </a:lnSpc>
              <a:spcAft>
                <a:spcPts val="300"/>
              </a:spcAft>
              <a:defRPr sz="4200" b="1">
                <a:solidFill>
                  <a:srgbClr val="143543"/>
                </a:solidFill>
                <a:latin typeface="DejaVu Sans"/>
              </a:defRPr>
            </a:pPr>
            <a:r>
              <a:t>una pregunta concreta</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DS_Agua_Loja_2025, diaps. 9 y 17; CV, técnicas de diagnóstico.</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10</a:t>
            </a:r>
          </a:p>
        </p:txBody>
      </p:sp>
      <p:sp>
        <p:nvSpPr>
          <p:cNvPr id="6" name="Rectangle 5"/>
          <p:cNvSpPr/>
          <p:nvPr/>
        </p:nvSpPr>
        <p:spPr>
          <a:xfrm>
            <a:off x="0" y="6821424"/>
            <a:ext cx="5300856"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Oval 8"/>
          <p:cNvSpPr/>
          <p:nvPr/>
        </p:nvSpPr>
        <p:spPr>
          <a:xfrm>
            <a:off x="822960" y="2743200"/>
            <a:ext cx="4526280" cy="3063240"/>
          </a:xfrm>
          <a:prstGeom prst="ellipse">
            <a:avLst/>
          </a:prstGeom>
          <a:solidFill>
            <a:srgbClr val="BED7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17320" y="3081528"/>
            <a:ext cx="3474720" cy="320040"/>
          </a:xfrm>
          <a:prstGeom prst="rect">
            <a:avLst/>
          </a:prstGeom>
          <a:noFill/>
        </p:spPr>
        <p:txBody>
          <a:bodyPr wrap="square" lIns="0" rIns="0" tIns="0" bIns="0">
            <a:spAutoFit/>
          </a:bodyPr>
          <a:lstStyle/>
          <a:p>
            <a:pPr algn="l">
              <a:lnSpc>
                <a:spcPct val="102000"/>
              </a:lnSpc>
              <a:spcAft>
                <a:spcPts val="300"/>
              </a:spcAft>
              <a:defRPr sz="1400" b="1">
                <a:solidFill>
                  <a:srgbClr val="126E70"/>
                </a:solidFill>
                <a:latin typeface="DejaVu Sans"/>
              </a:defRPr>
            </a:pPr>
            <a:r>
              <a:t>COLIFORMES TOTALES</a:t>
            </a:r>
          </a:p>
        </p:txBody>
      </p:sp>
      <p:sp>
        <p:nvSpPr>
          <p:cNvPr id="11" name="Oval 10"/>
          <p:cNvSpPr/>
          <p:nvPr/>
        </p:nvSpPr>
        <p:spPr>
          <a:xfrm>
            <a:off x="2084831" y="3703320"/>
            <a:ext cx="2331720" cy="1783080"/>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2032" y="4343400"/>
            <a:ext cx="1645920" cy="457200"/>
          </a:xfrm>
          <a:prstGeom prst="rect">
            <a:avLst/>
          </a:prstGeom>
          <a:noFill/>
        </p:spPr>
        <p:txBody>
          <a:bodyPr wrap="square" lIns="0" rIns="0" tIns="0" bIns="0">
            <a:spAutoFit/>
          </a:bodyPr>
          <a:lstStyle/>
          <a:p>
            <a:pPr algn="l">
              <a:lnSpc>
                <a:spcPct val="102000"/>
              </a:lnSpc>
              <a:spcAft>
                <a:spcPts val="300"/>
              </a:spcAft>
              <a:defRPr sz="2700" b="1">
                <a:solidFill>
                  <a:srgbClr val="FFFFFF"/>
                </a:solidFill>
                <a:latin typeface="DejaVu Sans"/>
              </a:defRPr>
            </a:pPr>
            <a:r>
              <a:t>E. coli</a:t>
            </a:r>
          </a:p>
        </p:txBody>
      </p:sp>
      <p:sp>
        <p:nvSpPr>
          <p:cNvPr id="13" name="TextBox 12"/>
          <p:cNvSpPr txBox="1"/>
          <p:nvPr/>
        </p:nvSpPr>
        <p:spPr>
          <a:xfrm>
            <a:off x="1280160" y="5888736"/>
            <a:ext cx="4297680" cy="228600"/>
          </a:xfrm>
          <a:prstGeom prst="rect">
            <a:avLst/>
          </a:prstGeom>
          <a:noFill/>
        </p:spPr>
        <p:txBody>
          <a:bodyPr wrap="square" lIns="0" rIns="0" tIns="0" bIns="0">
            <a:spAutoFit/>
          </a:bodyPr>
          <a:lstStyle/>
          <a:p>
            <a:pPr algn="l">
              <a:lnSpc>
                <a:spcPct val="102000"/>
              </a:lnSpc>
              <a:spcAft>
                <a:spcPts val="300"/>
              </a:spcAft>
              <a:defRPr sz="1000" b="0">
                <a:solidFill>
                  <a:srgbClr val="5B7278"/>
                </a:solidFill>
                <a:latin typeface="DejaVu Sans"/>
              </a:defRPr>
            </a:pPr>
            <a:r>
              <a:t>Esquema conceptual de inclusión</a:t>
            </a:r>
          </a:p>
        </p:txBody>
      </p:sp>
      <p:sp>
        <p:nvSpPr>
          <p:cNvPr id="14" name="Teardrop 13"/>
          <p:cNvSpPr/>
          <p:nvPr/>
        </p:nvSpPr>
        <p:spPr>
          <a:xfrm rot="18900000">
            <a:off x="6208776" y="2834640"/>
            <a:ext cx="384048" cy="548640"/>
          </a:xfrm>
          <a:prstGeom prst="teardrop">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3720" y="2807208"/>
            <a:ext cx="4389120" cy="777240"/>
          </a:xfrm>
          <a:prstGeom prst="rect">
            <a:avLst/>
          </a:prstGeom>
          <a:noFill/>
        </p:spPr>
        <p:txBody>
          <a:bodyPr wrap="square" lIns="0" rIns="0" tIns="0" bIns="0">
            <a:spAutoFit/>
          </a:bodyPr>
          <a:lstStyle/>
          <a:p>
            <a:pPr algn="l">
              <a:lnSpc>
                <a:spcPct val="102000"/>
              </a:lnSpc>
              <a:spcAft>
                <a:spcPts val="300"/>
              </a:spcAft>
              <a:defRPr sz="1900" b="0">
                <a:solidFill>
                  <a:srgbClr val="143543"/>
                </a:solidFill>
                <a:latin typeface="DejaVu Sans"/>
              </a:defRPr>
            </a:pPr>
            <a:r>
              <a:t>Una señal</a:t>
            </a:r>
          </a:p>
          <a:p>
            <a:pPr algn="l">
              <a:lnSpc>
                <a:spcPct val="102000"/>
              </a:lnSpc>
              <a:spcAft>
                <a:spcPts val="300"/>
              </a:spcAft>
              <a:defRPr sz="1900" b="0">
                <a:solidFill>
                  <a:srgbClr val="143543"/>
                </a:solidFill>
                <a:latin typeface="DejaVu Sans"/>
              </a:defRPr>
            </a:pPr>
            <a:r>
              <a:t>Orienta la evaluación del agua.</a:t>
            </a:r>
          </a:p>
        </p:txBody>
      </p:sp>
      <p:sp>
        <p:nvSpPr>
          <p:cNvPr id="16" name="Oval 15"/>
          <p:cNvSpPr/>
          <p:nvPr/>
        </p:nvSpPr>
        <p:spPr>
          <a:xfrm>
            <a:off x="6126480" y="4059936"/>
            <a:ext cx="548640" cy="329184"/>
          </a:xfrm>
          <a:prstGeom prst="ellipse">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23990" y="4147718"/>
            <a:ext cx="153619" cy="153619"/>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3931920"/>
            <a:ext cx="4389120" cy="877824"/>
          </a:xfrm>
          <a:prstGeom prst="rect">
            <a:avLst/>
          </a:prstGeom>
          <a:noFill/>
        </p:spPr>
        <p:txBody>
          <a:bodyPr wrap="square" lIns="0" rIns="0" tIns="0" bIns="0">
            <a:spAutoFit/>
          </a:bodyPr>
          <a:lstStyle/>
          <a:p>
            <a:pPr algn="l">
              <a:lnSpc>
                <a:spcPct val="102000"/>
              </a:lnSpc>
              <a:spcAft>
                <a:spcPts val="300"/>
              </a:spcAft>
              <a:defRPr sz="1900" b="0">
                <a:solidFill>
                  <a:srgbClr val="143543"/>
                </a:solidFill>
                <a:latin typeface="DejaVu Sans"/>
              </a:defRPr>
            </a:pPr>
            <a:r>
              <a:t>Una pregunta concreta</a:t>
            </a:r>
          </a:p>
          <a:p>
            <a:pPr algn="l">
              <a:lnSpc>
                <a:spcPct val="102000"/>
              </a:lnSpc>
              <a:spcAft>
                <a:spcPts val="300"/>
              </a:spcAft>
              <a:defRPr sz="1900" b="0">
                <a:solidFill>
                  <a:srgbClr val="143543"/>
                </a:solidFill>
                <a:latin typeface="DejaVu Sans"/>
              </a:defRPr>
            </a:pPr>
            <a:r>
              <a:t>No describe todos los microorganismos.</a:t>
            </a:r>
          </a:p>
        </p:txBody>
      </p:sp>
      <p:sp>
        <p:nvSpPr>
          <p:cNvPr id="19" name="Rounded Rectangle 18"/>
          <p:cNvSpPr/>
          <p:nvPr/>
        </p:nvSpPr>
        <p:spPr>
          <a:xfrm>
            <a:off x="6080760" y="5175504"/>
            <a:ext cx="5422392" cy="86868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5349240"/>
            <a:ext cx="5010912" cy="54864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Detectar un indicador no demuestra que todas las personas enfermarán.</a:t>
            </a:r>
          </a:p>
        </p:txBody>
      </p:sp>
    </p:spTree>
  </p:cSld>
  <p:clrMapOvr>
    <a:masterClrMapping/>
  </p:clrMapOvr>
  <p:transition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PUENTE ENTRE PROYECTOS</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Lo aprendido</a:t>
            </a:r>
          </a:p>
          <a:p>
            <a:pPr algn="l">
              <a:lnSpc>
                <a:spcPct val="102000"/>
              </a:lnSpc>
              <a:spcAft>
                <a:spcPts val="300"/>
              </a:spcAft>
              <a:defRPr sz="4200" b="1">
                <a:solidFill>
                  <a:srgbClr val="143543"/>
                </a:solidFill>
                <a:latin typeface="DejaVu Sans"/>
              </a:defRPr>
            </a:pPr>
            <a:r>
              <a:t>con la comunidad</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Tu galería · STARS–Loja</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Galería reservada para fotografías que añadirás antes de la clase.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11</a:t>
            </a:r>
          </a:p>
        </p:txBody>
      </p:sp>
      <p:sp>
        <p:nvSpPr>
          <p:cNvPr id="7" name="Rectangle 6"/>
          <p:cNvSpPr/>
          <p:nvPr/>
        </p:nvSpPr>
        <p:spPr>
          <a:xfrm>
            <a:off x="0" y="6821424"/>
            <a:ext cx="5830941"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94360"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38528"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12" name="TextBox 11"/>
          <p:cNvSpPr txBox="1"/>
          <p:nvPr/>
        </p:nvSpPr>
        <p:spPr>
          <a:xfrm>
            <a:off x="1024128"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13" name="TextBox 12"/>
          <p:cNvSpPr txBox="1"/>
          <p:nvPr/>
        </p:nvSpPr>
        <p:spPr>
          <a:xfrm>
            <a:off x="640080"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Campaña de muestreo</a:t>
            </a:r>
          </a:p>
        </p:txBody>
      </p:sp>
      <p:sp>
        <p:nvSpPr>
          <p:cNvPr id="14" name="Rounded Rectangle 13"/>
          <p:cNvSpPr/>
          <p:nvPr/>
        </p:nvSpPr>
        <p:spPr>
          <a:xfrm>
            <a:off x="4370832"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0"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16" name="TextBox 15"/>
          <p:cNvSpPr txBox="1"/>
          <p:nvPr/>
        </p:nvSpPr>
        <p:spPr>
          <a:xfrm>
            <a:off x="4800600"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17" name="TextBox 16"/>
          <p:cNvSpPr txBox="1"/>
          <p:nvPr/>
        </p:nvSpPr>
        <p:spPr>
          <a:xfrm>
            <a:off x="4416552"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Coordinación del equipo</a:t>
            </a:r>
          </a:p>
        </p:txBody>
      </p:sp>
      <p:sp>
        <p:nvSpPr>
          <p:cNvPr id="18" name="Rounded Rectangle 17"/>
          <p:cNvSpPr/>
          <p:nvPr/>
        </p:nvSpPr>
        <p:spPr>
          <a:xfrm>
            <a:off x="8147304"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20" name="TextBox 19"/>
          <p:cNvSpPr txBox="1"/>
          <p:nvPr/>
        </p:nvSpPr>
        <p:spPr>
          <a:xfrm>
            <a:off x="8577072"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21" name="TextBox 20"/>
          <p:cNvSpPr txBox="1"/>
          <p:nvPr/>
        </p:nvSpPr>
        <p:spPr>
          <a:xfrm>
            <a:off x="8193024"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Comunidad y aprendizaje</a:t>
            </a:r>
          </a:p>
        </p:txBody>
      </p:sp>
    </p:spTree>
  </p:cSld>
  <p:clrMapOvr>
    <a:masterClrMapping/>
  </p:clrMapOvr>
  <p:transition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EXPERIENCIA 03 · ELAP · MANITOBA · 2026</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Una mirada comparativa:</a:t>
            </a:r>
          </a:p>
          <a:p>
            <a:pPr algn="l">
              <a:lnSpc>
                <a:spcPct val="102000"/>
              </a:lnSpc>
              <a:spcAft>
                <a:spcPts val="300"/>
              </a:spcAft>
              <a:defRPr sz="4200" b="1">
                <a:solidFill>
                  <a:srgbClr val="143543"/>
                </a:solidFill>
                <a:latin typeface="DejaVu Sans"/>
              </a:defRPr>
            </a:pPr>
            <a:r>
              <a:t>Ecuador y Canadá</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diaps. 6–9. CAWA/CASE: Canadá; ECWA: Ecuador.</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12</a:t>
            </a:r>
          </a:p>
        </p:txBody>
      </p:sp>
      <p:sp>
        <p:nvSpPr>
          <p:cNvPr id="6" name="Rectangle 5"/>
          <p:cNvSpPr/>
          <p:nvPr/>
        </p:nvSpPr>
        <p:spPr>
          <a:xfrm>
            <a:off x="0" y="6821424"/>
            <a:ext cx="6361027"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94360" y="2734056"/>
            <a:ext cx="3538728" cy="253288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944368"/>
            <a:ext cx="1874519" cy="502920"/>
          </a:xfrm>
          <a:prstGeom prst="rect">
            <a:avLst/>
          </a:prstGeom>
          <a:noFill/>
        </p:spPr>
        <p:txBody>
          <a:bodyPr wrap="square" lIns="0" rIns="0" tIns="0" bIns="0">
            <a:spAutoFit/>
          </a:bodyPr>
          <a:lstStyle/>
          <a:p>
            <a:pPr algn="l">
              <a:lnSpc>
                <a:spcPct val="102000"/>
              </a:lnSpc>
              <a:spcAft>
                <a:spcPts val="300"/>
              </a:spcAft>
              <a:defRPr sz="2400" b="1">
                <a:solidFill>
                  <a:srgbClr val="143543"/>
                </a:solidFill>
                <a:latin typeface="DejaVu Sans"/>
              </a:defRPr>
            </a:pPr>
            <a:r>
              <a:t>ECWA</a:t>
            </a:r>
          </a:p>
        </p:txBody>
      </p:sp>
      <p:sp>
        <p:nvSpPr>
          <p:cNvPr id="11" name="TextBox 10"/>
          <p:cNvSpPr txBox="1"/>
          <p:nvPr/>
        </p:nvSpPr>
        <p:spPr>
          <a:xfrm>
            <a:off x="3017520" y="2871216"/>
            <a:ext cx="859536" cy="640080"/>
          </a:xfrm>
          <a:prstGeom prst="rect">
            <a:avLst/>
          </a:prstGeom>
          <a:noFill/>
        </p:spPr>
        <p:txBody>
          <a:bodyPr wrap="square" lIns="0" rIns="0" tIns="0" bIns="0">
            <a:spAutoFit/>
          </a:bodyPr>
          <a:lstStyle/>
          <a:p>
            <a:pPr algn="l">
              <a:lnSpc>
                <a:spcPct val="102000"/>
              </a:lnSpc>
              <a:spcAft>
                <a:spcPts val="300"/>
              </a:spcAft>
              <a:defRPr sz="4100" b="1">
                <a:solidFill>
                  <a:srgbClr val="143543"/>
                </a:solidFill>
                <a:latin typeface="DejaVu Sans"/>
              </a:defRPr>
            </a:pPr>
            <a:r>
              <a:t>24</a:t>
            </a:r>
          </a:p>
        </p:txBody>
      </p:sp>
      <p:sp>
        <p:nvSpPr>
          <p:cNvPr id="12" name="TextBox 11"/>
          <p:cNvSpPr txBox="1"/>
          <p:nvPr/>
        </p:nvSpPr>
        <p:spPr>
          <a:xfrm>
            <a:off x="832104" y="3703320"/>
            <a:ext cx="3035808" cy="36576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Agua · Ecuador</a:t>
            </a:r>
          </a:p>
        </p:txBody>
      </p:sp>
      <p:sp>
        <p:nvSpPr>
          <p:cNvPr id="13" name="Oval 12"/>
          <p:cNvSpPr/>
          <p:nvPr/>
        </p:nvSpPr>
        <p:spPr>
          <a:xfrm>
            <a:off x="859536"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88719"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17904"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47088"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176272"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05456"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834640"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163824" y="4343400"/>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59536"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88719"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17904"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847088"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76272"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505456"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834640"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163824" y="4590288"/>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9536"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88719"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517904"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847088"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176272"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505456"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834640"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163824" y="4837176"/>
            <a:ext cx="128016" cy="12801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370832" y="2734056"/>
            <a:ext cx="3538728" cy="2532888"/>
          </a:xfrm>
          <a:prstGeom prst="roundRect">
            <a:avLst>
              <a:gd name="adj" fmla="val 4000"/>
            </a:avLst>
          </a:prstGeom>
          <a:solidFill>
            <a:srgbClr val="EF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08576" y="2944368"/>
            <a:ext cx="1874519" cy="502920"/>
          </a:xfrm>
          <a:prstGeom prst="rect">
            <a:avLst/>
          </a:prstGeom>
          <a:noFill/>
        </p:spPr>
        <p:txBody>
          <a:bodyPr wrap="square" lIns="0" rIns="0" tIns="0" bIns="0">
            <a:spAutoFit/>
          </a:bodyPr>
          <a:lstStyle/>
          <a:p>
            <a:pPr algn="l">
              <a:lnSpc>
                <a:spcPct val="102000"/>
              </a:lnSpc>
              <a:spcAft>
                <a:spcPts val="300"/>
              </a:spcAft>
              <a:defRPr sz="2400" b="1">
                <a:solidFill>
                  <a:srgbClr val="143543"/>
                </a:solidFill>
                <a:latin typeface="DejaVu Sans"/>
              </a:defRPr>
            </a:pPr>
            <a:r>
              <a:t>CAWA</a:t>
            </a:r>
          </a:p>
        </p:txBody>
      </p:sp>
      <p:sp>
        <p:nvSpPr>
          <p:cNvPr id="39" name="TextBox 38"/>
          <p:cNvSpPr txBox="1"/>
          <p:nvPr/>
        </p:nvSpPr>
        <p:spPr>
          <a:xfrm>
            <a:off x="6793992" y="2871216"/>
            <a:ext cx="859536" cy="640080"/>
          </a:xfrm>
          <a:prstGeom prst="rect">
            <a:avLst/>
          </a:prstGeom>
          <a:noFill/>
        </p:spPr>
        <p:txBody>
          <a:bodyPr wrap="square" lIns="0" rIns="0" tIns="0" bIns="0">
            <a:spAutoFit/>
          </a:bodyPr>
          <a:lstStyle/>
          <a:p>
            <a:pPr algn="l">
              <a:lnSpc>
                <a:spcPct val="102000"/>
              </a:lnSpc>
              <a:spcAft>
                <a:spcPts val="300"/>
              </a:spcAft>
              <a:defRPr sz="4100" b="1">
                <a:solidFill>
                  <a:srgbClr val="143543"/>
                </a:solidFill>
                <a:latin typeface="DejaVu Sans"/>
              </a:defRPr>
            </a:pPr>
            <a:r>
              <a:t>16</a:t>
            </a:r>
          </a:p>
        </p:txBody>
      </p:sp>
      <p:sp>
        <p:nvSpPr>
          <p:cNvPr id="40" name="TextBox 39"/>
          <p:cNvSpPr txBox="1"/>
          <p:nvPr/>
        </p:nvSpPr>
        <p:spPr>
          <a:xfrm>
            <a:off x="4608576" y="3703320"/>
            <a:ext cx="3035808" cy="365760"/>
          </a:xfrm>
          <a:prstGeom prst="rect">
            <a:avLst/>
          </a:prstGeom>
          <a:noFill/>
        </p:spPr>
        <p:txBody>
          <a:bodyPr wrap="square" lIns="0" rIns="0" tIns="0" bIns="0">
            <a:spAutoFit/>
          </a:bodyPr>
          <a:lstStyle/>
          <a:p>
            <a:pPr algn="l">
              <a:lnSpc>
                <a:spcPct val="102000"/>
              </a:lnSpc>
              <a:spcAft>
                <a:spcPts val="300"/>
              </a:spcAft>
              <a:defRPr sz="1600" b="0">
                <a:solidFill>
                  <a:srgbClr val="143543"/>
                </a:solidFill>
                <a:latin typeface="DejaVu Sans"/>
              </a:defRPr>
            </a:pPr>
            <a:r>
              <a:t>Agua · Canadá</a:t>
            </a:r>
          </a:p>
        </p:txBody>
      </p:sp>
      <p:sp>
        <p:nvSpPr>
          <p:cNvPr id="41" name="Oval 40"/>
          <p:cNvSpPr/>
          <p:nvPr/>
        </p:nvSpPr>
        <p:spPr>
          <a:xfrm>
            <a:off x="4636008"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965192"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294376"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623560"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52744"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281928"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611112"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940296" y="4343400"/>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636008"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965192"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294376"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623560"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952744"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281928"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611112"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940296" y="4590288"/>
            <a:ext cx="128016" cy="128016"/>
          </a:xfrm>
          <a:prstGeom prst="ellipse">
            <a:avLst/>
          </a:prstGeom>
          <a:solidFill>
            <a:srgbClr val="E97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147304" y="2734056"/>
            <a:ext cx="3538728" cy="2532888"/>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385048" y="2944368"/>
            <a:ext cx="1874519" cy="502920"/>
          </a:xfrm>
          <a:prstGeom prst="rect">
            <a:avLst/>
          </a:prstGeom>
          <a:noFill/>
        </p:spPr>
        <p:txBody>
          <a:bodyPr wrap="square" lIns="0" rIns="0" tIns="0" bIns="0">
            <a:spAutoFit/>
          </a:bodyPr>
          <a:lstStyle/>
          <a:p>
            <a:pPr algn="l">
              <a:lnSpc>
                <a:spcPct val="102000"/>
              </a:lnSpc>
              <a:spcAft>
                <a:spcPts val="300"/>
              </a:spcAft>
              <a:defRPr sz="2400" b="1">
                <a:solidFill>
                  <a:srgbClr val="FFFFFF"/>
                </a:solidFill>
                <a:latin typeface="DejaVu Sans"/>
              </a:defRPr>
            </a:pPr>
            <a:r>
              <a:t>CASE</a:t>
            </a:r>
          </a:p>
        </p:txBody>
      </p:sp>
      <p:sp>
        <p:nvSpPr>
          <p:cNvPr id="59" name="TextBox 58"/>
          <p:cNvSpPr txBox="1"/>
          <p:nvPr/>
        </p:nvSpPr>
        <p:spPr>
          <a:xfrm>
            <a:off x="10570464" y="2871216"/>
            <a:ext cx="859536" cy="640080"/>
          </a:xfrm>
          <a:prstGeom prst="rect">
            <a:avLst/>
          </a:prstGeom>
          <a:noFill/>
        </p:spPr>
        <p:txBody>
          <a:bodyPr wrap="square" lIns="0" rIns="0" tIns="0" bIns="0">
            <a:spAutoFit/>
          </a:bodyPr>
          <a:lstStyle/>
          <a:p>
            <a:pPr algn="l">
              <a:lnSpc>
                <a:spcPct val="102000"/>
              </a:lnSpc>
              <a:spcAft>
                <a:spcPts val="300"/>
              </a:spcAft>
              <a:defRPr sz="4100" b="1">
                <a:solidFill>
                  <a:srgbClr val="FFFFFF"/>
                </a:solidFill>
                <a:latin typeface="DejaVu Sans"/>
              </a:defRPr>
            </a:pPr>
            <a:r>
              <a:t>14</a:t>
            </a:r>
          </a:p>
        </p:txBody>
      </p:sp>
      <p:sp>
        <p:nvSpPr>
          <p:cNvPr id="60" name="TextBox 59"/>
          <p:cNvSpPr txBox="1"/>
          <p:nvPr/>
        </p:nvSpPr>
        <p:spPr>
          <a:xfrm>
            <a:off x="8385048" y="3703320"/>
            <a:ext cx="3035808" cy="365760"/>
          </a:xfrm>
          <a:prstGeom prst="rect">
            <a:avLst/>
          </a:prstGeom>
          <a:noFill/>
        </p:spPr>
        <p:txBody>
          <a:bodyPr wrap="square" lIns="0" rIns="0" tIns="0" bIns="0">
            <a:spAutoFit/>
          </a:bodyPr>
          <a:lstStyle/>
          <a:p>
            <a:pPr algn="l">
              <a:lnSpc>
                <a:spcPct val="102000"/>
              </a:lnSpc>
              <a:spcAft>
                <a:spcPts val="300"/>
              </a:spcAft>
              <a:defRPr sz="1600" b="0">
                <a:solidFill>
                  <a:srgbClr val="FFFFFF"/>
                </a:solidFill>
                <a:latin typeface="DejaVu Sans"/>
              </a:defRPr>
            </a:pPr>
            <a:r>
              <a:t>Sedimento · Canadá</a:t>
            </a:r>
          </a:p>
        </p:txBody>
      </p:sp>
      <p:sp>
        <p:nvSpPr>
          <p:cNvPr id="61" name="Oval 60"/>
          <p:cNvSpPr/>
          <p:nvPr/>
        </p:nvSpPr>
        <p:spPr>
          <a:xfrm>
            <a:off x="8412480"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741663"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070848"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400032"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729215"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058400"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387584"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716767" y="4343400"/>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412480" y="4590288"/>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741663" y="4590288"/>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070848" y="4590288"/>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400032" y="4590288"/>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729215" y="4590288"/>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058400" y="4590288"/>
            <a:ext cx="128016" cy="128016"/>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594360" y="5486400"/>
            <a:ext cx="11082528" cy="493776"/>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86384" y="5596128"/>
            <a:ext cx="10744200" cy="274320"/>
          </a:xfrm>
          <a:prstGeom prst="rect">
            <a:avLst/>
          </a:prstGeom>
          <a:noFill/>
        </p:spPr>
        <p:txBody>
          <a:bodyPr wrap="square" lIns="0" rIns="0" tIns="0" bIns="0">
            <a:spAutoFit/>
          </a:bodyPr>
          <a:lstStyle/>
          <a:p>
            <a:pPr algn="l">
              <a:lnSpc>
                <a:spcPct val="102000"/>
              </a:lnSpc>
              <a:spcAft>
                <a:spcPts val="300"/>
              </a:spcAft>
              <a:defRPr sz="1700" b="1">
                <a:solidFill>
                  <a:srgbClr val="FFFFFF"/>
                </a:solidFill>
                <a:latin typeface="DejaVu Sans"/>
              </a:defRPr>
            </a:pPr>
            <a:r>
              <a:t>54 muestras     ·     Chugchilán ↔ Tataskweyak Cree Nation</a:t>
            </a:r>
          </a:p>
        </p:txBody>
      </p:sp>
      <p:sp>
        <p:nvSpPr>
          <p:cNvPr id="77" name="TextBox 76"/>
          <p:cNvSpPr txBox="1"/>
          <p:nvPr/>
        </p:nvSpPr>
        <p:spPr>
          <a:xfrm>
            <a:off x="640080" y="6108192"/>
            <a:ext cx="10789920" cy="210312"/>
          </a:xfrm>
          <a:prstGeom prst="rect">
            <a:avLst/>
          </a:prstGeom>
          <a:noFill/>
        </p:spPr>
        <p:txBody>
          <a:bodyPr wrap="square" lIns="0" rIns="0" tIns="0" bIns="0">
            <a:spAutoFit/>
          </a:bodyPr>
          <a:lstStyle/>
          <a:p>
            <a:pPr algn="l">
              <a:lnSpc>
                <a:spcPct val="102000"/>
              </a:lnSpc>
              <a:spcAft>
                <a:spcPts val="300"/>
              </a:spcAft>
              <a:defRPr sz="1000" b="0">
                <a:solidFill>
                  <a:srgbClr val="5B7278"/>
                </a:solidFill>
                <a:latin typeface="DejaVu Sans"/>
              </a:defRPr>
            </a:pPr>
            <a:r>
              <a:t>Diseño no completamente cruzado: no se incluye sedimento de Ecuador.</a:t>
            </a:r>
          </a:p>
        </p:txBody>
      </p:sp>
    </p:spTree>
  </p:cSld>
  <p:clrMapOvr>
    <a:masterClrMapping/>
  </p:clrMapOvr>
  <p:transition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CÓMO EXPLICARÍA EL MÉTODO</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Del agua</a:t>
            </a:r>
          </a:p>
          <a:p>
            <a:pPr algn="l">
              <a:lnSpc>
                <a:spcPct val="102000"/>
              </a:lnSpc>
              <a:spcAft>
                <a:spcPts val="300"/>
              </a:spcAft>
              <a:defRPr sz="4200" b="1">
                <a:solidFill>
                  <a:srgbClr val="143543"/>
                </a:solidFill>
                <a:latin typeface="DejaVu Sans"/>
              </a:defRPr>
            </a:pPr>
            <a:r>
              <a:t>al ADN recuperado</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Una muestra ambiental contiene una mezcla de material genético.</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 10. Filtración descrita para las muestras de agua.</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13</a:t>
            </a:r>
          </a:p>
        </p:txBody>
      </p:sp>
      <p:sp>
        <p:nvSpPr>
          <p:cNvPr id="7" name="Rectangle 6"/>
          <p:cNvSpPr/>
          <p:nvPr/>
        </p:nvSpPr>
        <p:spPr>
          <a:xfrm>
            <a:off x="0" y="6821424"/>
            <a:ext cx="6891113"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pic>
        <p:nvPicPr>
          <p:cNvPr id="10" name="Picture 9" descr="animacion_prep.gif"/>
          <p:cNvPicPr>
            <a:picLocks noChangeAspect="1"/>
          </p:cNvPicPr>
          <p:nvPr/>
        </p:nvPicPr>
        <p:blipFill>
          <a:blip r:embed="rId4"/>
          <a:stretch>
            <a:fillRect/>
          </a:stretch>
        </p:blipFill>
        <p:spPr>
          <a:xfrm>
            <a:off x="612648" y="2770632"/>
            <a:ext cx="10972800" cy="2743200"/>
          </a:xfrm>
          <a:prstGeom prst="rect">
            <a:avLst/>
          </a:prstGeom>
        </p:spPr>
      </p:pic>
      <p:sp>
        <p:nvSpPr>
          <p:cNvPr id="11" name="TextBox 10"/>
          <p:cNvSpPr txBox="1"/>
          <p:nvPr/>
        </p:nvSpPr>
        <p:spPr>
          <a:xfrm>
            <a:off x="612648" y="5568695"/>
            <a:ext cx="10972800" cy="228600"/>
          </a:xfrm>
          <a:prstGeom prst="rect">
            <a:avLst/>
          </a:prstGeom>
          <a:noFill/>
        </p:spPr>
        <p:txBody>
          <a:bodyPr wrap="square" lIns="0" rIns="0" tIns="0" bIns="0">
            <a:spAutoFit/>
          </a:bodyPr>
          <a:lstStyle/>
          <a:p>
            <a:pPr algn="l">
              <a:lnSpc>
                <a:spcPct val="102000"/>
              </a:lnSpc>
              <a:spcAft>
                <a:spcPts val="300"/>
              </a:spcAft>
              <a:defRPr sz="900" b="0">
                <a:solidFill>
                  <a:srgbClr val="5B7278"/>
                </a:solidFill>
                <a:latin typeface="DejaVu Sans"/>
              </a:defRPr>
            </a:pPr>
            <a:r>
              <a:t>Esquema didáctico · no reproduce observaciones del estudio</a:t>
            </a:r>
          </a:p>
        </p:txBody>
      </p:sp>
      <p:sp>
        <p:nvSpPr>
          <p:cNvPr id="12" name="TextBox 11"/>
          <p:cNvSpPr txBox="1"/>
          <p:nvPr/>
        </p:nvSpPr>
        <p:spPr>
          <a:xfrm>
            <a:off x="786384" y="5879592"/>
            <a:ext cx="3291840" cy="320040"/>
          </a:xfrm>
          <a:prstGeom prst="rect">
            <a:avLst/>
          </a:prstGeom>
          <a:noFill/>
        </p:spPr>
        <p:txBody>
          <a:bodyPr wrap="square" lIns="0" rIns="0" tIns="0" bIns="0">
            <a:spAutoFit/>
          </a:bodyPr>
          <a:lstStyle/>
          <a:p>
            <a:pPr algn="ctr">
              <a:lnSpc>
                <a:spcPct val="102000"/>
              </a:lnSpc>
              <a:spcAft>
                <a:spcPts val="300"/>
              </a:spcAft>
              <a:defRPr sz="1700" b="1">
                <a:solidFill>
                  <a:srgbClr val="143543"/>
                </a:solidFill>
                <a:latin typeface="DejaVu Sans"/>
              </a:defRPr>
            </a:pPr>
            <a:r>
              <a:t>≈500 mL de agua</a:t>
            </a:r>
          </a:p>
        </p:txBody>
      </p:sp>
      <p:sp>
        <p:nvSpPr>
          <p:cNvPr id="13" name="TextBox 12"/>
          <p:cNvSpPr txBox="1"/>
          <p:nvPr/>
        </p:nvSpPr>
        <p:spPr>
          <a:xfrm>
            <a:off x="4507992" y="5879592"/>
            <a:ext cx="3291840" cy="320040"/>
          </a:xfrm>
          <a:prstGeom prst="rect">
            <a:avLst/>
          </a:prstGeom>
          <a:noFill/>
        </p:spPr>
        <p:txBody>
          <a:bodyPr wrap="square" lIns="0" rIns="0" tIns="0" bIns="0">
            <a:spAutoFit/>
          </a:bodyPr>
          <a:lstStyle/>
          <a:p>
            <a:pPr algn="ctr">
              <a:lnSpc>
                <a:spcPct val="102000"/>
              </a:lnSpc>
              <a:spcAft>
                <a:spcPts val="300"/>
              </a:spcAft>
              <a:defRPr sz="1700" b="1">
                <a:solidFill>
                  <a:srgbClr val="143543"/>
                </a:solidFill>
                <a:latin typeface="DejaVu Sans"/>
              </a:defRPr>
            </a:pPr>
            <a:r>
              <a:t>PES · 0,22 µm</a:t>
            </a:r>
          </a:p>
        </p:txBody>
      </p:sp>
      <p:sp>
        <p:nvSpPr>
          <p:cNvPr id="14" name="TextBox 13"/>
          <p:cNvSpPr txBox="1"/>
          <p:nvPr/>
        </p:nvSpPr>
        <p:spPr>
          <a:xfrm>
            <a:off x="8229600" y="5879592"/>
            <a:ext cx="3291840" cy="320040"/>
          </a:xfrm>
          <a:prstGeom prst="rect">
            <a:avLst/>
          </a:prstGeom>
          <a:noFill/>
        </p:spPr>
        <p:txBody>
          <a:bodyPr wrap="square" lIns="0" rIns="0" tIns="0" bIns="0">
            <a:spAutoFit/>
          </a:bodyPr>
          <a:lstStyle/>
          <a:p>
            <a:pPr algn="ctr">
              <a:lnSpc>
                <a:spcPct val="102000"/>
              </a:lnSpc>
              <a:spcAft>
                <a:spcPts val="300"/>
              </a:spcAft>
              <a:defRPr sz="1700" b="1">
                <a:solidFill>
                  <a:srgbClr val="143543"/>
                </a:solidFill>
                <a:latin typeface="DejaVu Sans"/>
              </a:defRPr>
            </a:pPr>
            <a:r>
              <a:t>Extracción + Qubit</a:t>
            </a:r>
          </a:p>
        </p:txBody>
      </p:sp>
    </p:spTree>
  </p:cSld>
  <p:clrMapOvr>
    <a:masterClrMapping/>
  </p:clrMapOvr>
  <p:transition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CÓMO EXPLICARÍA LA MEDICIÓN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dPCR: contar</a:t>
            </a:r>
          </a:p>
          <a:p>
            <a:pPr algn="l">
              <a:lnSpc>
                <a:spcPct val="102000"/>
              </a:lnSpc>
              <a:spcAft>
                <a:spcPts val="300"/>
              </a:spcAft>
              <a:defRPr sz="4200" b="1">
                <a:solidFill>
                  <a:srgbClr val="143543"/>
                </a:solidFill>
                <a:latin typeface="DejaVu Sans"/>
              </a:defRPr>
            </a:pPr>
            <a:r>
              <a:t>señales de genes diana</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diaps. 10 y 12. Esquema de particiones ilustrativo.</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14</a:t>
            </a:r>
          </a:p>
        </p:txBody>
      </p:sp>
      <p:sp>
        <p:nvSpPr>
          <p:cNvPr id="6" name="Rectangle 5"/>
          <p:cNvSpPr/>
          <p:nvPr/>
        </p:nvSpPr>
        <p:spPr>
          <a:xfrm>
            <a:off x="0" y="6821424"/>
            <a:ext cx="7421198"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pic>
        <p:nvPicPr>
          <p:cNvPr id="9" name="Picture 8" descr="animacion_dpcr.gif"/>
          <p:cNvPicPr>
            <a:picLocks noChangeAspect="1"/>
          </p:cNvPicPr>
          <p:nvPr/>
        </p:nvPicPr>
        <p:blipFill>
          <a:blip r:embed="rId4"/>
          <a:stretch>
            <a:fillRect/>
          </a:stretch>
        </p:blipFill>
        <p:spPr>
          <a:xfrm>
            <a:off x="594360" y="2697480"/>
            <a:ext cx="8531352" cy="2971800"/>
          </a:xfrm>
          <a:prstGeom prst="rect">
            <a:avLst/>
          </a:prstGeom>
        </p:spPr>
      </p:pic>
      <p:sp>
        <p:nvSpPr>
          <p:cNvPr id="10" name="TextBox 9"/>
          <p:cNvSpPr txBox="1"/>
          <p:nvPr/>
        </p:nvSpPr>
        <p:spPr>
          <a:xfrm>
            <a:off x="594360" y="5724144"/>
            <a:ext cx="8531352" cy="228600"/>
          </a:xfrm>
          <a:prstGeom prst="rect">
            <a:avLst/>
          </a:prstGeom>
          <a:noFill/>
        </p:spPr>
        <p:txBody>
          <a:bodyPr wrap="square" lIns="0" rIns="0" tIns="0" bIns="0">
            <a:spAutoFit/>
          </a:bodyPr>
          <a:lstStyle/>
          <a:p>
            <a:pPr algn="l">
              <a:lnSpc>
                <a:spcPct val="102000"/>
              </a:lnSpc>
              <a:spcAft>
                <a:spcPts val="300"/>
              </a:spcAft>
              <a:defRPr sz="900" b="0">
                <a:solidFill>
                  <a:srgbClr val="5B7278"/>
                </a:solidFill>
                <a:latin typeface="DejaVu Sans"/>
              </a:defRPr>
            </a:pPr>
            <a:r>
              <a:t>Esquema didáctico · no reproduce observaciones del estudio</a:t>
            </a:r>
          </a:p>
        </p:txBody>
      </p:sp>
      <p:sp>
        <p:nvSpPr>
          <p:cNvPr id="11" name="Rounded Rectangle 10"/>
          <p:cNvSpPr/>
          <p:nvPr/>
        </p:nvSpPr>
        <p:spPr>
          <a:xfrm>
            <a:off x="9326880" y="2852928"/>
            <a:ext cx="2240280" cy="94183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0616" y="2999232"/>
            <a:ext cx="1920240" cy="320040"/>
          </a:xfrm>
          <a:prstGeom prst="rect">
            <a:avLst/>
          </a:prstGeom>
          <a:noFill/>
        </p:spPr>
        <p:txBody>
          <a:bodyPr wrap="square" lIns="0" rIns="0" tIns="0" bIns="0">
            <a:spAutoFit/>
          </a:bodyPr>
          <a:lstStyle/>
          <a:p>
            <a:pPr algn="l">
              <a:lnSpc>
                <a:spcPct val="102000"/>
              </a:lnSpc>
              <a:spcAft>
                <a:spcPts val="300"/>
              </a:spcAft>
              <a:defRPr sz="2000" b="1">
                <a:solidFill>
                  <a:srgbClr val="FFFFFF"/>
                </a:solidFill>
                <a:latin typeface="DejaVu Sans"/>
              </a:defRPr>
            </a:pPr>
            <a:r>
              <a:t>16S rRNA</a:t>
            </a:r>
          </a:p>
        </p:txBody>
      </p:sp>
      <p:sp>
        <p:nvSpPr>
          <p:cNvPr id="13" name="TextBox 12"/>
          <p:cNvSpPr txBox="1"/>
          <p:nvPr/>
        </p:nvSpPr>
        <p:spPr>
          <a:xfrm>
            <a:off x="9500616" y="3438144"/>
            <a:ext cx="1920240" cy="274320"/>
          </a:xfrm>
          <a:prstGeom prst="rect">
            <a:avLst/>
          </a:prstGeom>
          <a:noFill/>
        </p:spPr>
        <p:txBody>
          <a:bodyPr wrap="square" lIns="0" rIns="0" tIns="0" bIns="0">
            <a:spAutoFit/>
          </a:bodyPr>
          <a:lstStyle/>
          <a:p>
            <a:pPr algn="l">
              <a:lnSpc>
                <a:spcPct val="102000"/>
              </a:lnSpc>
              <a:spcAft>
                <a:spcPts val="300"/>
              </a:spcAft>
              <a:defRPr sz="1100" b="0">
                <a:solidFill>
                  <a:srgbClr val="FFFFFF"/>
                </a:solidFill>
                <a:latin typeface="DejaVu Sans"/>
              </a:defRPr>
            </a:pPr>
            <a:r>
              <a:t>Blanco bacteriano</a:t>
            </a:r>
          </a:p>
        </p:txBody>
      </p:sp>
      <p:sp>
        <p:nvSpPr>
          <p:cNvPr id="14" name="Rounded Rectangle 13"/>
          <p:cNvSpPr/>
          <p:nvPr/>
        </p:nvSpPr>
        <p:spPr>
          <a:xfrm>
            <a:off x="9326880" y="3968496"/>
            <a:ext cx="2240280" cy="94183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0616" y="4114800"/>
            <a:ext cx="1920240" cy="320040"/>
          </a:xfrm>
          <a:prstGeom prst="rect">
            <a:avLst/>
          </a:prstGeom>
          <a:noFill/>
        </p:spPr>
        <p:txBody>
          <a:bodyPr wrap="square" lIns="0" rIns="0" tIns="0" bIns="0">
            <a:spAutoFit/>
          </a:bodyPr>
          <a:lstStyle/>
          <a:p>
            <a:pPr algn="l">
              <a:lnSpc>
                <a:spcPct val="102000"/>
              </a:lnSpc>
              <a:spcAft>
                <a:spcPts val="300"/>
              </a:spcAft>
              <a:defRPr sz="2000" b="1">
                <a:solidFill>
                  <a:srgbClr val="FFFFFF"/>
                </a:solidFill>
                <a:latin typeface="DejaVu Sans"/>
              </a:defRPr>
            </a:pPr>
            <a:r>
              <a:t>uidA</a:t>
            </a:r>
          </a:p>
        </p:txBody>
      </p:sp>
      <p:sp>
        <p:nvSpPr>
          <p:cNvPr id="16" name="TextBox 15"/>
          <p:cNvSpPr txBox="1"/>
          <p:nvPr/>
        </p:nvSpPr>
        <p:spPr>
          <a:xfrm>
            <a:off x="9500616" y="4553712"/>
            <a:ext cx="1920240" cy="274320"/>
          </a:xfrm>
          <a:prstGeom prst="rect">
            <a:avLst/>
          </a:prstGeom>
          <a:noFill/>
        </p:spPr>
        <p:txBody>
          <a:bodyPr wrap="square" lIns="0" rIns="0" tIns="0" bIns="0">
            <a:spAutoFit/>
          </a:bodyPr>
          <a:lstStyle/>
          <a:p>
            <a:pPr algn="l">
              <a:lnSpc>
                <a:spcPct val="102000"/>
              </a:lnSpc>
              <a:spcAft>
                <a:spcPts val="300"/>
              </a:spcAft>
              <a:defRPr sz="1100" b="0">
                <a:solidFill>
                  <a:srgbClr val="FFFFFF"/>
                </a:solidFill>
                <a:latin typeface="DejaVu Sans"/>
              </a:defRPr>
            </a:pPr>
            <a:r>
              <a:t>Blanco dirigido a E. coli</a:t>
            </a:r>
          </a:p>
        </p:txBody>
      </p:sp>
      <p:sp>
        <p:nvSpPr>
          <p:cNvPr id="17" name="TextBox 16"/>
          <p:cNvSpPr txBox="1"/>
          <p:nvPr/>
        </p:nvSpPr>
        <p:spPr>
          <a:xfrm>
            <a:off x="9372600" y="5376672"/>
            <a:ext cx="2194560" cy="685800"/>
          </a:xfrm>
          <a:prstGeom prst="rect">
            <a:avLst/>
          </a:prstGeom>
          <a:noFill/>
        </p:spPr>
        <p:txBody>
          <a:bodyPr wrap="square" lIns="0" rIns="0" tIns="0" bIns="0">
            <a:spAutoFit/>
          </a:bodyPr>
          <a:lstStyle/>
          <a:p>
            <a:pPr algn="l">
              <a:lnSpc>
                <a:spcPct val="102000"/>
              </a:lnSpc>
              <a:spcAft>
                <a:spcPts val="300"/>
              </a:spcAft>
              <a:defRPr sz="1400" b="0">
                <a:solidFill>
                  <a:srgbClr val="143543"/>
                </a:solidFill>
                <a:latin typeface="DejaVu Sans"/>
              </a:defRPr>
            </a:pPr>
            <a:r>
              <a:t>Copias génicas ≠</a:t>
            </a:r>
          </a:p>
          <a:p>
            <a:pPr algn="l">
              <a:lnSpc>
                <a:spcPct val="102000"/>
              </a:lnSpc>
              <a:spcAft>
                <a:spcPts val="300"/>
              </a:spcAft>
              <a:defRPr sz="1400" b="0">
                <a:solidFill>
                  <a:srgbClr val="143543"/>
                </a:solidFill>
                <a:latin typeface="DejaVu Sans"/>
              </a:defRPr>
            </a:pPr>
            <a:r>
              <a:t>células viables</a:t>
            </a:r>
          </a:p>
        </p:txBody>
      </p:sp>
    </p:spTree>
  </p:cSld>
  <p:clrMapOvr>
    <a:masterClrMapping/>
  </p:clrMapOvr>
  <p:transition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CÓMO CONECTARÍA TÉCNICA Y DATO</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Muchas lecturas.</a:t>
            </a:r>
          </a:p>
          <a:p>
            <a:pPr algn="l">
              <a:lnSpc>
                <a:spcPct val="102000"/>
              </a:lnSpc>
              <a:spcAft>
                <a:spcPts val="300"/>
              </a:spcAft>
              <a:defRPr sz="4200" b="1">
                <a:solidFill>
                  <a:srgbClr val="143543"/>
                </a:solidFill>
                <a:latin typeface="DejaVu Sans"/>
              </a:defRPr>
            </a:pPr>
            <a:r>
              <a:t>Una comunidad por reconstruir.</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diaps. 9–11. Kit Native Barcoding 96 V14.</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15</a:t>
            </a:r>
          </a:p>
        </p:txBody>
      </p:sp>
      <p:sp>
        <p:nvSpPr>
          <p:cNvPr id="6" name="Rectangle 5"/>
          <p:cNvSpPr/>
          <p:nvPr/>
        </p:nvSpPr>
        <p:spPr>
          <a:xfrm>
            <a:off x="0" y="6821424"/>
            <a:ext cx="7951284"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pic>
        <p:nvPicPr>
          <p:cNvPr id="9" name="Picture 8" descr="animacion_sequence.gif"/>
          <p:cNvPicPr>
            <a:picLocks noChangeAspect="1"/>
          </p:cNvPicPr>
          <p:nvPr/>
        </p:nvPicPr>
        <p:blipFill>
          <a:blip r:embed="rId4"/>
          <a:stretch>
            <a:fillRect/>
          </a:stretch>
        </p:blipFill>
        <p:spPr>
          <a:xfrm>
            <a:off x="594360" y="2697480"/>
            <a:ext cx="10972800" cy="2880360"/>
          </a:xfrm>
          <a:prstGeom prst="rect">
            <a:avLst/>
          </a:prstGeom>
        </p:spPr>
      </p:pic>
      <p:sp>
        <p:nvSpPr>
          <p:cNvPr id="10" name="TextBox 9"/>
          <p:cNvSpPr txBox="1"/>
          <p:nvPr/>
        </p:nvSpPr>
        <p:spPr>
          <a:xfrm>
            <a:off x="594360" y="5632703"/>
            <a:ext cx="10972800" cy="228600"/>
          </a:xfrm>
          <a:prstGeom prst="rect">
            <a:avLst/>
          </a:prstGeom>
          <a:noFill/>
        </p:spPr>
        <p:txBody>
          <a:bodyPr wrap="square" lIns="0" rIns="0" tIns="0" bIns="0">
            <a:spAutoFit/>
          </a:bodyPr>
          <a:lstStyle/>
          <a:p>
            <a:pPr algn="l">
              <a:lnSpc>
                <a:spcPct val="102000"/>
              </a:lnSpc>
              <a:spcAft>
                <a:spcPts val="300"/>
              </a:spcAft>
              <a:defRPr sz="900" b="0">
                <a:solidFill>
                  <a:srgbClr val="5B7278"/>
                </a:solidFill>
                <a:latin typeface="DejaVu Sans"/>
              </a:defRPr>
            </a:pPr>
            <a:r>
              <a:t>Esquema didáctico · no reproduce observaciones del estudio</a:t>
            </a:r>
          </a:p>
        </p:txBody>
      </p:sp>
      <p:sp>
        <p:nvSpPr>
          <p:cNvPr id="11" name="TextBox 10"/>
          <p:cNvSpPr txBox="1"/>
          <p:nvPr/>
        </p:nvSpPr>
        <p:spPr>
          <a:xfrm>
            <a:off x="685800" y="5916168"/>
            <a:ext cx="3611880" cy="320040"/>
          </a:xfrm>
          <a:prstGeom prst="rect">
            <a:avLst/>
          </a:prstGeom>
          <a:noFill/>
        </p:spPr>
        <p:txBody>
          <a:bodyPr wrap="square" lIns="0" rIns="0" tIns="0" bIns="0">
            <a:spAutoFit/>
          </a:bodyPr>
          <a:lstStyle/>
          <a:p>
            <a:pPr algn="ctr">
              <a:lnSpc>
                <a:spcPct val="102000"/>
              </a:lnSpc>
              <a:spcAft>
                <a:spcPts val="300"/>
              </a:spcAft>
              <a:defRPr sz="1600" b="1">
                <a:solidFill>
                  <a:srgbClr val="143543"/>
                </a:solidFill>
                <a:latin typeface="DejaVu Sans"/>
              </a:defRPr>
            </a:pPr>
            <a:r>
              <a:t>Barcodes por muestra</a:t>
            </a:r>
          </a:p>
        </p:txBody>
      </p:sp>
      <p:sp>
        <p:nvSpPr>
          <p:cNvPr id="12" name="TextBox 11"/>
          <p:cNvSpPr txBox="1"/>
          <p:nvPr/>
        </p:nvSpPr>
        <p:spPr>
          <a:xfrm>
            <a:off x="4407408" y="5916168"/>
            <a:ext cx="3611880" cy="320040"/>
          </a:xfrm>
          <a:prstGeom prst="rect">
            <a:avLst/>
          </a:prstGeom>
          <a:noFill/>
        </p:spPr>
        <p:txBody>
          <a:bodyPr wrap="square" lIns="0" rIns="0" tIns="0" bIns="0">
            <a:spAutoFit/>
          </a:bodyPr>
          <a:lstStyle/>
          <a:p>
            <a:pPr algn="ctr">
              <a:lnSpc>
                <a:spcPct val="102000"/>
              </a:lnSpc>
              <a:spcAft>
                <a:spcPts val="300"/>
              </a:spcAft>
              <a:defRPr sz="1600" b="1">
                <a:solidFill>
                  <a:srgbClr val="143543"/>
                </a:solidFill>
                <a:latin typeface="DejaVu Sans"/>
              </a:defRPr>
            </a:pPr>
            <a:r>
              <a:t>PromethION 2 Solo</a:t>
            </a:r>
          </a:p>
        </p:txBody>
      </p:sp>
      <p:sp>
        <p:nvSpPr>
          <p:cNvPr id="13" name="TextBox 12"/>
          <p:cNvSpPr txBox="1"/>
          <p:nvPr/>
        </p:nvSpPr>
        <p:spPr>
          <a:xfrm>
            <a:off x="8129016" y="5916168"/>
            <a:ext cx="3611880" cy="320040"/>
          </a:xfrm>
          <a:prstGeom prst="rect">
            <a:avLst/>
          </a:prstGeom>
          <a:noFill/>
        </p:spPr>
        <p:txBody>
          <a:bodyPr wrap="square" lIns="0" rIns="0" tIns="0" bIns="0">
            <a:spAutoFit/>
          </a:bodyPr>
          <a:lstStyle/>
          <a:p>
            <a:pPr algn="ctr">
              <a:lnSpc>
                <a:spcPct val="102000"/>
              </a:lnSpc>
              <a:spcAft>
                <a:spcPts val="300"/>
              </a:spcAft>
              <a:defRPr sz="1600" b="1">
                <a:solidFill>
                  <a:srgbClr val="143543"/>
                </a:solidFill>
                <a:latin typeface="DejaVu Sans"/>
              </a:defRPr>
            </a:pPr>
            <a:r>
              <a:t>Curación → taxonomía</a:t>
            </a:r>
          </a:p>
        </p:txBody>
      </p:sp>
    </p:spTree>
  </p:cSld>
  <p:clrMapOvr>
    <a:masterClrMapping/>
  </p:clrMapOvr>
  <p:transition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RESULTADOS QUE INVITAN A RAZONAR</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Diversidad: comparar</a:t>
            </a:r>
          </a:p>
          <a:p>
            <a:pPr algn="l">
              <a:lnSpc>
                <a:spcPct val="102000"/>
              </a:lnSpc>
              <a:spcAft>
                <a:spcPts val="300"/>
              </a:spcAft>
              <a:defRPr sz="4200" b="1">
                <a:solidFill>
                  <a:srgbClr val="143543"/>
                </a:solidFill>
                <a:latin typeface="DejaVu Sans"/>
              </a:defRPr>
            </a:pPr>
            <a:r>
              <a:t>sin confundir con riesgo</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Medias reportadas en la presentación original.</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 14. Significado de ± no especificado en la fuente.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16</a:t>
            </a:r>
          </a:p>
        </p:txBody>
      </p:sp>
      <p:sp>
        <p:nvSpPr>
          <p:cNvPr id="7" name="Rectangle 6"/>
          <p:cNvSpPr/>
          <p:nvPr/>
        </p:nvSpPr>
        <p:spPr>
          <a:xfrm>
            <a:off x="0" y="6821424"/>
            <a:ext cx="8481370"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a:hlinkClick action="ppaction://hlinksldjump" r:id="rId3"/>
          </p:cNvPr>
          <p:cNvSpPr/>
          <p:nvPr/>
        </p:nvSpPr>
        <p:spPr>
          <a:xfrm>
            <a:off x="566928" y="2633472"/>
            <a:ext cx="1234440" cy="329184"/>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3"/>
          </p:cNvPr>
          <p:cNvSpPr txBox="1"/>
          <p:nvPr/>
        </p:nvSpPr>
        <p:spPr>
          <a:xfrm>
            <a:off x="6858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FFFFFF"/>
                </a:solidFill>
                <a:latin typeface="DejaVu Sans"/>
              </a:defRPr>
            </a:pPr>
            <a:r>
              <a:t>Shannon</a:t>
            </a:r>
          </a:p>
        </p:txBody>
      </p:sp>
      <p:sp>
        <p:nvSpPr>
          <p:cNvPr id="12" name="Rounded Rectangle 11">
            <a:hlinkClick action="ppaction://hlinksldjump" r:id="rId4"/>
          </p:cNvPr>
          <p:cNvSpPr/>
          <p:nvPr/>
        </p:nvSpPr>
        <p:spPr>
          <a:xfrm>
            <a:off x="1938528" y="2633472"/>
            <a:ext cx="1234440"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4"/>
          </p:cNvPr>
          <p:cNvSpPr txBox="1"/>
          <p:nvPr/>
        </p:nvSpPr>
        <p:spPr>
          <a:xfrm>
            <a:off x="20574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143543"/>
                </a:solidFill>
                <a:latin typeface="DejaVu Sans"/>
              </a:defRPr>
            </a:pPr>
            <a:r>
              <a:t>Simpson</a:t>
            </a:r>
          </a:p>
        </p:txBody>
      </p:sp>
      <p:sp>
        <p:nvSpPr>
          <p:cNvPr id="14" name="Rounded Rectangle 13">
            <a:hlinkClick action="ppaction://hlinksldjump" r:id="rId5"/>
          </p:cNvPr>
          <p:cNvSpPr/>
          <p:nvPr/>
        </p:nvSpPr>
        <p:spPr>
          <a:xfrm>
            <a:off x="3310128" y="2633472"/>
            <a:ext cx="1234440"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5"/>
          </p:cNvPr>
          <p:cNvSpPr txBox="1"/>
          <p:nvPr/>
        </p:nvSpPr>
        <p:spPr>
          <a:xfrm>
            <a:off x="34290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143543"/>
                </a:solidFill>
                <a:latin typeface="DejaVu Sans"/>
              </a:defRPr>
            </a:pPr>
            <a:r>
              <a:t>Riqueza</a:t>
            </a:r>
          </a:p>
        </p:txBody>
      </p:sp>
      <p:graphicFrame>
        <p:nvGraphicFramePr>
          <p:cNvPr id="16" name="Chart 15"/>
          <p:cNvGraphicFramePr>
            <a:graphicFrameLocks noGrp="1"/>
          </p:cNvGraphicFramePr>
          <p:nvPr/>
        </p:nvGraphicFramePr>
        <p:xfrm>
          <a:off x="621792" y="3127248"/>
          <a:ext cx="9646920" cy="2212848"/>
        </p:xfrm>
        <a:graphic>
          <a:graphicData uri="http://schemas.openxmlformats.org/drawingml/2006/chart">
            <c:chart xmlns:c="http://schemas.openxmlformats.org/drawingml/2006/chart" r:id="rId6"/>
          </a:graphicData>
        </a:graphic>
      </p:graphicFrame>
      <p:sp>
        <p:nvSpPr>
          <p:cNvPr id="17" name="TextBox 16"/>
          <p:cNvSpPr txBox="1"/>
          <p:nvPr/>
        </p:nvSpPr>
        <p:spPr>
          <a:xfrm>
            <a:off x="10360152" y="3127248"/>
            <a:ext cx="1143000" cy="274320"/>
          </a:xfrm>
          <a:prstGeom prst="rect">
            <a:avLst/>
          </a:prstGeom>
          <a:noFill/>
        </p:spPr>
        <p:txBody>
          <a:bodyPr wrap="square" lIns="0" rIns="0" tIns="0" bIns="0">
            <a:spAutoFit/>
          </a:bodyPr>
          <a:lstStyle/>
          <a:p>
            <a:pPr algn="l">
              <a:lnSpc>
                <a:spcPct val="102000"/>
              </a:lnSpc>
              <a:spcAft>
                <a:spcPts val="300"/>
              </a:spcAft>
              <a:defRPr sz="1000" b="0">
                <a:solidFill>
                  <a:srgbClr val="5B7278"/>
                </a:solidFill>
                <a:latin typeface="DejaVu Sans"/>
              </a:defRPr>
            </a:pPr>
            <a:r>
              <a:t>± reportado</a:t>
            </a:r>
          </a:p>
        </p:txBody>
      </p:sp>
      <p:sp>
        <p:nvSpPr>
          <p:cNvPr id="18" name="TextBox 17"/>
          <p:cNvSpPr txBox="1"/>
          <p:nvPr/>
        </p:nvSpPr>
        <p:spPr>
          <a:xfrm>
            <a:off x="10497312" y="3538728"/>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0,32</a:t>
            </a:r>
          </a:p>
        </p:txBody>
      </p:sp>
      <p:sp>
        <p:nvSpPr>
          <p:cNvPr id="19" name="TextBox 18"/>
          <p:cNvSpPr txBox="1"/>
          <p:nvPr/>
        </p:nvSpPr>
        <p:spPr>
          <a:xfrm>
            <a:off x="10497312" y="4096512"/>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0,24</a:t>
            </a:r>
          </a:p>
        </p:txBody>
      </p:sp>
      <p:sp>
        <p:nvSpPr>
          <p:cNvPr id="20" name="TextBox 19"/>
          <p:cNvSpPr txBox="1"/>
          <p:nvPr/>
        </p:nvSpPr>
        <p:spPr>
          <a:xfrm>
            <a:off x="10497312" y="4654296"/>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1,07</a:t>
            </a:r>
          </a:p>
        </p:txBody>
      </p:sp>
      <p:sp>
        <p:nvSpPr>
          <p:cNvPr id="21" name="TextBox 20"/>
          <p:cNvSpPr txBox="1"/>
          <p:nvPr/>
        </p:nvSpPr>
        <p:spPr>
          <a:xfrm>
            <a:off x="658368" y="5504688"/>
            <a:ext cx="10881360" cy="320040"/>
          </a:xfrm>
          <a:prstGeom prst="rect">
            <a:avLst/>
          </a:prstGeom>
          <a:noFill/>
        </p:spPr>
        <p:txBody>
          <a:bodyPr wrap="square" lIns="0" rIns="0" tIns="0" bIns="0">
            <a:spAutoFit/>
          </a:bodyPr>
          <a:lstStyle/>
          <a:p>
            <a:pPr algn="l">
              <a:lnSpc>
                <a:spcPct val="102000"/>
              </a:lnSpc>
              <a:spcAft>
                <a:spcPts val="300"/>
              </a:spcAft>
              <a:defRPr sz="1300" b="0">
                <a:solidFill>
                  <a:srgbClr val="5B7278"/>
                </a:solidFill>
                <a:latin typeface="DejaVu Sans"/>
              </a:defRPr>
            </a:pPr>
            <a:r>
              <a:t>Combina riqueza y distribución de abundancias.</a:t>
            </a:r>
          </a:p>
        </p:txBody>
      </p:sp>
      <p:sp>
        <p:nvSpPr>
          <p:cNvPr id="22" name="Rounded Rectangle 21"/>
          <p:cNvSpPr/>
          <p:nvPr/>
        </p:nvSpPr>
        <p:spPr>
          <a:xfrm>
            <a:off x="594360" y="5879592"/>
            <a:ext cx="10972800" cy="36576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934456"/>
            <a:ext cx="10652760" cy="228600"/>
          </a:xfrm>
          <a:prstGeom prst="rect">
            <a:avLst/>
          </a:prstGeom>
          <a:noFill/>
        </p:spPr>
        <p:txBody>
          <a:bodyPr wrap="square" lIns="0" rIns="0" tIns="0" bIns="0">
            <a:spAutoFit/>
          </a:bodyPr>
          <a:lstStyle/>
          <a:p>
            <a:pPr algn="l">
              <a:lnSpc>
                <a:spcPct val="102000"/>
              </a:lnSpc>
              <a:spcAft>
                <a:spcPts val="300"/>
              </a:spcAft>
              <a:defRPr sz="1300" b="0">
                <a:solidFill>
                  <a:srgbClr val="143543"/>
                </a:solidFill>
                <a:latin typeface="DejaVu Sans"/>
              </a:defRPr>
            </a:pPr>
            <a:r>
              <a:t>La diversidad describe la comunidad; por sí sola no estima el riesgo.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ASÍ COMPROBARÍA LA COMPRENSIÓN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Mayor diversidad,</a:t>
            </a:r>
          </a:p>
          <a:p>
            <a:pPr algn="l">
              <a:lnSpc>
                <a:spcPct val="102000"/>
              </a:lnSpc>
              <a:spcAft>
                <a:spcPts val="300"/>
              </a:spcAft>
              <a:defRPr sz="4200" b="1">
                <a:solidFill>
                  <a:srgbClr val="143543"/>
                </a:solidFill>
                <a:latin typeface="DejaVu Sans"/>
              </a:defRPr>
            </a:pPr>
            <a:r>
              <a:t>¿mayor peligro?</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Separa el resultado ecológico de la conclusión sanitaria.</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diaps. 14–15 y 20; actividad de interpretación.</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17</a:t>
            </a:r>
          </a:p>
        </p:txBody>
      </p:sp>
      <p:sp>
        <p:nvSpPr>
          <p:cNvPr id="7" name="Rectangle 6"/>
          <p:cNvSpPr/>
          <p:nvPr/>
        </p:nvSpPr>
        <p:spPr>
          <a:xfrm>
            <a:off x="0" y="6821424"/>
            <a:ext cx="9011455"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76072" y="2788920"/>
            <a:ext cx="2971800" cy="3044952"/>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ardrop 10"/>
          <p:cNvSpPr/>
          <p:nvPr/>
        </p:nvSpPr>
        <p:spPr>
          <a:xfrm rot="18900000">
            <a:off x="1021842" y="3063240"/>
            <a:ext cx="672084" cy="960120"/>
          </a:xfrm>
          <a:prstGeom prst="teardrop">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31720" y="2944368"/>
            <a:ext cx="731520" cy="914400"/>
          </a:xfrm>
          <a:prstGeom prst="rect">
            <a:avLst/>
          </a:prstGeom>
          <a:noFill/>
        </p:spPr>
        <p:txBody>
          <a:bodyPr wrap="square" lIns="0" rIns="0" tIns="0" bIns="0">
            <a:spAutoFit/>
          </a:bodyPr>
          <a:lstStyle/>
          <a:p>
            <a:pPr algn="l">
              <a:lnSpc>
                <a:spcPct val="102000"/>
              </a:lnSpc>
              <a:spcAft>
                <a:spcPts val="300"/>
              </a:spcAft>
              <a:defRPr sz="7000" b="1">
                <a:solidFill>
                  <a:srgbClr val="E97C5B"/>
                </a:solidFill>
                <a:latin typeface="DejaVu Sans"/>
              </a:defRPr>
            </a:pPr>
            <a:r>
              <a:t>?</a:t>
            </a:r>
          </a:p>
        </p:txBody>
      </p:sp>
      <p:sp>
        <p:nvSpPr>
          <p:cNvPr id="13" name="TextBox 12"/>
          <p:cNvSpPr txBox="1"/>
          <p:nvPr/>
        </p:nvSpPr>
        <p:spPr>
          <a:xfrm>
            <a:off x="877824" y="4480560"/>
            <a:ext cx="2423160" cy="1005840"/>
          </a:xfrm>
          <a:prstGeom prst="rect">
            <a:avLst/>
          </a:prstGeom>
          <a:noFill/>
        </p:spPr>
        <p:txBody>
          <a:bodyPr wrap="square" lIns="0" rIns="0" tIns="0" bIns="0">
            <a:spAutoFit/>
          </a:bodyPr>
          <a:lstStyle/>
          <a:p>
            <a:pPr algn="l">
              <a:lnSpc>
                <a:spcPct val="102000"/>
              </a:lnSpc>
              <a:spcAft>
                <a:spcPts val="300"/>
              </a:spcAft>
              <a:defRPr sz="2300" b="0">
                <a:solidFill>
                  <a:srgbClr val="FFFFFF"/>
                </a:solidFill>
                <a:latin typeface="DejaVu Sans"/>
              </a:defRPr>
            </a:pPr>
            <a:r>
              <a:t>Observa.</a:t>
            </a:r>
          </a:p>
          <a:p>
            <a:pPr algn="l">
              <a:lnSpc>
                <a:spcPct val="102000"/>
              </a:lnSpc>
              <a:spcAft>
                <a:spcPts val="300"/>
              </a:spcAft>
              <a:defRPr sz="2300" b="0">
                <a:solidFill>
                  <a:srgbClr val="FFFFFF"/>
                </a:solidFill>
                <a:latin typeface="DejaVu Sans"/>
              </a:defRPr>
            </a:pPr>
            <a:r>
              <a:t>Argumenta.</a:t>
            </a:r>
          </a:p>
          <a:p>
            <a:pPr algn="l">
              <a:lnSpc>
                <a:spcPct val="102000"/>
              </a:lnSpc>
              <a:spcAft>
                <a:spcPts val="300"/>
              </a:spcAft>
              <a:defRPr sz="2300" b="0">
                <a:solidFill>
                  <a:srgbClr val="FFFFFF"/>
                </a:solidFill>
                <a:latin typeface="DejaVu Sans"/>
              </a:defRPr>
            </a:pPr>
            <a:r>
              <a:t>Contrasta.</a:t>
            </a:r>
          </a:p>
        </p:txBody>
      </p:sp>
      <p:sp>
        <p:nvSpPr>
          <p:cNvPr id="14" name="Rounded Rectangle 13">
            <a:hlinkClick action="ppaction://hlinksldjump" r:id="rId4"/>
          </p:cNvPr>
          <p:cNvSpPr/>
          <p:nvPr/>
        </p:nvSpPr>
        <p:spPr>
          <a:xfrm>
            <a:off x="4023360" y="2788920"/>
            <a:ext cx="7589520" cy="7589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4"/>
          </p:cNvPr>
          <p:cNvSpPr txBox="1"/>
          <p:nvPr/>
        </p:nvSpPr>
        <p:spPr>
          <a:xfrm>
            <a:off x="4142232" y="2862072"/>
            <a:ext cx="7351776" cy="667512"/>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A   Sí: diversidad equivale a patogenicidad</a:t>
            </a:r>
          </a:p>
        </p:txBody>
      </p:sp>
      <p:sp>
        <p:nvSpPr>
          <p:cNvPr id="16" name="Rounded Rectangle 15">
            <a:hlinkClick action="ppaction://hlinksldjump" r:id="rId4"/>
          </p:cNvPr>
          <p:cNvSpPr/>
          <p:nvPr/>
        </p:nvSpPr>
        <p:spPr>
          <a:xfrm>
            <a:off x="4023360" y="3712463"/>
            <a:ext cx="7589520" cy="7589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action="ppaction://hlinksldjump" r:id="rId4"/>
          </p:cNvPr>
          <p:cNvSpPr txBox="1"/>
          <p:nvPr/>
        </p:nvSpPr>
        <p:spPr>
          <a:xfrm>
            <a:off x="4142232" y="3785615"/>
            <a:ext cx="7351776" cy="667512"/>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B   No se deduce solo de este índice</a:t>
            </a:r>
          </a:p>
        </p:txBody>
      </p:sp>
      <p:sp>
        <p:nvSpPr>
          <p:cNvPr id="18" name="Rounded Rectangle 17">
            <a:hlinkClick action="ppaction://hlinksldjump" r:id="rId4"/>
          </p:cNvPr>
          <p:cNvSpPr/>
          <p:nvPr/>
        </p:nvSpPr>
        <p:spPr>
          <a:xfrm>
            <a:off x="4023360" y="4636008"/>
            <a:ext cx="7589520" cy="7589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4"/>
          </p:cNvPr>
          <p:cNvSpPr txBox="1"/>
          <p:nvPr/>
        </p:nvSpPr>
        <p:spPr>
          <a:xfrm>
            <a:off x="4142232" y="4709160"/>
            <a:ext cx="7351776" cy="667512"/>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C   No: diversidad garantiza agua segura</a:t>
            </a:r>
          </a:p>
        </p:txBody>
      </p:sp>
      <p:sp>
        <p:nvSpPr>
          <p:cNvPr id="20" name="TextBox 19"/>
          <p:cNvSpPr txBox="1"/>
          <p:nvPr/>
        </p:nvSpPr>
        <p:spPr>
          <a:xfrm>
            <a:off x="4050791" y="5742432"/>
            <a:ext cx="7315200" cy="32004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Elige una opción para consultar la explicación.</a:t>
            </a:r>
          </a:p>
        </p:txBody>
      </p:sp>
    </p:spTree>
  </p:cSld>
  <p:clrMapOvr>
    <a:masterClrMapping/>
  </p:clrMapOvr>
  <p:transition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PUENTE ENTRE PROYECTOS</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Investigar también</a:t>
            </a:r>
          </a:p>
          <a:p>
            <a:pPr algn="l">
              <a:lnSpc>
                <a:spcPct val="102000"/>
              </a:lnSpc>
              <a:spcAft>
                <a:spcPts val="300"/>
              </a:spcAft>
              <a:defRPr sz="4200" b="1">
                <a:solidFill>
                  <a:srgbClr val="143543"/>
                </a:solidFill>
                <a:latin typeface="DejaVu Sans"/>
              </a:defRPr>
            </a:pPr>
            <a:r>
              <a:t>es intercambiar</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Tu galería · Ecuador–Canadá</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Galería reservada para fotografías que añadirás antes de la clase.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18</a:t>
            </a:r>
          </a:p>
        </p:txBody>
      </p:sp>
      <p:sp>
        <p:nvSpPr>
          <p:cNvPr id="7" name="Rectangle 6"/>
          <p:cNvSpPr/>
          <p:nvPr/>
        </p:nvSpPr>
        <p:spPr>
          <a:xfrm>
            <a:off x="0" y="6821424"/>
            <a:ext cx="9541541"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94360"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38528"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12" name="TextBox 11"/>
          <p:cNvSpPr txBox="1"/>
          <p:nvPr/>
        </p:nvSpPr>
        <p:spPr>
          <a:xfrm>
            <a:off x="1024128"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13" name="TextBox 12"/>
          <p:cNvSpPr txBox="1"/>
          <p:nvPr/>
        </p:nvSpPr>
        <p:spPr>
          <a:xfrm>
            <a:off x="640080"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Experiencia de laboratorio</a:t>
            </a:r>
          </a:p>
        </p:txBody>
      </p:sp>
      <p:sp>
        <p:nvSpPr>
          <p:cNvPr id="14" name="Rounded Rectangle 13"/>
          <p:cNvSpPr/>
          <p:nvPr/>
        </p:nvSpPr>
        <p:spPr>
          <a:xfrm>
            <a:off x="4370832"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0"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16" name="TextBox 15"/>
          <p:cNvSpPr txBox="1"/>
          <p:nvPr/>
        </p:nvSpPr>
        <p:spPr>
          <a:xfrm>
            <a:off x="4800600"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17" name="TextBox 16"/>
          <p:cNvSpPr txBox="1"/>
          <p:nvPr/>
        </p:nvSpPr>
        <p:spPr>
          <a:xfrm>
            <a:off x="4416552"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Intercambio académico</a:t>
            </a:r>
          </a:p>
        </p:txBody>
      </p:sp>
      <p:sp>
        <p:nvSpPr>
          <p:cNvPr id="18" name="Rounded Rectangle 17"/>
          <p:cNvSpPr/>
          <p:nvPr/>
        </p:nvSpPr>
        <p:spPr>
          <a:xfrm>
            <a:off x="8147304" y="2862072"/>
            <a:ext cx="3529584" cy="2596896"/>
          </a:xfrm>
          <a:prstGeom prst="roundRect">
            <a:avLst>
              <a:gd name="adj" fmla="val 4000"/>
            </a:avLst>
          </a:prstGeom>
          <a:solidFill>
            <a:srgbClr val="E5ECE4"/>
          </a:solidFill>
          <a:ln w="15240">
            <a:solidFill>
              <a:srgbClr val="9DB8A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3502152"/>
            <a:ext cx="731520" cy="594360"/>
          </a:xfrm>
          <a:prstGeom prst="rect">
            <a:avLst/>
          </a:prstGeom>
          <a:noFill/>
        </p:spPr>
        <p:txBody>
          <a:bodyPr wrap="square" lIns="0" rIns="0" tIns="0" bIns="0">
            <a:spAutoFit/>
          </a:bodyPr>
          <a:lstStyle/>
          <a:p>
            <a:pPr algn="ctr">
              <a:lnSpc>
                <a:spcPct val="102000"/>
              </a:lnSpc>
              <a:spcAft>
                <a:spcPts val="300"/>
              </a:spcAft>
              <a:defRPr sz="4800" b="0">
                <a:solidFill>
                  <a:srgbClr val="126E70"/>
                </a:solidFill>
                <a:latin typeface="DejaVu Sans"/>
              </a:defRPr>
            </a:pPr>
            <a:r>
              <a:t>+</a:t>
            </a:r>
          </a:p>
        </p:txBody>
      </p:sp>
      <p:sp>
        <p:nvSpPr>
          <p:cNvPr id="20" name="TextBox 19"/>
          <p:cNvSpPr txBox="1"/>
          <p:nvPr/>
        </p:nvSpPr>
        <p:spPr>
          <a:xfrm>
            <a:off x="8577072" y="4334256"/>
            <a:ext cx="2670048" cy="347472"/>
          </a:xfrm>
          <a:prstGeom prst="rect">
            <a:avLst/>
          </a:prstGeom>
          <a:noFill/>
        </p:spPr>
        <p:txBody>
          <a:bodyPr wrap="square" lIns="0" rIns="0" tIns="0" bIns="0">
            <a:spAutoFit/>
          </a:bodyPr>
          <a:lstStyle/>
          <a:p>
            <a:pPr algn="ctr">
              <a:lnSpc>
                <a:spcPct val="102000"/>
              </a:lnSpc>
              <a:spcAft>
                <a:spcPts val="300"/>
              </a:spcAft>
              <a:defRPr sz="1300" b="1">
                <a:solidFill>
                  <a:srgbClr val="126E70"/>
                </a:solidFill>
                <a:latin typeface="DejaVu Sans"/>
              </a:defRPr>
            </a:pPr>
            <a:r>
              <a:t>AÑADIR TU FOTO</a:t>
            </a:r>
          </a:p>
        </p:txBody>
      </p:sp>
      <p:sp>
        <p:nvSpPr>
          <p:cNvPr id="21" name="TextBox 20"/>
          <p:cNvSpPr txBox="1"/>
          <p:nvPr/>
        </p:nvSpPr>
        <p:spPr>
          <a:xfrm>
            <a:off x="8193024" y="5632704"/>
            <a:ext cx="3438144" cy="502920"/>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Congreso o presentación</a:t>
            </a:r>
          </a:p>
        </p:txBody>
      </p:sp>
    </p:spTree>
  </p:cSld>
  <p:clrMapOvr>
    <a:masterClrMapping/>
  </p:clrMapOvr>
  <p:transition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PUBLICACIÓN Y COMUNICACIÓN CIENTÍFICA</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Comunicar para</a:t>
            </a:r>
          </a:p>
          <a:p>
            <a:pPr algn="l">
              <a:lnSpc>
                <a:spcPct val="102000"/>
              </a:lnSpc>
              <a:spcAft>
                <a:spcPts val="300"/>
              </a:spcAft>
              <a:defRPr sz="4200" b="1">
                <a:solidFill>
                  <a:srgbClr val="143543"/>
                </a:solidFill>
                <a:latin typeface="DejaVu Sans"/>
              </a:defRPr>
            </a:pPr>
            <a:r>
              <a:t>que otros puedan evaluar</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CV, pág. 3: publicación y participaciones científicas.</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19</a:t>
            </a:r>
          </a:p>
        </p:txBody>
      </p:sp>
      <p:sp>
        <p:nvSpPr>
          <p:cNvPr id="6" name="Rectangle 5"/>
          <p:cNvSpPr/>
          <p:nvPr/>
        </p:nvSpPr>
        <p:spPr>
          <a:xfrm>
            <a:off x="0" y="6821424"/>
            <a:ext cx="10071626"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94360" y="2761488"/>
            <a:ext cx="4315968" cy="3255264"/>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80944"/>
            <a:ext cx="3886200" cy="274320"/>
          </a:xfrm>
          <a:prstGeom prst="rect">
            <a:avLst/>
          </a:prstGeom>
          <a:noFill/>
        </p:spPr>
        <p:txBody>
          <a:bodyPr wrap="square" lIns="0" rIns="0" tIns="0" bIns="0">
            <a:spAutoFit/>
          </a:bodyPr>
          <a:lstStyle/>
          <a:p>
            <a:pPr algn="l">
              <a:lnSpc>
                <a:spcPct val="102000"/>
              </a:lnSpc>
              <a:spcAft>
                <a:spcPts val="300"/>
              </a:spcAft>
              <a:defRPr sz="860" b="1">
                <a:solidFill>
                  <a:srgbClr val="D8EB80"/>
                </a:solidFill>
                <a:latin typeface="DejaVu Sans"/>
              </a:defRPr>
            </a:pPr>
            <a:r>
              <a:t>ARTÍCULO CONSIGNADO EN EL CV</a:t>
            </a:r>
          </a:p>
        </p:txBody>
      </p:sp>
      <p:sp>
        <p:nvSpPr>
          <p:cNvPr id="11" name="TextBox 10"/>
          <p:cNvSpPr txBox="1"/>
          <p:nvPr/>
        </p:nvSpPr>
        <p:spPr>
          <a:xfrm>
            <a:off x="822960" y="3474720"/>
            <a:ext cx="3840480" cy="1207008"/>
          </a:xfrm>
          <a:prstGeom prst="rect">
            <a:avLst/>
          </a:prstGeom>
          <a:noFill/>
        </p:spPr>
        <p:txBody>
          <a:bodyPr wrap="square" lIns="0" rIns="0" tIns="0" bIns="0">
            <a:spAutoFit/>
          </a:bodyPr>
          <a:lstStyle/>
          <a:p>
            <a:pPr algn="l">
              <a:lnSpc>
                <a:spcPct val="102000"/>
              </a:lnSpc>
              <a:spcAft>
                <a:spcPts val="300"/>
              </a:spcAft>
              <a:defRPr sz="1900" b="1">
                <a:solidFill>
                  <a:srgbClr val="FFFFFF"/>
                </a:solidFill>
                <a:latin typeface="DejaVu Sans"/>
              </a:defRPr>
            </a:pPr>
            <a:r>
              <a:t>Microbiological quality of drinking water in three rural communities of the Calvas Canton (Loja)</a:t>
            </a:r>
          </a:p>
        </p:txBody>
      </p:sp>
      <p:sp>
        <p:nvSpPr>
          <p:cNvPr id="12" name="TextBox 11"/>
          <p:cNvSpPr txBox="1"/>
          <p:nvPr/>
        </p:nvSpPr>
        <p:spPr>
          <a:xfrm>
            <a:off x="822960" y="4919472"/>
            <a:ext cx="3840480" cy="594360"/>
          </a:xfrm>
          <a:prstGeom prst="rect">
            <a:avLst/>
          </a:prstGeom>
          <a:noFill/>
        </p:spPr>
        <p:txBody>
          <a:bodyPr wrap="square" lIns="0" rIns="0" tIns="0" bIns="0">
            <a:spAutoFit/>
          </a:bodyPr>
          <a:lstStyle/>
          <a:p>
            <a:pPr algn="l">
              <a:lnSpc>
                <a:spcPct val="102000"/>
              </a:lnSpc>
              <a:spcAft>
                <a:spcPts val="300"/>
              </a:spcAft>
              <a:defRPr sz="1300" b="0">
                <a:solidFill>
                  <a:srgbClr val="D7E2D9"/>
                </a:solidFill>
                <a:latin typeface="DejaVu Sans"/>
              </a:defRPr>
            </a:pPr>
            <a:r>
              <a:t>Revista Ecuatoriana de Medicina</a:t>
            </a:r>
          </a:p>
          <a:p>
            <a:pPr algn="l">
              <a:lnSpc>
                <a:spcPct val="102000"/>
              </a:lnSpc>
              <a:spcAft>
                <a:spcPts val="300"/>
              </a:spcAft>
              <a:defRPr sz="1300" b="0">
                <a:solidFill>
                  <a:srgbClr val="D7E2D9"/>
                </a:solidFill>
                <a:latin typeface="DejaVu Sans"/>
              </a:defRPr>
            </a:pPr>
            <a:r>
              <a:t>y Ciencias Biológicas</a:t>
            </a:r>
          </a:p>
        </p:txBody>
      </p:sp>
      <p:sp>
        <p:nvSpPr>
          <p:cNvPr id="13" name="Rectangle 12"/>
          <p:cNvSpPr/>
          <p:nvPr/>
        </p:nvSpPr>
        <p:spPr>
          <a:xfrm>
            <a:off x="758952" y="5532120"/>
            <a:ext cx="3904487" cy="356616"/>
          </a:xfrm>
          <a:prstGeom prst="rect">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5614416"/>
            <a:ext cx="3730752" cy="219456"/>
          </a:xfrm>
          <a:prstGeom prst="rect">
            <a:avLst/>
          </a:prstGeom>
          <a:noFill/>
        </p:spPr>
        <p:txBody>
          <a:bodyPr wrap="square" lIns="0" rIns="0" tIns="0" bIns="0">
            <a:spAutoFit/>
          </a:bodyPr>
          <a:lstStyle/>
          <a:p>
            <a:pPr algn="l">
              <a:lnSpc>
                <a:spcPct val="102000"/>
              </a:lnSpc>
              <a:spcAft>
                <a:spcPts val="300"/>
              </a:spcAft>
              <a:defRPr sz="1000" b="0">
                <a:solidFill>
                  <a:srgbClr val="143543"/>
                </a:solidFill>
                <a:latin typeface="DejaVu Sans"/>
              </a:defRPr>
            </a:pPr>
            <a:r>
              <a:rPr>
                <a:hlinkClick r:id="rId4"/>
              </a:rPr>
              <a:t>DOI: 10.26807/remcb.v46i2.1053</a:t>
            </a:r>
          </a:p>
        </p:txBody>
      </p:sp>
      <p:pic>
        <p:nvPicPr>
          <p:cNvPr id="15" name="Picture 14" descr="animacion_publication.gif"/>
          <p:cNvPicPr>
            <a:picLocks noChangeAspect="1"/>
          </p:cNvPicPr>
          <p:nvPr/>
        </p:nvPicPr>
        <p:blipFill>
          <a:blip r:embed="rId5"/>
          <a:stretch>
            <a:fillRect/>
          </a:stretch>
        </p:blipFill>
        <p:spPr>
          <a:xfrm>
            <a:off x="5230368" y="2761488"/>
            <a:ext cx="6355080" cy="2194560"/>
          </a:xfrm>
          <a:prstGeom prst="rect">
            <a:avLst/>
          </a:prstGeom>
        </p:spPr>
      </p:pic>
      <p:sp>
        <p:nvSpPr>
          <p:cNvPr id="16" name="TextBox 15"/>
          <p:cNvSpPr txBox="1"/>
          <p:nvPr/>
        </p:nvSpPr>
        <p:spPr>
          <a:xfrm>
            <a:off x="5230368" y="5010912"/>
            <a:ext cx="6355080" cy="228600"/>
          </a:xfrm>
          <a:prstGeom prst="rect">
            <a:avLst/>
          </a:prstGeom>
          <a:noFill/>
        </p:spPr>
        <p:txBody>
          <a:bodyPr wrap="square" lIns="0" rIns="0" tIns="0" bIns="0">
            <a:spAutoFit/>
          </a:bodyPr>
          <a:lstStyle/>
          <a:p>
            <a:pPr algn="l">
              <a:lnSpc>
                <a:spcPct val="102000"/>
              </a:lnSpc>
              <a:spcAft>
                <a:spcPts val="300"/>
              </a:spcAft>
              <a:defRPr sz="900" b="0">
                <a:solidFill>
                  <a:srgbClr val="5B7278"/>
                </a:solidFill>
                <a:latin typeface="DejaVu Sans"/>
              </a:defRPr>
            </a:pPr>
            <a:r>
              <a:t>Esquema didáctico · no reproduce observaciones del estudio</a:t>
            </a:r>
          </a:p>
        </p:txBody>
      </p:sp>
      <p:sp>
        <p:nvSpPr>
          <p:cNvPr id="17" name="TextBox 16"/>
          <p:cNvSpPr txBox="1"/>
          <p:nvPr/>
        </p:nvSpPr>
        <p:spPr>
          <a:xfrm>
            <a:off x="5340096" y="5440680"/>
            <a:ext cx="2011680" cy="393192"/>
          </a:xfrm>
          <a:prstGeom prst="rect">
            <a:avLst/>
          </a:prstGeom>
          <a:noFill/>
        </p:spPr>
        <p:txBody>
          <a:bodyPr wrap="square" lIns="0" rIns="0" tIns="0" bIns="0">
            <a:spAutoFit/>
          </a:bodyPr>
          <a:lstStyle/>
          <a:p>
            <a:pPr algn="l">
              <a:lnSpc>
                <a:spcPct val="102000"/>
              </a:lnSpc>
              <a:spcAft>
                <a:spcPts val="300"/>
              </a:spcAft>
              <a:defRPr sz="2200" b="1">
                <a:solidFill>
                  <a:srgbClr val="126E70"/>
                </a:solidFill>
                <a:latin typeface="DejaVu Sans"/>
              </a:defRPr>
            </a:pPr>
            <a:r>
              <a:t>2024</a:t>
            </a:r>
          </a:p>
        </p:txBody>
      </p:sp>
      <p:sp>
        <p:nvSpPr>
          <p:cNvPr id="18" name="TextBox 17"/>
          <p:cNvSpPr txBox="1"/>
          <p:nvPr/>
        </p:nvSpPr>
        <p:spPr>
          <a:xfrm>
            <a:off x="5340096" y="5897880"/>
            <a:ext cx="2029968" cy="365760"/>
          </a:xfrm>
          <a:prstGeom prst="rect">
            <a:avLst/>
          </a:prstGeom>
          <a:noFill/>
        </p:spPr>
        <p:txBody>
          <a:bodyPr wrap="square" lIns="0" rIns="0" tIns="0" bIns="0">
            <a:spAutoFit/>
          </a:bodyPr>
          <a:lstStyle/>
          <a:p>
            <a:pPr algn="l">
              <a:lnSpc>
                <a:spcPct val="102000"/>
              </a:lnSpc>
              <a:spcAft>
                <a:spcPts val="300"/>
              </a:spcAft>
              <a:defRPr sz="1100" b="0">
                <a:solidFill>
                  <a:srgbClr val="143543"/>
                </a:solidFill>
                <a:latin typeface="DejaVu Sans"/>
              </a:defRPr>
            </a:pPr>
            <a:r>
              <a:t>Póster · Jornadas</a:t>
            </a:r>
          </a:p>
        </p:txBody>
      </p:sp>
      <p:sp>
        <p:nvSpPr>
          <p:cNvPr id="19" name="TextBox 18"/>
          <p:cNvSpPr txBox="1"/>
          <p:nvPr/>
        </p:nvSpPr>
        <p:spPr>
          <a:xfrm>
            <a:off x="7488936" y="5440680"/>
            <a:ext cx="2011680" cy="393192"/>
          </a:xfrm>
          <a:prstGeom prst="rect">
            <a:avLst/>
          </a:prstGeom>
          <a:noFill/>
        </p:spPr>
        <p:txBody>
          <a:bodyPr wrap="square" lIns="0" rIns="0" tIns="0" bIns="0">
            <a:spAutoFit/>
          </a:bodyPr>
          <a:lstStyle/>
          <a:p>
            <a:pPr algn="l">
              <a:lnSpc>
                <a:spcPct val="102000"/>
              </a:lnSpc>
              <a:spcAft>
                <a:spcPts val="300"/>
              </a:spcAft>
              <a:defRPr sz="2200" b="1">
                <a:solidFill>
                  <a:srgbClr val="126E70"/>
                </a:solidFill>
                <a:latin typeface="DejaVu Sans"/>
              </a:defRPr>
            </a:pPr>
            <a:r>
              <a:t>2025</a:t>
            </a:r>
          </a:p>
        </p:txBody>
      </p:sp>
      <p:sp>
        <p:nvSpPr>
          <p:cNvPr id="20" name="TextBox 19"/>
          <p:cNvSpPr txBox="1"/>
          <p:nvPr/>
        </p:nvSpPr>
        <p:spPr>
          <a:xfrm>
            <a:off x="7488936" y="5897880"/>
            <a:ext cx="2029968" cy="365760"/>
          </a:xfrm>
          <a:prstGeom prst="rect">
            <a:avLst/>
          </a:prstGeom>
          <a:noFill/>
        </p:spPr>
        <p:txBody>
          <a:bodyPr wrap="square" lIns="0" rIns="0" tIns="0" bIns="0">
            <a:spAutoFit/>
          </a:bodyPr>
          <a:lstStyle/>
          <a:p>
            <a:pPr algn="l">
              <a:lnSpc>
                <a:spcPct val="102000"/>
              </a:lnSpc>
              <a:spcAft>
                <a:spcPts val="300"/>
              </a:spcAft>
              <a:defRPr sz="1100" b="0">
                <a:solidFill>
                  <a:srgbClr val="143543"/>
                </a:solidFill>
                <a:latin typeface="DejaVu Sans"/>
              </a:defRPr>
            </a:pPr>
            <a:r>
              <a:t>Ponencia · Jornadas</a:t>
            </a:r>
          </a:p>
        </p:txBody>
      </p:sp>
      <p:sp>
        <p:nvSpPr>
          <p:cNvPr id="21" name="TextBox 20"/>
          <p:cNvSpPr txBox="1"/>
          <p:nvPr/>
        </p:nvSpPr>
        <p:spPr>
          <a:xfrm>
            <a:off x="9637776" y="5440680"/>
            <a:ext cx="2011680" cy="393192"/>
          </a:xfrm>
          <a:prstGeom prst="rect">
            <a:avLst/>
          </a:prstGeom>
          <a:noFill/>
        </p:spPr>
        <p:txBody>
          <a:bodyPr wrap="square" lIns="0" rIns="0" tIns="0" bIns="0">
            <a:spAutoFit/>
          </a:bodyPr>
          <a:lstStyle/>
          <a:p>
            <a:pPr algn="l">
              <a:lnSpc>
                <a:spcPct val="102000"/>
              </a:lnSpc>
              <a:spcAft>
                <a:spcPts val="300"/>
              </a:spcAft>
              <a:defRPr sz="2200" b="1">
                <a:solidFill>
                  <a:srgbClr val="126E70"/>
                </a:solidFill>
                <a:latin typeface="DejaVu Sans"/>
              </a:defRPr>
            </a:pPr>
            <a:r>
              <a:t>2026</a:t>
            </a:r>
          </a:p>
        </p:txBody>
      </p:sp>
      <p:sp>
        <p:nvSpPr>
          <p:cNvPr id="22" name="TextBox 21"/>
          <p:cNvSpPr txBox="1"/>
          <p:nvPr/>
        </p:nvSpPr>
        <p:spPr>
          <a:xfrm>
            <a:off x="9637776" y="5897880"/>
            <a:ext cx="2029968" cy="365760"/>
          </a:xfrm>
          <a:prstGeom prst="rect">
            <a:avLst/>
          </a:prstGeom>
          <a:noFill/>
        </p:spPr>
        <p:txBody>
          <a:bodyPr wrap="square" lIns="0" rIns="0" tIns="0" bIns="0">
            <a:spAutoFit/>
          </a:bodyPr>
          <a:lstStyle/>
          <a:p>
            <a:pPr algn="l">
              <a:lnSpc>
                <a:spcPct val="102000"/>
              </a:lnSpc>
              <a:spcAft>
                <a:spcPts val="300"/>
              </a:spcAft>
              <a:defRPr sz="1100" b="0">
                <a:solidFill>
                  <a:srgbClr val="143543"/>
                </a:solidFill>
                <a:latin typeface="DejaVu Sans"/>
              </a:defRPr>
            </a:pPr>
            <a:r>
              <a:t>WEST + BIOSaG</a:t>
            </a:r>
          </a:p>
        </p:txBody>
      </p:sp>
    </p:spTree>
  </p:cSld>
  <p:clrMapOvr>
    <a:masterClrMapping/>
  </p:clrMapOvr>
  <p:transition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MI PROPUESTA DOCENTE</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Así llevaría mi experiencia</a:t>
            </a:r>
          </a:p>
          <a:p>
            <a:pPr algn="l">
              <a:lnSpc>
                <a:spcPct val="102000"/>
              </a:lnSpc>
              <a:spcAft>
                <a:spcPts val="300"/>
              </a:spcAft>
              <a:defRPr sz="4200" b="1">
                <a:solidFill>
                  <a:srgbClr val="143543"/>
                </a:solidFill>
                <a:latin typeface="DejaVu Sans"/>
              </a:defRPr>
            </a:pPr>
            <a:r>
              <a:t>a una clase universitaria</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Propuesta pedagógica basada en mi experiencia profesional.</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Propuesta docente basada en el perfil profesional y los proyectos aportados.</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20</a:t>
            </a:r>
          </a:p>
        </p:txBody>
      </p:sp>
      <p:sp>
        <p:nvSpPr>
          <p:cNvPr id="7" name="Rectangle 6"/>
          <p:cNvSpPr/>
          <p:nvPr/>
        </p:nvSpPr>
        <p:spPr>
          <a:xfrm>
            <a:off x="0" y="6821424"/>
            <a:ext cx="10601712"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48640" y="2788920"/>
            <a:ext cx="2649474" cy="301752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762" y="3017520"/>
            <a:ext cx="320040" cy="274320"/>
          </a:xfrm>
          <a:prstGeom prst="rect">
            <a:avLst/>
          </a:prstGeom>
          <a:noFill/>
        </p:spPr>
        <p:txBody>
          <a:bodyPr wrap="square" lIns="0" rIns="0" tIns="0" bIns="0">
            <a:spAutoFit/>
          </a:bodyPr>
          <a:lstStyle/>
          <a:p>
            <a:pPr algn="l">
              <a:lnSpc>
                <a:spcPct val="102000"/>
              </a:lnSpc>
              <a:spcAft>
                <a:spcPts val="300"/>
              </a:spcAft>
              <a:defRPr sz="1200" b="0">
                <a:solidFill>
                  <a:srgbClr val="D8EB80"/>
                </a:solidFill>
                <a:latin typeface="DejaVu Sans"/>
              </a:defRPr>
            </a:pPr>
            <a:r>
              <a:t>01</a:t>
            </a:r>
          </a:p>
        </p:txBody>
      </p:sp>
      <p:sp>
        <p:nvSpPr>
          <p:cNvPr id="12" name="Teardrop 11"/>
          <p:cNvSpPr/>
          <p:nvPr/>
        </p:nvSpPr>
        <p:spPr>
          <a:xfrm rot="18900000">
            <a:off x="866394" y="3172968"/>
            <a:ext cx="416051" cy="594360"/>
          </a:xfrm>
          <a:prstGeom prst="teardrop">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87368"/>
            <a:ext cx="2192274" cy="457200"/>
          </a:xfrm>
          <a:prstGeom prst="rect">
            <a:avLst/>
          </a:prstGeom>
          <a:noFill/>
        </p:spPr>
        <p:txBody>
          <a:bodyPr wrap="square" lIns="0" rIns="0" tIns="0" bIns="0">
            <a:spAutoFit/>
          </a:bodyPr>
          <a:lstStyle/>
          <a:p>
            <a:pPr algn="l">
              <a:lnSpc>
                <a:spcPct val="102000"/>
              </a:lnSpc>
              <a:spcAft>
                <a:spcPts val="300"/>
              </a:spcAft>
              <a:defRPr sz="2000" b="1">
                <a:solidFill>
                  <a:srgbClr val="FFFFFF"/>
                </a:solidFill>
                <a:latin typeface="DejaVu Sans"/>
              </a:defRPr>
            </a:pPr>
            <a:r>
              <a:t>Preguntar</a:t>
            </a:r>
          </a:p>
        </p:txBody>
      </p:sp>
      <p:sp>
        <p:nvSpPr>
          <p:cNvPr id="14" name="TextBox 13"/>
          <p:cNvSpPr txBox="1"/>
          <p:nvPr/>
        </p:nvSpPr>
        <p:spPr>
          <a:xfrm>
            <a:off x="777240" y="4663440"/>
            <a:ext cx="2192274" cy="941832"/>
          </a:xfrm>
          <a:prstGeom prst="rect">
            <a:avLst/>
          </a:prstGeom>
          <a:noFill/>
        </p:spPr>
        <p:txBody>
          <a:bodyPr wrap="square" lIns="0" rIns="0" tIns="0" bIns="0">
            <a:spAutoFit/>
          </a:bodyPr>
          <a:lstStyle/>
          <a:p>
            <a:pPr algn="l">
              <a:lnSpc>
                <a:spcPct val="102000"/>
              </a:lnSpc>
              <a:spcAft>
                <a:spcPts val="300"/>
              </a:spcAft>
              <a:defRPr sz="1500" b="0">
                <a:solidFill>
                  <a:srgbClr val="FFFFFF"/>
                </a:solidFill>
                <a:latin typeface="DejaVu Sans"/>
              </a:defRPr>
            </a:pPr>
            <a:r>
              <a:t>Un caso cercano que active hipótesis.</a:t>
            </a:r>
          </a:p>
        </p:txBody>
      </p:sp>
      <p:sp>
        <p:nvSpPr>
          <p:cNvPr id="15" name="TextBox 14"/>
          <p:cNvSpPr txBox="1"/>
          <p:nvPr/>
        </p:nvSpPr>
        <p:spPr>
          <a:xfrm>
            <a:off x="3179826" y="3913631"/>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16" name="Rounded Rectangle 15"/>
          <p:cNvSpPr/>
          <p:nvPr/>
        </p:nvSpPr>
        <p:spPr>
          <a:xfrm>
            <a:off x="3362706" y="2788920"/>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1828" y="3017520"/>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02</a:t>
            </a:r>
          </a:p>
        </p:txBody>
      </p:sp>
      <p:sp>
        <p:nvSpPr>
          <p:cNvPr id="18" name="Trapezoid 17"/>
          <p:cNvSpPr/>
          <p:nvPr/>
        </p:nvSpPr>
        <p:spPr>
          <a:xfrm>
            <a:off x="3668572" y="3410711"/>
            <a:ext cx="445770" cy="326898"/>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23106" y="3208629"/>
            <a:ext cx="136702" cy="267462"/>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3763670" y="3571189"/>
            <a:ext cx="255575"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591306" y="4087368"/>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Visualizar</a:t>
            </a:r>
          </a:p>
        </p:txBody>
      </p:sp>
      <p:sp>
        <p:nvSpPr>
          <p:cNvPr id="22" name="TextBox 21"/>
          <p:cNvSpPr txBox="1"/>
          <p:nvPr/>
        </p:nvSpPr>
        <p:spPr>
          <a:xfrm>
            <a:off x="3591306" y="4663440"/>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Procesos por etapas, gráficos y muestras.</a:t>
            </a:r>
          </a:p>
        </p:txBody>
      </p:sp>
      <p:sp>
        <p:nvSpPr>
          <p:cNvPr id="23" name="TextBox 22"/>
          <p:cNvSpPr txBox="1"/>
          <p:nvPr/>
        </p:nvSpPr>
        <p:spPr>
          <a:xfrm>
            <a:off x="5993892" y="3913631"/>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24" name="Rounded Rectangle 23"/>
          <p:cNvSpPr/>
          <p:nvPr/>
        </p:nvSpPr>
        <p:spPr>
          <a:xfrm>
            <a:off x="6176772" y="2788920"/>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95894" y="3017520"/>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03</a:t>
            </a:r>
          </a:p>
        </p:txBody>
      </p:sp>
      <p:sp>
        <p:nvSpPr>
          <p:cNvPr id="26" name="Rectangle 25"/>
          <p:cNvSpPr/>
          <p:nvPr/>
        </p:nvSpPr>
        <p:spPr>
          <a:xfrm>
            <a:off x="6405372" y="3172968"/>
            <a:ext cx="594360" cy="534924"/>
          </a:xfrm>
          <a:prstGeom prst="rect">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506413" y="3291839"/>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506413" y="3428542"/>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506413" y="3565245"/>
            <a:ext cx="3863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05372" y="4087368"/>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Practicar</a:t>
            </a:r>
          </a:p>
        </p:txBody>
      </p:sp>
      <p:sp>
        <p:nvSpPr>
          <p:cNvPr id="31" name="TextBox 30"/>
          <p:cNvSpPr txBox="1"/>
          <p:nvPr/>
        </p:nvSpPr>
        <p:spPr>
          <a:xfrm>
            <a:off x="6405372" y="4663440"/>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Interpretación y decisiones justificadas.</a:t>
            </a:r>
          </a:p>
        </p:txBody>
      </p:sp>
      <p:sp>
        <p:nvSpPr>
          <p:cNvPr id="32" name="TextBox 31"/>
          <p:cNvSpPr txBox="1"/>
          <p:nvPr/>
        </p:nvSpPr>
        <p:spPr>
          <a:xfrm>
            <a:off x="8807958" y="3913631"/>
            <a:ext cx="228600" cy="365760"/>
          </a:xfrm>
          <a:prstGeom prst="rect">
            <a:avLst/>
          </a:prstGeom>
          <a:noFill/>
        </p:spPr>
        <p:txBody>
          <a:bodyPr wrap="square" lIns="0" rIns="0" tIns="0" bIns="0">
            <a:spAutoFit/>
          </a:bodyPr>
          <a:lstStyle/>
          <a:p>
            <a:pPr algn="l">
              <a:lnSpc>
                <a:spcPct val="102000"/>
              </a:lnSpc>
              <a:spcAft>
                <a:spcPts val="300"/>
              </a:spcAft>
              <a:defRPr sz="1900" b="1">
                <a:solidFill>
                  <a:srgbClr val="126E70"/>
                </a:solidFill>
                <a:latin typeface="DejaVu Sans"/>
              </a:defRPr>
            </a:pPr>
            <a:r>
              <a:t>→</a:t>
            </a:r>
          </a:p>
        </p:txBody>
      </p:sp>
      <p:sp>
        <p:nvSpPr>
          <p:cNvPr id="33" name="Rounded Rectangle 32"/>
          <p:cNvSpPr/>
          <p:nvPr/>
        </p:nvSpPr>
        <p:spPr>
          <a:xfrm>
            <a:off x="8990838" y="2788920"/>
            <a:ext cx="2649474" cy="301752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09960" y="3017520"/>
            <a:ext cx="320040" cy="274320"/>
          </a:xfrm>
          <a:prstGeom prst="rect">
            <a:avLst/>
          </a:prstGeom>
          <a:noFill/>
        </p:spPr>
        <p:txBody>
          <a:bodyPr wrap="square" lIns="0" rIns="0" tIns="0" bIns="0">
            <a:spAutoFit/>
          </a:bodyPr>
          <a:lstStyle/>
          <a:p>
            <a:pPr algn="l">
              <a:lnSpc>
                <a:spcPct val="102000"/>
              </a:lnSpc>
              <a:spcAft>
                <a:spcPts val="300"/>
              </a:spcAft>
              <a:defRPr sz="1200" b="0">
                <a:solidFill>
                  <a:srgbClr val="126E70"/>
                </a:solidFill>
                <a:latin typeface="DejaVu Sans"/>
              </a:defRPr>
            </a:pPr>
            <a:r>
              <a:t>04</a:t>
            </a:r>
          </a:p>
        </p:txBody>
      </p:sp>
      <p:cxnSp>
        <p:nvCxnSpPr>
          <p:cNvPr id="35" name="Connector 34"/>
          <p:cNvCxnSpPr/>
          <p:nvPr/>
        </p:nvCxnSpPr>
        <p:spPr>
          <a:xfrm>
            <a:off x="9219438" y="3767328"/>
            <a:ext cx="594360"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19438" y="3172968"/>
            <a:ext cx="0" cy="59436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314535" y="3559301"/>
            <a:ext cx="95097" cy="208025"/>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75012" y="3380994"/>
            <a:ext cx="95097" cy="386334"/>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35490" y="3232403"/>
            <a:ext cx="95097" cy="534924"/>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19438" y="4087368"/>
            <a:ext cx="2192274" cy="457200"/>
          </a:xfrm>
          <a:prstGeom prst="rect">
            <a:avLst/>
          </a:prstGeom>
          <a:noFill/>
        </p:spPr>
        <p:txBody>
          <a:bodyPr wrap="square" lIns="0" rIns="0" tIns="0" bIns="0">
            <a:spAutoFit/>
          </a:bodyPr>
          <a:lstStyle/>
          <a:p>
            <a:pPr algn="l">
              <a:lnSpc>
                <a:spcPct val="102000"/>
              </a:lnSpc>
              <a:spcAft>
                <a:spcPts val="300"/>
              </a:spcAft>
              <a:defRPr sz="2000" b="1">
                <a:solidFill>
                  <a:srgbClr val="143543"/>
                </a:solidFill>
                <a:latin typeface="DejaVu Sans"/>
              </a:defRPr>
            </a:pPr>
            <a:r>
              <a:t>Retroalimentar</a:t>
            </a:r>
          </a:p>
        </p:txBody>
      </p:sp>
      <p:sp>
        <p:nvSpPr>
          <p:cNvPr id="41" name="TextBox 40"/>
          <p:cNvSpPr txBox="1"/>
          <p:nvPr/>
        </p:nvSpPr>
        <p:spPr>
          <a:xfrm>
            <a:off x="9219438" y="4663440"/>
            <a:ext cx="2192274" cy="94183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Una conclusión y un límite de la evidencia.</a:t>
            </a:r>
          </a:p>
        </p:txBody>
      </p:sp>
    </p:spTree>
  </p:cSld>
  <p:clrMapOvr>
    <a:masterClrMapping/>
  </p:clrMapOvr>
  <p:transition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UNA MUESTRA DE ACTIVIDAD DOCENTE</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Una comunidad te consulta.</a:t>
            </a:r>
          </a:p>
          <a:p>
            <a:pPr algn="l">
              <a:lnSpc>
                <a:spcPct val="102000"/>
              </a:lnSpc>
              <a:spcAft>
                <a:spcPts val="300"/>
              </a:spcAft>
              <a:defRPr sz="4200" b="1">
                <a:solidFill>
                  <a:srgbClr val="143543"/>
                </a:solidFill>
                <a:latin typeface="DejaVu Sans"/>
              </a:defRPr>
            </a:pPr>
            <a:r>
              <a:t>¿Qué evidencia pedirías?</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Caso hipotético · no corresponde a un resultado de los proyectos.</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Actividad didáctica creada para esta clase.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21</a:t>
            </a:r>
          </a:p>
        </p:txBody>
      </p:sp>
      <p:sp>
        <p:nvSpPr>
          <p:cNvPr id="7" name="Rectangle 6"/>
          <p:cNvSpPr/>
          <p:nvPr/>
        </p:nvSpPr>
        <p:spPr>
          <a:xfrm>
            <a:off x="0" y="6821424"/>
            <a:ext cx="11131798"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p:cNvSpPr/>
          <p:nvPr/>
        </p:nvSpPr>
        <p:spPr>
          <a:xfrm>
            <a:off x="594360" y="2761488"/>
            <a:ext cx="10972800" cy="1463040"/>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944368"/>
            <a:ext cx="3657600" cy="228600"/>
          </a:xfrm>
          <a:prstGeom prst="rect">
            <a:avLst/>
          </a:prstGeom>
          <a:noFill/>
        </p:spPr>
        <p:txBody>
          <a:bodyPr wrap="square" lIns="0" rIns="0" tIns="0" bIns="0">
            <a:spAutoFit/>
          </a:bodyPr>
          <a:lstStyle/>
          <a:p>
            <a:pPr algn="l">
              <a:lnSpc>
                <a:spcPct val="102000"/>
              </a:lnSpc>
              <a:spcAft>
                <a:spcPts val="300"/>
              </a:spcAft>
              <a:defRPr sz="1000" b="1">
                <a:solidFill>
                  <a:srgbClr val="D8EB80"/>
                </a:solidFill>
                <a:latin typeface="DejaVu Sans"/>
              </a:defRPr>
            </a:pPr>
            <a:r>
              <a:t>CASO HIPOTÉTICO</a:t>
            </a:r>
          </a:p>
        </p:txBody>
      </p:sp>
      <p:sp>
        <p:nvSpPr>
          <p:cNvPr id="12" name="Teardrop 11"/>
          <p:cNvSpPr/>
          <p:nvPr/>
        </p:nvSpPr>
        <p:spPr>
          <a:xfrm rot="18900000">
            <a:off x="952804" y="3383280"/>
            <a:ext cx="307238" cy="438912"/>
          </a:xfrm>
          <a:prstGeom prst="teardrop">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3401568"/>
            <a:ext cx="3749039" cy="566928"/>
          </a:xfrm>
          <a:prstGeom prst="rect">
            <a:avLst/>
          </a:prstGeom>
          <a:noFill/>
        </p:spPr>
        <p:txBody>
          <a:bodyPr wrap="square" lIns="0" rIns="0" tIns="0" bIns="0">
            <a:spAutoFit/>
          </a:bodyPr>
          <a:lstStyle/>
          <a:p>
            <a:pPr algn="l">
              <a:lnSpc>
                <a:spcPct val="102000"/>
              </a:lnSpc>
              <a:spcAft>
                <a:spcPts val="300"/>
              </a:spcAft>
              <a:defRPr sz="2100" b="1">
                <a:solidFill>
                  <a:srgbClr val="FFFFFF"/>
                </a:solidFill>
                <a:latin typeface="DejaVu Sans"/>
              </a:defRPr>
            </a:pPr>
            <a:r>
              <a:t>E. coli en distribución</a:t>
            </a:r>
          </a:p>
        </p:txBody>
      </p:sp>
      <p:sp>
        <p:nvSpPr>
          <p:cNvPr id="14" name="Oval 13"/>
          <p:cNvSpPr/>
          <p:nvPr/>
        </p:nvSpPr>
        <p:spPr>
          <a:xfrm>
            <a:off x="6057900" y="33375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57900" y="33375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6057900" y="3337560"/>
            <a:ext cx="0" cy="0"/>
          </a:xfrm>
          <a:prstGeom prst="line">
            <a:avLst/>
          </a:prstGeom>
          <a:ln w="17780">
            <a:solidFill>
              <a:srgbClr val="D8EB8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108744" y="336550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007055" y="336550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152729" y="33934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63070" y="33934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83919" y="342138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31880" y="342138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a:off x="5931880" y="3421380"/>
            <a:ext cx="252039" cy="0"/>
          </a:xfrm>
          <a:prstGeom prst="line">
            <a:avLst/>
          </a:prstGeom>
          <a:ln w="17780">
            <a:solidFill>
              <a:srgbClr val="D8EB8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198107" y="344932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17692" y="344932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193378" y="34772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22421" y="34772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70370" y="3505199"/>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945429" y="3505199"/>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H="1">
            <a:off x="5945429" y="3505199"/>
            <a:ext cx="224941" cy="0"/>
          </a:xfrm>
          <a:prstGeom prst="line">
            <a:avLst/>
          </a:prstGeom>
          <a:ln w="17780">
            <a:solidFill>
              <a:srgbClr val="D8EB8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132187" y="35331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83612" y="35331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083982" y="356108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31817" y="356108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32258" y="358902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083541" y="358902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6032258" y="3589020"/>
            <a:ext cx="51283" cy="0"/>
          </a:xfrm>
          <a:prstGeom prst="line">
            <a:avLst/>
          </a:prstGeom>
          <a:ln w="17780">
            <a:solidFill>
              <a:srgbClr val="D8EB80"/>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5983993" y="36169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31806" y="36169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945700" y="364490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170099" y="364490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22545" y="36728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193254" y="36728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5922545" y="3672840"/>
            <a:ext cx="270709" cy="0"/>
          </a:xfrm>
          <a:prstGeom prst="line">
            <a:avLst/>
          </a:prstGeom>
          <a:ln w="17780">
            <a:solidFill>
              <a:srgbClr val="D8EB8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917651" y="370078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98148" y="370078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931681" y="3728719"/>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184118" y="3728719"/>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962739" y="37566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153060" y="375666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5962739" y="3756660"/>
            <a:ext cx="190321" cy="0"/>
          </a:xfrm>
          <a:prstGeom prst="line">
            <a:avLst/>
          </a:prstGeom>
          <a:ln w="17780">
            <a:solidFill>
              <a:srgbClr val="D8EB8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6006637" y="378460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109162" y="378460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057451" y="38125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058348" y="3812540"/>
            <a:ext cx="32004" cy="32004"/>
          </a:xfrm>
          <a:prstGeom prst="ellipse">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0" y="3310128"/>
            <a:ext cx="4480560" cy="731520"/>
          </a:xfrm>
          <a:prstGeom prst="rect">
            <a:avLst/>
          </a:prstGeom>
          <a:noFill/>
        </p:spPr>
        <p:txBody>
          <a:bodyPr wrap="square" lIns="0" rIns="0" tIns="0" bIns="0">
            <a:spAutoFit/>
          </a:bodyPr>
          <a:lstStyle/>
          <a:p>
            <a:pPr algn="l">
              <a:lnSpc>
                <a:spcPct val="102000"/>
              </a:lnSpc>
              <a:spcAft>
                <a:spcPts val="300"/>
              </a:spcAft>
              <a:defRPr sz="1800" b="0">
                <a:solidFill>
                  <a:srgbClr val="FFFFFF"/>
                </a:solidFill>
                <a:latin typeface="DejaVu Sans"/>
              </a:defRPr>
            </a:pPr>
            <a:r>
              <a:t>ADN asignado a Aeromonas</a:t>
            </a:r>
          </a:p>
          <a:p>
            <a:pPr algn="l">
              <a:lnSpc>
                <a:spcPct val="102000"/>
              </a:lnSpc>
              <a:spcAft>
                <a:spcPts val="300"/>
              </a:spcAft>
              <a:defRPr sz="1800" b="0">
                <a:solidFill>
                  <a:srgbClr val="FFFFFF"/>
                </a:solidFill>
                <a:latin typeface="DejaVu Sans"/>
              </a:defRPr>
            </a:pPr>
            <a:r>
              <a:t>Viabilidad no confirmada</a:t>
            </a:r>
          </a:p>
        </p:txBody>
      </p:sp>
      <p:sp>
        <p:nvSpPr>
          <p:cNvPr id="57" name="TextBox 56"/>
          <p:cNvSpPr txBox="1"/>
          <p:nvPr/>
        </p:nvSpPr>
        <p:spPr>
          <a:xfrm>
            <a:off x="667512" y="4599432"/>
            <a:ext cx="3703320" cy="521207"/>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01 · ¿Dónde comparar?</a:t>
            </a:r>
          </a:p>
        </p:txBody>
      </p:sp>
      <p:sp>
        <p:nvSpPr>
          <p:cNvPr id="58" name="TextBox 57"/>
          <p:cNvSpPr txBox="1"/>
          <p:nvPr/>
        </p:nvSpPr>
        <p:spPr>
          <a:xfrm>
            <a:off x="4443983" y="4599432"/>
            <a:ext cx="3703320" cy="521207"/>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02 · ¿Qué complementar?</a:t>
            </a:r>
          </a:p>
        </p:txBody>
      </p:sp>
      <p:sp>
        <p:nvSpPr>
          <p:cNvPr id="59" name="TextBox 58"/>
          <p:cNvSpPr txBox="1"/>
          <p:nvPr/>
        </p:nvSpPr>
        <p:spPr>
          <a:xfrm>
            <a:off x="8220456" y="4599432"/>
            <a:ext cx="3703320" cy="521207"/>
          </a:xfrm>
          <a:prstGeom prst="rect">
            <a:avLst/>
          </a:prstGeom>
          <a:noFill/>
        </p:spPr>
        <p:txBody>
          <a:bodyPr wrap="square" lIns="0" rIns="0" tIns="0" bIns="0">
            <a:spAutoFit/>
          </a:bodyPr>
          <a:lstStyle/>
          <a:p>
            <a:pPr algn="l">
              <a:lnSpc>
                <a:spcPct val="102000"/>
              </a:lnSpc>
              <a:spcAft>
                <a:spcPts val="300"/>
              </a:spcAft>
              <a:defRPr sz="1700" b="1">
                <a:solidFill>
                  <a:srgbClr val="143543"/>
                </a:solidFill>
                <a:latin typeface="DejaVu Sans"/>
              </a:defRPr>
            </a:pPr>
            <a:r>
              <a:t>03 · ¿Qué no afirmar?</a:t>
            </a:r>
          </a:p>
        </p:txBody>
      </p:sp>
      <p:sp>
        <p:nvSpPr>
          <p:cNvPr id="60" name="Rounded Rectangle 59">
            <a:hlinkClick action="ppaction://hlinksldjump" r:id="rId4"/>
          </p:cNvPr>
          <p:cNvSpPr/>
          <p:nvPr/>
        </p:nvSpPr>
        <p:spPr>
          <a:xfrm>
            <a:off x="694944" y="5449824"/>
            <a:ext cx="3200400" cy="50292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a:hlinkClick action="ppaction://hlinksldjump" r:id="rId4"/>
          </p:cNvPr>
          <p:cNvSpPr txBox="1"/>
          <p:nvPr/>
        </p:nvSpPr>
        <p:spPr>
          <a:xfrm>
            <a:off x="813816" y="5522976"/>
            <a:ext cx="2962656" cy="411480"/>
          </a:xfrm>
          <a:prstGeom prst="rect">
            <a:avLst/>
          </a:prstGeom>
          <a:noFill/>
        </p:spPr>
        <p:txBody>
          <a:bodyPr wrap="square" lIns="0" rIns="0" tIns="0" bIns="0">
            <a:spAutoFit/>
          </a:bodyPr>
          <a:lstStyle/>
          <a:p>
            <a:pPr algn="l">
              <a:lnSpc>
                <a:spcPct val="102000"/>
              </a:lnSpc>
              <a:spcAft>
                <a:spcPts val="300"/>
              </a:spcAft>
              <a:defRPr sz="1400" b="1">
                <a:solidFill>
                  <a:srgbClr val="FFFFFF"/>
                </a:solidFill>
                <a:latin typeface="DejaVu Sans"/>
              </a:defRPr>
            </a:pPr>
            <a:r>
              <a:t>Mostrar guía de discusión</a:t>
            </a:r>
          </a:p>
        </p:txBody>
      </p:sp>
    </p:spTree>
  </p:cSld>
  <p:clrMapOvr>
    <a:masterClrMapping/>
  </p:clrMapOvr>
  <p:transition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LO QUE APORTO COMO DOCENTE</a:t>
            </a:r>
          </a:p>
        </p:txBody>
      </p:sp>
      <p:sp>
        <p:nvSpPr>
          <p:cNvPr id="3" name="TextBox 2"/>
          <p:cNvSpPr txBox="1"/>
          <p:nvPr/>
        </p:nvSpPr>
        <p:spPr>
          <a:xfrm>
            <a:off x="548640" y="859536"/>
            <a:ext cx="11064240" cy="1645920"/>
          </a:xfrm>
          <a:prstGeom prst="rect">
            <a:avLst/>
          </a:prstGeom>
          <a:noFill/>
        </p:spPr>
        <p:txBody>
          <a:bodyPr wrap="square" lIns="0" rIns="0" tIns="0" bIns="0">
            <a:spAutoFit/>
          </a:bodyPr>
          <a:lstStyle/>
          <a:p>
            <a:pPr algn="l">
              <a:lnSpc>
                <a:spcPct val="102000"/>
              </a:lnSpc>
              <a:spcAft>
                <a:spcPts val="300"/>
              </a:spcAft>
              <a:defRPr sz="3600" b="1">
                <a:solidFill>
                  <a:srgbClr val="143543"/>
                </a:solidFill>
                <a:latin typeface="DejaVu Sans"/>
              </a:defRPr>
            </a:pPr>
            <a:r>
              <a:t>Rigor técnico.</a:t>
            </a:r>
          </a:p>
          <a:p>
            <a:pPr algn="l">
              <a:lnSpc>
                <a:spcPct val="102000"/>
              </a:lnSpc>
              <a:spcAft>
                <a:spcPts val="300"/>
              </a:spcAft>
              <a:defRPr sz="3600" b="1">
                <a:solidFill>
                  <a:srgbClr val="143543"/>
                </a:solidFill>
                <a:latin typeface="DejaVu Sans"/>
              </a:defRPr>
            </a:pPr>
            <a:r>
              <a:t>Criterio científico.</a:t>
            </a:r>
          </a:p>
          <a:p>
            <a:pPr algn="l">
              <a:lnSpc>
                <a:spcPct val="102000"/>
              </a:lnSpc>
              <a:spcAft>
                <a:spcPts val="300"/>
              </a:spcAft>
              <a:defRPr sz="3600" b="1">
                <a:solidFill>
                  <a:srgbClr val="143543"/>
                </a:solidFill>
                <a:latin typeface="DejaVu Sans"/>
              </a:defRPr>
            </a:pPr>
            <a:r>
              <a:t>Conexión con el entorno.</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Síntesis profesional y propuesta docente a partir del CV y los proyectos aportados.</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22</a:t>
            </a:r>
          </a:p>
        </p:txBody>
      </p:sp>
      <p:sp>
        <p:nvSpPr>
          <p:cNvPr id="6" name="Rectangle 5"/>
          <p:cNvSpPr/>
          <p:nvPr/>
        </p:nvSpPr>
        <p:spPr>
          <a:xfrm>
            <a:off x="0" y="6821424"/>
            <a:ext cx="11661883"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548640" y="3035808"/>
            <a:ext cx="3566160" cy="2651760"/>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29000" y="3236976"/>
            <a:ext cx="411480" cy="274320"/>
          </a:xfrm>
          <a:prstGeom prst="rect">
            <a:avLst/>
          </a:prstGeom>
          <a:noFill/>
        </p:spPr>
        <p:txBody>
          <a:bodyPr wrap="square" lIns="0" rIns="0" tIns="0" bIns="0">
            <a:spAutoFit/>
          </a:bodyPr>
          <a:lstStyle/>
          <a:p>
            <a:pPr algn="l">
              <a:lnSpc>
                <a:spcPct val="102000"/>
              </a:lnSpc>
              <a:spcAft>
                <a:spcPts val="300"/>
              </a:spcAft>
              <a:defRPr sz="1300" b="0">
                <a:solidFill>
                  <a:srgbClr val="126E70"/>
                </a:solidFill>
                <a:latin typeface="DejaVu Sans"/>
              </a:defRPr>
            </a:pPr>
            <a:r>
              <a:t>01</a:t>
            </a:r>
          </a:p>
        </p:txBody>
      </p:sp>
      <p:sp>
        <p:nvSpPr>
          <p:cNvPr id="11" name="Trapezoid 10"/>
          <p:cNvSpPr/>
          <p:nvPr/>
        </p:nvSpPr>
        <p:spPr>
          <a:xfrm>
            <a:off x="906170" y="3611879"/>
            <a:ext cx="480059" cy="352044"/>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72591" y="3394252"/>
            <a:ext cx="147218" cy="288036"/>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8583" y="3784701"/>
            <a:ext cx="27523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59" y="4297679"/>
            <a:ext cx="3017520" cy="822960"/>
          </a:xfrm>
          <a:prstGeom prst="rect">
            <a:avLst/>
          </a:prstGeom>
          <a:noFill/>
        </p:spPr>
        <p:txBody>
          <a:bodyPr wrap="square" lIns="0" rIns="0" tIns="0" bIns="0">
            <a:spAutoFit/>
          </a:bodyPr>
          <a:lstStyle/>
          <a:p>
            <a:pPr algn="l">
              <a:lnSpc>
                <a:spcPct val="102000"/>
              </a:lnSpc>
              <a:spcAft>
                <a:spcPts val="300"/>
              </a:spcAft>
              <a:defRPr sz="2200" b="1">
                <a:solidFill>
                  <a:srgbClr val="143543"/>
                </a:solidFill>
                <a:latin typeface="DejaVu Sans"/>
              </a:defRPr>
            </a:pPr>
            <a:r>
              <a:t>Del procedimiento al porqué</a:t>
            </a:r>
          </a:p>
        </p:txBody>
      </p:sp>
      <p:sp>
        <p:nvSpPr>
          <p:cNvPr id="15" name="TextBox 14"/>
          <p:cNvSpPr txBox="1"/>
          <p:nvPr/>
        </p:nvSpPr>
        <p:spPr>
          <a:xfrm>
            <a:off x="822959" y="5120640"/>
            <a:ext cx="3017520" cy="57607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Explicar qué mide cada técnica.</a:t>
            </a:r>
          </a:p>
        </p:txBody>
      </p:sp>
      <p:sp>
        <p:nvSpPr>
          <p:cNvPr id="16" name="Rounded Rectangle 15"/>
          <p:cNvSpPr/>
          <p:nvPr/>
        </p:nvSpPr>
        <p:spPr>
          <a:xfrm>
            <a:off x="4325112" y="3035808"/>
            <a:ext cx="3566160" cy="265176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5471" y="3236976"/>
            <a:ext cx="411480" cy="274320"/>
          </a:xfrm>
          <a:prstGeom prst="rect">
            <a:avLst/>
          </a:prstGeom>
          <a:noFill/>
        </p:spPr>
        <p:txBody>
          <a:bodyPr wrap="square" lIns="0" rIns="0" tIns="0" bIns="0">
            <a:spAutoFit/>
          </a:bodyPr>
          <a:lstStyle/>
          <a:p>
            <a:pPr algn="l">
              <a:lnSpc>
                <a:spcPct val="102000"/>
              </a:lnSpc>
              <a:spcAft>
                <a:spcPts val="300"/>
              </a:spcAft>
              <a:defRPr sz="1300" b="0">
                <a:solidFill>
                  <a:srgbClr val="D8EB80"/>
                </a:solidFill>
                <a:latin typeface="DejaVu Sans"/>
              </a:defRPr>
            </a:pPr>
            <a:r>
              <a:t>02</a:t>
            </a:r>
          </a:p>
        </p:txBody>
      </p:sp>
      <p:sp>
        <p:nvSpPr>
          <p:cNvPr id="18" name="Oval 17"/>
          <p:cNvSpPr/>
          <p:nvPr/>
        </p:nvSpPr>
        <p:spPr>
          <a:xfrm>
            <a:off x="4919471" y="335584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19471" y="335584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919471" y="3355848"/>
            <a:ext cx="0"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984183" y="33914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54760" y="33914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040163" y="34269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98780" y="34269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79860" y="346252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59083" y="346252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H="1">
            <a:off x="4759083" y="3462528"/>
            <a:ext cx="32077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097917" y="349808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41026" y="349808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91898" y="353364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47045" y="353364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062615" y="35692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76328" y="35692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H="1">
            <a:off x="4776328" y="3569208"/>
            <a:ext cx="28628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5014020" y="36047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24923" y="36047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952668" y="364032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86275" y="364032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86837" y="367588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952106" y="367588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4886837" y="3675887"/>
            <a:ext cx="65269"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825409" y="371144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013534" y="371144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776672" y="37470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062271" y="374700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47202" y="37825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091741" y="37825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747202" y="3782568"/>
            <a:ext cx="344539"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4740974" y="381812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097969" y="381812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758829" y="385368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5080114" y="385368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798358" y="388924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040585" y="388924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4798358" y="3889247"/>
            <a:ext cx="242227"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4854228" y="392480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984715" y="3924807"/>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918901" y="39603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920042" y="3960368"/>
            <a:ext cx="32004" cy="320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99431" y="4297679"/>
            <a:ext cx="3017520" cy="822960"/>
          </a:xfrm>
          <a:prstGeom prst="rect">
            <a:avLst/>
          </a:prstGeom>
          <a:noFill/>
        </p:spPr>
        <p:txBody>
          <a:bodyPr wrap="square" lIns="0" rIns="0" tIns="0" bIns="0">
            <a:spAutoFit/>
          </a:bodyPr>
          <a:lstStyle/>
          <a:p>
            <a:pPr algn="l">
              <a:lnSpc>
                <a:spcPct val="102000"/>
              </a:lnSpc>
              <a:spcAft>
                <a:spcPts val="300"/>
              </a:spcAft>
              <a:defRPr sz="2200" b="1">
                <a:solidFill>
                  <a:srgbClr val="FFFFFF"/>
                </a:solidFill>
                <a:latin typeface="DejaVu Sans"/>
              </a:defRPr>
            </a:pPr>
            <a:r>
              <a:t>Del dato al argumento</a:t>
            </a:r>
          </a:p>
        </p:txBody>
      </p:sp>
      <p:sp>
        <p:nvSpPr>
          <p:cNvPr id="61" name="TextBox 60"/>
          <p:cNvSpPr txBox="1"/>
          <p:nvPr/>
        </p:nvSpPr>
        <p:spPr>
          <a:xfrm>
            <a:off x="4599431" y="5120640"/>
            <a:ext cx="3017520" cy="576072"/>
          </a:xfrm>
          <a:prstGeom prst="rect">
            <a:avLst/>
          </a:prstGeom>
          <a:noFill/>
        </p:spPr>
        <p:txBody>
          <a:bodyPr wrap="square" lIns="0" rIns="0" tIns="0" bIns="0">
            <a:spAutoFit/>
          </a:bodyPr>
          <a:lstStyle/>
          <a:p>
            <a:pPr algn="l">
              <a:lnSpc>
                <a:spcPct val="102000"/>
              </a:lnSpc>
              <a:spcAft>
                <a:spcPts val="300"/>
              </a:spcAft>
              <a:defRPr sz="1500" b="0">
                <a:solidFill>
                  <a:srgbClr val="FFFFFF"/>
                </a:solidFill>
                <a:latin typeface="DejaVu Sans"/>
              </a:defRPr>
            </a:pPr>
            <a:r>
              <a:t>Justificar conclusiones y límites.</a:t>
            </a:r>
          </a:p>
        </p:txBody>
      </p:sp>
      <p:sp>
        <p:nvSpPr>
          <p:cNvPr id="62" name="Rounded Rectangle 61"/>
          <p:cNvSpPr/>
          <p:nvPr/>
        </p:nvSpPr>
        <p:spPr>
          <a:xfrm>
            <a:off x="8101583" y="3035808"/>
            <a:ext cx="3566160" cy="265176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981944" y="3236976"/>
            <a:ext cx="411480" cy="274320"/>
          </a:xfrm>
          <a:prstGeom prst="rect">
            <a:avLst/>
          </a:prstGeom>
          <a:noFill/>
        </p:spPr>
        <p:txBody>
          <a:bodyPr wrap="square" lIns="0" rIns="0" tIns="0" bIns="0">
            <a:spAutoFit/>
          </a:bodyPr>
          <a:lstStyle/>
          <a:p>
            <a:pPr algn="l">
              <a:lnSpc>
                <a:spcPct val="102000"/>
              </a:lnSpc>
              <a:spcAft>
                <a:spcPts val="300"/>
              </a:spcAft>
              <a:defRPr sz="1300" b="0">
                <a:solidFill>
                  <a:srgbClr val="126E70"/>
                </a:solidFill>
                <a:latin typeface="DejaVu Sans"/>
              </a:defRPr>
            </a:pPr>
            <a:r>
              <a:t>03</a:t>
            </a:r>
          </a:p>
        </p:txBody>
      </p:sp>
      <p:sp>
        <p:nvSpPr>
          <p:cNvPr id="64" name="Teardrop 63"/>
          <p:cNvSpPr/>
          <p:nvPr/>
        </p:nvSpPr>
        <p:spPr>
          <a:xfrm rot="18900000">
            <a:off x="8471916" y="3355848"/>
            <a:ext cx="448055" cy="640080"/>
          </a:xfrm>
          <a:prstGeom prst="teardrop">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75904" y="4297679"/>
            <a:ext cx="3017520" cy="822960"/>
          </a:xfrm>
          <a:prstGeom prst="rect">
            <a:avLst/>
          </a:prstGeom>
          <a:noFill/>
        </p:spPr>
        <p:txBody>
          <a:bodyPr wrap="square" lIns="0" rIns="0" tIns="0" bIns="0">
            <a:spAutoFit/>
          </a:bodyPr>
          <a:lstStyle/>
          <a:p>
            <a:pPr algn="l">
              <a:lnSpc>
                <a:spcPct val="102000"/>
              </a:lnSpc>
              <a:spcAft>
                <a:spcPts val="300"/>
              </a:spcAft>
              <a:defRPr sz="2200" b="1">
                <a:solidFill>
                  <a:srgbClr val="143543"/>
                </a:solidFill>
                <a:latin typeface="DejaVu Sans"/>
              </a:defRPr>
            </a:pPr>
            <a:r>
              <a:t>Del aula al contexto</a:t>
            </a:r>
          </a:p>
        </p:txBody>
      </p:sp>
      <p:sp>
        <p:nvSpPr>
          <p:cNvPr id="66" name="TextBox 65"/>
          <p:cNvSpPr txBox="1"/>
          <p:nvPr/>
        </p:nvSpPr>
        <p:spPr>
          <a:xfrm>
            <a:off x="8375904" y="5120640"/>
            <a:ext cx="3017520" cy="576072"/>
          </a:xfrm>
          <a:prstGeom prst="rect">
            <a:avLst/>
          </a:prstGeom>
          <a:noFill/>
        </p:spPr>
        <p:txBody>
          <a:bodyPr wrap="square" lIns="0" rIns="0" tIns="0" bIns="0">
            <a:spAutoFit/>
          </a:bodyPr>
          <a:lstStyle/>
          <a:p>
            <a:pPr algn="l">
              <a:lnSpc>
                <a:spcPct val="102000"/>
              </a:lnSpc>
              <a:spcAft>
                <a:spcPts val="300"/>
              </a:spcAft>
              <a:defRPr sz="1500" b="0">
                <a:solidFill>
                  <a:srgbClr val="143543"/>
                </a:solidFill>
                <a:latin typeface="DejaVu Sans"/>
              </a:defRPr>
            </a:pPr>
            <a:r>
              <a:t>Trabajar con problemas reales.</a:t>
            </a:r>
          </a:p>
        </p:txBody>
      </p:sp>
    </p:spTree>
  </p:cSld>
  <p:clrMapOvr>
    <a:masterClrMapping/>
  </p:clrMapOvr>
  <p:transition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D8EB80"/>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GRACIAS</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Síntesis de los casos aportados por Emilia Espín Loza.</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23</a:t>
            </a:r>
          </a:p>
        </p:txBody>
      </p:sp>
      <p:sp>
        <p:nvSpPr>
          <p:cNvPr id="7" name="Rectangle 6"/>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TextBox 9"/>
          <p:cNvSpPr txBox="1"/>
          <p:nvPr/>
        </p:nvSpPr>
        <p:spPr>
          <a:xfrm>
            <a:off x="594360" y="1024128"/>
            <a:ext cx="10972800" cy="1600200"/>
          </a:xfrm>
          <a:prstGeom prst="rect">
            <a:avLst/>
          </a:prstGeom>
          <a:noFill/>
        </p:spPr>
        <p:txBody>
          <a:bodyPr wrap="square" lIns="0" rIns="0" tIns="0" bIns="0">
            <a:spAutoFit/>
          </a:bodyPr>
          <a:lstStyle/>
          <a:p>
            <a:pPr algn="l">
              <a:lnSpc>
                <a:spcPct val="102000"/>
              </a:lnSpc>
              <a:spcAft>
                <a:spcPts val="300"/>
              </a:spcAft>
              <a:defRPr sz="4800" b="1">
                <a:solidFill>
                  <a:srgbClr val="143543"/>
                </a:solidFill>
                <a:latin typeface="DejaVu Sans"/>
              </a:defRPr>
            </a:pPr>
            <a:r>
              <a:t>Enseñar microbiología</a:t>
            </a:r>
          </a:p>
          <a:p>
            <a:pPr algn="l">
              <a:lnSpc>
                <a:spcPct val="102000"/>
              </a:lnSpc>
              <a:spcAft>
                <a:spcPts val="300"/>
              </a:spcAft>
              <a:defRPr sz="4800" b="1">
                <a:solidFill>
                  <a:srgbClr val="143543"/>
                </a:solidFill>
                <a:latin typeface="DejaVu Sans"/>
              </a:defRPr>
            </a:pPr>
            <a:r>
              <a:t>es enseñar a preguntar.</a:t>
            </a:r>
          </a:p>
        </p:txBody>
      </p:sp>
      <p:sp>
        <p:nvSpPr>
          <p:cNvPr id="11" name="TextBox 10"/>
          <p:cNvSpPr txBox="1"/>
          <p:nvPr/>
        </p:nvSpPr>
        <p:spPr>
          <a:xfrm>
            <a:off x="621792" y="2926080"/>
            <a:ext cx="10789920" cy="731520"/>
          </a:xfrm>
          <a:prstGeom prst="rect">
            <a:avLst/>
          </a:prstGeom>
          <a:noFill/>
        </p:spPr>
        <p:txBody>
          <a:bodyPr wrap="square" lIns="0" rIns="0" tIns="0" bIns="0">
            <a:spAutoFit/>
          </a:bodyPr>
          <a:lstStyle/>
          <a:p>
            <a:pPr algn="l">
              <a:lnSpc>
                <a:spcPct val="102000"/>
              </a:lnSpc>
              <a:spcAft>
                <a:spcPts val="300"/>
              </a:spcAft>
              <a:defRPr sz="2100" b="0">
                <a:solidFill>
                  <a:srgbClr val="143543"/>
                </a:solidFill>
                <a:latin typeface="DejaVu Sans"/>
              </a:defRPr>
            </a:pPr>
            <a:r>
              <a:t>Emilia Espín Loza</a:t>
            </a:r>
          </a:p>
          <a:p>
            <a:pPr algn="l">
              <a:lnSpc>
                <a:spcPct val="102000"/>
              </a:lnSpc>
              <a:spcAft>
                <a:spcPts val="300"/>
              </a:spcAft>
              <a:defRPr sz="2100" b="0">
                <a:solidFill>
                  <a:srgbClr val="143543"/>
                </a:solidFill>
                <a:latin typeface="DejaVu Sans"/>
              </a:defRPr>
            </a:pPr>
            <a:r>
              <a:t>Microbiología · Ciencias biomédicas</a:t>
            </a:r>
          </a:p>
        </p:txBody>
      </p:sp>
      <p:sp>
        <p:nvSpPr>
          <p:cNvPr id="12" name="Trapezoid 11"/>
          <p:cNvSpPr/>
          <p:nvPr/>
        </p:nvSpPr>
        <p:spPr>
          <a:xfrm>
            <a:off x="912114" y="4910328"/>
            <a:ext cx="514350" cy="377190"/>
          </a:xfrm>
          <a:prstGeom prst="trapezoid">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0422" y="4677156"/>
            <a:ext cx="157734" cy="308610"/>
          </a:xfrm>
          <a:prstGeom prst="rect">
            <a:avLst/>
          </a:prstGeom>
          <a:solidFill>
            <a:srgbClr val="F4F5EF"/>
          </a:solid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21842" y="5095494"/>
            <a:ext cx="294894"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755648" y="4828032"/>
            <a:ext cx="2651760" cy="457200"/>
          </a:xfrm>
          <a:prstGeom prst="rect">
            <a:avLst/>
          </a:prstGeom>
          <a:noFill/>
        </p:spPr>
        <p:txBody>
          <a:bodyPr wrap="square" lIns="0" rIns="0" tIns="0" bIns="0">
            <a:spAutoFit/>
          </a:bodyPr>
          <a:lstStyle/>
          <a:p>
            <a:pPr algn="l">
              <a:lnSpc>
                <a:spcPct val="102000"/>
              </a:lnSpc>
              <a:spcAft>
                <a:spcPts val="300"/>
              </a:spcAft>
              <a:defRPr sz="2000" b="0">
                <a:solidFill>
                  <a:srgbClr val="143543"/>
                </a:solidFill>
                <a:latin typeface="DejaVu Sans"/>
              </a:defRPr>
            </a:pPr>
            <a:r>
              <a:t>Procedimiento</a:t>
            </a:r>
          </a:p>
        </p:txBody>
      </p:sp>
      <p:sp>
        <p:nvSpPr>
          <p:cNvPr id="16" name="TextBox 15"/>
          <p:cNvSpPr txBox="1"/>
          <p:nvPr/>
        </p:nvSpPr>
        <p:spPr>
          <a:xfrm>
            <a:off x="3995928" y="4718304"/>
            <a:ext cx="457200" cy="548640"/>
          </a:xfrm>
          <a:prstGeom prst="rect">
            <a:avLst/>
          </a:prstGeom>
          <a:noFill/>
        </p:spPr>
        <p:txBody>
          <a:bodyPr wrap="square" lIns="0" rIns="0" tIns="0" bIns="0">
            <a:spAutoFit/>
          </a:bodyPr>
          <a:lstStyle/>
          <a:p>
            <a:pPr algn="l">
              <a:lnSpc>
                <a:spcPct val="102000"/>
              </a:lnSpc>
              <a:spcAft>
                <a:spcPts val="300"/>
              </a:spcAft>
              <a:defRPr sz="2600" b="0">
                <a:solidFill>
                  <a:srgbClr val="126E70"/>
                </a:solidFill>
                <a:latin typeface="DejaVu Sans"/>
              </a:defRPr>
            </a:pPr>
            <a:r>
              <a:t>→</a:t>
            </a:r>
          </a:p>
        </p:txBody>
      </p:sp>
      <p:cxnSp>
        <p:nvCxnSpPr>
          <p:cNvPr id="17" name="Connector 16"/>
          <p:cNvCxnSpPr/>
          <p:nvPr/>
        </p:nvCxnSpPr>
        <p:spPr>
          <a:xfrm>
            <a:off x="4590288" y="5321808"/>
            <a:ext cx="685800"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590288" y="4636008"/>
            <a:ext cx="0" cy="68580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700016" y="5081778"/>
            <a:ext cx="109728" cy="240029"/>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85182" y="4876038"/>
            <a:ext cx="109728" cy="445770"/>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0348" y="4704588"/>
            <a:ext cx="109728" cy="617220"/>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2976" y="4828032"/>
            <a:ext cx="2651760" cy="457200"/>
          </a:xfrm>
          <a:prstGeom prst="rect">
            <a:avLst/>
          </a:prstGeom>
          <a:noFill/>
        </p:spPr>
        <p:txBody>
          <a:bodyPr wrap="square" lIns="0" rIns="0" tIns="0" bIns="0">
            <a:spAutoFit/>
          </a:bodyPr>
          <a:lstStyle/>
          <a:p>
            <a:pPr algn="l">
              <a:lnSpc>
                <a:spcPct val="102000"/>
              </a:lnSpc>
              <a:spcAft>
                <a:spcPts val="300"/>
              </a:spcAft>
              <a:defRPr sz="2000" b="0">
                <a:solidFill>
                  <a:srgbClr val="143543"/>
                </a:solidFill>
                <a:latin typeface="DejaVu Sans"/>
              </a:defRPr>
            </a:pPr>
            <a:r>
              <a:t>Argumento</a:t>
            </a:r>
          </a:p>
        </p:txBody>
      </p:sp>
      <p:sp>
        <p:nvSpPr>
          <p:cNvPr id="23" name="TextBox 22"/>
          <p:cNvSpPr txBox="1"/>
          <p:nvPr/>
        </p:nvSpPr>
        <p:spPr>
          <a:xfrm>
            <a:off x="7763256" y="4718304"/>
            <a:ext cx="457200" cy="548640"/>
          </a:xfrm>
          <a:prstGeom prst="rect">
            <a:avLst/>
          </a:prstGeom>
          <a:noFill/>
        </p:spPr>
        <p:txBody>
          <a:bodyPr wrap="square" lIns="0" rIns="0" tIns="0" bIns="0">
            <a:spAutoFit/>
          </a:bodyPr>
          <a:lstStyle/>
          <a:p>
            <a:pPr algn="l">
              <a:lnSpc>
                <a:spcPct val="102000"/>
              </a:lnSpc>
              <a:spcAft>
                <a:spcPts val="300"/>
              </a:spcAft>
              <a:defRPr sz="2600" b="0">
                <a:solidFill>
                  <a:srgbClr val="126E70"/>
                </a:solidFill>
                <a:latin typeface="DejaVu Sans"/>
              </a:defRPr>
            </a:pPr>
            <a:r>
              <a:t>→</a:t>
            </a:r>
          </a:p>
        </p:txBody>
      </p:sp>
      <p:sp>
        <p:nvSpPr>
          <p:cNvPr id="24" name="Oval 23"/>
          <p:cNvSpPr/>
          <p:nvPr/>
        </p:nvSpPr>
        <p:spPr>
          <a:xfrm>
            <a:off x="8426196" y="4793742"/>
            <a:ext cx="105613" cy="105613"/>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412480" y="4923358"/>
            <a:ext cx="129616" cy="17762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775954" y="4793742"/>
            <a:ext cx="105613" cy="105613"/>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762238" y="4923358"/>
            <a:ext cx="129616" cy="17762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597646" y="4636008"/>
            <a:ext cx="150876" cy="150876"/>
          </a:xfrm>
          <a:prstGeom prst="ellipse">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83930" y="4821174"/>
            <a:ext cx="185166" cy="253745"/>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90304" y="4828032"/>
            <a:ext cx="2651760" cy="457200"/>
          </a:xfrm>
          <a:prstGeom prst="rect">
            <a:avLst/>
          </a:prstGeom>
          <a:noFill/>
        </p:spPr>
        <p:txBody>
          <a:bodyPr wrap="square" lIns="0" rIns="0" tIns="0" bIns="0">
            <a:spAutoFit/>
          </a:bodyPr>
          <a:lstStyle/>
          <a:p>
            <a:pPr algn="l">
              <a:lnSpc>
                <a:spcPct val="102000"/>
              </a:lnSpc>
              <a:spcAft>
                <a:spcPts val="300"/>
              </a:spcAft>
              <a:defRPr sz="2000" b="0">
                <a:solidFill>
                  <a:srgbClr val="143543"/>
                </a:solidFill>
                <a:latin typeface="DejaVu Sans"/>
              </a:defRPr>
            </a:pPr>
            <a:r>
              <a:t>Aprendizaje</a:t>
            </a:r>
          </a:p>
        </p:txBody>
      </p:sp>
    </p:spTree>
  </p:cSld>
  <p:clrMapOvr>
    <a:masterClrMapping/>
  </p:clrMapOvr>
  <p:transition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ANEXO · NAVEGACIÓN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Elige una parte del recorrido</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23 diapositivas principales · 30 minutos previstos. Los anexos no añaden tiempo.</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6" name="Rectangle 5"/>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a:hlinkClick action="ppaction://hlinksldjump" r:id="rId3"/>
          </p:cNvPr>
          <p:cNvSpPr/>
          <p:nvPr/>
        </p:nvSpPr>
        <p:spPr>
          <a:xfrm>
            <a:off x="603504" y="249631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3"/>
          </p:cNvPr>
          <p:cNvSpPr txBox="1"/>
          <p:nvPr/>
        </p:nvSpPr>
        <p:spPr>
          <a:xfrm>
            <a:off x="722376" y="256946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01  Emilia Espín Loza</a:t>
            </a:r>
          </a:p>
        </p:txBody>
      </p:sp>
      <p:sp>
        <p:nvSpPr>
          <p:cNvPr id="11" name="Rounded Rectangle 10">
            <a:hlinkClick action="ppaction://hlinksldjump" r:id="rId4"/>
          </p:cNvPr>
          <p:cNvSpPr/>
          <p:nvPr/>
        </p:nvSpPr>
        <p:spPr>
          <a:xfrm>
            <a:off x="4389120" y="249631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a:hlinkClick action="ppaction://hlinksldjump" r:id="rId4"/>
          </p:cNvPr>
          <p:cNvSpPr txBox="1"/>
          <p:nvPr/>
        </p:nvSpPr>
        <p:spPr>
          <a:xfrm>
            <a:off x="4507992" y="256946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02  El agua se ve limpia. ¿La beberías?</a:t>
            </a:r>
          </a:p>
        </p:txBody>
      </p:sp>
      <p:sp>
        <p:nvSpPr>
          <p:cNvPr id="13" name="Rounded Rectangle 12">
            <a:hlinkClick action="ppaction://hlinksldjump" r:id="rId5"/>
          </p:cNvPr>
          <p:cNvSpPr/>
          <p:nvPr/>
        </p:nvSpPr>
        <p:spPr>
          <a:xfrm>
            <a:off x="8174736" y="249631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5"/>
          </p:cNvPr>
          <p:cNvSpPr txBox="1"/>
          <p:nvPr/>
        </p:nvSpPr>
        <p:spPr>
          <a:xfrm>
            <a:off x="8293608" y="256946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03  Una base científica. Tres formas de aportar.</a:t>
            </a:r>
          </a:p>
        </p:txBody>
      </p:sp>
      <p:sp>
        <p:nvSpPr>
          <p:cNvPr id="15" name="Rounded Rectangle 14">
            <a:hlinkClick action="ppaction://hlinksldjump" r:id="rId6"/>
          </p:cNvPr>
          <p:cNvSpPr/>
          <p:nvPr/>
        </p:nvSpPr>
        <p:spPr>
          <a:xfrm>
            <a:off x="603504" y="290779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6"/>
          </p:cNvPr>
          <p:cNvSpPr txBox="1"/>
          <p:nvPr/>
        </p:nvSpPr>
        <p:spPr>
          <a:xfrm>
            <a:off x="722376" y="298094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04  De la microbiología a las ciencias biomédicas</a:t>
            </a:r>
          </a:p>
        </p:txBody>
      </p:sp>
      <p:sp>
        <p:nvSpPr>
          <p:cNvPr id="17" name="Rounded Rectangle 16">
            <a:hlinkClick action="ppaction://hlinksldjump" r:id="rId7"/>
          </p:cNvPr>
          <p:cNvSpPr/>
          <p:nvPr/>
        </p:nvSpPr>
        <p:spPr>
          <a:xfrm>
            <a:off x="4389120" y="290779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a:hlinkClick action="ppaction://hlinksldjump" r:id="rId7"/>
          </p:cNvPr>
          <p:cNvSpPr txBox="1"/>
          <p:nvPr/>
        </p:nvSpPr>
        <p:spPr>
          <a:xfrm>
            <a:off x="4507992" y="298094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05  Tres experiencias que conecto con el aula</a:t>
            </a:r>
          </a:p>
        </p:txBody>
      </p:sp>
      <p:sp>
        <p:nvSpPr>
          <p:cNvPr id="19" name="Rounded Rectangle 18">
            <a:hlinkClick action="ppaction://hlinksldjump" r:id="rId8"/>
          </p:cNvPr>
          <p:cNvSpPr/>
          <p:nvPr/>
        </p:nvSpPr>
        <p:spPr>
          <a:xfrm>
            <a:off x="8174736" y="290779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a:hlinkClick action="ppaction://hlinksldjump" r:id="rId8"/>
          </p:cNvPr>
          <p:cNvSpPr txBox="1"/>
          <p:nvPr/>
        </p:nvSpPr>
        <p:spPr>
          <a:xfrm>
            <a:off x="8293608" y="298094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06  El laboratorio como escuela de criterio técnico</a:t>
            </a:r>
          </a:p>
        </p:txBody>
      </p:sp>
      <p:sp>
        <p:nvSpPr>
          <p:cNvPr id="21" name="Rounded Rectangle 20">
            <a:hlinkClick action="ppaction://hlinksldjump" r:id="rId9"/>
          </p:cNvPr>
          <p:cNvSpPr/>
          <p:nvPr/>
        </p:nvSpPr>
        <p:spPr>
          <a:xfrm>
            <a:off x="603504" y="331927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a:hlinkClick action="ppaction://hlinksldjump" r:id="rId9"/>
          </p:cNvPr>
          <p:cNvSpPr txBox="1"/>
          <p:nvPr/>
        </p:nvSpPr>
        <p:spPr>
          <a:xfrm>
            <a:off x="722376" y="339242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07  Personas y procesos detrás del laboratorio</a:t>
            </a:r>
          </a:p>
        </p:txBody>
      </p:sp>
      <p:sp>
        <p:nvSpPr>
          <p:cNvPr id="23" name="Rounded Rectangle 22">
            <a:hlinkClick action="ppaction://hlinksldjump" r:id="rId10"/>
          </p:cNvPr>
          <p:cNvSpPr/>
          <p:nvPr/>
        </p:nvSpPr>
        <p:spPr>
          <a:xfrm>
            <a:off x="4389120" y="331927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10"/>
          </p:cNvPr>
          <p:cNvSpPr txBox="1"/>
          <p:nvPr/>
        </p:nvSpPr>
        <p:spPr>
          <a:xfrm>
            <a:off x="4507992" y="339242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08  Loja: coordinar, muestrear y aprender</a:t>
            </a:r>
          </a:p>
        </p:txBody>
      </p:sp>
      <p:sp>
        <p:nvSpPr>
          <p:cNvPr id="25" name="Rounded Rectangle 24">
            <a:hlinkClick action="ppaction://hlinksldjump" r:id="rId11"/>
          </p:cNvPr>
          <p:cNvSpPr/>
          <p:nvPr/>
        </p:nvSpPr>
        <p:spPr>
          <a:xfrm>
            <a:off x="8174736" y="331927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11"/>
          </p:cNvPr>
          <p:cNvSpPr txBox="1"/>
          <p:nvPr/>
        </p:nvSpPr>
        <p:spPr>
          <a:xfrm>
            <a:off x="8293608" y="339242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09  Coordinar también es cuidar la calidad del dato</a:t>
            </a:r>
          </a:p>
        </p:txBody>
      </p:sp>
      <p:sp>
        <p:nvSpPr>
          <p:cNvPr id="27" name="Rounded Rectangle 26">
            <a:hlinkClick action="ppaction://hlinksldjump" r:id="rId12"/>
          </p:cNvPr>
          <p:cNvSpPr/>
          <p:nvPr/>
        </p:nvSpPr>
        <p:spPr>
          <a:xfrm>
            <a:off x="603504" y="373075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a:hlinkClick action="ppaction://hlinksldjump" r:id="rId12"/>
          </p:cNvPr>
          <p:cNvSpPr txBox="1"/>
          <p:nvPr/>
        </p:nvSpPr>
        <p:spPr>
          <a:xfrm>
            <a:off x="722376" y="380390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10  Un indicador responde una pregunta concreta</a:t>
            </a:r>
          </a:p>
        </p:txBody>
      </p:sp>
      <p:sp>
        <p:nvSpPr>
          <p:cNvPr id="29" name="Rounded Rectangle 28">
            <a:hlinkClick action="ppaction://hlinksldjump" r:id="rId13"/>
          </p:cNvPr>
          <p:cNvSpPr/>
          <p:nvPr/>
        </p:nvSpPr>
        <p:spPr>
          <a:xfrm>
            <a:off x="4389120" y="373075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a:hlinkClick action="ppaction://hlinksldjump" r:id="rId13"/>
          </p:cNvPr>
          <p:cNvSpPr txBox="1"/>
          <p:nvPr/>
        </p:nvSpPr>
        <p:spPr>
          <a:xfrm>
            <a:off x="4507992" y="380390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11  Lo aprendido con la comunidad</a:t>
            </a:r>
          </a:p>
        </p:txBody>
      </p:sp>
      <p:sp>
        <p:nvSpPr>
          <p:cNvPr id="31" name="Rounded Rectangle 30">
            <a:hlinkClick action="ppaction://hlinksldjump" r:id="rId14"/>
          </p:cNvPr>
          <p:cNvSpPr/>
          <p:nvPr/>
        </p:nvSpPr>
        <p:spPr>
          <a:xfrm>
            <a:off x="8174736" y="373075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action="ppaction://hlinksldjump" r:id="rId14"/>
          </p:cNvPr>
          <p:cNvSpPr txBox="1"/>
          <p:nvPr/>
        </p:nvSpPr>
        <p:spPr>
          <a:xfrm>
            <a:off x="8293608" y="380390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12  Una mirada comparativa: Ecuador y Canadá</a:t>
            </a:r>
          </a:p>
        </p:txBody>
      </p:sp>
      <p:sp>
        <p:nvSpPr>
          <p:cNvPr id="33" name="Rounded Rectangle 32">
            <a:hlinkClick action="ppaction://hlinksldjump" r:id="rId15"/>
          </p:cNvPr>
          <p:cNvSpPr/>
          <p:nvPr/>
        </p:nvSpPr>
        <p:spPr>
          <a:xfrm>
            <a:off x="603504" y="414223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action="ppaction://hlinksldjump" r:id="rId15"/>
          </p:cNvPr>
          <p:cNvSpPr txBox="1"/>
          <p:nvPr/>
        </p:nvSpPr>
        <p:spPr>
          <a:xfrm>
            <a:off x="722376" y="421538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13  Del agua al ADN recuperado</a:t>
            </a:r>
          </a:p>
        </p:txBody>
      </p:sp>
      <p:sp>
        <p:nvSpPr>
          <p:cNvPr id="35" name="Rounded Rectangle 34">
            <a:hlinkClick action="ppaction://hlinksldjump" r:id="rId16"/>
          </p:cNvPr>
          <p:cNvSpPr/>
          <p:nvPr/>
        </p:nvSpPr>
        <p:spPr>
          <a:xfrm>
            <a:off x="4389120" y="414223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16"/>
          </p:cNvPr>
          <p:cNvSpPr txBox="1"/>
          <p:nvPr/>
        </p:nvSpPr>
        <p:spPr>
          <a:xfrm>
            <a:off x="4507992" y="421538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14  dPCR: contar señales de genes diana</a:t>
            </a:r>
          </a:p>
        </p:txBody>
      </p:sp>
      <p:sp>
        <p:nvSpPr>
          <p:cNvPr id="37" name="Rounded Rectangle 36">
            <a:hlinkClick action="ppaction://hlinksldjump" r:id="rId17"/>
          </p:cNvPr>
          <p:cNvSpPr/>
          <p:nvPr/>
        </p:nvSpPr>
        <p:spPr>
          <a:xfrm>
            <a:off x="8174736" y="414223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a:hlinkClick action="ppaction://hlinksldjump" r:id="rId17"/>
          </p:cNvPr>
          <p:cNvSpPr txBox="1"/>
          <p:nvPr/>
        </p:nvSpPr>
        <p:spPr>
          <a:xfrm>
            <a:off x="8293608" y="421538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15  Muchas lecturas. Una comunidad por reconstruir.</a:t>
            </a:r>
          </a:p>
        </p:txBody>
      </p:sp>
      <p:sp>
        <p:nvSpPr>
          <p:cNvPr id="39" name="Rounded Rectangle 38">
            <a:hlinkClick action="ppaction://hlinksldjump" r:id="rId18"/>
          </p:cNvPr>
          <p:cNvSpPr/>
          <p:nvPr/>
        </p:nvSpPr>
        <p:spPr>
          <a:xfrm>
            <a:off x="603504" y="455371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a:hlinkClick action="ppaction://hlinksldjump" r:id="rId18"/>
          </p:cNvPr>
          <p:cNvSpPr txBox="1"/>
          <p:nvPr/>
        </p:nvSpPr>
        <p:spPr>
          <a:xfrm>
            <a:off x="722376" y="462686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16  Diversidad: comparar sin confundir con riesgo</a:t>
            </a:r>
          </a:p>
        </p:txBody>
      </p:sp>
      <p:sp>
        <p:nvSpPr>
          <p:cNvPr id="41" name="Rounded Rectangle 40">
            <a:hlinkClick action="ppaction://hlinksldjump" r:id="rId19"/>
          </p:cNvPr>
          <p:cNvSpPr/>
          <p:nvPr/>
        </p:nvSpPr>
        <p:spPr>
          <a:xfrm>
            <a:off x="4389120" y="455371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a:hlinkClick action="ppaction://hlinksldjump" r:id="rId19"/>
          </p:cNvPr>
          <p:cNvSpPr txBox="1"/>
          <p:nvPr/>
        </p:nvSpPr>
        <p:spPr>
          <a:xfrm>
            <a:off x="4507992" y="462686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17  Mayor diversidad, ¿mayor peligro?</a:t>
            </a:r>
          </a:p>
        </p:txBody>
      </p:sp>
      <p:sp>
        <p:nvSpPr>
          <p:cNvPr id="43" name="Rounded Rectangle 42">
            <a:hlinkClick action="ppaction://hlinksldjump" r:id="rId20"/>
          </p:cNvPr>
          <p:cNvSpPr/>
          <p:nvPr/>
        </p:nvSpPr>
        <p:spPr>
          <a:xfrm>
            <a:off x="8174736" y="455371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a:hlinkClick action="ppaction://hlinksldjump" r:id="rId20"/>
          </p:cNvPr>
          <p:cNvSpPr txBox="1"/>
          <p:nvPr/>
        </p:nvSpPr>
        <p:spPr>
          <a:xfrm>
            <a:off x="8293608" y="462686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18  Investigar también es intercambiar</a:t>
            </a:r>
          </a:p>
        </p:txBody>
      </p:sp>
      <p:sp>
        <p:nvSpPr>
          <p:cNvPr id="45" name="Rounded Rectangle 44">
            <a:hlinkClick action="ppaction://hlinksldjump" r:id="rId21"/>
          </p:cNvPr>
          <p:cNvSpPr/>
          <p:nvPr/>
        </p:nvSpPr>
        <p:spPr>
          <a:xfrm>
            <a:off x="603504" y="496519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a:hlinkClick action="ppaction://hlinksldjump" r:id="rId21"/>
          </p:cNvPr>
          <p:cNvSpPr txBox="1"/>
          <p:nvPr/>
        </p:nvSpPr>
        <p:spPr>
          <a:xfrm>
            <a:off x="722376" y="503834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19  Comunicar para que otros puedan evaluar</a:t>
            </a:r>
          </a:p>
        </p:txBody>
      </p:sp>
      <p:sp>
        <p:nvSpPr>
          <p:cNvPr id="47" name="Rounded Rectangle 46">
            <a:hlinkClick action="ppaction://hlinksldjump" r:id="rId22"/>
          </p:cNvPr>
          <p:cNvSpPr/>
          <p:nvPr/>
        </p:nvSpPr>
        <p:spPr>
          <a:xfrm>
            <a:off x="4389120" y="496519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a:hlinkClick action="ppaction://hlinksldjump" r:id="rId22"/>
          </p:cNvPr>
          <p:cNvSpPr txBox="1"/>
          <p:nvPr/>
        </p:nvSpPr>
        <p:spPr>
          <a:xfrm>
            <a:off x="4507992" y="503834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20  Así llevaría mi experiencia a una clase universitaria</a:t>
            </a:r>
          </a:p>
        </p:txBody>
      </p:sp>
      <p:sp>
        <p:nvSpPr>
          <p:cNvPr id="49" name="Rounded Rectangle 48">
            <a:hlinkClick action="ppaction://hlinksldjump" r:id="rId23"/>
          </p:cNvPr>
          <p:cNvSpPr/>
          <p:nvPr/>
        </p:nvSpPr>
        <p:spPr>
          <a:xfrm>
            <a:off x="8174736" y="496519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a:hlinkClick action="ppaction://hlinksldjump" r:id="rId23"/>
          </p:cNvPr>
          <p:cNvSpPr txBox="1"/>
          <p:nvPr/>
        </p:nvSpPr>
        <p:spPr>
          <a:xfrm>
            <a:off x="8293608" y="503834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21  Una comunidad te consulta. ¿Qué evidencia pedirías?</a:t>
            </a:r>
          </a:p>
        </p:txBody>
      </p:sp>
      <p:sp>
        <p:nvSpPr>
          <p:cNvPr id="51" name="Rounded Rectangle 50">
            <a:hlinkClick action="ppaction://hlinksldjump" r:id="rId24"/>
          </p:cNvPr>
          <p:cNvSpPr/>
          <p:nvPr/>
        </p:nvSpPr>
        <p:spPr>
          <a:xfrm>
            <a:off x="603504" y="537667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a:hlinkClick action="ppaction://hlinksldjump" r:id="rId24"/>
          </p:cNvPr>
          <p:cNvSpPr txBox="1"/>
          <p:nvPr/>
        </p:nvSpPr>
        <p:spPr>
          <a:xfrm>
            <a:off x="722376" y="544982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22  Rigor técnico. Criterio científico. Conexión con el entorno.</a:t>
            </a:r>
          </a:p>
        </p:txBody>
      </p:sp>
      <p:sp>
        <p:nvSpPr>
          <p:cNvPr id="53" name="Rounded Rectangle 52">
            <a:hlinkClick action="ppaction://hlinksldjump" r:id="rId25"/>
          </p:cNvPr>
          <p:cNvSpPr/>
          <p:nvPr/>
        </p:nvSpPr>
        <p:spPr>
          <a:xfrm>
            <a:off x="4389120" y="5376672"/>
            <a:ext cx="3602736"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a:hlinkClick action="ppaction://hlinksldjump" r:id="rId25"/>
          </p:cNvPr>
          <p:cNvSpPr txBox="1"/>
          <p:nvPr/>
        </p:nvSpPr>
        <p:spPr>
          <a:xfrm>
            <a:off x="4507992" y="5449824"/>
            <a:ext cx="3364991" cy="237744"/>
          </a:xfrm>
          <a:prstGeom prst="rect">
            <a:avLst/>
          </a:prstGeom>
          <a:noFill/>
        </p:spPr>
        <p:txBody>
          <a:bodyPr wrap="square" lIns="0" rIns="0" tIns="0" bIns="0">
            <a:spAutoFit/>
          </a:bodyPr>
          <a:lstStyle/>
          <a:p>
            <a:pPr algn="l">
              <a:lnSpc>
                <a:spcPct val="102000"/>
              </a:lnSpc>
              <a:spcAft>
                <a:spcPts val="300"/>
              </a:spcAft>
              <a:defRPr sz="850" b="1">
                <a:solidFill>
                  <a:srgbClr val="143543"/>
                </a:solidFill>
                <a:latin typeface="DejaVu Sans"/>
              </a:defRPr>
            </a:pPr>
            <a:r>
              <a:t>23  Enseñar microbiología es enseñar a preguntar.</a:t>
            </a:r>
          </a:p>
        </p:txBody>
      </p:sp>
      <p:sp>
        <p:nvSpPr>
          <p:cNvPr id="55" name="Rounded Rectangle 54">
            <a:hlinkClick action="ppaction://hlinksldjump" r:id="rId26"/>
          </p:cNvPr>
          <p:cNvSpPr/>
          <p:nvPr/>
        </p:nvSpPr>
        <p:spPr>
          <a:xfrm>
            <a:off x="603504" y="5989320"/>
            <a:ext cx="2377440" cy="320040"/>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6"/>
          </p:cNvPr>
          <p:cNvSpPr txBox="1"/>
          <p:nvPr/>
        </p:nvSpPr>
        <p:spPr>
          <a:xfrm>
            <a:off x="722376" y="6062472"/>
            <a:ext cx="2139696" cy="228599"/>
          </a:xfrm>
          <a:prstGeom prst="rect">
            <a:avLst/>
          </a:prstGeom>
          <a:noFill/>
        </p:spPr>
        <p:txBody>
          <a:bodyPr wrap="square" lIns="0" rIns="0" tIns="0" bIns="0">
            <a:spAutoFit/>
          </a:bodyPr>
          <a:lstStyle/>
          <a:p>
            <a:pPr algn="l">
              <a:lnSpc>
                <a:spcPct val="102000"/>
              </a:lnSpc>
              <a:spcAft>
                <a:spcPts val="300"/>
              </a:spcAft>
              <a:defRPr sz="1100" b="1">
                <a:solidFill>
                  <a:srgbClr val="FFFFFF"/>
                </a:solidFill>
                <a:latin typeface="DejaVu Sans"/>
              </a:defRPr>
            </a:pPr>
            <a:r>
              <a:t>Fuentes y alcance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ANEXO · RETROALIMENTACIÓN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La apariencia no demuestra seguridad microbiológica.</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Síntesis didáctica de DS_Agua_Loja_2025, diaps. 9–11.</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6" name="Rectangle 5"/>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640080" y="2816352"/>
            <a:ext cx="10881360" cy="205740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2688" y="3273552"/>
            <a:ext cx="731520" cy="658368"/>
          </a:xfrm>
          <a:prstGeom prst="rect">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057046" y="3419856"/>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7046" y="3588105"/>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57046" y="3756355"/>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11680" y="3227832"/>
            <a:ext cx="8823960" cy="1389888"/>
          </a:xfrm>
          <a:prstGeom prst="rect">
            <a:avLst/>
          </a:prstGeom>
          <a:noFill/>
        </p:spPr>
        <p:txBody>
          <a:bodyPr wrap="square" lIns="0" rIns="0" tIns="0" bIns="0">
            <a:spAutoFit/>
          </a:bodyPr>
          <a:lstStyle/>
          <a:p>
            <a:pPr algn="l">
              <a:lnSpc>
                <a:spcPct val="102000"/>
              </a:lnSpc>
              <a:spcAft>
                <a:spcPts val="300"/>
              </a:spcAft>
              <a:defRPr sz="2300" b="0">
                <a:solidFill>
                  <a:srgbClr val="143543"/>
                </a:solidFill>
                <a:latin typeface="DejaVu Sans"/>
              </a:defRPr>
            </a:pPr>
            <a:r>
              <a:t>Necesitamos contexto, un muestreo adecuado y análisis. La turbidez puede orientar, pero no identifica por sí sola microorganismos ni su riesgo.</a:t>
            </a:r>
          </a:p>
        </p:txBody>
      </p:sp>
      <p:sp>
        <p:nvSpPr>
          <p:cNvPr id="15" name="Rounded Rectangle 14">
            <a:hlinkClick action="ppaction://hlinksldjump" r:id="rId3"/>
          </p:cNvPr>
          <p:cNvSpPr/>
          <p:nvPr/>
        </p:nvSpPr>
        <p:spPr>
          <a:xfrm>
            <a:off x="694944" y="5367528"/>
            <a:ext cx="3017520" cy="5303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3"/>
          </p:cNvPr>
          <p:cNvSpPr txBox="1"/>
          <p:nvPr/>
        </p:nvSpPr>
        <p:spPr>
          <a:xfrm>
            <a:off x="813816" y="5440680"/>
            <a:ext cx="2779776" cy="438912"/>
          </a:xfrm>
          <a:prstGeom prst="rect">
            <a:avLst/>
          </a:prstGeom>
          <a:noFill/>
        </p:spPr>
        <p:txBody>
          <a:bodyPr wrap="square" lIns="0" rIns="0" tIns="0" bIns="0">
            <a:spAutoFit/>
          </a:bodyPr>
          <a:lstStyle/>
          <a:p>
            <a:pPr algn="l">
              <a:lnSpc>
                <a:spcPct val="102000"/>
              </a:lnSpc>
              <a:spcAft>
                <a:spcPts val="300"/>
              </a:spcAft>
              <a:defRPr sz="1400" b="1">
                <a:solidFill>
                  <a:srgbClr val="143543"/>
                </a:solidFill>
                <a:latin typeface="DejaVu Sans"/>
              </a:defRPr>
            </a:pPr>
            <a:r>
              <a:t>Volver a la pregunta</a:t>
            </a:r>
          </a:p>
        </p:txBody>
      </p:sp>
      <p:sp>
        <p:nvSpPr>
          <p:cNvPr id="17" name="Rounded Rectangle 16">
            <a:hlinkClick action="ppaction://hlinksldjump" r:id="rId4"/>
          </p:cNvPr>
          <p:cNvSpPr/>
          <p:nvPr/>
        </p:nvSpPr>
        <p:spPr>
          <a:xfrm>
            <a:off x="4023360" y="5367528"/>
            <a:ext cx="3108960" cy="53035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a:hlinkClick action="ppaction://hlinksldjump" r:id="rId4"/>
          </p:cNvPr>
          <p:cNvSpPr txBox="1"/>
          <p:nvPr/>
        </p:nvSpPr>
        <p:spPr>
          <a:xfrm>
            <a:off x="4142232" y="5440680"/>
            <a:ext cx="2871215" cy="438912"/>
          </a:xfrm>
          <a:prstGeom prst="rect">
            <a:avLst/>
          </a:prstGeom>
          <a:noFill/>
        </p:spPr>
        <p:txBody>
          <a:bodyPr wrap="square" lIns="0" rIns="0" tIns="0" bIns="0">
            <a:spAutoFit/>
          </a:bodyPr>
          <a:lstStyle/>
          <a:p>
            <a:pPr algn="l">
              <a:lnSpc>
                <a:spcPct val="102000"/>
              </a:lnSpc>
              <a:spcAft>
                <a:spcPts val="300"/>
              </a:spcAft>
              <a:defRPr sz="1400" b="1">
                <a:solidFill>
                  <a:srgbClr val="FFFFFF"/>
                </a:solidFill>
                <a:latin typeface="DejaVu Sans"/>
              </a:defRPr>
            </a:pPr>
            <a:r>
              <a:t>Continuar presentación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ANEXO · RETROALIMENTACIÓN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Diversidad no equivale a riesgo sanitario.</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diaps. 14–15 y 20; actividad de interpretación.</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6" name="Rectangle 5"/>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640080" y="2816352"/>
            <a:ext cx="10881360" cy="205740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2688" y="3273552"/>
            <a:ext cx="731520" cy="658368"/>
          </a:xfrm>
          <a:prstGeom prst="rect">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057046" y="3419856"/>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7046" y="3588105"/>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57046" y="3756355"/>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11680" y="3227832"/>
            <a:ext cx="8823960" cy="1389888"/>
          </a:xfrm>
          <a:prstGeom prst="rect">
            <a:avLst/>
          </a:prstGeom>
          <a:noFill/>
        </p:spPr>
        <p:txBody>
          <a:bodyPr wrap="square" lIns="0" rIns="0" tIns="0" bIns="0">
            <a:spAutoFit/>
          </a:bodyPr>
          <a:lstStyle/>
          <a:p>
            <a:pPr algn="l">
              <a:lnSpc>
                <a:spcPct val="102000"/>
              </a:lnSpc>
              <a:spcAft>
                <a:spcPts val="300"/>
              </a:spcAft>
              <a:defRPr sz="2300" b="0">
                <a:solidFill>
                  <a:srgbClr val="143543"/>
                </a:solidFill>
                <a:latin typeface="DejaVu Sans"/>
              </a:defRPr>
            </a:pPr>
            <a:r>
              <a:t>La evaluación depende de identidades, viabilidad, exposición y contexto. El diseño tampoco separa de forma independiente ubicación y matriz.</a:t>
            </a:r>
          </a:p>
        </p:txBody>
      </p:sp>
      <p:sp>
        <p:nvSpPr>
          <p:cNvPr id="15" name="Rounded Rectangle 14">
            <a:hlinkClick action="ppaction://hlinksldjump" r:id="rId3"/>
          </p:cNvPr>
          <p:cNvSpPr/>
          <p:nvPr/>
        </p:nvSpPr>
        <p:spPr>
          <a:xfrm>
            <a:off x="694944" y="5367528"/>
            <a:ext cx="3017520" cy="5303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3"/>
          </p:cNvPr>
          <p:cNvSpPr txBox="1"/>
          <p:nvPr/>
        </p:nvSpPr>
        <p:spPr>
          <a:xfrm>
            <a:off x="813816" y="5440680"/>
            <a:ext cx="2779776" cy="438912"/>
          </a:xfrm>
          <a:prstGeom prst="rect">
            <a:avLst/>
          </a:prstGeom>
          <a:noFill/>
        </p:spPr>
        <p:txBody>
          <a:bodyPr wrap="square" lIns="0" rIns="0" tIns="0" bIns="0">
            <a:spAutoFit/>
          </a:bodyPr>
          <a:lstStyle/>
          <a:p>
            <a:pPr algn="l">
              <a:lnSpc>
                <a:spcPct val="102000"/>
              </a:lnSpc>
              <a:spcAft>
                <a:spcPts val="300"/>
              </a:spcAft>
              <a:defRPr sz="1400" b="1">
                <a:solidFill>
                  <a:srgbClr val="143543"/>
                </a:solidFill>
                <a:latin typeface="DejaVu Sans"/>
              </a:defRPr>
            </a:pPr>
            <a:r>
              <a:t>Volver a la pregunta</a:t>
            </a:r>
          </a:p>
        </p:txBody>
      </p:sp>
      <p:sp>
        <p:nvSpPr>
          <p:cNvPr id="17" name="Rounded Rectangle 16">
            <a:hlinkClick action="ppaction://hlinksldjump" r:id="rId4"/>
          </p:cNvPr>
          <p:cNvSpPr/>
          <p:nvPr/>
        </p:nvSpPr>
        <p:spPr>
          <a:xfrm>
            <a:off x="4023360" y="5367528"/>
            <a:ext cx="3108960" cy="53035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a:hlinkClick action="ppaction://hlinksldjump" r:id="rId4"/>
          </p:cNvPr>
          <p:cNvSpPr txBox="1"/>
          <p:nvPr/>
        </p:nvSpPr>
        <p:spPr>
          <a:xfrm>
            <a:off x="4142232" y="5440680"/>
            <a:ext cx="2871215" cy="438912"/>
          </a:xfrm>
          <a:prstGeom prst="rect">
            <a:avLst/>
          </a:prstGeom>
          <a:noFill/>
        </p:spPr>
        <p:txBody>
          <a:bodyPr wrap="square" lIns="0" rIns="0" tIns="0" bIns="0">
            <a:spAutoFit/>
          </a:bodyPr>
          <a:lstStyle/>
          <a:p>
            <a:pPr algn="l">
              <a:lnSpc>
                <a:spcPct val="102000"/>
              </a:lnSpc>
              <a:spcAft>
                <a:spcPts val="300"/>
              </a:spcAft>
              <a:defRPr sz="1400" b="1">
                <a:solidFill>
                  <a:srgbClr val="FFFFFF"/>
                </a:solidFill>
                <a:latin typeface="DejaVu Sans"/>
              </a:defRPr>
            </a:pPr>
            <a:r>
              <a:t>Continuar presentación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ANEXO · RETROALIMENTACIÓN</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Una respuesta justificable</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Actividad didáctica creada para esta clase.</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6" name="Rectangle 5"/>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Rounded Rectangle 8"/>
          <p:cNvSpPr/>
          <p:nvPr/>
        </p:nvSpPr>
        <p:spPr>
          <a:xfrm>
            <a:off x="640080" y="2816352"/>
            <a:ext cx="10881360" cy="205740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32688" y="3273552"/>
            <a:ext cx="731520" cy="658368"/>
          </a:xfrm>
          <a:prstGeom prst="rect">
            <a:avLst/>
          </a:prstGeom>
          <a:noFill/>
          <a:ln w="15240">
            <a:solidFill>
              <a:srgbClr val="126E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057046" y="3419856"/>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57046" y="3588105"/>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57046" y="3756355"/>
            <a:ext cx="475488" cy="0"/>
          </a:xfrm>
          <a:prstGeom prst="line">
            <a:avLst/>
          </a:prstGeom>
          <a:ln w="25400">
            <a:solidFill>
              <a:srgbClr val="126E7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011680" y="3227832"/>
            <a:ext cx="8823960" cy="1389888"/>
          </a:xfrm>
          <a:prstGeom prst="rect">
            <a:avLst/>
          </a:prstGeom>
          <a:noFill/>
        </p:spPr>
        <p:txBody>
          <a:bodyPr wrap="square" lIns="0" rIns="0" tIns="0" bIns="0">
            <a:spAutoFit/>
          </a:bodyPr>
          <a:lstStyle/>
          <a:p>
            <a:pPr algn="l">
              <a:lnSpc>
                <a:spcPct val="102000"/>
              </a:lnSpc>
              <a:spcAft>
                <a:spcPts val="300"/>
              </a:spcAft>
              <a:defRPr sz="2300" b="0">
                <a:solidFill>
                  <a:srgbClr val="143543"/>
                </a:solidFill>
                <a:latin typeface="DejaVu Sans"/>
              </a:defRPr>
            </a:pPr>
            <a:r>
              <a:t>Revisar muestreo y controles → comparar puntos pertinentes → proponer métodos confirmatorios según la pregunta.</a:t>
            </a:r>
          </a:p>
          <a:p>
            <a:pPr algn="l">
              <a:lnSpc>
                <a:spcPct val="102000"/>
              </a:lnSpc>
              <a:spcAft>
                <a:spcPts val="300"/>
              </a:spcAft>
              <a:defRPr sz="2300" b="0">
                <a:solidFill>
                  <a:srgbClr val="143543"/>
                </a:solidFill>
                <a:latin typeface="DejaVu Sans"/>
              </a:defRPr>
            </a:pPr>
          </a:p>
          <a:p>
            <a:pPr algn="l">
              <a:lnSpc>
                <a:spcPct val="102000"/>
              </a:lnSpc>
              <a:spcAft>
                <a:spcPts val="300"/>
              </a:spcAft>
              <a:defRPr sz="2300" b="0">
                <a:solidFill>
                  <a:srgbClr val="143543"/>
                </a:solidFill>
                <a:latin typeface="DejaVu Sans"/>
              </a:defRPr>
            </a:pPr>
            <a:r>
              <a:t>El hallazgo no demuestra infección ni identifica por sí solo la causa.</a:t>
            </a:r>
          </a:p>
        </p:txBody>
      </p:sp>
      <p:sp>
        <p:nvSpPr>
          <p:cNvPr id="15" name="Rounded Rectangle 14">
            <a:hlinkClick action="ppaction://hlinksldjump" r:id="rId3"/>
          </p:cNvPr>
          <p:cNvSpPr/>
          <p:nvPr/>
        </p:nvSpPr>
        <p:spPr>
          <a:xfrm>
            <a:off x="694944" y="5367528"/>
            <a:ext cx="3017520" cy="53035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3"/>
          </p:cNvPr>
          <p:cNvSpPr txBox="1"/>
          <p:nvPr/>
        </p:nvSpPr>
        <p:spPr>
          <a:xfrm>
            <a:off x="813816" y="5440680"/>
            <a:ext cx="2779776" cy="438912"/>
          </a:xfrm>
          <a:prstGeom prst="rect">
            <a:avLst/>
          </a:prstGeom>
          <a:noFill/>
        </p:spPr>
        <p:txBody>
          <a:bodyPr wrap="square" lIns="0" rIns="0" tIns="0" bIns="0">
            <a:spAutoFit/>
          </a:bodyPr>
          <a:lstStyle/>
          <a:p>
            <a:pPr algn="l">
              <a:lnSpc>
                <a:spcPct val="102000"/>
              </a:lnSpc>
              <a:spcAft>
                <a:spcPts val="300"/>
              </a:spcAft>
              <a:defRPr sz="1400" b="1">
                <a:solidFill>
                  <a:srgbClr val="143543"/>
                </a:solidFill>
                <a:latin typeface="DejaVu Sans"/>
              </a:defRPr>
            </a:pPr>
            <a:r>
              <a:t>Volver a la pregunta</a:t>
            </a:r>
          </a:p>
        </p:txBody>
      </p:sp>
      <p:sp>
        <p:nvSpPr>
          <p:cNvPr id="17" name="Rounded Rectangle 16">
            <a:hlinkClick action="ppaction://hlinksldjump" r:id="rId4"/>
          </p:cNvPr>
          <p:cNvSpPr/>
          <p:nvPr/>
        </p:nvSpPr>
        <p:spPr>
          <a:xfrm>
            <a:off x="4023360" y="5367528"/>
            <a:ext cx="3108960" cy="530352"/>
          </a:xfrm>
          <a:prstGeom prst="roundRect">
            <a:avLst>
              <a:gd name="adj" fmla="val 4000"/>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a:hlinkClick action="ppaction://hlinksldjump" r:id="rId4"/>
          </p:cNvPr>
          <p:cNvSpPr txBox="1"/>
          <p:nvPr/>
        </p:nvSpPr>
        <p:spPr>
          <a:xfrm>
            <a:off x="4142232" y="5440680"/>
            <a:ext cx="2871215" cy="438912"/>
          </a:xfrm>
          <a:prstGeom prst="rect">
            <a:avLst/>
          </a:prstGeom>
          <a:noFill/>
        </p:spPr>
        <p:txBody>
          <a:bodyPr wrap="square" lIns="0" rIns="0" tIns="0" bIns="0">
            <a:spAutoFit/>
          </a:bodyPr>
          <a:lstStyle/>
          <a:p>
            <a:pPr algn="l">
              <a:lnSpc>
                <a:spcPct val="102000"/>
              </a:lnSpc>
              <a:spcAft>
                <a:spcPts val="300"/>
              </a:spcAft>
              <a:defRPr sz="1400" b="1">
                <a:solidFill>
                  <a:srgbClr val="FFFFFF"/>
                </a:solidFill>
                <a:latin typeface="DejaVu Sans"/>
              </a:defRPr>
            </a:pPr>
            <a:r>
              <a:t>Continuar presentación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ANEXO · FUENTES Y ALCANCE</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Documentos que sustentan</a:t>
            </a:r>
          </a:p>
          <a:p>
            <a:pPr algn="l">
              <a:lnSpc>
                <a:spcPct val="102000"/>
              </a:lnSpc>
              <a:spcAft>
                <a:spcPts val="300"/>
              </a:spcAft>
              <a:defRPr sz="4200" b="1">
                <a:solidFill>
                  <a:srgbClr val="143543"/>
                </a:solidFill>
                <a:latin typeface="DejaVu Sans"/>
              </a:defRPr>
            </a:pPr>
            <a:r>
              <a:t>esta presentación</a:t>
            </a:r>
          </a:p>
        </p:txBody>
      </p:sp>
      <p:sp>
        <p:nvSpPr>
          <p:cNvPr id="4" name="TextBox 3"/>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Los datos personales de identificación y contacto del CV se han omitido.</a:t>
            </a:r>
          </a:p>
        </p:txBody>
      </p:sp>
      <p:sp>
        <p:nvSpPr>
          <p:cNvPr id="5" name="TextBox 4"/>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6" name="Rectangle 5"/>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9" name="TextBox 8"/>
          <p:cNvSpPr txBox="1"/>
          <p:nvPr/>
        </p:nvSpPr>
        <p:spPr>
          <a:xfrm>
            <a:off x="640080" y="2651760"/>
            <a:ext cx="52578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MATERIAL 1</a:t>
            </a:r>
          </a:p>
        </p:txBody>
      </p:sp>
      <p:sp>
        <p:nvSpPr>
          <p:cNvPr id="10" name="TextBox 9"/>
          <p:cNvSpPr txBox="1"/>
          <p:nvPr/>
        </p:nvSpPr>
        <p:spPr>
          <a:xfrm>
            <a:off x="640080" y="2971800"/>
            <a:ext cx="5257800" cy="566928"/>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DS_Agua_Loja_2025.pptx</a:t>
            </a:r>
          </a:p>
        </p:txBody>
      </p:sp>
      <p:sp>
        <p:nvSpPr>
          <p:cNvPr id="11" name="TextBox 10"/>
          <p:cNvSpPr txBox="1"/>
          <p:nvPr/>
        </p:nvSpPr>
        <p:spPr>
          <a:xfrm>
            <a:off x="640080" y="3593591"/>
            <a:ext cx="5257800" cy="438912"/>
          </a:xfrm>
          <a:prstGeom prst="rect">
            <a:avLst/>
          </a:prstGeom>
          <a:noFill/>
        </p:spPr>
        <p:txBody>
          <a:bodyPr wrap="square" lIns="0" rIns="0" tIns="0" bIns="0">
            <a:spAutoFit/>
          </a:bodyPr>
          <a:lstStyle/>
          <a:p>
            <a:pPr algn="l">
              <a:lnSpc>
                <a:spcPct val="102000"/>
              </a:lnSpc>
              <a:spcAft>
                <a:spcPts val="300"/>
              </a:spcAft>
              <a:defRPr sz="950" b="0">
                <a:solidFill>
                  <a:srgbClr val="5B7278"/>
                </a:solidFill>
                <a:latin typeface="DejaVu Sans"/>
              </a:defRPr>
            </a:pPr>
            <a:r>
              <a:t>21 diapositivas. Contexto STARS, comunidades, muestreo y métodos. Se usó una fotografía de paisaje incluida en el material.</a:t>
            </a:r>
          </a:p>
        </p:txBody>
      </p:sp>
      <p:sp>
        <p:nvSpPr>
          <p:cNvPr id="12" name="TextBox 11"/>
          <p:cNvSpPr txBox="1"/>
          <p:nvPr/>
        </p:nvSpPr>
        <p:spPr>
          <a:xfrm>
            <a:off x="6217920" y="2651760"/>
            <a:ext cx="52578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MATERIAL 2</a:t>
            </a:r>
          </a:p>
        </p:txBody>
      </p:sp>
      <p:sp>
        <p:nvSpPr>
          <p:cNvPr id="13" name="TextBox 12"/>
          <p:cNvSpPr txBox="1"/>
          <p:nvPr/>
        </p:nvSpPr>
        <p:spPr>
          <a:xfrm>
            <a:off x="6217920" y="2971800"/>
            <a:ext cx="5257800" cy="566928"/>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ECCA_EE_CY_vc1 (1).pptx</a:t>
            </a:r>
          </a:p>
        </p:txBody>
      </p:sp>
      <p:sp>
        <p:nvSpPr>
          <p:cNvPr id="14" name="TextBox 13"/>
          <p:cNvSpPr txBox="1"/>
          <p:nvPr/>
        </p:nvSpPr>
        <p:spPr>
          <a:xfrm>
            <a:off x="6217920" y="3593591"/>
            <a:ext cx="5257800" cy="438912"/>
          </a:xfrm>
          <a:prstGeom prst="rect">
            <a:avLst/>
          </a:prstGeom>
          <a:noFill/>
        </p:spPr>
        <p:txBody>
          <a:bodyPr wrap="square" lIns="0" rIns="0" tIns="0" bIns="0">
            <a:spAutoFit/>
          </a:bodyPr>
          <a:lstStyle/>
          <a:p>
            <a:pPr algn="l">
              <a:lnSpc>
                <a:spcPct val="102000"/>
              </a:lnSpc>
              <a:spcAft>
                <a:spcPts val="300"/>
              </a:spcAft>
              <a:defRPr sz="950" b="0">
                <a:solidFill>
                  <a:srgbClr val="5B7278"/>
                </a:solidFill>
                <a:latin typeface="DejaVu Sans"/>
              </a:defRPr>
            </a:pPr>
            <a:r>
              <a:t>23 diapositivas. Diseño Ecuador–Canadá, métodos y tabla de diversidad. No se dispone de datos crudos para recalcular resultados.</a:t>
            </a:r>
          </a:p>
        </p:txBody>
      </p:sp>
      <p:sp>
        <p:nvSpPr>
          <p:cNvPr id="15" name="TextBox 14"/>
          <p:cNvSpPr txBox="1"/>
          <p:nvPr/>
        </p:nvSpPr>
        <p:spPr>
          <a:xfrm>
            <a:off x="640080" y="4114800"/>
            <a:ext cx="52578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MATERIAL 3</a:t>
            </a:r>
          </a:p>
        </p:txBody>
      </p:sp>
      <p:sp>
        <p:nvSpPr>
          <p:cNvPr id="16" name="TextBox 15"/>
          <p:cNvSpPr txBox="1"/>
          <p:nvPr/>
        </p:nvSpPr>
        <p:spPr>
          <a:xfrm>
            <a:off x="640080" y="4434840"/>
            <a:ext cx="5257800" cy="566928"/>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Espin_Emilia_CV (1).pdf</a:t>
            </a:r>
          </a:p>
        </p:txBody>
      </p:sp>
      <p:sp>
        <p:nvSpPr>
          <p:cNvPr id="17" name="TextBox 16"/>
          <p:cNvSpPr txBox="1"/>
          <p:nvPr/>
        </p:nvSpPr>
        <p:spPr>
          <a:xfrm>
            <a:off x="640080" y="5056632"/>
            <a:ext cx="5257800" cy="438912"/>
          </a:xfrm>
          <a:prstGeom prst="rect">
            <a:avLst/>
          </a:prstGeom>
          <a:noFill/>
        </p:spPr>
        <p:txBody>
          <a:bodyPr wrap="square" lIns="0" rIns="0" tIns="0" bIns="0">
            <a:spAutoFit/>
          </a:bodyPr>
          <a:lstStyle/>
          <a:p>
            <a:pPr algn="l">
              <a:lnSpc>
                <a:spcPct val="102000"/>
              </a:lnSpc>
              <a:spcAft>
                <a:spcPts val="300"/>
              </a:spcAft>
              <a:defRPr sz="950" b="0">
                <a:solidFill>
                  <a:srgbClr val="5B7278"/>
                </a:solidFill>
                <a:latin typeface="DejaVu Sans"/>
              </a:defRPr>
            </a:pPr>
            <a:r>
              <a:t>3 páginas. Perfil académico, experiencia y referencia de la publicación. Se omitieron identificaciones y datos personales de contacto.</a:t>
            </a:r>
          </a:p>
        </p:txBody>
      </p:sp>
      <p:sp>
        <p:nvSpPr>
          <p:cNvPr id="18" name="TextBox 17"/>
          <p:cNvSpPr txBox="1"/>
          <p:nvPr/>
        </p:nvSpPr>
        <p:spPr>
          <a:xfrm>
            <a:off x="6217920" y="4114800"/>
            <a:ext cx="52578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PUBLICACIÓN CONSIGNADA EN EL CV</a:t>
            </a:r>
          </a:p>
        </p:txBody>
      </p:sp>
      <p:sp>
        <p:nvSpPr>
          <p:cNvPr id="19" name="TextBox 18"/>
          <p:cNvSpPr txBox="1"/>
          <p:nvPr/>
        </p:nvSpPr>
        <p:spPr>
          <a:xfrm>
            <a:off x="6217920" y="4434840"/>
            <a:ext cx="5257800" cy="566928"/>
          </a:xfrm>
          <a:prstGeom prst="rect">
            <a:avLst/>
          </a:prstGeom>
          <a:noFill/>
        </p:spPr>
        <p:txBody>
          <a:bodyPr wrap="square" lIns="0" rIns="0" tIns="0" bIns="0">
            <a:spAutoFit/>
          </a:bodyPr>
          <a:lstStyle/>
          <a:p>
            <a:pPr algn="l">
              <a:lnSpc>
                <a:spcPct val="102000"/>
              </a:lnSpc>
              <a:spcAft>
                <a:spcPts val="300"/>
              </a:spcAft>
              <a:defRPr sz="1500" b="1">
                <a:solidFill>
                  <a:srgbClr val="143543"/>
                </a:solidFill>
                <a:latin typeface="DejaVu Sans"/>
              </a:defRPr>
            </a:pPr>
            <a:r>
              <a:t>Microbiological quality of drinking water in three rural communities of the Calvas Canton (Loja).</a:t>
            </a:r>
          </a:p>
        </p:txBody>
      </p:sp>
      <p:sp>
        <p:nvSpPr>
          <p:cNvPr id="20" name="TextBox 19"/>
          <p:cNvSpPr txBox="1"/>
          <p:nvPr/>
        </p:nvSpPr>
        <p:spPr>
          <a:xfrm>
            <a:off x="6217920" y="5056632"/>
            <a:ext cx="5257800" cy="438912"/>
          </a:xfrm>
          <a:prstGeom prst="rect">
            <a:avLst/>
          </a:prstGeom>
          <a:noFill/>
        </p:spPr>
        <p:txBody>
          <a:bodyPr wrap="square" lIns="0" rIns="0" tIns="0" bIns="0">
            <a:spAutoFit/>
          </a:bodyPr>
          <a:lstStyle/>
          <a:p>
            <a:pPr algn="l">
              <a:lnSpc>
                <a:spcPct val="102000"/>
              </a:lnSpc>
              <a:spcAft>
                <a:spcPts val="300"/>
              </a:spcAft>
              <a:defRPr sz="950" b="0">
                <a:solidFill>
                  <a:srgbClr val="5B7278"/>
                </a:solidFill>
                <a:latin typeface="DejaVu Sans"/>
              </a:defRPr>
            </a:pPr>
            <a:r>
              <a:t>Revista Ecuatoriana de Medicina y Ciencias Biológicas. DOI: 10.26807/remcb.v46i2.1053. El artículo completo no fue consultado.</a:t>
            </a:r>
          </a:p>
        </p:txBody>
      </p:sp>
      <p:sp>
        <p:nvSpPr>
          <p:cNvPr id="21" name="TextBox 20"/>
          <p:cNvSpPr txBox="1"/>
          <p:nvPr/>
        </p:nvSpPr>
        <p:spPr>
          <a:xfrm>
            <a:off x="658368" y="5916168"/>
            <a:ext cx="10881360" cy="329184"/>
          </a:xfrm>
          <a:prstGeom prst="rect">
            <a:avLst/>
          </a:prstGeom>
          <a:noFill/>
        </p:spPr>
        <p:txBody>
          <a:bodyPr wrap="square" lIns="0" rIns="0" tIns="0" bIns="0">
            <a:spAutoFit/>
          </a:bodyPr>
          <a:lstStyle/>
          <a:p>
            <a:pPr algn="l">
              <a:lnSpc>
                <a:spcPct val="102000"/>
              </a:lnSpc>
              <a:spcAft>
                <a:spcPts val="300"/>
              </a:spcAft>
              <a:defRPr sz="1000" b="0">
                <a:solidFill>
                  <a:srgbClr val="5B7278"/>
                </a:solidFill>
                <a:latin typeface="DejaVu Sans"/>
              </a:defRPr>
            </a:pPr>
            <a:r>
              <a:t>Diseño propio de estilo Business Review. Presentations y la plantilla enlazada no estuvieron accesibles.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RESULTADOS QUE INVITAN A RAZONAR</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Diversidad · Simpson</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Valores reportados en la presentación original.</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 14. Significado de ± no especificado en la fuente.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7" name="Rectangle 6"/>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a:hlinkClick action="ppaction://hlinksldjump" r:id="rId3"/>
          </p:cNvPr>
          <p:cNvSpPr/>
          <p:nvPr/>
        </p:nvSpPr>
        <p:spPr>
          <a:xfrm>
            <a:off x="566928" y="2633472"/>
            <a:ext cx="1234440"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3"/>
          </p:cNvPr>
          <p:cNvSpPr txBox="1"/>
          <p:nvPr/>
        </p:nvSpPr>
        <p:spPr>
          <a:xfrm>
            <a:off x="6858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143543"/>
                </a:solidFill>
                <a:latin typeface="DejaVu Sans"/>
              </a:defRPr>
            </a:pPr>
            <a:r>
              <a:t>Shannon</a:t>
            </a:r>
          </a:p>
        </p:txBody>
      </p:sp>
      <p:sp>
        <p:nvSpPr>
          <p:cNvPr id="12" name="Rounded Rectangle 11">
            <a:hlinkClick action="ppaction://hlinksldjump" r:id="rId4"/>
          </p:cNvPr>
          <p:cNvSpPr/>
          <p:nvPr/>
        </p:nvSpPr>
        <p:spPr>
          <a:xfrm>
            <a:off x="1938528" y="2633472"/>
            <a:ext cx="1234440" cy="329184"/>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4"/>
          </p:cNvPr>
          <p:cNvSpPr txBox="1"/>
          <p:nvPr/>
        </p:nvSpPr>
        <p:spPr>
          <a:xfrm>
            <a:off x="20574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FFFFFF"/>
                </a:solidFill>
                <a:latin typeface="DejaVu Sans"/>
              </a:defRPr>
            </a:pPr>
            <a:r>
              <a:t>Simpson</a:t>
            </a:r>
          </a:p>
        </p:txBody>
      </p:sp>
      <p:sp>
        <p:nvSpPr>
          <p:cNvPr id="14" name="Rounded Rectangle 13">
            <a:hlinkClick action="ppaction://hlinksldjump" r:id="rId5"/>
          </p:cNvPr>
          <p:cNvSpPr/>
          <p:nvPr/>
        </p:nvSpPr>
        <p:spPr>
          <a:xfrm>
            <a:off x="3310128" y="2633472"/>
            <a:ext cx="1234440"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5"/>
          </p:cNvPr>
          <p:cNvSpPr txBox="1"/>
          <p:nvPr/>
        </p:nvSpPr>
        <p:spPr>
          <a:xfrm>
            <a:off x="34290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143543"/>
                </a:solidFill>
                <a:latin typeface="DejaVu Sans"/>
              </a:defRPr>
            </a:pPr>
            <a:r>
              <a:t>Riqueza</a:t>
            </a:r>
          </a:p>
        </p:txBody>
      </p:sp>
      <p:graphicFrame>
        <p:nvGraphicFramePr>
          <p:cNvPr id="16" name="Chart 15"/>
          <p:cNvGraphicFramePr>
            <a:graphicFrameLocks noGrp="1"/>
          </p:cNvGraphicFramePr>
          <p:nvPr/>
        </p:nvGraphicFramePr>
        <p:xfrm>
          <a:off x="621792" y="3127248"/>
          <a:ext cx="9646920" cy="2212848"/>
        </p:xfrm>
        <a:graphic>
          <a:graphicData uri="http://schemas.openxmlformats.org/drawingml/2006/chart">
            <c:chart xmlns:c="http://schemas.openxmlformats.org/drawingml/2006/chart" r:id="rId6"/>
          </a:graphicData>
        </a:graphic>
      </p:graphicFrame>
      <p:sp>
        <p:nvSpPr>
          <p:cNvPr id="17" name="TextBox 16"/>
          <p:cNvSpPr txBox="1"/>
          <p:nvPr/>
        </p:nvSpPr>
        <p:spPr>
          <a:xfrm>
            <a:off x="10360152" y="3127248"/>
            <a:ext cx="1143000" cy="274320"/>
          </a:xfrm>
          <a:prstGeom prst="rect">
            <a:avLst/>
          </a:prstGeom>
          <a:noFill/>
        </p:spPr>
        <p:txBody>
          <a:bodyPr wrap="square" lIns="0" rIns="0" tIns="0" bIns="0">
            <a:spAutoFit/>
          </a:bodyPr>
          <a:lstStyle/>
          <a:p>
            <a:pPr algn="l">
              <a:lnSpc>
                <a:spcPct val="102000"/>
              </a:lnSpc>
              <a:spcAft>
                <a:spcPts val="300"/>
              </a:spcAft>
              <a:defRPr sz="1000" b="0">
                <a:solidFill>
                  <a:srgbClr val="5B7278"/>
                </a:solidFill>
                <a:latin typeface="DejaVu Sans"/>
              </a:defRPr>
            </a:pPr>
            <a:r>
              <a:t>± reportado</a:t>
            </a:r>
          </a:p>
        </p:txBody>
      </p:sp>
      <p:sp>
        <p:nvSpPr>
          <p:cNvPr id="18" name="TextBox 17"/>
          <p:cNvSpPr txBox="1"/>
          <p:nvPr/>
        </p:nvSpPr>
        <p:spPr>
          <a:xfrm>
            <a:off x="10497312" y="3538728"/>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0,01</a:t>
            </a:r>
          </a:p>
        </p:txBody>
      </p:sp>
      <p:sp>
        <p:nvSpPr>
          <p:cNvPr id="19" name="TextBox 18"/>
          <p:cNvSpPr txBox="1"/>
          <p:nvPr/>
        </p:nvSpPr>
        <p:spPr>
          <a:xfrm>
            <a:off x="10497312" y="4096512"/>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0,03</a:t>
            </a:r>
          </a:p>
        </p:txBody>
      </p:sp>
      <p:sp>
        <p:nvSpPr>
          <p:cNvPr id="20" name="TextBox 19"/>
          <p:cNvSpPr txBox="1"/>
          <p:nvPr/>
        </p:nvSpPr>
        <p:spPr>
          <a:xfrm>
            <a:off x="10497312" y="4654296"/>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0,36</a:t>
            </a:r>
          </a:p>
        </p:txBody>
      </p:sp>
      <p:sp>
        <p:nvSpPr>
          <p:cNvPr id="21" name="TextBox 20"/>
          <p:cNvSpPr txBox="1"/>
          <p:nvPr/>
        </p:nvSpPr>
        <p:spPr>
          <a:xfrm>
            <a:off x="658368" y="5504688"/>
            <a:ext cx="10881360" cy="320040"/>
          </a:xfrm>
          <a:prstGeom prst="rect">
            <a:avLst/>
          </a:prstGeom>
          <a:noFill/>
        </p:spPr>
        <p:txBody>
          <a:bodyPr wrap="square" lIns="0" rIns="0" tIns="0" bIns="0">
            <a:spAutoFit/>
          </a:bodyPr>
          <a:lstStyle/>
          <a:p>
            <a:pPr algn="l">
              <a:lnSpc>
                <a:spcPct val="102000"/>
              </a:lnSpc>
              <a:spcAft>
                <a:spcPts val="300"/>
              </a:spcAft>
              <a:defRPr sz="1300" b="0">
                <a:solidFill>
                  <a:srgbClr val="5B7278"/>
                </a:solidFill>
                <a:latin typeface="DejaVu Sans"/>
              </a:defRPr>
            </a:pPr>
            <a:r>
              <a:t>Índice reportado por la fuente; fórmula no especificada.</a:t>
            </a:r>
          </a:p>
        </p:txBody>
      </p:sp>
      <p:sp>
        <p:nvSpPr>
          <p:cNvPr id="22" name="Rounded Rectangle 21"/>
          <p:cNvSpPr/>
          <p:nvPr/>
        </p:nvSpPr>
        <p:spPr>
          <a:xfrm>
            <a:off x="594360" y="5879592"/>
            <a:ext cx="10972800" cy="36576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934456"/>
            <a:ext cx="10652760" cy="228600"/>
          </a:xfrm>
          <a:prstGeom prst="rect">
            <a:avLst/>
          </a:prstGeom>
          <a:noFill/>
        </p:spPr>
        <p:txBody>
          <a:bodyPr wrap="square" lIns="0" rIns="0" tIns="0" bIns="0">
            <a:spAutoFit/>
          </a:bodyPr>
          <a:lstStyle/>
          <a:p>
            <a:pPr algn="l">
              <a:lnSpc>
                <a:spcPct val="102000"/>
              </a:lnSpc>
              <a:spcAft>
                <a:spcPts val="300"/>
              </a:spcAft>
              <a:defRPr sz="1300" b="0">
                <a:solidFill>
                  <a:srgbClr val="143543"/>
                </a:solidFill>
                <a:latin typeface="DejaVu Sans"/>
              </a:defRPr>
            </a:pPr>
            <a:r>
              <a:t>La diversidad describe la comunidad; por sí sola no estima el riesgo.</a:t>
            </a:r>
          </a:p>
        </p:txBody>
      </p:sp>
      <p:sp>
        <p:nvSpPr>
          <p:cNvPr id="24" name="Rounded Rectangle 23">
            <a:hlinkClick action="ppaction://hlinksldjump" r:id="rId3"/>
          </p:cNvPr>
          <p:cNvSpPr/>
          <p:nvPr/>
        </p:nvSpPr>
        <p:spPr>
          <a:xfrm>
            <a:off x="9381744" y="841248"/>
            <a:ext cx="2221992" cy="34747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3"/>
          </p:cNvPr>
          <p:cNvSpPr txBox="1"/>
          <p:nvPr/>
        </p:nvSpPr>
        <p:spPr>
          <a:xfrm>
            <a:off x="9500616" y="914400"/>
            <a:ext cx="1984248" cy="256032"/>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Volver al recorrido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5EF"/>
        </a:solidFill>
        <a:effectLst/>
      </p:bgPr>
    </p:bg>
    <p:spTree>
      <p:nvGrpSpPr>
        <p:cNvPr id="1" name=""/>
        <p:cNvGrpSpPr/>
        <p:nvPr/>
      </p:nvGrpSpPr>
      <p:grpSpPr/>
      <p:sp>
        <p:nvSpPr>
          <p:cNvPr id="2" name="TextBox 1"/>
          <p:cNvSpPr txBox="1"/>
          <p:nvPr/>
        </p:nvSpPr>
        <p:spPr>
          <a:xfrm>
            <a:off x="548640" y="402336"/>
            <a:ext cx="10058400" cy="228600"/>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RESULTADOS QUE INVITAN A RAZONAR</a:t>
            </a:r>
          </a:p>
        </p:txBody>
      </p:sp>
      <p:sp>
        <p:nvSpPr>
          <p:cNvPr id="3" name="TextBox 2"/>
          <p:cNvSpPr txBox="1"/>
          <p:nvPr/>
        </p:nvSpPr>
        <p:spPr>
          <a:xfrm>
            <a:off x="548640" y="859536"/>
            <a:ext cx="11064240" cy="1298448"/>
          </a:xfrm>
          <a:prstGeom prst="rect">
            <a:avLst/>
          </a:prstGeom>
          <a:noFill/>
        </p:spPr>
        <p:txBody>
          <a:bodyPr wrap="square" lIns="0" rIns="0" tIns="0" bIns="0">
            <a:spAutoFit/>
          </a:bodyPr>
          <a:lstStyle/>
          <a:p>
            <a:pPr algn="l">
              <a:lnSpc>
                <a:spcPct val="102000"/>
              </a:lnSpc>
              <a:spcAft>
                <a:spcPts val="300"/>
              </a:spcAft>
              <a:defRPr sz="4200" b="1">
                <a:solidFill>
                  <a:srgbClr val="143543"/>
                </a:solidFill>
                <a:latin typeface="DejaVu Sans"/>
              </a:defRPr>
            </a:pPr>
            <a:r>
              <a:t>Diversidad · Riqueza</a:t>
            </a:r>
          </a:p>
        </p:txBody>
      </p:sp>
      <p:sp>
        <p:nvSpPr>
          <p:cNvPr id="4" name="TextBox 3"/>
          <p:cNvSpPr txBox="1"/>
          <p:nvPr/>
        </p:nvSpPr>
        <p:spPr>
          <a:xfrm>
            <a:off x="566928" y="2176272"/>
            <a:ext cx="10972800" cy="438912"/>
          </a:xfrm>
          <a:prstGeom prst="rect">
            <a:avLst/>
          </a:prstGeom>
          <a:noFill/>
        </p:spPr>
        <p:txBody>
          <a:bodyPr wrap="square" lIns="0" rIns="0" tIns="0" bIns="0">
            <a:spAutoFit/>
          </a:bodyPr>
          <a:lstStyle/>
          <a:p>
            <a:pPr algn="l">
              <a:lnSpc>
                <a:spcPct val="102000"/>
              </a:lnSpc>
              <a:spcAft>
                <a:spcPts val="300"/>
              </a:spcAft>
              <a:defRPr sz="1600" b="0">
                <a:solidFill>
                  <a:srgbClr val="5B7278"/>
                </a:solidFill>
                <a:latin typeface="DejaVu Sans"/>
              </a:defRPr>
            </a:pPr>
            <a:r>
              <a:t>Valores reportados en la presentación original.</a:t>
            </a:r>
          </a:p>
        </p:txBody>
      </p:sp>
      <p:sp>
        <p:nvSpPr>
          <p:cNvPr id="5" name="TextBox 4"/>
          <p:cNvSpPr txBox="1"/>
          <p:nvPr/>
        </p:nvSpPr>
        <p:spPr>
          <a:xfrm>
            <a:off x="548640" y="6419088"/>
            <a:ext cx="10652760" cy="228600"/>
          </a:xfrm>
          <a:prstGeom prst="rect">
            <a:avLst/>
          </a:prstGeom>
          <a:noFill/>
        </p:spPr>
        <p:txBody>
          <a:bodyPr wrap="square" lIns="0" rIns="0" tIns="0" bIns="0">
            <a:spAutoFit/>
          </a:bodyPr>
          <a:lstStyle/>
          <a:p>
            <a:pPr algn="l">
              <a:lnSpc>
                <a:spcPct val="102000"/>
              </a:lnSpc>
              <a:spcAft>
                <a:spcPts val="300"/>
              </a:spcAft>
              <a:defRPr sz="819" b="0">
                <a:solidFill>
                  <a:srgbClr val="5B7278"/>
                </a:solidFill>
                <a:latin typeface="DejaVu Sans"/>
              </a:defRPr>
            </a:pPr>
            <a:r>
              <a:t>ECCA_EE_CY_vc1, diap. 14. Significado de ± no especificado en la fuente.</a:t>
            </a:r>
          </a:p>
        </p:txBody>
      </p:sp>
      <p:sp>
        <p:nvSpPr>
          <p:cNvPr id="6" name="TextBox 5"/>
          <p:cNvSpPr txBox="1"/>
          <p:nvPr/>
        </p:nvSpPr>
        <p:spPr>
          <a:xfrm>
            <a:off x="11164824" y="6382512"/>
            <a:ext cx="502920" cy="274320"/>
          </a:xfrm>
          <a:prstGeom prst="rect">
            <a:avLst/>
          </a:prstGeom>
          <a:noFill/>
        </p:spPr>
        <p:txBody>
          <a:bodyPr wrap="square" lIns="0" rIns="0" tIns="0" bIns="0">
            <a:spAutoFit/>
          </a:bodyPr>
          <a:lstStyle/>
          <a:p>
            <a:pPr algn="r">
              <a:lnSpc>
                <a:spcPct val="102000"/>
              </a:lnSpc>
              <a:spcAft>
                <a:spcPts val="300"/>
              </a:spcAft>
              <a:defRPr sz="1400" b="1">
                <a:solidFill>
                  <a:srgbClr val="143543"/>
                </a:solidFill>
                <a:latin typeface="DejaVu Sans"/>
              </a:defRPr>
            </a:pPr>
            <a:r>
              <a:t>ANX</a:t>
            </a:r>
          </a:p>
        </p:txBody>
      </p:sp>
      <p:sp>
        <p:nvSpPr>
          <p:cNvPr id="7" name="Rectangle 6"/>
          <p:cNvSpPr/>
          <p:nvPr/>
        </p:nvSpPr>
        <p:spPr>
          <a:xfrm>
            <a:off x="0" y="6821424"/>
            <a:ext cx="12191969" cy="36576"/>
          </a:xfrm>
          <a:prstGeom prst="rect">
            <a:avLst/>
          </a:prstGeom>
          <a:solidFill>
            <a:srgbClr val="126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a:hlinkClick action="ppaction://hlinksldjump" r:id="rId2"/>
          </p:cNvPr>
          <p:cNvSpPr/>
          <p:nvPr/>
        </p:nvSpPr>
        <p:spPr>
          <a:xfrm>
            <a:off x="10908792" y="356616"/>
            <a:ext cx="731520" cy="292608"/>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2"/>
          </p:cNvPr>
          <p:cNvSpPr txBox="1"/>
          <p:nvPr/>
        </p:nvSpPr>
        <p:spPr>
          <a:xfrm>
            <a:off x="11027664" y="429768"/>
            <a:ext cx="493776" cy="201168"/>
          </a:xfrm>
          <a:prstGeom prst="rect">
            <a:avLst/>
          </a:prstGeom>
          <a:noFill/>
        </p:spPr>
        <p:txBody>
          <a:bodyPr wrap="square" lIns="0" rIns="0" tIns="0" bIns="0">
            <a:spAutoFit/>
          </a:bodyPr>
          <a:lstStyle/>
          <a:p>
            <a:pPr algn="l">
              <a:lnSpc>
                <a:spcPct val="102000"/>
              </a:lnSpc>
              <a:spcAft>
                <a:spcPts val="300"/>
              </a:spcAft>
              <a:defRPr sz="900" b="1">
                <a:solidFill>
                  <a:srgbClr val="126E70"/>
                </a:solidFill>
                <a:latin typeface="DejaVu Sans"/>
              </a:defRPr>
            </a:pPr>
            <a:r>
              <a:t>RUTA</a:t>
            </a:r>
          </a:p>
        </p:txBody>
      </p:sp>
      <p:sp>
        <p:nvSpPr>
          <p:cNvPr id="10" name="Rounded Rectangle 9">
            <a:hlinkClick action="ppaction://hlinksldjump" r:id="rId3"/>
          </p:cNvPr>
          <p:cNvSpPr/>
          <p:nvPr/>
        </p:nvSpPr>
        <p:spPr>
          <a:xfrm>
            <a:off x="566928" y="2633472"/>
            <a:ext cx="1234440"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3"/>
          </p:cNvPr>
          <p:cNvSpPr txBox="1"/>
          <p:nvPr/>
        </p:nvSpPr>
        <p:spPr>
          <a:xfrm>
            <a:off x="6858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143543"/>
                </a:solidFill>
                <a:latin typeface="DejaVu Sans"/>
              </a:defRPr>
            </a:pPr>
            <a:r>
              <a:t>Shannon</a:t>
            </a:r>
          </a:p>
        </p:txBody>
      </p:sp>
      <p:sp>
        <p:nvSpPr>
          <p:cNvPr id="12" name="Rounded Rectangle 11">
            <a:hlinkClick action="ppaction://hlinksldjump" r:id="rId4"/>
          </p:cNvPr>
          <p:cNvSpPr/>
          <p:nvPr/>
        </p:nvSpPr>
        <p:spPr>
          <a:xfrm>
            <a:off x="1938528" y="2633472"/>
            <a:ext cx="1234440" cy="329184"/>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a:hlinkClick action="ppaction://hlinksldjump" r:id="rId4"/>
          </p:cNvPr>
          <p:cNvSpPr txBox="1"/>
          <p:nvPr/>
        </p:nvSpPr>
        <p:spPr>
          <a:xfrm>
            <a:off x="20574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143543"/>
                </a:solidFill>
                <a:latin typeface="DejaVu Sans"/>
              </a:defRPr>
            </a:pPr>
            <a:r>
              <a:t>Simpson</a:t>
            </a:r>
          </a:p>
        </p:txBody>
      </p:sp>
      <p:sp>
        <p:nvSpPr>
          <p:cNvPr id="14" name="Rounded Rectangle 13">
            <a:hlinkClick action="ppaction://hlinksldjump" r:id="rId5"/>
          </p:cNvPr>
          <p:cNvSpPr/>
          <p:nvPr/>
        </p:nvSpPr>
        <p:spPr>
          <a:xfrm>
            <a:off x="3310128" y="2633472"/>
            <a:ext cx="1234440" cy="329184"/>
          </a:xfrm>
          <a:prstGeom prst="roundRect">
            <a:avLst>
              <a:gd name="adj" fmla="val 4000"/>
            </a:avLst>
          </a:prstGeom>
          <a:solidFill>
            <a:srgbClr val="1435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5"/>
          </p:cNvPr>
          <p:cNvSpPr txBox="1"/>
          <p:nvPr/>
        </p:nvSpPr>
        <p:spPr>
          <a:xfrm>
            <a:off x="3429000" y="2706624"/>
            <a:ext cx="996696" cy="237744"/>
          </a:xfrm>
          <a:prstGeom prst="rect">
            <a:avLst/>
          </a:prstGeom>
          <a:noFill/>
        </p:spPr>
        <p:txBody>
          <a:bodyPr wrap="square" lIns="0" rIns="0" tIns="0" bIns="0">
            <a:spAutoFit/>
          </a:bodyPr>
          <a:lstStyle/>
          <a:p>
            <a:pPr algn="l">
              <a:lnSpc>
                <a:spcPct val="102000"/>
              </a:lnSpc>
              <a:spcAft>
                <a:spcPts val="300"/>
              </a:spcAft>
              <a:defRPr sz="1100" b="1">
                <a:solidFill>
                  <a:srgbClr val="FFFFFF"/>
                </a:solidFill>
                <a:latin typeface="DejaVu Sans"/>
              </a:defRPr>
            </a:pPr>
            <a:r>
              <a:t>Riqueza</a:t>
            </a:r>
          </a:p>
        </p:txBody>
      </p:sp>
      <p:graphicFrame>
        <p:nvGraphicFramePr>
          <p:cNvPr id="16" name="Chart 15"/>
          <p:cNvGraphicFramePr>
            <a:graphicFrameLocks noGrp="1"/>
          </p:cNvGraphicFramePr>
          <p:nvPr/>
        </p:nvGraphicFramePr>
        <p:xfrm>
          <a:off x="621792" y="3127248"/>
          <a:ext cx="9646920" cy="2212848"/>
        </p:xfrm>
        <a:graphic>
          <a:graphicData uri="http://schemas.openxmlformats.org/drawingml/2006/chart">
            <c:chart xmlns:c="http://schemas.openxmlformats.org/drawingml/2006/chart" r:id="rId6"/>
          </a:graphicData>
        </a:graphic>
      </p:graphicFrame>
      <p:sp>
        <p:nvSpPr>
          <p:cNvPr id="17" name="TextBox 16"/>
          <p:cNvSpPr txBox="1"/>
          <p:nvPr/>
        </p:nvSpPr>
        <p:spPr>
          <a:xfrm>
            <a:off x="10360152" y="3127248"/>
            <a:ext cx="1143000" cy="274320"/>
          </a:xfrm>
          <a:prstGeom prst="rect">
            <a:avLst/>
          </a:prstGeom>
          <a:noFill/>
        </p:spPr>
        <p:txBody>
          <a:bodyPr wrap="square" lIns="0" rIns="0" tIns="0" bIns="0">
            <a:spAutoFit/>
          </a:bodyPr>
          <a:lstStyle/>
          <a:p>
            <a:pPr algn="l">
              <a:lnSpc>
                <a:spcPct val="102000"/>
              </a:lnSpc>
              <a:spcAft>
                <a:spcPts val="300"/>
              </a:spcAft>
              <a:defRPr sz="1000" b="0">
                <a:solidFill>
                  <a:srgbClr val="5B7278"/>
                </a:solidFill>
                <a:latin typeface="DejaVu Sans"/>
              </a:defRPr>
            </a:pPr>
            <a:r>
              <a:t>± reportado</a:t>
            </a:r>
          </a:p>
        </p:txBody>
      </p:sp>
      <p:sp>
        <p:nvSpPr>
          <p:cNvPr id="18" name="TextBox 17"/>
          <p:cNvSpPr txBox="1"/>
          <p:nvPr/>
        </p:nvSpPr>
        <p:spPr>
          <a:xfrm>
            <a:off x="10497312" y="3538728"/>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115,87</a:t>
            </a:r>
          </a:p>
        </p:txBody>
      </p:sp>
      <p:sp>
        <p:nvSpPr>
          <p:cNvPr id="19" name="TextBox 18"/>
          <p:cNvSpPr txBox="1"/>
          <p:nvPr/>
        </p:nvSpPr>
        <p:spPr>
          <a:xfrm>
            <a:off x="10497312" y="4096512"/>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100,14</a:t>
            </a:r>
          </a:p>
        </p:txBody>
      </p:sp>
      <p:sp>
        <p:nvSpPr>
          <p:cNvPr id="20" name="TextBox 19"/>
          <p:cNvSpPr txBox="1"/>
          <p:nvPr/>
        </p:nvSpPr>
        <p:spPr>
          <a:xfrm>
            <a:off x="10497312" y="4654296"/>
            <a:ext cx="914400" cy="365760"/>
          </a:xfrm>
          <a:prstGeom prst="rect">
            <a:avLst/>
          </a:prstGeom>
          <a:noFill/>
        </p:spPr>
        <p:txBody>
          <a:bodyPr wrap="square" lIns="0" rIns="0" tIns="0" bIns="0">
            <a:spAutoFit/>
          </a:bodyPr>
          <a:lstStyle/>
          <a:p>
            <a:pPr algn="l">
              <a:lnSpc>
                <a:spcPct val="102000"/>
              </a:lnSpc>
              <a:spcAft>
                <a:spcPts val="300"/>
              </a:spcAft>
              <a:defRPr sz="1500" b="0">
                <a:solidFill>
                  <a:srgbClr val="5B7278"/>
                </a:solidFill>
                <a:latin typeface="DejaVu Sans"/>
              </a:defRPr>
            </a:pPr>
            <a:r>
              <a:t>26,54</a:t>
            </a:r>
          </a:p>
        </p:txBody>
      </p:sp>
      <p:sp>
        <p:nvSpPr>
          <p:cNvPr id="21" name="TextBox 20"/>
          <p:cNvSpPr txBox="1"/>
          <p:nvPr/>
        </p:nvSpPr>
        <p:spPr>
          <a:xfrm>
            <a:off x="658368" y="5504688"/>
            <a:ext cx="10881360" cy="320040"/>
          </a:xfrm>
          <a:prstGeom prst="rect">
            <a:avLst/>
          </a:prstGeom>
          <a:noFill/>
        </p:spPr>
        <p:txBody>
          <a:bodyPr wrap="square" lIns="0" rIns="0" tIns="0" bIns="0">
            <a:spAutoFit/>
          </a:bodyPr>
          <a:lstStyle/>
          <a:p>
            <a:pPr algn="l">
              <a:lnSpc>
                <a:spcPct val="102000"/>
              </a:lnSpc>
              <a:spcAft>
                <a:spcPts val="300"/>
              </a:spcAft>
              <a:defRPr sz="1300" b="0">
                <a:solidFill>
                  <a:srgbClr val="5B7278"/>
                </a:solidFill>
                <a:latin typeface="DejaVu Sans"/>
              </a:defRPr>
            </a:pPr>
            <a:r>
              <a:t>Número de taxones observados, según la tabla original.</a:t>
            </a:r>
          </a:p>
        </p:txBody>
      </p:sp>
      <p:sp>
        <p:nvSpPr>
          <p:cNvPr id="22" name="Rounded Rectangle 21"/>
          <p:cNvSpPr/>
          <p:nvPr/>
        </p:nvSpPr>
        <p:spPr>
          <a:xfrm>
            <a:off x="594360" y="5879592"/>
            <a:ext cx="10972800" cy="365760"/>
          </a:xfrm>
          <a:prstGeom prst="roundRect">
            <a:avLst>
              <a:gd name="adj" fmla="val 4000"/>
            </a:avLst>
          </a:prstGeom>
          <a:solidFill>
            <a:srgbClr val="D8EB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5934456"/>
            <a:ext cx="10652760" cy="228600"/>
          </a:xfrm>
          <a:prstGeom prst="rect">
            <a:avLst/>
          </a:prstGeom>
          <a:noFill/>
        </p:spPr>
        <p:txBody>
          <a:bodyPr wrap="square" lIns="0" rIns="0" tIns="0" bIns="0">
            <a:spAutoFit/>
          </a:bodyPr>
          <a:lstStyle/>
          <a:p>
            <a:pPr algn="l">
              <a:lnSpc>
                <a:spcPct val="102000"/>
              </a:lnSpc>
              <a:spcAft>
                <a:spcPts val="300"/>
              </a:spcAft>
              <a:defRPr sz="1300" b="0">
                <a:solidFill>
                  <a:srgbClr val="143543"/>
                </a:solidFill>
                <a:latin typeface="DejaVu Sans"/>
              </a:defRPr>
            </a:pPr>
            <a:r>
              <a:t>La diversidad describe la comunidad; por sí sola no estima el riesgo.</a:t>
            </a:r>
          </a:p>
        </p:txBody>
      </p:sp>
      <p:sp>
        <p:nvSpPr>
          <p:cNvPr id="24" name="Rounded Rectangle 23">
            <a:hlinkClick action="ppaction://hlinksldjump" r:id="rId3"/>
          </p:cNvPr>
          <p:cNvSpPr/>
          <p:nvPr/>
        </p:nvSpPr>
        <p:spPr>
          <a:xfrm>
            <a:off x="9381744" y="841248"/>
            <a:ext cx="2221992" cy="347472"/>
          </a:xfrm>
          <a:prstGeom prst="roundRect">
            <a:avLst>
              <a:gd name="adj" fmla="val 4000"/>
            </a:avLst>
          </a:prstGeom>
          <a:solidFill>
            <a:srgbClr val="E5E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3"/>
          </p:cNvPr>
          <p:cNvSpPr txBox="1"/>
          <p:nvPr/>
        </p:nvSpPr>
        <p:spPr>
          <a:xfrm>
            <a:off x="9500616" y="914400"/>
            <a:ext cx="1984248" cy="256032"/>
          </a:xfrm>
          <a:prstGeom prst="rect">
            <a:avLst/>
          </a:prstGeom>
          <a:noFill/>
        </p:spPr>
        <p:txBody>
          <a:bodyPr wrap="square" lIns="0" rIns="0" tIns="0" bIns="0">
            <a:spAutoFit/>
          </a:bodyPr>
          <a:lstStyle/>
          <a:p>
            <a:pPr algn="l">
              <a:lnSpc>
                <a:spcPct val="102000"/>
              </a:lnSpc>
              <a:spcAft>
                <a:spcPts val="300"/>
              </a:spcAft>
              <a:defRPr sz="1000" b="1">
                <a:solidFill>
                  <a:srgbClr val="126E70"/>
                </a:solidFill>
                <a:latin typeface="DejaVu Sans"/>
              </a:defRPr>
            </a:pPr>
            <a:r>
              <a:t>Volver al recorrido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Emilia Espín Loza · Presentación docente en microbiología</dc:title>
  <dc:subject>23 diapositivas principales · recorrido previsto de 30 minutos</dc:subject>
  <dc:creator>Emilia Espín Loza</dc:creator>
  <cp:keywords/>
  <dc:description>Diseño propio de estilo Business Review. Plantilla enlazada no accesible. Fuentes: dos presentaciones y CV aportados.</dc:description>
  <cp:lastModifiedBy>Steve Canny</cp:lastModifiedBy>
  <cp:revision>1</cp:revision>
  <dcterms:created xsi:type="dcterms:W3CDTF">2013-01-27T09:14:16Z</dcterms:created>
  <dcterms:modified xsi:type="dcterms:W3CDTF">2013-01-27T09:15:58Z</dcterms:modified>
  <cp:category/>
</cp:coreProperties>
</file>