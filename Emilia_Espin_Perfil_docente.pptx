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Lst>
  <p:sldSz cx="1219196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Shannon</c:v>
                </c:pt>
              </c:strCache>
            </c:strRef>
          </c:tx>
          <c:dPt>
            <c:idx val="0"/>
            <c:spPr>
              <a:solidFill>
                <a:srgbClr val="137F7D"/>
              </a:solidFill>
              <a:ln>
                <a:noFill/>
              </a:ln>
            </c:spPr>
          </c:dPt>
          <c:dPt>
            <c:idx val="1"/>
            <c:spPr>
              <a:solidFill>
                <a:srgbClr val="237DC2"/>
              </a:solidFill>
              <a:ln>
                <a:noFill/>
              </a:ln>
            </c:spPr>
          </c:dPt>
          <c:dPt>
            <c:idx val="2"/>
            <c:spPr>
              <a:solidFill>
                <a:srgbClr val="8060BA"/>
              </a:solidFill>
              <a:ln>
                <a:noFill/>
              </a:ln>
            </c:spPr>
          </c:dPt>
          <c:cat>
            <c:strRef>
              <c:f>Sheet1!$A$2:$A$4</c:f>
              <c:strCache>
                <c:ptCount val="3"/>
                <c:pt idx="0">
                  <c:v>Sedimento · Canadá</c:v>
                </c:pt>
                <c:pt idx="1">
                  <c:v>Agua · Canadá</c:v>
                </c:pt>
                <c:pt idx="2">
                  <c:v>Agua · Ecuador</c:v>
                </c:pt>
              </c:strCache>
            </c:strRef>
          </c:cat>
          <c:val>
            <c:numRef>
              <c:f>Sheet1!$B$2:$B$4</c:f>
              <c:numCache>
                <c:formatCode>General</c:formatCode>
                <c:ptCount val="3"/>
                <c:pt idx="0">
                  <c:v>4.07</c:v>
                </c:pt>
                <c:pt idx="1">
                  <c:v>2.37</c:v>
                </c:pt>
                <c:pt idx="2">
                  <c:v>1.28</c:v>
                </c:pt>
              </c:numCache>
            </c:numRef>
          </c:val>
        </c:ser>
        <c:dLbls>
          <c:numFmt formatCode="0.00" sourceLinked="0"/>
          <c:txPr>
            <a:bodyPr/>
            <a:lstStyle/>
            <a:p>
              <a:pPr>
                <a:defRPr sz="1200" b="1">
                  <a:solidFill>
                    <a:srgbClr val="203350"/>
                  </a:solidFill>
                </a:defRPr>
              </a:pPr>
            </a:p>
          </c:txPr>
          <c:dLblPos val="outEnd"/>
          <c:showLegendKey val="0"/>
          <c:showVal val="1"/>
          <c:showCatName val="0"/>
          <c:showSerName val="0"/>
          <c:showPercent val="0"/>
          <c:showBubbleSize val="0"/>
          <c:showLeaderLines val="1"/>
        </c:dLbls>
        <c:gapWidth val="90"/>
        <c:axId val="-2068027336"/>
        <c:axId val="-2113994440"/>
      </c:barChart>
      <c:catAx>
        <c:axId val="-2068027336"/>
        <c:scaling>
          <c:orientation val="maxMin"/>
        </c:scaling>
        <c:delete val="0"/>
        <c:axPos val="l"/>
        <c:majorTickMark val="none"/>
        <c:minorTickMark val="none"/>
        <c:tickLblPos val="nextTo"/>
        <c:spPr>
          <a:ln>
            <a:noFill/>
          </a:ln>
        </c:spPr>
        <c:txPr>
          <a:bodyPr/>
          <a:lstStyle/>
          <a:p>
            <a:pPr>
              <a:defRPr sz="1050"/>
            </a:pPr>
          </a:p>
        </c:txPr>
        <c:crossAx val="-2113994440"/>
        <c:crosses val="autoZero"/>
        <c:auto val="1"/>
        <c:lblAlgn val="ctr"/>
        <c:lblOffset val="100"/>
        <c:noMultiLvlLbl val="0"/>
      </c:catAx>
      <c:valAx>
        <c:axId val="-2113994440"/>
        <c:scaling>
          <c:max val="5.0"/>
          <c:min val="0.0"/>
        </c:scaling>
        <c:delete val="0"/>
        <c:axPos val="b"/>
        <c:majorGridlines>
          <c:spPr>
            <a:ln>
              <a:solidFill>
                <a:srgbClr val="E3EAF4"/>
              </a:solidFill>
            </a:ln>
          </c:spPr>
        </c:majorGridlines>
        <c:majorTickMark val="none"/>
        <c:minorTickMark val="none"/>
        <c:tickLblPos val="nextTo"/>
        <c:spPr>
          <a:ln>
            <a:noFill/>
          </a:ln>
        </c:spPr>
        <c:txPr>
          <a:bodyPr/>
          <a:lstStyle/>
          <a:p>
            <a:pPr>
              <a:defRPr sz="1000"/>
            </a:pPr>
          </a:p>
        </c:txPr>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Simpson</c:v>
                </c:pt>
              </c:strCache>
            </c:strRef>
          </c:tx>
          <c:dPt>
            <c:idx val="0"/>
            <c:spPr>
              <a:solidFill>
                <a:srgbClr val="137F7D"/>
              </a:solidFill>
              <a:ln>
                <a:noFill/>
              </a:ln>
            </c:spPr>
          </c:dPt>
          <c:dPt>
            <c:idx val="1"/>
            <c:spPr>
              <a:solidFill>
                <a:srgbClr val="237DC2"/>
              </a:solidFill>
              <a:ln>
                <a:noFill/>
              </a:ln>
            </c:spPr>
          </c:dPt>
          <c:dPt>
            <c:idx val="2"/>
            <c:spPr>
              <a:solidFill>
                <a:srgbClr val="8060BA"/>
              </a:solidFill>
              <a:ln>
                <a:noFill/>
              </a:ln>
            </c:spPr>
          </c:dPt>
          <c:cat>
            <c:strRef>
              <c:f>Sheet1!$A$2:$A$4</c:f>
              <c:strCache>
                <c:ptCount val="3"/>
                <c:pt idx="0">
                  <c:v>Sedimento · Canadá</c:v>
                </c:pt>
                <c:pt idx="1">
                  <c:v>Agua · Canadá</c:v>
                </c:pt>
                <c:pt idx="2">
                  <c:v>Agua · Ecuador</c:v>
                </c:pt>
              </c:strCache>
            </c:strRef>
          </c:cat>
          <c:val>
            <c:numRef>
              <c:f>Sheet1!$B$2:$B$4</c:f>
              <c:numCache>
                <c:formatCode>General</c:formatCode>
                <c:ptCount val="3"/>
                <c:pt idx="0">
                  <c:v>0.96</c:v>
                </c:pt>
                <c:pt idx="1">
                  <c:v>0.85</c:v>
                </c:pt>
                <c:pt idx="2">
                  <c:v>0.55</c:v>
                </c:pt>
              </c:numCache>
            </c:numRef>
          </c:val>
        </c:ser>
        <c:dLbls>
          <c:numFmt formatCode="0.00" sourceLinked="0"/>
          <c:txPr>
            <a:bodyPr/>
            <a:lstStyle/>
            <a:p>
              <a:pPr>
                <a:defRPr sz="1200" b="1">
                  <a:solidFill>
                    <a:srgbClr val="203350"/>
                  </a:solidFill>
                </a:defRPr>
              </a:pPr>
            </a:p>
          </c:txPr>
          <c:dLblPos val="outEnd"/>
          <c:showLegendKey val="0"/>
          <c:showVal val="1"/>
          <c:showCatName val="0"/>
          <c:showSerName val="0"/>
          <c:showPercent val="0"/>
          <c:showBubbleSize val="0"/>
          <c:showLeaderLines val="1"/>
        </c:dLbls>
        <c:gapWidth val="90"/>
        <c:axId val="-2068027336"/>
        <c:axId val="-2113994440"/>
      </c:barChart>
      <c:catAx>
        <c:axId val="-2068027336"/>
        <c:scaling>
          <c:orientation val="maxMin"/>
        </c:scaling>
        <c:delete val="0"/>
        <c:axPos val="l"/>
        <c:majorTickMark val="none"/>
        <c:minorTickMark val="none"/>
        <c:tickLblPos val="nextTo"/>
        <c:spPr>
          <a:ln>
            <a:noFill/>
          </a:ln>
        </c:spPr>
        <c:txPr>
          <a:bodyPr/>
          <a:lstStyle/>
          <a:p>
            <a:pPr>
              <a:defRPr sz="1050"/>
            </a:pPr>
          </a:p>
        </c:txPr>
        <c:crossAx val="-2113994440"/>
        <c:crosses val="autoZero"/>
        <c:auto val="1"/>
        <c:lblAlgn val="ctr"/>
        <c:lblOffset val="100"/>
        <c:noMultiLvlLbl val="0"/>
      </c:catAx>
      <c:valAx>
        <c:axId val="-2113994440"/>
        <c:scaling>
          <c:max val="1.0"/>
          <c:min val="0.0"/>
        </c:scaling>
        <c:delete val="0"/>
        <c:axPos val="b"/>
        <c:majorGridlines>
          <c:spPr>
            <a:ln>
              <a:solidFill>
                <a:srgbClr val="E3EAF4"/>
              </a:solidFill>
            </a:ln>
          </c:spPr>
        </c:majorGridlines>
        <c:majorTickMark val="none"/>
        <c:minorTickMark val="none"/>
        <c:tickLblPos val="nextTo"/>
        <c:spPr>
          <a:ln>
            <a:noFill/>
          </a:ln>
        </c:spPr>
        <c:txPr>
          <a:bodyPr/>
          <a:lstStyle/>
          <a:p>
            <a:pPr>
              <a:defRPr sz="1000"/>
            </a:pPr>
          </a:p>
        </c:txPr>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Riqueza</c:v>
                </c:pt>
              </c:strCache>
            </c:strRef>
          </c:tx>
          <c:dPt>
            <c:idx val="0"/>
            <c:spPr>
              <a:solidFill>
                <a:srgbClr val="137F7D"/>
              </a:solidFill>
              <a:ln>
                <a:noFill/>
              </a:ln>
            </c:spPr>
          </c:dPt>
          <c:dPt>
            <c:idx val="1"/>
            <c:spPr>
              <a:solidFill>
                <a:srgbClr val="237DC2"/>
              </a:solidFill>
              <a:ln>
                <a:noFill/>
              </a:ln>
            </c:spPr>
          </c:dPt>
          <c:dPt>
            <c:idx val="2"/>
            <c:spPr>
              <a:solidFill>
                <a:srgbClr val="8060BA"/>
              </a:solidFill>
              <a:ln>
                <a:noFill/>
              </a:ln>
            </c:spPr>
          </c:dPt>
          <c:cat>
            <c:strRef>
              <c:f>Sheet1!$A$2:$A$4</c:f>
              <c:strCache>
                <c:ptCount val="3"/>
                <c:pt idx="0">
                  <c:v>Sedimento · Canadá</c:v>
                </c:pt>
                <c:pt idx="1">
                  <c:v>Agua · Canadá</c:v>
                </c:pt>
                <c:pt idx="2">
                  <c:v>Agua · Ecuador</c:v>
                </c:pt>
              </c:strCache>
            </c:strRef>
          </c:cat>
          <c:val>
            <c:numRef>
              <c:f>Sheet1!$B$2:$B$4</c:f>
              <c:numCache>
                <c:formatCode>General</c:formatCode>
                <c:ptCount val="3"/>
                <c:pt idx="0">
                  <c:v>141.86</c:v>
                </c:pt>
                <c:pt idx="1">
                  <c:v>93.75</c:v>
                </c:pt>
                <c:pt idx="2">
                  <c:v>13</c:v>
                </c:pt>
              </c:numCache>
            </c:numRef>
          </c:val>
        </c:ser>
        <c:dLbls>
          <c:numFmt formatCode="0.00" sourceLinked="0"/>
          <c:txPr>
            <a:bodyPr/>
            <a:lstStyle/>
            <a:p>
              <a:pPr>
                <a:defRPr sz="1200" b="1">
                  <a:solidFill>
                    <a:srgbClr val="203350"/>
                  </a:solidFill>
                </a:defRPr>
              </a:pPr>
            </a:p>
          </c:txPr>
          <c:dLblPos val="outEnd"/>
          <c:showLegendKey val="0"/>
          <c:showVal val="1"/>
          <c:showCatName val="0"/>
          <c:showSerName val="0"/>
          <c:showPercent val="0"/>
          <c:showBubbleSize val="0"/>
          <c:showLeaderLines val="1"/>
        </c:dLbls>
        <c:gapWidth val="90"/>
        <c:axId val="-2068027336"/>
        <c:axId val="-2113994440"/>
      </c:barChart>
      <c:catAx>
        <c:axId val="-2068027336"/>
        <c:scaling>
          <c:orientation val="maxMin"/>
        </c:scaling>
        <c:delete val="0"/>
        <c:axPos val="l"/>
        <c:majorTickMark val="none"/>
        <c:minorTickMark val="none"/>
        <c:tickLblPos val="nextTo"/>
        <c:spPr>
          <a:ln>
            <a:noFill/>
          </a:ln>
        </c:spPr>
        <c:txPr>
          <a:bodyPr/>
          <a:lstStyle/>
          <a:p>
            <a:pPr>
              <a:defRPr sz="1050"/>
            </a:pPr>
          </a:p>
        </c:txPr>
        <c:crossAx val="-2113994440"/>
        <c:crosses val="autoZero"/>
        <c:auto val="1"/>
        <c:lblAlgn val="ctr"/>
        <c:lblOffset val="100"/>
        <c:noMultiLvlLbl val="0"/>
      </c:catAx>
      <c:valAx>
        <c:axId val="-2113994440"/>
        <c:scaling>
          <c:max val="160.0"/>
          <c:min val="0.0"/>
        </c:scaling>
        <c:delete val="0"/>
        <c:axPos val="b"/>
        <c:majorGridlines>
          <c:spPr>
            <a:ln>
              <a:solidFill>
                <a:srgbClr val="E3EAF4"/>
              </a:solidFill>
            </a:ln>
          </c:spPr>
        </c:majorGridlines>
        <c:majorTickMark val="none"/>
        <c:minorTickMark val="none"/>
        <c:tickLblPos val="nextTo"/>
        <c:spPr>
          <a:ln>
            <a:noFill/>
          </a:ln>
        </c:spPr>
        <c:txPr>
          <a:bodyPr/>
          <a:lstStyle/>
          <a:p>
            <a:pPr>
              <a:defRPr sz="1000"/>
            </a:pPr>
          </a:p>
        </c:txPr>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DIAPOSITIVA PRINCIPAL 1/26 | Duración 00:45 | Tramo 00:00–00:45</a:t>
            </a:r>
          </a:p>
          <a:p/>
          <a:p>
            <a:r>
              <a:t>Abre con una invitación: «Hoy el centro no es mi currículum, sino lo que cada uno puede empezar a construir con la biología». Preséntate brevemente por tu nombre y campo. Explica que dos experiencias de investigación servirán como ejemplos para pensar en intereses, proyectos y servicio. El resultado de la clase será un pequeño mapa de proyecto y un siguiente paso concreto. No prometas que una idea inicial resolverá por sí sola un problema comunitario: se trata de aprender a preguntar, trabajar con otros y producir evidencia útil.</a:t>
            </a:r>
          </a:p>
          <a:p/>
          <a:p>
            <a:r>
              <a:t>Fuente: Emilia Espín Loza · Microbiología y Ciencias Biomédicas</a:t>
            </a:r>
          </a:p>
          <a:p/>
          <a:p>
            <a:r>
              <a:t>Las animaciones e ilustraciones son recursos conceptuales originales.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DIAPOSITIVA PRINCIPAL 2/26 | Duración 01:30 | Tramo 00:45–02:15</a:t>
            </a:r>
          </a:p>
          <a:p/>
          <a:p>
            <a:r>
              <a:t>Muestra las cuatro escenas: agua, alimentos, biodiversidad y educación científica. Pide elegir una, levantar la mano y formular una razón en una frase. También se puede proponer otra situación. Escucha dos o tres aportes. La versión HTML registra selecciones en esa pantalla, sin presentarlas como una encuesta del aula. Busca conectar interés personal y una situación observada, todavía sin exigir un proyecto completo. Evita convertir la dinámica en una competencia por el problema más importante.</a:t>
            </a:r>
          </a:p>
          <a:p/>
          <a:p>
            <a:r>
              <a:t>Fuente: Pregunta de apertura · participación del grupo</a:t>
            </a:r>
          </a:p>
          <a:p/>
          <a:p>
            <a:r>
              <a:t>Las animaciones e ilustraciones son recursos conceptuales originales.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DIAPOSITIVA PRINCIPAL 3/26 | Duración 00:45 | Tramo 02:15–03:00</a:t>
            </a:r>
          </a:p>
          <a:p/>
          <a:p>
            <a:r>
              <a:t>Enuncia tres resultados observables: reconocer una oportunidad de aprendizaje, formular una pregunta que pueda investigarse y proponer una devolución útil para quienes participan. Explica el recorrido de cuarenta minutos y anticipa que habrá pausas para conversar y diseñar. No es necesario dominar todas las técnicas de laboratorio para participar: el método se elegirá después de precisar la pregunta.</a:t>
            </a:r>
          </a:p>
          <a:p/>
          <a:p>
            <a:r>
              <a:t>Fuente: Objetivos de aprendizaje propuestos para esta clase</a:t>
            </a:r>
          </a:p>
          <a:p/>
          <a:p>
            <a:r>
              <a:t>Las animaciones e ilustraciones son recursos conceptuales originales.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DIAPOSITIVA PRINCIPAL 4/26 | Duración 02:00 | Tramo 03:00–05:00</a:t>
            </a:r>
          </a:p>
          <a:p/>
          <a:p>
            <a:r>
              <a:t>Explora cuatro puertas: docentes y grupos, biblioteca y seminarios, laboratorios y campo, y vinculación con comunidades. Pregunta al grupo cuál conoce y cuál podría visitar. Una oportunidad puede empezar por leer un trabajo, conversar después de una clase o preguntar por una actividad de apoyo. Aclara que los grupos, convocatorias, becas y requisitos varían según la universidad. STARS y ELAP son ejemplos de programas presentes en el material de Emilia, no oportunidades garantizadas para todas las personas. Pide que cada estudiante anote una persona o espacio que podría contactar.</a:t>
            </a:r>
          </a:p>
          <a:p/>
          <a:p>
            <a:r>
              <a:t>Fuente: Mapa orientativo de oportunidades universitarias</a:t>
            </a:r>
          </a:p>
          <a:p/>
          <a:p>
            <a:r>
              <a:t>Las animaciones e ilustraciones son recursos conceptuales originales.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DIAPOSITIVA PRINCIPAL 5/26 | Duración 01:30 | Tramo 05:00–06:30</a:t>
            </a:r>
          </a:p>
          <a:p/>
          <a:p>
            <a:r>
              <a:t>Señala tres componentes: lo que te despierta curiosidad, lo que otras personas necesitan o valoran y lo que puedes explorar con recursos reales. La intersección orienta una primera idea. Una necesidad se conoce conversando y observando, no suponiendo que ya sabemos lo que una comunidad requiere. Pide al grupo convertir su respuesta inicial en tres palabras, una por componente. No busques un propósito definitivo para toda la carrera: basta una dirección para el siguiente aprendizaje.</a:t>
            </a:r>
          </a:p>
          <a:p/>
          <a:p>
            <a:r>
              <a:t>Fuente: Herramienta de reflexión para el planteamiento de proyectos</a:t>
            </a:r>
          </a:p>
          <a:p/>
          <a:p>
            <a:r>
              <a:t>Las animaciones e ilustraciones son recursos conceptuales originales.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DIAPOSITIVA PRINCIPAL 6/26 | Duración 01:15 | Tramo 06:30–07:45</a:t>
            </a:r>
          </a:p>
          <a:p/>
          <a:p>
            <a:r>
              <a:t>Interpreta «creer en uno mismo» como reconocer que se puede aprender y pedir apoyo. La confianza crece al completar acciones pequeñas y recibir retroalimentación. Invita a sustituir una duda general por una acción: si no sé una técnica, puedo identificar qué pregunta responde y pedir orientación. Comparte que reconocer límites es una fortaleza científica. No vincules el valor personal con un resultado experimental exitoso. El progreso también consiste en reformular una pregunta o descubrir que un diseño necesita cambios.</a:t>
            </a:r>
          </a:p>
          <a:p/>
          <a:p>
            <a:r>
              <a:t>Fuente: Propuesta de acompañamiento al aprendizaje</a:t>
            </a:r>
          </a:p>
          <a:p/>
          <a:p>
            <a:r>
              <a:t>Las animaciones e ilustraciones son recursos conceptuales originales.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DIAPOSITIVA PRINCIPAL 7/26 | Duración 01:15 | Tramo 07:45–09:00</a:t>
            </a:r>
          </a:p>
          <a:p/>
          <a:p>
            <a:r>
              <a:t>Muestra el mensaje breve: «Me interesa…, observé o leí…, quisiera entender…, ¿podría orientarme para empezar con una actividad pequeña?». Da veinte segundos a cada integrante de una pareja para practicarlo. Pide una retroalimentación concreta: ¿se entiende el interés y la pregunta? Comenta que un contacto respetuoso no exige una plaza, una beca ni una respuesta inmediata. Una forma útil de prepararse es revisar antes qué trabaja la persona o grupo. En HTML, los campos sirven para ensayar y pueden incluirse al guardar una copia local.</a:t>
            </a:r>
          </a:p>
          <a:p/>
          <a:p>
            <a:r>
              <a:t>Fuente: Guía de contacto y búsqueda de orientación</a:t>
            </a:r>
          </a:p>
          <a:p/>
          <a:p>
            <a:r>
              <a:t>Las animaciones e ilustraciones son recursos conceptuales originales.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DIAPOSITIVA PRINCIPAL 8/26 | Duración 01:30 | Tramo 09:00–10:30</a:t>
            </a:r>
          </a:p>
          <a:p/>
          <a:p>
            <a:r>
              <a:t>Dedica esta primera diapositiva de experiencia a un aprendizaje transferible. El programa STARS vincula investigación aplicada, comunidad y aprendizaje de servicio. El CV documenta tu trabajo como técnica de laboratorio y coordinadora de campo en 2025. Explica la relación entre organización del equipo, muestreo, registros y procesamiento microbiológico. La enseñanza para el grupo es que el proyecto necesita personas, acuerdos y trazabilidad además de técnicas. No atribuyas mejoras sanitarias o resultados por comunidad que no se documentan en las fuentes. Pregunta qué parte del proceso podría aportar un estudiante que está empezando.</a:t>
            </a:r>
          </a:p>
          <a:p/>
          <a:p>
            <a:r>
              <a:t>Fuente: DS_Agua_Loja_2025, diaps. 2 y 13–16; CV, experiencia STARS</a:t>
            </a:r>
          </a:p>
          <a:p/>
          <a:p>
            <a:r>
              <a:t>Las animaciones e ilustraciones son recursos conceptuales originales.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DIAPOSITIVA PRINCIPAL 9/26 | Duración 00:45 | Tramo 10:30–11:15</a:t>
            </a:r>
          </a:p>
          <a:p/>
          <a:p>
            <a:r>
              <a:t>Estos marcos quedan vacíos para que agregues fotos propias. Elige imágenes que permitan hablar de una decisión, una colaboración o un aprendizaje del proyecto. En cuarenta y cinco segundos conecta el trabajo científico con personas y lugares. No hace falta describir a todas las personas de una foto. Si mantienes los espacios vacíos, úsalo como puente verbal hacia cómo se delimita una pregunta. En HTML puedes cargar imágenes y guardar una nueva copia que las conserve.</a:t>
            </a:r>
          </a:p>
          <a:p/>
          <a:p>
            <a:r>
              <a:t>Fuente: Añade fotografías propias que quieras compartir en clase</a:t>
            </a:r>
          </a:p>
          <a:p/>
          <a:p>
            <a:r>
              <a:t>Las animaciones e ilustraciones son recursos conceptuales originales.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DIAPOSITIVA PRINCIPAL 10/26 | Duración 01:30 | Tramo 11:15–12:45</a:t>
            </a:r>
          </a:p>
          <a:p/>
          <a:p>
            <a:r>
              <a:t>Parte de «nos preocupa la calidad del agua». Delimita después qué se quiere observar, dónde se comparará y durante qué campaña o periodo. El ejemplo final pregunta cómo varía un indicador microbiológico entre la fuente y un punto de distribución durante una campaña definida. No presenta un resultado real ni demuestra una causa. Pregunta al grupo qué palabras hicieron más investigable la idea. Destaca que una buena pregunta puede ser modesta y seguir siendo útil si está bien conectada con una necesidad y un plan.</a:t>
            </a:r>
          </a:p>
          <a:p/>
          <a:p>
            <a:r>
              <a:t>Fuente: Ejemplo didáctico inspirado en los puntos de muestreo de Loja</a:t>
            </a:r>
          </a:p>
          <a:p/>
          <a:p>
            <a:r>
              <a:t>Las animaciones e ilustraciones son recursos conceptuales originales.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DIAPOSITIVA PRINCIPAL 11/26 | Duración 01:15 | Tramo 12:45–14:00</a:t>
            </a:r>
          </a:p>
          <a:p/>
          <a:p>
            <a:r>
              <a:t>Recorre la animación y detente en cada decisión. El proceso no es una receta rígida: una prueba puede llevar a reformular la pregunta y una conversación puede cambiar el diseño. La devolución se contempla desde el inicio y no solo al terminar. Pide a alguien identificar una decisión que suela quedar invisible cuando solo vemos la publicación final de un trabajo. Aclara que esta secuencia es un recurso didáctico para la clase, no una reconstrucción editorial de una publicación concreta.</a:t>
            </a:r>
          </a:p>
          <a:p/>
          <a:p>
            <a:r>
              <a:t>Fuente: Secuencia pedagógica propuesta para el diseño de proyectos</a:t>
            </a:r>
          </a:p>
          <a:p/>
          <a:p>
            <a:r>
              <a:t>Las animaciones e ilustraciones son recursos conceptuales originales.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DIAPOSITIVA PRINCIPAL 12/26 | Duración 01:30 | Tramo 14:00–15:30</a:t>
            </a:r>
          </a:p>
          <a:p/>
          <a:p>
            <a:r>
              <a:t>Presenta los seis recuadros: situación, con quién, pregunta, método, evidencia y devolución. Explica en una frase la función de cada uno. «Con quién» incluye colaboradores y personas que participan en la situación; «evidencia» describe qué se obtendría para responder, no un resultado deseado; «devolución» indica cómo podría ser útil lo aprendido. Anticipa que luego completarán este mapa en parejas. Se puede trabajar en papel, en la ficha PDF o en los campos locales de la versión HTML.</a:t>
            </a:r>
          </a:p>
          <a:p/>
          <a:p>
            <a:r>
              <a:t>Fuente: Lienzo de proyecto creado como herramienta didáctica</a:t>
            </a:r>
          </a:p>
          <a:p/>
          <a:p>
            <a:r>
              <a:t>Las animaciones e ilustraciones son recursos conceptuales originales.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DIAPOSITIVA PRINCIPAL 13/26 | Duración 01:30 | Tramo 15:30–17:00</a:t>
            </a:r>
          </a:p>
          <a:p/>
          <a:p>
            <a:r>
              <a:t>Da unos veinte segundos para elegir y luego pide a una persona defender la opción B. Explica que A requiere acotar el alcance y que C busca confirmar una preferencia en lugar de someterla a prueba. B tampoco es un proyecto completo: faltan detalles de muestreo y método, pero permite discutirlos. En PowerPoint, los botones llevan a un anexo con explicación y regreso al recorrido. En HTML, la retroalimentación aparece en la misma diapositiva.</a:t>
            </a:r>
          </a:p>
          <a:p/>
          <a:p>
            <a:r>
              <a:t>Fuente: Actividad de formulación de preguntas · ejemplo hipotético</a:t>
            </a:r>
          </a:p>
          <a:p/>
          <a:p>
            <a:r>
              <a:t>Las animaciones e ilustraciones son recursos conceptuales originales.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DIAPOSITIVA PRINCIPAL 14/26 | Duración 01:30 | Tramo 17:00–18:30</a:t>
            </a:r>
          </a:p>
          <a:p/>
          <a:p>
            <a:r>
              <a:t>Compara tres preguntas: indicadores microbiológicos, genes diana y composición de una comunidad. Los métodos de cultivo informan según el ensayo y su unidad; la dPCR cuantifica genes diana; la metagenómica estima perfiles a partir de lecturas. Elige un método por la pregunta, los controles, los recursos y el contexto, no por su novedad. Recuerda que copias génicas, unidades de cultivo y abundancias estimadas no son medidas intercambiables. No hace falta explicar todos los equipos: el objetivo es vincular método e información.</a:t>
            </a:r>
          </a:p>
          <a:p/>
          <a:p>
            <a:r>
              <a:t>Fuente: DS_Agua_Loja_2025, diap. 9; ECCA_EE_CY_vc1, diaps. 9–12</a:t>
            </a:r>
          </a:p>
          <a:p/>
          <a:p>
            <a:r>
              <a:t>Las animaciones e ilustraciones son recursos conceptuales originales.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DIAPOSITIVA PRINCIPAL 15/26 | Duración 01:30 | Tramo 18:30–20:00</a:t>
            </a:r>
          </a:p>
          <a:p/>
          <a:p>
            <a:r>
              <a:t>Esta segunda y última diapositiva centrada en tu recorrido conecta la estancia ELAP en University of Manitoba con una pregunta científica más amplia. El material compara Chugchilán y Tataskweyak Cree Nation e incluye 24 muestras de agua de Ecuador, 16 de agua de Canadá y 14 de sedimento de Canadá, 54 en total. La experiencia permite mostrar la colaboración entre campo, laboratorio y bioinformática. El diseño no incluye sedimento ecuatoriano, por lo que ubicación y matriz no se separan por completo. El aprendizaje transferible es ampliar la pregunta sin perder de vista los límites del diseño.</a:t>
            </a:r>
          </a:p>
          <a:p/>
          <a:p>
            <a:r>
              <a:t>Fuente: ECCA_EE_CY_vc1, diaps. 6–11; CV, estancia ELAP–Manitoba 2026</a:t>
            </a:r>
          </a:p>
          <a:p/>
          <a:p>
            <a:r>
              <a:t>Las animaciones e ilustraciones son recursos conceptuales originales.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DIAPOSITIVA PRINCIPAL 16/26 | Duración 01:45 | Tramo 20:00–21:45</a:t>
            </a:r>
          </a:p>
          <a:p/>
          <a:p>
            <a:r>
              <a:t>Sigue la animación: filtración del agua, extracción de ADN y cuantificación; desde allí pueden plantearse mediciones dirigidas o preparar librerías y lecturas para el perfil metagenómico. La fuente describe alrededor de 500 mL y membrana PES de 0,22 micrómetros para agua, Qubit para ADN, dPCR con blancos 16S rRNA y uidA, y PromethION 2 Solo para secuenciación. No apliques el volumen de agua a las muestras de sedimento. Subraya que son etapas y mediciones distintas. La ilustración es conceptual y no representa una grabación de los experimentos.</a:t>
            </a:r>
          </a:p>
          <a:p/>
          <a:p>
            <a:r>
              <a:t>Fuente: ECCA_EE_CY_vc1, diaps. 9–12: filtración, ADN, dPCR y secuenciación</a:t>
            </a:r>
          </a:p>
          <a:p/>
          <a:p>
            <a:r>
              <a:t>Las animaciones e ilustraciones son recursos conceptuales originales.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DIAPOSITIVA PRINCIPAL 17/26 | Duración 00:45 | Tramo 21:45–22:30</a:t>
            </a:r>
          </a:p>
          <a:p/>
          <a:p>
            <a:r>
              <a:t>Selecciona fotos de laboratorio, intercambio y comunicación científica. Usa una sola idea para conectarlas: los proyectos crecen al aprender con otras personas. Si deseas mencionar la publicación que aparece en el CV, distingue el artículo de Calvas de las ponencias y del estudio metagenómico. No presentes todas las comunicaciones como artículos publicados. El detalle bibliográfico queda en las referencias, para mantener el foco de esta clase en las oportunidades de aprendizaje del grupo.</a:t>
            </a:r>
          </a:p>
          <a:p/>
          <a:p>
            <a:r>
              <a:t>Fuente: Añade fotografías propias que quieras compartir en clase</a:t>
            </a:r>
          </a:p>
          <a:p/>
          <a:p>
            <a:r>
              <a:t>Las animaciones e ilustraciones son recursos conceptuales originales.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DIAPOSITIVA PRINCIPAL 18/26 | Duración 02:00 | Tramo 22:30–24:30</a:t>
            </a:r>
          </a:p>
          <a:p/>
          <a:p>
            <a:r>
              <a:t>Muestra el gráfico con medias de Shannon: 4,07 en sedimento Canadá, 2,37 en agua Canadá y 1,28 en agua Ecuador. Pregunta primero qué comparación describe el gráfico y luego si permite afirmar mayor peligro. Revela que la diversidad describe una comunidad y por sí sola no estima riesgo. El símbolo ± se conserva como reportado, sin llamarlo desviación estándar o error estándar. Detectar ADN asignado a un taxón no confirma viabilidad ni infección. Señala de nuevo el diseño asimétrico. La lección de proyectos es que el resultado no tiene que coincidir con la expectativa para ser informativo.</a:t>
            </a:r>
          </a:p>
          <a:p/>
          <a:p>
            <a:r>
              <a:t>Fuente: ECCA_EE_CY_vc1, diaps. 14–15 y 20; ± sin definición en la fuente</a:t>
            </a:r>
          </a:p>
          <a:p/>
          <a:p>
            <a:r>
              <a:t>Las animaciones e ilustraciones son recursos conceptuales originales.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DIAPOSITIVA PRINCIPAL 19/26 | Duración 01:45 | Tramo 24:30–26:15</a:t>
            </a:r>
          </a:p>
          <a:p/>
          <a:p>
            <a:r>
              <a:t>Presenta a la comunidad como participante del conocimiento y de las decisiones, no como un escenario de muestreo. Recorre las etapas y pide identificar una devolución útil: una conversación, material claro, datos interpretados o un informe comprensible, según lo acordado. Evita prometer soluciones, diagnósticos o mejoras que el proyecto no puede garantizar. Una necesidad puede ser distinta de la que el equipo imaginó al principio. Incluye el tiempo de coordinación y devolución dentro de los recursos del proyecto. No asumas que las actividades participativas ilustradas ocurrieron exactamente así en los estudios originales.</a:t>
            </a:r>
          </a:p>
          <a:p/>
          <a:p>
            <a:r>
              <a:t>Fuente: Propuesta de trabajo colaborativo inspirada en el enfoque STARS</a:t>
            </a:r>
          </a:p>
          <a:p/>
          <a:p>
            <a:r>
              <a:t>Las animaciones e ilustraciones son recursos conceptuales originales.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DIAPOSITIVA PRINCIPAL 20/26 | Duración 01:30 | Tramo 26:15–27:45</a:t>
            </a:r>
          </a:p>
          <a:p/>
          <a:p>
            <a:r>
              <a:t>Reconoce el valor del ingreso para sostener la vida y dar continuidad al trabajo. Amplía después las preguntas: qué aprenderás, a quién sirve lo que haces y qué efecto tiene en el entorno. Empresa, academia, sector público y organizaciones comunitarias son espacios posibles para aportar; ninguno garantiza por sí solo el propósito del trabajo. El servicio necesita recursos, colaboración y continuidad. Pide al grupo elegir una dimensión que quisiera fortalecer en su futura carrera y relacionarla con una acción del proyecto que está pensando. No evalúes a las personas por su situación económica ni por su sector de interés.</a:t>
            </a:r>
          </a:p>
          <a:p/>
          <a:p>
            <a:r>
              <a:t>Fuente: Actividad de reflexión sobre carrera, propósito y contribución</a:t>
            </a:r>
          </a:p>
          <a:p/>
          <a:p>
            <a:r>
              <a:t>Las animaciones e ilustraciones son recursos conceptuales originales.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DIAPOSITIVA PRINCIPAL 21/26 | Duración 01:30 | Tramo 27:45–29:15</a:t>
            </a:r>
          </a:p>
          <a:p/>
          <a:p>
            <a:r>
              <a:t>Explora cuatro rutas: calidad de agua, prácticas relacionadas con alimentos, observación de biodiversidad local y educación científica. Propón comienzos proporcionados: revisar y organizar información, formular una comparación, registrar observaciones o diseñar y revisar un recurso educativo con participantes. Un proyecto inicial también puede producir una pregunta mejor o identificar qué medición falta. Elige según interés, necesidad, personas y recursos. No sugieras manipular microorganismos desconocidos fuera de un laboratorio ni tratar muestras de agua como intervención sanitaria. Las ilustraciones son conceptuales y no fotografías de los proyectos.</a:t>
            </a:r>
          </a:p>
          <a:p/>
          <a:p>
            <a:r>
              <a:t>Fuente: Ideas didácticas; no son resultados ni intervenciones verificadas de los proyectos</a:t>
            </a:r>
          </a:p>
          <a:p/>
          <a:p>
            <a:r>
              <a:t>Las animaciones e ilustraciones son recursos conceptuales originales.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DIAPOSITIVA PRINCIPAL 22/26 | Duración 04:30 | Tramo 29:15–33:45</a:t>
            </a:r>
          </a:p>
          <a:p/>
          <a:p>
            <a:r>
              <a:t>Organiza parejas. Durante el primer minuto escojan una situación y con quién necesitan conversar. En los dos minutos siguientes escriban una pregunta, una forma inicial de abordarla y qué evidencia obtendrían. Dediquen el minuto siguiente a la devolución y a revisar si el alcance cabe en sus recursos. Usa los treinta segundos finales para preparar el relato. Orienta con tres preguntas: ¿importa a alguien además del equipo?, ¿se puede empezar con los recursos reales?, ¿qué se aprendería? La plantilla no sustituye una propuesta formal ni los acuerdos de la institución; permite empezar una conversación bien planteada. En HTML los campos son locales y se conservan al guardar una copia.</a:t>
            </a:r>
          </a:p>
          <a:p/>
          <a:p>
            <a:r>
              <a:t>Fuente: Actividad creada para esta clase · ficha de proyecto disponible</a:t>
            </a:r>
          </a:p>
          <a:p/>
          <a:p>
            <a:r>
              <a:t>Las animaciones e ilustraciones son recursos conceptuales originales.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DIAPOSITIVA PRINCIPAL 23/26 | Duración 01:15 | Tramo 33:45–35:00</a:t>
            </a:r>
          </a:p>
          <a:p/>
          <a:p>
            <a:r>
              <a:t>Pide revisar el proyecto: una pregunta, una comparación pertinente, un registro y una devolución posible. Un piloto permite comprobar si el procedimiento y los registros son adecuados antes de ampliar. No lo definas por un número fijo de muestras: el tamaño depende de la pregunta y del diseño. Un resultado inesperado o una dificultad metodológica puede orientar el siguiente paso. Relaciona con la confianza: avanzar con rigor y pedir retroalimentación es una forma concreta de creer en la propia capacidad de aprender.</a:t>
            </a:r>
          </a:p>
          <a:p/>
          <a:p>
            <a:r>
              <a:t>Fuente: Orientaciones didácticas para acotar un primer proyecto</a:t>
            </a:r>
          </a:p>
          <a:p/>
          <a:p>
            <a:r>
              <a:t>Las animaciones e ilustraciones son recursos conceptuales originales.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DIAPOSITIVA PRINCIPAL 24/26 | Duración 02:30 | Tramo 35:00–37:30</a:t>
            </a:r>
          </a:p>
          <a:p/>
          <a:p>
            <a:r>
              <a:t>Cada integrante tiene sesenta segundos para usar el relato: «Con…, queremos comprender…, haremos…, observaremos…, y compartiremos…». Si ambos trabajaron el mismo proyecto, que la segunda persona lo reformule con sus propias palabras. En los treinta segundos restantes, intercambien una pregunta que ayude a precisar el plan. Evalúa si la pregunta es clara, el método responde a ella y la devolución se relaciona con las personas. Evita premiar únicamente una presentación segura o una técnica sofisticada. El propósito es mejorar el proyecto con la conversación.</a:t>
            </a:r>
          </a:p>
          <a:p/>
          <a:p>
            <a:r>
              <a:t>Fuente: Evaluación formativa mediante presentación breve</a:t>
            </a:r>
          </a:p>
          <a:p/>
          <a:p>
            <a:r>
              <a:t>Las animaciones e ilustraciones son recursos conceptuales originales.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DIAPOSITIVA PRINCIPAL 25/26 | Duración 01:15 | Tramo 37:30–38:45</a:t>
            </a:r>
          </a:p>
          <a:p/>
          <a:p>
            <a:r>
              <a:t>Da medio minuto para completar: «Voy a…, hablaré con…, antes de…». Las acciones pueden ser revisar una línea de investigación, pedir orientación a un docente, explorar una actividad del grupo o conversar con participantes sobre la pregunta. Elige un plazo realista sin fijar una fecha de calendario para todo el curso. Comparte una o dos respuestas voluntarias. El compromiso es de aprendizaje y no una promesa de conseguir financiamiento, una plaza o un resultado. No hace falta que entreguen datos de contacto personales.</a:t>
            </a:r>
          </a:p>
          <a:p/>
          <a:p>
            <a:r>
              <a:t>Fuente: Cierre de la actividad de proyecto · compromiso personal de aprendizaje</a:t>
            </a:r>
          </a:p>
          <a:p/>
          <a:p>
            <a:r>
              <a:t>Las animaciones e ilustraciones son recursos conceptuales originales.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DIAPOSITIVA PRINCIPAL 26/26 | Duración 01:15 | Tramo 38:45–40:00</a:t>
            </a:r>
          </a:p>
          <a:p/>
          <a:p>
            <a:r>
              <a:t>Vuelve a la situación elegida al inicio y pregunta qué cambió: quizá ya no es solo un interés, sino una pregunta y un primer paso. Resume tres ideas: la universidad ofrece personas y espacios que puedes explorar; plantear proyectos permite convertir interés en evidencia; el servicio comunitario se incorpora desde el diseño y la devolución. Cierra con confianza práctica: no hace falta conocer todas las respuestas para empezar a aprender con rigor y acompañamiento. Reserva unos segundos para una última pregunta y remite a las fuentes como lectura complementaria.</a:t>
            </a:r>
          </a:p>
          <a:p/>
          <a:p>
            <a:r>
              <a:t>Fuente: Síntesis de la clase · Emilia Espín Loza</a:t>
            </a:r>
          </a:p>
          <a:p/>
          <a:p>
            <a:r>
              <a:t>Las animaciones e ilustraciones son recursos conceptuales originales.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de consulta; incluido en el tiempo de la actividad principal. Todavía necesita un diseño, recursos y acuerdos. El propósito es responder con evidencia, incluso si el resultado obliga a cambiar la idea.</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Anexo de consulta; incluido en el tiempo de la actividad principal. Para evaluar riesgo se necesita información adicional sobre organismos, viabilidad, exposición y contexto.</a:t>
            </a:r>
          </a:p>
          <a:p/>
          <a:p>
            <a:r>
              <a:t>Detectar ADN no confirma viabilidad ni demuestra infección.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 Id="rId3" Type="http://schemas.openxmlformats.org/officeDocument/2006/relationships/slide" Target="slide10.xml"/><Relationship Id="rId4" Type="http://schemas.openxmlformats.org/officeDocument/2006/relationships/slide" Target="slide19.xml"/><Relationship Id="rId5" Type="http://schemas.openxmlformats.org/officeDocument/2006/relationships/slide" Target="slide22.xml"/><Relationship Id="rId6" Type="http://schemas.openxmlformats.org/officeDocument/2006/relationships/slide" Target="slide27.xml"/><Relationship Id="rId7" Type="http://schemas.openxmlformats.org/officeDocument/2006/relationships/notesSlide" Target="../notesSlides/notesSlide1.xml"/><Relationship Id="rId8"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 Id="rId3" Type="http://schemas.openxmlformats.org/officeDocument/2006/relationships/slide" Target="slide10.xml"/><Relationship Id="rId4" Type="http://schemas.openxmlformats.org/officeDocument/2006/relationships/slide" Target="slide19.xml"/><Relationship Id="rId5" Type="http://schemas.openxmlformats.org/officeDocument/2006/relationships/slide" Target="slide22.xml"/><Relationship Id="rId6" Type="http://schemas.openxmlformats.org/officeDocument/2006/relationships/slide" Target="slide27.xml"/><Relationship Id="rId7" Type="http://schemas.openxmlformats.org/officeDocument/2006/relationships/notesSlide" Target="../notesSlides/notesSlide2.xml"/><Relationship Id="rId8" Type="http://schemas.openxmlformats.org/officeDocument/2006/relationships/image" Target="../media/image2.png"/><Relationship Id="rId9" Type="http://schemas.openxmlformats.org/officeDocument/2006/relationships/image" Target="../media/image3.png"/><Relationship Id="rId10" Type="http://schemas.openxmlformats.org/officeDocument/2006/relationships/image" Target="../media/image4.png"/><Relationship Id="rId11"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 Id="rId3" Type="http://schemas.openxmlformats.org/officeDocument/2006/relationships/slide" Target="slide10.xml"/><Relationship Id="rId4" Type="http://schemas.openxmlformats.org/officeDocument/2006/relationships/slide" Target="slide19.xml"/><Relationship Id="rId5" Type="http://schemas.openxmlformats.org/officeDocument/2006/relationships/slide" Target="slide22.xml"/><Relationship Id="rId6" Type="http://schemas.openxmlformats.org/officeDocument/2006/relationships/slide" Target="slide27.xml"/><Relationship Id="rId7" Type="http://schemas.openxmlformats.org/officeDocument/2006/relationships/notesSlide" Target="../notesSlides/notesSlide3.xml"/><Relationship Id="rId8" Type="http://schemas.openxmlformats.org/officeDocument/2006/relationships/image" Target="../media/image6.png"/><Relationship Id="rId9" Type="http://schemas.openxmlformats.org/officeDocument/2006/relationships/image" Target="../media/image7.png"/><Relationship Id="rId10"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 Id="rId3" Type="http://schemas.openxmlformats.org/officeDocument/2006/relationships/slide" Target="slide10.xml"/><Relationship Id="rId4" Type="http://schemas.openxmlformats.org/officeDocument/2006/relationships/slide" Target="slide19.xml"/><Relationship Id="rId5" Type="http://schemas.openxmlformats.org/officeDocument/2006/relationships/slide" Target="slide22.xml"/><Relationship Id="rId6" Type="http://schemas.openxmlformats.org/officeDocument/2006/relationships/slide" Target="slide27.xml"/><Relationship Id="rId7" Type="http://schemas.openxmlformats.org/officeDocument/2006/relationships/notesSlide" Target="../notesSlides/notesSlide4.xml"/><Relationship Id="rId8"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 Id="rId3" Type="http://schemas.openxmlformats.org/officeDocument/2006/relationships/slide" Target="slide10.xml"/><Relationship Id="rId4" Type="http://schemas.openxmlformats.org/officeDocument/2006/relationships/slide" Target="slide19.xml"/><Relationship Id="rId5" Type="http://schemas.openxmlformats.org/officeDocument/2006/relationships/slide" Target="slide22.xml"/><Relationship Id="rId6" Type="http://schemas.openxmlformats.org/officeDocument/2006/relationships/slide" Target="slide27.xml"/><Relationship Id="rId7" Type="http://schemas.openxmlformats.org/officeDocument/2006/relationships/notesSlide" Target="../notesSlides/notesSlide5.xml"/><Relationship Id="rId8"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 Id="rId3" Type="http://schemas.openxmlformats.org/officeDocument/2006/relationships/slide" Target="slide10.xml"/><Relationship Id="rId4" Type="http://schemas.openxmlformats.org/officeDocument/2006/relationships/slide" Target="slide19.xml"/><Relationship Id="rId5" Type="http://schemas.openxmlformats.org/officeDocument/2006/relationships/slide" Target="slide22.xml"/><Relationship Id="rId6" Type="http://schemas.openxmlformats.org/officeDocument/2006/relationships/slide" Target="slide27.xml"/><Relationship Id="rId7" Type="http://schemas.openxmlformats.org/officeDocument/2006/relationships/notesSlide" Target="../notesSlides/notesSlide6.xml"/><Relationship Id="rId8" Type="http://schemas.openxmlformats.org/officeDocument/2006/relationships/image" Target="../media/image11.gif"/></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 Id="rId3" Type="http://schemas.openxmlformats.org/officeDocument/2006/relationships/slide" Target="slide10.xml"/><Relationship Id="rId4" Type="http://schemas.openxmlformats.org/officeDocument/2006/relationships/slide" Target="slide19.xml"/><Relationship Id="rId5" Type="http://schemas.openxmlformats.org/officeDocument/2006/relationships/slide" Target="slide22.xml"/><Relationship Id="rId6" Type="http://schemas.openxmlformats.org/officeDocument/2006/relationships/slide" Target="slide27.xml"/><Relationship Id="rId7" Type="http://schemas.openxmlformats.org/officeDocument/2006/relationships/notesSlide" Target="../notesSlides/notesSlide7.xml"/><Relationship Id="rId8" Type="http://schemas.openxmlformats.org/officeDocument/2006/relationships/image" Target="../media/image1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 Id="rId3" Type="http://schemas.openxmlformats.org/officeDocument/2006/relationships/slide" Target="slide10.xml"/><Relationship Id="rId4" Type="http://schemas.openxmlformats.org/officeDocument/2006/relationships/slide" Target="slide19.xml"/><Relationship Id="rId5" Type="http://schemas.openxmlformats.org/officeDocument/2006/relationships/slide" Target="slide22.xml"/><Relationship Id="rId6" Type="http://schemas.openxmlformats.org/officeDocument/2006/relationships/slide" Target="slide27.xml"/><Relationship Id="rId7" Type="http://schemas.openxmlformats.org/officeDocument/2006/relationships/notesSlide" Target="../notesSlides/notesSlide8.xml"/><Relationship Id="rId8"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 Id="rId3" Type="http://schemas.openxmlformats.org/officeDocument/2006/relationships/slide" Target="slide10.xml"/><Relationship Id="rId4" Type="http://schemas.openxmlformats.org/officeDocument/2006/relationships/slide" Target="slide19.xml"/><Relationship Id="rId5" Type="http://schemas.openxmlformats.org/officeDocument/2006/relationships/slide" Target="slide22.xml"/><Relationship Id="rId6" Type="http://schemas.openxmlformats.org/officeDocument/2006/relationships/slide" Target="slide27.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 Id="rId3" Type="http://schemas.openxmlformats.org/officeDocument/2006/relationships/slide" Target="slide10.xml"/><Relationship Id="rId4" Type="http://schemas.openxmlformats.org/officeDocument/2006/relationships/slide" Target="slide19.xml"/><Relationship Id="rId5" Type="http://schemas.openxmlformats.org/officeDocument/2006/relationships/slide" Target="slide22.xml"/><Relationship Id="rId6" Type="http://schemas.openxmlformats.org/officeDocument/2006/relationships/slide" Target="slide27.xml"/><Relationship Id="rId7" Type="http://schemas.openxmlformats.org/officeDocument/2006/relationships/notesSlide" Target="../notesSlides/notesSlide10.xml"/><Relationship Id="rId8"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 Id="rId3" Type="http://schemas.openxmlformats.org/officeDocument/2006/relationships/slide" Target="slide10.xml"/><Relationship Id="rId4" Type="http://schemas.openxmlformats.org/officeDocument/2006/relationships/slide" Target="slide19.xml"/><Relationship Id="rId5" Type="http://schemas.openxmlformats.org/officeDocument/2006/relationships/slide" Target="slide22.xml"/><Relationship Id="rId6" Type="http://schemas.openxmlformats.org/officeDocument/2006/relationships/slide" Target="slide27.xml"/><Relationship Id="rId7" Type="http://schemas.openxmlformats.org/officeDocument/2006/relationships/notesSlide" Target="../notesSlides/notesSlide11.xml"/><Relationship Id="rId8" Type="http://schemas.openxmlformats.org/officeDocument/2006/relationships/image" Target="../media/image15.gif"/></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 Id="rId3" Type="http://schemas.openxmlformats.org/officeDocument/2006/relationships/slide" Target="slide10.xml"/><Relationship Id="rId4" Type="http://schemas.openxmlformats.org/officeDocument/2006/relationships/slide" Target="slide19.xml"/><Relationship Id="rId5" Type="http://schemas.openxmlformats.org/officeDocument/2006/relationships/slide" Target="slide22.xml"/><Relationship Id="rId6" Type="http://schemas.openxmlformats.org/officeDocument/2006/relationships/slide" Target="slide27.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 Id="rId3" Type="http://schemas.openxmlformats.org/officeDocument/2006/relationships/slide" Target="slide10.xml"/><Relationship Id="rId4" Type="http://schemas.openxmlformats.org/officeDocument/2006/relationships/slide" Target="slide19.xml"/><Relationship Id="rId5" Type="http://schemas.openxmlformats.org/officeDocument/2006/relationships/slide" Target="slide22.xml"/><Relationship Id="rId6" Type="http://schemas.openxmlformats.org/officeDocument/2006/relationships/slide" Target="slide27.xml"/><Relationship Id="rId7" Type="http://schemas.openxmlformats.org/officeDocument/2006/relationships/notesSlide" Target="../notesSlides/notesSlide13.xml"/><Relationship Id="rId8" Type="http://schemas.openxmlformats.org/officeDocument/2006/relationships/image" Target="../media/image16.png"/><Relationship Id="rId9" Type="http://schemas.openxmlformats.org/officeDocument/2006/relationships/slide" Target="slide2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 Id="rId3" Type="http://schemas.openxmlformats.org/officeDocument/2006/relationships/slide" Target="slide10.xml"/><Relationship Id="rId4" Type="http://schemas.openxmlformats.org/officeDocument/2006/relationships/slide" Target="slide19.xml"/><Relationship Id="rId5" Type="http://schemas.openxmlformats.org/officeDocument/2006/relationships/slide" Target="slide22.xml"/><Relationship Id="rId6" Type="http://schemas.openxmlformats.org/officeDocument/2006/relationships/slide" Target="slide27.xml"/><Relationship Id="rId7" Type="http://schemas.openxmlformats.org/officeDocument/2006/relationships/notesSlide" Target="../notesSlides/notesSlide14.xml"/><Relationship Id="rId8" Type="http://schemas.openxmlformats.org/officeDocument/2006/relationships/image" Target="../media/image1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 Id="rId3" Type="http://schemas.openxmlformats.org/officeDocument/2006/relationships/slide" Target="slide10.xml"/><Relationship Id="rId4" Type="http://schemas.openxmlformats.org/officeDocument/2006/relationships/slide" Target="slide19.xml"/><Relationship Id="rId5" Type="http://schemas.openxmlformats.org/officeDocument/2006/relationships/slide" Target="slide22.xml"/><Relationship Id="rId6" Type="http://schemas.openxmlformats.org/officeDocument/2006/relationships/slide" Target="slide27.xml"/><Relationship Id="rId7" Type="http://schemas.openxmlformats.org/officeDocument/2006/relationships/notesSlide" Target="../notesSlides/notesSlide15.xml"/><Relationship Id="rId8" Type="http://schemas.openxmlformats.org/officeDocument/2006/relationships/image" Target="../media/image1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 Id="rId3" Type="http://schemas.openxmlformats.org/officeDocument/2006/relationships/slide" Target="slide10.xml"/><Relationship Id="rId4" Type="http://schemas.openxmlformats.org/officeDocument/2006/relationships/slide" Target="slide19.xml"/><Relationship Id="rId5" Type="http://schemas.openxmlformats.org/officeDocument/2006/relationships/slide" Target="slide22.xml"/><Relationship Id="rId6" Type="http://schemas.openxmlformats.org/officeDocument/2006/relationships/slide" Target="slide27.xml"/><Relationship Id="rId7" Type="http://schemas.openxmlformats.org/officeDocument/2006/relationships/notesSlide" Target="../notesSlides/notesSlide16.xml"/><Relationship Id="rId8" Type="http://schemas.openxmlformats.org/officeDocument/2006/relationships/image" Target="../media/image19.gif"/></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 Id="rId3" Type="http://schemas.openxmlformats.org/officeDocument/2006/relationships/slide" Target="slide10.xml"/><Relationship Id="rId4" Type="http://schemas.openxmlformats.org/officeDocument/2006/relationships/slide" Target="slide19.xml"/><Relationship Id="rId5" Type="http://schemas.openxmlformats.org/officeDocument/2006/relationships/slide" Target="slide22.xml"/><Relationship Id="rId6" Type="http://schemas.openxmlformats.org/officeDocument/2006/relationships/slide" Target="slide27.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 Id="rId3" Type="http://schemas.openxmlformats.org/officeDocument/2006/relationships/slide" Target="slide10.xml"/><Relationship Id="rId4" Type="http://schemas.openxmlformats.org/officeDocument/2006/relationships/slide" Target="slide19.xml"/><Relationship Id="rId5" Type="http://schemas.openxmlformats.org/officeDocument/2006/relationships/slide" Target="slide22.xml"/><Relationship Id="rId6" Type="http://schemas.openxmlformats.org/officeDocument/2006/relationships/slide" Target="slide27.xml"/><Relationship Id="rId7" Type="http://schemas.openxmlformats.org/officeDocument/2006/relationships/notesSlide" Target="../notesSlides/notesSlide18.xml"/><Relationship Id="rId8" Type="http://schemas.openxmlformats.org/officeDocument/2006/relationships/slide" Target="slide18.xml"/><Relationship Id="rId9" Type="http://schemas.openxmlformats.org/officeDocument/2006/relationships/slide" Target="slide31.xml"/><Relationship Id="rId10" Type="http://schemas.openxmlformats.org/officeDocument/2006/relationships/slide" Target="slide32.xml"/><Relationship Id="rId11" Type="http://schemas.openxmlformats.org/officeDocument/2006/relationships/chart" Target="../charts/chart1.xml"/><Relationship Id="rId12" Type="http://schemas.openxmlformats.org/officeDocument/2006/relationships/slide" Target="slide2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 Id="rId3" Type="http://schemas.openxmlformats.org/officeDocument/2006/relationships/slide" Target="slide10.xml"/><Relationship Id="rId4" Type="http://schemas.openxmlformats.org/officeDocument/2006/relationships/slide" Target="slide19.xml"/><Relationship Id="rId5" Type="http://schemas.openxmlformats.org/officeDocument/2006/relationships/slide" Target="slide22.xml"/><Relationship Id="rId6" Type="http://schemas.openxmlformats.org/officeDocument/2006/relationships/slide" Target="slide27.xml"/><Relationship Id="rId7" Type="http://schemas.openxmlformats.org/officeDocument/2006/relationships/notesSlide" Target="../notesSlides/notesSlide19.xml"/><Relationship Id="rId8" Type="http://schemas.openxmlformats.org/officeDocument/2006/relationships/image" Target="../media/image20.gif"/></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 Id="rId3" Type="http://schemas.openxmlformats.org/officeDocument/2006/relationships/slide" Target="slide10.xml"/><Relationship Id="rId4" Type="http://schemas.openxmlformats.org/officeDocument/2006/relationships/slide" Target="slide19.xml"/><Relationship Id="rId5" Type="http://schemas.openxmlformats.org/officeDocument/2006/relationships/slide" Target="slide22.xml"/><Relationship Id="rId6" Type="http://schemas.openxmlformats.org/officeDocument/2006/relationships/slide" Target="slide27.xml"/><Relationship Id="rId7" Type="http://schemas.openxmlformats.org/officeDocument/2006/relationships/notesSlide" Target="../notesSlides/notesSlide20.xml"/><Relationship Id="rId8" Type="http://schemas.openxmlformats.org/officeDocument/2006/relationships/image" Target="../media/image2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 Id="rId3" Type="http://schemas.openxmlformats.org/officeDocument/2006/relationships/slide" Target="slide10.xml"/><Relationship Id="rId4" Type="http://schemas.openxmlformats.org/officeDocument/2006/relationships/slide" Target="slide19.xml"/><Relationship Id="rId5" Type="http://schemas.openxmlformats.org/officeDocument/2006/relationships/slide" Target="slide22.xml"/><Relationship Id="rId6" Type="http://schemas.openxmlformats.org/officeDocument/2006/relationships/slide" Target="slide27.xml"/><Relationship Id="rId7" Type="http://schemas.openxmlformats.org/officeDocument/2006/relationships/notesSlide" Target="../notesSlides/notesSlide21.xml"/><Relationship Id="rId8" Type="http://schemas.openxmlformats.org/officeDocument/2006/relationships/image" Target="../media/image1.jpg"/><Relationship Id="rId9" Type="http://schemas.openxmlformats.org/officeDocument/2006/relationships/image" Target="../media/image2.png"/><Relationship Id="rId10" Type="http://schemas.openxmlformats.org/officeDocument/2006/relationships/image" Target="../media/image3.png"/><Relationship Id="rId11" Type="http://schemas.openxmlformats.org/officeDocument/2006/relationships/image" Target="../media/image4.png"/><Relationship Id="rId12" Type="http://schemas.openxmlformats.org/officeDocument/2006/relationships/image" Target="../media/image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 Id="rId3" Type="http://schemas.openxmlformats.org/officeDocument/2006/relationships/slide" Target="slide10.xml"/><Relationship Id="rId4" Type="http://schemas.openxmlformats.org/officeDocument/2006/relationships/slide" Target="slide19.xml"/><Relationship Id="rId5" Type="http://schemas.openxmlformats.org/officeDocument/2006/relationships/slide" Target="slide22.xml"/><Relationship Id="rId6" Type="http://schemas.openxmlformats.org/officeDocument/2006/relationships/slide" Target="slide27.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 Id="rId3" Type="http://schemas.openxmlformats.org/officeDocument/2006/relationships/slide" Target="slide10.xml"/><Relationship Id="rId4" Type="http://schemas.openxmlformats.org/officeDocument/2006/relationships/slide" Target="slide19.xml"/><Relationship Id="rId5" Type="http://schemas.openxmlformats.org/officeDocument/2006/relationships/slide" Target="slide22.xml"/><Relationship Id="rId6" Type="http://schemas.openxmlformats.org/officeDocument/2006/relationships/slide" Target="slide27.xml"/><Relationship Id="rId7" Type="http://schemas.openxmlformats.org/officeDocument/2006/relationships/notesSlide" Target="../notesSlides/notesSlide23.xml"/><Relationship Id="rId8" Type="http://schemas.openxmlformats.org/officeDocument/2006/relationships/image" Target="../media/image2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 Id="rId3" Type="http://schemas.openxmlformats.org/officeDocument/2006/relationships/slide" Target="slide10.xml"/><Relationship Id="rId4" Type="http://schemas.openxmlformats.org/officeDocument/2006/relationships/slide" Target="slide19.xml"/><Relationship Id="rId5" Type="http://schemas.openxmlformats.org/officeDocument/2006/relationships/slide" Target="slide22.xml"/><Relationship Id="rId6" Type="http://schemas.openxmlformats.org/officeDocument/2006/relationships/slide" Target="slide27.xml"/><Relationship Id="rId7" Type="http://schemas.openxmlformats.org/officeDocument/2006/relationships/notesSlide" Target="../notesSlides/notesSlide24.xml"/><Relationship Id="rId8" Type="http://schemas.openxmlformats.org/officeDocument/2006/relationships/image" Target="../media/image1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 Id="rId3" Type="http://schemas.openxmlformats.org/officeDocument/2006/relationships/slide" Target="slide10.xml"/><Relationship Id="rId4" Type="http://schemas.openxmlformats.org/officeDocument/2006/relationships/slide" Target="slide19.xml"/><Relationship Id="rId5" Type="http://schemas.openxmlformats.org/officeDocument/2006/relationships/slide" Target="slide22.xml"/><Relationship Id="rId6" Type="http://schemas.openxmlformats.org/officeDocument/2006/relationships/slide" Target="slide27.xml"/><Relationship Id="rId7" Type="http://schemas.openxmlformats.org/officeDocument/2006/relationships/notesSlide" Target="../notesSlides/notesSlide25.xml"/><Relationship Id="rId8" Type="http://schemas.openxmlformats.org/officeDocument/2006/relationships/image" Target="../media/image2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 Id="rId3" Type="http://schemas.openxmlformats.org/officeDocument/2006/relationships/slide" Target="slide10.xml"/><Relationship Id="rId4" Type="http://schemas.openxmlformats.org/officeDocument/2006/relationships/slide" Target="slide19.xml"/><Relationship Id="rId5" Type="http://schemas.openxmlformats.org/officeDocument/2006/relationships/slide" Target="slide22.xml"/><Relationship Id="rId6" Type="http://schemas.openxmlformats.org/officeDocument/2006/relationships/slide" Target="slide27.xml"/><Relationship Id="rId7" Type="http://schemas.openxmlformats.org/officeDocument/2006/relationships/notesSlide" Target="../notesSlides/notesSlide26.xml"/><Relationship Id="rId8" Type="http://schemas.openxmlformats.org/officeDocument/2006/relationships/image" Target="../media/image2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 Id="rId3" Type="http://schemas.openxmlformats.org/officeDocument/2006/relationships/slide" Target="slide10.xml"/><Relationship Id="rId4" Type="http://schemas.openxmlformats.org/officeDocument/2006/relationships/slide" Target="slide19.xml"/><Relationship Id="rId5" Type="http://schemas.openxmlformats.org/officeDocument/2006/relationships/slide" Target="slide22.xml"/><Relationship Id="rId6" Type="http://schemas.openxmlformats.org/officeDocument/2006/relationships/slide" Target="slide27.xml"/><Relationship Id="rId7" Type="http://schemas.openxmlformats.org/officeDocument/2006/relationships/slide" Target="slide1.xml"/><Relationship Id="rId8" Type="http://schemas.openxmlformats.org/officeDocument/2006/relationships/slide" Target="slide3.xml"/><Relationship Id="rId9" Type="http://schemas.openxmlformats.org/officeDocument/2006/relationships/slide" Target="slide4.xml"/><Relationship Id="rId10" Type="http://schemas.openxmlformats.org/officeDocument/2006/relationships/slide" Target="slide5.xml"/><Relationship Id="rId11" Type="http://schemas.openxmlformats.org/officeDocument/2006/relationships/slide" Target="slide6.xml"/><Relationship Id="rId12" Type="http://schemas.openxmlformats.org/officeDocument/2006/relationships/slide" Target="slide7.xml"/><Relationship Id="rId13" Type="http://schemas.openxmlformats.org/officeDocument/2006/relationships/slide" Target="slide8.xml"/><Relationship Id="rId14" Type="http://schemas.openxmlformats.org/officeDocument/2006/relationships/slide" Target="slide9.xml"/><Relationship Id="rId15" Type="http://schemas.openxmlformats.org/officeDocument/2006/relationships/slide" Target="slide11.xml"/><Relationship Id="rId16" Type="http://schemas.openxmlformats.org/officeDocument/2006/relationships/slide" Target="slide12.xml"/><Relationship Id="rId17" Type="http://schemas.openxmlformats.org/officeDocument/2006/relationships/slide" Target="slide13.xml"/><Relationship Id="rId18" Type="http://schemas.openxmlformats.org/officeDocument/2006/relationships/slide" Target="slide14.xml"/><Relationship Id="rId19" Type="http://schemas.openxmlformats.org/officeDocument/2006/relationships/slide" Target="slide15.xml"/><Relationship Id="rId20" Type="http://schemas.openxmlformats.org/officeDocument/2006/relationships/slide" Target="slide16.xml"/><Relationship Id="rId21" Type="http://schemas.openxmlformats.org/officeDocument/2006/relationships/slide" Target="slide17.xml"/><Relationship Id="rId22" Type="http://schemas.openxmlformats.org/officeDocument/2006/relationships/slide" Target="slide18.xml"/><Relationship Id="rId23" Type="http://schemas.openxmlformats.org/officeDocument/2006/relationships/slide" Target="slide20.xml"/><Relationship Id="rId24" Type="http://schemas.openxmlformats.org/officeDocument/2006/relationships/slide" Target="slide21.xml"/><Relationship Id="rId25" Type="http://schemas.openxmlformats.org/officeDocument/2006/relationships/slide" Target="slide23.xml"/><Relationship Id="rId26" Type="http://schemas.openxmlformats.org/officeDocument/2006/relationships/slide" Target="slide24.xml"/><Relationship Id="rId27" Type="http://schemas.openxmlformats.org/officeDocument/2006/relationships/slide" Target="slide25.xml"/><Relationship Id="rId28" Type="http://schemas.openxmlformats.org/officeDocument/2006/relationships/slide" Target="slide26.xml"/><Relationship Id="rId29" Type="http://schemas.openxmlformats.org/officeDocument/2006/relationships/slide" Target="slide3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 Id="rId3" Type="http://schemas.openxmlformats.org/officeDocument/2006/relationships/slide" Target="slide10.xml"/><Relationship Id="rId4" Type="http://schemas.openxmlformats.org/officeDocument/2006/relationships/slide" Target="slide19.xml"/><Relationship Id="rId5" Type="http://schemas.openxmlformats.org/officeDocument/2006/relationships/slide" Target="slide22.xml"/><Relationship Id="rId6" Type="http://schemas.openxmlformats.org/officeDocument/2006/relationships/slide" Target="slide27.xml"/><Relationship Id="rId7" Type="http://schemas.openxmlformats.org/officeDocument/2006/relationships/image" Target="../media/image5.png"/><Relationship Id="rId8" Type="http://schemas.openxmlformats.org/officeDocument/2006/relationships/slide" Target="slide13.xml"/><Relationship Id="rId9" Type="http://schemas.openxmlformats.org/officeDocument/2006/relationships/slide" Target="slide14.xml"/><Relationship Id="rId10"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 Id="rId3" Type="http://schemas.openxmlformats.org/officeDocument/2006/relationships/slide" Target="slide10.xml"/><Relationship Id="rId4" Type="http://schemas.openxmlformats.org/officeDocument/2006/relationships/slide" Target="slide19.xml"/><Relationship Id="rId5" Type="http://schemas.openxmlformats.org/officeDocument/2006/relationships/slide" Target="slide22.xml"/><Relationship Id="rId6" Type="http://schemas.openxmlformats.org/officeDocument/2006/relationships/slide" Target="slide27.xml"/><Relationship Id="rId7" Type="http://schemas.openxmlformats.org/officeDocument/2006/relationships/image" Target="../media/image5.png"/><Relationship Id="rId8" Type="http://schemas.openxmlformats.org/officeDocument/2006/relationships/slide" Target="slide18.xml"/><Relationship Id="rId9"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 Id="rId3" Type="http://schemas.openxmlformats.org/officeDocument/2006/relationships/slide" Target="slide10.xml"/><Relationship Id="rId4" Type="http://schemas.openxmlformats.org/officeDocument/2006/relationships/slide" Target="slide19.xml"/><Relationship Id="rId5" Type="http://schemas.openxmlformats.org/officeDocument/2006/relationships/slide" Target="slide22.xml"/><Relationship Id="rId6" Type="http://schemas.openxmlformats.org/officeDocument/2006/relationships/slide" Target="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 Id="rId3" Type="http://schemas.openxmlformats.org/officeDocument/2006/relationships/slide" Target="slide10.xml"/><Relationship Id="rId4" Type="http://schemas.openxmlformats.org/officeDocument/2006/relationships/slide" Target="slide19.xml"/><Relationship Id="rId5" Type="http://schemas.openxmlformats.org/officeDocument/2006/relationships/slide" Target="slide22.xml"/><Relationship Id="rId6" Type="http://schemas.openxmlformats.org/officeDocument/2006/relationships/slide" Target="slide27.xml"/><Relationship Id="rId7" Type="http://schemas.openxmlformats.org/officeDocument/2006/relationships/slide" Target="slide18.xml"/><Relationship Id="rId8" Type="http://schemas.openxmlformats.org/officeDocument/2006/relationships/slide" Target="slide31.xml"/><Relationship Id="rId9" Type="http://schemas.openxmlformats.org/officeDocument/2006/relationships/slide" Target="slide32.xml"/><Relationship Id="rId10" Type="http://schemas.openxmlformats.org/officeDocument/2006/relationships/chart" Target="../charts/chart2.xml"/><Relationship Id="rId11" Type="http://schemas.openxmlformats.org/officeDocument/2006/relationships/slide" Target="slide2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 Id="rId3" Type="http://schemas.openxmlformats.org/officeDocument/2006/relationships/slide" Target="slide10.xml"/><Relationship Id="rId4" Type="http://schemas.openxmlformats.org/officeDocument/2006/relationships/slide" Target="slide19.xml"/><Relationship Id="rId5" Type="http://schemas.openxmlformats.org/officeDocument/2006/relationships/slide" Target="slide22.xml"/><Relationship Id="rId6" Type="http://schemas.openxmlformats.org/officeDocument/2006/relationships/slide" Target="slide27.xml"/><Relationship Id="rId7" Type="http://schemas.openxmlformats.org/officeDocument/2006/relationships/slide" Target="slide18.xml"/><Relationship Id="rId8" Type="http://schemas.openxmlformats.org/officeDocument/2006/relationships/slide" Target="slide31.xml"/><Relationship Id="rId9" Type="http://schemas.openxmlformats.org/officeDocument/2006/relationships/slide" Target="slide32.xml"/><Relationship Id="rId10" Type="http://schemas.openxmlformats.org/officeDocument/2006/relationships/chart" Target="../charts/chart3.xml"/><Relationship Id="rId11" Type="http://schemas.openxmlformats.org/officeDocument/2006/relationships/slide" Target="slide2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EFE8FC"/>
        </a:solidFill>
        <a:effectLst/>
      </p:bgPr>
    </p:bg>
    <p:spTree>
      <p:nvGrpSpPr>
        <p:cNvPr id="1" name=""/>
        <p:cNvGrpSpPr/>
        <p:nvPr/>
      </p:nvGrpSpPr>
      <p:grpSpPr/>
      <p:sp>
        <p:nvSpPr>
          <p:cNvPr id="2" name="TextBox 1"/>
          <p:cNvSpPr txBox="1"/>
          <p:nvPr/>
        </p:nvSpPr>
        <p:spPr>
          <a:xfrm>
            <a:off x="548640" y="365760"/>
            <a:ext cx="7543800" cy="274320"/>
          </a:xfrm>
          <a:prstGeom prst="rect">
            <a:avLst/>
          </a:prstGeom>
          <a:noFill/>
        </p:spPr>
        <p:txBody>
          <a:bodyPr wrap="square" lIns="0" rIns="0" tIns="0" bIns="0">
            <a:spAutoFit/>
          </a:bodyPr>
          <a:lstStyle/>
          <a:p>
            <a:pPr algn="l">
              <a:lnSpc>
                <a:spcPct val="101000"/>
              </a:lnSpc>
              <a:spcAft>
                <a:spcPts val="300"/>
              </a:spcAft>
              <a:defRPr sz="930" b="1">
                <a:solidFill>
                  <a:srgbClr val="137F7D"/>
                </a:solidFill>
                <a:latin typeface="DejaVu Sans"/>
              </a:defRPr>
            </a:pPr>
            <a:r>
              <a:t>BIOLOGÍA · UNIVERSIDAD · COMUNIDAD</a:t>
            </a:r>
          </a:p>
        </p:txBody>
      </p:sp>
      <p:sp>
        <p:nvSpPr>
          <p:cNvPr id="3" name="Rounded Rectangle 2">
            <a:hlinkClick action="ppaction://hlinksldjump" r:id="rId2"/>
          </p:cNvPr>
          <p:cNvSpPr/>
          <p:nvPr/>
        </p:nvSpPr>
        <p:spPr>
          <a:xfrm>
            <a:off x="8229600" y="310896"/>
            <a:ext cx="795528" cy="310896"/>
          </a:xfrm>
          <a:prstGeom prst="roundRect">
            <a:avLst>
              <a:gd name="adj" fmla="val 12000"/>
            </a:avLst>
          </a:prstGeom>
          <a:solidFill>
            <a:srgbClr val="E2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a:hlinkClick action="ppaction://hlinksldjump" r:id="rId2"/>
          </p:cNvPr>
          <p:cNvSpPr txBox="1"/>
          <p:nvPr/>
        </p:nvSpPr>
        <p:spPr>
          <a:xfrm>
            <a:off x="8339327"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Explorar</a:t>
            </a:r>
          </a:p>
        </p:txBody>
      </p:sp>
      <p:sp>
        <p:nvSpPr>
          <p:cNvPr id="5" name="Rounded Rectangle 4">
            <a:hlinkClick action="ppaction://hlinksldjump" r:id="rId3"/>
          </p:cNvPr>
          <p:cNvSpPr/>
          <p:nvPr/>
        </p:nvSpPr>
        <p:spPr>
          <a:xfrm>
            <a:off x="9089136" y="310896"/>
            <a:ext cx="795528" cy="310896"/>
          </a:xfrm>
          <a:prstGeom prst="roundRect">
            <a:avLst>
              <a:gd name="adj" fmla="val 12000"/>
            </a:avLst>
          </a:prstGeom>
          <a:solidFill>
            <a:srgbClr val="F0E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a:hlinkClick action="ppaction://hlinksldjump" r:id="rId3"/>
          </p:cNvPr>
          <p:cNvSpPr txBox="1"/>
          <p:nvPr/>
        </p:nvSpPr>
        <p:spPr>
          <a:xfrm>
            <a:off x="9198863"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Diseñar</a:t>
            </a:r>
          </a:p>
        </p:txBody>
      </p:sp>
      <p:sp>
        <p:nvSpPr>
          <p:cNvPr id="7" name="Rounded Rectangle 6">
            <a:hlinkClick action="ppaction://hlinksldjump" r:id="rId4"/>
          </p:cNvPr>
          <p:cNvSpPr/>
          <p:nvPr/>
        </p:nvSpPr>
        <p:spPr>
          <a:xfrm>
            <a:off x="9948672" y="310896"/>
            <a:ext cx="795528" cy="310896"/>
          </a:xfrm>
          <a:prstGeom prst="roundRect">
            <a:avLst>
              <a:gd name="adj" fmla="val 12000"/>
            </a:avLst>
          </a:prstGeom>
          <a:solidFill>
            <a:srgbClr val="FFF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a:hlinkClick action="ppaction://hlinksldjump" r:id="rId4"/>
          </p:cNvPr>
          <p:cNvSpPr txBox="1"/>
          <p:nvPr/>
        </p:nvSpPr>
        <p:spPr>
          <a:xfrm>
            <a:off x="10058399"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Servir</a:t>
            </a:r>
          </a:p>
        </p:txBody>
      </p:sp>
      <p:sp>
        <p:nvSpPr>
          <p:cNvPr id="9" name="Rounded Rectangle 8">
            <a:hlinkClick action="ppaction://hlinksldjump" r:id="rId5"/>
          </p:cNvPr>
          <p:cNvSpPr/>
          <p:nvPr/>
        </p:nvSpPr>
        <p:spPr>
          <a:xfrm>
            <a:off x="10808208" y="310896"/>
            <a:ext cx="795528" cy="310896"/>
          </a:xfrm>
          <a:prstGeom prst="roundRect">
            <a:avLst>
              <a:gd name="adj" fmla="val 12000"/>
            </a:avLst>
          </a:prstGeom>
          <a:solidFill>
            <a:srgbClr val="E9F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a:hlinkClick action="ppaction://hlinksldjump" r:id="rId5"/>
          </p:cNvPr>
          <p:cNvSpPr txBox="1"/>
          <p:nvPr/>
        </p:nvSpPr>
        <p:spPr>
          <a:xfrm>
            <a:off x="10917936"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Empezar</a:t>
            </a:r>
          </a:p>
        </p:txBody>
      </p:sp>
      <p:sp>
        <p:nvSpPr>
          <p:cNvPr id="13" name="TextBox 12"/>
          <p:cNvSpPr txBox="1"/>
          <p:nvPr/>
        </p:nvSpPr>
        <p:spPr>
          <a:xfrm>
            <a:off x="548640" y="6446520"/>
            <a:ext cx="9966960" cy="210312"/>
          </a:xfrm>
          <a:prstGeom prst="rect">
            <a:avLst/>
          </a:prstGeom>
          <a:noFill/>
        </p:spPr>
        <p:txBody>
          <a:bodyPr wrap="square" lIns="0" rIns="0" tIns="0" bIns="0">
            <a:spAutoFit/>
          </a:bodyPr>
          <a:lstStyle/>
          <a:p>
            <a:pPr algn="l">
              <a:lnSpc>
                <a:spcPct val="101000"/>
              </a:lnSpc>
              <a:spcAft>
                <a:spcPts val="300"/>
              </a:spcAft>
              <a:defRPr sz="810" b="0">
                <a:solidFill>
                  <a:srgbClr val="5C6E83"/>
                </a:solidFill>
                <a:latin typeface="DejaVu Sans"/>
              </a:defRPr>
            </a:pPr>
            <a:r>
              <a:t>Emilia Espín Loza · Microbiología y Ciencias Biomédicas</a:t>
            </a:r>
          </a:p>
        </p:txBody>
      </p:sp>
      <p:sp>
        <p:nvSpPr>
          <p:cNvPr id="14" name="Rounded Rectangle 13">
            <a:hlinkClick action="ppaction://hlinksldjump" r:id="rId6"/>
          </p:cNvPr>
          <p:cNvSpPr/>
          <p:nvPr/>
        </p:nvSpPr>
        <p:spPr>
          <a:xfrm>
            <a:off x="10469880" y="6400800"/>
            <a:ext cx="594360" cy="265176"/>
          </a:xfrm>
          <a:prstGeom prst="roundRect">
            <a:avLst>
              <a:gd name="adj" fmla="val 12000"/>
            </a:avLst>
          </a:prstGeom>
          <a:solidFill>
            <a:srgbClr val="F0E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a:hlinkClick action="ppaction://hlinksldjump" r:id="rId6"/>
          </p:cNvPr>
          <p:cNvSpPr txBox="1"/>
          <p:nvPr/>
        </p:nvSpPr>
        <p:spPr>
          <a:xfrm>
            <a:off x="10579607" y="6483096"/>
            <a:ext cx="374904" cy="173735"/>
          </a:xfrm>
          <a:prstGeom prst="rect">
            <a:avLst/>
          </a:prstGeom>
          <a:noFill/>
        </p:spPr>
        <p:txBody>
          <a:bodyPr wrap="square" lIns="0" rIns="0" tIns="0" bIns="0">
            <a:spAutoFit/>
          </a:bodyPr>
          <a:lstStyle/>
          <a:p>
            <a:pPr algn="l">
              <a:lnSpc>
                <a:spcPct val="101000"/>
              </a:lnSpc>
              <a:spcAft>
                <a:spcPts val="300"/>
              </a:spcAft>
              <a:defRPr sz="800" b="1">
                <a:solidFill>
                  <a:srgbClr val="8060BA"/>
                </a:solidFill>
                <a:latin typeface="DejaVu Sans"/>
              </a:defRPr>
            </a:pPr>
            <a:r>
              <a:t>Ruta</a:t>
            </a:r>
          </a:p>
        </p:txBody>
      </p:sp>
      <p:sp>
        <p:nvSpPr>
          <p:cNvPr id="16" name="TextBox 15"/>
          <p:cNvSpPr txBox="1"/>
          <p:nvPr/>
        </p:nvSpPr>
        <p:spPr>
          <a:xfrm>
            <a:off x="11228832" y="6400800"/>
            <a:ext cx="457200" cy="274320"/>
          </a:xfrm>
          <a:prstGeom prst="rect">
            <a:avLst/>
          </a:prstGeom>
          <a:noFill/>
        </p:spPr>
        <p:txBody>
          <a:bodyPr wrap="square" lIns="0" rIns="0" tIns="0" bIns="0">
            <a:spAutoFit/>
          </a:bodyPr>
          <a:lstStyle/>
          <a:p>
            <a:pPr algn="r">
              <a:lnSpc>
                <a:spcPct val="101000"/>
              </a:lnSpc>
              <a:spcAft>
                <a:spcPts val="300"/>
              </a:spcAft>
              <a:defRPr sz="1300" b="1">
                <a:solidFill>
                  <a:srgbClr val="203350"/>
                </a:solidFill>
                <a:latin typeface="DejaVu Sans"/>
              </a:defRPr>
            </a:pPr>
            <a:r>
              <a:t>01</a:t>
            </a:r>
          </a:p>
        </p:txBody>
      </p:sp>
      <p:sp>
        <p:nvSpPr>
          <p:cNvPr id="17" name="Rectangle 16"/>
          <p:cNvSpPr/>
          <p:nvPr/>
        </p:nvSpPr>
        <p:spPr>
          <a:xfrm>
            <a:off x="0" y="6821424"/>
            <a:ext cx="468921" cy="36576"/>
          </a:xfrm>
          <a:prstGeom prst="rect">
            <a:avLst/>
          </a:prstGeom>
          <a:solidFill>
            <a:srgbClr val="137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1371600"/>
            <a:ext cx="6766560" cy="1965960"/>
          </a:xfrm>
          <a:prstGeom prst="rect">
            <a:avLst/>
          </a:prstGeom>
          <a:noFill/>
        </p:spPr>
        <p:txBody>
          <a:bodyPr wrap="square" lIns="0" rIns="0" tIns="0" bIns="0">
            <a:spAutoFit/>
          </a:bodyPr>
          <a:lstStyle/>
          <a:p>
            <a:pPr algn="l">
              <a:lnSpc>
                <a:spcPct val="101000"/>
              </a:lnSpc>
              <a:spcAft>
                <a:spcPts val="300"/>
              </a:spcAft>
              <a:defRPr sz="3495" b="1">
                <a:solidFill>
                  <a:srgbClr val="203350"/>
                </a:solidFill>
                <a:latin typeface="DejaVu Sans"/>
              </a:defRPr>
            </a:pPr>
            <a:r>
              <a:t>Tu curiosidad puede</a:t>
            </a:r>
          </a:p>
          <a:p>
            <a:pPr algn="l">
              <a:lnSpc>
                <a:spcPct val="101000"/>
              </a:lnSpc>
              <a:spcAft>
                <a:spcPts val="300"/>
              </a:spcAft>
              <a:defRPr sz="3495" b="1">
                <a:solidFill>
                  <a:srgbClr val="203350"/>
                </a:solidFill>
                <a:latin typeface="DejaVu Sans"/>
              </a:defRPr>
            </a:pPr>
            <a:r>
              <a:t>convertirse en un proyecto</a:t>
            </a:r>
          </a:p>
        </p:txBody>
      </p:sp>
      <p:sp>
        <p:nvSpPr>
          <p:cNvPr id="19" name="TextBox 18"/>
          <p:cNvSpPr txBox="1"/>
          <p:nvPr/>
        </p:nvSpPr>
        <p:spPr>
          <a:xfrm>
            <a:off x="621792" y="3429000"/>
            <a:ext cx="6492240" cy="914400"/>
          </a:xfrm>
          <a:prstGeom prst="rect">
            <a:avLst/>
          </a:prstGeom>
          <a:noFill/>
        </p:spPr>
        <p:txBody>
          <a:bodyPr wrap="square" lIns="0" rIns="0" tIns="0" bIns="0">
            <a:spAutoFit/>
          </a:bodyPr>
          <a:lstStyle/>
          <a:p>
            <a:pPr algn="l">
              <a:lnSpc>
                <a:spcPct val="101000"/>
              </a:lnSpc>
              <a:spcAft>
                <a:spcPts val="300"/>
              </a:spcAft>
              <a:defRPr sz="2100" b="0">
                <a:solidFill>
                  <a:srgbClr val="5C6E83"/>
                </a:solidFill>
                <a:latin typeface="DejaVu Sans"/>
              </a:defRPr>
            </a:pPr>
            <a:r>
              <a:t>Explorar lo que te gusta. Aprender a investigar. Aportar con otros.</a:t>
            </a:r>
          </a:p>
        </p:txBody>
      </p:sp>
      <p:sp>
        <p:nvSpPr>
          <p:cNvPr id="20" name="Rounded Rectangle 19"/>
          <p:cNvSpPr/>
          <p:nvPr/>
        </p:nvSpPr>
        <p:spPr>
          <a:xfrm>
            <a:off x="7635240" y="1664208"/>
            <a:ext cx="4023360" cy="333756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utas_biologia.jpg"/>
          <p:cNvPicPr>
            <a:picLocks noChangeAspect="1"/>
          </p:cNvPicPr>
          <p:nvPr/>
        </p:nvPicPr>
        <p:blipFill>
          <a:blip r:embed="rId8"/>
          <a:srcRect l="66497" t="51000"/>
          <a:stretch>
            <a:fillRect/>
          </a:stretch>
        </p:blipFill>
        <p:spPr>
          <a:xfrm>
            <a:off x="7708392" y="1737360"/>
            <a:ext cx="3877056" cy="3191256"/>
          </a:xfrm>
          <a:prstGeom prst="rect">
            <a:avLst/>
          </a:prstGeom>
        </p:spPr>
      </p:pic>
      <p:sp>
        <p:nvSpPr>
          <p:cNvPr id="22" name="TextBox 21"/>
          <p:cNvSpPr txBox="1"/>
          <p:nvPr/>
        </p:nvSpPr>
        <p:spPr>
          <a:xfrm>
            <a:off x="7882127" y="4636008"/>
            <a:ext cx="3474720" cy="201168"/>
          </a:xfrm>
          <a:prstGeom prst="rect">
            <a:avLst/>
          </a:prstGeom>
          <a:noFill/>
        </p:spPr>
        <p:txBody>
          <a:bodyPr wrap="square" lIns="0" rIns="0" tIns="0" bIns="0">
            <a:spAutoFit/>
          </a:bodyPr>
          <a:lstStyle/>
          <a:p>
            <a:pPr algn="l">
              <a:lnSpc>
                <a:spcPct val="101000"/>
              </a:lnSpc>
              <a:spcAft>
                <a:spcPts val="300"/>
              </a:spcAft>
              <a:defRPr sz="900" b="0">
                <a:solidFill>
                  <a:srgbClr val="203350"/>
                </a:solidFill>
                <a:latin typeface="DejaVu Sans"/>
              </a:defRPr>
            </a:pPr>
            <a:r>
              <a:t>Ilustración conceptual</a:t>
            </a:r>
          </a:p>
        </p:txBody>
      </p:sp>
      <p:sp>
        <p:nvSpPr>
          <p:cNvPr id="23" name="TextBox 22"/>
          <p:cNvSpPr txBox="1"/>
          <p:nvPr/>
        </p:nvSpPr>
        <p:spPr>
          <a:xfrm>
            <a:off x="640080" y="4736592"/>
            <a:ext cx="6400800" cy="640080"/>
          </a:xfrm>
          <a:prstGeom prst="rect">
            <a:avLst/>
          </a:prstGeom>
          <a:noFill/>
        </p:spPr>
        <p:txBody>
          <a:bodyPr wrap="square" lIns="0" rIns="0" tIns="0" bIns="0">
            <a:spAutoFit/>
          </a:bodyPr>
          <a:lstStyle/>
          <a:p>
            <a:pPr algn="l">
              <a:lnSpc>
                <a:spcPct val="101000"/>
              </a:lnSpc>
              <a:spcAft>
                <a:spcPts val="300"/>
              </a:spcAft>
              <a:defRPr sz="1700" b="0">
                <a:solidFill>
                  <a:srgbClr val="203350"/>
                </a:solidFill>
                <a:latin typeface="DejaVu Sans"/>
              </a:defRPr>
            </a:pPr>
            <a:r>
              <a:t>Emilia Espín Loza</a:t>
            </a:r>
          </a:p>
          <a:p>
            <a:pPr algn="l">
              <a:lnSpc>
                <a:spcPct val="101000"/>
              </a:lnSpc>
              <a:spcAft>
                <a:spcPts val="300"/>
              </a:spcAft>
              <a:defRPr sz="1700" b="0">
                <a:solidFill>
                  <a:srgbClr val="203350"/>
                </a:solidFill>
                <a:latin typeface="DejaVu Sans"/>
              </a:defRPr>
            </a:pPr>
            <a:r>
              <a:t>Microbiología · Ciencias Biomédicas</a:t>
            </a:r>
          </a:p>
        </p:txBody>
      </p:sp>
      <p:sp>
        <p:nvSpPr>
          <p:cNvPr id="24" name="Rounded Rectangle 23"/>
          <p:cNvSpPr/>
          <p:nvPr/>
        </p:nvSpPr>
        <p:spPr>
          <a:xfrm>
            <a:off x="640080" y="5715000"/>
            <a:ext cx="1965960" cy="402336"/>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5528" y="5806440"/>
            <a:ext cx="1673352" cy="256032"/>
          </a:xfrm>
          <a:prstGeom prst="rect">
            <a:avLst/>
          </a:prstGeom>
          <a:noFill/>
        </p:spPr>
        <p:txBody>
          <a:bodyPr wrap="square" lIns="0" rIns="0" tIns="0" bIns="0">
            <a:spAutoFit/>
          </a:bodyPr>
          <a:lstStyle/>
          <a:p>
            <a:pPr algn="ctr">
              <a:lnSpc>
                <a:spcPct val="101000"/>
              </a:lnSpc>
              <a:spcAft>
                <a:spcPts val="300"/>
              </a:spcAft>
              <a:defRPr sz="1400" b="1">
                <a:solidFill>
                  <a:srgbClr val="203350"/>
                </a:solidFill>
                <a:latin typeface="DejaVu Sans"/>
              </a:defRPr>
            </a:pPr>
            <a:r>
              <a:t>Curiosidad</a:t>
            </a:r>
          </a:p>
        </p:txBody>
      </p:sp>
      <p:sp>
        <p:nvSpPr>
          <p:cNvPr id="26" name="TextBox 25"/>
          <p:cNvSpPr txBox="1"/>
          <p:nvPr/>
        </p:nvSpPr>
        <p:spPr>
          <a:xfrm>
            <a:off x="2706624" y="5751576"/>
            <a:ext cx="246888" cy="320040"/>
          </a:xfrm>
          <a:prstGeom prst="rect">
            <a:avLst/>
          </a:prstGeom>
          <a:noFill/>
        </p:spPr>
        <p:txBody>
          <a:bodyPr wrap="square" lIns="0" rIns="0" tIns="0" bIns="0">
            <a:spAutoFit/>
          </a:bodyPr>
          <a:lstStyle/>
          <a:p>
            <a:pPr algn="l">
              <a:lnSpc>
                <a:spcPct val="101000"/>
              </a:lnSpc>
              <a:spcAft>
                <a:spcPts val="300"/>
              </a:spcAft>
              <a:defRPr sz="2000" b="1">
                <a:solidFill>
                  <a:srgbClr val="8060BA"/>
                </a:solidFill>
                <a:latin typeface="DejaVu Sans"/>
              </a:defRPr>
            </a:pPr>
            <a:r>
              <a:t>→</a:t>
            </a:r>
          </a:p>
        </p:txBody>
      </p:sp>
      <p:sp>
        <p:nvSpPr>
          <p:cNvPr id="27" name="Rounded Rectangle 26"/>
          <p:cNvSpPr/>
          <p:nvPr/>
        </p:nvSpPr>
        <p:spPr>
          <a:xfrm>
            <a:off x="2953511" y="5715000"/>
            <a:ext cx="1965960" cy="402336"/>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108960" y="5806440"/>
            <a:ext cx="1673352" cy="256032"/>
          </a:xfrm>
          <a:prstGeom prst="rect">
            <a:avLst/>
          </a:prstGeom>
          <a:noFill/>
        </p:spPr>
        <p:txBody>
          <a:bodyPr wrap="square" lIns="0" rIns="0" tIns="0" bIns="0">
            <a:spAutoFit/>
          </a:bodyPr>
          <a:lstStyle/>
          <a:p>
            <a:pPr algn="ctr">
              <a:lnSpc>
                <a:spcPct val="101000"/>
              </a:lnSpc>
              <a:spcAft>
                <a:spcPts val="300"/>
              </a:spcAft>
              <a:defRPr sz="1400" b="1">
                <a:solidFill>
                  <a:srgbClr val="203350"/>
                </a:solidFill>
                <a:latin typeface="DejaVu Sans"/>
              </a:defRPr>
            </a:pPr>
            <a:r>
              <a:t>Proyecto</a:t>
            </a:r>
          </a:p>
        </p:txBody>
      </p:sp>
      <p:sp>
        <p:nvSpPr>
          <p:cNvPr id="29" name="TextBox 28"/>
          <p:cNvSpPr txBox="1"/>
          <p:nvPr/>
        </p:nvSpPr>
        <p:spPr>
          <a:xfrm>
            <a:off x="5020056" y="5751576"/>
            <a:ext cx="246888" cy="320040"/>
          </a:xfrm>
          <a:prstGeom prst="rect">
            <a:avLst/>
          </a:prstGeom>
          <a:noFill/>
        </p:spPr>
        <p:txBody>
          <a:bodyPr wrap="square" lIns="0" rIns="0" tIns="0" bIns="0">
            <a:spAutoFit/>
          </a:bodyPr>
          <a:lstStyle/>
          <a:p>
            <a:pPr algn="l">
              <a:lnSpc>
                <a:spcPct val="101000"/>
              </a:lnSpc>
              <a:spcAft>
                <a:spcPts val="300"/>
              </a:spcAft>
              <a:defRPr sz="2000" b="1">
                <a:solidFill>
                  <a:srgbClr val="8060BA"/>
                </a:solidFill>
                <a:latin typeface="DejaVu Sans"/>
              </a:defRPr>
            </a:pPr>
            <a:r>
              <a:t>→</a:t>
            </a:r>
          </a:p>
        </p:txBody>
      </p:sp>
      <p:sp>
        <p:nvSpPr>
          <p:cNvPr id="30" name="Rounded Rectangle 29"/>
          <p:cNvSpPr/>
          <p:nvPr/>
        </p:nvSpPr>
        <p:spPr>
          <a:xfrm>
            <a:off x="5266944" y="5715000"/>
            <a:ext cx="1965960" cy="402336"/>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22392" y="5806440"/>
            <a:ext cx="1673352" cy="256032"/>
          </a:xfrm>
          <a:prstGeom prst="rect">
            <a:avLst/>
          </a:prstGeom>
          <a:noFill/>
        </p:spPr>
        <p:txBody>
          <a:bodyPr wrap="square" lIns="0" rIns="0" tIns="0" bIns="0">
            <a:spAutoFit/>
          </a:bodyPr>
          <a:lstStyle/>
          <a:p>
            <a:pPr algn="ctr">
              <a:lnSpc>
                <a:spcPct val="101000"/>
              </a:lnSpc>
              <a:spcAft>
                <a:spcPts val="300"/>
              </a:spcAft>
              <a:defRPr sz="1400" b="1">
                <a:solidFill>
                  <a:srgbClr val="203350"/>
                </a:solidFill>
                <a:latin typeface="DejaVu Sans"/>
              </a:defRPr>
            </a:pPr>
            <a:r>
              <a:t>Servicio</a:t>
            </a:r>
          </a:p>
        </p:txBody>
      </p:sp>
    </p:spTree>
  </p:cSld>
  <p:clrMapOvr>
    <a:masterClrMapping/>
  </p:clrMapOvr>
  <p:transition advClick="1">
    <p:fade/>
  </p:transition>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9FBFF"/>
        </a:solidFill>
        <a:effectLst/>
      </p:bgPr>
    </p:bg>
    <p:spTree>
      <p:nvGrpSpPr>
        <p:cNvPr id="1" name=""/>
        <p:cNvGrpSpPr/>
        <p:nvPr/>
      </p:nvGrpSpPr>
      <p:grpSpPr/>
      <p:sp>
        <p:nvSpPr>
          <p:cNvPr id="2" name="TextBox 1"/>
          <p:cNvSpPr txBox="1"/>
          <p:nvPr/>
        </p:nvSpPr>
        <p:spPr>
          <a:xfrm>
            <a:off x="548640" y="365760"/>
            <a:ext cx="7543800" cy="274320"/>
          </a:xfrm>
          <a:prstGeom prst="rect">
            <a:avLst/>
          </a:prstGeom>
          <a:noFill/>
        </p:spPr>
        <p:txBody>
          <a:bodyPr wrap="square" lIns="0" rIns="0" tIns="0" bIns="0">
            <a:spAutoFit/>
          </a:bodyPr>
          <a:lstStyle/>
          <a:p>
            <a:pPr algn="l">
              <a:lnSpc>
                <a:spcPct val="101000"/>
              </a:lnSpc>
              <a:spcAft>
                <a:spcPts val="300"/>
              </a:spcAft>
              <a:defRPr sz="930" b="1">
                <a:solidFill>
                  <a:srgbClr val="137F7D"/>
                </a:solidFill>
                <a:latin typeface="DejaVu Sans"/>
              </a:defRPr>
            </a:pPr>
            <a:r>
              <a:t>EMPIEZA POR TU ENTORNO</a:t>
            </a:r>
          </a:p>
        </p:txBody>
      </p:sp>
      <p:sp>
        <p:nvSpPr>
          <p:cNvPr id="3" name="Rounded Rectangle 2">
            <a:hlinkClick action="ppaction://hlinksldjump" r:id="rId2"/>
          </p:cNvPr>
          <p:cNvSpPr/>
          <p:nvPr/>
        </p:nvSpPr>
        <p:spPr>
          <a:xfrm>
            <a:off x="8229600" y="310896"/>
            <a:ext cx="795528" cy="310896"/>
          </a:xfrm>
          <a:prstGeom prst="roundRect">
            <a:avLst>
              <a:gd name="adj" fmla="val 12000"/>
            </a:avLst>
          </a:prstGeom>
          <a:solidFill>
            <a:srgbClr val="E2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a:hlinkClick action="ppaction://hlinksldjump" r:id="rId2"/>
          </p:cNvPr>
          <p:cNvSpPr txBox="1"/>
          <p:nvPr/>
        </p:nvSpPr>
        <p:spPr>
          <a:xfrm>
            <a:off x="8339327"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Explorar</a:t>
            </a:r>
          </a:p>
        </p:txBody>
      </p:sp>
      <p:sp>
        <p:nvSpPr>
          <p:cNvPr id="5" name="Rounded Rectangle 4">
            <a:hlinkClick action="ppaction://hlinksldjump" r:id="rId3"/>
          </p:cNvPr>
          <p:cNvSpPr/>
          <p:nvPr/>
        </p:nvSpPr>
        <p:spPr>
          <a:xfrm>
            <a:off x="9089136" y="310896"/>
            <a:ext cx="795528" cy="310896"/>
          </a:xfrm>
          <a:prstGeom prst="roundRect">
            <a:avLst>
              <a:gd name="adj" fmla="val 12000"/>
            </a:avLst>
          </a:prstGeom>
          <a:solidFill>
            <a:srgbClr val="F0E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a:hlinkClick action="ppaction://hlinksldjump" r:id="rId3"/>
          </p:cNvPr>
          <p:cNvSpPr txBox="1"/>
          <p:nvPr/>
        </p:nvSpPr>
        <p:spPr>
          <a:xfrm>
            <a:off x="9198863"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Diseñar</a:t>
            </a:r>
          </a:p>
        </p:txBody>
      </p:sp>
      <p:sp>
        <p:nvSpPr>
          <p:cNvPr id="7" name="Rounded Rectangle 6">
            <a:hlinkClick action="ppaction://hlinksldjump" r:id="rId4"/>
          </p:cNvPr>
          <p:cNvSpPr/>
          <p:nvPr/>
        </p:nvSpPr>
        <p:spPr>
          <a:xfrm>
            <a:off x="9948672" y="310896"/>
            <a:ext cx="795528" cy="310896"/>
          </a:xfrm>
          <a:prstGeom prst="roundRect">
            <a:avLst>
              <a:gd name="adj" fmla="val 12000"/>
            </a:avLst>
          </a:prstGeom>
          <a:solidFill>
            <a:srgbClr val="FFF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a:hlinkClick action="ppaction://hlinksldjump" r:id="rId4"/>
          </p:cNvPr>
          <p:cNvSpPr txBox="1"/>
          <p:nvPr/>
        </p:nvSpPr>
        <p:spPr>
          <a:xfrm>
            <a:off x="10058399"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Servir</a:t>
            </a:r>
          </a:p>
        </p:txBody>
      </p:sp>
      <p:sp>
        <p:nvSpPr>
          <p:cNvPr id="9" name="Rounded Rectangle 8">
            <a:hlinkClick action="ppaction://hlinksldjump" r:id="rId5"/>
          </p:cNvPr>
          <p:cNvSpPr/>
          <p:nvPr/>
        </p:nvSpPr>
        <p:spPr>
          <a:xfrm>
            <a:off x="10808208" y="310896"/>
            <a:ext cx="795528" cy="310896"/>
          </a:xfrm>
          <a:prstGeom prst="roundRect">
            <a:avLst>
              <a:gd name="adj" fmla="val 12000"/>
            </a:avLst>
          </a:prstGeom>
          <a:solidFill>
            <a:srgbClr val="E9F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a:hlinkClick action="ppaction://hlinksldjump" r:id="rId5"/>
          </p:cNvPr>
          <p:cNvSpPr txBox="1"/>
          <p:nvPr/>
        </p:nvSpPr>
        <p:spPr>
          <a:xfrm>
            <a:off x="10917936"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Empezar</a:t>
            </a:r>
          </a:p>
        </p:txBody>
      </p:sp>
      <p:sp>
        <p:nvSpPr>
          <p:cNvPr id="11" name="TextBox 10"/>
          <p:cNvSpPr txBox="1"/>
          <p:nvPr/>
        </p:nvSpPr>
        <p:spPr>
          <a:xfrm>
            <a:off x="548640" y="877824"/>
            <a:ext cx="11064240" cy="1234440"/>
          </a:xfrm>
          <a:prstGeom prst="rect">
            <a:avLst/>
          </a:prstGeom>
          <a:noFill/>
        </p:spPr>
        <p:txBody>
          <a:bodyPr wrap="square" lIns="0" rIns="0" tIns="0" bIns="0">
            <a:spAutoFit/>
          </a:bodyPr>
          <a:lstStyle/>
          <a:p>
            <a:pPr algn="l">
              <a:lnSpc>
                <a:spcPct val="101000"/>
              </a:lnSpc>
              <a:spcAft>
                <a:spcPts val="300"/>
              </a:spcAft>
              <a:defRPr sz="3900" b="1">
                <a:solidFill>
                  <a:srgbClr val="203350"/>
                </a:solidFill>
                <a:latin typeface="DejaVu Sans"/>
              </a:defRPr>
            </a:pPr>
            <a:r>
              <a:t>¿Qué te gustaría</a:t>
            </a:r>
          </a:p>
          <a:p>
            <a:pPr algn="l">
              <a:lnSpc>
                <a:spcPct val="101000"/>
              </a:lnSpc>
              <a:spcAft>
                <a:spcPts val="300"/>
              </a:spcAft>
              <a:defRPr sz="3900" b="1">
                <a:solidFill>
                  <a:srgbClr val="203350"/>
                </a:solidFill>
                <a:latin typeface="DejaVu Sans"/>
              </a:defRPr>
            </a:pPr>
            <a:r>
              <a:t>entender o mejorar?</a:t>
            </a:r>
          </a:p>
        </p:txBody>
      </p:sp>
      <p:sp>
        <p:nvSpPr>
          <p:cNvPr id="12" name="TextBox 11"/>
          <p:cNvSpPr txBox="1"/>
          <p:nvPr/>
        </p:nvSpPr>
        <p:spPr>
          <a:xfrm>
            <a:off x="566928" y="2112264"/>
            <a:ext cx="10972800" cy="365760"/>
          </a:xfrm>
          <a:prstGeom prst="rect">
            <a:avLst/>
          </a:prstGeom>
          <a:noFill/>
        </p:spPr>
        <p:txBody>
          <a:bodyPr wrap="square" lIns="0" rIns="0" tIns="0" bIns="0">
            <a:spAutoFit/>
          </a:bodyPr>
          <a:lstStyle/>
          <a:p>
            <a:pPr algn="l">
              <a:lnSpc>
                <a:spcPct val="101000"/>
              </a:lnSpc>
              <a:spcAft>
                <a:spcPts val="300"/>
              </a:spcAft>
              <a:defRPr sz="1450" b="0">
                <a:solidFill>
                  <a:srgbClr val="5C6E83"/>
                </a:solidFill>
                <a:latin typeface="DejaVu Sans"/>
              </a:defRPr>
            </a:pPr>
            <a:r>
              <a:t>Elige una situación. Cuenta por qué te importa.</a:t>
            </a:r>
          </a:p>
        </p:txBody>
      </p:sp>
      <p:sp>
        <p:nvSpPr>
          <p:cNvPr id="13" name="TextBox 12"/>
          <p:cNvSpPr txBox="1"/>
          <p:nvPr/>
        </p:nvSpPr>
        <p:spPr>
          <a:xfrm>
            <a:off x="548640" y="6446520"/>
            <a:ext cx="9966960" cy="210312"/>
          </a:xfrm>
          <a:prstGeom prst="rect">
            <a:avLst/>
          </a:prstGeom>
          <a:noFill/>
        </p:spPr>
        <p:txBody>
          <a:bodyPr wrap="square" lIns="0" rIns="0" tIns="0" bIns="0">
            <a:spAutoFit/>
          </a:bodyPr>
          <a:lstStyle/>
          <a:p>
            <a:pPr algn="l">
              <a:lnSpc>
                <a:spcPct val="101000"/>
              </a:lnSpc>
              <a:spcAft>
                <a:spcPts val="300"/>
              </a:spcAft>
              <a:defRPr sz="810" b="0">
                <a:solidFill>
                  <a:srgbClr val="5C6E83"/>
                </a:solidFill>
                <a:latin typeface="DejaVu Sans"/>
              </a:defRPr>
            </a:pPr>
            <a:r>
              <a:t>Pregunta de apertura · participación del grupo</a:t>
            </a:r>
          </a:p>
        </p:txBody>
      </p:sp>
      <p:sp>
        <p:nvSpPr>
          <p:cNvPr id="14" name="Rounded Rectangle 13">
            <a:hlinkClick action="ppaction://hlinksldjump" r:id="rId6"/>
          </p:cNvPr>
          <p:cNvSpPr/>
          <p:nvPr/>
        </p:nvSpPr>
        <p:spPr>
          <a:xfrm>
            <a:off x="10469880" y="6400800"/>
            <a:ext cx="594360" cy="265176"/>
          </a:xfrm>
          <a:prstGeom prst="roundRect">
            <a:avLst>
              <a:gd name="adj" fmla="val 12000"/>
            </a:avLst>
          </a:prstGeom>
          <a:solidFill>
            <a:srgbClr val="F0E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a:hlinkClick action="ppaction://hlinksldjump" r:id="rId6"/>
          </p:cNvPr>
          <p:cNvSpPr txBox="1"/>
          <p:nvPr/>
        </p:nvSpPr>
        <p:spPr>
          <a:xfrm>
            <a:off x="10579607" y="6483096"/>
            <a:ext cx="374904" cy="173735"/>
          </a:xfrm>
          <a:prstGeom prst="rect">
            <a:avLst/>
          </a:prstGeom>
          <a:noFill/>
        </p:spPr>
        <p:txBody>
          <a:bodyPr wrap="square" lIns="0" rIns="0" tIns="0" bIns="0">
            <a:spAutoFit/>
          </a:bodyPr>
          <a:lstStyle/>
          <a:p>
            <a:pPr algn="l">
              <a:lnSpc>
                <a:spcPct val="101000"/>
              </a:lnSpc>
              <a:spcAft>
                <a:spcPts val="300"/>
              </a:spcAft>
              <a:defRPr sz="800" b="1">
                <a:solidFill>
                  <a:srgbClr val="8060BA"/>
                </a:solidFill>
                <a:latin typeface="DejaVu Sans"/>
              </a:defRPr>
            </a:pPr>
            <a:r>
              <a:t>Ruta</a:t>
            </a:r>
          </a:p>
        </p:txBody>
      </p:sp>
      <p:sp>
        <p:nvSpPr>
          <p:cNvPr id="16" name="TextBox 15"/>
          <p:cNvSpPr txBox="1"/>
          <p:nvPr/>
        </p:nvSpPr>
        <p:spPr>
          <a:xfrm>
            <a:off x="11228832" y="6400800"/>
            <a:ext cx="457200" cy="274320"/>
          </a:xfrm>
          <a:prstGeom prst="rect">
            <a:avLst/>
          </a:prstGeom>
          <a:noFill/>
        </p:spPr>
        <p:txBody>
          <a:bodyPr wrap="square" lIns="0" rIns="0" tIns="0" bIns="0">
            <a:spAutoFit/>
          </a:bodyPr>
          <a:lstStyle/>
          <a:p>
            <a:pPr algn="r">
              <a:lnSpc>
                <a:spcPct val="101000"/>
              </a:lnSpc>
              <a:spcAft>
                <a:spcPts val="300"/>
              </a:spcAft>
              <a:defRPr sz="1300" b="1">
                <a:solidFill>
                  <a:srgbClr val="203350"/>
                </a:solidFill>
                <a:latin typeface="DejaVu Sans"/>
              </a:defRPr>
            </a:pPr>
            <a:r>
              <a:t>02</a:t>
            </a:r>
          </a:p>
        </p:txBody>
      </p:sp>
      <p:sp>
        <p:nvSpPr>
          <p:cNvPr id="17" name="Rectangle 16"/>
          <p:cNvSpPr/>
          <p:nvPr/>
        </p:nvSpPr>
        <p:spPr>
          <a:xfrm>
            <a:off x="0" y="6821424"/>
            <a:ext cx="937843" cy="36576"/>
          </a:xfrm>
          <a:prstGeom prst="rect">
            <a:avLst/>
          </a:prstGeom>
          <a:solidFill>
            <a:srgbClr val="137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94360" y="2761488"/>
            <a:ext cx="2660904" cy="2679192"/>
          </a:xfrm>
          <a:prstGeom prst="roundRect">
            <a:avLst>
              <a:gd name="adj" fmla="val 12000"/>
            </a:avLst>
          </a:prstGeom>
          <a:solidFill>
            <a:srgbClr val="E0F7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icon_water.png"/>
          <p:cNvPicPr>
            <a:picLocks noChangeAspect="1"/>
          </p:cNvPicPr>
          <p:nvPr/>
        </p:nvPicPr>
        <p:blipFill>
          <a:blip r:embed="rId8"/>
          <a:stretch>
            <a:fillRect/>
          </a:stretch>
        </p:blipFill>
        <p:spPr>
          <a:xfrm>
            <a:off x="1371600" y="3008376"/>
            <a:ext cx="1078992" cy="1078992"/>
          </a:xfrm>
          <a:prstGeom prst="rect">
            <a:avLst/>
          </a:prstGeom>
        </p:spPr>
      </p:pic>
      <p:sp>
        <p:nvSpPr>
          <p:cNvPr id="20" name="TextBox 19"/>
          <p:cNvSpPr txBox="1"/>
          <p:nvPr/>
        </p:nvSpPr>
        <p:spPr>
          <a:xfrm>
            <a:off x="795528" y="4416552"/>
            <a:ext cx="2276856" cy="594360"/>
          </a:xfrm>
          <a:prstGeom prst="rect">
            <a:avLst/>
          </a:prstGeom>
          <a:noFill/>
        </p:spPr>
        <p:txBody>
          <a:bodyPr wrap="square" lIns="0" rIns="0" tIns="0" bIns="0">
            <a:spAutoFit/>
          </a:bodyPr>
          <a:lstStyle/>
          <a:p>
            <a:pPr algn="l">
              <a:lnSpc>
                <a:spcPct val="101000"/>
              </a:lnSpc>
              <a:spcAft>
                <a:spcPts val="300"/>
              </a:spcAft>
              <a:defRPr sz="2000" b="1">
                <a:solidFill>
                  <a:srgbClr val="203350"/>
                </a:solidFill>
                <a:latin typeface="DejaVu Sans"/>
              </a:defRPr>
            </a:pPr>
            <a:r>
              <a:t>Agua</a:t>
            </a:r>
          </a:p>
        </p:txBody>
      </p:sp>
      <p:sp>
        <p:nvSpPr>
          <p:cNvPr id="21" name="TextBox 20"/>
          <p:cNvSpPr txBox="1"/>
          <p:nvPr/>
        </p:nvSpPr>
        <p:spPr>
          <a:xfrm>
            <a:off x="795528" y="5056632"/>
            <a:ext cx="2276856" cy="274320"/>
          </a:xfrm>
          <a:prstGeom prst="rect">
            <a:avLst/>
          </a:prstGeom>
          <a:noFill/>
        </p:spPr>
        <p:txBody>
          <a:bodyPr wrap="square" lIns="0" rIns="0" tIns="0" bIns="0">
            <a:spAutoFit/>
          </a:bodyPr>
          <a:lstStyle/>
          <a:p>
            <a:pPr algn="l">
              <a:lnSpc>
                <a:spcPct val="101000"/>
              </a:lnSpc>
              <a:spcAft>
                <a:spcPts val="300"/>
              </a:spcAft>
              <a:defRPr sz="1200" b="0">
                <a:solidFill>
                  <a:srgbClr val="5C6E83"/>
                </a:solidFill>
                <a:latin typeface="DejaVu Sans"/>
              </a:defRPr>
            </a:pPr>
            <a:r>
              <a:t>¿Qué quieres comprender?</a:t>
            </a:r>
          </a:p>
        </p:txBody>
      </p:sp>
      <p:sp>
        <p:nvSpPr>
          <p:cNvPr id="22" name="Rounded Rectangle 21"/>
          <p:cNvSpPr/>
          <p:nvPr/>
        </p:nvSpPr>
        <p:spPr>
          <a:xfrm>
            <a:off x="3438144" y="2761488"/>
            <a:ext cx="2660904" cy="2679192"/>
          </a:xfrm>
          <a:prstGeom prst="roundRect">
            <a:avLst>
              <a:gd name="adj" fmla="val 12000"/>
            </a:avLst>
          </a:prstGeom>
          <a:solidFill>
            <a:srgbClr val="FFF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con_food.png"/>
          <p:cNvPicPr>
            <a:picLocks noChangeAspect="1"/>
          </p:cNvPicPr>
          <p:nvPr/>
        </p:nvPicPr>
        <p:blipFill>
          <a:blip r:embed="rId9"/>
          <a:stretch>
            <a:fillRect/>
          </a:stretch>
        </p:blipFill>
        <p:spPr>
          <a:xfrm>
            <a:off x="4215383" y="3008376"/>
            <a:ext cx="1078992" cy="1078992"/>
          </a:xfrm>
          <a:prstGeom prst="rect">
            <a:avLst/>
          </a:prstGeom>
        </p:spPr>
      </p:pic>
      <p:sp>
        <p:nvSpPr>
          <p:cNvPr id="24" name="TextBox 23"/>
          <p:cNvSpPr txBox="1"/>
          <p:nvPr/>
        </p:nvSpPr>
        <p:spPr>
          <a:xfrm>
            <a:off x="3639312" y="4416552"/>
            <a:ext cx="2276856" cy="594360"/>
          </a:xfrm>
          <a:prstGeom prst="rect">
            <a:avLst/>
          </a:prstGeom>
          <a:noFill/>
        </p:spPr>
        <p:txBody>
          <a:bodyPr wrap="square" lIns="0" rIns="0" tIns="0" bIns="0">
            <a:spAutoFit/>
          </a:bodyPr>
          <a:lstStyle/>
          <a:p>
            <a:pPr algn="l">
              <a:lnSpc>
                <a:spcPct val="101000"/>
              </a:lnSpc>
              <a:spcAft>
                <a:spcPts val="300"/>
              </a:spcAft>
              <a:defRPr sz="2000" b="1">
                <a:solidFill>
                  <a:srgbClr val="203350"/>
                </a:solidFill>
                <a:latin typeface="DejaVu Sans"/>
              </a:defRPr>
            </a:pPr>
            <a:r>
              <a:t>Alimentos</a:t>
            </a:r>
          </a:p>
        </p:txBody>
      </p:sp>
      <p:sp>
        <p:nvSpPr>
          <p:cNvPr id="25" name="TextBox 24"/>
          <p:cNvSpPr txBox="1"/>
          <p:nvPr/>
        </p:nvSpPr>
        <p:spPr>
          <a:xfrm>
            <a:off x="3639312" y="5056632"/>
            <a:ext cx="2276856" cy="274320"/>
          </a:xfrm>
          <a:prstGeom prst="rect">
            <a:avLst/>
          </a:prstGeom>
          <a:noFill/>
        </p:spPr>
        <p:txBody>
          <a:bodyPr wrap="square" lIns="0" rIns="0" tIns="0" bIns="0">
            <a:spAutoFit/>
          </a:bodyPr>
          <a:lstStyle/>
          <a:p>
            <a:pPr algn="l">
              <a:lnSpc>
                <a:spcPct val="101000"/>
              </a:lnSpc>
              <a:spcAft>
                <a:spcPts val="300"/>
              </a:spcAft>
              <a:defRPr sz="1200" b="0">
                <a:solidFill>
                  <a:srgbClr val="5C6E83"/>
                </a:solidFill>
                <a:latin typeface="DejaVu Sans"/>
              </a:defRPr>
            </a:pPr>
            <a:r>
              <a:t>¿Qué quieres comprender?</a:t>
            </a:r>
          </a:p>
        </p:txBody>
      </p:sp>
      <p:sp>
        <p:nvSpPr>
          <p:cNvPr id="26" name="Rounded Rectangle 25"/>
          <p:cNvSpPr/>
          <p:nvPr/>
        </p:nvSpPr>
        <p:spPr>
          <a:xfrm>
            <a:off x="6281928" y="2761488"/>
            <a:ext cx="2660904" cy="2679192"/>
          </a:xfrm>
          <a:prstGeom prst="roundRect">
            <a:avLst>
              <a:gd name="adj" fmla="val 12000"/>
            </a:avLst>
          </a:prstGeom>
          <a:solidFill>
            <a:srgbClr val="E9F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icon_leaf.png"/>
          <p:cNvPicPr>
            <a:picLocks noChangeAspect="1"/>
          </p:cNvPicPr>
          <p:nvPr/>
        </p:nvPicPr>
        <p:blipFill>
          <a:blip r:embed="rId10"/>
          <a:stretch>
            <a:fillRect/>
          </a:stretch>
        </p:blipFill>
        <p:spPr>
          <a:xfrm>
            <a:off x="7059168" y="3008376"/>
            <a:ext cx="1078992" cy="1078992"/>
          </a:xfrm>
          <a:prstGeom prst="rect">
            <a:avLst/>
          </a:prstGeom>
        </p:spPr>
      </p:pic>
      <p:sp>
        <p:nvSpPr>
          <p:cNvPr id="28" name="TextBox 27"/>
          <p:cNvSpPr txBox="1"/>
          <p:nvPr/>
        </p:nvSpPr>
        <p:spPr>
          <a:xfrm>
            <a:off x="6483096" y="4416552"/>
            <a:ext cx="2276856" cy="594360"/>
          </a:xfrm>
          <a:prstGeom prst="rect">
            <a:avLst/>
          </a:prstGeom>
          <a:noFill/>
        </p:spPr>
        <p:txBody>
          <a:bodyPr wrap="square" lIns="0" rIns="0" tIns="0" bIns="0">
            <a:spAutoFit/>
          </a:bodyPr>
          <a:lstStyle/>
          <a:p>
            <a:pPr algn="l">
              <a:lnSpc>
                <a:spcPct val="101000"/>
              </a:lnSpc>
              <a:spcAft>
                <a:spcPts val="300"/>
              </a:spcAft>
              <a:defRPr sz="2000" b="1">
                <a:solidFill>
                  <a:srgbClr val="203350"/>
                </a:solidFill>
                <a:latin typeface="DejaVu Sans"/>
              </a:defRPr>
            </a:pPr>
            <a:r>
              <a:t>Biodiversidad</a:t>
            </a:r>
          </a:p>
        </p:txBody>
      </p:sp>
      <p:sp>
        <p:nvSpPr>
          <p:cNvPr id="29" name="TextBox 28"/>
          <p:cNvSpPr txBox="1"/>
          <p:nvPr/>
        </p:nvSpPr>
        <p:spPr>
          <a:xfrm>
            <a:off x="6483096" y="5056632"/>
            <a:ext cx="2276856" cy="274320"/>
          </a:xfrm>
          <a:prstGeom prst="rect">
            <a:avLst/>
          </a:prstGeom>
          <a:noFill/>
        </p:spPr>
        <p:txBody>
          <a:bodyPr wrap="square" lIns="0" rIns="0" tIns="0" bIns="0">
            <a:spAutoFit/>
          </a:bodyPr>
          <a:lstStyle/>
          <a:p>
            <a:pPr algn="l">
              <a:lnSpc>
                <a:spcPct val="101000"/>
              </a:lnSpc>
              <a:spcAft>
                <a:spcPts val="300"/>
              </a:spcAft>
              <a:defRPr sz="1200" b="0">
                <a:solidFill>
                  <a:srgbClr val="5C6E83"/>
                </a:solidFill>
                <a:latin typeface="DejaVu Sans"/>
              </a:defRPr>
            </a:pPr>
            <a:r>
              <a:t>¿Qué quieres comprender?</a:t>
            </a:r>
          </a:p>
        </p:txBody>
      </p:sp>
      <p:sp>
        <p:nvSpPr>
          <p:cNvPr id="30" name="Rounded Rectangle 29"/>
          <p:cNvSpPr/>
          <p:nvPr/>
        </p:nvSpPr>
        <p:spPr>
          <a:xfrm>
            <a:off x="9125712" y="2761488"/>
            <a:ext cx="2660904" cy="2679192"/>
          </a:xfrm>
          <a:prstGeom prst="roundRect">
            <a:avLst>
              <a:gd name="adj" fmla="val 12000"/>
            </a:avLst>
          </a:prstGeom>
          <a:solidFill>
            <a:srgbClr val="F0E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icon_book.png"/>
          <p:cNvPicPr>
            <a:picLocks noChangeAspect="1"/>
          </p:cNvPicPr>
          <p:nvPr/>
        </p:nvPicPr>
        <p:blipFill>
          <a:blip r:embed="rId11"/>
          <a:stretch>
            <a:fillRect/>
          </a:stretch>
        </p:blipFill>
        <p:spPr>
          <a:xfrm>
            <a:off x="9902952" y="3008376"/>
            <a:ext cx="1078992" cy="1078992"/>
          </a:xfrm>
          <a:prstGeom prst="rect">
            <a:avLst/>
          </a:prstGeom>
        </p:spPr>
      </p:pic>
      <p:sp>
        <p:nvSpPr>
          <p:cNvPr id="32" name="TextBox 31"/>
          <p:cNvSpPr txBox="1"/>
          <p:nvPr/>
        </p:nvSpPr>
        <p:spPr>
          <a:xfrm>
            <a:off x="9326880" y="4416552"/>
            <a:ext cx="2276856" cy="594360"/>
          </a:xfrm>
          <a:prstGeom prst="rect">
            <a:avLst/>
          </a:prstGeom>
          <a:noFill/>
        </p:spPr>
        <p:txBody>
          <a:bodyPr wrap="square" lIns="0" rIns="0" tIns="0" bIns="0">
            <a:spAutoFit/>
          </a:bodyPr>
          <a:lstStyle/>
          <a:p>
            <a:pPr algn="l">
              <a:lnSpc>
                <a:spcPct val="101000"/>
              </a:lnSpc>
              <a:spcAft>
                <a:spcPts val="300"/>
              </a:spcAft>
              <a:defRPr sz="1598" b="1">
                <a:solidFill>
                  <a:srgbClr val="203350"/>
                </a:solidFill>
                <a:latin typeface="DejaVu Sans"/>
              </a:defRPr>
            </a:pPr>
            <a:r>
              <a:t>Educación científica</a:t>
            </a:r>
          </a:p>
        </p:txBody>
      </p:sp>
      <p:sp>
        <p:nvSpPr>
          <p:cNvPr id="33" name="TextBox 32"/>
          <p:cNvSpPr txBox="1"/>
          <p:nvPr/>
        </p:nvSpPr>
        <p:spPr>
          <a:xfrm>
            <a:off x="9326880" y="5056632"/>
            <a:ext cx="2276856" cy="274320"/>
          </a:xfrm>
          <a:prstGeom prst="rect">
            <a:avLst/>
          </a:prstGeom>
          <a:noFill/>
        </p:spPr>
        <p:txBody>
          <a:bodyPr wrap="square" lIns="0" rIns="0" tIns="0" bIns="0">
            <a:spAutoFit/>
          </a:bodyPr>
          <a:lstStyle/>
          <a:p>
            <a:pPr algn="l">
              <a:lnSpc>
                <a:spcPct val="101000"/>
              </a:lnSpc>
              <a:spcAft>
                <a:spcPts val="300"/>
              </a:spcAft>
              <a:defRPr sz="1200" b="0">
                <a:solidFill>
                  <a:srgbClr val="5C6E83"/>
                </a:solidFill>
                <a:latin typeface="DejaVu Sans"/>
              </a:defRPr>
            </a:pPr>
            <a:r>
              <a:t>¿Qué quieres comprender?</a:t>
            </a:r>
          </a:p>
        </p:txBody>
      </p:sp>
      <p:sp>
        <p:nvSpPr>
          <p:cNvPr id="34" name="Rounded Rectangle 33"/>
          <p:cNvSpPr/>
          <p:nvPr/>
        </p:nvSpPr>
        <p:spPr>
          <a:xfrm>
            <a:off x="640080" y="5669280"/>
            <a:ext cx="10936224" cy="448056"/>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59536" y="5769864"/>
            <a:ext cx="10469880" cy="265176"/>
          </a:xfrm>
          <a:prstGeom prst="rect">
            <a:avLst/>
          </a:prstGeom>
          <a:noFill/>
        </p:spPr>
        <p:txBody>
          <a:bodyPr wrap="square" lIns="0" rIns="0" tIns="0" bIns="0">
            <a:spAutoFit/>
          </a:bodyPr>
          <a:lstStyle/>
          <a:p>
            <a:pPr algn="l">
              <a:lnSpc>
                <a:spcPct val="101000"/>
              </a:lnSpc>
              <a:spcAft>
                <a:spcPts val="300"/>
              </a:spcAft>
              <a:defRPr sz="1600" b="0">
                <a:solidFill>
                  <a:srgbClr val="203350"/>
                </a:solidFill>
                <a:latin typeface="DejaVu Sans"/>
              </a:defRPr>
            </a:pPr>
            <a:r>
              <a:t>Elige una escena o propón otra situación. Cuenta por qué te importa.</a:t>
            </a:r>
          </a:p>
        </p:txBody>
      </p:sp>
    </p:spTree>
  </p:cSld>
  <p:clrMapOvr>
    <a:masterClrMapping/>
  </p:clrMapOvr>
  <p:transition advClick="1">
    <p:fade/>
  </p:transition>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9FBFF"/>
        </a:solidFill>
        <a:effectLst/>
      </p:bgPr>
    </p:bg>
    <p:spTree>
      <p:nvGrpSpPr>
        <p:cNvPr id="1" name=""/>
        <p:cNvGrpSpPr/>
        <p:nvPr/>
      </p:nvGrpSpPr>
      <p:grpSpPr/>
      <p:sp>
        <p:nvSpPr>
          <p:cNvPr id="2" name="TextBox 1"/>
          <p:cNvSpPr txBox="1"/>
          <p:nvPr/>
        </p:nvSpPr>
        <p:spPr>
          <a:xfrm>
            <a:off x="548640" y="365760"/>
            <a:ext cx="7543800" cy="274320"/>
          </a:xfrm>
          <a:prstGeom prst="rect">
            <a:avLst/>
          </a:prstGeom>
          <a:noFill/>
        </p:spPr>
        <p:txBody>
          <a:bodyPr wrap="square" lIns="0" rIns="0" tIns="0" bIns="0">
            <a:spAutoFit/>
          </a:bodyPr>
          <a:lstStyle/>
          <a:p>
            <a:pPr algn="l">
              <a:lnSpc>
                <a:spcPct val="101000"/>
              </a:lnSpc>
              <a:spcAft>
                <a:spcPts val="300"/>
              </a:spcAft>
              <a:defRPr sz="930" b="1">
                <a:solidFill>
                  <a:srgbClr val="137F7D"/>
                </a:solidFill>
                <a:latin typeface="DejaVu Sans"/>
              </a:defRPr>
            </a:pPr>
            <a:r>
              <a:t>LO QUE VAMOS A CONSTRUIR</a:t>
            </a:r>
          </a:p>
        </p:txBody>
      </p:sp>
      <p:sp>
        <p:nvSpPr>
          <p:cNvPr id="3" name="Rounded Rectangle 2">
            <a:hlinkClick action="ppaction://hlinksldjump" r:id="rId2"/>
          </p:cNvPr>
          <p:cNvSpPr/>
          <p:nvPr/>
        </p:nvSpPr>
        <p:spPr>
          <a:xfrm>
            <a:off x="8229600" y="310896"/>
            <a:ext cx="795528" cy="310896"/>
          </a:xfrm>
          <a:prstGeom prst="roundRect">
            <a:avLst>
              <a:gd name="adj" fmla="val 12000"/>
            </a:avLst>
          </a:prstGeom>
          <a:solidFill>
            <a:srgbClr val="E2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a:hlinkClick action="ppaction://hlinksldjump" r:id="rId2"/>
          </p:cNvPr>
          <p:cNvSpPr txBox="1"/>
          <p:nvPr/>
        </p:nvSpPr>
        <p:spPr>
          <a:xfrm>
            <a:off x="8339327"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Explorar</a:t>
            </a:r>
          </a:p>
        </p:txBody>
      </p:sp>
      <p:sp>
        <p:nvSpPr>
          <p:cNvPr id="5" name="Rounded Rectangle 4">
            <a:hlinkClick action="ppaction://hlinksldjump" r:id="rId3"/>
          </p:cNvPr>
          <p:cNvSpPr/>
          <p:nvPr/>
        </p:nvSpPr>
        <p:spPr>
          <a:xfrm>
            <a:off x="9089136" y="310896"/>
            <a:ext cx="795528" cy="310896"/>
          </a:xfrm>
          <a:prstGeom prst="roundRect">
            <a:avLst>
              <a:gd name="adj" fmla="val 12000"/>
            </a:avLst>
          </a:prstGeom>
          <a:solidFill>
            <a:srgbClr val="F0E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a:hlinkClick action="ppaction://hlinksldjump" r:id="rId3"/>
          </p:cNvPr>
          <p:cNvSpPr txBox="1"/>
          <p:nvPr/>
        </p:nvSpPr>
        <p:spPr>
          <a:xfrm>
            <a:off x="9198863"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Diseñar</a:t>
            </a:r>
          </a:p>
        </p:txBody>
      </p:sp>
      <p:sp>
        <p:nvSpPr>
          <p:cNvPr id="7" name="Rounded Rectangle 6">
            <a:hlinkClick action="ppaction://hlinksldjump" r:id="rId4"/>
          </p:cNvPr>
          <p:cNvSpPr/>
          <p:nvPr/>
        </p:nvSpPr>
        <p:spPr>
          <a:xfrm>
            <a:off x="9948672" y="310896"/>
            <a:ext cx="795528" cy="310896"/>
          </a:xfrm>
          <a:prstGeom prst="roundRect">
            <a:avLst>
              <a:gd name="adj" fmla="val 12000"/>
            </a:avLst>
          </a:prstGeom>
          <a:solidFill>
            <a:srgbClr val="FFF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a:hlinkClick action="ppaction://hlinksldjump" r:id="rId4"/>
          </p:cNvPr>
          <p:cNvSpPr txBox="1"/>
          <p:nvPr/>
        </p:nvSpPr>
        <p:spPr>
          <a:xfrm>
            <a:off x="10058399"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Servir</a:t>
            </a:r>
          </a:p>
        </p:txBody>
      </p:sp>
      <p:sp>
        <p:nvSpPr>
          <p:cNvPr id="9" name="Rounded Rectangle 8">
            <a:hlinkClick action="ppaction://hlinksldjump" r:id="rId5"/>
          </p:cNvPr>
          <p:cNvSpPr/>
          <p:nvPr/>
        </p:nvSpPr>
        <p:spPr>
          <a:xfrm>
            <a:off x="10808208" y="310896"/>
            <a:ext cx="795528" cy="310896"/>
          </a:xfrm>
          <a:prstGeom prst="roundRect">
            <a:avLst>
              <a:gd name="adj" fmla="val 12000"/>
            </a:avLst>
          </a:prstGeom>
          <a:solidFill>
            <a:srgbClr val="E9F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a:hlinkClick action="ppaction://hlinksldjump" r:id="rId5"/>
          </p:cNvPr>
          <p:cNvSpPr txBox="1"/>
          <p:nvPr/>
        </p:nvSpPr>
        <p:spPr>
          <a:xfrm>
            <a:off x="10917936"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Empezar</a:t>
            </a:r>
          </a:p>
        </p:txBody>
      </p:sp>
      <p:sp>
        <p:nvSpPr>
          <p:cNvPr id="11" name="TextBox 10"/>
          <p:cNvSpPr txBox="1"/>
          <p:nvPr/>
        </p:nvSpPr>
        <p:spPr>
          <a:xfrm>
            <a:off x="548640" y="877824"/>
            <a:ext cx="11064240" cy="1234440"/>
          </a:xfrm>
          <a:prstGeom prst="rect">
            <a:avLst/>
          </a:prstGeom>
          <a:noFill/>
        </p:spPr>
        <p:txBody>
          <a:bodyPr wrap="square" lIns="0" rIns="0" tIns="0" bIns="0">
            <a:spAutoFit/>
          </a:bodyPr>
          <a:lstStyle/>
          <a:p>
            <a:pPr algn="l">
              <a:lnSpc>
                <a:spcPct val="101000"/>
              </a:lnSpc>
              <a:spcAft>
                <a:spcPts val="300"/>
              </a:spcAft>
              <a:defRPr sz="3900" b="1">
                <a:solidFill>
                  <a:srgbClr val="203350"/>
                </a:solidFill>
                <a:latin typeface="DejaVu Sans"/>
              </a:defRPr>
            </a:pPr>
            <a:r>
              <a:t>Una idea que puedas</a:t>
            </a:r>
          </a:p>
          <a:p>
            <a:pPr algn="l">
              <a:lnSpc>
                <a:spcPct val="101000"/>
              </a:lnSpc>
              <a:spcAft>
                <a:spcPts val="300"/>
              </a:spcAft>
              <a:defRPr sz="3900" b="1">
                <a:solidFill>
                  <a:srgbClr val="203350"/>
                </a:solidFill>
                <a:latin typeface="DejaVu Sans"/>
              </a:defRPr>
            </a:pPr>
            <a:r>
              <a:t>empezar a poner a prueba</a:t>
            </a:r>
          </a:p>
        </p:txBody>
      </p:sp>
      <p:sp>
        <p:nvSpPr>
          <p:cNvPr id="12" name="TextBox 11"/>
          <p:cNvSpPr txBox="1"/>
          <p:nvPr/>
        </p:nvSpPr>
        <p:spPr>
          <a:xfrm>
            <a:off x="548640" y="6446520"/>
            <a:ext cx="9966960" cy="210312"/>
          </a:xfrm>
          <a:prstGeom prst="rect">
            <a:avLst/>
          </a:prstGeom>
          <a:noFill/>
        </p:spPr>
        <p:txBody>
          <a:bodyPr wrap="square" lIns="0" rIns="0" tIns="0" bIns="0">
            <a:spAutoFit/>
          </a:bodyPr>
          <a:lstStyle/>
          <a:p>
            <a:pPr algn="l">
              <a:lnSpc>
                <a:spcPct val="101000"/>
              </a:lnSpc>
              <a:spcAft>
                <a:spcPts val="300"/>
              </a:spcAft>
              <a:defRPr sz="810" b="0">
                <a:solidFill>
                  <a:srgbClr val="5C6E83"/>
                </a:solidFill>
                <a:latin typeface="DejaVu Sans"/>
              </a:defRPr>
            </a:pPr>
            <a:r>
              <a:t>Objetivos de aprendizaje propuestos para esta clase</a:t>
            </a:r>
          </a:p>
        </p:txBody>
      </p:sp>
      <p:sp>
        <p:nvSpPr>
          <p:cNvPr id="13" name="Rounded Rectangle 12">
            <a:hlinkClick action="ppaction://hlinksldjump" r:id="rId6"/>
          </p:cNvPr>
          <p:cNvSpPr/>
          <p:nvPr/>
        </p:nvSpPr>
        <p:spPr>
          <a:xfrm>
            <a:off x="10469880" y="6400800"/>
            <a:ext cx="594360" cy="265176"/>
          </a:xfrm>
          <a:prstGeom prst="roundRect">
            <a:avLst>
              <a:gd name="adj" fmla="val 12000"/>
            </a:avLst>
          </a:prstGeom>
          <a:solidFill>
            <a:srgbClr val="F0E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a:hlinkClick action="ppaction://hlinksldjump" r:id="rId6"/>
          </p:cNvPr>
          <p:cNvSpPr txBox="1"/>
          <p:nvPr/>
        </p:nvSpPr>
        <p:spPr>
          <a:xfrm>
            <a:off x="10579607" y="6483096"/>
            <a:ext cx="374904" cy="173735"/>
          </a:xfrm>
          <a:prstGeom prst="rect">
            <a:avLst/>
          </a:prstGeom>
          <a:noFill/>
        </p:spPr>
        <p:txBody>
          <a:bodyPr wrap="square" lIns="0" rIns="0" tIns="0" bIns="0">
            <a:spAutoFit/>
          </a:bodyPr>
          <a:lstStyle/>
          <a:p>
            <a:pPr algn="l">
              <a:lnSpc>
                <a:spcPct val="101000"/>
              </a:lnSpc>
              <a:spcAft>
                <a:spcPts val="300"/>
              </a:spcAft>
              <a:defRPr sz="800" b="1">
                <a:solidFill>
                  <a:srgbClr val="8060BA"/>
                </a:solidFill>
                <a:latin typeface="DejaVu Sans"/>
              </a:defRPr>
            </a:pPr>
            <a:r>
              <a:t>Ruta</a:t>
            </a:r>
          </a:p>
        </p:txBody>
      </p:sp>
      <p:sp>
        <p:nvSpPr>
          <p:cNvPr id="15" name="TextBox 14"/>
          <p:cNvSpPr txBox="1"/>
          <p:nvPr/>
        </p:nvSpPr>
        <p:spPr>
          <a:xfrm>
            <a:off x="11228832" y="6400800"/>
            <a:ext cx="457200" cy="274320"/>
          </a:xfrm>
          <a:prstGeom prst="rect">
            <a:avLst/>
          </a:prstGeom>
          <a:noFill/>
        </p:spPr>
        <p:txBody>
          <a:bodyPr wrap="square" lIns="0" rIns="0" tIns="0" bIns="0">
            <a:spAutoFit/>
          </a:bodyPr>
          <a:lstStyle/>
          <a:p>
            <a:pPr algn="r">
              <a:lnSpc>
                <a:spcPct val="101000"/>
              </a:lnSpc>
              <a:spcAft>
                <a:spcPts val="300"/>
              </a:spcAft>
              <a:defRPr sz="1300" b="1">
                <a:solidFill>
                  <a:srgbClr val="203350"/>
                </a:solidFill>
                <a:latin typeface="DejaVu Sans"/>
              </a:defRPr>
            </a:pPr>
            <a:r>
              <a:t>03</a:t>
            </a:r>
          </a:p>
        </p:txBody>
      </p:sp>
      <p:sp>
        <p:nvSpPr>
          <p:cNvPr id="16" name="Rectangle 15"/>
          <p:cNvSpPr/>
          <p:nvPr/>
        </p:nvSpPr>
        <p:spPr>
          <a:xfrm>
            <a:off x="0" y="6821424"/>
            <a:ext cx="1406765" cy="36576"/>
          </a:xfrm>
          <a:prstGeom prst="rect">
            <a:avLst/>
          </a:prstGeom>
          <a:solidFill>
            <a:srgbClr val="137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94360" y="2706624"/>
            <a:ext cx="3602736" cy="3172968"/>
          </a:xfrm>
          <a:prstGeom prst="roundRect">
            <a:avLst>
              <a:gd name="adj" fmla="val 12000"/>
            </a:avLst>
          </a:prstGeom>
          <a:solidFill>
            <a:srgbClr val="E0F7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icon_compass.png"/>
          <p:cNvPicPr>
            <a:picLocks noChangeAspect="1"/>
          </p:cNvPicPr>
          <p:nvPr/>
        </p:nvPicPr>
        <p:blipFill>
          <a:blip r:embed="rId8"/>
          <a:stretch>
            <a:fillRect/>
          </a:stretch>
        </p:blipFill>
        <p:spPr>
          <a:xfrm>
            <a:off x="868680" y="2962656"/>
            <a:ext cx="960120" cy="960120"/>
          </a:xfrm>
          <a:prstGeom prst="rect">
            <a:avLst/>
          </a:prstGeom>
        </p:spPr>
      </p:pic>
      <p:sp>
        <p:nvSpPr>
          <p:cNvPr id="19" name="TextBox 18"/>
          <p:cNvSpPr txBox="1"/>
          <p:nvPr/>
        </p:nvSpPr>
        <p:spPr>
          <a:xfrm>
            <a:off x="3401568" y="2898648"/>
            <a:ext cx="457200" cy="274320"/>
          </a:xfrm>
          <a:prstGeom prst="rect">
            <a:avLst/>
          </a:prstGeom>
          <a:noFill/>
        </p:spPr>
        <p:txBody>
          <a:bodyPr wrap="square" lIns="0" rIns="0" tIns="0" bIns="0">
            <a:spAutoFit/>
          </a:bodyPr>
          <a:lstStyle/>
          <a:p>
            <a:pPr algn="l">
              <a:lnSpc>
                <a:spcPct val="101000"/>
              </a:lnSpc>
              <a:spcAft>
                <a:spcPts val="300"/>
              </a:spcAft>
              <a:defRPr sz="1400" b="0">
                <a:solidFill>
                  <a:srgbClr val="5C6E83"/>
                </a:solidFill>
                <a:latin typeface="DejaVu Sans"/>
              </a:defRPr>
            </a:pPr>
            <a:r>
              <a:t>01</a:t>
            </a:r>
          </a:p>
        </p:txBody>
      </p:sp>
      <p:sp>
        <p:nvSpPr>
          <p:cNvPr id="20" name="TextBox 19"/>
          <p:cNvSpPr txBox="1"/>
          <p:nvPr/>
        </p:nvSpPr>
        <p:spPr>
          <a:xfrm>
            <a:off x="868680" y="4306824"/>
            <a:ext cx="3017520" cy="475488"/>
          </a:xfrm>
          <a:prstGeom prst="rect">
            <a:avLst/>
          </a:prstGeom>
          <a:noFill/>
        </p:spPr>
        <p:txBody>
          <a:bodyPr wrap="square" lIns="0" rIns="0" tIns="0" bIns="0">
            <a:spAutoFit/>
          </a:bodyPr>
          <a:lstStyle/>
          <a:p>
            <a:pPr algn="l">
              <a:lnSpc>
                <a:spcPct val="101000"/>
              </a:lnSpc>
              <a:spcAft>
                <a:spcPts val="300"/>
              </a:spcAft>
              <a:defRPr sz="2800" b="1">
                <a:solidFill>
                  <a:srgbClr val="203350"/>
                </a:solidFill>
                <a:latin typeface="DejaVu Sans"/>
              </a:defRPr>
            </a:pPr>
            <a:r>
              <a:t>Explorar</a:t>
            </a:r>
          </a:p>
        </p:txBody>
      </p:sp>
      <p:sp>
        <p:nvSpPr>
          <p:cNvPr id="21" name="TextBox 20"/>
          <p:cNvSpPr txBox="1"/>
          <p:nvPr/>
        </p:nvSpPr>
        <p:spPr>
          <a:xfrm>
            <a:off x="868680" y="4965192"/>
            <a:ext cx="2962656" cy="640080"/>
          </a:xfrm>
          <a:prstGeom prst="rect">
            <a:avLst/>
          </a:prstGeom>
          <a:noFill/>
        </p:spPr>
        <p:txBody>
          <a:bodyPr wrap="square" lIns="0" rIns="0" tIns="0" bIns="0">
            <a:spAutoFit/>
          </a:bodyPr>
          <a:lstStyle/>
          <a:p>
            <a:pPr algn="l">
              <a:lnSpc>
                <a:spcPct val="101000"/>
              </a:lnSpc>
              <a:spcAft>
                <a:spcPts val="300"/>
              </a:spcAft>
              <a:defRPr sz="1800" b="0">
                <a:solidFill>
                  <a:srgbClr val="203350"/>
                </a:solidFill>
                <a:latin typeface="DejaVu Sans"/>
              </a:defRPr>
            </a:pPr>
            <a:r>
              <a:t>Intereses, personas y oportunidades.</a:t>
            </a:r>
          </a:p>
        </p:txBody>
      </p:sp>
      <p:sp>
        <p:nvSpPr>
          <p:cNvPr id="22" name="Rounded Rectangle 21"/>
          <p:cNvSpPr/>
          <p:nvPr/>
        </p:nvSpPr>
        <p:spPr>
          <a:xfrm>
            <a:off x="4389120" y="2706624"/>
            <a:ext cx="3602736" cy="3172968"/>
          </a:xfrm>
          <a:prstGeom prst="roundRect">
            <a:avLst>
              <a:gd name="adj" fmla="val 12000"/>
            </a:avLst>
          </a:prstGeom>
          <a:solidFill>
            <a:srgbClr val="E2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con_flask.png"/>
          <p:cNvPicPr>
            <a:picLocks noChangeAspect="1"/>
          </p:cNvPicPr>
          <p:nvPr/>
        </p:nvPicPr>
        <p:blipFill>
          <a:blip r:embed="rId9"/>
          <a:stretch>
            <a:fillRect/>
          </a:stretch>
        </p:blipFill>
        <p:spPr>
          <a:xfrm>
            <a:off x="4663440" y="2962656"/>
            <a:ext cx="960120" cy="960120"/>
          </a:xfrm>
          <a:prstGeom prst="rect">
            <a:avLst/>
          </a:prstGeom>
        </p:spPr>
      </p:pic>
      <p:sp>
        <p:nvSpPr>
          <p:cNvPr id="24" name="TextBox 23"/>
          <p:cNvSpPr txBox="1"/>
          <p:nvPr/>
        </p:nvSpPr>
        <p:spPr>
          <a:xfrm>
            <a:off x="7196328" y="2898648"/>
            <a:ext cx="457200" cy="274320"/>
          </a:xfrm>
          <a:prstGeom prst="rect">
            <a:avLst/>
          </a:prstGeom>
          <a:noFill/>
        </p:spPr>
        <p:txBody>
          <a:bodyPr wrap="square" lIns="0" rIns="0" tIns="0" bIns="0">
            <a:spAutoFit/>
          </a:bodyPr>
          <a:lstStyle/>
          <a:p>
            <a:pPr algn="l">
              <a:lnSpc>
                <a:spcPct val="101000"/>
              </a:lnSpc>
              <a:spcAft>
                <a:spcPts val="300"/>
              </a:spcAft>
              <a:defRPr sz="1400" b="0">
                <a:solidFill>
                  <a:srgbClr val="5C6E83"/>
                </a:solidFill>
                <a:latin typeface="DejaVu Sans"/>
              </a:defRPr>
            </a:pPr>
            <a:r>
              <a:t>02</a:t>
            </a:r>
          </a:p>
        </p:txBody>
      </p:sp>
      <p:sp>
        <p:nvSpPr>
          <p:cNvPr id="25" name="TextBox 24"/>
          <p:cNvSpPr txBox="1"/>
          <p:nvPr/>
        </p:nvSpPr>
        <p:spPr>
          <a:xfrm>
            <a:off x="4663440" y="4306824"/>
            <a:ext cx="3017520" cy="475488"/>
          </a:xfrm>
          <a:prstGeom prst="rect">
            <a:avLst/>
          </a:prstGeom>
          <a:noFill/>
        </p:spPr>
        <p:txBody>
          <a:bodyPr wrap="square" lIns="0" rIns="0" tIns="0" bIns="0">
            <a:spAutoFit/>
          </a:bodyPr>
          <a:lstStyle/>
          <a:p>
            <a:pPr algn="l">
              <a:lnSpc>
                <a:spcPct val="101000"/>
              </a:lnSpc>
              <a:spcAft>
                <a:spcPts val="300"/>
              </a:spcAft>
              <a:defRPr sz="2800" b="1">
                <a:solidFill>
                  <a:srgbClr val="203350"/>
                </a:solidFill>
                <a:latin typeface="DejaVu Sans"/>
              </a:defRPr>
            </a:pPr>
            <a:r>
              <a:t>Diseñar</a:t>
            </a:r>
          </a:p>
        </p:txBody>
      </p:sp>
      <p:sp>
        <p:nvSpPr>
          <p:cNvPr id="26" name="TextBox 25"/>
          <p:cNvSpPr txBox="1"/>
          <p:nvPr/>
        </p:nvSpPr>
        <p:spPr>
          <a:xfrm>
            <a:off x="4663440" y="4965192"/>
            <a:ext cx="2962656" cy="640080"/>
          </a:xfrm>
          <a:prstGeom prst="rect">
            <a:avLst/>
          </a:prstGeom>
          <a:noFill/>
        </p:spPr>
        <p:txBody>
          <a:bodyPr wrap="square" lIns="0" rIns="0" tIns="0" bIns="0">
            <a:spAutoFit/>
          </a:bodyPr>
          <a:lstStyle/>
          <a:p>
            <a:pPr algn="l">
              <a:lnSpc>
                <a:spcPct val="101000"/>
              </a:lnSpc>
              <a:spcAft>
                <a:spcPts val="300"/>
              </a:spcAft>
              <a:defRPr sz="1800" b="0">
                <a:solidFill>
                  <a:srgbClr val="203350"/>
                </a:solidFill>
                <a:latin typeface="DejaVu Sans"/>
              </a:defRPr>
            </a:pPr>
            <a:r>
              <a:t>Una pregunta y un plan pequeño.</a:t>
            </a:r>
          </a:p>
        </p:txBody>
      </p:sp>
      <p:sp>
        <p:nvSpPr>
          <p:cNvPr id="27" name="Rounded Rectangle 26"/>
          <p:cNvSpPr/>
          <p:nvPr/>
        </p:nvSpPr>
        <p:spPr>
          <a:xfrm>
            <a:off x="8183880" y="2706624"/>
            <a:ext cx="3602736" cy="3172968"/>
          </a:xfrm>
          <a:prstGeom prst="roundRect">
            <a:avLst>
              <a:gd name="adj" fmla="val 12000"/>
            </a:avLst>
          </a:prstGeom>
          <a:solidFill>
            <a:srgbClr val="FFF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icon_community.png"/>
          <p:cNvPicPr>
            <a:picLocks noChangeAspect="1"/>
          </p:cNvPicPr>
          <p:nvPr/>
        </p:nvPicPr>
        <p:blipFill>
          <a:blip r:embed="rId10"/>
          <a:stretch>
            <a:fillRect/>
          </a:stretch>
        </p:blipFill>
        <p:spPr>
          <a:xfrm>
            <a:off x="8458200" y="2962656"/>
            <a:ext cx="960120" cy="960120"/>
          </a:xfrm>
          <a:prstGeom prst="rect">
            <a:avLst/>
          </a:prstGeom>
        </p:spPr>
      </p:pic>
      <p:sp>
        <p:nvSpPr>
          <p:cNvPr id="29" name="TextBox 28"/>
          <p:cNvSpPr txBox="1"/>
          <p:nvPr/>
        </p:nvSpPr>
        <p:spPr>
          <a:xfrm>
            <a:off x="10991088" y="2898648"/>
            <a:ext cx="457200" cy="274320"/>
          </a:xfrm>
          <a:prstGeom prst="rect">
            <a:avLst/>
          </a:prstGeom>
          <a:noFill/>
        </p:spPr>
        <p:txBody>
          <a:bodyPr wrap="square" lIns="0" rIns="0" tIns="0" bIns="0">
            <a:spAutoFit/>
          </a:bodyPr>
          <a:lstStyle/>
          <a:p>
            <a:pPr algn="l">
              <a:lnSpc>
                <a:spcPct val="101000"/>
              </a:lnSpc>
              <a:spcAft>
                <a:spcPts val="300"/>
              </a:spcAft>
              <a:defRPr sz="1400" b="0">
                <a:solidFill>
                  <a:srgbClr val="5C6E83"/>
                </a:solidFill>
                <a:latin typeface="DejaVu Sans"/>
              </a:defRPr>
            </a:pPr>
            <a:r>
              <a:t>03</a:t>
            </a:r>
          </a:p>
        </p:txBody>
      </p:sp>
      <p:sp>
        <p:nvSpPr>
          <p:cNvPr id="30" name="TextBox 29"/>
          <p:cNvSpPr txBox="1"/>
          <p:nvPr/>
        </p:nvSpPr>
        <p:spPr>
          <a:xfrm>
            <a:off x="8458200" y="4306824"/>
            <a:ext cx="3017520" cy="475488"/>
          </a:xfrm>
          <a:prstGeom prst="rect">
            <a:avLst/>
          </a:prstGeom>
          <a:noFill/>
        </p:spPr>
        <p:txBody>
          <a:bodyPr wrap="square" lIns="0" rIns="0" tIns="0" bIns="0">
            <a:spAutoFit/>
          </a:bodyPr>
          <a:lstStyle/>
          <a:p>
            <a:pPr algn="l">
              <a:lnSpc>
                <a:spcPct val="101000"/>
              </a:lnSpc>
              <a:spcAft>
                <a:spcPts val="300"/>
              </a:spcAft>
              <a:defRPr sz="2800" b="1">
                <a:solidFill>
                  <a:srgbClr val="203350"/>
                </a:solidFill>
                <a:latin typeface="DejaVu Sans"/>
              </a:defRPr>
            </a:pPr>
            <a:r>
              <a:t>Servir</a:t>
            </a:r>
          </a:p>
        </p:txBody>
      </p:sp>
      <p:sp>
        <p:nvSpPr>
          <p:cNvPr id="31" name="TextBox 30"/>
          <p:cNvSpPr txBox="1"/>
          <p:nvPr/>
        </p:nvSpPr>
        <p:spPr>
          <a:xfrm>
            <a:off x="8458200" y="4965192"/>
            <a:ext cx="2962656" cy="640080"/>
          </a:xfrm>
          <a:prstGeom prst="rect">
            <a:avLst/>
          </a:prstGeom>
          <a:noFill/>
        </p:spPr>
        <p:txBody>
          <a:bodyPr wrap="square" lIns="0" rIns="0" tIns="0" bIns="0">
            <a:spAutoFit/>
          </a:bodyPr>
          <a:lstStyle/>
          <a:p>
            <a:pPr algn="l">
              <a:lnSpc>
                <a:spcPct val="101000"/>
              </a:lnSpc>
              <a:spcAft>
                <a:spcPts val="300"/>
              </a:spcAft>
              <a:defRPr sz="1800" b="0">
                <a:solidFill>
                  <a:srgbClr val="203350"/>
                </a:solidFill>
                <a:latin typeface="DejaVu Sans"/>
              </a:defRPr>
            </a:pPr>
            <a:r>
              <a:t>Un aporte acordado con otros.</a:t>
            </a:r>
          </a:p>
        </p:txBody>
      </p:sp>
    </p:spTree>
  </p:cSld>
  <p:clrMapOvr>
    <a:masterClrMapping/>
  </p:clrMapOvr>
  <p:transition advClick="1">
    <p:fade/>
  </p:transition>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9FBFF"/>
        </a:solidFill>
        <a:effectLst/>
      </p:bgPr>
    </p:bg>
    <p:spTree>
      <p:nvGrpSpPr>
        <p:cNvPr id="1" name=""/>
        <p:cNvGrpSpPr/>
        <p:nvPr/>
      </p:nvGrpSpPr>
      <p:grpSpPr/>
      <p:sp>
        <p:nvSpPr>
          <p:cNvPr id="2" name="TextBox 1"/>
          <p:cNvSpPr txBox="1"/>
          <p:nvPr/>
        </p:nvSpPr>
        <p:spPr>
          <a:xfrm>
            <a:off x="548640" y="365760"/>
            <a:ext cx="7543800" cy="274320"/>
          </a:xfrm>
          <a:prstGeom prst="rect">
            <a:avLst/>
          </a:prstGeom>
          <a:noFill/>
        </p:spPr>
        <p:txBody>
          <a:bodyPr wrap="square" lIns="0" rIns="0" tIns="0" bIns="0">
            <a:spAutoFit/>
          </a:bodyPr>
          <a:lstStyle/>
          <a:p>
            <a:pPr algn="l">
              <a:lnSpc>
                <a:spcPct val="101000"/>
              </a:lnSpc>
              <a:spcAft>
                <a:spcPts val="300"/>
              </a:spcAft>
              <a:defRPr sz="930" b="1">
                <a:solidFill>
                  <a:srgbClr val="137F7D"/>
                </a:solidFill>
                <a:latin typeface="DejaVu Sans"/>
              </a:defRPr>
            </a:pPr>
            <a:r>
              <a:t>MOVERTE EN LA UNIVERSIDAD</a:t>
            </a:r>
          </a:p>
        </p:txBody>
      </p:sp>
      <p:sp>
        <p:nvSpPr>
          <p:cNvPr id="3" name="Rounded Rectangle 2">
            <a:hlinkClick action="ppaction://hlinksldjump" r:id="rId2"/>
          </p:cNvPr>
          <p:cNvSpPr/>
          <p:nvPr/>
        </p:nvSpPr>
        <p:spPr>
          <a:xfrm>
            <a:off x="8229600" y="310896"/>
            <a:ext cx="795528" cy="310896"/>
          </a:xfrm>
          <a:prstGeom prst="roundRect">
            <a:avLst>
              <a:gd name="adj" fmla="val 12000"/>
            </a:avLst>
          </a:prstGeom>
          <a:solidFill>
            <a:srgbClr val="E2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a:hlinkClick action="ppaction://hlinksldjump" r:id="rId2"/>
          </p:cNvPr>
          <p:cNvSpPr txBox="1"/>
          <p:nvPr/>
        </p:nvSpPr>
        <p:spPr>
          <a:xfrm>
            <a:off x="8339327"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Explorar</a:t>
            </a:r>
          </a:p>
        </p:txBody>
      </p:sp>
      <p:sp>
        <p:nvSpPr>
          <p:cNvPr id="5" name="Rounded Rectangle 4">
            <a:hlinkClick action="ppaction://hlinksldjump" r:id="rId3"/>
          </p:cNvPr>
          <p:cNvSpPr/>
          <p:nvPr/>
        </p:nvSpPr>
        <p:spPr>
          <a:xfrm>
            <a:off x="9089136" y="310896"/>
            <a:ext cx="795528" cy="310896"/>
          </a:xfrm>
          <a:prstGeom prst="roundRect">
            <a:avLst>
              <a:gd name="adj" fmla="val 12000"/>
            </a:avLst>
          </a:prstGeom>
          <a:solidFill>
            <a:srgbClr val="F0E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a:hlinkClick action="ppaction://hlinksldjump" r:id="rId3"/>
          </p:cNvPr>
          <p:cNvSpPr txBox="1"/>
          <p:nvPr/>
        </p:nvSpPr>
        <p:spPr>
          <a:xfrm>
            <a:off x="9198863"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Diseñar</a:t>
            </a:r>
          </a:p>
        </p:txBody>
      </p:sp>
      <p:sp>
        <p:nvSpPr>
          <p:cNvPr id="7" name="Rounded Rectangle 6">
            <a:hlinkClick action="ppaction://hlinksldjump" r:id="rId4"/>
          </p:cNvPr>
          <p:cNvSpPr/>
          <p:nvPr/>
        </p:nvSpPr>
        <p:spPr>
          <a:xfrm>
            <a:off x="9948672" y="310896"/>
            <a:ext cx="795528" cy="310896"/>
          </a:xfrm>
          <a:prstGeom prst="roundRect">
            <a:avLst>
              <a:gd name="adj" fmla="val 12000"/>
            </a:avLst>
          </a:prstGeom>
          <a:solidFill>
            <a:srgbClr val="FFF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a:hlinkClick action="ppaction://hlinksldjump" r:id="rId4"/>
          </p:cNvPr>
          <p:cNvSpPr txBox="1"/>
          <p:nvPr/>
        </p:nvSpPr>
        <p:spPr>
          <a:xfrm>
            <a:off x="10058399"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Servir</a:t>
            </a:r>
          </a:p>
        </p:txBody>
      </p:sp>
      <p:sp>
        <p:nvSpPr>
          <p:cNvPr id="9" name="Rounded Rectangle 8">
            <a:hlinkClick action="ppaction://hlinksldjump" r:id="rId5"/>
          </p:cNvPr>
          <p:cNvSpPr/>
          <p:nvPr/>
        </p:nvSpPr>
        <p:spPr>
          <a:xfrm>
            <a:off x="10808208" y="310896"/>
            <a:ext cx="795528" cy="310896"/>
          </a:xfrm>
          <a:prstGeom prst="roundRect">
            <a:avLst>
              <a:gd name="adj" fmla="val 12000"/>
            </a:avLst>
          </a:prstGeom>
          <a:solidFill>
            <a:srgbClr val="E9F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a:hlinkClick action="ppaction://hlinksldjump" r:id="rId5"/>
          </p:cNvPr>
          <p:cNvSpPr txBox="1"/>
          <p:nvPr/>
        </p:nvSpPr>
        <p:spPr>
          <a:xfrm>
            <a:off x="10917936"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Empezar</a:t>
            </a:r>
          </a:p>
        </p:txBody>
      </p:sp>
      <p:sp>
        <p:nvSpPr>
          <p:cNvPr id="11" name="TextBox 10"/>
          <p:cNvSpPr txBox="1"/>
          <p:nvPr/>
        </p:nvSpPr>
        <p:spPr>
          <a:xfrm>
            <a:off x="548640" y="877824"/>
            <a:ext cx="11064240" cy="1234440"/>
          </a:xfrm>
          <a:prstGeom prst="rect">
            <a:avLst/>
          </a:prstGeom>
          <a:noFill/>
        </p:spPr>
        <p:txBody>
          <a:bodyPr wrap="square" lIns="0" rIns="0" tIns="0" bIns="0">
            <a:spAutoFit/>
          </a:bodyPr>
          <a:lstStyle/>
          <a:p>
            <a:pPr algn="l">
              <a:lnSpc>
                <a:spcPct val="101000"/>
              </a:lnSpc>
              <a:spcAft>
                <a:spcPts val="300"/>
              </a:spcAft>
              <a:defRPr sz="3900" b="1">
                <a:solidFill>
                  <a:srgbClr val="203350"/>
                </a:solidFill>
                <a:latin typeface="DejaVu Sans"/>
              </a:defRPr>
            </a:pPr>
            <a:r>
              <a:t>La universidad también</a:t>
            </a:r>
          </a:p>
          <a:p>
            <a:pPr algn="l">
              <a:lnSpc>
                <a:spcPct val="101000"/>
              </a:lnSpc>
              <a:spcAft>
                <a:spcPts val="300"/>
              </a:spcAft>
              <a:defRPr sz="3900" b="1">
                <a:solidFill>
                  <a:srgbClr val="203350"/>
                </a:solidFill>
                <a:latin typeface="DejaVu Sans"/>
              </a:defRPr>
            </a:pPr>
            <a:r>
              <a:t>se recorre por preguntas</a:t>
            </a:r>
          </a:p>
        </p:txBody>
      </p:sp>
      <p:sp>
        <p:nvSpPr>
          <p:cNvPr id="12" name="TextBox 11"/>
          <p:cNvSpPr txBox="1"/>
          <p:nvPr/>
        </p:nvSpPr>
        <p:spPr>
          <a:xfrm>
            <a:off x="566928" y="2112264"/>
            <a:ext cx="10972800" cy="365760"/>
          </a:xfrm>
          <a:prstGeom prst="rect">
            <a:avLst/>
          </a:prstGeom>
          <a:noFill/>
        </p:spPr>
        <p:txBody>
          <a:bodyPr wrap="square" lIns="0" rIns="0" tIns="0" bIns="0">
            <a:spAutoFit/>
          </a:bodyPr>
          <a:lstStyle/>
          <a:p>
            <a:pPr algn="l">
              <a:lnSpc>
                <a:spcPct val="101000"/>
              </a:lnSpc>
              <a:spcAft>
                <a:spcPts val="300"/>
              </a:spcAft>
              <a:defRPr sz="1450" b="0">
                <a:solidFill>
                  <a:srgbClr val="5C6E83"/>
                </a:solidFill>
                <a:latin typeface="DejaVu Sans"/>
              </a:defRPr>
            </a:pPr>
            <a:r>
              <a:t>Explora personas, espacios y recursos; el acceso depende de cada institución.</a:t>
            </a:r>
          </a:p>
        </p:txBody>
      </p:sp>
      <p:sp>
        <p:nvSpPr>
          <p:cNvPr id="13" name="TextBox 12"/>
          <p:cNvSpPr txBox="1"/>
          <p:nvPr/>
        </p:nvSpPr>
        <p:spPr>
          <a:xfrm>
            <a:off x="548640" y="6446520"/>
            <a:ext cx="9966960" cy="210312"/>
          </a:xfrm>
          <a:prstGeom prst="rect">
            <a:avLst/>
          </a:prstGeom>
          <a:noFill/>
        </p:spPr>
        <p:txBody>
          <a:bodyPr wrap="square" lIns="0" rIns="0" tIns="0" bIns="0">
            <a:spAutoFit/>
          </a:bodyPr>
          <a:lstStyle/>
          <a:p>
            <a:pPr algn="l">
              <a:lnSpc>
                <a:spcPct val="101000"/>
              </a:lnSpc>
              <a:spcAft>
                <a:spcPts val="300"/>
              </a:spcAft>
              <a:defRPr sz="810" b="0">
                <a:solidFill>
                  <a:srgbClr val="5C6E83"/>
                </a:solidFill>
                <a:latin typeface="DejaVu Sans"/>
              </a:defRPr>
            </a:pPr>
            <a:r>
              <a:t>Mapa orientativo de oportunidades universitarias</a:t>
            </a:r>
          </a:p>
        </p:txBody>
      </p:sp>
      <p:sp>
        <p:nvSpPr>
          <p:cNvPr id="14" name="Rounded Rectangle 13">
            <a:hlinkClick action="ppaction://hlinksldjump" r:id="rId6"/>
          </p:cNvPr>
          <p:cNvSpPr/>
          <p:nvPr/>
        </p:nvSpPr>
        <p:spPr>
          <a:xfrm>
            <a:off x="10469880" y="6400800"/>
            <a:ext cx="594360" cy="265176"/>
          </a:xfrm>
          <a:prstGeom prst="roundRect">
            <a:avLst>
              <a:gd name="adj" fmla="val 12000"/>
            </a:avLst>
          </a:prstGeom>
          <a:solidFill>
            <a:srgbClr val="F0E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a:hlinkClick action="ppaction://hlinksldjump" r:id="rId6"/>
          </p:cNvPr>
          <p:cNvSpPr txBox="1"/>
          <p:nvPr/>
        </p:nvSpPr>
        <p:spPr>
          <a:xfrm>
            <a:off x="10579607" y="6483096"/>
            <a:ext cx="374904" cy="173735"/>
          </a:xfrm>
          <a:prstGeom prst="rect">
            <a:avLst/>
          </a:prstGeom>
          <a:noFill/>
        </p:spPr>
        <p:txBody>
          <a:bodyPr wrap="square" lIns="0" rIns="0" tIns="0" bIns="0">
            <a:spAutoFit/>
          </a:bodyPr>
          <a:lstStyle/>
          <a:p>
            <a:pPr algn="l">
              <a:lnSpc>
                <a:spcPct val="101000"/>
              </a:lnSpc>
              <a:spcAft>
                <a:spcPts val="300"/>
              </a:spcAft>
              <a:defRPr sz="800" b="1">
                <a:solidFill>
                  <a:srgbClr val="8060BA"/>
                </a:solidFill>
                <a:latin typeface="DejaVu Sans"/>
              </a:defRPr>
            </a:pPr>
            <a:r>
              <a:t>Ruta</a:t>
            </a:r>
          </a:p>
        </p:txBody>
      </p:sp>
      <p:sp>
        <p:nvSpPr>
          <p:cNvPr id="16" name="TextBox 15"/>
          <p:cNvSpPr txBox="1"/>
          <p:nvPr/>
        </p:nvSpPr>
        <p:spPr>
          <a:xfrm>
            <a:off x="11228832" y="6400800"/>
            <a:ext cx="457200" cy="274320"/>
          </a:xfrm>
          <a:prstGeom prst="rect">
            <a:avLst/>
          </a:prstGeom>
          <a:noFill/>
        </p:spPr>
        <p:txBody>
          <a:bodyPr wrap="square" lIns="0" rIns="0" tIns="0" bIns="0">
            <a:spAutoFit/>
          </a:bodyPr>
          <a:lstStyle/>
          <a:p>
            <a:pPr algn="r">
              <a:lnSpc>
                <a:spcPct val="101000"/>
              </a:lnSpc>
              <a:spcAft>
                <a:spcPts val="300"/>
              </a:spcAft>
              <a:defRPr sz="1300" b="1">
                <a:solidFill>
                  <a:srgbClr val="203350"/>
                </a:solidFill>
                <a:latin typeface="DejaVu Sans"/>
              </a:defRPr>
            </a:pPr>
            <a:r>
              <a:t>04</a:t>
            </a:r>
          </a:p>
        </p:txBody>
      </p:sp>
      <p:sp>
        <p:nvSpPr>
          <p:cNvPr id="17" name="Rectangle 16"/>
          <p:cNvSpPr/>
          <p:nvPr/>
        </p:nvSpPr>
        <p:spPr>
          <a:xfrm>
            <a:off x="0" y="6821424"/>
            <a:ext cx="1875687" cy="36576"/>
          </a:xfrm>
          <a:prstGeom prst="rect">
            <a:avLst/>
          </a:prstGeom>
          <a:solidFill>
            <a:srgbClr val="137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campus.png"/>
          <p:cNvPicPr>
            <a:picLocks noChangeAspect="1"/>
          </p:cNvPicPr>
          <p:nvPr/>
        </p:nvPicPr>
        <p:blipFill>
          <a:blip r:embed="rId8"/>
          <a:stretch>
            <a:fillRect/>
          </a:stretch>
        </p:blipFill>
        <p:spPr>
          <a:xfrm>
            <a:off x="548640" y="2606040"/>
            <a:ext cx="11109960" cy="3438144"/>
          </a:xfrm>
          <a:prstGeom prst="rect">
            <a:avLst/>
          </a:prstGeom>
        </p:spPr>
      </p:pic>
    </p:spTree>
  </p:cSld>
  <p:clrMapOvr>
    <a:masterClrMapping/>
  </p:clrMapOvr>
  <p:transition advClick="1">
    <p:fade/>
  </p:transition>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9FBFF"/>
        </a:solidFill>
        <a:effectLst/>
      </p:bgPr>
    </p:bg>
    <p:spTree>
      <p:nvGrpSpPr>
        <p:cNvPr id="1" name=""/>
        <p:cNvGrpSpPr/>
        <p:nvPr/>
      </p:nvGrpSpPr>
      <p:grpSpPr/>
      <p:sp>
        <p:nvSpPr>
          <p:cNvPr id="2" name="TextBox 1"/>
          <p:cNvSpPr txBox="1"/>
          <p:nvPr/>
        </p:nvSpPr>
        <p:spPr>
          <a:xfrm>
            <a:off x="548640" y="365760"/>
            <a:ext cx="7543800" cy="274320"/>
          </a:xfrm>
          <a:prstGeom prst="rect">
            <a:avLst/>
          </a:prstGeom>
          <a:noFill/>
        </p:spPr>
        <p:txBody>
          <a:bodyPr wrap="square" lIns="0" rIns="0" tIns="0" bIns="0">
            <a:spAutoFit/>
          </a:bodyPr>
          <a:lstStyle/>
          <a:p>
            <a:pPr algn="l">
              <a:lnSpc>
                <a:spcPct val="101000"/>
              </a:lnSpc>
              <a:spcAft>
                <a:spcPts val="300"/>
              </a:spcAft>
              <a:defRPr sz="930" b="1">
                <a:solidFill>
                  <a:srgbClr val="137F7D"/>
                </a:solidFill>
                <a:latin typeface="DejaVu Sans"/>
              </a:defRPr>
            </a:pPr>
            <a:r>
              <a:t>ENCONTRAR UNA DIRECCIÓN</a:t>
            </a:r>
          </a:p>
        </p:txBody>
      </p:sp>
      <p:sp>
        <p:nvSpPr>
          <p:cNvPr id="3" name="Rounded Rectangle 2">
            <a:hlinkClick action="ppaction://hlinksldjump" r:id="rId2"/>
          </p:cNvPr>
          <p:cNvSpPr/>
          <p:nvPr/>
        </p:nvSpPr>
        <p:spPr>
          <a:xfrm>
            <a:off x="8229600" y="310896"/>
            <a:ext cx="795528" cy="310896"/>
          </a:xfrm>
          <a:prstGeom prst="roundRect">
            <a:avLst>
              <a:gd name="adj" fmla="val 12000"/>
            </a:avLst>
          </a:prstGeom>
          <a:solidFill>
            <a:srgbClr val="E2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a:hlinkClick action="ppaction://hlinksldjump" r:id="rId2"/>
          </p:cNvPr>
          <p:cNvSpPr txBox="1"/>
          <p:nvPr/>
        </p:nvSpPr>
        <p:spPr>
          <a:xfrm>
            <a:off x="8339327"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Explorar</a:t>
            </a:r>
          </a:p>
        </p:txBody>
      </p:sp>
      <p:sp>
        <p:nvSpPr>
          <p:cNvPr id="5" name="Rounded Rectangle 4">
            <a:hlinkClick action="ppaction://hlinksldjump" r:id="rId3"/>
          </p:cNvPr>
          <p:cNvSpPr/>
          <p:nvPr/>
        </p:nvSpPr>
        <p:spPr>
          <a:xfrm>
            <a:off x="9089136" y="310896"/>
            <a:ext cx="795528" cy="310896"/>
          </a:xfrm>
          <a:prstGeom prst="roundRect">
            <a:avLst>
              <a:gd name="adj" fmla="val 12000"/>
            </a:avLst>
          </a:prstGeom>
          <a:solidFill>
            <a:srgbClr val="F0E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a:hlinkClick action="ppaction://hlinksldjump" r:id="rId3"/>
          </p:cNvPr>
          <p:cNvSpPr txBox="1"/>
          <p:nvPr/>
        </p:nvSpPr>
        <p:spPr>
          <a:xfrm>
            <a:off x="9198863"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Diseñar</a:t>
            </a:r>
          </a:p>
        </p:txBody>
      </p:sp>
      <p:sp>
        <p:nvSpPr>
          <p:cNvPr id="7" name="Rounded Rectangle 6">
            <a:hlinkClick action="ppaction://hlinksldjump" r:id="rId4"/>
          </p:cNvPr>
          <p:cNvSpPr/>
          <p:nvPr/>
        </p:nvSpPr>
        <p:spPr>
          <a:xfrm>
            <a:off x="9948672" y="310896"/>
            <a:ext cx="795528" cy="310896"/>
          </a:xfrm>
          <a:prstGeom prst="roundRect">
            <a:avLst>
              <a:gd name="adj" fmla="val 12000"/>
            </a:avLst>
          </a:prstGeom>
          <a:solidFill>
            <a:srgbClr val="FFF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a:hlinkClick action="ppaction://hlinksldjump" r:id="rId4"/>
          </p:cNvPr>
          <p:cNvSpPr txBox="1"/>
          <p:nvPr/>
        </p:nvSpPr>
        <p:spPr>
          <a:xfrm>
            <a:off x="10058399"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Servir</a:t>
            </a:r>
          </a:p>
        </p:txBody>
      </p:sp>
      <p:sp>
        <p:nvSpPr>
          <p:cNvPr id="9" name="Rounded Rectangle 8">
            <a:hlinkClick action="ppaction://hlinksldjump" r:id="rId5"/>
          </p:cNvPr>
          <p:cNvSpPr/>
          <p:nvPr/>
        </p:nvSpPr>
        <p:spPr>
          <a:xfrm>
            <a:off x="10808208" y="310896"/>
            <a:ext cx="795528" cy="310896"/>
          </a:xfrm>
          <a:prstGeom prst="roundRect">
            <a:avLst>
              <a:gd name="adj" fmla="val 12000"/>
            </a:avLst>
          </a:prstGeom>
          <a:solidFill>
            <a:srgbClr val="E9F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a:hlinkClick action="ppaction://hlinksldjump" r:id="rId5"/>
          </p:cNvPr>
          <p:cNvSpPr txBox="1"/>
          <p:nvPr/>
        </p:nvSpPr>
        <p:spPr>
          <a:xfrm>
            <a:off x="10917936"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Empezar</a:t>
            </a:r>
          </a:p>
        </p:txBody>
      </p:sp>
      <p:sp>
        <p:nvSpPr>
          <p:cNvPr id="11" name="TextBox 10"/>
          <p:cNvSpPr txBox="1"/>
          <p:nvPr/>
        </p:nvSpPr>
        <p:spPr>
          <a:xfrm>
            <a:off x="548640" y="877824"/>
            <a:ext cx="11064240" cy="1234440"/>
          </a:xfrm>
          <a:prstGeom prst="rect">
            <a:avLst/>
          </a:prstGeom>
          <a:noFill/>
        </p:spPr>
        <p:txBody>
          <a:bodyPr wrap="square" lIns="0" rIns="0" tIns="0" bIns="0">
            <a:spAutoFit/>
          </a:bodyPr>
          <a:lstStyle/>
          <a:p>
            <a:pPr algn="l">
              <a:lnSpc>
                <a:spcPct val="101000"/>
              </a:lnSpc>
              <a:spcAft>
                <a:spcPts val="300"/>
              </a:spcAft>
              <a:defRPr sz="3900" b="1">
                <a:solidFill>
                  <a:srgbClr val="203350"/>
                </a:solidFill>
                <a:latin typeface="DejaVu Sans"/>
              </a:defRPr>
            </a:pPr>
            <a:r>
              <a:t>Tu interés encuentra fuerza</a:t>
            </a:r>
          </a:p>
          <a:p>
            <a:pPr algn="l">
              <a:lnSpc>
                <a:spcPct val="101000"/>
              </a:lnSpc>
              <a:spcAft>
                <a:spcPts val="300"/>
              </a:spcAft>
              <a:defRPr sz="3900" b="1">
                <a:solidFill>
                  <a:srgbClr val="203350"/>
                </a:solidFill>
                <a:latin typeface="DejaVu Sans"/>
              </a:defRPr>
            </a:pPr>
            <a:r>
              <a:t>cuando conversa con una necesidad</a:t>
            </a:r>
          </a:p>
        </p:txBody>
      </p:sp>
      <p:sp>
        <p:nvSpPr>
          <p:cNvPr id="12" name="TextBox 11"/>
          <p:cNvSpPr txBox="1"/>
          <p:nvPr/>
        </p:nvSpPr>
        <p:spPr>
          <a:xfrm>
            <a:off x="548640" y="6446520"/>
            <a:ext cx="9966960" cy="210312"/>
          </a:xfrm>
          <a:prstGeom prst="rect">
            <a:avLst/>
          </a:prstGeom>
          <a:noFill/>
        </p:spPr>
        <p:txBody>
          <a:bodyPr wrap="square" lIns="0" rIns="0" tIns="0" bIns="0">
            <a:spAutoFit/>
          </a:bodyPr>
          <a:lstStyle/>
          <a:p>
            <a:pPr algn="l">
              <a:lnSpc>
                <a:spcPct val="101000"/>
              </a:lnSpc>
              <a:spcAft>
                <a:spcPts val="300"/>
              </a:spcAft>
              <a:defRPr sz="810" b="0">
                <a:solidFill>
                  <a:srgbClr val="5C6E83"/>
                </a:solidFill>
                <a:latin typeface="DejaVu Sans"/>
              </a:defRPr>
            </a:pPr>
            <a:r>
              <a:t>Herramienta de reflexión para el planteamiento de proyectos</a:t>
            </a:r>
          </a:p>
        </p:txBody>
      </p:sp>
      <p:sp>
        <p:nvSpPr>
          <p:cNvPr id="13" name="Rounded Rectangle 12">
            <a:hlinkClick action="ppaction://hlinksldjump" r:id="rId6"/>
          </p:cNvPr>
          <p:cNvSpPr/>
          <p:nvPr/>
        </p:nvSpPr>
        <p:spPr>
          <a:xfrm>
            <a:off x="10469880" y="6400800"/>
            <a:ext cx="594360" cy="265176"/>
          </a:xfrm>
          <a:prstGeom prst="roundRect">
            <a:avLst>
              <a:gd name="adj" fmla="val 12000"/>
            </a:avLst>
          </a:prstGeom>
          <a:solidFill>
            <a:srgbClr val="F0E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a:hlinkClick action="ppaction://hlinksldjump" r:id="rId6"/>
          </p:cNvPr>
          <p:cNvSpPr txBox="1"/>
          <p:nvPr/>
        </p:nvSpPr>
        <p:spPr>
          <a:xfrm>
            <a:off x="10579607" y="6483096"/>
            <a:ext cx="374904" cy="173735"/>
          </a:xfrm>
          <a:prstGeom prst="rect">
            <a:avLst/>
          </a:prstGeom>
          <a:noFill/>
        </p:spPr>
        <p:txBody>
          <a:bodyPr wrap="square" lIns="0" rIns="0" tIns="0" bIns="0">
            <a:spAutoFit/>
          </a:bodyPr>
          <a:lstStyle/>
          <a:p>
            <a:pPr algn="l">
              <a:lnSpc>
                <a:spcPct val="101000"/>
              </a:lnSpc>
              <a:spcAft>
                <a:spcPts val="300"/>
              </a:spcAft>
              <a:defRPr sz="800" b="1">
                <a:solidFill>
                  <a:srgbClr val="8060BA"/>
                </a:solidFill>
                <a:latin typeface="DejaVu Sans"/>
              </a:defRPr>
            </a:pPr>
            <a:r>
              <a:t>Ruta</a:t>
            </a:r>
          </a:p>
        </p:txBody>
      </p:sp>
      <p:sp>
        <p:nvSpPr>
          <p:cNvPr id="15" name="TextBox 14"/>
          <p:cNvSpPr txBox="1"/>
          <p:nvPr/>
        </p:nvSpPr>
        <p:spPr>
          <a:xfrm>
            <a:off x="11228832" y="6400800"/>
            <a:ext cx="457200" cy="274320"/>
          </a:xfrm>
          <a:prstGeom prst="rect">
            <a:avLst/>
          </a:prstGeom>
          <a:noFill/>
        </p:spPr>
        <p:txBody>
          <a:bodyPr wrap="square" lIns="0" rIns="0" tIns="0" bIns="0">
            <a:spAutoFit/>
          </a:bodyPr>
          <a:lstStyle/>
          <a:p>
            <a:pPr algn="r">
              <a:lnSpc>
                <a:spcPct val="101000"/>
              </a:lnSpc>
              <a:spcAft>
                <a:spcPts val="300"/>
              </a:spcAft>
              <a:defRPr sz="1300" b="1">
                <a:solidFill>
                  <a:srgbClr val="203350"/>
                </a:solidFill>
                <a:latin typeface="DejaVu Sans"/>
              </a:defRPr>
            </a:pPr>
            <a:r>
              <a:t>05</a:t>
            </a:r>
          </a:p>
        </p:txBody>
      </p:sp>
      <p:sp>
        <p:nvSpPr>
          <p:cNvPr id="16" name="Rectangle 15"/>
          <p:cNvSpPr/>
          <p:nvPr/>
        </p:nvSpPr>
        <p:spPr>
          <a:xfrm>
            <a:off x="0" y="6821424"/>
            <a:ext cx="2344609" cy="36576"/>
          </a:xfrm>
          <a:prstGeom prst="rect">
            <a:avLst/>
          </a:prstGeom>
          <a:solidFill>
            <a:srgbClr val="137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intersection.png"/>
          <p:cNvPicPr>
            <a:picLocks noChangeAspect="1"/>
          </p:cNvPicPr>
          <p:nvPr/>
        </p:nvPicPr>
        <p:blipFill>
          <a:blip r:embed="rId8"/>
          <a:stretch>
            <a:fillRect/>
          </a:stretch>
        </p:blipFill>
        <p:spPr>
          <a:xfrm>
            <a:off x="548640" y="2606040"/>
            <a:ext cx="11109960" cy="3502152"/>
          </a:xfrm>
          <a:prstGeom prst="rect">
            <a:avLst/>
          </a:prstGeom>
        </p:spPr>
      </p:pic>
    </p:spTree>
  </p:cSld>
  <p:clrMapOvr>
    <a:masterClrMapping/>
  </p:clrMapOvr>
  <p:transition advClick="1">
    <p:fade/>
  </p:transition>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9FBFF"/>
        </a:solidFill>
        <a:effectLst/>
      </p:bgPr>
    </p:bg>
    <p:spTree>
      <p:nvGrpSpPr>
        <p:cNvPr id="1" name=""/>
        <p:cNvGrpSpPr/>
        <p:nvPr/>
      </p:nvGrpSpPr>
      <p:grpSpPr/>
      <p:sp>
        <p:nvSpPr>
          <p:cNvPr id="2" name="TextBox 1"/>
          <p:cNvSpPr txBox="1"/>
          <p:nvPr/>
        </p:nvSpPr>
        <p:spPr>
          <a:xfrm>
            <a:off x="548640" y="365760"/>
            <a:ext cx="7543800" cy="274320"/>
          </a:xfrm>
          <a:prstGeom prst="rect">
            <a:avLst/>
          </a:prstGeom>
          <a:noFill/>
        </p:spPr>
        <p:txBody>
          <a:bodyPr wrap="square" lIns="0" rIns="0" tIns="0" bIns="0">
            <a:spAutoFit/>
          </a:bodyPr>
          <a:lstStyle/>
          <a:p>
            <a:pPr algn="l">
              <a:lnSpc>
                <a:spcPct val="101000"/>
              </a:lnSpc>
              <a:spcAft>
                <a:spcPts val="300"/>
              </a:spcAft>
              <a:defRPr sz="930" b="1">
                <a:solidFill>
                  <a:srgbClr val="137F7D"/>
                </a:solidFill>
                <a:latin typeface="DejaVu Sans"/>
              </a:defRPr>
            </a:pPr>
            <a:r>
              <a:t>CONFIAR EN TU CAPACIDAD DE APRENDER</a:t>
            </a:r>
          </a:p>
        </p:txBody>
      </p:sp>
      <p:sp>
        <p:nvSpPr>
          <p:cNvPr id="3" name="Rounded Rectangle 2">
            <a:hlinkClick action="ppaction://hlinksldjump" r:id="rId2"/>
          </p:cNvPr>
          <p:cNvSpPr/>
          <p:nvPr/>
        </p:nvSpPr>
        <p:spPr>
          <a:xfrm>
            <a:off x="8229600" y="310896"/>
            <a:ext cx="795528" cy="310896"/>
          </a:xfrm>
          <a:prstGeom prst="roundRect">
            <a:avLst>
              <a:gd name="adj" fmla="val 12000"/>
            </a:avLst>
          </a:prstGeom>
          <a:solidFill>
            <a:srgbClr val="E2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a:hlinkClick action="ppaction://hlinksldjump" r:id="rId2"/>
          </p:cNvPr>
          <p:cNvSpPr txBox="1"/>
          <p:nvPr/>
        </p:nvSpPr>
        <p:spPr>
          <a:xfrm>
            <a:off x="8339327"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Explorar</a:t>
            </a:r>
          </a:p>
        </p:txBody>
      </p:sp>
      <p:sp>
        <p:nvSpPr>
          <p:cNvPr id="5" name="Rounded Rectangle 4">
            <a:hlinkClick action="ppaction://hlinksldjump" r:id="rId3"/>
          </p:cNvPr>
          <p:cNvSpPr/>
          <p:nvPr/>
        </p:nvSpPr>
        <p:spPr>
          <a:xfrm>
            <a:off x="9089136" y="310896"/>
            <a:ext cx="795528" cy="310896"/>
          </a:xfrm>
          <a:prstGeom prst="roundRect">
            <a:avLst>
              <a:gd name="adj" fmla="val 12000"/>
            </a:avLst>
          </a:prstGeom>
          <a:solidFill>
            <a:srgbClr val="F0E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a:hlinkClick action="ppaction://hlinksldjump" r:id="rId3"/>
          </p:cNvPr>
          <p:cNvSpPr txBox="1"/>
          <p:nvPr/>
        </p:nvSpPr>
        <p:spPr>
          <a:xfrm>
            <a:off x="9198863"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Diseñar</a:t>
            </a:r>
          </a:p>
        </p:txBody>
      </p:sp>
      <p:sp>
        <p:nvSpPr>
          <p:cNvPr id="7" name="Rounded Rectangle 6">
            <a:hlinkClick action="ppaction://hlinksldjump" r:id="rId4"/>
          </p:cNvPr>
          <p:cNvSpPr/>
          <p:nvPr/>
        </p:nvSpPr>
        <p:spPr>
          <a:xfrm>
            <a:off x="9948672" y="310896"/>
            <a:ext cx="795528" cy="310896"/>
          </a:xfrm>
          <a:prstGeom prst="roundRect">
            <a:avLst>
              <a:gd name="adj" fmla="val 12000"/>
            </a:avLst>
          </a:prstGeom>
          <a:solidFill>
            <a:srgbClr val="FFF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a:hlinkClick action="ppaction://hlinksldjump" r:id="rId4"/>
          </p:cNvPr>
          <p:cNvSpPr txBox="1"/>
          <p:nvPr/>
        </p:nvSpPr>
        <p:spPr>
          <a:xfrm>
            <a:off x="10058399"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Servir</a:t>
            </a:r>
          </a:p>
        </p:txBody>
      </p:sp>
      <p:sp>
        <p:nvSpPr>
          <p:cNvPr id="9" name="Rounded Rectangle 8">
            <a:hlinkClick action="ppaction://hlinksldjump" r:id="rId5"/>
          </p:cNvPr>
          <p:cNvSpPr/>
          <p:nvPr/>
        </p:nvSpPr>
        <p:spPr>
          <a:xfrm>
            <a:off x="10808208" y="310896"/>
            <a:ext cx="795528" cy="310896"/>
          </a:xfrm>
          <a:prstGeom prst="roundRect">
            <a:avLst>
              <a:gd name="adj" fmla="val 12000"/>
            </a:avLst>
          </a:prstGeom>
          <a:solidFill>
            <a:srgbClr val="E9F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a:hlinkClick action="ppaction://hlinksldjump" r:id="rId5"/>
          </p:cNvPr>
          <p:cNvSpPr txBox="1"/>
          <p:nvPr/>
        </p:nvSpPr>
        <p:spPr>
          <a:xfrm>
            <a:off x="10917936"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Empezar</a:t>
            </a:r>
          </a:p>
        </p:txBody>
      </p:sp>
      <p:sp>
        <p:nvSpPr>
          <p:cNvPr id="11" name="TextBox 10"/>
          <p:cNvSpPr txBox="1"/>
          <p:nvPr/>
        </p:nvSpPr>
        <p:spPr>
          <a:xfrm>
            <a:off x="548640" y="877824"/>
            <a:ext cx="11064240" cy="1234440"/>
          </a:xfrm>
          <a:prstGeom prst="rect">
            <a:avLst/>
          </a:prstGeom>
          <a:noFill/>
        </p:spPr>
        <p:txBody>
          <a:bodyPr wrap="square" lIns="0" rIns="0" tIns="0" bIns="0">
            <a:spAutoFit/>
          </a:bodyPr>
          <a:lstStyle/>
          <a:p>
            <a:pPr algn="l">
              <a:lnSpc>
                <a:spcPct val="101000"/>
              </a:lnSpc>
              <a:spcAft>
                <a:spcPts val="300"/>
              </a:spcAft>
              <a:defRPr sz="3900" b="1">
                <a:solidFill>
                  <a:srgbClr val="203350"/>
                </a:solidFill>
                <a:latin typeface="DejaVu Sans"/>
              </a:defRPr>
            </a:pPr>
            <a:r>
              <a:t>La confianza se construye</a:t>
            </a:r>
          </a:p>
          <a:p>
            <a:pPr algn="l">
              <a:lnSpc>
                <a:spcPct val="101000"/>
              </a:lnSpc>
              <a:spcAft>
                <a:spcPts val="300"/>
              </a:spcAft>
              <a:defRPr sz="3900" b="1">
                <a:solidFill>
                  <a:srgbClr val="203350"/>
                </a:solidFill>
                <a:latin typeface="DejaVu Sans"/>
              </a:defRPr>
            </a:pPr>
            <a:r>
              <a:t>con pasos que puedes dar</a:t>
            </a:r>
          </a:p>
        </p:txBody>
      </p:sp>
      <p:sp>
        <p:nvSpPr>
          <p:cNvPr id="12" name="TextBox 11"/>
          <p:cNvSpPr txBox="1"/>
          <p:nvPr/>
        </p:nvSpPr>
        <p:spPr>
          <a:xfrm>
            <a:off x="566928" y="2112264"/>
            <a:ext cx="10972800" cy="365760"/>
          </a:xfrm>
          <a:prstGeom prst="rect">
            <a:avLst/>
          </a:prstGeom>
          <a:noFill/>
        </p:spPr>
        <p:txBody>
          <a:bodyPr wrap="square" lIns="0" rIns="0" tIns="0" bIns="0">
            <a:spAutoFit/>
          </a:bodyPr>
          <a:lstStyle/>
          <a:p>
            <a:pPr algn="l">
              <a:lnSpc>
                <a:spcPct val="101000"/>
              </a:lnSpc>
              <a:spcAft>
                <a:spcPts val="300"/>
              </a:spcAft>
              <a:defRPr sz="1450" b="0">
                <a:solidFill>
                  <a:srgbClr val="5C6E83"/>
                </a:solidFill>
                <a:latin typeface="DejaVu Sans"/>
              </a:defRPr>
            </a:pPr>
            <a:r>
              <a:t>Una pregunta → una conversación → un primer ensayo → retroalimentación</a:t>
            </a:r>
          </a:p>
        </p:txBody>
      </p:sp>
      <p:sp>
        <p:nvSpPr>
          <p:cNvPr id="13" name="TextBox 12"/>
          <p:cNvSpPr txBox="1"/>
          <p:nvPr/>
        </p:nvSpPr>
        <p:spPr>
          <a:xfrm>
            <a:off x="548640" y="6446520"/>
            <a:ext cx="9966960" cy="210312"/>
          </a:xfrm>
          <a:prstGeom prst="rect">
            <a:avLst/>
          </a:prstGeom>
          <a:noFill/>
        </p:spPr>
        <p:txBody>
          <a:bodyPr wrap="square" lIns="0" rIns="0" tIns="0" bIns="0">
            <a:spAutoFit/>
          </a:bodyPr>
          <a:lstStyle/>
          <a:p>
            <a:pPr algn="l">
              <a:lnSpc>
                <a:spcPct val="101000"/>
              </a:lnSpc>
              <a:spcAft>
                <a:spcPts val="300"/>
              </a:spcAft>
              <a:defRPr sz="810" b="0">
                <a:solidFill>
                  <a:srgbClr val="5C6E83"/>
                </a:solidFill>
                <a:latin typeface="DejaVu Sans"/>
              </a:defRPr>
            </a:pPr>
            <a:r>
              <a:t>Propuesta de acompañamiento al aprendizaje</a:t>
            </a:r>
          </a:p>
        </p:txBody>
      </p:sp>
      <p:sp>
        <p:nvSpPr>
          <p:cNvPr id="14" name="Rounded Rectangle 13">
            <a:hlinkClick action="ppaction://hlinksldjump" r:id="rId6"/>
          </p:cNvPr>
          <p:cNvSpPr/>
          <p:nvPr/>
        </p:nvSpPr>
        <p:spPr>
          <a:xfrm>
            <a:off x="10469880" y="6400800"/>
            <a:ext cx="594360" cy="265176"/>
          </a:xfrm>
          <a:prstGeom prst="roundRect">
            <a:avLst>
              <a:gd name="adj" fmla="val 12000"/>
            </a:avLst>
          </a:prstGeom>
          <a:solidFill>
            <a:srgbClr val="F0E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a:hlinkClick action="ppaction://hlinksldjump" r:id="rId6"/>
          </p:cNvPr>
          <p:cNvSpPr txBox="1"/>
          <p:nvPr/>
        </p:nvSpPr>
        <p:spPr>
          <a:xfrm>
            <a:off x="10579607" y="6483096"/>
            <a:ext cx="374904" cy="173735"/>
          </a:xfrm>
          <a:prstGeom prst="rect">
            <a:avLst/>
          </a:prstGeom>
          <a:noFill/>
        </p:spPr>
        <p:txBody>
          <a:bodyPr wrap="square" lIns="0" rIns="0" tIns="0" bIns="0">
            <a:spAutoFit/>
          </a:bodyPr>
          <a:lstStyle/>
          <a:p>
            <a:pPr algn="l">
              <a:lnSpc>
                <a:spcPct val="101000"/>
              </a:lnSpc>
              <a:spcAft>
                <a:spcPts val="300"/>
              </a:spcAft>
              <a:defRPr sz="800" b="1">
                <a:solidFill>
                  <a:srgbClr val="8060BA"/>
                </a:solidFill>
                <a:latin typeface="DejaVu Sans"/>
              </a:defRPr>
            </a:pPr>
            <a:r>
              <a:t>Ruta</a:t>
            </a:r>
          </a:p>
        </p:txBody>
      </p:sp>
      <p:sp>
        <p:nvSpPr>
          <p:cNvPr id="16" name="TextBox 15"/>
          <p:cNvSpPr txBox="1"/>
          <p:nvPr/>
        </p:nvSpPr>
        <p:spPr>
          <a:xfrm>
            <a:off x="11228832" y="6400800"/>
            <a:ext cx="457200" cy="274320"/>
          </a:xfrm>
          <a:prstGeom prst="rect">
            <a:avLst/>
          </a:prstGeom>
          <a:noFill/>
        </p:spPr>
        <p:txBody>
          <a:bodyPr wrap="square" lIns="0" rIns="0" tIns="0" bIns="0">
            <a:spAutoFit/>
          </a:bodyPr>
          <a:lstStyle/>
          <a:p>
            <a:pPr algn="r">
              <a:lnSpc>
                <a:spcPct val="101000"/>
              </a:lnSpc>
              <a:spcAft>
                <a:spcPts val="300"/>
              </a:spcAft>
              <a:defRPr sz="1300" b="1">
                <a:solidFill>
                  <a:srgbClr val="203350"/>
                </a:solidFill>
                <a:latin typeface="DejaVu Sans"/>
              </a:defRPr>
            </a:pPr>
            <a:r>
              <a:t>06</a:t>
            </a:r>
          </a:p>
        </p:txBody>
      </p:sp>
      <p:sp>
        <p:nvSpPr>
          <p:cNvPr id="17" name="Rectangle 16"/>
          <p:cNvSpPr/>
          <p:nvPr/>
        </p:nvSpPr>
        <p:spPr>
          <a:xfrm>
            <a:off x="0" y="6821424"/>
            <a:ext cx="2813531" cy="36576"/>
          </a:xfrm>
          <a:prstGeom prst="rect">
            <a:avLst/>
          </a:prstGeom>
          <a:solidFill>
            <a:srgbClr val="137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confidence.gif"/>
          <p:cNvPicPr>
            <a:picLocks noChangeAspect="1"/>
          </p:cNvPicPr>
          <p:nvPr/>
        </p:nvPicPr>
        <p:blipFill>
          <a:blip r:embed="rId8"/>
          <a:stretch>
            <a:fillRect/>
          </a:stretch>
        </p:blipFill>
        <p:spPr>
          <a:xfrm>
            <a:off x="548640" y="2606040"/>
            <a:ext cx="11109960" cy="3291840"/>
          </a:xfrm>
          <a:prstGeom prst="rect">
            <a:avLst/>
          </a:prstGeom>
        </p:spPr>
      </p:pic>
      <p:sp>
        <p:nvSpPr>
          <p:cNvPr id="19" name="TextBox 18"/>
          <p:cNvSpPr txBox="1"/>
          <p:nvPr/>
        </p:nvSpPr>
        <p:spPr>
          <a:xfrm>
            <a:off x="640080" y="6016752"/>
            <a:ext cx="10881360" cy="292608"/>
          </a:xfrm>
          <a:prstGeom prst="rect">
            <a:avLst/>
          </a:prstGeom>
          <a:noFill/>
        </p:spPr>
        <p:txBody>
          <a:bodyPr wrap="square" lIns="0" rIns="0" tIns="0" bIns="0">
            <a:spAutoFit/>
          </a:bodyPr>
          <a:lstStyle/>
          <a:p>
            <a:pPr algn="l">
              <a:lnSpc>
                <a:spcPct val="101000"/>
              </a:lnSpc>
              <a:spcAft>
                <a:spcPts val="300"/>
              </a:spcAft>
              <a:defRPr sz="1100" b="0">
                <a:solidFill>
                  <a:srgbClr val="5C6E83"/>
                </a:solidFill>
                <a:latin typeface="DejaVu Sans"/>
              </a:defRPr>
            </a:pPr>
            <a:r>
              <a:t>Pedir apoyo y reconocer límites también forman parte de aprender.</a:t>
            </a:r>
          </a:p>
        </p:txBody>
      </p:sp>
    </p:spTree>
  </p:cSld>
  <p:clrMapOvr>
    <a:masterClrMapping/>
  </p:clrMapOvr>
  <p:transition advClick="1">
    <p:fade/>
  </p:transition>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9FBFF"/>
        </a:solidFill>
        <a:effectLst/>
      </p:bgPr>
    </p:bg>
    <p:spTree>
      <p:nvGrpSpPr>
        <p:cNvPr id="1" name=""/>
        <p:cNvGrpSpPr/>
        <p:nvPr/>
      </p:nvGrpSpPr>
      <p:grpSpPr/>
      <p:sp>
        <p:nvSpPr>
          <p:cNvPr id="2" name="TextBox 1"/>
          <p:cNvSpPr txBox="1"/>
          <p:nvPr/>
        </p:nvSpPr>
        <p:spPr>
          <a:xfrm>
            <a:off x="548640" y="365760"/>
            <a:ext cx="7543800" cy="274320"/>
          </a:xfrm>
          <a:prstGeom prst="rect">
            <a:avLst/>
          </a:prstGeom>
          <a:noFill/>
        </p:spPr>
        <p:txBody>
          <a:bodyPr wrap="square" lIns="0" rIns="0" tIns="0" bIns="0">
            <a:spAutoFit/>
          </a:bodyPr>
          <a:lstStyle/>
          <a:p>
            <a:pPr algn="l">
              <a:lnSpc>
                <a:spcPct val="101000"/>
              </a:lnSpc>
              <a:spcAft>
                <a:spcPts val="300"/>
              </a:spcAft>
              <a:defRPr sz="930" b="1">
                <a:solidFill>
                  <a:srgbClr val="137F7D"/>
                </a:solidFill>
                <a:latin typeface="DejaVu Sans"/>
              </a:defRPr>
            </a:pPr>
            <a:r>
              <a:t>ABRIR UNA PRIMERA CONVERSACIÓN</a:t>
            </a:r>
          </a:p>
        </p:txBody>
      </p:sp>
      <p:sp>
        <p:nvSpPr>
          <p:cNvPr id="3" name="Rounded Rectangle 2">
            <a:hlinkClick action="ppaction://hlinksldjump" r:id="rId2"/>
          </p:cNvPr>
          <p:cNvSpPr/>
          <p:nvPr/>
        </p:nvSpPr>
        <p:spPr>
          <a:xfrm>
            <a:off x="8229600" y="310896"/>
            <a:ext cx="795528" cy="310896"/>
          </a:xfrm>
          <a:prstGeom prst="roundRect">
            <a:avLst>
              <a:gd name="adj" fmla="val 12000"/>
            </a:avLst>
          </a:prstGeom>
          <a:solidFill>
            <a:srgbClr val="E2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a:hlinkClick action="ppaction://hlinksldjump" r:id="rId2"/>
          </p:cNvPr>
          <p:cNvSpPr txBox="1"/>
          <p:nvPr/>
        </p:nvSpPr>
        <p:spPr>
          <a:xfrm>
            <a:off x="8339327"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Explorar</a:t>
            </a:r>
          </a:p>
        </p:txBody>
      </p:sp>
      <p:sp>
        <p:nvSpPr>
          <p:cNvPr id="5" name="Rounded Rectangle 4">
            <a:hlinkClick action="ppaction://hlinksldjump" r:id="rId3"/>
          </p:cNvPr>
          <p:cNvSpPr/>
          <p:nvPr/>
        </p:nvSpPr>
        <p:spPr>
          <a:xfrm>
            <a:off x="9089136" y="310896"/>
            <a:ext cx="795528" cy="310896"/>
          </a:xfrm>
          <a:prstGeom prst="roundRect">
            <a:avLst>
              <a:gd name="adj" fmla="val 12000"/>
            </a:avLst>
          </a:prstGeom>
          <a:solidFill>
            <a:srgbClr val="F0E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a:hlinkClick action="ppaction://hlinksldjump" r:id="rId3"/>
          </p:cNvPr>
          <p:cNvSpPr txBox="1"/>
          <p:nvPr/>
        </p:nvSpPr>
        <p:spPr>
          <a:xfrm>
            <a:off x="9198863"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Diseñar</a:t>
            </a:r>
          </a:p>
        </p:txBody>
      </p:sp>
      <p:sp>
        <p:nvSpPr>
          <p:cNvPr id="7" name="Rounded Rectangle 6">
            <a:hlinkClick action="ppaction://hlinksldjump" r:id="rId4"/>
          </p:cNvPr>
          <p:cNvSpPr/>
          <p:nvPr/>
        </p:nvSpPr>
        <p:spPr>
          <a:xfrm>
            <a:off x="9948672" y="310896"/>
            <a:ext cx="795528" cy="310896"/>
          </a:xfrm>
          <a:prstGeom prst="roundRect">
            <a:avLst>
              <a:gd name="adj" fmla="val 12000"/>
            </a:avLst>
          </a:prstGeom>
          <a:solidFill>
            <a:srgbClr val="FFF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a:hlinkClick action="ppaction://hlinksldjump" r:id="rId4"/>
          </p:cNvPr>
          <p:cNvSpPr txBox="1"/>
          <p:nvPr/>
        </p:nvSpPr>
        <p:spPr>
          <a:xfrm>
            <a:off x="10058399"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Servir</a:t>
            </a:r>
          </a:p>
        </p:txBody>
      </p:sp>
      <p:sp>
        <p:nvSpPr>
          <p:cNvPr id="9" name="Rounded Rectangle 8">
            <a:hlinkClick action="ppaction://hlinksldjump" r:id="rId5"/>
          </p:cNvPr>
          <p:cNvSpPr/>
          <p:nvPr/>
        </p:nvSpPr>
        <p:spPr>
          <a:xfrm>
            <a:off x="10808208" y="310896"/>
            <a:ext cx="795528" cy="310896"/>
          </a:xfrm>
          <a:prstGeom prst="roundRect">
            <a:avLst>
              <a:gd name="adj" fmla="val 12000"/>
            </a:avLst>
          </a:prstGeom>
          <a:solidFill>
            <a:srgbClr val="E9F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a:hlinkClick action="ppaction://hlinksldjump" r:id="rId5"/>
          </p:cNvPr>
          <p:cNvSpPr txBox="1"/>
          <p:nvPr/>
        </p:nvSpPr>
        <p:spPr>
          <a:xfrm>
            <a:off x="10917936"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Empezar</a:t>
            </a:r>
          </a:p>
        </p:txBody>
      </p:sp>
      <p:sp>
        <p:nvSpPr>
          <p:cNvPr id="11" name="TextBox 10"/>
          <p:cNvSpPr txBox="1"/>
          <p:nvPr/>
        </p:nvSpPr>
        <p:spPr>
          <a:xfrm>
            <a:off x="548640" y="877824"/>
            <a:ext cx="11064240" cy="1234440"/>
          </a:xfrm>
          <a:prstGeom prst="rect">
            <a:avLst/>
          </a:prstGeom>
          <a:noFill/>
        </p:spPr>
        <p:txBody>
          <a:bodyPr wrap="square" lIns="0" rIns="0" tIns="0" bIns="0">
            <a:spAutoFit/>
          </a:bodyPr>
          <a:lstStyle/>
          <a:p>
            <a:pPr algn="l">
              <a:lnSpc>
                <a:spcPct val="101000"/>
              </a:lnSpc>
              <a:spcAft>
                <a:spcPts val="300"/>
              </a:spcAft>
              <a:defRPr sz="3900" b="1">
                <a:solidFill>
                  <a:srgbClr val="203350"/>
                </a:solidFill>
                <a:latin typeface="DejaVu Sans"/>
              </a:defRPr>
            </a:pPr>
            <a:r>
              <a:t>Tu primer contacto</a:t>
            </a:r>
          </a:p>
          <a:p>
            <a:pPr algn="l">
              <a:lnSpc>
                <a:spcPct val="101000"/>
              </a:lnSpc>
              <a:spcAft>
                <a:spcPts val="300"/>
              </a:spcAft>
              <a:defRPr sz="3900" b="1">
                <a:solidFill>
                  <a:srgbClr val="203350"/>
                </a:solidFill>
                <a:latin typeface="DejaVu Sans"/>
              </a:defRPr>
            </a:pPr>
            <a:r>
              <a:t>puede empezar así</a:t>
            </a:r>
          </a:p>
        </p:txBody>
      </p:sp>
      <p:sp>
        <p:nvSpPr>
          <p:cNvPr id="12" name="TextBox 11"/>
          <p:cNvSpPr txBox="1"/>
          <p:nvPr/>
        </p:nvSpPr>
        <p:spPr>
          <a:xfrm>
            <a:off x="566928" y="2112264"/>
            <a:ext cx="10972800" cy="365760"/>
          </a:xfrm>
          <a:prstGeom prst="rect">
            <a:avLst/>
          </a:prstGeom>
          <a:noFill/>
        </p:spPr>
        <p:txBody>
          <a:bodyPr wrap="square" lIns="0" rIns="0" tIns="0" bIns="0">
            <a:spAutoFit/>
          </a:bodyPr>
          <a:lstStyle/>
          <a:p>
            <a:pPr algn="l">
              <a:lnSpc>
                <a:spcPct val="101000"/>
              </a:lnSpc>
              <a:spcAft>
                <a:spcPts val="300"/>
              </a:spcAft>
              <a:defRPr sz="1450" b="0">
                <a:solidFill>
                  <a:srgbClr val="5C6E83"/>
                </a:solidFill>
                <a:latin typeface="DejaVu Sans"/>
              </a:defRPr>
            </a:pPr>
            <a:r>
              <a:t>Ensayo en parejas · 20 segundos por persona</a:t>
            </a:r>
          </a:p>
        </p:txBody>
      </p:sp>
      <p:sp>
        <p:nvSpPr>
          <p:cNvPr id="13" name="TextBox 12"/>
          <p:cNvSpPr txBox="1"/>
          <p:nvPr/>
        </p:nvSpPr>
        <p:spPr>
          <a:xfrm>
            <a:off x="548640" y="6446520"/>
            <a:ext cx="9966960" cy="210312"/>
          </a:xfrm>
          <a:prstGeom prst="rect">
            <a:avLst/>
          </a:prstGeom>
          <a:noFill/>
        </p:spPr>
        <p:txBody>
          <a:bodyPr wrap="square" lIns="0" rIns="0" tIns="0" bIns="0">
            <a:spAutoFit/>
          </a:bodyPr>
          <a:lstStyle/>
          <a:p>
            <a:pPr algn="l">
              <a:lnSpc>
                <a:spcPct val="101000"/>
              </a:lnSpc>
              <a:spcAft>
                <a:spcPts val="300"/>
              </a:spcAft>
              <a:defRPr sz="810" b="0">
                <a:solidFill>
                  <a:srgbClr val="5C6E83"/>
                </a:solidFill>
                <a:latin typeface="DejaVu Sans"/>
              </a:defRPr>
            </a:pPr>
            <a:r>
              <a:t>Guía de contacto y búsqueda de orientación</a:t>
            </a:r>
          </a:p>
        </p:txBody>
      </p:sp>
      <p:sp>
        <p:nvSpPr>
          <p:cNvPr id="14" name="Rounded Rectangle 13">
            <a:hlinkClick action="ppaction://hlinksldjump" r:id="rId6"/>
          </p:cNvPr>
          <p:cNvSpPr/>
          <p:nvPr/>
        </p:nvSpPr>
        <p:spPr>
          <a:xfrm>
            <a:off x="10469880" y="6400800"/>
            <a:ext cx="594360" cy="265176"/>
          </a:xfrm>
          <a:prstGeom prst="roundRect">
            <a:avLst>
              <a:gd name="adj" fmla="val 12000"/>
            </a:avLst>
          </a:prstGeom>
          <a:solidFill>
            <a:srgbClr val="F0E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a:hlinkClick action="ppaction://hlinksldjump" r:id="rId6"/>
          </p:cNvPr>
          <p:cNvSpPr txBox="1"/>
          <p:nvPr/>
        </p:nvSpPr>
        <p:spPr>
          <a:xfrm>
            <a:off x="10579607" y="6483096"/>
            <a:ext cx="374904" cy="173735"/>
          </a:xfrm>
          <a:prstGeom prst="rect">
            <a:avLst/>
          </a:prstGeom>
          <a:noFill/>
        </p:spPr>
        <p:txBody>
          <a:bodyPr wrap="square" lIns="0" rIns="0" tIns="0" bIns="0">
            <a:spAutoFit/>
          </a:bodyPr>
          <a:lstStyle/>
          <a:p>
            <a:pPr algn="l">
              <a:lnSpc>
                <a:spcPct val="101000"/>
              </a:lnSpc>
              <a:spcAft>
                <a:spcPts val="300"/>
              </a:spcAft>
              <a:defRPr sz="800" b="1">
                <a:solidFill>
                  <a:srgbClr val="8060BA"/>
                </a:solidFill>
                <a:latin typeface="DejaVu Sans"/>
              </a:defRPr>
            </a:pPr>
            <a:r>
              <a:t>Ruta</a:t>
            </a:r>
          </a:p>
        </p:txBody>
      </p:sp>
      <p:sp>
        <p:nvSpPr>
          <p:cNvPr id="16" name="TextBox 15"/>
          <p:cNvSpPr txBox="1"/>
          <p:nvPr/>
        </p:nvSpPr>
        <p:spPr>
          <a:xfrm>
            <a:off x="11228832" y="6400800"/>
            <a:ext cx="457200" cy="274320"/>
          </a:xfrm>
          <a:prstGeom prst="rect">
            <a:avLst/>
          </a:prstGeom>
          <a:noFill/>
        </p:spPr>
        <p:txBody>
          <a:bodyPr wrap="square" lIns="0" rIns="0" tIns="0" bIns="0">
            <a:spAutoFit/>
          </a:bodyPr>
          <a:lstStyle/>
          <a:p>
            <a:pPr algn="r">
              <a:lnSpc>
                <a:spcPct val="101000"/>
              </a:lnSpc>
              <a:spcAft>
                <a:spcPts val="300"/>
              </a:spcAft>
              <a:defRPr sz="1300" b="1">
                <a:solidFill>
                  <a:srgbClr val="203350"/>
                </a:solidFill>
                <a:latin typeface="DejaVu Sans"/>
              </a:defRPr>
            </a:pPr>
            <a:r>
              <a:t>07</a:t>
            </a:r>
          </a:p>
        </p:txBody>
      </p:sp>
      <p:sp>
        <p:nvSpPr>
          <p:cNvPr id="17" name="Rectangle 16"/>
          <p:cNvSpPr/>
          <p:nvPr/>
        </p:nvSpPr>
        <p:spPr>
          <a:xfrm>
            <a:off x="0" y="6821424"/>
            <a:ext cx="3282453" cy="36576"/>
          </a:xfrm>
          <a:prstGeom prst="rect">
            <a:avLst/>
          </a:prstGeom>
          <a:solidFill>
            <a:srgbClr val="137F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94360" y="2697480"/>
            <a:ext cx="2834640" cy="3246120"/>
          </a:xfrm>
          <a:prstGeom prst="roundRect">
            <a:avLst>
              <a:gd name="adj" fmla="val 12000"/>
            </a:avLst>
          </a:prstGeom>
          <a:solidFill>
            <a:srgbClr val="E2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icon_chat.png"/>
          <p:cNvPicPr>
            <a:picLocks noChangeAspect="1"/>
          </p:cNvPicPr>
          <p:nvPr/>
        </p:nvPicPr>
        <p:blipFill>
          <a:blip r:embed="rId8"/>
          <a:stretch>
            <a:fillRect/>
          </a:stretch>
        </p:blipFill>
        <p:spPr>
          <a:xfrm>
            <a:off x="1207008" y="3017520"/>
            <a:ext cx="1508760" cy="1508760"/>
          </a:xfrm>
          <a:prstGeom prst="rect">
            <a:avLst/>
          </a:prstGeom>
        </p:spPr>
      </p:pic>
      <p:sp>
        <p:nvSpPr>
          <p:cNvPr id="20" name="TextBox 19"/>
          <p:cNvSpPr txBox="1"/>
          <p:nvPr/>
        </p:nvSpPr>
        <p:spPr>
          <a:xfrm>
            <a:off x="923544" y="4846320"/>
            <a:ext cx="2157984" cy="758952"/>
          </a:xfrm>
          <a:prstGeom prst="rect">
            <a:avLst/>
          </a:prstGeom>
          <a:noFill/>
        </p:spPr>
        <p:txBody>
          <a:bodyPr wrap="square" lIns="0" rIns="0" tIns="0" bIns="0">
            <a:spAutoFit/>
          </a:bodyPr>
          <a:lstStyle/>
          <a:p>
            <a:pPr algn="ctr">
              <a:lnSpc>
                <a:spcPct val="101000"/>
              </a:lnSpc>
              <a:spcAft>
                <a:spcPts val="300"/>
              </a:spcAft>
              <a:defRPr sz="1900" b="0">
                <a:solidFill>
                  <a:srgbClr val="203350"/>
                </a:solidFill>
                <a:latin typeface="DejaVu Sans"/>
              </a:defRPr>
            </a:pPr>
            <a:r>
              <a:t>Un interés claro</a:t>
            </a:r>
          </a:p>
          <a:p>
            <a:pPr algn="ctr">
              <a:lnSpc>
                <a:spcPct val="101000"/>
              </a:lnSpc>
              <a:spcAft>
                <a:spcPts val="300"/>
              </a:spcAft>
              <a:defRPr sz="1900" b="0">
                <a:solidFill>
                  <a:srgbClr val="203350"/>
                </a:solidFill>
                <a:latin typeface="DejaVu Sans"/>
              </a:defRPr>
            </a:pPr>
            <a:r>
              <a:t>abre una conversación.</a:t>
            </a:r>
          </a:p>
        </p:txBody>
      </p:sp>
      <p:sp>
        <p:nvSpPr>
          <p:cNvPr id="21" name="Rounded Rectangle 20"/>
          <p:cNvSpPr/>
          <p:nvPr/>
        </p:nvSpPr>
        <p:spPr>
          <a:xfrm>
            <a:off x="3721608" y="2706624"/>
            <a:ext cx="7918704" cy="658368"/>
          </a:xfrm>
          <a:prstGeom prst="roundRect">
            <a:avLst>
              <a:gd name="adj" fmla="val 12000"/>
            </a:avLst>
          </a:prstGeom>
          <a:solidFill>
            <a:srgbClr val="FFFFFF"/>
          </a:solidFill>
          <a:ln w="16510">
            <a:solidFill>
              <a:srgbClr val="D3DE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922776" y="2871216"/>
            <a:ext cx="2560320" cy="365760"/>
          </a:xfrm>
          <a:prstGeom prst="rect">
            <a:avLst/>
          </a:prstGeom>
          <a:noFill/>
        </p:spPr>
        <p:txBody>
          <a:bodyPr wrap="square" lIns="0" rIns="0" tIns="0" bIns="0">
            <a:spAutoFit/>
          </a:bodyPr>
          <a:lstStyle/>
          <a:p>
            <a:pPr algn="l">
              <a:lnSpc>
                <a:spcPct val="101000"/>
              </a:lnSpc>
              <a:spcAft>
                <a:spcPts val="300"/>
              </a:spcAft>
              <a:defRPr sz="1800" b="1">
                <a:solidFill>
                  <a:srgbClr val="203350"/>
                </a:solidFill>
                <a:latin typeface="DejaVu Sans"/>
              </a:defRPr>
            </a:pPr>
            <a:r>
              <a:t>Me interesa…</a:t>
            </a:r>
          </a:p>
        </p:txBody>
      </p:sp>
      <p:sp>
        <p:nvSpPr>
          <p:cNvPr id="23" name="TextBox 22"/>
          <p:cNvSpPr txBox="1"/>
          <p:nvPr/>
        </p:nvSpPr>
        <p:spPr>
          <a:xfrm>
            <a:off x="6556248" y="2898648"/>
            <a:ext cx="4709160" cy="320040"/>
          </a:xfrm>
          <a:prstGeom prst="rect">
            <a:avLst/>
          </a:prstGeom>
          <a:noFill/>
        </p:spPr>
        <p:txBody>
          <a:bodyPr wrap="square" lIns="0" rIns="0" tIns="0" bIns="0">
            <a:spAutoFit/>
          </a:bodyPr>
          <a:lstStyle/>
          <a:p>
            <a:pPr algn="l">
              <a:lnSpc>
                <a:spcPct val="101000"/>
              </a:lnSpc>
              <a:spcAft>
                <a:spcPts val="300"/>
              </a:spcAft>
              <a:defRPr sz="1500" b="0">
                <a:solidFill>
                  <a:srgbClr val="5C6E83"/>
                </a:solidFill>
                <a:latin typeface="DejaVu Sans"/>
              </a:defRPr>
            </a:pPr>
            <a:r>
              <a:t>un tema que te da curiosidad</a:t>
            </a:r>
          </a:p>
        </p:txBody>
      </p:sp>
      <p:sp>
        <p:nvSpPr>
          <p:cNvPr id="24" name="Rounded Rectangle 23"/>
          <p:cNvSpPr/>
          <p:nvPr/>
        </p:nvSpPr>
        <p:spPr>
          <a:xfrm>
            <a:off x="3721608" y="3511296"/>
            <a:ext cx="7918704" cy="658368"/>
          </a:xfrm>
          <a:prstGeom prst="roundRect">
            <a:avLst>
              <a:gd name="adj" fmla="val 12000"/>
            </a:avLst>
          </a:prstGeom>
          <a:solidFill>
            <a:srgbClr val="FFFFFF"/>
          </a:solidFill>
          <a:ln w="16510">
            <a:solidFill>
              <a:srgbClr val="D3DE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922776" y="3675887"/>
            <a:ext cx="2560320" cy="365760"/>
          </a:xfrm>
          <a:prstGeom prst="rect">
            <a:avLst/>
          </a:prstGeom>
          <a:noFill/>
        </p:spPr>
        <p:txBody>
          <a:bodyPr wrap="square" lIns="0" rIns="0" tIns="0" bIns="0">
            <a:spAutoFit/>
          </a:bodyPr>
          <a:lstStyle/>
          <a:p>
            <a:pPr algn="l">
              <a:lnSpc>
                <a:spcPct val="101000"/>
              </a:lnSpc>
              <a:spcAft>
                <a:spcPts val="300"/>
              </a:spcAft>
              <a:defRPr sz="1800" b="1">
                <a:solidFill>
                  <a:srgbClr val="203350"/>
                </a:solidFill>
                <a:latin typeface="DejaVu Sans"/>
              </a:defRPr>
            </a:pPr>
            <a:r>
              <a:t>Observé o leí…</a:t>
            </a:r>
          </a:p>
        </p:txBody>
      </p:sp>
      <p:sp>
        <p:nvSpPr>
          <p:cNvPr id="26" name="TextBox 25"/>
          <p:cNvSpPr txBox="1"/>
          <p:nvPr/>
        </p:nvSpPr>
        <p:spPr>
          <a:xfrm>
            <a:off x="6556248" y="3703320"/>
            <a:ext cx="4709160" cy="320040"/>
          </a:xfrm>
          <a:prstGeom prst="rect">
            <a:avLst/>
          </a:prstGeom>
          <a:noFill/>
        </p:spPr>
        <p:txBody>
          <a:bodyPr wrap="square" lIns="0" rIns="0" tIns="0" bIns="0">
            <a:spAutoFit/>
          </a:bodyPr>
          <a:lstStyle/>
          <a:p>
            <a:pPr algn="l">
              <a:lnSpc>
                <a:spcPct val="101000"/>
              </a:lnSpc>
              <a:spcAft>
                <a:spcPts val="300"/>
              </a:spcAft>
              <a:defRPr sz="1500" b="0">
                <a:solidFill>
                  <a:srgbClr val="5C6E83"/>
                </a:solidFill>
                <a:latin typeface="DejaVu Sans"/>
              </a:defRPr>
            </a:pPr>
            <a:r>
              <a:t>una situación o un trabajo concreto</a:t>
            </a:r>
          </a:p>
        </p:txBody>
      </p:sp>
      <p:sp>
        <p:nvSpPr>
          <p:cNvPr id="27" name="Rounded Rectangle 26"/>
          <p:cNvSpPr/>
          <p:nvPr/>
        </p:nvSpPr>
        <p:spPr>
          <a:xfrm>
            <a:off x="3721608" y="4315968"/>
            <a:ext cx="7918704" cy="658368"/>
          </a:xfrm>
          <a:prstGeom prst="roundRect">
            <a:avLst>
              <a:gd name="adj" fmla="val 12000"/>
            </a:avLst>
          </a:prstGeom>
          <a:solidFill>
            <a:srgbClr val="FFFFFF"/>
          </a:solidFill>
          <a:ln w="16510">
            <a:solidFill>
              <a:srgbClr val="D3DE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922776" y="4480559"/>
            <a:ext cx="2560320" cy="365760"/>
          </a:xfrm>
          <a:prstGeom prst="rect">
            <a:avLst/>
          </a:prstGeom>
          <a:noFill/>
        </p:spPr>
        <p:txBody>
          <a:bodyPr wrap="square" lIns="0" rIns="0" tIns="0" bIns="0">
            <a:spAutoFit/>
          </a:bodyPr>
          <a:lstStyle/>
          <a:p>
            <a:pPr algn="l">
              <a:lnSpc>
                <a:spcPct val="101000"/>
              </a:lnSpc>
              <a:spcAft>
                <a:spcPts val="300"/>
              </a:spcAft>
              <a:defRPr sz="1800" b="1">
                <a:solidFill>
                  <a:srgbClr val="203350"/>
                </a:solidFill>
                <a:latin typeface="DejaVu Sans"/>
              </a:defRPr>
            </a:pPr>
            <a:r>
              <a:t>Quisiera entender…</a:t>
            </a:r>
          </a:p>
        </p:txBody>
      </p:sp>
      <p:sp>
        <p:nvSpPr>
          <p:cNvPr id="29" name="TextBox 28"/>
          <p:cNvSpPr txBox="1"/>
          <p:nvPr/>
        </p:nvSpPr>
        <p:spPr>
          <a:xfrm>
            <a:off x="6556248" y="4507992"/>
            <a:ext cx="4709160" cy="320040"/>
          </a:xfrm>
          <a:prstGeom prst="rect">
            <a:avLst/>
          </a:prstGeom>
          <a:noFill/>
        </p:spPr>
        <p:txBody>
          <a:bodyPr wrap="square" lIns="0" rIns="0" tIns="0" bIns="0">
            <a:spAutoFit/>
          </a:bodyPr>
          <a:lstStyle/>
          <a:p>
            <a:pPr algn="l">
              <a:lnSpc>
                <a:spcPct val="101000"/>
              </a:lnSpc>
              <a:spcAft>
                <a:spcPts val="300"/>
              </a:spcAft>
              <a:defRPr sz="1500" b="0">
                <a:solidFill>
                  <a:srgbClr val="5C6E83"/>
                </a:solidFill>
                <a:latin typeface="DejaVu Sans"/>
              </a:defRPr>
            </a:pPr>
            <a:r>
              <a:t>una pregunta inicial</a:t>
            </a:r>
          </a:p>
        </p:txBody>
      </p:sp>
      <p:sp>
        <p:nvSpPr>
          <p:cNvPr id="30" name="Rounded Rectangle 29"/>
          <p:cNvSpPr/>
          <p:nvPr/>
        </p:nvSpPr>
        <p:spPr>
          <a:xfrm>
            <a:off x="3721608" y="5321808"/>
            <a:ext cx="7918704" cy="630936"/>
          </a:xfrm>
          <a:prstGeom prst="roundRect">
            <a:avLst>
              <a:gd name="adj" fmla="val 12000"/>
            </a:avLst>
          </a:prstGeom>
          <a:solidFill>
            <a:srgbClr val="F0E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931920" y="5477256"/>
            <a:ext cx="7498079" cy="384048"/>
          </a:xfrm>
          <a:prstGeom prst="rect">
            <a:avLst/>
          </a:prstGeom>
          <a:noFill/>
        </p:spPr>
        <p:txBody>
          <a:bodyPr wrap="square" lIns="0" rIns="0" tIns="0" bIns="0">
            <a:spAutoFit/>
          </a:bodyPr>
          <a:lstStyle/>
          <a:p>
            <a:pPr algn="l">
              <a:lnSpc>
                <a:spcPct val="101000"/>
              </a:lnSpc>
              <a:spcAft>
                <a:spcPts val="300"/>
              </a:spcAft>
              <a:defRPr sz="1700" b="0">
                <a:solidFill>
                  <a:srgbClr val="203350"/>
                </a:solidFill>
                <a:latin typeface="DejaVu Sans"/>
              </a:defRPr>
            </a:pPr>
            <a:r>
              <a:t>¿Podría orientarme para empezar con una actividad pequeña?</a:t>
            </a:r>
          </a:p>
        </p:txBody>
      </p:sp>
    </p:spTree>
  </p:cSld>
  <p:clrMapOvr>
    <a:masterClrMapping/>
  </p:clrMapOvr>
  <p:transition advClick="1">
    <p:fade/>
  </p:transition>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9FBFF"/>
        </a:solidFill>
        <a:effectLst/>
      </p:bgPr>
    </p:bg>
    <p:spTree>
      <p:nvGrpSpPr>
        <p:cNvPr id="1" name=""/>
        <p:cNvGrpSpPr/>
        <p:nvPr/>
      </p:nvGrpSpPr>
      <p:grpSpPr/>
      <p:sp>
        <p:nvSpPr>
          <p:cNvPr id="2" name="TextBox 1"/>
          <p:cNvSpPr txBox="1"/>
          <p:nvPr/>
        </p:nvSpPr>
        <p:spPr>
          <a:xfrm>
            <a:off x="548640" y="365760"/>
            <a:ext cx="7543800" cy="274320"/>
          </a:xfrm>
          <a:prstGeom prst="rect">
            <a:avLst/>
          </a:prstGeom>
          <a:noFill/>
        </p:spPr>
        <p:txBody>
          <a:bodyPr wrap="square" lIns="0" rIns="0" tIns="0" bIns="0">
            <a:spAutoFit/>
          </a:bodyPr>
          <a:lstStyle/>
          <a:p>
            <a:pPr algn="l">
              <a:lnSpc>
                <a:spcPct val="101000"/>
              </a:lnSpc>
              <a:spcAft>
                <a:spcPts val="300"/>
              </a:spcAft>
              <a:defRPr sz="930" b="1">
                <a:solidFill>
                  <a:srgbClr val="A85E20"/>
                </a:solidFill>
                <a:latin typeface="DejaVu Sans"/>
              </a:defRPr>
            </a:pPr>
            <a:r>
              <a:t>EXPERIENCIA QUE ILUSTRA LA IDEA · 1 DE 2</a:t>
            </a:r>
          </a:p>
        </p:txBody>
      </p:sp>
      <p:sp>
        <p:nvSpPr>
          <p:cNvPr id="3" name="Rounded Rectangle 2">
            <a:hlinkClick action="ppaction://hlinksldjump" r:id="rId2"/>
          </p:cNvPr>
          <p:cNvSpPr/>
          <p:nvPr/>
        </p:nvSpPr>
        <p:spPr>
          <a:xfrm>
            <a:off x="8229600" y="310896"/>
            <a:ext cx="795528" cy="310896"/>
          </a:xfrm>
          <a:prstGeom prst="roundRect">
            <a:avLst>
              <a:gd name="adj" fmla="val 12000"/>
            </a:avLst>
          </a:prstGeom>
          <a:solidFill>
            <a:srgbClr val="E2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a:hlinkClick action="ppaction://hlinksldjump" r:id="rId2"/>
          </p:cNvPr>
          <p:cNvSpPr txBox="1"/>
          <p:nvPr/>
        </p:nvSpPr>
        <p:spPr>
          <a:xfrm>
            <a:off x="8339327"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Explorar</a:t>
            </a:r>
          </a:p>
        </p:txBody>
      </p:sp>
      <p:sp>
        <p:nvSpPr>
          <p:cNvPr id="5" name="Rounded Rectangle 4">
            <a:hlinkClick action="ppaction://hlinksldjump" r:id="rId3"/>
          </p:cNvPr>
          <p:cNvSpPr/>
          <p:nvPr/>
        </p:nvSpPr>
        <p:spPr>
          <a:xfrm>
            <a:off x="9089136" y="310896"/>
            <a:ext cx="795528" cy="310896"/>
          </a:xfrm>
          <a:prstGeom prst="roundRect">
            <a:avLst>
              <a:gd name="adj" fmla="val 12000"/>
            </a:avLst>
          </a:prstGeom>
          <a:solidFill>
            <a:srgbClr val="F0E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a:hlinkClick action="ppaction://hlinksldjump" r:id="rId3"/>
          </p:cNvPr>
          <p:cNvSpPr txBox="1"/>
          <p:nvPr/>
        </p:nvSpPr>
        <p:spPr>
          <a:xfrm>
            <a:off x="9198863"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Diseñar</a:t>
            </a:r>
          </a:p>
        </p:txBody>
      </p:sp>
      <p:sp>
        <p:nvSpPr>
          <p:cNvPr id="7" name="Rounded Rectangle 6">
            <a:hlinkClick action="ppaction://hlinksldjump" r:id="rId4"/>
          </p:cNvPr>
          <p:cNvSpPr/>
          <p:nvPr/>
        </p:nvSpPr>
        <p:spPr>
          <a:xfrm>
            <a:off x="9948672" y="310896"/>
            <a:ext cx="795528" cy="310896"/>
          </a:xfrm>
          <a:prstGeom prst="roundRect">
            <a:avLst>
              <a:gd name="adj" fmla="val 12000"/>
            </a:avLst>
          </a:prstGeom>
          <a:solidFill>
            <a:srgbClr val="FFF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a:hlinkClick action="ppaction://hlinksldjump" r:id="rId4"/>
          </p:cNvPr>
          <p:cNvSpPr txBox="1"/>
          <p:nvPr/>
        </p:nvSpPr>
        <p:spPr>
          <a:xfrm>
            <a:off x="10058399"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Servir</a:t>
            </a:r>
          </a:p>
        </p:txBody>
      </p:sp>
      <p:sp>
        <p:nvSpPr>
          <p:cNvPr id="9" name="Rounded Rectangle 8">
            <a:hlinkClick action="ppaction://hlinksldjump" r:id="rId5"/>
          </p:cNvPr>
          <p:cNvSpPr/>
          <p:nvPr/>
        </p:nvSpPr>
        <p:spPr>
          <a:xfrm>
            <a:off x="10808208" y="310896"/>
            <a:ext cx="795528" cy="310896"/>
          </a:xfrm>
          <a:prstGeom prst="roundRect">
            <a:avLst>
              <a:gd name="adj" fmla="val 12000"/>
            </a:avLst>
          </a:prstGeom>
          <a:solidFill>
            <a:srgbClr val="E9F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a:hlinkClick action="ppaction://hlinksldjump" r:id="rId5"/>
          </p:cNvPr>
          <p:cNvSpPr txBox="1"/>
          <p:nvPr/>
        </p:nvSpPr>
        <p:spPr>
          <a:xfrm>
            <a:off x="10917936"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Empezar</a:t>
            </a:r>
          </a:p>
        </p:txBody>
      </p:sp>
      <p:sp>
        <p:nvSpPr>
          <p:cNvPr id="11" name="TextBox 10"/>
          <p:cNvSpPr txBox="1"/>
          <p:nvPr/>
        </p:nvSpPr>
        <p:spPr>
          <a:xfrm>
            <a:off x="548640" y="877824"/>
            <a:ext cx="11064240" cy="1234440"/>
          </a:xfrm>
          <a:prstGeom prst="rect">
            <a:avLst/>
          </a:prstGeom>
          <a:noFill/>
        </p:spPr>
        <p:txBody>
          <a:bodyPr wrap="square" lIns="0" rIns="0" tIns="0" bIns="0">
            <a:spAutoFit/>
          </a:bodyPr>
          <a:lstStyle/>
          <a:p>
            <a:pPr algn="l">
              <a:lnSpc>
                <a:spcPct val="101000"/>
              </a:lnSpc>
              <a:spcAft>
                <a:spcPts val="300"/>
              </a:spcAft>
              <a:defRPr sz="3900" b="1">
                <a:solidFill>
                  <a:srgbClr val="203350"/>
                </a:solidFill>
                <a:latin typeface="DejaVu Sans"/>
              </a:defRPr>
            </a:pPr>
            <a:r>
              <a:t>Loja: una pregunta de agua,</a:t>
            </a:r>
          </a:p>
          <a:p>
            <a:pPr algn="l">
              <a:lnSpc>
                <a:spcPct val="101000"/>
              </a:lnSpc>
              <a:spcAft>
                <a:spcPts val="300"/>
              </a:spcAft>
              <a:defRPr sz="3900" b="1">
                <a:solidFill>
                  <a:srgbClr val="203350"/>
                </a:solidFill>
                <a:latin typeface="DejaVu Sans"/>
              </a:defRPr>
            </a:pPr>
            <a:r>
              <a:t>un trabajo con personas</a:t>
            </a:r>
          </a:p>
        </p:txBody>
      </p:sp>
      <p:sp>
        <p:nvSpPr>
          <p:cNvPr id="12" name="TextBox 11"/>
          <p:cNvSpPr txBox="1"/>
          <p:nvPr/>
        </p:nvSpPr>
        <p:spPr>
          <a:xfrm>
            <a:off x="566928" y="2112264"/>
            <a:ext cx="10972800" cy="365760"/>
          </a:xfrm>
          <a:prstGeom prst="rect">
            <a:avLst/>
          </a:prstGeom>
          <a:noFill/>
        </p:spPr>
        <p:txBody>
          <a:bodyPr wrap="square" lIns="0" rIns="0" tIns="0" bIns="0">
            <a:spAutoFit/>
          </a:bodyPr>
          <a:lstStyle/>
          <a:p>
            <a:pPr algn="l">
              <a:lnSpc>
                <a:spcPct val="101000"/>
              </a:lnSpc>
              <a:spcAft>
                <a:spcPts val="300"/>
              </a:spcAft>
              <a:defRPr sz="1450" b="0">
                <a:solidFill>
                  <a:srgbClr val="5C6E83"/>
                </a:solidFill>
                <a:latin typeface="DejaVu Sans"/>
              </a:defRPr>
            </a:pPr>
            <a:r>
              <a:t>STARS · Calvas · Bellamaría, Guara y Chaquizca</a:t>
            </a:r>
          </a:p>
        </p:txBody>
      </p:sp>
      <p:sp>
        <p:nvSpPr>
          <p:cNvPr id="13" name="TextBox 12"/>
          <p:cNvSpPr txBox="1"/>
          <p:nvPr/>
        </p:nvSpPr>
        <p:spPr>
          <a:xfrm>
            <a:off x="548640" y="6446520"/>
            <a:ext cx="9966960" cy="210312"/>
          </a:xfrm>
          <a:prstGeom prst="rect">
            <a:avLst/>
          </a:prstGeom>
          <a:noFill/>
        </p:spPr>
        <p:txBody>
          <a:bodyPr wrap="square" lIns="0" rIns="0" tIns="0" bIns="0">
            <a:spAutoFit/>
          </a:bodyPr>
          <a:lstStyle/>
          <a:p>
            <a:pPr algn="l">
              <a:lnSpc>
                <a:spcPct val="101000"/>
              </a:lnSpc>
              <a:spcAft>
                <a:spcPts val="300"/>
              </a:spcAft>
              <a:defRPr sz="810" b="0">
                <a:solidFill>
                  <a:srgbClr val="5C6E83"/>
                </a:solidFill>
                <a:latin typeface="DejaVu Sans"/>
              </a:defRPr>
            </a:pPr>
            <a:r>
              <a:t>DS_Agua_Loja_2025, diaps. 2 y 13–16; CV, experiencia STARS</a:t>
            </a:r>
          </a:p>
        </p:txBody>
      </p:sp>
      <p:sp>
        <p:nvSpPr>
          <p:cNvPr id="14" name="Rounded Rectangle 13">
            <a:hlinkClick action="ppaction://hlinksldjump" r:id="rId6"/>
          </p:cNvPr>
          <p:cNvSpPr/>
          <p:nvPr/>
        </p:nvSpPr>
        <p:spPr>
          <a:xfrm>
            <a:off x="10469880" y="6400800"/>
            <a:ext cx="594360" cy="265176"/>
          </a:xfrm>
          <a:prstGeom prst="roundRect">
            <a:avLst>
              <a:gd name="adj" fmla="val 12000"/>
            </a:avLst>
          </a:prstGeom>
          <a:solidFill>
            <a:srgbClr val="F0E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a:hlinkClick action="ppaction://hlinksldjump" r:id="rId6"/>
          </p:cNvPr>
          <p:cNvSpPr txBox="1"/>
          <p:nvPr/>
        </p:nvSpPr>
        <p:spPr>
          <a:xfrm>
            <a:off x="10579607" y="6483096"/>
            <a:ext cx="374904" cy="173735"/>
          </a:xfrm>
          <a:prstGeom prst="rect">
            <a:avLst/>
          </a:prstGeom>
          <a:noFill/>
        </p:spPr>
        <p:txBody>
          <a:bodyPr wrap="square" lIns="0" rIns="0" tIns="0" bIns="0">
            <a:spAutoFit/>
          </a:bodyPr>
          <a:lstStyle/>
          <a:p>
            <a:pPr algn="l">
              <a:lnSpc>
                <a:spcPct val="101000"/>
              </a:lnSpc>
              <a:spcAft>
                <a:spcPts val="300"/>
              </a:spcAft>
              <a:defRPr sz="800" b="1">
                <a:solidFill>
                  <a:srgbClr val="8060BA"/>
                </a:solidFill>
                <a:latin typeface="DejaVu Sans"/>
              </a:defRPr>
            </a:pPr>
            <a:r>
              <a:t>Ruta</a:t>
            </a:r>
          </a:p>
        </p:txBody>
      </p:sp>
      <p:sp>
        <p:nvSpPr>
          <p:cNvPr id="16" name="TextBox 15"/>
          <p:cNvSpPr txBox="1"/>
          <p:nvPr/>
        </p:nvSpPr>
        <p:spPr>
          <a:xfrm>
            <a:off x="11228832" y="6400800"/>
            <a:ext cx="457200" cy="274320"/>
          </a:xfrm>
          <a:prstGeom prst="rect">
            <a:avLst/>
          </a:prstGeom>
          <a:noFill/>
        </p:spPr>
        <p:txBody>
          <a:bodyPr wrap="square" lIns="0" rIns="0" tIns="0" bIns="0">
            <a:spAutoFit/>
          </a:bodyPr>
          <a:lstStyle/>
          <a:p>
            <a:pPr algn="r">
              <a:lnSpc>
                <a:spcPct val="101000"/>
              </a:lnSpc>
              <a:spcAft>
                <a:spcPts val="300"/>
              </a:spcAft>
              <a:defRPr sz="1300" b="1">
                <a:solidFill>
                  <a:srgbClr val="203350"/>
                </a:solidFill>
                <a:latin typeface="DejaVu Sans"/>
              </a:defRPr>
            </a:pPr>
            <a:r>
              <a:t>08</a:t>
            </a:r>
          </a:p>
        </p:txBody>
      </p:sp>
      <p:sp>
        <p:nvSpPr>
          <p:cNvPr id="17" name="Rectangle 16"/>
          <p:cNvSpPr/>
          <p:nvPr/>
        </p:nvSpPr>
        <p:spPr>
          <a:xfrm>
            <a:off x="0" y="6821424"/>
            <a:ext cx="3751375" cy="36576"/>
          </a:xfrm>
          <a:prstGeom prst="rect">
            <a:avLst/>
          </a:prstGeom>
          <a:solidFill>
            <a:srgbClr val="A8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loja.png"/>
          <p:cNvPicPr>
            <a:picLocks noChangeAspect="1"/>
          </p:cNvPicPr>
          <p:nvPr/>
        </p:nvPicPr>
        <p:blipFill>
          <a:blip r:embed="rId8"/>
          <a:stretch>
            <a:fillRect/>
          </a:stretch>
        </p:blipFill>
        <p:spPr>
          <a:xfrm>
            <a:off x="548640" y="2606040"/>
            <a:ext cx="11109960" cy="3273552"/>
          </a:xfrm>
          <a:prstGeom prst="rect">
            <a:avLst/>
          </a:prstGeom>
        </p:spPr>
      </p:pic>
      <p:sp>
        <p:nvSpPr>
          <p:cNvPr id="19" name="TextBox 18"/>
          <p:cNvSpPr txBox="1"/>
          <p:nvPr/>
        </p:nvSpPr>
        <p:spPr>
          <a:xfrm>
            <a:off x="640080" y="6016752"/>
            <a:ext cx="10881360" cy="292608"/>
          </a:xfrm>
          <a:prstGeom prst="rect">
            <a:avLst/>
          </a:prstGeom>
          <a:noFill/>
        </p:spPr>
        <p:txBody>
          <a:bodyPr wrap="square" lIns="0" rIns="0" tIns="0" bIns="0">
            <a:spAutoFit/>
          </a:bodyPr>
          <a:lstStyle/>
          <a:p>
            <a:pPr algn="l">
              <a:lnSpc>
                <a:spcPct val="101000"/>
              </a:lnSpc>
              <a:spcAft>
                <a:spcPts val="300"/>
              </a:spcAft>
              <a:defRPr sz="1100" b="0">
                <a:solidFill>
                  <a:srgbClr val="5C6E83"/>
                </a:solidFill>
                <a:latin typeface="DejaVu Sans"/>
              </a:defRPr>
            </a:pPr>
            <a:r>
              <a:t>Aprendizaje: coordinar personas, cuidar registros y conectar técnica con contexto.</a:t>
            </a:r>
          </a:p>
        </p:txBody>
      </p:sp>
    </p:spTree>
  </p:cSld>
  <p:clrMapOvr>
    <a:masterClrMapping/>
  </p:clrMapOvr>
  <p:transition advClick="1">
    <p:fade/>
  </p:transition>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9FBFF"/>
        </a:solidFill>
        <a:effectLst/>
      </p:bgPr>
    </p:bg>
    <p:spTree>
      <p:nvGrpSpPr>
        <p:cNvPr id="1" name=""/>
        <p:cNvGrpSpPr/>
        <p:nvPr/>
      </p:nvGrpSpPr>
      <p:grpSpPr/>
      <p:sp>
        <p:nvSpPr>
          <p:cNvPr id="2" name="TextBox 1"/>
          <p:cNvSpPr txBox="1"/>
          <p:nvPr/>
        </p:nvSpPr>
        <p:spPr>
          <a:xfrm>
            <a:off x="548640" y="365760"/>
            <a:ext cx="7543800" cy="274320"/>
          </a:xfrm>
          <a:prstGeom prst="rect">
            <a:avLst/>
          </a:prstGeom>
          <a:noFill/>
        </p:spPr>
        <p:txBody>
          <a:bodyPr wrap="square" lIns="0" rIns="0" tIns="0" bIns="0">
            <a:spAutoFit/>
          </a:bodyPr>
          <a:lstStyle/>
          <a:p>
            <a:pPr algn="l">
              <a:lnSpc>
                <a:spcPct val="101000"/>
              </a:lnSpc>
              <a:spcAft>
                <a:spcPts val="300"/>
              </a:spcAft>
              <a:defRPr sz="930" b="1">
                <a:solidFill>
                  <a:srgbClr val="A85E20"/>
                </a:solidFill>
                <a:latin typeface="DejaVu Sans"/>
              </a:defRPr>
            </a:pPr>
            <a:r>
              <a:t>ESPACIO PARA TUS FOTOS</a:t>
            </a:r>
          </a:p>
        </p:txBody>
      </p:sp>
      <p:sp>
        <p:nvSpPr>
          <p:cNvPr id="3" name="Rounded Rectangle 2">
            <a:hlinkClick action="ppaction://hlinksldjump" r:id="rId2"/>
          </p:cNvPr>
          <p:cNvSpPr/>
          <p:nvPr/>
        </p:nvSpPr>
        <p:spPr>
          <a:xfrm>
            <a:off x="8229600" y="310896"/>
            <a:ext cx="795528" cy="310896"/>
          </a:xfrm>
          <a:prstGeom prst="roundRect">
            <a:avLst>
              <a:gd name="adj" fmla="val 12000"/>
            </a:avLst>
          </a:prstGeom>
          <a:solidFill>
            <a:srgbClr val="E2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a:hlinkClick action="ppaction://hlinksldjump" r:id="rId2"/>
          </p:cNvPr>
          <p:cNvSpPr txBox="1"/>
          <p:nvPr/>
        </p:nvSpPr>
        <p:spPr>
          <a:xfrm>
            <a:off x="8339327"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Explorar</a:t>
            </a:r>
          </a:p>
        </p:txBody>
      </p:sp>
      <p:sp>
        <p:nvSpPr>
          <p:cNvPr id="5" name="Rounded Rectangle 4">
            <a:hlinkClick action="ppaction://hlinksldjump" r:id="rId3"/>
          </p:cNvPr>
          <p:cNvSpPr/>
          <p:nvPr/>
        </p:nvSpPr>
        <p:spPr>
          <a:xfrm>
            <a:off x="9089136" y="310896"/>
            <a:ext cx="795528" cy="310896"/>
          </a:xfrm>
          <a:prstGeom prst="roundRect">
            <a:avLst>
              <a:gd name="adj" fmla="val 12000"/>
            </a:avLst>
          </a:prstGeom>
          <a:solidFill>
            <a:srgbClr val="F0E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a:hlinkClick action="ppaction://hlinksldjump" r:id="rId3"/>
          </p:cNvPr>
          <p:cNvSpPr txBox="1"/>
          <p:nvPr/>
        </p:nvSpPr>
        <p:spPr>
          <a:xfrm>
            <a:off x="9198863"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Diseñar</a:t>
            </a:r>
          </a:p>
        </p:txBody>
      </p:sp>
      <p:sp>
        <p:nvSpPr>
          <p:cNvPr id="7" name="Rounded Rectangle 6">
            <a:hlinkClick action="ppaction://hlinksldjump" r:id="rId4"/>
          </p:cNvPr>
          <p:cNvSpPr/>
          <p:nvPr/>
        </p:nvSpPr>
        <p:spPr>
          <a:xfrm>
            <a:off x="9948672" y="310896"/>
            <a:ext cx="795528" cy="310896"/>
          </a:xfrm>
          <a:prstGeom prst="roundRect">
            <a:avLst>
              <a:gd name="adj" fmla="val 12000"/>
            </a:avLst>
          </a:prstGeom>
          <a:solidFill>
            <a:srgbClr val="FFF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a:hlinkClick action="ppaction://hlinksldjump" r:id="rId4"/>
          </p:cNvPr>
          <p:cNvSpPr txBox="1"/>
          <p:nvPr/>
        </p:nvSpPr>
        <p:spPr>
          <a:xfrm>
            <a:off x="10058399"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Servir</a:t>
            </a:r>
          </a:p>
        </p:txBody>
      </p:sp>
      <p:sp>
        <p:nvSpPr>
          <p:cNvPr id="9" name="Rounded Rectangle 8">
            <a:hlinkClick action="ppaction://hlinksldjump" r:id="rId5"/>
          </p:cNvPr>
          <p:cNvSpPr/>
          <p:nvPr/>
        </p:nvSpPr>
        <p:spPr>
          <a:xfrm>
            <a:off x="10808208" y="310896"/>
            <a:ext cx="795528" cy="310896"/>
          </a:xfrm>
          <a:prstGeom prst="roundRect">
            <a:avLst>
              <a:gd name="adj" fmla="val 12000"/>
            </a:avLst>
          </a:prstGeom>
          <a:solidFill>
            <a:srgbClr val="E9F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a:hlinkClick action="ppaction://hlinksldjump" r:id="rId5"/>
          </p:cNvPr>
          <p:cNvSpPr txBox="1"/>
          <p:nvPr/>
        </p:nvSpPr>
        <p:spPr>
          <a:xfrm>
            <a:off x="10917936"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Empezar</a:t>
            </a:r>
          </a:p>
        </p:txBody>
      </p:sp>
      <p:sp>
        <p:nvSpPr>
          <p:cNvPr id="11" name="TextBox 10"/>
          <p:cNvSpPr txBox="1"/>
          <p:nvPr/>
        </p:nvSpPr>
        <p:spPr>
          <a:xfrm>
            <a:off x="548640" y="877824"/>
            <a:ext cx="11064240" cy="1234440"/>
          </a:xfrm>
          <a:prstGeom prst="rect">
            <a:avLst/>
          </a:prstGeom>
          <a:noFill/>
        </p:spPr>
        <p:txBody>
          <a:bodyPr wrap="square" lIns="0" rIns="0" tIns="0" bIns="0">
            <a:spAutoFit/>
          </a:bodyPr>
          <a:lstStyle/>
          <a:p>
            <a:pPr algn="l">
              <a:lnSpc>
                <a:spcPct val="101000"/>
              </a:lnSpc>
              <a:spcAft>
                <a:spcPts val="300"/>
              </a:spcAft>
              <a:defRPr sz="3900" b="1">
                <a:solidFill>
                  <a:srgbClr val="203350"/>
                </a:solidFill>
                <a:latin typeface="DejaVu Sans"/>
              </a:defRPr>
            </a:pPr>
            <a:r>
              <a:t>El proyecto tiene</a:t>
            </a:r>
          </a:p>
          <a:p>
            <a:pPr algn="l">
              <a:lnSpc>
                <a:spcPct val="101000"/>
              </a:lnSpc>
              <a:spcAft>
                <a:spcPts val="300"/>
              </a:spcAft>
              <a:defRPr sz="3900" b="1">
                <a:solidFill>
                  <a:srgbClr val="203350"/>
                </a:solidFill>
                <a:latin typeface="DejaVu Sans"/>
              </a:defRPr>
            </a:pPr>
            <a:r>
              <a:t>rostros y lugares</a:t>
            </a:r>
          </a:p>
        </p:txBody>
      </p:sp>
      <p:sp>
        <p:nvSpPr>
          <p:cNvPr id="12" name="TextBox 11"/>
          <p:cNvSpPr txBox="1"/>
          <p:nvPr/>
        </p:nvSpPr>
        <p:spPr>
          <a:xfrm>
            <a:off x="566928" y="2112264"/>
            <a:ext cx="10972800" cy="365760"/>
          </a:xfrm>
          <a:prstGeom prst="rect">
            <a:avLst/>
          </a:prstGeom>
          <a:noFill/>
        </p:spPr>
        <p:txBody>
          <a:bodyPr wrap="square" lIns="0" rIns="0" tIns="0" bIns="0">
            <a:spAutoFit/>
          </a:bodyPr>
          <a:lstStyle/>
          <a:p>
            <a:pPr algn="l">
              <a:lnSpc>
                <a:spcPct val="101000"/>
              </a:lnSpc>
              <a:spcAft>
                <a:spcPts val="300"/>
              </a:spcAft>
              <a:defRPr sz="1450" b="0">
                <a:solidFill>
                  <a:srgbClr val="5C6E83"/>
                </a:solidFill>
                <a:latin typeface="DejaVu Sans"/>
              </a:defRPr>
            </a:pPr>
            <a:r>
              <a:t>Galería reservada · experiencia Loja</a:t>
            </a:r>
          </a:p>
        </p:txBody>
      </p:sp>
      <p:sp>
        <p:nvSpPr>
          <p:cNvPr id="13" name="TextBox 12"/>
          <p:cNvSpPr txBox="1"/>
          <p:nvPr/>
        </p:nvSpPr>
        <p:spPr>
          <a:xfrm>
            <a:off x="548640" y="6446520"/>
            <a:ext cx="9966960" cy="210312"/>
          </a:xfrm>
          <a:prstGeom prst="rect">
            <a:avLst/>
          </a:prstGeom>
          <a:noFill/>
        </p:spPr>
        <p:txBody>
          <a:bodyPr wrap="square" lIns="0" rIns="0" tIns="0" bIns="0">
            <a:spAutoFit/>
          </a:bodyPr>
          <a:lstStyle/>
          <a:p>
            <a:pPr algn="l">
              <a:lnSpc>
                <a:spcPct val="101000"/>
              </a:lnSpc>
              <a:spcAft>
                <a:spcPts val="300"/>
              </a:spcAft>
              <a:defRPr sz="810" b="0">
                <a:solidFill>
                  <a:srgbClr val="5C6E83"/>
                </a:solidFill>
                <a:latin typeface="DejaVu Sans"/>
              </a:defRPr>
            </a:pPr>
            <a:r>
              <a:t>Añade fotografías propias que quieras compartir en clase</a:t>
            </a:r>
          </a:p>
        </p:txBody>
      </p:sp>
      <p:sp>
        <p:nvSpPr>
          <p:cNvPr id="14" name="Rounded Rectangle 13">
            <a:hlinkClick action="ppaction://hlinksldjump" r:id="rId6"/>
          </p:cNvPr>
          <p:cNvSpPr/>
          <p:nvPr/>
        </p:nvSpPr>
        <p:spPr>
          <a:xfrm>
            <a:off x="10469880" y="6400800"/>
            <a:ext cx="594360" cy="265176"/>
          </a:xfrm>
          <a:prstGeom prst="roundRect">
            <a:avLst>
              <a:gd name="adj" fmla="val 12000"/>
            </a:avLst>
          </a:prstGeom>
          <a:solidFill>
            <a:srgbClr val="F0E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a:hlinkClick action="ppaction://hlinksldjump" r:id="rId6"/>
          </p:cNvPr>
          <p:cNvSpPr txBox="1"/>
          <p:nvPr/>
        </p:nvSpPr>
        <p:spPr>
          <a:xfrm>
            <a:off x="10579607" y="6483096"/>
            <a:ext cx="374904" cy="173735"/>
          </a:xfrm>
          <a:prstGeom prst="rect">
            <a:avLst/>
          </a:prstGeom>
          <a:noFill/>
        </p:spPr>
        <p:txBody>
          <a:bodyPr wrap="square" lIns="0" rIns="0" tIns="0" bIns="0">
            <a:spAutoFit/>
          </a:bodyPr>
          <a:lstStyle/>
          <a:p>
            <a:pPr algn="l">
              <a:lnSpc>
                <a:spcPct val="101000"/>
              </a:lnSpc>
              <a:spcAft>
                <a:spcPts val="300"/>
              </a:spcAft>
              <a:defRPr sz="800" b="1">
                <a:solidFill>
                  <a:srgbClr val="8060BA"/>
                </a:solidFill>
                <a:latin typeface="DejaVu Sans"/>
              </a:defRPr>
            </a:pPr>
            <a:r>
              <a:t>Ruta</a:t>
            </a:r>
          </a:p>
        </p:txBody>
      </p:sp>
      <p:sp>
        <p:nvSpPr>
          <p:cNvPr id="16" name="TextBox 15"/>
          <p:cNvSpPr txBox="1"/>
          <p:nvPr/>
        </p:nvSpPr>
        <p:spPr>
          <a:xfrm>
            <a:off x="11228832" y="6400800"/>
            <a:ext cx="457200" cy="274320"/>
          </a:xfrm>
          <a:prstGeom prst="rect">
            <a:avLst/>
          </a:prstGeom>
          <a:noFill/>
        </p:spPr>
        <p:txBody>
          <a:bodyPr wrap="square" lIns="0" rIns="0" tIns="0" bIns="0">
            <a:spAutoFit/>
          </a:bodyPr>
          <a:lstStyle/>
          <a:p>
            <a:pPr algn="r">
              <a:lnSpc>
                <a:spcPct val="101000"/>
              </a:lnSpc>
              <a:spcAft>
                <a:spcPts val="300"/>
              </a:spcAft>
              <a:defRPr sz="1300" b="1">
                <a:solidFill>
                  <a:srgbClr val="203350"/>
                </a:solidFill>
                <a:latin typeface="DejaVu Sans"/>
              </a:defRPr>
            </a:pPr>
            <a:r>
              <a:t>09</a:t>
            </a:r>
          </a:p>
        </p:txBody>
      </p:sp>
      <p:sp>
        <p:nvSpPr>
          <p:cNvPr id="17" name="Rectangle 16"/>
          <p:cNvSpPr/>
          <p:nvPr/>
        </p:nvSpPr>
        <p:spPr>
          <a:xfrm>
            <a:off x="0" y="6821424"/>
            <a:ext cx="4220297" cy="36576"/>
          </a:xfrm>
          <a:prstGeom prst="rect">
            <a:avLst/>
          </a:prstGeom>
          <a:solidFill>
            <a:srgbClr val="A8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94360" y="2724912"/>
            <a:ext cx="3602736" cy="2670048"/>
          </a:xfrm>
          <a:prstGeom prst="roundRect">
            <a:avLst>
              <a:gd name="adj" fmla="val 12000"/>
            </a:avLst>
          </a:prstGeom>
          <a:solidFill>
            <a:srgbClr val="F0E7FC"/>
          </a:solidFill>
          <a:ln w="16510">
            <a:solidFill>
              <a:srgbClr val="B8C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938528" y="3374136"/>
            <a:ext cx="822960" cy="594360"/>
          </a:xfrm>
          <a:prstGeom prst="rect">
            <a:avLst/>
          </a:prstGeom>
          <a:noFill/>
        </p:spPr>
        <p:txBody>
          <a:bodyPr wrap="square" lIns="0" rIns="0" tIns="0" bIns="0">
            <a:spAutoFit/>
          </a:bodyPr>
          <a:lstStyle/>
          <a:p>
            <a:pPr algn="ctr">
              <a:lnSpc>
                <a:spcPct val="101000"/>
              </a:lnSpc>
              <a:spcAft>
                <a:spcPts val="300"/>
              </a:spcAft>
              <a:defRPr sz="5200" b="0">
                <a:solidFill>
                  <a:srgbClr val="8060BA"/>
                </a:solidFill>
                <a:latin typeface="DejaVu Sans"/>
              </a:defRPr>
            </a:pPr>
            <a:r>
              <a:t>+</a:t>
            </a:r>
          </a:p>
        </p:txBody>
      </p:sp>
      <p:sp>
        <p:nvSpPr>
          <p:cNvPr id="20" name="TextBox 19"/>
          <p:cNvSpPr txBox="1"/>
          <p:nvPr/>
        </p:nvSpPr>
        <p:spPr>
          <a:xfrm>
            <a:off x="1014984" y="4279392"/>
            <a:ext cx="2761488" cy="347472"/>
          </a:xfrm>
          <a:prstGeom prst="rect">
            <a:avLst/>
          </a:prstGeom>
          <a:noFill/>
        </p:spPr>
        <p:txBody>
          <a:bodyPr wrap="square" lIns="0" rIns="0" tIns="0" bIns="0">
            <a:spAutoFit/>
          </a:bodyPr>
          <a:lstStyle/>
          <a:p>
            <a:pPr algn="ctr">
              <a:lnSpc>
                <a:spcPct val="101000"/>
              </a:lnSpc>
              <a:spcAft>
                <a:spcPts val="300"/>
              </a:spcAft>
              <a:defRPr sz="1400" b="1">
                <a:solidFill>
                  <a:srgbClr val="5C6E83"/>
                </a:solidFill>
                <a:latin typeface="DejaVu Sans"/>
              </a:defRPr>
            </a:pPr>
            <a:r>
              <a:t>AÑADIR TU FOTO</a:t>
            </a:r>
          </a:p>
        </p:txBody>
      </p:sp>
      <p:sp>
        <p:nvSpPr>
          <p:cNvPr id="21" name="TextBox 20"/>
          <p:cNvSpPr txBox="1"/>
          <p:nvPr/>
        </p:nvSpPr>
        <p:spPr>
          <a:xfrm>
            <a:off x="640080" y="5586984"/>
            <a:ext cx="3511296" cy="457200"/>
          </a:xfrm>
          <a:prstGeom prst="rect">
            <a:avLst/>
          </a:prstGeom>
          <a:noFill/>
        </p:spPr>
        <p:txBody>
          <a:bodyPr wrap="square" lIns="0" rIns="0" tIns="0" bIns="0">
            <a:spAutoFit/>
          </a:bodyPr>
          <a:lstStyle/>
          <a:p>
            <a:pPr algn="l">
              <a:lnSpc>
                <a:spcPct val="101000"/>
              </a:lnSpc>
              <a:spcAft>
                <a:spcPts val="300"/>
              </a:spcAft>
              <a:defRPr sz="1700" b="1">
                <a:solidFill>
                  <a:srgbClr val="203350"/>
                </a:solidFill>
                <a:latin typeface="DejaVu Sans"/>
              </a:defRPr>
            </a:pPr>
            <a:r>
              <a:t>Muestreo y entorno</a:t>
            </a:r>
          </a:p>
        </p:txBody>
      </p:sp>
      <p:sp>
        <p:nvSpPr>
          <p:cNvPr id="22" name="Rounded Rectangle 21"/>
          <p:cNvSpPr/>
          <p:nvPr/>
        </p:nvSpPr>
        <p:spPr>
          <a:xfrm>
            <a:off x="4389120" y="2724912"/>
            <a:ext cx="3602736" cy="2670048"/>
          </a:xfrm>
          <a:prstGeom prst="roundRect">
            <a:avLst>
              <a:gd name="adj" fmla="val 12000"/>
            </a:avLst>
          </a:prstGeom>
          <a:solidFill>
            <a:srgbClr val="E0F7F3"/>
          </a:solidFill>
          <a:ln w="16510">
            <a:solidFill>
              <a:srgbClr val="B8C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733288" y="3374136"/>
            <a:ext cx="822960" cy="594360"/>
          </a:xfrm>
          <a:prstGeom prst="rect">
            <a:avLst/>
          </a:prstGeom>
          <a:noFill/>
        </p:spPr>
        <p:txBody>
          <a:bodyPr wrap="square" lIns="0" rIns="0" tIns="0" bIns="0">
            <a:spAutoFit/>
          </a:bodyPr>
          <a:lstStyle/>
          <a:p>
            <a:pPr algn="ctr">
              <a:lnSpc>
                <a:spcPct val="101000"/>
              </a:lnSpc>
              <a:spcAft>
                <a:spcPts val="300"/>
              </a:spcAft>
              <a:defRPr sz="5200" b="0">
                <a:solidFill>
                  <a:srgbClr val="8060BA"/>
                </a:solidFill>
                <a:latin typeface="DejaVu Sans"/>
              </a:defRPr>
            </a:pPr>
            <a:r>
              <a:t>+</a:t>
            </a:r>
          </a:p>
        </p:txBody>
      </p:sp>
      <p:sp>
        <p:nvSpPr>
          <p:cNvPr id="24" name="TextBox 23"/>
          <p:cNvSpPr txBox="1"/>
          <p:nvPr/>
        </p:nvSpPr>
        <p:spPr>
          <a:xfrm>
            <a:off x="4809744" y="4279392"/>
            <a:ext cx="2761488" cy="347472"/>
          </a:xfrm>
          <a:prstGeom prst="rect">
            <a:avLst/>
          </a:prstGeom>
          <a:noFill/>
        </p:spPr>
        <p:txBody>
          <a:bodyPr wrap="square" lIns="0" rIns="0" tIns="0" bIns="0">
            <a:spAutoFit/>
          </a:bodyPr>
          <a:lstStyle/>
          <a:p>
            <a:pPr algn="ctr">
              <a:lnSpc>
                <a:spcPct val="101000"/>
              </a:lnSpc>
              <a:spcAft>
                <a:spcPts val="300"/>
              </a:spcAft>
              <a:defRPr sz="1400" b="1">
                <a:solidFill>
                  <a:srgbClr val="5C6E83"/>
                </a:solidFill>
                <a:latin typeface="DejaVu Sans"/>
              </a:defRPr>
            </a:pPr>
            <a:r>
              <a:t>AÑADIR TU FOTO</a:t>
            </a:r>
          </a:p>
        </p:txBody>
      </p:sp>
      <p:sp>
        <p:nvSpPr>
          <p:cNvPr id="25" name="TextBox 24"/>
          <p:cNvSpPr txBox="1"/>
          <p:nvPr/>
        </p:nvSpPr>
        <p:spPr>
          <a:xfrm>
            <a:off x="4434840" y="5586984"/>
            <a:ext cx="3511296" cy="457200"/>
          </a:xfrm>
          <a:prstGeom prst="rect">
            <a:avLst/>
          </a:prstGeom>
          <a:noFill/>
        </p:spPr>
        <p:txBody>
          <a:bodyPr wrap="square" lIns="0" rIns="0" tIns="0" bIns="0">
            <a:spAutoFit/>
          </a:bodyPr>
          <a:lstStyle/>
          <a:p>
            <a:pPr algn="l">
              <a:lnSpc>
                <a:spcPct val="101000"/>
              </a:lnSpc>
              <a:spcAft>
                <a:spcPts val="300"/>
              </a:spcAft>
              <a:defRPr sz="1700" b="1">
                <a:solidFill>
                  <a:srgbClr val="203350"/>
                </a:solidFill>
                <a:latin typeface="DejaVu Sans"/>
              </a:defRPr>
            </a:pPr>
            <a:r>
              <a:t>Trabajo en equipo</a:t>
            </a:r>
          </a:p>
        </p:txBody>
      </p:sp>
      <p:sp>
        <p:nvSpPr>
          <p:cNvPr id="26" name="Rounded Rectangle 25"/>
          <p:cNvSpPr/>
          <p:nvPr/>
        </p:nvSpPr>
        <p:spPr>
          <a:xfrm>
            <a:off x="8183880" y="2724912"/>
            <a:ext cx="3602736" cy="2670048"/>
          </a:xfrm>
          <a:prstGeom prst="roundRect">
            <a:avLst>
              <a:gd name="adj" fmla="val 12000"/>
            </a:avLst>
          </a:prstGeom>
          <a:solidFill>
            <a:srgbClr val="FFF0D9"/>
          </a:solidFill>
          <a:ln w="16510">
            <a:solidFill>
              <a:srgbClr val="B8C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528048" y="3374136"/>
            <a:ext cx="822960" cy="594360"/>
          </a:xfrm>
          <a:prstGeom prst="rect">
            <a:avLst/>
          </a:prstGeom>
          <a:noFill/>
        </p:spPr>
        <p:txBody>
          <a:bodyPr wrap="square" lIns="0" rIns="0" tIns="0" bIns="0">
            <a:spAutoFit/>
          </a:bodyPr>
          <a:lstStyle/>
          <a:p>
            <a:pPr algn="ctr">
              <a:lnSpc>
                <a:spcPct val="101000"/>
              </a:lnSpc>
              <a:spcAft>
                <a:spcPts val="300"/>
              </a:spcAft>
              <a:defRPr sz="5200" b="0">
                <a:solidFill>
                  <a:srgbClr val="8060BA"/>
                </a:solidFill>
                <a:latin typeface="DejaVu Sans"/>
              </a:defRPr>
            </a:pPr>
            <a:r>
              <a:t>+</a:t>
            </a:r>
          </a:p>
        </p:txBody>
      </p:sp>
      <p:sp>
        <p:nvSpPr>
          <p:cNvPr id="28" name="TextBox 27"/>
          <p:cNvSpPr txBox="1"/>
          <p:nvPr/>
        </p:nvSpPr>
        <p:spPr>
          <a:xfrm>
            <a:off x="8604504" y="4279392"/>
            <a:ext cx="2761488" cy="347472"/>
          </a:xfrm>
          <a:prstGeom prst="rect">
            <a:avLst/>
          </a:prstGeom>
          <a:noFill/>
        </p:spPr>
        <p:txBody>
          <a:bodyPr wrap="square" lIns="0" rIns="0" tIns="0" bIns="0">
            <a:spAutoFit/>
          </a:bodyPr>
          <a:lstStyle/>
          <a:p>
            <a:pPr algn="ctr">
              <a:lnSpc>
                <a:spcPct val="101000"/>
              </a:lnSpc>
              <a:spcAft>
                <a:spcPts val="300"/>
              </a:spcAft>
              <a:defRPr sz="1400" b="1">
                <a:solidFill>
                  <a:srgbClr val="5C6E83"/>
                </a:solidFill>
                <a:latin typeface="DejaVu Sans"/>
              </a:defRPr>
            </a:pPr>
            <a:r>
              <a:t>AÑADIR TU FOTO</a:t>
            </a:r>
          </a:p>
        </p:txBody>
      </p:sp>
      <p:sp>
        <p:nvSpPr>
          <p:cNvPr id="29" name="TextBox 28"/>
          <p:cNvSpPr txBox="1"/>
          <p:nvPr/>
        </p:nvSpPr>
        <p:spPr>
          <a:xfrm>
            <a:off x="8229600" y="5586984"/>
            <a:ext cx="3511296" cy="457200"/>
          </a:xfrm>
          <a:prstGeom prst="rect">
            <a:avLst/>
          </a:prstGeom>
          <a:noFill/>
        </p:spPr>
        <p:txBody>
          <a:bodyPr wrap="square" lIns="0" rIns="0" tIns="0" bIns="0">
            <a:spAutoFit/>
          </a:bodyPr>
          <a:lstStyle/>
          <a:p>
            <a:pPr algn="l">
              <a:lnSpc>
                <a:spcPct val="101000"/>
              </a:lnSpc>
              <a:spcAft>
                <a:spcPts val="300"/>
              </a:spcAft>
              <a:defRPr sz="1700" b="1">
                <a:solidFill>
                  <a:srgbClr val="203350"/>
                </a:solidFill>
                <a:latin typeface="DejaVu Sans"/>
              </a:defRPr>
            </a:pPr>
            <a:r>
              <a:t>Encuentro con la comunidad</a:t>
            </a:r>
          </a:p>
        </p:txBody>
      </p:sp>
    </p:spTree>
  </p:cSld>
  <p:clrMapOvr>
    <a:masterClrMapping/>
  </p:clrMapOvr>
  <p:transition advClick="1">
    <p:fade/>
  </p:transition>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9FBFF"/>
        </a:solidFill>
        <a:effectLst/>
      </p:bgPr>
    </p:bg>
    <p:spTree>
      <p:nvGrpSpPr>
        <p:cNvPr id="1" name=""/>
        <p:cNvGrpSpPr/>
        <p:nvPr/>
      </p:nvGrpSpPr>
      <p:grpSpPr/>
      <p:sp>
        <p:nvSpPr>
          <p:cNvPr id="2" name="TextBox 1"/>
          <p:cNvSpPr txBox="1"/>
          <p:nvPr/>
        </p:nvSpPr>
        <p:spPr>
          <a:xfrm>
            <a:off x="548640" y="365760"/>
            <a:ext cx="7543800" cy="274320"/>
          </a:xfrm>
          <a:prstGeom prst="rect">
            <a:avLst/>
          </a:prstGeom>
          <a:noFill/>
        </p:spPr>
        <p:txBody>
          <a:bodyPr wrap="square" lIns="0" rIns="0" tIns="0" bIns="0">
            <a:spAutoFit/>
          </a:bodyPr>
          <a:lstStyle/>
          <a:p>
            <a:pPr algn="l">
              <a:lnSpc>
                <a:spcPct val="101000"/>
              </a:lnSpc>
              <a:spcAft>
                <a:spcPts val="300"/>
              </a:spcAft>
              <a:defRPr sz="930" b="1">
                <a:solidFill>
                  <a:srgbClr val="A85E20"/>
                </a:solidFill>
                <a:latin typeface="DejaVu Sans"/>
              </a:defRPr>
            </a:pPr>
            <a:r>
              <a:t>PLANTEAR PROYECTOS</a:t>
            </a:r>
          </a:p>
        </p:txBody>
      </p:sp>
      <p:sp>
        <p:nvSpPr>
          <p:cNvPr id="3" name="Rounded Rectangle 2">
            <a:hlinkClick action="ppaction://hlinksldjump" r:id="rId2"/>
          </p:cNvPr>
          <p:cNvSpPr/>
          <p:nvPr/>
        </p:nvSpPr>
        <p:spPr>
          <a:xfrm>
            <a:off x="8229600" y="310896"/>
            <a:ext cx="795528" cy="310896"/>
          </a:xfrm>
          <a:prstGeom prst="roundRect">
            <a:avLst>
              <a:gd name="adj" fmla="val 12000"/>
            </a:avLst>
          </a:prstGeom>
          <a:solidFill>
            <a:srgbClr val="E2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a:hlinkClick action="ppaction://hlinksldjump" r:id="rId2"/>
          </p:cNvPr>
          <p:cNvSpPr txBox="1"/>
          <p:nvPr/>
        </p:nvSpPr>
        <p:spPr>
          <a:xfrm>
            <a:off x="8339327"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Explorar</a:t>
            </a:r>
          </a:p>
        </p:txBody>
      </p:sp>
      <p:sp>
        <p:nvSpPr>
          <p:cNvPr id="5" name="Rounded Rectangle 4">
            <a:hlinkClick action="ppaction://hlinksldjump" r:id="rId3"/>
          </p:cNvPr>
          <p:cNvSpPr/>
          <p:nvPr/>
        </p:nvSpPr>
        <p:spPr>
          <a:xfrm>
            <a:off x="9089136" y="310896"/>
            <a:ext cx="795528" cy="310896"/>
          </a:xfrm>
          <a:prstGeom prst="roundRect">
            <a:avLst>
              <a:gd name="adj" fmla="val 12000"/>
            </a:avLst>
          </a:prstGeom>
          <a:solidFill>
            <a:srgbClr val="F0E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a:hlinkClick action="ppaction://hlinksldjump" r:id="rId3"/>
          </p:cNvPr>
          <p:cNvSpPr txBox="1"/>
          <p:nvPr/>
        </p:nvSpPr>
        <p:spPr>
          <a:xfrm>
            <a:off x="9198863"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Diseñar</a:t>
            </a:r>
          </a:p>
        </p:txBody>
      </p:sp>
      <p:sp>
        <p:nvSpPr>
          <p:cNvPr id="7" name="Rounded Rectangle 6">
            <a:hlinkClick action="ppaction://hlinksldjump" r:id="rId4"/>
          </p:cNvPr>
          <p:cNvSpPr/>
          <p:nvPr/>
        </p:nvSpPr>
        <p:spPr>
          <a:xfrm>
            <a:off x="9948672" y="310896"/>
            <a:ext cx="795528" cy="310896"/>
          </a:xfrm>
          <a:prstGeom prst="roundRect">
            <a:avLst>
              <a:gd name="adj" fmla="val 12000"/>
            </a:avLst>
          </a:prstGeom>
          <a:solidFill>
            <a:srgbClr val="FFF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a:hlinkClick action="ppaction://hlinksldjump" r:id="rId4"/>
          </p:cNvPr>
          <p:cNvSpPr txBox="1"/>
          <p:nvPr/>
        </p:nvSpPr>
        <p:spPr>
          <a:xfrm>
            <a:off x="10058399"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Servir</a:t>
            </a:r>
          </a:p>
        </p:txBody>
      </p:sp>
      <p:sp>
        <p:nvSpPr>
          <p:cNvPr id="9" name="Rounded Rectangle 8">
            <a:hlinkClick action="ppaction://hlinksldjump" r:id="rId5"/>
          </p:cNvPr>
          <p:cNvSpPr/>
          <p:nvPr/>
        </p:nvSpPr>
        <p:spPr>
          <a:xfrm>
            <a:off x="10808208" y="310896"/>
            <a:ext cx="795528" cy="310896"/>
          </a:xfrm>
          <a:prstGeom prst="roundRect">
            <a:avLst>
              <a:gd name="adj" fmla="val 12000"/>
            </a:avLst>
          </a:prstGeom>
          <a:solidFill>
            <a:srgbClr val="E9F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a:hlinkClick action="ppaction://hlinksldjump" r:id="rId5"/>
          </p:cNvPr>
          <p:cNvSpPr txBox="1"/>
          <p:nvPr/>
        </p:nvSpPr>
        <p:spPr>
          <a:xfrm>
            <a:off x="10917936"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Empezar</a:t>
            </a:r>
          </a:p>
        </p:txBody>
      </p:sp>
      <p:sp>
        <p:nvSpPr>
          <p:cNvPr id="11" name="TextBox 10"/>
          <p:cNvSpPr txBox="1"/>
          <p:nvPr/>
        </p:nvSpPr>
        <p:spPr>
          <a:xfrm>
            <a:off x="548640" y="877824"/>
            <a:ext cx="11064240" cy="1234440"/>
          </a:xfrm>
          <a:prstGeom prst="rect">
            <a:avLst/>
          </a:prstGeom>
          <a:noFill/>
        </p:spPr>
        <p:txBody>
          <a:bodyPr wrap="square" lIns="0" rIns="0" tIns="0" bIns="0">
            <a:spAutoFit/>
          </a:bodyPr>
          <a:lstStyle/>
          <a:p>
            <a:pPr algn="l">
              <a:lnSpc>
                <a:spcPct val="101000"/>
              </a:lnSpc>
              <a:spcAft>
                <a:spcPts val="300"/>
              </a:spcAft>
              <a:defRPr sz="3900" b="1">
                <a:solidFill>
                  <a:srgbClr val="203350"/>
                </a:solidFill>
                <a:latin typeface="DejaVu Sans"/>
              </a:defRPr>
            </a:pPr>
            <a:r>
              <a:t>De una preocupación amplia</a:t>
            </a:r>
          </a:p>
          <a:p>
            <a:pPr algn="l">
              <a:lnSpc>
                <a:spcPct val="101000"/>
              </a:lnSpc>
              <a:spcAft>
                <a:spcPts val="300"/>
              </a:spcAft>
              <a:defRPr sz="3900" b="1">
                <a:solidFill>
                  <a:srgbClr val="203350"/>
                </a:solidFill>
                <a:latin typeface="DejaVu Sans"/>
              </a:defRPr>
            </a:pPr>
            <a:r>
              <a:t>a una pregunta que puedas investigar</a:t>
            </a:r>
          </a:p>
        </p:txBody>
      </p:sp>
      <p:sp>
        <p:nvSpPr>
          <p:cNvPr id="12" name="TextBox 11"/>
          <p:cNvSpPr txBox="1"/>
          <p:nvPr/>
        </p:nvSpPr>
        <p:spPr>
          <a:xfrm>
            <a:off x="548640" y="6446520"/>
            <a:ext cx="9966960" cy="210312"/>
          </a:xfrm>
          <a:prstGeom prst="rect">
            <a:avLst/>
          </a:prstGeom>
          <a:noFill/>
        </p:spPr>
        <p:txBody>
          <a:bodyPr wrap="square" lIns="0" rIns="0" tIns="0" bIns="0">
            <a:spAutoFit/>
          </a:bodyPr>
          <a:lstStyle/>
          <a:p>
            <a:pPr algn="l">
              <a:lnSpc>
                <a:spcPct val="101000"/>
              </a:lnSpc>
              <a:spcAft>
                <a:spcPts val="300"/>
              </a:spcAft>
              <a:defRPr sz="810" b="0">
                <a:solidFill>
                  <a:srgbClr val="5C6E83"/>
                </a:solidFill>
                <a:latin typeface="DejaVu Sans"/>
              </a:defRPr>
            </a:pPr>
            <a:r>
              <a:t>Ejemplo didáctico inspirado en los puntos de muestreo de Loja</a:t>
            </a:r>
          </a:p>
        </p:txBody>
      </p:sp>
      <p:sp>
        <p:nvSpPr>
          <p:cNvPr id="13" name="Rounded Rectangle 12">
            <a:hlinkClick action="ppaction://hlinksldjump" r:id="rId6"/>
          </p:cNvPr>
          <p:cNvSpPr/>
          <p:nvPr/>
        </p:nvSpPr>
        <p:spPr>
          <a:xfrm>
            <a:off x="10469880" y="6400800"/>
            <a:ext cx="594360" cy="265176"/>
          </a:xfrm>
          <a:prstGeom prst="roundRect">
            <a:avLst>
              <a:gd name="adj" fmla="val 12000"/>
            </a:avLst>
          </a:prstGeom>
          <a:solidFill>
            <a:srgbClr val="F0E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a:hlinkClick action="ppaction://hlinksldjump" r:id="rId6"/>
          </p:cNvPr>
          <p:cNvSpPr txBox="1"/>
          <p:nvPr/>
        </p:nvSpPr>
        <p:spPr>
          <a:xfrm>
            <a:off x="10579607" y="6483096"/>
            <a:ext cx="374904" cy="173735"/>
          </a:xfrm>
          <a:prstGeom prst="rect">
            <a:avLst/>
          </a:prstGeom>
          <a:noFill/>
        </p:spPr>
        <p:txBody>
          <a:bodyPr wrap="square" lIns="0" rIns="0" tIns="0" bIns="0">
            <a:spAutoFit/>
          </a:bodyPr>
          <a:lstStyle/>
          <a:p>
            <a:pPr algn="l">
              <a:lnSpc>
                <a:spcPct val="101000"/>
              </a:lnSpc>
              <a:spcAft>
                <a:spcPts val="300"/>
              </a:spcAft>
              <a:defRPr sz="800" b="1">
                <a:solidFill>
                  <a:srgbClr val="8060BA"/>
                </a:solidFill>
                <a:latin typeface="DejaVu Sans"/>
              </a:defRPr>
            </a:pPr>
            <a:r>
              <a:t>Ruta</a:t>
            </a:r>
          </a:p>
        </p:txBody>
      </p:sp>
      <p:sp>
        <p:nvSpPr>
          <p:cNvPr id="15" name="TextBox 14"/>
          <p:cNvSpPr txBox="1"/>
          <p:nvPr/>
        </p:nvSpPr>
        <p:spPr>
          <a:xfrm>
            <a:off x="11228832" y="6400800"/>
            <a:ext cx="457200" cy="274320"/>
          </a:xfrm>
          <a:prstGeom prst="rect">
            <a:avLst/>
          </a:prstGeom>
          <a:noFill/>
        </p:spPr>
        <p:txBody>
          <a:bodyPr wrap="square" lIns="0" rIns="0" tIns="0" bIns="0">
            <a:spAutoFit/>
          </a:bodyPr>
          <a:lstStyle/>
          <a:p>
            <a:pPr algn="r">
              <a:lnSpc>
                <a:spcPct val="101000"/>
              </a:lnSpc>
              <a:spcAft>
                <a:spcPts val="300"/>
              </a:spcAft>
              <a:defRPr sz="1300" b="1">
                <a:solidFill>
                  <a:srgbClr val="203350"/>
                </a:solidFill>
                <a:latin typeface="DejaVu Sans"/>
              </a:defRPr>
            </a:pPr>
            <a:r>
              <a:t>10</a:t>
            </a:r>
          </a:p>
        </p:txBody>
      </p:sp>
      <p:sp>
        <p:nvSpPr>
          <p:cNvPr id="16" name="Rectangle 15"/>
          <p:cNvSpPr/>
          <p:nvPr/>
        </p:nvSpPr>
        <p:spPr>
          <a:xfrm>
            <a:off x="0" y="6821424"/>
            <a:ext cx="4689219" cy="36576"/>
          </a:xfrm>
          <a:prstGeom prst="rect">
            <a:avLst/>
          </a:prstGeom>
          <a:solidFill>
            <a:srgbClr val="A8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question.png"/>
          <p:cNvPicPr>
            <a:picLocks noChangeAspect="1"/>
          </p:cNvPicPr>
          <p:nvPr/>
        </p:nvPicPr>
        <p:blipFill>
          <a:blip r:embed="rId8"/>
          <a:stretch>
            <a:fillRect/>
          </a:stretch>
        </p:blipFill>
        <p:spPr>
          <a:xfrm>
            <a:off x="548640" y="2606040"/>
            <a:ext cx="11109960" cy="3456432"/>
          </a:xfrm>
          <a:prstGeom prst="rect">
            <a:avLst/>
          </a:prstGeom>
        </p:spPr>
      </p:pic>
    </p:spTree>
  </p:cSld>
  <p:clrMapOvr>
    <a:masterClrMapping/>
  </p:clrMapOvr>
  <p:transition advClick="1">
    <p:fade/>
  </p:transition>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9FBFF"/>
        </a:solidFill>
        <a:effectLst/>
      </p:bgPr>
    </p:bg>
    <p:spTree>
      <p:nvGrpSpPr>
        <p:cNvPr id="1" name=""/>
        <p:cNvGrpSpPr/>
        <p:nvPr/>
      </p:nvGrpSpPr>
      <p:grpSpPr/>
      <p:sp>
        <p:nvSpPr>
          <p:cNvPr id="2" name="TextBox 1"/>
          <p:cNvSpPr txBox="1"/>
          <p:nvPr/>
        </p:nvSpPr>
        <p:spPr>
          <a:xfrm>
            <a:off x="548640" y="365760"/>
            <a:ext cx="7543800" cy="274320"/>
          </a:xfrm>
          <a:prstGeom prst="rect">
            <a:avLst/>
          </a:prstGeom>
          <a:noFill/>
        </p:spPr>
        <p:txBody>
          <a:bodyPr wrap="square" lIns="0" rIns="0" tIns="0" bIns="0">
            <a:spAutoFit/>
          </a:bodyPr>
          <a:lstStyle/>
          <a:p>
            <a:pPr algn="l">
              <a:lnSpc>
                <a:spcPct val="101000"/>
              </a:lnSpc>
              <a:spcAft>
                <a:spcPts val="300"/>
              </a:spcAft>
              <a:defRPr sz="930" b="1">
                <a:solidFill>
                  <a:srgbClr val="A85E20"/>
                </a:solidFill>
                <a:latin typeface="DejaVu Sans"/>
              </a:defRPr>
            </a:pPr>
            <a:r>
              <a:t>DE LA IDEA AL PROYECTO</a:t>
            </a:r>
          </a:p>
        </p:txBody>
      </p:sp>
      <p:sp>
        <p:nvSpPr>
          <p:cNvPr id="3" name="Rounded Rectangle 2">
            <a:hlinkClick action="ppaction://hlinksldjump" r:id="rId2"/>
          </p:cNvPr>
          <p:cNvSpPr/>
          <p:nvPr/>
        </p:nvSpPr>
        <p:spPr>
          <a:xfrm>
            <a:off x="8229600" y="310896"/>
            <a:ext cx="795528" cy="310896"/>
          </a:xfrm>
          <a:prstGeom prst="roundRect">
            <a:avLst>
              <a:gd name="adj" fmla="val 12000"/>
            </a:avLst>
          </a:prstGeom>
          <a:solidFill>
            <a:srgbClr val="E2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a:hlinkClick action="ppaction://hlinksldjump" r:id="rId2"/>
          </p:cNvPr>
          <p:cNvSpPr txBox="1"/>
          <p:nvPr/>
        </p:nvSpPr>
        <p:spPr>
          <a:xfrm>
            <a:off x="8339327"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Explorar</a:t>
            </a:r>
          </a:p>
        </p:txBody>
      </p:sp>
      <p:sp>
        <p:nvSpPr>
          <p:cNvPr id="5" name="Rounded Rectangle 4">
            <a:hlinkClick action="ppaction://hlinksldjump" r:id="rId3"/>
          </p:cNvPr>
          <p:cNvSpPr/>
          <p:nvPr/>
        </p:nvSpPr>
        <p:spPr>
          <a:xfrm>
            <a:off x="9089136" y="310896"/>
            <a:ext cx="795528" cy="310896"/>
          </a:xfrm>
          <a:prstGeom prst="roundRect">
            <a:avLst>
              <a:gd name="adj" fmla="val 12000"/>
            </a:avLst>
          </a:prstGeom>
          <a:solidFill>
            <a:srgbClr val="F0E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a:hlinkClick action="ppaction://hlinksldjump" r:id="rId3"/>
          </p:cNvPr>
          <p:cNvSpPr txBox="1"/>
          <p:nvPr/>
        </p:nvSpPr>
        <p:spPr>
          <a:xfrm>
            <a:off x="9198863"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Diseñar</a:t>
            </a:r>
          </a:p>
        </p:txBody>
      </p:sp>
      <p:sp>
        <p:nvSpPr>
          <p:cNvPr id="7" name="Rounded Rectangle 6">
            <a:hlinkClick action="ppaction://hlinksldjump" r:id="rId4"/>
          </p:cNvPr>
          <p:cNvSpPr/>
          <p:nvPr/>
        </p:nvSpPr>
        <p:spPr>
          <a:xfrm>
            <a:off x="9948672" y="310896"/>
            <a:ext cx="795528" cy="310896"/>
          </a:xfrm>
          <a:prstGeom prst="roundRect">
            <a:avLst>
              <a:gd name="adj" fmla="val 12000"/>
            </a:avLst>
          </a:prstGeom>
          <a:solidFill>
            <a:srgbClr val="FFF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a:hlinkClick action="ppaction://hlinksldjump" r:id="rId4"/>
          </p:cNvPr>
          <p:cNvSpPr txBox="1"/>
          <p:nvPr/>
        </p:nvSpPr>
        <p:spPr>
          <a:xfrm>
            <a:off x="10058399"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Servir</a:t>
            </a:r>
          </a:p>
        </p:txBody>
      </p:sp>
      <p:sp>
        <p:nvSpPr>
          <p:cNvPr id="9" name="Rounded Rectangle 8">
            <a:hlinkClick action="ppaction://hlinksldjump" r:id="rId5"/>
          </p:cNvPr>
          <p:cNvSpPr/>
          <p:nvPr/>
        </p:nvSpPr>
        <p:spPr>
          <a:xfrm>
            <a:off x="10808208" y="310896"/>
            <a:ext cx="795528" cy="310896"/>
          </a:xfrm>
          <a:prstGeom prst="roundRect">
            <a:avLst>
              <a:gd name="adj" fmla="val 12000"/>
            </a:avLst>
          </a:prstGeom>
          <a:solidFill>
            <a:srgbClr val="E9F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a:hlinkClick action="ppaction://hlinksldjump" r:id="rId5"/>
          </p:cNvPr>
          <p:cNvSpPr txBox="1"/>
          <p:nvPr/>
        </p:nvSpPr>
        <p:spPr>
          <a:xfrm>
            <a:off x="10917936"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Empezar</a:t>
            </a:r>
          </a:p>
        </p:txBody>
      </p:sp>
      <p:sp>
        <p:nvSpPr>
          <p:cNvPr id="11" name="TextBox 10"/>
          <p:cNvSpPr txBox="1"/>
          <p:nvPr/>
        </p:nvSpPr>
        <p:spPr>
          <a:xfrm>
            <a:off x="548640" y="877824"/>
            <a:ext cx="11064240" cy="1234440"/>
          </a:xfrm>
          <a:prstGeom prst="rect">
            <a:avLst/>
          </a:prstGeom>
          <a:noFill/>
        </p:spPr>
        <p:txBody>
          <a:bodyPr wrap="square" lIns="0" rIns="0" tIns="0" bIns="0">
            <a:spAutoFit/>
          </a:bodyPr>
          <a:lstStyle/>
          <a:p>
            <a:pPr algn="l">
              <a:lnSpc>
                <a:spcPct val="101000"/>
              </a:lnSpc>
              <a:spcAft>
                <a:spcPts val="300"/>
              </a:spcAft>
              <a:defRPr sz="3900" b="1">
                <a:solidFill>
                  <a:srgbClr val="203350"/>
                </a:solidFill>
                <a:latin typeface="DejaVu Sans"/>
              </a:defRPr>
            </a:pPr>
            <a:r>
              <a:t>Cinco decisiones</a:t>
            </a:r>
          </a:p>
          <a:p>
            <a:pPr algn="l">
              <a:lnSpc>
                <a:spcPct val="101000"/>
              </a:lnSpc>
              <a:spcAft>
                <a:spcPts val="300"/>
              </a:spcAft>
              <a:defRPr sz="3900" b="1">
                <a:solidFill>
                  <a:srgbClr val="203350"/>
                </a:solidFill>
                <a:latin typeface="DejaVu Sans"/>
              </a:defRPr>
            </a:pPr>
            <a:r>
              <a:t>que convierten curiosidad en trabajo</a:t>
            </a:r>
          </a:p>
        </p:txBody>
      </p:sp>
      <p:sp>
        <p:nvSpPr>
          <p:cNvPr id="12" name="TextBox 11"/>
          <p:cNvSpPr txBox="1"/>
          <p:nvPr/>
        </p:nvSpPr>
        <p:spPr>
          <a:xfrm>
            <a:off x="548640" y="6446520"/>
            <a:ext cx="9966960" cy="210312"/>
          </a:xfrm>
          <a:prstGeom prst="rect">
            <a:avLst/>
          </a:prstGeom>
          <a:noFill/>
        </p:spPr>
        <p:txBody>
          <a:bodyPr wrap="square" lIns="0" rIns="0" tIns="0" bIns="0">
            <a:spAutoFit/>
          </a:bodyPr>
          <a:lstStyle/>
          <a:p>
            <a:pPr algn="l">
              <a:lnSpc>
                <a:spcPct val="101000"/>
              </a:lnSpc>
              <a:spcAft>
                <a:spcPts val="300"/>
              </a:spcAft>
              <a:defRPr sz="810" b="0">
                <a:solidFill>
                  <a:srgbClr val="5C6E83"/>
                </a:solidFill>
                <a:latin typeface="DejaVu Sans"/>
              </a:defRPr>
            </a:pPr>
            <a:r>
              <a:t>Secuencia pedagógica propuesta para el diseño de proyectos</a:t>
            </a:r>
          </a:p>
        </p:txBody>
      </p:sp>
      <p:sp>
        <p:nvSpPr>
          <p:cNvPr id="13" name="Rounded Rectangle 12">
            <a:hlinkClick action="ppaction://hlinksldjump" r:id="rId6"/>
          </p:cNvPr>
          <p:cNvSpPr/>
          <p:nvPr/>
        </p:nvSpPr>
        <p:spPr>
          <a:xfrm>
            <a:off x="10469880" y="6400800"/>
            <a:ext cx="594360" cy="265176"/>
          </a:xfrm>
          <a:prstGeom prst="roundRect">
            <a:avLst>
              <a:gd name="adj" fmla="val 12000"/>
            </a:avLst>
          </a:prstGeom>
          <a:solidFill>
            <a:srgbClr val="F0E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a:hlinkClick action="ppaction://hlinksldjump" r:id="rId6"/>
          </p:cNvPr>
          <p:cNvSpPr txBox="1"/>
          <p:nvPr/>
        </p:nvSpPr>
        <p:spPr>
          <a:xfrm>
            <a:off x="10579607" y="6483096"/>
            <a:ext cx="374904" cy="173735"/>
          </a:xfrm>
          <a:prstGeom prst="rect">
            <a:avLst/>
          </a:prstGeom>
          <a:noFill/>
        </p:spPr>
        <p:txBody>
          <a:bodyPr wrap="square" lIns="0" rIns="0" tIns="0" bIns="0">
            <a:spAutoFit/>
          </a:bodyPr>
          <a:lstStyle/>
          <a:p>
            <a:pPr algn="l">
              <a:lnSpc>
                <a:spcPct val="101000"/>
              </a:lnSpc>
              <a:spcAft>
                <a:spcPts val="300"/>
              </a:spcAft>
              <a:defRPr sz="800" b="1">
                <a:solidFill>
                  <a:srgbClr val="8060BA"/>
                </a:solidFill>
                <a:latin typeface="DejaVu Sans"/>
              </a:defRPr>
            </a:pPr>
            <a:r>
              <a:t>Ruta</a:t>
            </a:r>
          </a:p>
        </p:txBody>
      </p:sp>
      <p:sp>
        <p:nvSpPr>
          <p:cNvPr id="15" name="TextBox 14"/>
          <p:cNvSpPr txBox="1"/>
          <p:nvPr/>
        </p:nvSpPr>
        <p:spPr>
          <a:xfrm>
            <a:off x="11228832" y="6400800"/>
            <a:ext cx="457200" cy="274320"/>
          </a:xfrm>
          <a:prstGeom prst="rect">
            <a:avLst/>
          </a:prstGeom>
          <a:noFill/>
        </p:spPr>
        <p:txBody>
          <a:bodyPr wrap="square" lIns="0" rIns="0" tIns="0" bIns="0">
            <a:spAutoFit/>
          </a:bodyPr>
          <a:lstStyle/>
          <a:p>
            <a:pPr algn="r">
              <a:lnSpc>
                <a:spcPct val="101000"/>
              </a:lnSpc>
              <a:spcAft>
                <a:spcPts val="300"/>
              </a:spcAft>
              <a:defRPr sz="1300" b="1">
                <a:solidFill>
                  <a:srgbClr val="203350"/>
                </a:solidFill>
                <a:latin typeface="DejaVu Sans"/>
              </a:defRPr>
            </a:pPr>
            <a:r>
              <a:t>11</a:t>
            </a:r>
          </a:p>
        </p:txBody>
      </p:sp>
      <p:sp>
        <p:nvSpPr>
          <p:cNvPr id="16" name="Rectangle 15"/>
          <p:cNvSpPr/>
          <p:nvPr/>
        </p:nvSpPr>
        <p:spPr>
          <a:xfrm>
            <a:off x="0" y="6821424"/>
            <a:ext cx="5158140" cy="36576"/>
          </a:xfrm>
          <a:prstGeom prst="rect">
            <a:avLst/>
          </a:prstGeom>
          <a:solidFill>
            <a:srgbClr val="A8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projectcycle.gif"/>
          <p:cNvPicPr>
            <a:picLocks noChangeAspect="1"/>
          </p:cNvPicPr>
          <p:nvPr/>
        </p:nvPicPr>
        <p:blipFill>
          <a:blip r:embed="rId8"/>
          <a:stretch>
            <a:fillRect/>
          </a:stretch>
        </p:blipFill>
        <p:spPr>
          <a:xfrm>
            <a:off x="548640" y="2606040"/>
            <a:ext cx="11109960" cy="3456432"/>
          </a:xfrm>
          <a:prstGeom prst="rect">
            <a:avLst/>
          </a:prstGeom>
        </p:spPr>
      </p:pic>
    </p:spTree>
  </p:cSld>
  <p:clrMapOvr>
    <a:masterClrMapping/>
  </p:clrMapOvr>
  <p:transition advClick="1">
    <p:fade/>
  </p:transition>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9FBFF"/>
        </a:solidFill>
        <a:effectLst/>
      </p:bgPr>
    </p:bg>
    <p:spTree>
      <p:nvGrpSpPr>
        <p:cNvPr id="1" name=""/>
        <p:cNvGrpSpPr/>
        <p:nvPr/>
      </p:nvGrpSpPr>
      <p:grpSpPr/>
      <p:sp>
        <p:nvSpPr>
          <p:cNvPr id="2" name="TextBox 1"/>
          <p:cNvSpPr txBox="1"/>
          <p:nvPr/>
        </p:nvSpPr>
        <p:spPr>
          <a:xfrm>
            <a:off x="548640" y="365760"/>
            <a:ext cx="7543800" cy="274320"/>
          </a:xfrm>
          <a:prstGeom prst="rect">
            <a:avLst/>
          </a:prstGeom>
          <a:noFill/>
        </p:spPr>
        <p:txBody>
          <a:bodyPr wrap="square" lIns="0" rIns="0" tIns="0" bIns="0">
            <a:spAutoFit/>
          </a:bodyPr>
          <a:lstStyle/>
          <a:p>
            <a:pPr algn="l">
              <a:lnSpc>
                <a:spcPct val="101000"/>
              </a:lnSpc>
              <a:spcAft>
                <a:spcPts val="300"/>
              </a:spcAft>
              <a:defRPr sz="930" b="1">
                <a:solidFill>
                  <a:srgbClr val="A85E20"/>
                </a:solidFill>
                <a:latin typeface="DejaVu Sans"/>
              </a:defRPr>
            </a:pPr>
            <a:r>
              <a:t>UN PROYECTO EN UNA PÁGINA</a:t>
            </a:r>
          </a:p>
        </p:txBody>
      </p:sp>
      <p:sp>
        <p:nvSpPr>
          <p:cNvPr id="3" name="Rounded Rectangle 2">
            <a:hlinkClick action="ppaction://hlinksldjump" r:id="rId2"/>
          </p:cNvPr>
          <p:cNvSpPr/>
          <p:nvPr/>
        </p:nvSpPr>
        <p:spPr>
          <a:xfrm>
            <a:off x="8229600" y="310896"/>
            <a:ext cx="795528" cy="310896"/>
          </a:xfrm>
          <a:prstGeom prst="roundRect">
            <a:avLst>
              <a:gd name="adj" fmla="val 12000"/>
            </a:avLst>
          </a:prstGeom>
          <a:solidFill>
            <a:srgbClr val="E2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a:hlinkClick action="ppaction://hlinksldjump" r:id="rId2"/>
          </p:cNvPr>
          <p:cNvSpPr txBox="1"/>
          <p:nvPr/>
        </p:nvSpPr>
        <p:spPr>
          <a:xfrm>
            <a:off x="8339327"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Explorar</a:t>
            </a:r>
          </a:p>
        </p:txBody>
      </p:sp>
      <p:sp>
        <p:nvSpPr>
          <p:cNvPr id="5" name="Rounded Rectangle 4">
            <a:hlinkClick action="ppaction://hlinksldjump" r:id="rId3"/>
          </p:cNvPr>
          <p:cNvSpPr/>
          <p:nvPr/>
        </p:nvSpPr>
        <p:spPr>
          <a:xfrm>
            <a:off x="9089136" y="310896"/>
            <a:ext cx="795528" cy="310896"/>
          </a:xfrm>
          <a:prstGeom prst="roundRect">
            <a:avLst>
              <a:gd name="adj" fmla="val 12000"/>
            </a:avLst>
          </a:prstGeom>
          <a:solidFill>
            <a:srgbClr val="F0E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a:hlinkClick action="ppaction://hlinksldjump" r:id="rId3"/>
          </p:cNvPr>
          <p:cNvSpPr txBox="1"/>
          <p:nvPr/>
        </p:nvSpPr>
        <p:spPr>
          <a:xfrm>
            <a:off x="9198863"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Diseñar</a:t>
            </a:r>
          </a:p>
        </p:txBody>
      </p:sp>
      <p:sp>
        <p:nvSpPr>
          <p:cNvPr id="7" name="Rounded Rectangle 6">
            <a:hlinkClick action="ppaction://hlinksldjump" r:id="rId4"/>
          </p:cNvPr>
          <p:cNvSpPr/>
          <p:nvPr/>
        </p:nvSpPr>
        <p:spPr>
          <a:xfrm>
            <a:off x="9948672" y="310896"/>
            <a:ext cx="795528" cy="310896"/>
          </a:xfrm>
          <a:prstGeom prst="roundRect">
            <a:avLst>
              <a:gd name="adj" fmla="val 12000"/>
            </a:avLst>
          </a:prstGeom>
          <a:solidFill>
            <a:srgbClr val="FFF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a:hlinkClick action="ppaction://hlinksldjump" r:id="rId4"/>
          </p:cNvPr>
          <p:cNvSpPr txBox="1"/>
          <p:nvPr/>
        </p:nvSpPr>
        <p:spPr>
          <a:xfrm>
            <a:off x="10058399"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Servir</a:t>
            </a:r>
          </a:p>
        </p:txBody>
      </p:sp>
      <p:sp>
        <p:nvSpPr>
          <p:cNvPr id="9" name="Rounded Rectangle 8">
            <a:hlinkClick action="ppaction://hlinksldjump" r:id="rId5"/>
          </p:cNvPr>
          <p:cNvSpPr/>
          <p:nvPr/>
        </p:nvSpPr>
        <p:spPr>
          <a:xfrm>
            <a:off x="10808208" y="310896"/>
            <a:ext cx="795528" cy="310896"/>
          </a:xfrm>
          <a:prstGeom prst="roundRect">
            <a:avLst>
              <a:gd name="adj" fmla="val 12000"/>
            </a:avLst>
          </a:prstGeom>
          <a:solidFill>
            <a:srgbClr val="E9F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a:hlinkClick action="ppaction://hlinksldjump" r:id="rId5"/>
          </p:cNvPr>
          <p:cNvSpPr txBox="1"/>
          <p:nvPr/>
        </p:nvSpPr>
        <p:spPr>
          <a:xfrm>
            <a:off x="10917936"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Empezar</a:t>
            </a:r>
          </a:p>
        </p:txBody>
      </p:sp>
      <p:sp>
        <p:nvSpPr>
          <p:cNvPr id="11" name="TextBox 10"/>
          <p:cNvSpPr txBox="1"/>
          <p:nvPr/>
        </p:nvSpPr>
        <p:spPr>
          <a:xfrm>
            <a:off x="548640" y="877824"/>
            <a:ext cx="11064240" cy="1234440"/>
          </a:xfrm>
          <a:prstGeom prst="rect">
            <a:avLst/>
          </a:prstGeom>
          <a:noFill/>
        </p:spPr>
        <p:txBody>
          <a:bodyPr wrap="square" lIns="0" rIns="0" tIns="0" bIns="0">
            <a:spAutoFit/>
          </a:bodyPr>
          <a:lstStyle/>
          <a:p>
            <a:pPr algn="l">
              <a:lnSpc>
                <a:spcPct val="101000"/>
              </a:lnSpc>
              <a:spcAft>
                <a:spcPts val="300"/>
              </a:spcAft>
              <a:defRPr sz="3900" b="1">
                <a:solidFill>
                  <a:srgbClr val="203350"/>
                </a:solidFill>
                <a:latin typeface="DejaVu Sans"/>
              </a:defRPr>
            </a:pPr>
            <a:r>
              <a:t>Haz visible lo esencial</a:t>
            </a:r>
          </a:p>
          <a:p>
            <a:pPr algn="l">
              <a:lnSpc>
                <a:spcPct val="101000"/>
              </a:lnSpc>
              <a:spcAft>
                <a:spcPts val="300"/>
              </a:spcAft>
              <a:defRPr sz="3900" b="1">
                <a:solidFill>
                  <a:srgbClr val="203350"/>
                </a:solidFill>
                <a:latin typeface="DejaVu Sans"/>
              </a:defRPr>
            </a:pPr>
            <a:r>
              <a:t>antes de complicar el plan</a:t>
            </a:r>
          </a:p>
        </p:txBody>
      </p:sp>
      <p:sp>
        <p:nvSpPr>
          <p:cNvPr id="12" name="TextBox 11"/>
          <p:cNvSpPr txBox="1"/>
          <p:nvPr/>
        </p:nvSpPr>
        <p:spPr>
          <a:xfrm>
            <a:off x="548640" y="6446520"/>
            <a:ext cx="9966960" cy="210312"/>
          </a:xfrm>
          <a:prstGeom prst="rect">
            <a:avLst/>
          </a:prstGeom>
          <a:noFill/>
        </p:spPr>
        <p:txBody>
          <a:bodyPr wrap="square" lIns="0" rIns="0" tIns="0" bIns="0">
            <a:spAutoFit/>
          </a:bodyPr>
          <a:lstStyle/>
          <a:p>
            <a:pPr algn="l">
              <a:lnSpc>
                <a:spcPct val="101000"/>
              </a:lnSpc>
              <a:spcAft>
                <a:spcPts val="300"/>
              </a:spcAft>
              <a:defRPr sz="810" b="0">
                <a:solidFill>
                  <a:srgbClr val="5C6E83"/>
                </a:solidFill>
                <a:latin typeface="DejaVu Sans"/>
              </a:defRPr>
            </a:pPr>
            <a:r>
              <a:t>Lienzo de proyecto creado como herramienta didáctica</a:t>
            </a:r>
          </a:p>
        </p:txBody>
      </p:sp>
      <p:sp>
        <p:nvSpPr>
          <p:cNvPr id="13" name="Rounded Rectangle 12">
            <a:hlinkClick action="ppaction://hlinksldjump" r:id="rId6"/>
          </p:cNvPr>
          <p:cNvSpPr/>
          <p:nvPr/>
        </p:nvSpPr>
        <p:spPr>
          <a:xfrm>
            <a:off x="10469880" y="6400800"/>
            <a:ext cx="594360" cy="265176"/>
          </a:xfrm>
          <a:prstGeom prst="roundRect">
            <a:avLst>
              <a:gd name="adj" fmla="val 12000"/>
            </a:avLst>
          </a:prstGeom>
          <a:solidFill>
            <a:srgbClr val="F0E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a:hlinkClick action="ppaction://hlinksldjump" r:id="rId6"/>
          </p:cNvPr>
          <p:cNvSpPr txBox="1"/>
          <p:nvPr/>
        </p:nvSpPr>
        <p:spPr>
          <a:xfrm>
            <a:off x="10579607" y="6483096"/>
            <a:ext cx="374904" cy="173735"/>
          </a:xfrm>
          <a:prstGeom prst="rect">
            <a:avLst/>
          </a:prstGeom>
          <a:noFill/>
        </p:spPr>
        <p:txBody>
          <a:bodyPr wrap="square" lIns="0" rIns="0" tIns="0" bIns="0">
            <a:spAutoFit/>
          </a:bodyPr>
          <a:lstStyle/>
          <a:p>
            <a:pPr algn="l">
              <a:lnSpc>
                <a:spcPct val="101000"/>
              </a:lnSpc>
              <a:spcAft>
                <a:spcPts val="300"/>
              </a:spcAft>
              <a:defRPr sz="800" b="1">
                <a:solidFill>
                  <a:srgbClr val="8060BA"/>
                </a:solidFill>
                <a:latin typeface="DejaVu Sans"/>
              </a:defRPr>
            </a:pPr>
            <a:r>
              <a:t>Ruta</a:t>
            </a:r>
          </a:p>
        </p:txBody>
      </p:sp>
      <p:sp>
        <p:nvSpPr>
          <p:cNvPr id="15" name="TextBox 14"/>
          <p:cNvSpPr txBox="1"/>
          <p:nvPr/>
        </p:nvSpPr>
        <p:spPr>
          <a:xfrm>
            <a:off x="11228832" y="6400800"/>
            <a:ext cx="457200" cy="274320"/>
          </a:xfrm>
          <a:prstGeom prst="rect">
            <a:avLst/>
          </a:prstGeom>
          <a:noFill/>
        </p:spPr>
        <p:txBody>
          <a:bodyPr wrap="square" lIns="0" rIns="0" tIns="0" bIns="0">
            <a:spAutoFit/>
          </a:bodyPr>
          <a:lstStyle/>
          <a:p>
            <a:pPr algn="r">
              <a:lnSpc>
                <a:spcPct val="101000"/>
              </a:lnSpc>
              <a:spcAft>
                <a:spcPts val="300"/>
              </a:spcAft>
              <a:defRPr sz="1300" b="1">
                <a:solidFill>
                  <a:srgbClr val="203350"/>
                </a:solidFill>
                <a:latin typeface="DejaVu Sans"/>
              </a:defRPr>
            </a:pPr>
            <a:r>
              <a:t>12</a:t>
            </a:r>
          </a:p>
        </p:txBody>
      </p:sp>
      <p:sp>
        <p:nvSpPr>
          <p:cNvPr id="16" name="Rectangle 15"/>
          <p:cNvSpPr/>
          <p:nvPr/>
        </p:nvSpPr>
        <p:spPr>
          <a:xfrm>
            <a:off x="0" y="6821424"/>
            <a:ext cx="5627062" cy="36576"/>
          </a:xfrm>
          <a:prstGeom prst="rect">
            <a:avLst/>
          </a:prstGeom>
          <a:solidFill>
            <a:srgbClr val="A8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94360" y="2651760"/>
            <a:ext cx="3602736" cy="1618488"/>
          </a:xfrm>
          <a:prstGeom prst="roundRect">
            <a:avLst>
              <a:gd name="adj" fmla="val 12000"/>
            </a:avLst>
          </a:prstGeom>
          <a:solidFill>
            <a:srgbClr val="E0F7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5528" y="2807208"/>
            <a:ext cx="2834640" cy="320040"/>
          </a:xfrm>
          <a:prstGeom prst="rect">
            <a:avLst/>
          </a:prstGeom>
          <a:noFill/>
        </p:spPr>
        <p:txBody>
          <a:bodyPr wrap="square" lIns="0" rIns="0" tIns="0" bIns="0">
            <a:spAutoFit/>
          </a:bodyPr>
          <a:lstStyle/>
          <a:p>
            <a:pPr algn="l">
              <a:lnSpc>
                <a:spcPct val="101000"/>
              </a:lnSpc>
              <a:spcAft>
                <a:spcPts val="300"/>
              </a:spcAft>
              <a:defRPr sz="2000" b="1">
                <a:solidFill>
                  <a:srgbClr val="203350"/>
                </a:solidFill>
                <a:latin typeface="DejaVu Sans"/>
              </a:defRPr>
            </a:pPr>
            <a:r>
              <a:t>Situación</a:t>
            </a:r>
          </a:p>
        </p:txBody>
      </p:sp>
      <p:sp>
        <p:nvSpPr>
          <p:cNvPr id="19" name="TextBox 18"/>
          <p:cNvSpPr txBox="1"/>
          <p:nvPr/>
        </p:nvSpPr>
        <p:spPr>
          <a:xfrm>
            <a:off x="3675888" y="2807208"/>
            <a:ext cx="329184" cy="228600"/>
          </a:xfrm>
          <a:prstGeom prst="rect">
            <a:avLst/>
          </a:prstGeom>
          <a:noFill/>
        </p:spPr>
        <p:txBody>
          <a:bodyPr wrap="square" lIns="0" rIns="0" tIns="0" bIns="0">
            <a:spAutoFit/>
          </a:bodyPr>
          <a:lstStyle/>
          <a:p>
            <a:pPr algn="l">
              <a:lnSpc>
                <a:spcPct val="101000"/>
              </a:lnSpc>
              <a:spcAft>
                <a:spcPts val="300"/>
              </a:spcAft>
              <a:defRPr sz="1000" b="0">
                <a:solidFill>
                  <a:srgbClr val="5C6E83"/>
                </a:solidFill>
                <a:latin typeface="DejaVu Sans"/>
              </a:defRPr>
            </a:pPr>
            <a:r>
              <a:t>01</a:t>
            </a:r>
          </a:p>
        </p:txBody>
      </p:sp>
      <p:sp>
        <p:nvSpPr>
          <p:cNvPr id="20" name="TextBox 19"/>
          <p:cNvSpPr txBox="1"/>
          <p:nvPr/>
        </p:nvSpPr>
        <p:spPr>
          <a:xfrm>
            <a:off x="795528" y="3246120"/>
            <a:ext cx="3172968" cy="475488"/>
          </a:xfrm>
          <a:prstGeom prst="rect">
            <a:avLst/>
          </a:prstGeom>
          <a:noFill/>
        </p:spPr>
        <p:txBody>
          <a:bodyPr wrap="square" lIns="0" rIns="0" tIns="0" bIns="0">
            <a:spAutoFit/>
          </a:bodyPr>
          <a:lstStyle/>
          <a:p>
            <a:pPr algn="l">
              <a:lnSpc>
                <a:spcPct val="101000"/>
              </a:lnSpc>
              <a:spcAft>
                <a:spcPts val="300"/>
              </a:spcAft>
              <a:defRPr sz="1300" b="0">
                <a:solidFill>
                  <a:srgbClr val="5C6E83"/>
                </a:solidFill>
                <a:latin typeface="DejaVu Sans"/>
              </a:defRPr>
            </a:pPr>
            <a:r>
              <a:t>¿Qué observamos y por qué importa?</a:t>
            </a:r>
          </a:p>
        </p:txBody>
      </p:sp>
      <p:sp>
        <p:nvSpPr>
          <p:cNvPr id="21" name="Rectangle 20"/>
          <p:cNvSpPr/>
          <p:nvPr/>
        </p:nvSpPr>
        <p:spPr>
          <a:xfrm>
            <a:off x="804672" y="3931920"/>
            <a:ext cx="3182112" cy="11887"/>
          </a:xfrm>
          <a:prstGeom prst="rect">
            <a:avLst/>
          </a:prstGeom>
          <a:solidFill>
            <a:srgbClr val="BBC8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389120" y="2651760"/>
            <a:ext cx="3602736" cy="1618488"/>
          </a:xfrm>
          <a:prstGeom prst="roundRect">
            <a:avLst>
              <a:gd name="adj" fmla="val 12000"/>
            </a:avLst>
          </a:prstGeom>
          <a:solidFill>
            <a:srgbClr val="E2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90288" y="2807208"/>
            <a:ext cx="2834640" cy="320040"/>
          </a:xfrm>
          <a:prstGeom prst="rect">
            <a:avLst/>
          </a:prstGeom>
          <a:noFill/>
        </p:spPr>
        <p:txBody>
          <a:bodyPr wrap="square" lIns="0" rIns="0" tIns="0" bIns="0">
            <a:spAutoFit/>
          </a:bodyPr>
          <a:lstStyle/>
          <a:p>
            <a:pPr algn="l">
              <a:lnSpc>
                <a:spcPct val="101000"/>
              </a:lnSpc>
              <a:spcAft>
                <a:spcPts val="300"/>
              </a:spcAft>
              <a:defRPr sz="2000" b="1">
                <a:solidFill>
                  <a:srgbClr val="203350"/>
                </a:solidFill>
                <a:latin typeface="DejaVu Sans"/>
              </a:defRPr>
            </a:pPr>
            <a:r>
              <a:t>Con quién</a:t>
            </a:r>
          </a:p>
        </p:txBody>
      </p:sp>
      <p:sp>
        <p:nvSpPr>
          <p:cNvPr id="24" name="TextBox 23"/>
          <p:cNvSpPr txBox="1"/>
          <p:nvPr/>
        </p:nvSpPr>
        <p:spPr>
          <a:xfrm>
            <a:off x="7470648" y="2807208"/>
            <a:ext cx="329184" cy="228600"/>
          </a:xfrm>
          <a:prstGeom prst="rect">
            <a:avLst/>
          </a:prstGeom>
          <a:noFill/>
        </p:spPr>
        <p:txBody>
          <a:bodyPr wrap="square" lIns="0" rIns="0" tIns="0" bIns="0">
            <a:spAutoFit/>
          </a:bodyPr>
          <a:lstStyle/>
          <a:p>
            <a:pPr algn="l">
              <a:lnSpc>
                <a:spcPct val="101000"/>
              </a:lnSpc>
              <a:spcAft>
                <a:spcPts val="300"/>
              </a:spcAft>
              <a:defRPr sz="1000" b="0">
                <a:solidFill>
                  <a:srgbClr val="5C6E83"/>
                </a:solidFill>
                <a:latin typeface="DejaVu Sans"/>
              </a:defRPr>
            </a:pPr>
            <a:r>
              <a:t>02</a:t>
            </a:r>
          </a:p>
        </p:txBody>
      </p:sp>
      <p:sp>
        <p:nvSpPr>
          <p:cNvPr id="25" name="TextBox 24"/>
          <p:cNvSpPr txBox="1"/>
          <p:nvPr/>
        </p:nvSpPr>
        <p:spPr>
          <a:xfrm>
            <a:off x="4590288" y="3246120"/>
            <a:ext cx="3172968" cy="475488"/>
          </a:xfrm>
          <a:prstGeom prst="rect">
            <a:avLst/>
          </a:prstGeom>
          <a:noFill/>
        </p:spPr>
        <p:txBody>
          <a:bodyPr wrap="square" lIns="0" rIns="0" tIns="0" bIns="0">
            <a:spAutoFit/>
          </a:bodyPr>
          <a:lstStyle/>
          <a:p>
            <a:pPr algn="l">
              <a:lnSpc>
                <a:spcPct val="101000"/>
              </a:lnSpc>
              <a:spcAft>
                <a:spcPts val="300"/>
              </a:spcAft>
              <a:defRPr sz="1300" b="0">
                <a:solidFill>
                  <a:srgbClr val="5C6E83"/>
                </a:solidFill>
                <a:latin typeface="DejaVu Sans"/>
              </a:defRPr>
            </a:pPr>
            <a:r>
              <a:t>¿Quién participa y quién orienta?</a:t>
            </a:r>
          </a:p>
        </p:txBody>
      </p:sp>
      <p:sp>
        <p:nvSpPr>
          <p:cNvPr id="26" name="Rectangle 25"/>
          <p:cNvSpPr/>
          <p:nvPr/>
        </p:nvSpPr>
        <p:spPr>
          <a:xfrm>
            <a:off x="4599432" y="3931920"/>
            <a:ext cx="3182112" cy="11887"/>
          </a:xfrm>
          <a:prstGeom prst="rect">
            <a:avLst/>
          </a:prstGeom>
          <a:solidFill>
            <a:srgbClr val="BBC8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8183880" y="2651760"/>
            <a:ext cx="3602736" cy="1618488"/>
          </a:xfrm>
          <a:prstGeom prst="roundRect">
            <a:avLst>
              <a:gd name="adj" fmla="val 12000"/>
            </a:avLst>
          </a:prstGeom>
          <a:solidFill>
            <a:srgbClr val="F0E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85048" y="2807208"/>
            <a:ext cx="2834640" cy="320040"/>
          </a:xfrm>
          <a:prstGeom prst="rect">
            <a:avLst/>
          </a:prstGeom>
          <a:noFill/>
        </p:spPr>
        <p:txBody>
          <a:bodyPr wrap="square" lIns="0" rIns="0" tIns="0" bIns="0">
            <a:spAutoFit/>
          </a:bodyPr>
          <a:lstStyle/>
          <a:p>
            <a:pPr algn="l">
              <a:lnSpc>
                <a:spcPct val="101000"/>
              </a:lnSpc>
              <a:spcAft>
                <a:spcPts val="300"/>
              </a:spcAft>
              <a:defRPr sz="2000" b="1">
                <a:solidFill>
                  <a:srgbClr val="203350"/>
                </a:solidFill>
                <a:latin typeface="DejaVu Sans"/>
              </a:defRPr>
            </a:pPr>
            <a:r>
              <a:t>Pregunta</a:t>
            </a:r>
          </a:p>
        </p:txBody>
      </p:sp>
      <p:sp>
        <p:nvSpPr>
          <p:cNvPr id="29" name="TextBox 28"/>
          <p:cNvSpPr txBox="1"/>
          <p:nvPr/>
        </p:nvSpPr>
        <p:spPr>
          <a:xfrm>
            <a:off x="11265408" y="2807208"/>
            <a:ext cx="329184" cy="228600"/>
          </a:xfrm>
          <a:prstGeom prst="rect">
            <a:avLst/>
          </a:prstGeom>
          <a:noFill/>
        </p:spPr>
        <p:txBody>
          <a:bodyPr wrap="square" lIns="0" rIns="0" tIns="0" bIns="0">
            <a:spAutoFit/>
          </a:bodyPr>
          <a:lstStyle/>
          <a:p>
            <a:pPr algn="l">
              <a:lnSpc>
                <a:spcPct val="101000"/>
              </a:lnSpc>
              <a:spcAft>
                <a:spcPts val="300"/>
              </a:spcAft>
              <a:defRPr sz="1000" b="0">
                <a:solidFill>
                  <a:srgbClr val="5C6E83"/>
                </a:solidFill>
                <a:latin typeface="DejaVu Sans"/>
              </a:defRPr>
            </a:pPr>
            <a:r>
              <a:t>03</a:t>
            </a:r>
          </a:p>
        </p:txBody>
      </p:sp>
      <p:sp>
        <p:nvSpPr>
          <p:cNvPr id="30" name="TextBox 29"/>
          <p:cNvSpPr txBox="1"/>
          <p:nvPr/>
        </p:nvSpPr>
        <p:spPr>
          <a:xfrm>
            <a:off x="8385048" y="3246120"/>
            <a:ext cx="3172968" cy="475488"/>
          </a:xfrm>
          <a:prstGeom prst="rect">
            <a:avLst/>
          </a:prstGeom>
          <a:noFill/>
        </p:spPr>
        <p:txBody>
          <a:bodyPr wrap="square" lIns="0" rIns="0" tIns="0" bIns="0">
            <a:spAutoFit/>
          </a:bodyPr>
          <a:lstStyle/>
          <a:p>
            <a:pPr algn="l">
              <a:lnSpc>
                <a:spcPct val="101000"/>
              </a:lnSpc>
              <a:spcAft>
                <a:spcPts val="300"/>
              </a:spcAft>
              <a:defRPr sz="1300" b="0">
                <a:solidFill>
                  <a:srgbClr val="5C6E83"/>
                </a:solidFill>
                <a:latin typeface="DejaVu Sans"/>
              </a:defRPr>
            </a:pPr>
            <a:r>
              <a:t>¿Qué queremos comprender o comparar?</a:t>
            </a:r>
          </a:p>
        </p:txBody>
      </p:sp>
      <p:sp>
        <p:nvSpPr>
          <p:cNvPr id="31" name="Rectangle 30"/>
          <p:cNvSpPr/>
          <p:nvPr/>
        </p:nvSpPr>
        <p:spPr>
          <a:xfrm>
            <a:off x="8394192" y="3931920"/>
            <a:ext cx="3182112" cy="11887"/>
          </a:xfrm>
          <a:prstGeom prst="rect">
            <a:avLst/>
          </a:prstGeom>
          <a:solidFill>
            <a:srgbClr val="BBC8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94360" y="4407408"/>
            <a:ext cx="3602736" cy="1618488"/>
          </a:xfrm>
          <a:prstGeom prst="roundRect">
            <a:avLst>
              <a:gd name="adj" fmla="val 12000"/>
            </a:avLst>
          </a:prstGeom>
          <a:solidFill>
            <a:srgbClr val="FFF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95528" y="4562856"/>
            <a:ext cx="2834640" cy="320040"/>
          </a:xfrm>
          <a:prstGeom prst="rect">
            <a:avLst/>
          </a:prstGeom>
          <a:noFill/>
        </p:spPr>
        <p:txBody>
          <a:bodyPr wrap="square" lIns="0" rIns="0" tIns="0" bIns="0">
            <a:spAutoFit/>
          </a:bodyPr>
          <a:lstStyle/>
          <a:p>
            <a:pPr algn="l">
              <a:lnSpc>
                <a:spcPct val="101000"/>
              </a:lnSpc>
              <a:spcAft>
                <a:spcPts val="300"/>
              </a:spcAft>
              <a:defRPr sz="2000" b="1">
                <a:solidFill>
                  <a:srgbClr val="203350"/>
                </a:solidFill>
                <a:latin typeface="DejaVu Sans"/>
              </a:defRPr>
            </a:pPr>
            <a:r>
              <a:t>Método</a:t>
            </a:r>
          </a:p>
        </p:txBody>
      </p:sp>
      <p:sp>
        <p:nvSpPr>
          <p:cNvPr id="34" name="TextBox 33"/>
          <p:cNvSpPr txBox="1"/>
          <p:nvPr/>
        </p:nvSpPr>
        <p:spPr>
          <a:xfrm>
            <a:off x="3675888" y="4562856"/>
            <a:ext cx="329184" cy="228600"/>
          </a:xfrm>
          <a:prstGeom prst="rect">
            <a:avLst/>
          </a:prstGeom>
          <a:noFill/>
        </p:spPr>
        <p:txBody>
          <a:bodyPr wrap="square" lIns="0" rIns="0" tIns="0" bIns="0">
            <a:spAutoFit/>
          </a:bodyPr>
          <a:lstStyle/>
          <a:p>
            <a:pPr algn="l">
              <a:lnSpc>
                <a:spcPct val="101000"/>
              </a:lnSpc>
              <a:spcAft>
                <a:spcPts val="300"/>
              </a:spcAft>
              <a:defRPr sz="1000" b="0">
                <a:solidFill>
                  <a:srgbClr val="5C6E83"/>
                </a:solidFill>
                <a:latin typeface="DejaVu Sans"/>
              </a:defRPr>
            </a:pPr>
            <a:r>
              <a:t>04</a:t>
            </a:r>
          </a:p>
        </p:txBody>
      </p:sp>
      <p:sp>
        <p:nvSpPr>
          <p:cNvPr id="35" name="TextBox 34"/>
          <p:cNvSpPr txBox="1"/>
          <p:nvPr/>
        </p:nvSpPr>
        <p:spPr>
          <a:xfrm>
            <a:off x="795528" y="5001768"/>
            <a:ext cx="3172968" cy="475488"/>
          </a:xfrm>
          <a:prstGeom prst="rect">
            <a:avLst/>
          </a:prstGeom>
          <a:noFill/>
        </p:spPr>
        <p:txBody>
          <a:bodyPr wrap="square" lIns="0" rIns="0" tIns="0" bIns="0">
            <a:spAutoFit/>
          </a:bodyPr>
          <a:lstStyle/>
          <a:p>
            <a:pPr algn="l">
              <a:lnSpc>
                <a:spcPct val="101000"/>
              </a:lnSpc>
              <a:spcAft>
                <a:spcPts val="300"/>
              </a:spcAft>
              <a:defRPr sz="1300" b="0">
                <a:solidFill>
                  <a:srgbClr val="5C6E83"/>
                </a:solidFill>
                <a:latin typeface="DejaVu Sans"/>
              </a:defRPr>
            </a:pPr>
            <a:r>
              <a:t>¿Cómo empezar con recursos reales?</a:t>
            </a:r>
          </a:p>
        </p:txBody>
      </p:sp>
      <p:sp>
        <p:nvSpPr>
          <p:cNvPr id="36" name="Rectangle 35"/>
          <p:cNvSpPr/>
          <p:nvPr/>
        </p:nvSpPr>
        <p:spPr>
          <a:xfrm>
            <a:off x="804672" y="5687568"/>
            <a:ext cx="3182112" cy="11887"/>
          </a:xfrm>
          <a:prstGeom prst="rect">
            <a:avLst/>
          </a:prstGeom>
          <a:solidFill>
            <a:srgbClr val="BBC8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4389120" y="4407408"/>
            <a:ext cx="3602736" cy="1618488"/>
          </a:xfrm>
          <a:prstGeom prst="roundRect">
            <a:avLst>
              <a:gd name="adj" fmla="val 12000"/>
            </a:avLst>
          </a:prstGeom>
          <a:solidFill>
            <a:srgbClr val="E9F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590288" y="4562856"/>
            <a:ext cx="2834640" cy="320040"/>
          </a:xfrm>
          <a:prstGeom prst="rect">
            <a:avLst/>
          </a:prstGeom>
          <a:noFill/>
        </p:spPr>
        <p:txBody>
          <a:bodyPr wrap="square" lIns="0" rIns="0" tIns="0" bIns="0">
            <a:spAutoFit/>
          </a:bodyPr>
          <a:lstStyle/>
          <a:p>
            <a:pPr algn="l">
              <a:lnSpc>
                <a:spcPct val="101000"/>
              </a:lnSpc>
              <a:spcAft>
                <a:spcPts val="300"/>
              </a:spcAft>
              <a:defRPr sz="2000" b="1">
                <a:solidFill>
                  <a:srgbClr val="203350"/>
                </a:solidFill>
                <a:latin typeface="DejaVu Sans"/>
              </a:defRPr>
            </a:pPr>
            <a:r>
              <a:t>Evidencia</a:t>
            </a:r>
          </a:p>
        </p:txBody>
      </p:sp>
      <p:sp>
        <p:nvSpPr>
          <p:cNvPr id="39" name="TextBox 38"/>
          <p:cNvSpPr txBox="1"/>
          <p:nvPr/>
        </p:nvSpPr>
        <p:spPr>
          <a:xfrm>
            <a:off x="7470648" y="4562856"/>
            <a:ext cx="329184" cy="228600"/>
          </a:xfrm>
          <a:prstGeom prst="rect">
            <a:avLst/>
          </a:prstGeom>
          <a:noFill/>
        </p:spPr>
        <p:txBody>
          <a:bodyPr wrap="square" lIns="0" rIns="0" tIns="0" bIns="0">
            <a:spAutoFit/>
          </a:bodyPr>
          <a:lstStyle/>
          <a:p>
            <a:pPr algn="l">
              <a:lnSpc>
                <a:spcPct val="101000"/>
              </a:lnSpc>
              <a:spcAft>
                <a:spcPts val="300"/>
              </a:spcAft>
              <a:defRPr sz="1000" b="0">
                <a:solidFill>
                  <a:srgbClr val="5C6E83"/>
                </a:solidFill>
                <a:latin typeface="DejaVu Sans"/>
              </a:defRPr>
            </a:pPr>
            <a:r>
              <a:t>05</a:t>
            </a:r>
          </a:p>
        </p:txBody>
      </p:sp>
      <p:sp>
        <p:nvSpPr>
          <p:cNvPr id="40" name="TextBox 39"/>
          <p:cNvSpPr txBox="1"/>
          <p:nvPr/>
        </p:nvSpPr>
        <p:spPr>
          <a:xfrm>
            <a:off x="4590288" y="5001768"/>
            <a:ext cx="3172968" cy="475488"/>
          </a:xfrm>
          <a:prstGeom prst="rect">
            <a:avLst/>
          </a:prstGeom>
          <a:noFill/>
        </p:spPr>
        <p:txBody>
          <a:bodyPr wrap="square" lIns="0" rIns="0" tIns="0" bIns="0">
            <a:spAutoFit/>
          </a:bodyPr>
          <a:lstStyle/>
          <a:p>
            <a:pPr algn="l">
              <a:lnSpc>
                <a:spcPct val="101000"/>
              </a:lnSpc>
              <a:spcAft>
                <a:spcPts val="300"/>
              </a:spcAft>
              <a:defRPr sz="1300" b="0">
                <a:solidFill>
                  <a:srgbClr val="5C6E83"/>
                </a:solidFill>
                <a:latin typeface="DejaVu Sans"/>
              </a:defRPr>
            </a:pPr>
            <a:r>
              <a:t>¿Qué registraríamos para responder?</a:t>
            </a:r>
          </a:p>
        </p:txBody>
      </p:sp>
      <p:sp>
        <p:nvSpPr>
          <p:cNvPr id="41" name="Rectangle 40"/>
          <p:cNvSpPr/>
          <p:nvPr/>
        </p:nvSpPr>
        <p:spPr>
          <a:xfrm>
            <a:off x="4599432" y="5687568"/>
            <a:ext cx="3182112" cy="11887"/>
          </a:xfrm>
          <a:prstGeom prst="rect">
            <a:avLst/>
          </a:prstGeom>
          <a:solidFill>
            <a:srgbClr val="BBC8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8183880" y="4407408"/>
            <a:ext cx="3602736" cy="1618488"/>
          </a:xfrm>
          <a:prstGeom prst="roundRect">
            <a:avLst>
              <a:gd name="adj" fmla="val 12000"/>
            </a:avLst>
          </a:prstGeom>
          <a:solidFill>
            <a:srgbClr val="FBE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385048" y="4562856"/>
            <a:ext cx="2834640" cy="320040"/>
          </a:xfrm>
          <a:prstGeom prst="rect">
            <a:avLst/>
          </a:prstGeom>
          <a:noFill/>
        </p:spPr>
        <p:txBody>
          <a:bodyPr wrap="square" lIns="0" rIns="0" tIns="0" bIns="0">
            <a:spAutoFit/>
          </a:bodyPr>
          <a:lstStyle/>
          <a:p>
            <a:pPr algn="l">
              <a:lnSpc>
                <a:spcPct val="101000"/>
              </a:lnSpc>
              <a:spcAft>
                <a:spcPts val="300"/>
              </a:spcAft>
              <a:defRPr sz="2000" b="1">
                <a:solidFill>
                  <a:srgbClr val="203350"/>
                </a:solidFill>
                <a:latin typeface="DejaVu Sans"/>
              </a:defRPr>
            </a:pPr>
            <a:r>
              <a:t>Devolución</a:t>
            </a:r>
          </a:p>
        </p:txBody>
      </p:sp>
      <p:sp>
        <p:nvSpPr>
          <p:cNvPr id="44" name="TextBox 43"/>
          <p:cNvSpPr txBox="1"/>
          <p:nvPr/>
        </p:nvSpPr>
        <p:spPr>
          <a:xfrm>
            <a:off x="11265408" y="4562856"/>
            <a:ext cx="329184" cy="228600"/>
          </a:xfrm>
          <a:prstGeom prst="rect">
            <a:avLst/>
          </a:prstGeom>
          <a:noFill/>
        </p:spPr>
        <p:txBody>
          <a:bodyPr wrap="square" lIns="0" rIns="0" tIns="0" bIns="0">
            <a:spAutoFit/>
          </a:bodyPr>
          <a:lstStyle/>
          <a:p>
            <a:pPr algn="l">
              <a:lnSpc>
                <a:spcPct val="101000"/>
              </a:lnSpc>
              <a:spcAft>
                <a:spcPts val="300"/>
              </a:spcAft>
              <a:defRPr sz="1000" b="0">
                <a:solidFill>
                  <a:srgbClr val="5C6E83"/>
                </a:solidFill>
                <a:latin typeface="DejaVu Sans"/>
              </a:defRPr>
            </a:pPr>
            <a:r>
              <a:t>06</a:t>
            </a:r>
          </a:p>
        </p:txBody>
      </p:sp>
      <p:sp>
        <p:nvSpPr>
          <p:cNvPr id="45" name="TextBox 44"/>
          <p:cNvSpPr txBox="1"/>
          <p:nvPr/>
        </p:nvSpPr>
        <p:spPr>
          <a:xfrm>
            <a:off x="8385048" y="5001768"/>
            <a:ext cx="3172968" cy="475488"/>
          </a:xfrm>
          <a:prstGeom prst="rect">
            <a:avLst/>
          </a:prstGeom>
          <a:noFill/>
        </p:spPr>
        <p:txBody>
          <a:bodyPr wrap="square" lIns="0" rIns="0" tIns="0" bIns="0">
            <a:spAutoFit/>
          </a:bodyPr>
          <a:lstStyle/>
          <a:p>
            <a:pPr algn="l">
              <a:lnSpc>
                <a:spcPct val="101000"/>
              </a:lnSpc>
              <a:spcAft>
                <a:spcPts val="300"/>
              </a:spcAft>
              <a:defRPr sz="1300" b="0">
                <a:solidFill>
                  <a:srgbClr val="5C6E83"/>
                </a:solidFill>
                <a:latin typeface="DejaVu Sans"/>
              </a:defRPr>
            </a:pPr>
            <a:r>
              <a:t>¿Cómo compartiríamos algo útil?</a:t>
            </a:r>
          </a:p>
        </p:txBody>
      </p:sp>
      <p:sp>
        <p:nvSpPr>
          <p:cNvPr id="46" name="Rectangle 45"/>
          <p:cNvSpPr/>
          <p:nvPr/>
        </p:nvSpPr>
        <p:spPr>
          <a:xfrm>
            <a:off x="8394192" y="5687568"/>
            <a:ext cx="3182112" cy="11887"/>
          </a:xfrm>
          <a:prstGeom prst="rect">
            <a:avLst/>
          </a:prstGeom>
          <a:solidFill>
            <a:srgbClr val="BBC8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advClick="1">
    <p:fade/>
  </p:transition>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9FBFF"/>
        </a:solidFill>
        <a:effectLst/>
      </p:bgPr>
    </p:bg>
    <p:spTree>
      <p:nvGrpSpPr>
        <p:cNvPr id="1" name=""/>
        <p:cNvGrpSpPr/>
        <p:nvPr/>
      </p:nvGrpSpPr>
      <p:grpSpPr/>
      <p:sp>
        <p:nvSpPr>
          <p:cNvPr id="2" name="TextBox 1"/>
          <p:cNvSpPr txBox="1"/>
          <p:nvPr/>
        </p:nvSpPr>
        <p:spPr>
          <a:xfrm>
            <a:off x="548640" y="365760"/>
            <a:ext cx="7543800" cy="274320"/>
          </a:xfrm>
          <a:prstGeom prst="rect">
            <a:avLst/>
          </a:prstGeom>
          <a:noFill/>
        </p:spPr>
        <p:txBody>
          <a:bodyPr wrap="square" lIns="0" rIns="0" tIns="0" bIns="0">
            <a:spAutoFit/>
          </a:bodyPr>
          <a:lstStyle/>
          <a:p>
            <a:pPr algn="l">
              <a:lnSpc>
                <a:spcPct val="101000"/>
              </a:lnSpc>
              <a:spcAft>
                <a:spcPts val="300"/>
              </a:spcAft>
              <a:defRPr sz="930" b="1">
                <a:solidFill>
                  <a:srgbClr val="A85E20"/>
                </a:solidFill>
                <a:latin typeface="DejaVu Sans"/>
              </a:defRPr>
            </a:pPr>
            <a:r>
              <a:t>PRUEBA UNA PREGUNTA</a:t>
            </a:r>
          </a:p>
        </p:txBody>
      </p:sp>
      <p:sp>
        <p:nvSpPr>
          <p:cNvPr id="3" name="Rounded Rectangle 2">
            <a:hlinkClick action="ppaction://hlinksldjump" r:id="rId2"/>
          </p:cNvPr>
          <p:cNvSpPr/>
          <p:nvPr/>
        </p:nvSpPr>
        <p:spPr>
          <a:xfrm>
            <a:off x="8229600" y="310896"/>
            <a:ext cx="795528" cy="310896"/>
          </a:xfrm>
          <a:prstGeom prst="roundRect">
            <a:avLst>
              <a:gd name="adj" fmla="val 12000"/>
            </a:avLst>
          </a:prstGeom>
          <a:solidFill>
            <a:srgbClr val="E2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a:hlinkClick action="ppaction://hlinksldjump" r:id="rId2"/>
          </p:cNvPr>
          <p:cNvSpPr txBox="1"/>
          <p:nvPr/>
        </p:nvSpPr>
        <p:spPr>
          <a:xfrm>
            <a:off x="8339327"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Explorar</a:t>
            </a:r>
          </a:p>
        </p:txBody>
      </p:sp>
      <p:sp>
        <p:nvSpPr>
          <p:cNvPr id="5" name="Rounded Rectangle 4">
            <a:hlinkClick action="ppaction://hlinksldjump" r:id="rId3"/>
          </p:cNvPr>
          <p:cNvSpPr/>
          <p:nvPr/>
        </p:nvSpPr>
        <p:spPr>
          <a:xfrm>
            <a:off x="9089136" y="310896"/>
            <a:ext cx="795528" cy="310896"/>
          </a:xfrm>
          <a:prstGeom prst="roundRect">
            <a:avLst>
              <a:gd name="adj" fmla="val 12000"/>
            </a:avLst>
          </a:prstGeom>
          <a:solidFill>
            <a:srgbClr val="F0E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a:hlinkClick action="ppaction://hlinksldjump" r:id="rId3"/>
          </p:cNvPr>
          <p:cNvSpPr txBox="1"/>
          <p:nvPr/>
        </p:nvSpPr>
        <p:spPr>
          <a:xfrm>
            <a:off x="9198863"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Diseñar</a:t>
            </a:r>
          </a:p>
        </p:txBody>
      </p:sp>
      <p:sp>
        <p:nvSpPr>
          <p:cNvPr id="7" name="Rounded Rectangle 6">
            <a:hlinkClick action="ppaction://hlinksldjump" r:id="rId4"/>
          </p:cNvPr>
          <p:cNvSpPr/>
          <p:nvPr/>
        </p:nvSpPr>
        <p:spPr>
          <a:xfrm>
            <a:off x="9948672" y="310896"/>
            <a:ext cx="795528" cy="310896"/>
          </a:xfrm>
          <a:prstGeom prst="roundRect">
            <a:avLst>
              <a:gd name="adj" fmla="val 12000"/>
            </a:avLst>
          </a:prstGeom>
          <a:solidFill>
            <a:srgbClr val="FFF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a:hlinkClick action="ppaction://hlinksldjump" r:id="rId4"/>
          </p:cNvPr>
          <p:cNvSpPr txBox="1"/>
          <p:nvPr/>
        </p:nvSpPr>
        <p:spPr>
          <a:xfrm>
            <a:off x="10058399"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Servir</a:t>
            </a:r>
          </a:p>
        </p:txBody>
      </p:sp>
      <p:sp>
        <p:nvSpPr>
          <p:cNvPr id="9" name="Rounded Rectangle 8">
            <a:hlinkClick action="ppaction://hlinksldjump" r:id="rId5"/>
          </p:cNvPr>
          <p:cNvSpPr/>
          <p:nvPr/>
        </p:nvSpPr>
        <p:spPr>
          <a:xfrm>
            <a:off x="10808208" y="310896"/>
            <a:ext cx="795528" cy="310896"/>
          </a:xfrm>
          <a:prstGeom prst="roundRect">
            <a:avLst>
              <a:gd name="adj" fmla="val 12000"/>
            </a:avLst>
          </a:prstGeom>
          <a:solidFill>
            <a:srgbClr val="E9F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a:hlinkClick action="ppaction://hlinksldjump" r:id="rId5"/>
          </p:cNvPr>
          <p:cNvSpPr txBox="1"/>
          <p:nvPr/>
        </p:nvSpPr>
        <p:spPr>
          <a:xfrm>
            <a:off x="10917936"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Empezar</a:t>
            </a:r>
          </a:p>
        </p:txBody>
      </p:sp>
      <p:sp>
        <p:nvSpPr>
          <p:cNvPr id="11" name="TextBox 10"/>
          <p:cNvSpPr txBox="1"/>
          <p:nvPr/>
        </p:nvSpPr>
        <p:spPr>
          <a:xfrm>
            <a:off x="548640" y="877824"/>
            <a:ext cx="11064240" cy="1234440"/>
          </a:xfrm>
          <a:prstGeom prst="rect">
            <a:avLst/>
          </a:prstGeom>
          <a:noFill/>
        </p:spPr>
        <p:txBody>
          <a:bodyPr wrap="square" lIns="0" rIns="0" tIns="0" bIns="0">
            <a:spAutoFit/>
          </a:bodyPr>
          <a:lstStyle/>
          <a:p>
            <a:pPr algn="l">
              <a:lnSpc>
                <a:spcPct val="101000"/>
              </a:lnSpc>
              <a:spcAft>
                <a:spcPts val="300"/>
              </a:spcAft>
              <a:defRPr sz="3900" b="1">
                <a:solidFill>
                  <a:srgbClr val="203350"/>
                </a:solidFill>
                <a:latin typeface="DejaVu Sans"/>
              </a:defRPr>
            </a:pPr>
            <a:r>
              <a:t>¿Cuál permite</a:t>
            </a:r>
          </a:p>
          <a:p>
            <a:pPr algn="l">
              <a:lnSpc>
                <a:spcPct val="101000"/>
              </a:lnSpc>
              <a:spcAft>
                <a:spcPts val="300"/>
              </a:spcAft>
              <a:defRPr sz="3900" b="1">
                <a:solidFill>
                  <a:srgbClr val="203350"/>
                </a:solidFill>
                <a:latin typeface="DejaVu Sans"/>
              </a:defRPr>
            </a:pPr>
            <a:r>
              <a:t>diseñar una investigación?</a:t>
            </a:r>
          </a:p>
        </p:txBody>
      </p:sp>
      <p:sp>
        <p:nvSpPr>
          <p:cNvPr id="12" name="TextBox 11"/>
          <p:cNvSpPr txBox="1"/>
          <p:nvPr/>
        </p:nvSpPr>
        <p:spPr>
          <a:xfrm>
            <a:off x="566928" y="2112264"/>
            <a:ext cx="10972800" cy="365760"/>
          </a:xfrm>
          <a:prstGeom prst="rect">
            <a:avLst/>
          </a:prstGeom>
          <a:noFill/>
        </p:spPr>
        <p:txBody>
          <a:bodyPr wrap="square" lIns="0" rIns="0" tIns="0" bIns="0">
            <a:spAutoFit/>
          </a:bodyPr>
          <a:lstStyle/>
          <a:p>
            <a:pPr algn="l">
              <a:lnSpc>
                <a:spcPct val="101000"/>
              </a:lnSpc>
              <a:spcAft>
                <a:spcPts val="300"/>
              </a:spcAft>
              <a:defRPr sz="1450" b="0">
                <a:solidFill>
                  <a:srgbClr val="5C6E83"/>
                </a:solidFill>
                <a:latin typeface="DejaVu Sans"/>
              </a:defRPr>
            </a:pPr>
            <a:r>
              <a:t>Elige y explica qué la hace abordable.</a:t>
            </a:r>
          </a:p>
        </p:txBody>
      </p:sp>
      <p:sp>
        <p:nvSpPr>
          <p:cNvPr id="13" name="TextBox 12"/>
          <p:cNvSpPr txBox="1"/>
          <p:nvPr/>
        </p:nvSpPr>
        <p:spPr>
          <a:xfrm>
            <a:off x="548640" y="6446520"/>
            <a:ext cx="9966960" cy="210312"/>
          </a:xfrm>
          <a:prstGeom prst="rect">
            <a:avLst/>
          </a:prstGeom>
          <a:noFill/>
        </p:spPr>
        <p:txBody>
          <a:bodyPr wrap="square" lIns="0" rIns="0" tIns="0" bIns="0">
            <a:spAutoFit/>
          </a:bodyPr>
          <a:lstStyle/>
          <a:p>
            <a:pPr algn="l">
              <a:lnSpc>
                <a:spcPct val="101000"/>
              </a:lnSpc>
              <a:spcAft>
                <a:spcPts val="300"/>
              </a:spcAft>
              <a:defRPr sz="810" b="0">
                <a:solidFill>
                  <a:srgbClr val="5C6E83"/>
                </a:solidFill>
                <a:latin typeface="DejaVu Sans"/>
              </a:defRPr>
            </a:pPr>
            <a:r>
              <a:t>Actividad de formulación de preguntas · ejemplo hipotético</a:t>
            </a:r>
          </a:p>
        </p:txBody>
      </p:sp>
      <p:sp>
        <p:nvSpPr>
          <p:cNvPr id="14" name="Rounded Rectangle 13">
            <a:hlinkClick action="ppaction://hlinksldjump" r:id="rId6"/>
          </p:cNvPr>
          <p:cNvSpPr/>
          <p:nvPr/>
        </p:nvSpPr>
        <p:spPr>
          <a:xfrm>
            <a:off x="10469880" y="6400800"/>
            <a:ext cx="594360" cy="265176"/>
          </a:xfrm>
          <a:prstGeom prst="roundRect">
            <a:avLst>
              <a:gd name="adj" fmla="val 12000"/>
            </a:avLst>
          </a:prstGeom>
          <a:solidFill>
            <a:srgbClr val="F0E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a:hlinkClick action="ppaction://hlinksldjump" r:id="rId6"/>
          </p:cNvPr>
          <p:cNvSpPr txBox="1"/>
          <p:nvPr/>
        </p:nvSpPr>
        <p:spPr>
          <a:xfrm>
            <a:off x="10579607" y="6483096"/>
            <a:ext cx="374904" cy="173735"/>
          </a:xfrm>
          <a:prstGeom prst="rect">
            <a:avLst/>
          </a:prstGeom>
          <a:noFill/>
        </p:spPr>
        <p:txBody>
          <a:bodyPr wrap="square" lIns="0" rIns="0" tIns="0" bIns="0">
            <a:spAutoFit/>
          </a:bodyPr>
          <a:lstStyle/>
          <a:p>
            <a:pPr algn="l">
              <a:lnSpc>
                <a:spcPct val="101000"/>
              </a:lnSpc>
              <a:spcAft>
                <a:spcPts val="300"/>
              </a:spcAft>
              <a:defRPr sz="800" b="1">
                <a:solidFill>
                  <a:srgbClr val="8060BA"/>
                </a:solidFill>
                <a:latin typeface="DejaVu Sans"/>
              </a:defRPr>
            </a:pPr>
            <a:r>
              <a:t>Ruta</a:t>
            </a:r>
          </a:p>
        </p:txBody>
      </p:sp>
      <p:sp>
        <p:nvSpPr>
          <p:cNvPr id="16" name="TextBox 15"/>
          <p:cNvSpPr txBox="1"/>
          <p:nvPr/>
        </p:nvSpPr>
        <p:spPr>
          <a:xfrm>
            <a:off x="11228832" y="6400800"/>
            <a:ext cx="457200" cy="274320"/>
          </a:xfrm>
          <a:prstGeom prst="rect">
            <a:avLst/>
          </a:prstGeom>
          <a:noFill/>
        </p:spPr>
        <p:txBody>
          <a:bodyPr wrap="square" lIns="0" rIns="0" tIns="0" bIns="0">
            <a:spAutoFit/>
          </a:bodyPr>
          <a:lstStyle/>
          <a:p>
            <a:pPr algn="r">
              <a:lnSpc>
                <a:spcPct val="101000"/>
              </a:lnSpc>
              <a:spcAft>
                <a:spcPts val="300"/>
              </a:spcAft>
              <a:defRPr sz="1300" b="1">
                <a:solidFill>
                  <a:srgbClr val="203350"/>
                </a:solidFill>
                <a:latin typeface="DejaVu Sans"/>
              </a:defRPr>
            </a:pPr>
            <a:r>
              <a:t>13</a:t>
            </a:r>
          </a:p>
        </p:txBody>
      </p:sp>
      <p:sp>
        <p:nvSpPr>
          <p:cNvPr id="17" name="Rectangle 16"/>
          <p:cNvSpPr/>
          <p:nvPr/>
        </p:nvSpPr>
        <p:spPr>
          <a:xfrm>
            <a:off x="0" y="6821424"/>
            <a:ext cx="6095984" cy="36576"/>
          </a:xfrm>
          <a:prstGeom prst="rect">
            <a:avLst/>
          </a:prstGeom>
          <a:solidFill>
            <a:srgbClr val="A8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94360" y="2743200"/>
            <a:ext cx="2816352" cy="3154680"/>
          </a:xfrm>
          <a:prstGeom prst="roundRect">
            <a:avLst>
              <a:gd name="adj" fmla="val 12000"/>
            </a:avLst>
          </a:prstGeom>
          <a:solidFill>
            <a:srgbClr val="F0E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icon_target.png"/>
          <p:cNvPicPr>
            <a:picLocks noChangeAspect="1"/>
          </p:cNvPicPr>
          <p:nvPr/>
        </p:nvPicPr>
        <p:blipFill>
          <a:blip r:embed="rId8"/>
          <a:stretch>
            <a:fillRect/>
          </a:stretch>
        </p:blipFill>
        <p:spPr>
          <a:xfrm>
            <a:off x="1188720" y="3017520"/>
            <a:ext cx="1481328" cy="1481328"/>
          </a:xfrm>
          <a:prstGeom prst="rect">
            <a:avLst/>
          </a:prstGeom>
        </p:spPr>
      </p:pic>
      <p:sp>
        <p:nvSpPr>
          <p:cNvPr id="20" name="TextBox 19"/>
          <p:cNvSpPr txBox="1"/>
          <p:nvPr/>
        </p:nvSpPr>
        <p:spPr>
          <a:xfrm>
            <a:off x="932688" y="4663440"/>
            <a:ext cx="2148840" cy="914400"/>
          </a:xfrm>
          <a:prstGeom prst="rect">
            <a:avLst/>
          </a:prstGeom>
          <a:noFill/>
        </p:spPr>
        <p:txBody>
          <a:bodyPr wrap="square" lIns="0" rIns="0" tIns="0" bIns="0">
            <a:spAutoFit/>
          </a:bodyPr>
          <a:lstStyle/>
          <a:p>
            <a:pPr algn="ctr">
              <a:lnSpc>
                <a:spcPct val="101000"/>
              </a:lnSpc>
              <a:spcAft>
                <a:spcPts val="300"/>
              </a:spcAft>
              <a:defRPr sz="2100" b="1">
                <a:solidFill>
                  <a:srgbClr val="203350"/>
                </a:solidFill>
                <a:latin typeface="DejaVu Sans"/>
              </a:defRPr>
            </a:pPr>
            <a:r>
              <a:t>Delimitar</a:t>
            </a:r>
          </a:p>
          <a:p>
            <a:pPr algn="ctr">
              <a:lnSpc>
                <a:spcPct val="101000"/>
              </a:lnSpc>
              <a:spcAft>
                <a:spcPts val="300"/>
              </a:spcAft>
              <a:defRPr sz="2100" b="1">
                <a:solidFill>
                  <a:srgbClr val="203350"/>
                </a:solidFill>
                <a:latin typeface="DejaVu Sans"/>
              </a:defRPr>
            </a:pPr>
            <a:r>
              <a:t>hace posible</a:t>
            </a:r>
          </a:p>
          <a:p>
            <a:pPr algn="ctr">
              <a:lnSpc>
                <a:spcPct val="101000"/>
              </a:lnSpc>
              <a:spcAft>
                <a:spcPts val="300"/>
              </a:spcAft>
              <a:defRPr sz="2100" b="1">
                <a:solidFill>
                  <a:srgbClr val="203350"/>
                </a:solidFill>
                <a:latin typeface="DejaVu Sans"/>
              </a:defRPr>
            </a:pPr>
            <a:r>
              <a:t>investigar.</a:t>
            </a:r>
          </a:p>
        </p:txBody>
      </p:sp>
      <p:sp>
        <p:nvSpPr>
          <p:cNvPr id="21" name="Rounded Rectangle 20">
            <a:hlinkClick action="ppaction://hlinksldjump" r:id="rId9"/>
          </p:cNvPr>
          <p:cNvSpPr/>
          <p:nvPr/>
        </p:nvSpPr>
        <p:spPr>
          <a:xfrm>
            <a:off x="3730752" y="2743200"/>
            <a:ext cx="7909560" cy="804672"/>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a:hlinkClick action="ppaction://hlinksldjump" r:id="rId9"/>
          </p:cNvPr>
          <p:cNvSpPr txBox="1"/>
          <p:nvPr/>
        </p:nvSpPr>
        <p:spPr>
          <a:xfrm>
            <a:off x="3840480" y="2825496"/>
            <a:ext cx="7690104" cy="713232"/>
          </a:xfrm>
          <a:prstGeom prst="rect">
            <a:avLst/>
          </a:prstGeom>
          <a:noFill/>
        </p:spPr>
        <p:txBody>
          <a:bodyPr wrap="square" lIns="0" rIns="0" tIns="0" bIns="0">
            <a:spAutoFit/>
          </a:bodyPr>
          <a:lstStyle/>
          <a:p>
            <a:pPr algn="l">
              <a:lnSpc>
                <a:spcPct val="101000"/>
              </a:lnSpc>
              <a:spcAft>
                <a:spcPts val="300"/>
              </a:spcAft>
              <a:defRPr sz="1600" b="1">
                <a:solidFill>
                  <a:srgbClr val="203350"/>
                </a:solidFill>
                <a:latin typeface="DejaVu Sans"/>
              </a:defRPr>
            </a:pPr>
            <a:r>
              <a:t>A   ¿Cómo eliminar todos los problemas del agua?</a:t>
            </a:r>
          </a:p>
        </p:txBody>
      </p:sp>
      <p:sp>
        <p:nvSpPr>
          <p:cNvPr id="23" name="Rounded Rectangle 22">
            <a:hlinkClick action="ppaction://hlinksldjump" r:id="rId9"/>
          </p:cNvPr>
          <p:cNvSpPr/>
          <p:nvPr/>
        </p:nvSpPr>
        <p:spPr>
          <a:xfrm>
            <a:off x="3730752" y="3685032"/>
            <a:ext cx="7909560" cy="804672"/>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a:hlinkClick action="ppaction://hlinksldjump" r:id="rId9"/>
          </p:cNvPr>
          <p:cNvSpPr txBox="1"/>
          <p:nvPr/>
        </p:nvSpPr>
        <p:spPr>
          <a:xfrm>
            <a:off x="3840480" y="3767328"/>
            <a:ext cx="7690104" cy="713232"/>
          </a:xfrm>
          <a:prstGeom prst="rect">
            <a:avLst/>
          </a:prstGeom>
          <a:noFill/>
        </p:spPr>
        <p:txBody>
          <a:bodyPr wrap="square" lIns="0" rIns="0" tIns="0" bIns="0">
            <a:spAutoFit/>
          </a:bodyPr>
          <a:lstStyle/>
          <a:p>
            <a:pPr algn="l">
              <a:lnSpc>
                <a:spcPct val="101000"/>
              </a:lnSpc>
              <a:spcAft>
                <a:spcPts val="300"/>
              </a:spcAft>
              <a:defRPr sz="1376" b="1">
                <a:solidFill>
                  <a:srgbClr val="203350"/>
                </a:solidFill>
                <a:latin typeface="DejaVu Sans"/>
              </a:defRPr>
            </a:pPr>
            <a:r>
              <a:t>B   ¿Cómo varía E. coli entre dos puntos de una red en una campaña definida?</a:t>
            </a:r>
          </a:p>
        </p:txBody>
      </p:sp>
      <p:sp>
        <p:nvSpPr>
          <p:cNvPr id="25" name="Rounded Rectangle 24">
            <a:hlinkClick action="ppaction://hlinksldjump" r:id="rId9"/>
          </p:cNvPr>
          <p:cNvSpPr/>
          <p:nvPr/>
        </p:nvSpPr>
        <p:spPr>
          <a:xfrm>
            <a:off x="3730752" y="4626864"/>
            <a:ext cx="7909560" cy="804672"/>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a:hlinkClick action="ppaction://hlinksldjump" r:id="rId9"/>
          </p:cNvPr>
          <p:cNvSpPr txBox="1"/>
          <p:nvPr/>
        </p:nvSpPr>
        <p:spPr>
          <a:xfrm>
            <a:off x="3840480" y="4709160"/>
            <a:ext cx="7690104" cy="713232"/>
          </a:xfrm>
          <a:prstGeom prst="rect">
            <a:avLst/>
          </a:prstGeom>
          <a:noFill/>
        </p:spPr>
        <p:txBody>
          <a:bodyPr wrap="square" lIns="0" rIns="0" tIns="0" bIns="0">
            <a:spAutoFit/>
          </a:bodyPr>
          <a:lstStyle/>
          <a:p>
            <a:pPr algn="l">
              <a:lnSpc>
                <a:spcPct val="101000"/>
              </a:lnSpc>
              <a:spcAft>
                <a:spcPts val="300"/>
              </a:spcAft>
              <a:defRPr sz="1600" b="1">
                <a:solidFill>
                  <a:srgbClr val="203350"/>
                </a:solidFill>
                <a:latin typeface="DejaVu Sans"/>
              </a:defRPr>
            </a:pPr>
            <a:r>
              <a:t>C   ¿Cómo demostrar que mi idea es la mejor?</a:t>
            </a:r>
          </a:p>
        </p:txBody>
      </p:sp>
      <p:sp>
        <p:nvSpPr>
          <p:cNvPr id="27" name="TextBox 26"/>
          <p:cNvSpPr txBox="1"/>
          <p:nvPr/>
        </p:nvSpPr>
        <p:spPr>
          <a:xfrm>
            <a:off x="3767328" y="5833872"/>
            <a:ext cx="7699248" cy="274320"/>
          </a:xfrm>
          <a:prstGeom prst="rect">
            <a:avLst/>
          </a:prstGeom>
          <a:noFill/>
        </p:spPr>
        <p:txBody>
          <a:bodyPr wrap="square" lIns="0" rIns="0" tIns="0" bIns="0">
            <a:spAutoFit/>
          </a:bodyPr>
          <a:lstStyle/>
          <a:p>
            <a:pPr algn="l">
              <a:lnSpc>
                <a:spcPct val="101000"/>
              </a:lnSpc>
              <a:spcAft>
                <a:spcPts val="300"/>
              </a:spcAft>
              <a:defRPr sz="1300" b="0">
                <a:solidFill>
                  <a:srgbClr val="5C6E83"/>
                </a:solidFill>
                <a:latin typeface="DejaVu Sans"/>
              </a:defRPr>
            </a:pPr>
            <a:r>
              <a:t>Elige una opción y explica qué la hace abordable.</a:t>
            </a:r>
          </a:p>
        </p:txBody>
      </p:sp>
    </p:spTree>
  </p:cSld>
  <p:clrMapOvr>
    <a:masterClrMapping/>
  </p:clrMapOvr>
  <p:transition advClick="1">
    <p:fade/>
  </p:transition>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9FBFF"/>
        </a:solidFill>
        <a:effectLst/>
      </p:bgPr>
    </p:bg>
    <p:spTree>
      <p:nvGrpSpPr>
        <p:cNvPr id="1" name=""/>
        <p:cNvGrpSpPr/>
        <p:nvPr/>
      </p:nvGrpSpPr>
      <p:grpSpPr/>
      <p:sp>
        <p:nvSpPr>
          <p:cNvPr id="2" name="TextBox 1"/>
          <p:cNvSpPr txBox="1"/>
          <p:nvPr/>
        </p:nvSpPr>
        <p:spPr>
          <a:xfrm>
            <a:off x="548640" y="365760"/>
            <a:ext cx="7543800" cy="274320"/>
          </a:xfrm>
          <a:prstGeom prst="rect">
            <a:avLst/>
          </a:prstGeom>
          <a:noFill/>
        </p:spPr>
        <p:txBody>
          <a:bodyPr wrap="square" lIns="0" rIns="0" tIns="0" bIns="0">
            <a:spAutoFit/>
          </a:bodyPr>
          <a:lstStyle/>
          <a:p>
            <a:pPr algn="l">
              <a:lnSpc>
                <a:spcPct val="101000"/>
              </a:lnSpc>
              <a:spcAft>
                <a:spcPts val="300"/>
              </a:spcAft>
              <a:defRPr sz="930" b="1">
                <a:solidFill>
                  <a:srgbClr val="A85E20"/>
                </a:solidFill>
                <a:latin typeface="DejaVu Sans"/>
              </a:defRPr>
            </a:pPr>
            <a:r>
              <a:t>ELEGIR CÓMO RESPONDER</a:t>
            </a:r>
          </a:p>
        </p:txBody>
      </p:sp>
      <p:sp>
        <p:nvSpPr>
          <p:cNvPr id="3" name="Rounded Rectangle 2">
            <a:hlinkClick action="ppaction://hlinksldjump" r:id="rId2"/>
          </p:cNvPr>
          <p:cNvSpPr/>
          <p:nvPr/>
        </p:nvSpPr>
        <p:spPr>
          <a:xfrm>
            <a:off x="8229600" y="310896"/>
            <a:ext cx="795528" cy="310896"/>
          </a:xfrm>
          <a:prstGeom prst="roundRect">
            <a:avLst>
              <a:gd name="adj" fmla="val 12000"/>
            </a:avLst>
          </a:prstGeom>
          <a:solidFill>
            <a:srgbClr val="E2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a:hlinkClick action="ppaction://hlinksldjump" r:id="rId2"/>
          </p:cNvPr>
          <p:cNvSpPr txBox="1"/>
          <p:nvPr/>
        </p:nvSpPr>
        <p:spPr>
          <a:xfrm>
            <a:off x="8339327"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Explorar</a:t>
            </a:r>
          </a:p>
        </p:txBody>
      </p:sp>
      <p:sp>
        <p:nvSpPr>
          <p:cNvPr id="5" name="Rounded Rectangle 4">
            <a:hlinkClick action="ppaction://hlinksldjump" r:id="rId3"/>
          </p:cNvPr>
          <p:cNvSpPr/>
          <p:nvPr/>
        </p:nvSpPr>
        <p:spPr>
          <a:xfrm>
            <a:off x="9089136" y="310896"/>
            <a:ext cx="795528" cy="310896"/>
          </a:xfrm>
          <a:prstGeom prst="roundRect">
            <a:avLst>
              <a:gd name="adj" fmla="val 12000"/>
            </a:avLst>
          </a:prstGeom>
          <a:solidFill>
            <a:srgbClr val="F0E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a:hlinkClick action="ppaction://hlinksldjump" r:id="rId3"/>
          </p:cNvPr>
          <p:cNvSpPr txBox="1"/>
          <p:nvPr/>
        </p:nvSpPr>
        <p:spPr>
          <a:xfrm>
            <a:off x="9198863"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Diseñar</a:t>
            </a:r>
          </a:p>
        </p:txBody>
      </p:sp>
      <p:sp>
        <p:nvSpPr>
          <p:cNvPr id="7" name="Rounded Rectangle 6">
            <a:hlinkClick action="ppaction://hlinksldjump" r:id="rId4"/>
          </p:cNvPr>
          <p:cNvSpPr/>
          <p:nvPr/>
        </p:nvSpPr>
        <p:spPr>
          <a:xfrm>
            <a:off x="9948672" y="310896"/>
            <a:ext cx="795528" cy="310896"/>
          </a:xfrm>
          <a:prstGeom prst="roundRect">
            <a:avLst>
              <a:gd name="adj" fmla="val 12000"/>
            </a:avLst>
          </a:prstGeom>
          <a:solidFill>
            <a:srgbClr val="FFF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a:hlinkClick action="ppaction://hlinksldjump" r:id="rId4"/>
          </p:cNvPr>
          <p:cNvSpPr txBox="1"/>
          <p:nvPr/>
        </p:nvSpPr>
        <p:spPr>
          <a:xfrm>
            <a:off x="10058399"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Servir</a:t>
            </a:r>
          </a:p>
        </p:txBody>
      </p:sp>
      <p:sp>
        <p:nvSpPr>
          <p:cNvPr id="9" name="Rounded Rectangle 8">
            <a:hlinkClick action="ppaction://hlinksldjump" r:id="rId5"/>
          </p:cNvPr>
          <p:cNvSpPr/>
          <p:nvPr/>
        </p:nvSpPr>
        <p:spPr>
          <a:xfrm>
            <a:off x="10808208" y="310896"/>
            <a:ext cx="795528" cy="310896"/>
          </a:xfrm>
          <a:prstGeom prst="roundRect">
            <a:avLst>
              <a:gd name="adj" fmla="val 12000"/>
            </a:avLst>
          </a:prstGeom>
          <a:solidFill>
            <a:srgbClr val="E9F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a:hlinkClick action="ppaction://hlinksldjump" r:id="rId5"/>
          </p:cNvPr>
          <p:cNvSpPr txBox="1"/>
          <p:nvPr/>
        </p:nvSpPr>
        <p:spPr>
          <a:xfrm>
            <a:off x="10917936"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Empezar</a:t>
            </a:r>
          </a:p>
        </p:txBody>
      </p:sp>
      <p:sp>
        <p:nvSpPr>
          <p:cNvPr id="11" name="TextBox 10"/>
          <p:cNvSpPr txBox="1"/>
          <p:nvPr/>
        </p:nvSpPr>
        <p:spPr>
          <a:xfrm>
            <a:off x="548640" y="877824"/>
            <a:ext cx="11064240" cy="1234440"/>
          </a:xfrm>
          <a:prstGeom prst="rect">
            <a:avLst/>
          </a:prstGeom>
          <a:noFill/>
        </p:spPr>
        <p:txBody>
          <a:bodyPr wrap="square" lIns="0" rIns="0" tIns="0" bIns="0">
            <a:spAutoFit/>
          </a:bodyPr>
          <a:lstStyle/>
          <a:p>
            <a:pPr algn="l">
              <a:lnSpc>
                <a:spcPct val="101000"/>
              </a:lnSpc>
              <a:spcAft>
                <a:spcPts val="300"/>
              </a:spcAft>
              <a:defRPr sz="3900" b="1">
                <a:solidFill>
                  <a:srgbClr val="203350"/>
                </a:solidFill>
                <a:latin typeface="DejaVu Sans"/>
              </a:defRPr>
            </a:pPr>
            <a:r>
              <a:t>El método sigue</a:t>
            </a:r>
          </a:p>
          <a:p>
            <a:pPr algn="l">
              <a:lnSpc>
                <a:spcPct val="101000"/>
              </a:lnSpc>
              <a:spcAft>
                <a:spcPts val="300"/>
              </a:spcAft>
              <a:defRPr sz="3900" b="1">
                <a:solidFill>
                  <a:srgbClr val="203350"/>
                </a:solidFill>
                <a:latin typeface="DejaVu Sans"/>
              </a:defRPr>
            </a:pPr>
            <a:r>
              <a:t>a la pregunta</a:t>
            </a:r>
          </a:p>
        </p:txBody>
      </p:sp>
      <p:sp>
        <p:nvSpPr>
          <p:cNvPr id="12" name="TextBox 11"/>
          <p:cNvSpPr txBox="1"/>
          <p:nvPr/>
        </p:nvSpPr>
        <p:spPr>
          <a:xfrm>
            <a:off x="566928" y="2112264"/>
            <a:ext cx="10972800" cy="365760"/>
          </a:xfrm>
          <a:prstGeom prst="rect">
            <a:avLst/>
          </a:prstGeom>
          <a:noFill/>
        </p:spPr>
        <p:txBody>
          <a:bodyPr wrap="square" lIns="0" rIns="0" tIns="0" bIns="0">
            <a:spAutoFit/>
          </a:bodyPr>
          <a:lstStyle/>
          <a:p>
            <a:pPr algn="l">
              <a:lnSpc>
                <a:spcPct val="101000"/>
              </a:lnSpc>
              <a:spcAft>
                <a:spcPts val="300"/>
              </a:spcAft>
              <a:defRPr sz="1450" b="0">
                <a:solidFill>
                  <a:srgbClr val="5C6E83"/>
                </a:solidFill>
                <a:latin typeface="DejaVu Sans"/>
              </a:defRPr>
            </a:pPr>
            <a:r>
              <a:t>Explora qué información aporta cada enfoque.</a:t>
            </a:r>
          </a:p>
        </p:txBody>
      </p:sp>
      <p:sp>
        <p:nvSpPr>
          <p:cNvPr id="13" name="TextBox 12"/>
          <p:cNvSpPr txBox="1"/>
          <p:nvPr/>
        </p:nvSpPr>
        <p:spPr>
          <a:xfrm>
            <a:off x="548640" y="6446520"/>
            <a:ext cx="9966960" cy="210312"/>
          </a:xfrm>
          <a:prstGeom prst="rect">
            <a:avLst/>
          </a:prstGeom>
          <a:noFill/>
        </p:spPr>
        <p:txBody>
          <a:bodyPr wrap="square" lIns="0" rIns="0" tIns="0" bIns="0">
            <a:spAutoFit/>
          </a:bodyPr>
          <a:lstStyle/>
          <a:p>
            <a:pPr algn="l">
              <a:lnSpc>
                <a:spcPct val="101000"/>
              </a:lnSpc>
              <a:spcAft>
                <a:spcPts val="300"/>
              </a:spcAft>
              <a:defRPr sz="810" b="0">
                <a:solidFill>
                  <a:srgbClr val="5C6E83"/>
                </a:solidFill>
                <a:latin typeface="DejaVu Sans"/>
              </a:defRPr>
            </a:pPr>
            <a:r>
              <a:t>DS_Agua_Loja_2025, diap. 9; ECCA_EE_CY_vc1, diaps. 9–12</a:t>
            </a:r>
          </a:p>
        </p:txBody>
      </p:sp>
      <p:sp>
        <p:nvSpPr>
          <p:cNvPr id="14" name="Rounded Rectangle 13">
            <a:hlinkClick action="ppaction://hlinksldjump" r:id="rId6"/>
          </p:cNvPr>
          <p:cNvSpPr/>
          <p:nvPr/>
        </p:nvSpPr>
        <p:spPr>
          <a:xfrm>
            <a:off x="10469880" y="6400800"/>
            <a:ext cx="594360" cy="265176"/>
          </a:xfrm>
          <a:prstGeom prst="roundRect">
            <a:avLst>
              <a:gd name="adj" fmla="val 12000"/>
            </a:avLst>
          </a:prstGeom>
          <a:solidFill>
            <a:srgbClr val="F0E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a:hlinkClick action="ppaction://hlinksldjump" r:id="rId6"/>
          </p:cNvPr>
          <p:cNvSpPr txBox="1"/>
          <p:nvPr/>
        </p:nvSpPr>
        <p:spPr>
          <a:xfrm>
            <a:off x="10579607" y="6483096"/>
            <a:ext cx="374904" cy="173735"/>
          </a:xfrm>
          <a:prstGeom prst="rect">
            <a:avLst/>
          </a:prstGeom>
          <a:noFill/>
        </p:spPr>
        <p:txBody>
          <a:bodyPr wrap="square" lIns="0" rIns="0" tIns="0" bIns="0">
            <a:spAutoFit/>
          </a:bodyPr>
          <a:lstStyle/>
          <a:p>
            <a:pPr algn="l">
              <a:lnSpc>
                <a:spcPct val="101000"/>
              </a:lnSpc>
              <a:spcAft>
                <a:spcPts val="300"/>
              </a:spcAft>
              <a:defRPr sz="800" b="1">
                <a:solidFill>
                  <a:srgbClr val="8060BA"/>
                </a:solidFill>
                <a:latin typeface="DejaVu Sans"/>
              </a:defRPr>
            </a:pPr>
            <a:r>
              <a:t>Ruta</a:t>
            </a:r>
          </a:p>
        </p:txBody>
      </p:sp>
      <p:sp>
        <p:nvSpPr>
          <p:cNvPr id="16" name="TextBox 15"/>
          <p:cNvSpPr txBox="1"/>
          <p:nvPr/>
        </p:nvSpPr>
        <p:spPr>
          <a:xfrm>
            <a:off x="11228832" y="6400800"/>
            <a:ext cx="457200" cy="274320"/>
          </a:xfrm>
          <a:prstGeom prst="rect">
            <a:avLst/>
          </a:prstGeom>
          <a:noFill/>
        </p:spPr>
        <p:txBody>
          <a:bodyPr wrap="square" lIns="0" rIns="0" tIns="0" bIns="0">
            <a:spAutoFit/>
          </a:bodyPr>
          <a:lstStyle/>
          <a:p>
            <a:pPr algn="r">
              <a:lnSpc>
                <a:spcPct val="101000"/>
              </a:lnSpc>
              <a:spcAft>
                <a:spcPts val="300"/>
              </a:spcAft>
              <a:defRPr sz="1300" b="1">
                <a:solidFill>
                  <a:srgbClr val="203350"/>
                </a:solidFill>
                <a:latin typeface="DejaVu Sans"/>
              </a:defRPr>
            </a:pPr>
            <a:r>
              <a:t>14</a:t>
            </a:r>
          </a:p>
        </p:txBody>
      </p:sp>
      <p:sp>
        <p:nvSpPr>
          <p:cNvPr id="17" name="Rectangle 16"/>
          <p:cNvSpPr/>
          <p:nvPr/>
        </p:nvSpPr>
        <p:spPr>
          <a:xfrm>
            <a:off x="0" y="6821424"/>
            <a:ext cx="6564906" cy="36576"/>
          </a:xfrm>
          <a:prstGeom prst="rect">
            <a:avLst/>
          </a:prstGeom>
          <a:solidFill>
            <a:srgbClr val="A85E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methods.png"/>
          <p:cNvPicPr>
            <a:picLocks noChangeAspect="1"/>
          </p:cNvPicPr>
          <p:nvPr/>
        </p:nvPicPr>
        <p:blipFill>
          <a:blip r:embed="rId8"/>
          <a:stretch>
            <a:fillRect/>
          </a:stretch>
        </p:blipFill>
        <p:spPr>
          <a:xfrm>
            <a:off x="548640" y="2606040"/>
            <a:ext cx="11109960" cy="3456432"/>
          </a:xfrm>
          <a:prstGeom prst="rect">
            <a:avLst/>
          </a:prstGeom>
        </p:spPr>
      </p:pic>
    </p:spTree>
  </p:cSld>
  <p:clrMapOvr>
    <a:masterClrMapping/>
  </p:clrMapOvr>
  <p:transition advClick="1">
    <p:fade/>
  </p:transition>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9FBFF"/>
        </a:solidFill>
        <a:effectLst/>
      </p:bgPr>
    </p:bg>
    <p:spTree>
      <p:nvGrpSpPr>
        <p:cNvPr id="1" name=""/>
        <p:cNvGrpSpPr/>
        <p:nvPr/>
      </p:nvGrpSpPr>
      <p:grpSpPr/>
      <p:sp>
        <p:nvSpPr>
          <p:cNvPr id="2" name="TextBox 1"/>
          <p:cNvSpPr txBox="1"/>
          <p:nvPr/>
        </p:nvSpPr>
        <p:spPr>
          <a:xfrm>
            <a:off x="548640" y="365760"/>
            <a:ext cx="7543800" cy="274320"/>
          </a:xfrm>
          <a:prstGeom prst="rect">
            <a:avLst/>
          </a:prstGeom>
          <a:noFill/>
        </p:spPr>
        <p:txBody>
          <a:bodyPr wrap="square" lIns="0" rIns="0" tIns="0" bIns="0">
            <a:spAutoFit/>
          </a:bodyPr>
          <a:lstStyle/>
          <a:p>
            <a:pPr algn="l">
              <a:lnSpc>
                <a:spcPct val="101000"/>
              </a:lnSpc>
              <a:spcAft>
                <a:spcPts val="300"/>
              </a:spcAft>
              <a:defRPr sz="930" b="1">
                <a:solidFill>
                  <a:srgbClr val="8060BA"/>
                </a:solidFill>
                <a:latin typeface="DejaVu Sans"/>
              </a:defRPr>
            </a:pPr>
            <a:r>
              <a:t>EXPERIENCIA QUE ILUSTRA LA IDEA · 2 DE 2</a:t>
            </a:r>
          </a:p>
        </p:txBody>
      </p:sp>
      <p:sp>
        <p:nvSpPr>
          <p:cNvPr id="3" name="Rounded Rectangle 2">
            <a:hlinkClick action="ppaction://hlinksldjump" r:id="rId2"/>
          </p:cNvPr>
          <p:cNvSpPr/>
          <p:nvPr/>
        </p:nvSpPr>
        <p:spPr>
          <a:xfrm>
            <a:off x="8229600" y="310896"/>
            <a:ext cx="795528" cy="310896"/>
          </a:xfrm>
          <a:prstGeom prst="roundRect">
            <a:avLst>
              <a:gd name="adj" fmla="val 12000"/>
            </a:avLst>
          </a:prstGeom>
          <a:solidFill>
            <a:srgbClr val="E2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a:hlinkClick action="ppaction://hlinksldjump" r:id="rId2"/>
          </p:cNvPr>
          <p:cNvSpPr txBox="1"/>
          <p:nvPr/>
        </p:nvSpPr>
        <p:spPr>
          <a:xfrm>
            <a:off x="8339327"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Explorar</a:t>
            </a:r>
          </a:p>
        </p:txBody>
      </p:sp>
      <p:sp>
        <p:nvSpPr>
          <p:cNvPr id="5" name="Rounded Rectangle 4">
            <a:hlinkClick action="ppaction://hlinksldjump" r:id="rId3"/>
          </p:cNvPr>
          <p:cNvSpPr/>
          <p:nvPr/>
        </p:nvSpPr>
        <p:spPr>
          <a:xfrm>
            <a:off x="9089136" y="310896"/>
            <a:ext cx="795528" cy="310896"/>
          </a:xfrm>
          <a:prstGeom prst="roundRect">
            <a:avLst>
              <a:gd name="adj" fmla="val 12000"/>
            </a:avLst>
          </a:prstGeom>
          <a:solidFill>
            <a:srgbClr val="F0E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a:hlinkClick action="ppaction://hlinksldjump" r:id="rId3"/>
          </p:cNvPr>
          <p:cNvSpPr txBox="1"/>
          <p:nvPr/>
        </p:nvSpPr>
        <p:spPr>
          <a:xfrm>
            <a:off x="9198863"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Diseñar</a:t>
            </a:r>
          </a:p>
        </p:txBody>
      </p:sp>
      <p:sp>
        <p:nvSpPr>
          <p:cNvPr id="7" name="Rounded Rectangle 6">
            <a:hlinkClick action="ppaction://hlinksldjump" r:id="rId4"/>
          </p:cNvPr>
          <p:cNvSpPr/>
          <p:nvPr/>
        </p:nvSpPr>
        <p:spPr>
          <a:xfrm>
            <a:off x="9948672" y="310896"/>
            <a:ext cx="795528" cy="310896"/>
          </a:xfrm>
          <a:prstGeom prst="roundRect">
            <a:avLst>
              <a:gd name="adj" fmla="val 12000"/>
            </a:avLst>
          </a:prstGeom>
          <a:solidFill>
            <a:srgbClr val="FFF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a:hlinkClick action="ppaction://hlinksldjump" r:id="rId4"/>
          </p:cNvPr>
          <p:cNvSpPr txBox="1"/>
          <p:nvPr/>
        </p:nvSpPr>
        <p:spPr>
          <a:xfrm>
            <a:off x="10058399"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Servir</a:t>
            </a:r>
          </a:p>
        </p:txBody>
      </p:sp>
      <p:sp>
        <p:nvSpPr>
          <p:cNvPr id="9" name="Rounded Rectangle 8">
            <a:hlinkClick action="ppaction://hlinksldjump" r:id="rId5"/>
          </p:cNvPr>
          <p:cNvSpPr/>
          <p:nvPr/>
        </p:nvSpPr>
        <p:spPr>
          <a:xfrm>
            <a:off x="10808208" y="310896"/>
            <a:ext cx="795528" cy="310896"/>
          </a:xfrm>
          <a:prstGeom prst="roundRect">
            <a:avLst>
              <a:gd name="adj" fmla="val 12000"/>
            </a:avLst>
          </a:prstGeom>
          <a:solidFill>
            <a:srgbClr val="E9F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a:hlinkClick action="ppaction://hlinksldjump" r:id="rId5"/>
          </p:cNvPr>
          <p:cNvSpPr txBox="1"/>
          <p:nvPr/>
        </p:nvSpPr>
        <p:spPr>
          <a:xfrm>
            <a:off x="10917936"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Empezar</a:t>
            </a:r>
          </a:p>
        </p:txBody>
      </p:sp>
      <p:sp>
        <p:nvSpPr>
          <p:cNvPr id="11" name="TextBox 10"/>
          <p:cNvSpPr txBox="1"/>
          <p:nvPr/>
        </p:nvSpPr>
        <p:spPr>
          <a:xfrm>
            <a:off x="548640" y="877824"/>
            <a:ext cx="11064240" cy="1234440"/>
          </a:xfrm>
          <a:prstGeom prst="rect">
            <a:avLst/>
          </a:prstGeom>
          <a:noFill/>
        </p:spPr>
        <p:txBody>
          <a:bodyPr wrap="square" lIns="0" rIns="0" tIns="0" bIns="0">
            <a:spAutoFit/>
          </a:bodyPr>
          <a:lstStyle/>
          <a:p>
            <a:pPr algn="l">
              <a:lnSpc>
                <a:spcPct val="101000"/>
              </a:lnSpc>
              <a:spcAft>
                <a:spcPts val="300"/>
              </a:spcAft>
              <a:defRPr sz="3900" b="1">
                <a:solidFill>
                  <a:srgbClr val="203350"/>
                </a:solidFill>
                <a:latin typeface="DejaVu Sans"/>
              </a:defRPr>
            </a:pPr>
            <a:r>
              <a:t>Ecuador–Canadá:</a:t>
            </a:r>
          </a:p>
          <a:p>
            <a:pPr algn="l">
              <a:lnSpc>
                <a:spcPct val="101000"/>
              </a:lnSpc>
              <a:spcAft>
                <a:spcPts val="300"/>
              </a:spcAft>
              <a:defRPr sz="3900" b="1">
                <a:solidFill>
                  <a:srgbClr val="203350"/>
                </a:solidFill>
                <a:latin typeface="DejaVu Sans"/>
              </a:defRPr>
            </a:pPr>
            <a:r>
              <a:t>ampliar la mirada con ADN</a:t>
            </a:r>
          </a:p>
        </p:txBody>
      </p:sp>
      <p:sp>
        <p:nvSpPr>
          <p:cNvPr id="12" name="TextBox 11"/>
          <p:cNvSpPr txBox="1"/>
          <p:nvPr/>
        </p:nvSpPr>
        <p:spPr>
          <a:xfrm>
            <a:off x="566928" y="2112264"/>
            <a:ext cx="10972800" cy="365760"/>
          </a:xfrm>
          <a:prstGeom prst="rect">
            <a:avLst/>
          </a:prstGeom>
          <a:noFill/>
        </p:spPr>
        <p:txBody>
          <a:bodyPr wrap="square" lIns="0" rIns="0" tIns="0" bIns="0">
            <a:spAutoFit/>
          </a:bodyPr>
          <a:lstStyle/>
          <a:p>
            <a:pPr algn="l">
              <a:lnSpc>
                <a:spcPct val="101000"/>
              </a:lnSpc>
              <a:spcAft>
                <a:spcPts val="300"/>
              </a:spcAft>
              <a:defRPr sz="1450" b="0">
                <a:solidFill>
                  <a:srgbClr val="5C6E83"/>
                </a:solidFill>
                <a:latin typeface="DejaVu Sans"/>
              </a:defRPr>
            </a:pPr>
            <a:r>
              <a:t>De los indicadores a la composición microbiana</a:t>
            </a:r>
          </a:p>
        </p:txBody>
      </p:sp>
      <p:sp>
        <p:nvSpPr>
          <p:cNvPr id="13" name="TextBox 12"/>
          <p:cNvSpPr txBox="1"/>
          <p:nvPr/>
        </p:nvSpPr>
        <p:spPr>
          <a:xfrm>
            <a:off x="548640" y="6446520"/>
            <a:ext cx="9966960" cy="210312"/>
          </a:xfrm>
          <a:prstGeom prst="rect">
            <a:avLst/>
          </a:prstGeom>
          <a:noFill/>
        </p:spPr>
        <p:txBody>
          <a:bodyPr wrap="square" lIns="0" rIns="0" tIns="0" bIns="0">
            <a:spAutoFit/>
          </a:bodyPr>
          <a:lstStyle/>
          <a:p>
            <a:pPr algn="l">
              <a:lnSpc>
                <a:spcPct val="101000"/>
              </a:lnSpc>
              <a:spcAft>
                <a:spcPts val="300"/>
              </a:spcAft>
              <a:defRPr sz="810" b="0">
                <a:solidFill>
                  <a:srgbClr val="5C6E83"/>
                </a:solidFill>
                <a:latin typeface="DejaVu Sans"/>
              </a:defRPr>
            </a:pPr>
            <a:r>
              <a:t>ECCA_EE_CY_vc1, diaps. 6–11; CV, estancia ELAP–Manitoba 2026</a:t>
            </a:r>
          </a:p>
        </p:txBody>
      </p:sp>
      <p:sp>
        <p:nvSpPr>
          <p:cNvPr id="14" name="Rounded Rectangle 13">
            <a:hlinkClick action="ppaction://hlinksldjump" r:id="rId6"/>
          </p:cNvPr>
          <p:cNvSpPr/>
          <p:nvPr/>
        </p:nvSpPr>
        <p:spPr>
          <a:xfrm>
            <a:off x="10469880" y="6400800"/>
            <a:ext cx="594360" cy="265176"/>
          </a:xfrm>
          <a:prstGeom prst="roundRect">
            <a:avLst>
              <a:gd name="adj" fmla="val 12000"/>
            </a:avLst>
          </a:prstGeom>
          <a:solidFill>
            <a:srgbClr val="F0E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a:hlinkClick action="ppaction://hlinksldjump" r:id="rId6"/>
          </p:cNvPr>
          <p:cNvSpPr txBox="1"/>
          <p:nvPr/>
        </p:nvSpPr>
        <p:spPr>
          <a:xfrm>
            <a:off x="10579607" y="6483096"/>
            <a:ext cx="374904" cy="173735"/>
          </a:xfrm>
          <a:prstGeom prst="rect">
            <a:avLst/>
          </a:prstGeom>
          <a:noFill/>
        </p:spPr>
        <p:txBody>
          <a:bodyPr wrap="square" lIns="0" rIns="0" tIns="0" bIns="0">
            <a:spAutoFit/>
          </a:bodyPr>
          <a:lstStyle/>
          <a:p>
            <a:pPr algn="l">
              <a:lnSpc>
                <a:spcPct val="101000"/>
              </a:lnSpc>
              <a:spcAft>
                <a:spcPts val="300"/>
              </a:spcAft>
              <a:defRPr sz="800" b="1">
                <a:solidFill>
                  <a:srgbClr val="8060BA"/>
                </a:solidFill>
                <a:latin typeface="DejaVu Sans"/>
              </a:defRPr>
            </a:pPr>
            <a:r>
              <a:t>Ruta</a:t>
            </a:r>
          </a:p>
        </p:txBody>
      </p:sp>
      <p:sp>
        <p:nvSpPr>
          <p:cNvPr id="16" name="TextBox 15"/>
          <p:cNvSpPr txBox="1"/>
          <p:nvPr/>
        </p:nvSpPr>
        <p:spPr>
          <a:xfrm>
            <a:off x="11228832" y="6400800"/>
            <a:ext cx="457200" cy="274320"/>
          </a:xfrm>
          <a:prstGeom prst="rect">
            <a:avLst/>
          </a:prstGeom>
          <a:noFill/>
        </p:spPr>
        <p:txBody>
          <a:bodyPr wrap="square" lIns="0" rIns="0" tIns="0" bIns="0">
            <a:spAutoFit/>
          </a:bodyPr>
          <a:lstStyle/>
          <a:p>
            <a:pPr algn="r">
              <a:lnSpc>
                <a:spcPct val="101000"/>
              </a:lnSpc>
              <a:spcAft>
                <a:spcPts val="300"/>
              </a:spcAft>
              <a:defRPr sz="1300" b="1">
                <a:solidFill>
                  <a:srgbClr val="203350"/>
                </a:solidFill>
                <a:latin typeface="DejaVu Sans"/>
              </a:defRPr>
            </a:pPr>
            <a:r>
              <a:t>15</a:t>
            </a:r>
          </a:p>
        </p:txBody>
      </p:sp>
      <p:sp>
        <p:nvSpPr>
          <p:cNvPr id="17" name="Rectangle 16"/>
          <p:cNvSpPr/>
          <p:nvPr/>
        </p:nvSpPr>
        <p:spPr>
          <a:xfrm>
            <a:off x="0" y="6821424"/>
            <a:ext cx="7033828" cy="36576"/>
          </a:xfrm>
          <a:prstGeom prst="rect">
            <a:avLst/>
          </a:prstGeom>
          <a:solidFill>
            <a:srgbClr val="8060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meta.png"/>
          <p:cNvPicPr>
            <a:picLocks noChangeAspect="1"/>
          </p:cNvPicPr>
          <p:nvPr/>
        </p:nvPicPr>
        <p:blipFill>
          <a:blip r:embed="rId8"/>
          <a:stretch>
            <a:fillRect/>
          </a:stretch>
        </p:blipFill>
        <p:spPr>
          <a:xfrm>
            <a:off x="548640" y="2606040"/>
            <a:ext cx="11109960" cy="3246120"/>
          </a:xfrm>
          <a:prstGeom prst="rect">
            <a:avLst/>
          </a:prstGeom>
        </p:spPr>
      </p:pic>
      <p:sp>
        <p:nvSpPr>
          <p:cNvPr id="19" name="TextBox 18"/>
          <p:cNvSpPr txBox="1"/>
          <p:nvPr/>
        </p:nvSpPr>
        <p:spPr>
          <a:xfrm>
            <a:off x="640080" y="6016752"/>
            <a:ext cx="10881360" cy="292608"/>
          </a:xfrm>
          <a:prstGeom prst="rect">
            <a:avLst/>
          </a:prstGeom>
          <a:noFill/>
        </p:spPr>
        <p:txBody>
          <a:bodyPr wrap="square" lIns="0" rIns="0" tIns="0" bIns="0">
            <a:spAutoFit/>
          </a:bodyPr>
          <a:lstStyle/>
          <a:p>
            <a:pPr algn="l">
              <a:lnSpc>
                <a:spcPct val="101000"/>
              </a:lnSpc>
              <a:spcAft>
                <a:spcPts val="300"/>
              </a:spcAft>
              <a:defRPr sz="1000" b="0">
                <a:solidFill>
                  <a:srgbClr val="5C6E83"/>
                </a:solidFill>
                <a:latin typeface="DejaVu Sans"/>
              </a:defRPr>
            </a:pPr>
            <a:r>
              <a:t>El diseño incluye sedimento solo de Canadá: matriz y ubicación no quedan completamente separadas.</a:t>
            </a:r>
          </a:p>
        </p:txBody>
      </p:sp>
    </p:spTree>
  </p:cSld>
  <p:clrMapOvr>
    <a:masterClrMapping/>
  </p:clrMapOvr>
  <p:transition advClick="1">
    <p:fade/>
  </p:transition>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9FBFF"/>
        </a:solidFill>
        <a:effectLst/>
      </p:bgPr>
    </p:bg>
    <p:spTree>
      <p:nvGrpSpPr>
        <p:cNvPr id="1" name=""/>
        <p:cNvGrpSpPr/>
        <p:nvPr/>
      </p:nvGrpSpPr>
      <p:grpSpPr/>
      <p:sp>
        <p:nvSpPr>
          <p:cNvPr id="2" name="TextBox 1"/>
          <p:cNvSpPr txBox="1"/>
          <p:nvPr/>
        </p:nvSpPr>
        <p:spPr>
          <a:xfrm>
            <a:off x="548640" y="365760"/>
            <a:ext cx="7543800" cy="274320"/>
          </a:xfrm>
          <a:prstGeom prst="rect">
            <a:avLst/>
          </a:prstGeom>
          <a:noFill/>
        </p:spPr>
        <p:txBody>
          <a:bodyPr wrap="square" lIns="0" rIns="0" tIns="0" bIns="0">
            <a:spAutoFit/>
          </a:bodyPr>
          <a:lstStyle/>
          <a:p>
            <a:pPr algn="l">
              <a:lnSpc>
                <a:spcPct val="101000"/>
              </a:lnSpc>
              <a:spcAft>
                <a:spcPts val="300"/>
              </a:spcAft>
              <a:defRPr sz="930" b="1">
                <a:solidFill>
                  <a:srgbClr val="8060BA"/>
                </a:solidFill>
                <a:latin typeface="DejaVu Sans"/>
              </a:defRPr>
            </a:pPr>
            <a:r>
              <a:t>VISUALIZAR UN PROCESO CIENTÍFICO</a:t>
            </a:r>
          </a:p>
        </p:txBody>
      </p:sp>
      <p:sp>
        <p:nvSpPr>
          <p:cNvPr id="3" name="Rounded Rectangle 2">
            <a:hlinkClick action="ppaction://hlinksldjump" r:id="rId2"/>
          </p:cNvPr>
          <p:cNvSpPr/>
          <p:nvPr/>
        </p:nvSpPr>
        <p:spPr>
          <a:xfrm>
            <a:off x="8229600" y="310896"/>
            <a:ext cx="795528" cy="310896"/>
          </a:xfrm>
          <a:prstGeom prst="roundRect">
            <a:avLst>
              <a:gd name="adj" fmla="val 12000"/>
            </a:avLst>
          </a:prstGeom>
          <a:solidFill>
            <a:srgbClr val="E2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a:hlinkClick action="ppaction://hlinksldjump" r:id="rId2"/>
          </p:cNvPr>
          <p:cNvSpPr txBox="1"/>
          <p:nvPr/>
        </p:nvSpPr>
        <p:spPr>
          <a:xfrm>
            <a:off x="8339327"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Explorar</a:t>
            </a:r>
          </a:p>
        </p:txBody>
      </p:sp>
      <p:sp>
        <p:nvSpPr>
          <p:cNvPr id="5" name="Rounded Rectangle 4">
            <a:hlinkClick action="ppaction://hlinksldjump" r:id="rId3"/>
          </p:cNvPr>
          <p:cNvSpPr/>
          <p:nvPr/>
        </p:nvSpPr>
        <p:spPr>
          <a:xfrm>
            <a:off x="9089136" y="310896"/>
            <a:ext cx="795528" cy="310896"/>
          </a:xfrm>
          <a:prstGeom prst="roundRect">
            <a:avLst>
              <a:gd name="adj" fmla="val 12000"/>
            </a:avLst>
          </a:prstGeom>
          <a:solidFill>
            <a:srgbClr val="F0E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a:hlinkClick action="ppaction://hlinksldjump" r:id="rId3"/>
          </p:cNvPr>
          <p:cNvSpPr txBox="1"/>
          <p:nvPr/>
        </p:nvSpPr>
        <p:spPr>
          <a:xfrm>
            <a:off x="9198863"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Diseñar</a:t>
            </a:r>
          </a:p>
        </p:txBody>
      </p:sp>
      <p:sp>
        <p:nvSpPr>
          <p:cNvPr id="7" name="Rounded Rectangle 6">
            <a:hlinkClick action="ppaction://hlinksldjump" r:id="rId4"/>
          </p:cNvPr>
          <p:cNvSpPr/>
          <p:nvPr/>
        </p:nvSpPr>
        <p:spPr>
          <a:xfrm>
            <a:off x="9948672" y="310896"/>
            <a:ext cx="795528" cy="310896"/>
          </a:xfrm>
          <a:prstGeom prst="roundRect">
            <a:avLst>
              <a:gd name="adj" fmla="val 12000"/>
            </a:avLst>
          </a:prstGeom>
          <a:solidFill>
            <a:srgbClr val="FFF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a:hlinkClick action="ppaction://hlinksldjump" r:id="rId4"/>
          </p:cNvPr>
          <p:cNvSpPr txBox="1"/>
          <p:nvPr/>
        </p:nvSpPr>
        <p:spPr>
          <a:xfrm>
            <a:off x="10058399"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Servir</a:t>
            </a:r>
          </a:p>
        </p:txBody>
      </p:sp>
      <p:sp>
        <p:nvSpPr>
          <p:cNvPr id="9" name="Rounded Rectangle 8">
            <a:hlinkClick action="ppaction://hlinksldjump" r:id="rId5"/>
          </p:cNvPr>
          <p:cNvSpPr/>
          <p:nvPr/>
        </p:nvSpPr>
        <p:spPr>
          <a:xfrm>
            <a:off x="10808208" y="310896"/>
            <a:ext cx="795528" cy="310896"/>
          </a:xfrm>
          <a:prstGeom prst="roundRect">
            <a:avLst>
              <a:gd name="adj" fmla="val 12000"/>
            </a:avLst>
          </a:prstGeom>
          <a:solidFill>
            <a:srgbClr val="E9F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a:hlinkClick action="ppaction://hlinksldjump" r:id="rId5"/>
          </p:cNvPr>
          <p:cNvSpPr txBox="1"/>
          <p:nvPr/>
        </p:nvSpPr>
        <p:spPr>
          <a:xfrm>
            <a:off x="10917936"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Empezar</a:t>
            </a:r>
          </a:p>
        </p:txBody>
      </p:sp>
      <p:sp>
        <p:nvSpPr>
          <p:cNvPr id="11" name="TextBox 10"/>
          <p:cNvSpPr txBox="1"/>
          <p:nvPr/>
        </p:nvSpPr>
        <p:spPr>
          <a:xfrm>
            <a:off x="548640" y="877824"/>
            <a:ext cx="11064240" cy="1234440"/>
          </a:xfrm>
          <a:prstGeom prst="rect">
            <a:avLst/>
          </a:prstGeom>
          <a:noFill/>
        </p:spPr>
        <p:txBody>
          <a:bodyPr wrap="square" lIns="0" rIns="0" tIns="0" bIns="0">
            <a:spAutoFit/>
          </a:bodyPr>
          <a:lstStyle/>
          <a:p>
            <a:pPr algn="l">
              <a:lnSpc>
                <a:spcPct val="101000"/>
              </a:lnSpc>
              <a:spcAft>
                <a:spcPts val="300"/>
              </a:spcAft>
              <a:defRPr sz="3900" b="1">
                <a:solidFill>
                  <a:srgbClr val="203350"/>
                </a:solidFill>
                <a:latin typeface="DejaVu Sans"/>
              </a:defRPr>
            </a:pPr>
            <a:r>
              <a:t>Del agua al dato:</a:t>
            </a:r>
          </a:p>
          <a:p>
            <a:pPr algn="l">
              <a:lnSpc>
                <a:spcPct val="101000"/>
              </a:lnSpc>
              <a:spcAft>
                <a:spcPts val="300"/>
              </a:spcAft>
              <a:defRPr sz="3900" b="1">
                <a:solidFill>
                  <a:srgbClr val="203350"/>
                </a:solidFill>
                <a:latin typeface="DejaVu Sans"/>
              </a:defRPr>
            </a:pPr>
            <a:r>
              <a:t>cada etapa transforma la pregunta</a:t>
            </a:r>
          </a:p>
        </p:txBody>
      </p:sp>
      <p:sp>
        <p:nvSpPr>
          <p:cNvPr id="12" name="TextBox 11"/>
          <p:cNvSpPr txBox="1"/>
          <p:nvPr/>
        </p:nvSpPr>
        <p:spPr>
          <a:xfrm>
            <a:off x="566928" y="2112264"/>
            <a:ext cx="10972800" cy="365760"/>
          </a:xfrm>
          <a:prstGeom prst="rect">
            <a:avLst/>
          </a:prstGeom>
          <a:noFill/>
        </p:spPr>
        <p:txBody>
          <a:bodyPr wrap="square" lIns="0" rIns="0" tIns="0" bIns="0">
            <a:spAutoFit/>
          </a:bodyPr>
          <a:lstStyle/>
          <a:p>
            <a:pPr algn="l">
              <a:lnSpc>
                <a:spcPct val="101000"/>
              </a:lnSpc>
              <a:spcAft>
                <a:spcPts val="300"/>
              </a:spcAft>
              <a:defRPr sz="1450" b="0">
                <a:solidFill>
                  <a:srgbClr val="5C6E83"/>
                </a:solidFill>
                <a:latin typeface="DejaVu Sans"/>
              </a:defRPr>
            </a:pPr>
            <a:r>
              <a:t>Esquema del método descrito en la presentación metagenómica</a:t>
            </a:r>
          </a:p>
        </p:txBody>
      </p:sp>
      <p:sp>
        <p:nvSpPr>
          <p:cNvPr id="13" name="TextBox 12"/>
          <p:cNvSpPr txBox="1"/>
          <p:nvPr/>
        </p:nvSpPr>
        <p:spPr>
          <a:xfrm>
            <a:off x="548640" y="6446520"/>
            <a:ext cx="9966960" cy="210312"/>
          </a:xfrm>
          <a:prstGeom prst="rect">
            <a:avLst/>
          </a:prstGeom>
          <a:noFill/>
        </p:spPr>
        <p:txBody>
          <a:bodyPr wrap="square" lIns="0" rIns="0" tIns="0" bIns="0">
            <a:spAutoFit/>
          </a:bodyPr>
          <a:lstStyle/>
          <a:p>
            <a:pPr algn="l">
              <a:lnSpc>
                <a:spcPct val="101000"/>
              </a:lnSpc>
              <a:spcAft>
                <a:spcPts val="300"/>
              </a:spcAft>
              <a:defRPr sz="810" b="0">
                <a:solidFill>
                  <a:srgbClr val="5C6E83"/>
                </a:solidFill>
                <a:latin typeface="DejaVu Sans"/>
              </a:defRPr>
            </a:pPr>
            <a:r>
              <a:t>ECCA_EE_CY_vc1, diaps. 9–12: filtración, ADN, dPCR y secuenciación</a:t>
            </a:r>
          </a:p>
        </p:txBody>
      </p:sp>
      <p:sp>
        <p:nvSpPr>
          <p:cNvPr id="14" name="Rounded Rectangle 13">
            <a:hlinkClick action="ppaction://hlinksldjump" r:id="rId6"/>
          </p:cNvPr>
          <p:cNvSpPr/>
          <p:nvPr/>
        </p:nvSpPr>
        <p:spPr>
          <a:xfrm>
            <a:off x="10469880" y="6400800"/>
            <a:ext cx="594360" cy="265176"/>
          </a:xfrm>
          <a:prstGeom prst="roundRect">
            <a:avLst>
              <a:gd name="adj" fmla="val 12000"/>
            </a:avLst>
          </a:prstGeom>
          <a:solidFill>
            <a:srgbClr val="F0E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a:hlinkClick action="ppaction://hlinksldjump" r:id="rId6"/>
          </p:cNvPr>
          <p:cNvSpPr txBox="1"/>
          <p:nvPr/>
        </p:nvSpPr>
        <p:spPr>
          <a:xfrm>
            <a:off x="10579607" y="6483096"/>
            <a:ext cx="374904" cy="173735"/>
          </a:xfrm>
          <a:prstGeom prst="rect">
            <a:avLst/>
          </a:prstGeom>
          <a:noFill/>
        </p:spPr>
        <p:txBody>
          <a:bodyPr wrap="square" lIns="0" rIns="0" tIns="0" bIns="0">
            <a:spAutoFit/>
          </a:bodyPr>
          <a:lstStyle/>
          <a:p>
            <a:pPr algn="l">
              <a:lnSpc>
                <a:spcPct val="101000"/>
              </a:lnSpc>
              <a:spcAft>
                <a:spcPts val="300"/>
              </a:spcAft>
              <a:defRPr sz="800" b="1">
                <a:solidFill>
                  <a:srgbClr val="8060BA"/>
                </a:solidFill>
                <a:latin typeface="DejaVu Sans"/>
              </a:defRPr>
            </a:pPr>
            <a:r>
              <a:t>Ruta</a:t>
            </a:r>
          </a:p>
        </p:txBody>
      </p:sp>
      <p:sp>
        <p:nvSpPr>
          <p:cNvPr id="16" name="TextBox 15"/>
          <p:cNvSpPr txBox="1"/>
          <p:nvPr/>
        </p:nvSpPr>
        <p:spPr>
          <a:xfrm>
            <a:off x="11228832" y="6400800"/>
            <a:ext cx="457200" cy="274320"/>
          </a:xfrm>
          <a:prstGeom prst="rect">
            <a:avLst/>
          </a:prstGeom>
          <a:noFill/>
        </p:spPr>
        <p:txBody>
          <a:bodyPr wrap="square" lIns="0" rIns="0" tIns="0" bIns="0">
            <a:spAutoFit/>
          </a:bodyPr>
          <a:lstStyle/>
          <a:p>
            <a:pPr algn="r">
              <a:lnSpc>
                <a:spcPct val="101000"/>
              </a:lnSpc>
              <a:spcAft>
                <a:spcPts val="300"/>
              </a:spcAft>
              <a:defRPr sz="1300" b="1">
                <a:solidFill>
                  <a:srgbClr val="203350"/>
                </a:solidFill>
                <a:latin typeface="DejaVu Sans"/>
              </a:defRPr>
            </a:pPr>
            <a:r>
              <a:t>16</a:t>
            </a:r>
          </a:p>
        </p:txBody>
      </p:sp>
      <p:sp>
        <p:nvSpPr>
          <p:cNvPr id="17" name="Rectangle 16"/>
          <p:cNvSpPr/>
          <p:nvPr/>
        </p:nvSpPr>
        <p:spPr>
          <a:xfrm>
            <a:off x="0" y="6821424"/>
            <a:ext cx="7502750" cy="36576"/>
          </a:xfrm>
          <a:prstGeom prst="rect">
            <a:avLst/>
          </a:prstGeom>
          <a:solidFill>
            <a:srgbClr val="8060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waterlab.gif"/>
          <p:cNvPicPr>
            <a:picLocks noChangeAspect="1"/>
          </p:cNvPicPr>
          <p:nvPr/>
        </p:nvPicPr>
        <p:blipFill>
          <a:blip r:embed="rId8"/>
          <a:stretch>
            <a:fillRect/>
          </a:stretch>
        </p:blipFill>
        <p:spPr>
          <a:xfrm>
            <a:off x="548640" y="2606040"/>
            <a:ext cx="11109960" cy="3246120"/>
          </a:xfrm>
          <a:prstGeom prst="rect">
            <a:avLst/>
          </a:prstGeom>
        </p:spPr>
      </p:pic>
      <p:sp>
        <p:nvSpPr>
          <p:cNvPr id="19" name="TextBox 18"/>
          <p:cNvSpPr txBox="1"/>
          <p:nvPr/>
        </p:nvSpPr>
        <p:spPr>
          <a:xfrm>
            <a:off x="640080" y="6016752"/>
            <a:ext cx="10881360" cy="292608"/>
          </a:xfrm>
          <a:prstGeom prst="rect">
            <a:avLst/>
          </a:prstGeom>
          <a:noFill/>
        </p:spPr>
        <p:txBody>
          <a:bodyPr wrap="square" lIns="0" rIns="0" tIns="0" bIns="0">
            <a:spAutoFit/>
          </a:bodyPr>
          <a:lstStyle/>
          <a:p>
            <a:pPr algn="l">
              <a:lnSpc>
                <a:spcPct val="101000"/>
              </a:lnSpc>
              <a:spcAft>
                <a:spcPts val="300"/>
              </a:spcAft>
              <a:defRPr sz="1100" b="0">
                <a:solidFill>
                  <a:srgbClr val="5C6E83"/>
                </a:solidFill>
                <a:latin typeface="DejaVu Sans"/>
              </a:defRPr>
            </a:pPr>
            <a:r>
              <a:t>ADN total, copias de genes y perfiles taxonómicos responden a preguntas distintas.</a:t>
            </a:r>
          </a:p>
        </p:txBody>
      </p:sp>
    </p:spTree>
  </p:cSld>
  <p:clrMapOvr>
    <a:masterClrMapping/>
  </p:clrMapOvr>
  <p:transition advClick="1">
    <p:fade/>
  </p:transition>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9FBFF"/>
        </a:solidFill>
        <a:effectLst/>
      </p:bgPr>
    </p:bg>
    <p:spTree>
      <p:nvGrpSpPr>
        <p:cNvPr id="1" name=""/>
        <p:cNvGrpSpPr/>
        <p:nvPr/>
      </p:nvGrpSpPr>
      <p:grpSpPr/>
      <p:sp>
        <p:nvSpPr>
          <p:cNvPr id="2" name="TextBox 1"/>
          <p:cNvSpPr txBox="1"/>
          <p:nvPr/>
        </p:nvSpPr>
        <p:spPr>
          <a:xfrm>
            <a:off x="548640" y="365760"/>
            <a:ext cx="7543800" cy="274320"/>
          </a:xfrm>
          <a:prstGeom prst="rect">
            <a:avLst/>
          </a:prstGeom>
          <a:noFill/>
        </p:spPr>
        <p:txBody>
          <a:bodyPr wrap="square" lIns="0" rIns="0" tIns="0" bIns="0">
            <a:spAutoFit/>
          </a:bodyPr>
          <a:lstStyle/>
          <a:p>
            <a:pPr algn="l">
              <a:lnSpc>
                <a:spcPct val="101000"/>
              </a:lnSpc>
              <a:spcAft>
                <a:spcPts val="300"/>
              </a:spcAft>
              <a:defRPr sz="930" b="1">
                <a:solidFill>
                  <a:srgbClr val="8060BA"/>
                </a:solidFill>
                <a:latin typeface="DejaVu Sans"/>
              </a:defRPr>
            </a:pPr>
            <a:r>
              <a:t>ESPACIO PARA TUS FOTOS</a:t>
            </a:r>
          </a:p>
        </p:txBody>
      </p:sp>
      <p:sp>
        <p:nvSpPr>
          <p:cNvPr id="3" name="Rounded Rectangle 2">
            <a:hlinkClick action="ppaction://hlinksldjump" r:id="rId2"/>
          </p:cNvPr>
          <p:cNvSpPr/>
          <p:nvPr/>
        </p:nvSpPr>
        <p:spPr>
          <a:xfrm>
            <a:off x="8229600" y="310896"/>
            <a:ext cx="795528" cy="310896"/>
          </a:xfrm>
          <a:prstGeom prst="roundRect">
            <a:avLst>
              <a:gd name="adj" fmla="val 12000"/>
            </a:avLst>
          </a:prstGeom>
          <a:solidFill>
            <a:srgbClr val="E2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a:hlinkClick action="ppaction://hlinksldjump" r:id="rId2"/>
          </p:cNvPr>
          <p:cNvSpPr txBox="1"/>
          <p:nvPr/>
        </p:nvSpPr>
        <p:spPr>
          <a:xfrm>
            <a:off x="8339327"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Explorar</a:t>
            </a:r>
          </a:p>
        </p:txBody>
      </p:sp>
      <p:sp>
        <p:nvSpPr>
          <p:cNvPr id="5" name="Rounded Rectangle 4">
            <a:hlinkClick action="ppaction://hlinksldjump" r:id="rId3"/>
          </p:cNvPr>
          <p:cNvSpPr/>
          <p:nvPr/>
        </p:nvSpPr>
        <p:spPr>
          <a:xfrm>
            <a:off x="9089136" y="310896"/>
            <a:ext cx="795528" cy="310896"/>
          </a:xfrm>
          <a:prstGeom prst="roundRect">
            <a:avLst>
              <a:gd name="adj" fmla="val 12000"/>
            </a:avLst>
          </a:prstGeom>
          <a:solidFill>
            <a:srgbClr val="F0E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a:hlinkClick action="ppaction://hlinksldjump" r:id="rId3"/>
          </p:cNvPr>
          <p:cNvSpPr txBox="1"/>
          <p:nvPr/>
        </p:nvSpPr>
        <p:spPr>
          <a:xfrm>
            <a:off x="9198863"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Diseñar</a:t>
            </a:r>
          </a:p>
        </p:txBody>
      </p:sp>
      <p:sp>
        <p:nvSpPr>
          <p:cNvPr id="7" name="Rounded Rectangle 6">
            <a:hlinkClick action="ppaction://hlinksldjump" r:id="rId4"/>
          </p:cNvPr>
          <p:cNvSpPr/>
          <p:nvPr/>
        </p:nvSpPr>
        <p:spPr>
          <a:xfrm>
            <a:off x="9948672" y="310896"/>
            <a:ext cx="795528" cy="310896"/>
          </a:xfrm>
          <a:prstGeom prst="roundRect">
            <a:avLst>
              <a:gd name="adj" fmla="val 12000"/>
            </a:avLst>
          </a:prstGeom>
          <a:solidFill>
            <a:srgbClr val="FFF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a:hlinkClick action="ppaction://hlinksldjump" r:id="rId4"/>
          </p:cNvPr>
          <p:cNvSpPr txBox="1"/>
          <p:nvPr/>
        </p:nvSpPr>
        <p:spPr>
          <a:xfrm>
            <a:off x="10058399"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Servir</a:t>
            </a:r>
          </a:p>
        </p:txBody>
      </p:sp>
      <p:sp>
        <p:nvSpPr>
          <p:cNvPr id="9" name="Rounded Rectangle 8">
            <a:hlinkClick action="ppaction://hlinksldjump" r:id="rId5"/>
          </p:cNvPr>
          <p:cNvSpPr/>
          <p:nvPr/>
        </p:nvSpPr>
        <p:spPr>
          <a:xfrm>
            <a:off x="10808208" y="310896"/>
            <a:ext cx="795528" cy="310896"/>
          </a:xfrm>
          <a:prstGeom prst="roundRect">
            <a:avLst>
              <a:gd name="adj" fmla="val 12000"/>
            </a:avLst>
          </a:prstGeom>
          <a:solidFill>
            <a:srgbClr val="E9F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a:hlinkClick action="ppaction://hlinksldjump" r:id="rId5"/>
          </p:cNvPr>
          <p:cNvSpPr txBox="1"/>
          <p:nvPr/>
        </p:nvSpPr>
        <p:spPr>
          <a:xfrm>
            <a:off x="10917936"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Empezar</a:t>
            </a:r>
          </a:p>
        </p:txBody>
      </p:sp>
      <p:sp>
        <p:nvSpPr>
          <p:cNvPr id="11" name="TextBox 10"/>
          <p:cNvSpPr txBox="1"/>
          <p:nvPr/>
        </p:nvSpPr>
        <p:spPr>
          <a:xfrm>
            <a:off x="548640" y="877824"/>
            <a:ext cx="11064240" cy="1234440"/>
          </a:xfrm>
          <a:prstGeom prst="rect">
            <a:avLst/>
          </a:prstGeom>
          <a:noFill/>
        </p:spPr>
        <p:txBody>
          <a:bodyPr wrap="square" lIns="0" rIns="0" tIns="0" bIns="0">
            <a:spAutoFit/>
          </a:bodyPr>
          <a:lstStyle/>
          <a:p>
            <a:pPr algn="l">
              <a:lnSpc>
                <a:spcPct val="101000"/>
              </a:lnSpc>
              <a:spcAft>
                <a:spcPts val="300"/>
              </a:spcAft>
              <a:defRPr sz="3900" b="1">
                <a:solidFill>
                  <a:srgbClr val="203350"/>
                </a:solidFill>
                <a:latin typeface="DejaVu Sans"/>
              </a:defRPr>
            </a:pPr>
            <a:r>
              <a:t>Las oportunidades</a:t>
            </a:r>
          </a:p>
          <a:p>
            <a:pPr algn="l">
              <a:lnSpc>
                <a:spcPct val="101000"/>
              </a:lnSpc>
              <a:spcAft>
                <a:spcPts val="300"/>
              </a:spcAft>
              <a:defRPr sz="3900" b="1">
                <a:solidFill>
                  <a:srgbClr val="203350"/>
                </a:solidFill>
                <a:latin typeface="DejaVu Sans"/>
              </a:defRPr>
            </a:pPr>
            <a:r>
              <a:t>se construyen en equipo</a:t>
            </a:r>
          </a:p>
        </p:txBody>
      </p:sp>
      <p:sp>
        <p:nvSpPr>
          <p:cNvPr id="12" name="TextBox 11"/>
          <p:cNvSpPr txBox="1"/>
          <p:nvPr/>
        </p:nvSpPr>
        <p:spPr>
          <a:xfrm>
            <a:off x="566928" y="2112264"/>
            <a:ext cx="10972800" cy="365760"/>
          </a:xfrm>
          <a:prstGeom prst="rect">
            <a:avLst/>
          </a:prstGeom>
          <a:noFill/>
        </p:spPr>
        <p:txBody>
          <a:bodyPr wrap="square" lIns="0" rIns="0" tIns="0" bIns="0">
            <a:spAutoFit/>
          </a:bodyPr>
          <a:lstStyle/>
          <a:p>
            <a:pPr algn="l">
              <a:lnSpc>
                <a:spcPct val="101000"/>
              </a:lnSpc>
              <a:spcAft>
                <a:spcPts val="300"/>
              </a:spcAft>
              <a:defRPr sz="1450" b="0">
                <a:solidFill>
                  <a:srgbClr val="5C6E83"/>
                </a:solidFill>
                <a:latin typeface="DejaVu Sans"/>
              </a:defRPr>
            </a:pPr>
            <a:r>
              <a:t>Galería reservada · laboratorio e intercambio</a:t>
            </a:r>
          </a:p>
        </p:txBody>
      </p:sp>
      <p:sp>
        <p:nvSpPr>
          <p:cNvPr id="13" name="TextBox 12"/>
          <p:cNvSpPr txBox="1"/>
          <p:nvPr/>
        </p:nvSpPr>
        <p:spPr>
          <a:xfrm>
            <a:off x="548640" y="6446520"/>
            <a:ext cx="9966960" cy="210312"/>
          </a:xfrm>
          <a:prstGeom prst="rect">
            <a:avLst/>
          </a:prstGeom>
          <a:noFill/>
        </p:spPr>
        <p:txBody>
          <a:bodyPr wrap="square" lIns="0" rIns="0" tIns="0" bIns="0">
            <a:spAutoFit/>
          </a:bodyPr>
          <a:lstStyle/>
          <a:p>
            <a:pPr algn="l">
              <a:lnSpc>
                <a:spcPct val="101000"/>
              </a:lnSpc>
              <a:spcAft>
                <a:spcPts val="300"/>
              </a:spcAft>
              <a:defRPr sz="810" b="0">
                <a:solidFill>
                  <a:srgbClr val="5C6E83"/>
                </a:solidFill>
                <a:latin typeface="DejaVu Sans"/>
              </a:defRPr>
            </a:pPr>
            <a:r>
              <a:t>Añade fotografías propias que quieras compartir en clase</a:t>
            </a:r>
          </a:p>
        </p:txBody>
      </p:sp>
      <p:sp>
        <p:nvSpPr>
          <p:cNvPr id="14" name="Rounded Rectangle 13">
            <a:hlinkClick action="ppaction://hlinksldjump" r:id="rId6"/>
          </p:cNvPr>
          <p:cNvSpPr/>
          <p:nvPr/>
        </p:nvSpPr>
        <p:spPr>
          <a:xfrm>
            <a:off x="10469880" y="6400800"/>
            <a:ext cx="594360" cy="265176"/>
          </a:xfrm>
          <a:prstGeom prst="roundRect">
            <a:avLst>
              <a:gd name="adj" fmla="val 12000"/>
            </a:avLst>
          </a:prstGeom>
          <a:solidFill>
            <a:srgbClr val="F0E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a:hlinkClick action="ppaction://hlinksldjump" r:id="rId6"/>
          </p:cNvPr>
          <p:cNvSpPr txBox="1"/>
          <p:nvPr/>
        </p:nvSpPr>
        <p:spPr>
          <a:xfrm>
            <a:off x="10579607" y="6483096"/>
            <a:ext cx="374904" cy="173735"/>
          </a:xfrm>
          <a:prstGeom prst="rect">
            <a:avLst/>
          </a:prstGeom>
          <a:noFill/>
        </p:spPr>
        <p:txBody>
          <a:bodyPr wrap="square" lIns="0" rIns="0" tIns="0" bIns="0">
            <a:spAutoFit/>
          </a:bodyPr>
          <a:lstStyle/>
          <a:p>
            <a:pPr algn="l">
              <a:lnSpc>
                <a:spcPct val="101000"/>
              </a:lnSpc>
              <a:spcAft>
                <a:spcPts val="300"/>
              </a:spcAft>
              <a:defRPr sz="800" b="1">
                <a:solidFill>
                  <a:srgbClr val="8060BA"/>
                </a:solidFill>
                <a:latin typeface="DejaVu Sans"/>
              </a:defRPr>
            </a:pPr>
            <a:r>
              <a:t>Ruta</a:t>
            </a:r>
          </a:p>
        </p:txBody>
      </p:sp>
      <p:sp>
        <p:nvSpPr>
          <p:cNvPr id="16" name="TextBox 15"/>
          <p:cNvSpPr txBox="1"/>
          <p:nvPr/>
        </p:nvSpPr>
        <p:spPr>
          <a:xfrm>
            <a:off x="11228832" y="6400800"/>
            <a:ext cx="457200" cy="274320"/>
          </a:xfrm>
          <a:prstGeom prst="rect">
            <a:avLst/>
          </a:prstGeom>
          <a:noFill/>
        </p:spPr>
        <p:txBody>
          <a:bodyPr wrap="square" lIns="0" rIns="0" tIns="0" bIns="0">
            <a:spAutoFit/>
          </a:bodyPr>
          <a:lstStyle/>
          <a:p>
            <a:pPr algn="r">
              <a:lnSpc>
                <a:spcPct val="101000"/>
              </a:lnSpc>
              <a:spcAft>
                <a:spcPts val="300"/>
              </a:spcAft>
              <a:defRPr sz="1300" b="1">
                <a:solidFill>
                  <a:srgbClr val="203350"/>
                </a:solidFill>
                <a:latin typeface="DejaVu Sans"/>
              </a:defRPr>
            </a:pPr>
            <a:r>
              <a:t>17</a:t>
            </a:r>
          </a:p>
        </p:txBody>
      </p:sp>
      <p:sp>
        <p:nvSpPr>
          <p:cNvPr id="17" name="Rectangle 16"/>
          <p:cNvSpPr/>
          <p:nvPr/>
        </p:nvSpPr>
        <p:spPr>
          <a:xfrm>
            <a:off x="0" y="6821424"/>
            <a:ext cx="7971672" cy="36576"/>
          </a:xfrm>
          <a:prstGeom prst="rect">
            <a:avLst/>
          </a:prstGeom>
          <a:solidFill>
            <a:srgbClr val="8060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94360" y="2724912"/>
            <a:ext cx="3602736" cy="2670048"/>
          </a:xfrm>
          <a:prstGeom prst="roundRect">
            <a:avLst>
              <a:gd name="adj" fmla="val 12000"/>
            </a:avLst>
          </a:prstGeom>
          <a:solidFill>
            <a:srgbClr val="F0E7FC"/>
          </a:solidFill>
          <a:ln w="16510">
            <a:solidFill>
              <a:srgbClr val="B8C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938528" y="3374136"/>
            <a:ext cx="822960" cy="594360"/>
          </a:xfrm>
          <a:prstGeom prst="rect">
            <a:avLst/>
          </a:prstGeom>
          <a:noFill/>
        </p:spPr>
        <p:txBody>
          <a:bodyPr wrap="square" lIns="0" rIns="0" tIns="0" bIns="0">
            <a:spAutoFit/>
          </a:bodyPr>
          <a:lstStyle/>
          <a:p>
            <a:pPr algn="ctr">
              <a:lnSpc>
                <a:spcPct val="101000"/>
              </a:lnSpc>
              <a:spcAft>
                <a:spcPts val="300"/>
              </a:spcAft>
              <a:defRPr sz="5200" b="0">
                <a:solidFill>
                  <a:srgbClr val="8060BA"/>
                </a:solidFill>
                <a:latin typeface="DejaVu Sans"/>
              </a:defRPr>
            </a:pPr>
            <a:r>
              <a:t>+</a:t>
            </a:r>
          </a:p>
        </p:txBody>
      </p:sp>
      <p:sp>
        <p:nvSpPr>
          <p:cNvPr id="20" name="TextBox 19"/>
          <p:cNvSpPr txBox="1"/>
          <p:nvPr/>
        </p:nvSpPr>
        <p:spPr>
          <a:xfrm>
            <a:off x="1014984" y="4279392"/>
            <a:ext cx="2761488" cy="347472"/>
          </a:xfrm>
          <a:prstGeom prst="rect">
            <a:avLst/>
          </a:prstGeom>
          <a:noFill/>
        </p:spPr>
        <p:txBody>
          <a:bodyPr wrap="square" lIns="0" rIns="0" tIns="0" bIns="0">
            <a:spAutoFit/>
          </a:bodyPr>
          <a:lstStyle/>
          <a:p>
            <a:pPr algn="ctr">
              <a:lnSpc>
                <a:spcPct val="101000"/>
              </a:lnSpc>
              <a:spcAft>
                <a:spcPts val="300"/>
              </a:spcAft>
              <a:defRPr sz="1400" b="1">
                <a:solidFill>
                  <a:srgbClr val="5C6E83"/>
                </a:solidFill>
                <a:latin typeface="DejaVu Sans"/>
              </a:defRPr>
            </a:pPr>
            <a:r>
              <a:t>AÑADIR TU FOTO</a:t>
            </a:r>
          </a:p>
        </p:txBody>
      </p:sp>
      <p:sp>
        <p:nvSpPr>
          <p:cNvPr id="21" name="TextBox 20"/>
          <p:cNvSpPr txBox="1"/>
          <p:nvPr/>
        </p:nvSpPr>
        <p:spPr>
          <a:xfrm>
            <a:off x="640080" y="5586984"/>
            <a:ext cx="3511296" cy="457200"/>
          </a:xfrm>
          <a:prstGeom prst="rect">
            <a:avLst/>
          </a:prstGeom>
          <a:noFill/>
        </p:spPr>
        <p:txBody>
          <a:bodyPr wrap="square" lIns="0" rIns="0" tIns="0" bIns="0">
            <a:spAutoFit/>
          </a:bodyPr>
          <a:lstStyle/>
          <a:p>
            <a:pPr algn="l">
              <a:lnSpc>
                <a:spcPct val="101000"/>
              </a:lnSpc>
              <a:spcAft>
                <a:spcPts val="300"/>
              </a:spcAft>
              <a:defRPr sz="1700" b="1">
                <a:solidFill>
                  <a:srgbClr val="203350"/>
                </a:solidFill>
                <a:latin typeface="DejaVu Sans"/>
              </a:defRPr>
            </a:pPr>
            <a:r>
              <a:t>Trabajo de laboratorio</a:t>
            </a:r>
          </a:p>
        </p:txBody>
      </p:sp>
      <p:sp>
        <p:nvSpPr>
          <p:cNvPr id="22" name="Rounded Rectangle 21"/>
          <p:cNvSpPr/>
          <p:nvPr/>
        </p:nvSpPr>
        <p:spPr>
          <a:xfrm>
            <a:off x="4389120" y="2724912"/>
            <a:ext cx="3602736" cy="2670048"/>
          </a:xfrm>
          <a:prstGeom prst="roundRect">
            <a:avLst>
              <a:gd name="adj" fmla="val 12000"/>
            </a:avLst>
          </a:prstGeom>
          <a:solidFill>
            <a:srgbClr val="E0F7F3"/>
          </a:solidFill>
          <a:ln w="16510">
            <a:solidFill>
              <a:srgbClr val="B8C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733288" y="3374136"/>
            <a:ext cx="822960" cy="594360"/>
          </a:xfrm>
          <a:prstGeom prst="rect">
            <a:avLst/>
          </a:prstGeom>
          <a:noFill/>
        </p:spPr>
        <p:txBody>
          <a:bodyPr wrap="square" lIns="0" rIns="0" tIns="0" bIns="0">
            <a:spAutoFit/>
          </a:bodyPr>
          <a:lstStyle/>
          <a:p>
            <a:pPr algn="ctr">
              <a:lnSpc>
                <a:spcPct val="101000"/>
              </a:lnSpc>
              <a:spcAft>
                <a:spcPts val="300"/>
              </a:spcAft>
              <a:defRPr sz="5200" b="0">
                <a:solidFill>
                  <a:srgbClr val="8060BA"/>
                </a:solidFill>
                <a:latin typeface="DejaVu Sans"/>
              </a:defRPr>
            </a:pPr>
            <a:r>
              <a:t>+</a:t>
            </a:r>
          </a:p>
        </p:txBody>
      </p:sp>
      <p:sp>
        <p:nvSpPr>
          <p:cNvPr id="24" name="TextBox 23"/>
          <p:cNvSpPr txBox="1"/>
          <p:nvPr/>
        </p:nvSpPr>
        <p:spPr>
          <a:xfrm>
            <a:off x="4809744" y="4279392"/>
            <a:ext cx="2761488" cy="347472"/>
          </a:xfrm>
          <a:prstGeom prst="rect">
            <a:avLst/>
          </a:prstGeom>
          <a:noFill/>
        </p:spPr>
        <p:txBody>
          <a:bodyPr wrap="square" lIns="0" rIns="0" tIns="0" bIns="0">
            <a:spAutoFit/>
          </a:bodyPr>
          <a:lstStyle/>
          <a:p>
            <a:pPr algn="ctr">
              <a:lnSpc>
                <a:spcPct val="101000"/>
              </a:lnSpc>
              <a:spcAft>
                <a:spcPts val="300"/>
              </a:spcAft>
              <a:defRPr sz="1400" b="1">
                <a:solidFill>
                  <a:srgbClr val="5C6E83"/>
                </a:solidFill>
                <a:latin typeface="DejaVu Sans"/>
              </a:defRPr>
            </a:pPr>
            <a:r>
              <a:t>AÑADIR TU FOTO</a:t>
            </a:r>
          </a:p>
        </p:txBody>
      </p:sp>
      <p:sp>
        <p:nvSpPr>
          <p:cNvPr id="25" name="TextBox 24"/>
          <p:cNvSpPr txBox="1"/>
          <p:nvPr/>
        </p:nvSpPr>
        <p:spPr>
          <a:xfrm>
            <a:off x="4434840" y="5586984"/>
            <a:ext cx="3511296" cy="457200"/>
          </a:xfrm>
          <a:prstGeom prst="rect">
            <a:avLst/>
          </a:prstGeom>
          <a:noFill/>
        </p:spPr>
        <p:txBody>
          <a:bodyPr wrap="square" lIns="0" rIns="0" tIns="0" bIns="0">
            <a:spAutoFit/>
          </a:bodyPr>
          <a:lstStyle/>
          <a:p>
            <a:pPr algn="l">
              <a:lnSpc>
                <a:spcPct val="101000"/>
              </a:lnSpc>
              <a:spcAft>
                <a:spcPts val="300"/>
              </a:spcAft>
              <a:defRPr sz="1700" b="1">
                <a:solidFill>
                  <a:srgbClr val="203350"/>
                </a:solidFill>
                <a:latin typeface="DejaVu Sans"/>
              </a:defRPr>
            </a:pPr>
            <a:r>
              <a:t>Colaboración e intercambio</a:t>
            </a:r>
          </a:p>
        </p:txBody>
      </p:sp>
      <p:sp>
        <p:nvSpPr>
          <p:cNvPr id="26" name="Rounded Rectangle 25"/>
          <p:cNvSpPr/>
          <p:nvPr/>
        </p:nvSpPr>
        <p:spPr>
          <a:xfrm>
            <a:off x="8183880" y="2724912"/>
            <a:ext cx="3602736" cy="2670048"/>
          </a:xfrm>
          <a:prstGeom prst="roundRect">
            <a:avLst>
              <a:gd name="adj" fmla="val 12000"/>
            </a:avLst>
          </a:prstGeom>
          <a:solidFill>
            <a:srgbClr val="FFF0D9"/>
          </a:solidFill>
          <a:ln w="16510">
            <a:solidFill>
              <a:srgbClr val="B8C2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528048" y="3374136"/>
            <a:ext cx="822960" cy="594360"/>
          </a:xfrm>
          <a:prstGeom prst="rect">
            <a:avLst/>
          </a:prstGeom>
          <a:noFill/>
        </p:spPr>
        <p:txBody>
          <a:bodyPr wrap="square" lIns="0" rIns="0" tIns="0" bIns="0">
            <a:spAutoFit/>
          </a:bodyPr>
          <a:lstStyle/>
          <a:p>
            <a:pPr algn="ctr">
              <a:lnSpc>
                <a:spcPct val="101000"/>
              </a:lnSpc>
              <a:spcAft>
                <a:spcPts val="300"/>
              </a:spcAft>
              <a:defRPr sz="5200" b="0">
                <a:solidFill>
                  <a:srgbClr val="8060BA"/>
                </a:solidFill>
                <a:latin typeface="DejaVu Sans"/>
              </a:defRPr>
            </a:pPr>
            <a:r>
              <a:t>+</a:t>
            </a:r>
          </a:p>
        </p:txBody>
      </p:sp>
      <p:sp>
        <p:nvSpPr>
          <p:cNvPr id="28" name="TextBox 27"/>
          <p:cNvSpPr txBox="1"/>
          <p:nvPr/>
        </p:nvSpPr>
        <p:spPr>
          <a:xfrm>
            <a:off x="8604504" y="4279392"/>
            <a:ext cx="2761488" cy="347472"/>
          </a:xfrm>
          <a:prstGeom prst="rect">
            <a:avLst/>
          </a:prstGeom>
          <a:noFill/>
        </p:spPr>
        <p:txBody>
          <a:bodyPr wrap="square" lIns="0" rIns="0" tIns="0" bIns="0">
            <a:spAutoFit/>
          </a:bodyPr>
          <a:lstStyle/>
          <a:p>
            <a:pPr algn="ctr">
              <a:lnSpc>
                <a:spcPct val="101000"/>
              </a:lnSpc>
              <a:spcAft>
                <a:spcPts val="300"/>
              </a:spcAft>
              <a:defRPr sz="1400" b="1">
                <a:solidFill>
                  <a:srgbClr val="5C6E83"/>
                </a:solidFill>
                <a:latin typeface="DejaVu Sans"/>
              </a:defRPr>
            </a:pPr>
            <a:r>
              <a:t>AÑADIR TU FOTO</a:t>
            </a:r>
          </a:p>
        </p:txBody>
      </p:sp>
      <p:sp>
        <p:nvSpPr>
          <p:cNvPr id="29" name="TextBox 28"/>
          <p:cNvSpPr txBox="1"/>
          <p:nvPr/>
        </p:nvSpPr>
        <p:spPr>
          <a:xfrm>
            <a:off x="8229600" y="5586984"/>
            <a:ext cx="3511296" cy="457200"/>
          </a:xfrm>
          <a:prstGeom prst="rect">
            <a:avLst/>
          </a:prstGeom>
          <a:noFill/>
        </p:spPr>
        <p:txBody>
          <a:bodyPr wrap="square" lIns="0" rIns="0" tIns="0" bIns="0">
            <a:spAutoFit/>
          </a:bodyPr>
          <a:lstStyle/>
          <a:p>
            <a:pPr algn="l">
              <a:lnSpc>
                <a:spcPct val="101000"/>
              </a:lnSpc>
              <a:spcAft>
                <a:spcPts val="300"/>
              </a:spcAft>
              <a:defRPr sz="1700" b="1">
                <a:solidFill>
                  <a:srgbClr val="203350"/>
                </a:solidFill>
                <a:latin typeface="DejaVu Sans"/>
              </a:defRPr>
            </a:pPr>
            <a:r>
              <a:t>Comunicación científica</a:t>
            </a:r>
          </a:p>
        </p:txBody>
      </p:sp>
    </p:spTree>
  </p:cSld>
  <p:clrMapOvr>
    <a:masterClrMapping/>
  </p:clrMapOvr>
  <p:transition advClick="1">
    <p:fade/>
  </p:transition>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9FBFF"/>
        </a:solidFill>
        <a:effectLst/>
      </p:bgPr>
    </p:bg>
    <p:spTree>
      <p:nvGrpSpPr>
        <p:cNvPr id="1" name=""/>
        <p:cNvGrpSpPr/>
        <p:nvPr/>
      </p:nvGrpSpPr>
      <p:grpSpPr/>
      <p:sp>
        <p:nvSpPr>
          <p:cNvPr id="2" name="TextBox 1"/>
          <p:cNvSpPr txBox="1"/>
          <p:nvPr/>
        </p:nvSpPr>
        <p:spPr>
          <a:xfrm>
            <a:off x="548640" y="365760"/>
            <a:ext cx="7543800" cy="274320"/>
          </a:xfrm>
          <a:prstGeom prst="rect">
            <a:avLst/>
          </a:prstGeom>
          <a:noFill/>
        </p:spPr>
        <p:txBody>
          <a:bodyPr wrap="square" lIns="0" rIns="0" tIns="0" bIns="0">
            <a:spAutoFit/>
          </a:bodyPr>
          <a:lstStyle/>
          <a:p>
            <a:pPr algn="l">
              <a:lnSpc>
                <a:spcPct val="101000"/>
              </a:lnSpc>
              <a:spcAft>
                <a:spcPts val="300"/>
              </a:spcAft>
              <a:defRPr sz="930" b="1">
                <a:solidFill>
                  <a:srgbClr val="8060BA"/>
                </a:solidFill>
                <a:latin typeface="DejaVu Sans"/>
              </a:defRPr>
            </a:pPr>
            <a:r>
              <a:t>INTERPRETAR CON CRITERIO</a:t>
            </a:r>
          </a:p>
        </p:txBody>
      </p:sp>
      <p:sp>
        <p:nvSpPr>
          <p:cNvPr id="3" name="Rounded Rectangle 2">
            <a:hlinkClick action="ppaction://hlinksldjump" r:id="rId2"/>
          </p:cNvPr>
          <p:cNvSpPr/>
          <p:nvPr/>
        </p:nvSpPr>
        <p:spPr>
          <a:xfrm>
            <a:off x="8229600" y="310896"/>
            <a:ext cx="795528" cy="310896"/>
          </a:xfrm>
          <a:prstGeom prst="roundRect">
            <a:avLst>
              <a:gd name="adj" fmla="val 12000"/>
            </a:avLst>
          </a:prstGeom>
          <a:solidFill>
            <a:srgbClr val="E2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a:hlinkClick action="ppaction://hlinksldjump" r:id="rId2"/>
          </p:cNvPr>
          <p:cNvSpPr txBox="1"/>
          <p:nvPr/>
        </p:nvSpPr>
        <p:spPr>
          <a:xfrm>
            <a:off x="8339327"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Explorar</a:t>
            </a:r>
          </a:p>
        </p:txBody>
      </p:sp>
      <p:sp>
        <p:nvSpPr>
          <p:cNvPr id="5" name="Rounded Rectangle 4">
            <a:hlinkClick action="ppaction://hlinksldjump" r:id="rId3"/>
          </p:cNvPr>
          <p:cNvSpPr/>
          <p:nvPr/>
        </p:nvSpPr>
        <p:spPr>
          <a:xfrm>
            <a:off x="9089136" y="310896"/>
            <a:ext cx="795528" cy="310896"/>
          </a:xfrm>
          <a:prstGeom prst="roundRect">
            <a:avLst>
              <a:gd name="adj" fmla="val 12000"/>
            </a:avLst>
          </a:prstGeom>
          <a:solidFill>
            <a:srgbClr val="F0E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a:hlinkClick action="ppaction://hlinksldjump" r:id="rId3"/>
          </p:cNvPr>
          <p:cNvSpPr txBox="1"/>
          <p:nvPr/>
        </p:nvSpPr>
        <p:spPr>
          <a:xfrm>
            <a:off x="9198863"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Diseñar</a:t>
            </a:r>
          </a:p>
        </p:txBody>
      </p:sp>
      <p:sp>
        <p:nvSpPr>
          <p:cNvPr id="7" name="Rounded Rectangle 6">
            <a:hlinkClick action="ppaction://hlinksldjump" r:id="rId4"/>
          </p:cNvPr>
          <p:cNvSpPr/>
          <p:nvPr/>
        </p:nvSpPr>
        <p:spPr>
          <a:xfrm>
            <a:off x="9948672" y="310896"/>
            <a:ext cx="795528" cy="310896"/>
          </a:xfrm>
          <a:prstGeom prst="roundRect">
            <a:avLst>
              <a:gd name="adj" fmla="val 12000"/>
            </a:avLst>
          </a:prstGeom>
          <a:solidFill>
            <a:srgbClr val="FFF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a:hlinkClick action="ppaction://hlinksldjump" r:id="rId4"/>
          </p:cNvPr>
          <p:cNvSpPr txBox="1"/>
          <p:nvPr/>
        </p:nvSpPr>
        <p:spPr>
          <a:xfrm>
            <a:off x="10058399"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Servir</a:t>
            </a:r>
          </a:p>
        </p:txBody>
      </p:sp>
      <p:sp>
        <p:nvSpPr>
          <p:cNvPr id="9" name="Rounded Rectangle 8">
            <a:hlinkClick action="ppaction://hlinksldjump" r:id="rId5"/>
          </p:cNvPr>
          <p:cNvSpPr/>
          <p:nvPr/>
        </p:nvSpPr>
        <p:spPr>
          <a:xfrm>
            <a:off x="10808208" y="310896"/>
            <a:ext cx="795528" cy="310896"/>
          </a:xfrm>
          <a:prstGeom prst="roundRect">
            <a:avLst>
              <a:gd name="adj" fmla="val 12000"/>
            </a:avLst>
          </a:prstGeom>
          <a:solidFill>
            <a:srgbClr val="E9F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a:hlinkClick action="ppaction://hlinksldjump" r:id="rId5"/>
          </p:cNvPr>
          <p:cNvSpPr txBox="1"/>
          <p:nvPr/>
        </p:nvSpPr>
        <p:spPr>
          <a:xfrm>
            <a:off x="10917936"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Empezar</a:t>
            </a:r>
          </a:p>
        </p:txBody>
      </p:sp>
      <p:sp>
        <p:nvSpPr>
          <p:cNvPr id="11" name="TextBox 10"/>
          <p:cNvSpPr txBox="1"/>
          <p:nvPr/>
        </p:nvSpPr>
        <p:spPr>
          <a:xfrm>
            <a:off x="548640" y="877824"/>
            <a:ext cx="11064240" cy="1234440"/>
          </a:xfrm>
          <a:prstGeom prst="rect">
            <a:avLst/>
          </a:prstGeom>
          <a:noFill/>
        </p:spPr>
        <p:txBody>
          <a:bodyPr wrap="square" lIns="0" rIns="0" tIns="0" bIns="0">
            <a:spAutoFit/>
          </a:bodyPr>
          <a:lstStyle/>
          <a:p>
            <a:pPr algn="l">
              <a:lnSpc>
                <a:spcPct val="101000"/>
              </a:lnSpc>
              <a:spcAft>
                <a:spcPts val="300"/>
              </a:spcAft>
              <a:defRPr sz="3900" b="1">
                <a:solidFill>
                  <a:srgbClr val="203350"/>
                </a:solidFill>
                <a:latin typeface="DejaVu Sans"/>
              </a:defRPr>
            </a:pPr>
            <a:r>
              <a:t>Un resultado también</a:t>
            </a:r>
          </a:p>
          <a:p>
            <a:pPr algn="l">
              <a:lnSpc>
                <a:spcPct val="101000"/>
              </a:lnSpc>
              <a:spcAft>
                <a:spcPts val="300"/>
              </a:spcAft>
              <a:defRPr sz="3900" b="1">
                <a:solidFill>
                  <a:srgbClr val="203350"/>
                </a:solidFill>
                <a:latin typeface="DejaVu Sans"/>
              </a:defRPr>
            </a:pPr>
            <a:r>
              <a:t>te enseña dónde termina la evidencia</a:t>
            </a:r>
          </a:p>
        </p:txBody>
      </p:sp>
      <p:sp>
        <p:nvSpPr>
          <p:cNvPr id="12" name="TextBox 11"/>
          <p:cNvSpPr txBox="1"/>
          <p:nvPr/>
        </p:nvSpPr>
        <p:spPr>
          <a:xfrm>
            <a:off x="566928" y="2112264"/>
            <a:ext cx="10972800" cy="365760"/>
          </a:xfrm>
          <a:prstGeom prst="rect">
            <a:avLst/>
          </a:prstGeom>
          <a:noFill/>
        </p:spPr>
        <p:txBody>
          <a:bodyPr wrap="square" lIns="0" rIns="0" tIns="0" bIns="0">
            <a:spAutoFit/>
          </a:bodyPr>
          <a:lstStyle/>
          <a:p>
            <a:pPr algn="l">
              <a:lnSpc>
                <a:spcPct val="101000"/>
              </a:lnSpc>
              <a:spcAft>
                <a:spcPts val="300"/>
              </a:spcAft>
              <a:defRPr sz="1450" b="0">
                <a:solidFill>
                  <a:srgbClr val="5C6E83"/>
                </a:solidFill>
                <a:latin typeface="DejaVu Sans"/>
              </a:defRPr>
            </a:pPr>
            <a:r>
              <a:t>Shannon · medias reportadas en el material metagenómico</a:t>
            </a:r>
          </a:p>
        </p:txBody>
      </p:sp>
      <p:sp>
        <p:nvSpPr>
          <p:cNvPr id="13" name="TextBox 12"/>
          <p:cNvSpPr txBox="1"/>
          <p:nvPr/>
        </p:nvSpPr>
        <p:spPr>
          <a:xfrm>
            <a:off x="548640" y="6446520"/>
            <a:ext cx="9966960" cy="210312"/>
          </a:xfrm>
          <a:prstGeom prst="rect">
            <a:avLst/>
          </a:prstGeom>
          <a:noFill/>
        </p:spPr>
        <p:txBody>
          <a:bodyPr wrap="square" lIns="0" rIns="0" tIns="0" bIns="0">
            <a:spAutoFit/>
          </a:bodyPr>
          <a:lstStyle/>
          <a:p>
            <a:pPr algn="l">
              <a:lnSpc>
                <a:spcPct val="101000"/>
              </a:lnSpc>
              <a:spcAft>
                <a:spcPts val="300"/>
              </a:spcAft>
              <a:defRPr sz="810" b="0">
                <a:solidFill>
                  <a:srgbClr val="5C6E83"/>
                </a:solidFill>
                <a:latin typeface="DejaVu Sans"/>
              </a:defRPr>
            </a:pPr>
            <a:r>
              <a:t>ECCA_EE_CY_vc1, diaps. 14–15 y 20; ± sin definición en la fuente</a:t>
            </a:r>
          </a:p>
        </p:txBody>
      </p:sp>
      <p:sp>
        <p:nvSpPr>
          <p:cNvPr id="14" name="Rounded Rectangle 13">
            <a:hlinkClick action="ppaction://hlinksldjump" r:id="rId6"/>
          </p:cNvPr>
          <p:cNvSpPr/>
          <p:nvPr/>
        </p:nvSpPr>
        <p:spPr>
          <a:xfrm>
            <a:off x="10469880" y="6400800"/>
            <a:ext cx="594360" cy="265176"/>
          </a:xfrm>
          <a:prstGeom prst="roundRect">
            <a:avLst>
              <a:gd name="adj" fmla="val 12000"/>
            </a:avLst>
          </a:prstGeom>
          <a:solidFill>
            <a:srgbClr val="F0E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a:hlinkClick action="ppaction://hlinksldjump" r:id="rId6"/>
          </p:cNvPr>
          <p:cNvSpPr txBox="1"/>
          <p:nvPr/>
        </p:nvSpPr>
        <p:spPr>
          <a:xfrm>
            <a:off x="10579607" y="6483096"/>
            <a:ext cx="374904" cy="173735"/>
          </a:xfrm>
          <a:prstGeom prst="rect">
            <a:avLst/>
          </a:prstGeom>
          <a:noFill/>
        </p:spPr>
        <p:txBody>
          <a:bodyPr wrap="square" lIns="0" rIns="0" tIns="0" bIns="0">
            <a:spAutoFit/>
          </a:bodyPr>
          <a:lstStyle/>
          <a:p>
            <a:pPr algn="l">
              <a:lnSpc>
                <a:spcPct val="101000"/>
              </a:lnSpc>
              <a:spcAft>
                <a:spcPts val="300"/>
              </a:spcAft>
              <a:defRPr sz="800" b="1">
                <a:solidFill>
                  <a:srgbClr val="8060BA"/>
                </a:solidFill>
                <a:latin typeface="DejaVu Sans"/>
              </a:defRPr>
            </a:pPr>
            <a:r>
              <a:t>Ruta</a:t>
            </a:r>
          </a:p>
        </p:txBody>
      </p:sp>
      <p:sp>
        <p:nvSpPr>
          <p:cNvPr id="16" name="TextBox 15"/>
          <p:cNvSpPr txBox="1"/>
          <p:nvPr/>
        </p:nvSpPr>
        <p:spPr>
          <a:xfrm>
            <a:off x="11228832" y="6400800"/>
            <a:ext cx="457200" cy="274320"/>
          </a:xfrm>
          <a:prstGeom prst="rect">
            <a:avLst/>
          </a:prstGeom>
          <a:noFill/>
        </p:spPr>
        <p:txBody>
          <a:bodyPr wrap="square" lIns="0" rIns="0" tIns="0" bIns="0">
            <a:spAutoFit/>
          </a:bodyPr>
          <a:lstStyle/>
          <a:p>
            <a:pPr algn="r">
              <a:lnSpc>
                <a:spcPct val="101000"/>
              </a:lnSpc>
              <a:spcAft>
                <a:spcPts val="300"/>
              </a:spcAft>
              <a:defRPr sz="1300" b="1">
                <a:solidFill>
                  <a:srgbClr val="203350"/>
                </a:solidFill>
                <a:latin typeface="DejaVu Sans"/>
              </a:defRPr>
            </a:pPr>
            <a:r>
              <a:t>18</a:t>
            </a:r>
          </a:p>
        </p:txBody>
      </p:sp>
      <p:sp>
        <p:nvSpPr>
          <p:cNvPr id="17" name="Rectangle 16"/>
          <p:cNvSpPr/>
          <p:nvPr/>
        </p:nvSpPr>
        <p:spPr>
          <a:xfrm>
            <a:off x="0" y="6821424"/>
            <a:ext cx="8440594" cy="36576"/>
          </a:xfrm>
          <a:prstGeom prst="rect">
            <a:avLst/>
          </a:prstGeom>
          <a:solidFill>
            <a:srgbClr val="8060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a:hlinkClick action="ppaction://hlinksldjump" r:id="rId8"/>
          </p:cNvPr>
          <p:cNvSpPr/>
          <p:nvPr/>
        </p:nvSpPr>
        <p:spPr>
          <a:xfrm>
            <a:off x="594360" y="2670048"/>
            <a:ext cx="1152144" cy="320040"/>
          </a:xfrm>
          <a:prstGeom prst="roundRect">
            <a:avLst>
              <a:gd name="adj" fmla="val 12000"/>
            </a:avLst>
          </a:prstGeom>
          <a:solidFill>
            <a:srgbClr val="8060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a:hlinkClick action="ppaction://hlinksldjump" r:id="rId8"/>
          </p:cNvPr>
          <p:cNvSpPr txBox="1"/>
          <p:nvPr/>
        </p:nvSpPr>
        <p:spPr>
          <a:xfrm>
            <a:off x="704088" y="2752344"/>
            <a:ext cx="932688" cy="228599"/>
          </a:xfrm>
          <a:prstGeom prst="rect">
            <a:avLst/>
          </a:prstGeom>
          <a:noFill/>
        </p:spPr>
        <p:txBody>
          <a:bodyPr wrap="square" lIns="0" rIns="0" tIns="0" bIns="0">
            <a:spAutoFit/>
          </a:bodyPr>
          <a:lstStyle/>
          <a:p>
            <a:pPr algn="l">
              <a:lnSpc>
                <a:spcPct val="101000"/>
              </a:lnSpc>
              <a:spcAft>
                <a:spcPts val="300"/>
              </a:spcAft>
              <a:defRPr sz="1000" b="1">
                <a:solidFill>
                  <a:srgbClr val="FFFFFF"/>
                </a:solidFill>
                <a:latin typeface="DejaVu Sans"/>
              </a:defRPr>
            </a:pPr>
            <a:r>
              <a:t>Shannon</a:t>
            </a:r>
          </a:p>
        </p:txBody>
      </p:sp>
      <p:sp>
        <p:nvSpPr>
          <p:cNvPr id="20" name="Rounded Rectangle 19">
            <a:hlinkClick action="ppaction://hlinksldjump" r:id="rId9"/>
          </p:cNvPr>
          <p:cNvSpPr/>
          <p:nvPr/>
        </p:nvSpPr>
        <p:spPr>
          <a:xfrm>
            <a:off x="1874519" y="2670048"/>
            <a:ext cx="1152144" cy="320040"/>
          </a:xfrm>
          <a:prstGeom prst="roundRect">
            <a:avLst>
              <a:gd name="adj" fmla="val 12000"/>
            </a:avLst>
          </a:prstGeom>
          <a:solidFill>
            <a:srgbClr val="F0E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a:hlinkClick action="ppaction://hlinksldjump" r:id="rId9"/>
          </p:cNvPr>
          <p:cNvSpPr txBox="1"/>
          <p:nvPr/>
        </p:nvSpPr>
        <p:spPr>
          <a:xfrm>
            <a:off x="1984248" y="2752344"/>
            <a:ext cx="932688" cy="228599"/>
          </a:xfrm>
          <a:prstGeom prst="rect">
            <a:avLst/>
          </a:prstGeom>
          <a:noFill/>
        </p:spPr>
        <p:txBody>
          <a:bodyPr wrap="square" lIns="0" rIns="0" tIns="0" bIns="0">
            <a:spAutoFit/>
          </a:bodyPr>
          <a:lstStyle/>
          <a:p>
            <a:pPr algn="l">
              <a:lnSpc>
                <a:spcPct val="101000"/>
              </a:lnSpc>
              <a:spcAft>
                <a:spcPts val="300"/>
              </a:spcAft>
              <a:defRPr sz="1000" b="1">
                <a:solidFill>
                  <a:srgbClr val="203350"/>
                </a:solidFill>
                <a:latin typeface="DejaVu Sans"/>
              </a:defRPr>
            </a:pPr>
            <a:r>
              <a:t>Simpson</a:t>
            </a:r>
          </a:p>
        </p:txBody>
      </p:sp>
      <p:sp>
        <p:nvSpPr>
          <p:cNvPr id="22" name="Rounded Rectangle 21">
            <a:hlinkClick action="ppaction://hlinksldjump" r:id="rId10"/>
          </p:cNvPr>
          <p:cNvSpPr/>
          <p:nvPr/>
        </p:nvSpPr>
        <p:spPr>
          <a:xfrm>
            <a:off x="3154679" y="2670048"/>
            <a:ext cx="1152144" cy="320040"/>
          </a:xfrm>
          <a:prstGeom prst="roundRect">
            <a:avLst>
              <a:gd name="adj" fmla="val 12000"/>
            </a:avLst>
          </a:prstGeom>
          <a:solidFill>
            <a:srgbClr val="F0E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a:hlinkClick action="ppaction://hlinksldjump" r:id="rId10"/>
          </p:cNvPr>
          <p:cNvSpPr txBox="1"/>
          <p:nvPr/>
        </p:nvSpPr>
        <p:spPr>
          <a:xfrm>
            <a:off x="3264408" y="2752344"/>
            <a:ext cx="932688" cy="228599"/>
          </a:xfrm>
          <a:prstGeom prst="rect">
            <a:avLst/>
          </a:prstGeom>
          <a:noFill/>
        </p:spPr>
        <p:txBody>
          <a:bodyPr wrap="square" lIns="0" rIns="0" tIns="0" bIns="0">
            <a:spAutoFit/>
          </a:bodyPr>
          <a:lstStyle/>
          <a:p>
            <a:pPr algn="l">
              <a:lnSpc>
                <a:spcPct val="101000"/>
              </a:lnSpc>
              <a:spcAft>
                <a:spcPts val="300"/>
              </a:spcAft>
              <a:defRPr sz="1000" b="1">
                <a:solidFill>
                  <a:srgbClr val="203350"/>
                </a:solidFill>
                <a:latin typeface="DejaVu Sans"/>
              </a:defRPr>
            </a:pPr>
            <a:r>
              <a:t>Riqueza</a:t>
            </a:r>
          </a:p>
        </p:txBody>
      </p:sp>
      <p:graphicFrame>
        <p:nvGraphicFramePr>
          <p:cNvPr id="24" name="Chart 23"/>
          <p:cNvGraphicFramePr>
            <a:graphicFrameLocks noGrp="1"/>
          </p:cNvGraphicFramePr>
          <p:nvPr/>
        </p:nvGraphicFramePr>
        <p:xfrm>
          <a:off x="530352" y="3191256"/>
          <a:ext cx="7589520" cy="2414016"/>
        </p:xfrm>
        <a:graphic>
          <a:graphicData uri="http://schemas.openxmlformats.org/drawingml/2006/chart">
            <c:chart xmlns:c="http://schemas.openxmlformats.org/drawingml/2006/chart" r:id="rId11"/>
          </a:graphicData>
        </a:graphic>
      </p:graphicFrame>
      <p:sp>
        <p:nvSpPr>
          <p:cNvPr id="25" name="TextBox 24"/>
          <p:cNvSpPr txBox="1"/>
          <p:nvPr/>
        </p:nvSpPr>
        <p:spPr>
          <a:xfrm>
            <a:off x="8202168" y="3172968"/>
            <a:ext cx="886968" cy="274320"/>
          </a:xfrm>
          <a:prstGeom prst="rect">
            <a:avLst/>
          </a:prstGeom>
          <a:noFill/>
        </p:spPr>
        <p:txBody>
          <a:bodyPr wrap="square" lIns="0" rIns="0" tIns="0" bIns="0">
            <a:spAutoFit/>
          </a:bodyPr>
          <a:lstStyle/>
          <a:p>
            <a:pPr algn="l">
              <a:lnSpc>
                <a:spcPct val="101000"/>
              </a:lnSpc>
              <a:spcAft>
                <a:spcPts val="300"/>
              </a:spcAft>
              <a:defRPr sz="850" b="0">
                <a:solidFill>
                  <a:srgbClr val="5C6E83"/>
                </a:solidFill>
                <a:latin typeface="DejaVu Sans"/>
              </a:defRPr>
            </a:pPr>
            <a:r>
              <a:t>± reportado</a:t>
            </a:r>
          </a:p>
        </p:txBody>
      </p:sp>
      <p:sp>
        <p:nvSpPr>
          <p:cNvPr id="26" name="TextBox 25"/>
          <p:cNvSpPr txBox="1"/>
          <p:nvPr/>
        </p:nvSpPr>
        <p:spPr>
          <a:xfrm>
            <a:off x="8275320" y="3694176"/>
            <a:ext cx="786384" cy="347472"/>
          </a:xfrm>
          <a:prstGeom prst="rect">
            <a:avLst/>
          </a:prstGeom>
          <a:noFill/>
        </p:spPr>
        <p:txBody>
          <a:bodyPr wrap="square" lIns="0" rIns="0" tIns="0" bIns="0">
            <a:spAutoFit/>
          </a:bodyPr>
          <a:lstStyle/>
          <a:p>
            <a:pPr algn="l">
              <a:lnSpc>
                <a:spcPct val="101000"/>
              </a:lnSpc>
              <a:spcAft>
                <a:spcPts val="300"/>
              </a:spcAft>
              <a:defRPr sz="1200" b="0">
                <a:solidFill>
                  <a:srgbClr val="5C6E83"/>
                </a:solidFill>
                <a:latin typeface="DejaVu Sans"/>
              </a:defRPr>
            </a:pPr>
            <a:r>
              <a:t>0,32</a:t>
            </a:r>
          </a:p>
        </p:txBody>
      </p:sp>
      <p:sp>
        <p:nvSpPr>
          <p:cNvPr id="27" name="TextBox 26"/>
          <p:cNvSpPr txBox="1"/>
          <p:nvPr/>
        </p:nvSpPr>
        <p:spPr>
          <a:xfrm>
            <a:off x="8275320" y="4261104"/>
            <a:ext cx="786384" cy="347472"/>
          </a:xfrm>
          <a:prstGeom prst="rect">
            <a:avLst/>
          </a:prstGeom>
          <a:noFill/>
        </p:spPr>
        <p:txBody>
          <a:bodyPr wrap="square" lIns="0" rIns="0" tIns="0" bIns="0">
            <a:spAutoFit/>
          </a:bodyPr>
          <a:lstStyle/>
          <a:p>
            <a:pPr algn="l">
              <a:lnSpc>
                <a:spcPct val="101000"/>
              </a:lnSpc>
              <a:spcAft>
                <a:spcPts val="300"/>
              </a:spcAft>
              <a:defRPr sz="1200" b="0">
                <a:solidFill>
                  <a:srgbClr val="5C6E83"/>
                </a:solidFill>
                <a:latin typeface="DejaVu Sans"/>
              </a:defRPr>
            </a:pPr>
            <a:r>
              <a:t>0,24</a:t>
            </a:r>
          </a:p>
        </p:txBody>
      </p:sp>
      <p:sp>
        <p:nvSpPr>
          <p:cNvPr id="28" name="TextBox 27"/>
          <p:cNvSpPr txBox="1"/>
          <p:nvPr/>
        </p:nvSpPr>
        <p:spPr>
          <a:xfrm>
            <a:off x="8275320" y="4828032"/>
            <a:ext cx="786384" cy="347472"/>
          </a:xfrm>
          <a:prstGeom prst="rect">
            <a:avLst/>
          </a:prstGeom>
          <a:noFill/>
        </p:spPr>
        <p:txBody>
          <a:bodyPr wrap="square" lIns="0" rIns="0" tIns="0" bIns="0">
            <a:spAutoFit/>
          </a:bodyPr>
          <a:lstStyle/>
          <a:p>
            <a:pPr algn="l">
              <a:lnSpc>
                <a:spcPct val="101000"/>
              </a:lnSpc>
              <a:spcAft>
                <a:spcPts val="300"/>
              </a:spcAft>
              <a:defRPr sz="1200" b="0">
                <a:solidFill>
                  <a:srgbClr val="5C6E83"/>
                </a:solidFill>
                <a:latin typeface="DejaVu Sans"/>
              </a:defRPr>
            </a:pPr>
            <a:r>
              <a:t>1,07</a:t>
            </a:r>
          </a:p>
        </p:txBody>
      </p:sp>
      <p:sp>
        <p:nvSpPr>
          <p:cNvPr id="29" name="TextBox 28"/>
          <p:cNvSpPr txBox="1"/>
          <p:nvPr/>
        </p:nvSpPr>
        <p:spPr>
          <a:xfrm>
            <a:off x="667512" y="5788152"/>
            <a:ext cx="8138160" cy="301752"/>
          </a:xfrm>
          <a:prstGeom prst="rect">
            <a:avLst/>
          </a:prstGeom>
          <a:noFill/>
        </p:spPr>
        <p:txBody>
          <a:bodyPr wrap="square" lIns="0" rIns="0" tIns="0" bIns="0">
            <a:spAutoFit/>
          </a:bodyPr>
          <a:lstStyle/>
          <a:p>
            <a:pPr algn="l">
              <a:lnSpc>
                <a:spcPct val="101000"/>
              </a:lnSpc>
              <a:spcAft>
                <a:spcPts val="300"/>
              </a:spcAft>
              <a:defRPr sz="1050" b="0">
                <a:solidFill>
                  <a:srgbClr val="5C6E83"/>
                </a:solidFill>
                <a:latin typeface="DejaVu Sans"/>
              </a:defRPr>
            </a:pPr>
            <a:r>
              <a:t>Combina riqueza y distribución de abundancias.</a:t>
            </a:r>
          </a:p>
        </p:txBody>
      </p:sp>
      <p:sp>
        <p:nvSpPr>
          <p:cNvPr id="30" name="Rounded Rectangle 29"/>
          <p:cNvSpPr/>
          <p:nvPr/>
        </p:nvSpPr>
        <p:spPr>
          <a:xfrm>
            <a:off x="9290304" y="2834640"/>
            <a:ext cx="2359152" cy="3127248"/>
          </a:xfrm>
          <a:prstGeom prst="roundRect">
            <a:avLst>
              <a:gd name="adj" fmla="val 12000"/>
            </a:avLst>
          </a:prstGeom>
          <a:solidFill>
            <a:srgbClr val="F0E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09760" y="3154680"/>
            <a:ext cx="1920240" cy="1188720"/>
          </a:xfrm>
          <a:prstGeom prst="rect">
            <a:avLst/>
          </a:prstGeom>
          <a:noFill/>
        </p:spPr>
        <p:txBody>
          <a:bodyPr wrap="square" lIns="0" rIns="0" tIns="0" bIns="0">
            <a:spAutoFit/>
          </a:bodyPr>
          <a:lstStyle/>
          <a:p>
            <a:pPr algn="l">
              <a:lnSpc>
                <a:spcPct val="101000"/>
              </a:lnSpc>
              <a:spcAft>
                <a:spcPts val="300"/>
              </a:spcAft>
              <a:defRPr sz="2200" b="1">
                <a:solidFill>
                  <a:srgbClr val="203350"/>
                </a:solidFill>
                <a:latin typeface="DejaVu Sans"/>
              </a:defRPr>
            </a:pPr>
            <a:r>
              <a:t>¿Más diversidad</a:t>
            </a:r>
          </a:p>
          <a:p>
            <a:pPr algn="l">
              <a:lnSpc>
                <a:spcPct val="101000"/>
              </a:lnSpc>
              <a:spcAft>
                <a:spcPts val="300"/>
              </a:spcAft>
              <a:defRPr sz="2200" b="1">
                <a:solidFill>
                  <a:srgbClr val="203350"/>
                </a:solidFill>
                <a:latin typeface="DejaVu Sans"/>
              </a:defRPr>
            </a:pPr>
            <a:r>
              <a:t>significa</a:t>
            </a:r>
          </a:p>
          <a:p>
            <a:pPr algn="l">
              <a:lnSpc>
                <a:spcPct val="101000"/>
              </a:lnSpc>
              <a:spcAft>
                <a:spcPts val="300"/>
              </a:spcAft>
              <a:defRPr sz="2200" b="1">
                <a:solidFill>
                  <a:srgbClr val="203350"/>
                </a:solidFill>
                <a:latin typeface="DejaVu Sans"/>
              </a:defRPr>
            </a:pPr>
            <a:r>
              <a:t>más peligro?</a:t>
            </a:r>
          </a:p>
        </p:txBody>
      </p:sp>
      <p:sp>
        <p:nvSpPr>
          <p:cNvPr id="32" name="Rounded Rectangle 31">
            <a:hlinkClick action="ppaction://hlinksldjump" r:id="rId12"/>
          </p:cNvPr>
          <p:cNvSpPr/>
          <p:nvPr/>
        </p:nvSpPr>
        <p:spPr>
          <a:xfrm>
            <a:off x="9473184" y="4983480"/>
            <a:ext cx="1984248" cy="594360"/>
          </a:xfrm>
          <a:prstGeom prst="roundRect">
            <a:avLst>
              <a:gd name="adj" fmla="val 12000"/>
            </a:avLst>
          </a:prstGeom>
          <a:solidFill>
            <a:srgbClr val="8060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a:hlinkClick action="ppaction://hlinksldjump" r:id="rId12"/>
          </p:cNvPr>
          <p:cNvSpPr txBox="1"/>
          <p:nvPr/>
        </p:nvSpPr>
        <p:spPr>
          <a:xfrm>
            <a:off x="9582911" y="5065776"/>
            <a:ext cx="1764792" cy="502920"/>
          </a:xfrm>
          <a:prstGeom prst="rect">
            <a:avLst/>
          </a:prstGeom>
          <a:noFill/>
        </p:spPr>
        <p:txBody>
          <a:bodyPr wrap="square" lIns="0" rIns="0" tIns="0" bIns="0">
            <a:spAutoFit/>
          </a:bodyPr>
          <a:lstStyle/>
          <a:p>
            <a:pPr algn="l">
              <a:lnSpc>
                <a:spcPct val="101000"/>
              </a:lnSpc>
              <a:spcAft>
                <a:spcPts val="300"/>
              </a:spcAft>
              <a:defRPr sz="1200" b="1">
                <a:solidFill>
                  <a:srgbClr val="FFFFFF"/>
                </a:solidFill>
                <a:latin typeface="DejaVu Sans"/>
              </a:defRPr>
            </a:pPr>
            <a:r>
              <a:t>Contrastar</a:t>
            </a:r>
          </a:p>
          <a:p>
            <a:pPr algn="l">
              <a:lnSpc>
                <a:spcPct val="101000"/>
              </a:lnSpc>
              <a:spcAft>
                <a:spcPts val="300"/>
              </a:spcAft>
              <a:defRPr sz="1200" b="1">
                <a:solidFill>
                  <a:srgbClr val="FFFFFF"/>
                </a:solidFill>
                <a:latin typeface="DejaVu Sans"/>
              </a:defRPr>
            </a:pPr>
            <a:r>
              <a:t>la conclusión</a:t>
            </a:r>
          </a:p>
        </p:txBody>
      </p:sp>
    </p:spTree>
  </p:cSld>
  <p:clrMapOvr>
    <a:masterClrMapping/>
  </p:clrMapOvr>
  <p:transition advClick="1">
    <p:fade/>
  </p:transition>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9FBFF"/>
        </a:solidFill>
        <a:effectLst/>
      </p:bgPr>
    </p:bg>
    <p:spTree>
      <p:nvGrpSpPr>
        <p:cNvPr id="1" name=""/>
        <p:cNvGrpSpPr/>
        <p:nvPr/>
      </p:nvGrpSpPr>
      <p:grpSpPr/>
      <p:sp>
        <p:nvSpPr>
          <p:cNvPr id="2" name="TextBox 1"/>
          <p:cNvSpPr txBox="1"/>
          <p:nvPr/>
        </p:nvSpPr>
        <p:spPr>
          <a:xfrm>
            <a:off x="548640" y="365760"/>
            <a:ext cx="7543800" cy="274320"/>
          </a:xfrm>
          <a:prstGeom prst="rect">
            <a:avLst/>
          </a:prstGeom>
          <a:noFill/>
        </p:spPr>
        <p:txBody>
          <a:bodyPr wrap="square" lIns="0" rIns="0" tIns="0" bIns="0">
            <a:spAutoFit/>
          </a:bodyPr>
          <a:lstStyle/>
          <a:p>
            <a:pPr algn="l">
              <a:lnSpc>
                <a:spcPct val="101000"/>
              </a:lnSpc>
              <a:spcAft>
                <a:spcPts val="300"/>
              </a:spcAft>
              <a:defRPr sz="930" b="1">
                <a:solidFill>
                  <a:srgbClr val="437A3E"/>
                </a:solidFill>
                <a:latin typeface="DejaVu Sans"/>
              </a:defRPr>
            </a:pPr>
            <a:r>
              <a:t>SERVICIO COMUNITARIO</a:t>
            </a:r>
          </a:p>
        </p:txBody>
      </p:sp>
      <p:sp>
        <p:nvSpPr>
          <p:cNvPr id="3" name="Rounded Rectangle 2">
            <a:hlinkClick action="ppaction://hlinksldjump" r:id="rId2"/>
          </p:cNvPr>
          <p:cNvSpPr/>
          <p:nvPr/>
        </p:nvSpPr>
        <p:spPr>
          <a:xfrm>
            <a:off x="8229600" y="310896"/>
            <a:ext cx="795528" cy="310896"/>
          </a:xfrm>
          <a:prstGeom prst="roundRect">
            <a:avLst>
              <a:gd name="adj" fmla="val 12000"/>
            </a:avLst>
          </a:prstGeom>
          <a:solidFill>
            <a:srgbClr val="E2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a:hlinkClick action="ppaction://hlinksldjump" r:id="rId2"/>
          </p:cNvPr>
          <p:cNvSpPr txBox="1"/>
          <p:nvPr/>
        </p:nvSpPr>
        <p:spPr>
          <a:xfrm>
            <a:off x="8339327"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Explorar</a:t>
            </a:r>
          </a:p>
        </p:txBody>
      </p:sp>
      <p:sp>
        <p:nvSpPr>
          <p:cNvPr id="5" name="Rounded Rectangle 4">
            <a:hlinkClick action="ppaction://hlinksldjump" r:id="rId3"/>
          </p:cNvPr>
          <p:cNvSpPr/>
          <p:nvPr/>
        </p:nvSpPr>
        <p:spPr>
          <a:xfrm>
            <a:off x="9089136" y="310896"/>
            <a:ext cx="795528" cy="310896"/>
          </a:xfrm>
          <a:prstGeom prst="roundRect">
            <a:avLst>
              <a:gd name="adj" fmla="val 12000"/>
            </a:avLst>
          </a:prstGeom>
          <a:solidFill>
            <a:srgbClr val="F0E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a:hlinkClick action="ppaction://hlinksldjump" r:id="rId3"/>
          </p:cNvPr>
          <p:cNvSpPr txBox="1"/>
          <p:nvPr/>
        </p:nvSpPr>
        <p:spPr>
          <a:xfrm>
            <a:off x="9198863"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Diseñar</a:t>
            </a:r>
          </a:p>
        </p:txBody>
      </p:sp>
      <p:sp>
        <p:nvSpPr>
          <p:cNvPr id="7" name="Rounded Rectangle 6">
            <a:hlinkClick action="ppaction://hlinksldjump" r:id="rId4"/>
          </p:cNvPr>
          <p:cNvSpPr/>
          <p:nvPr/>
        </p:nvSpPr>
        <p:spPr>
          <a:xfrm>
            <a:off x="9948672" y="310896"/>
            <a:ext cx="795528" cy="310896"/>
          </a:xfrm>
          <a:prstGeom prst="roundRect">
            <a:avLst>
              <a:gd name="adj" fmla="val 12000"/>
            </a:avLst>
          </a:prstGeom>
          <a:solidFill>
            <a:srgbClr val="FFF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a:hlinkClick action="ppaction://hlinksldjump" r:id="rId4"/>
          </p:cNvPr>
          <p:cNvSpPr txBox="1"/>
          <p:nvPr/>
        </p:nvSpPr>
        <p:spPr>
          <a:xfrm>
            <a:off x="10058399"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Servir</a:t>
            </a:r>
          </a:p>
        </p:txBody>
      </p:sp>
      <p:sp>
        <p:nvSpPr>
          <p:cNvPr id="9" name="Rounded Rectangle 8">
            <a:hlinkClick action="ppaction://hlinksldjump" r:id="rId5"/>
          </p:cNvPr>
          <p:cNvSpPr/>
          <p:nvPr/>
        </p:nvSpPr>
        <p:spPr>
          <a:xfrm>
            <a:off x="10808208" y="310896"/>
            <a:ext cx="795528" cy="310896"/>
          </a:xfrm>
          <a:prstGeom prst="roundRect">
            <a:avLst>
              <a:gd name="adj" fmla="val 12000"/>
            </a:avLst>
          </a:prstGeom>
          <a:solidFill>
            <a:srgbClr val="E9F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a:hlinkClick action="ppaction://hlinksldjump" r:id="rId5"/>
          </p:cNvPr>
          <p:cNvSpPr txBox="1"/>
          <p:nvPr/>
        </p:nvSpPr>
        <p:spPr>
          <a:xfrm>
            <a:off x="10917936"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Empezar</a:t>
            </a:r>
          </a:p>
        </p:txBody>
      </p:sp>
      <p:sp>
        <p:nvSpPr>
          <p:cNvPr id="11" name="TextBox 10"/>
          <p:cNvSpPr txBox="1"/>
          <p:nvPr/>
        </p:nvSpPr>
        <p:spPr>
          <a:xfrm>
            <a:off x="548640" y="877824"/>
            <a:ext cx="11064240" cy="1234440"/>
          </a:xfrm>
          <a:prstGeom prst="rect">
            <a:avLst/>
          </a:prstGeom>
          <a:noFill/>
        </p:spPr>
        <p:txBody>
          <a:bodyPr wrap="square" lIns="0" rIns="0" tIns="0" bIns="0">
            <a:spAutoFit/>
          </a:bodyPr>
          <a:lstStyle/>
          <a:p>
            <a:pPr algn="l">
              <a:lnSpc>
                <a:spcPct val="101000"/>
              </a:lnSpc>
              <a:spcAft>
                <a:spcPts val="300"/>
              </a:spcAft>
              <a:defRPr sz="3900" b="1">
                <a:solidFill>
                  <a:srgbClr val="203350"/>
                </a:solidFill>
                <a:latin typeface="DejaVu Sans"/>
              </a:defRPr>
            </a:pPr>
            <a:r>
              <a:t>La comunidad participa</a:t>
            </a:r>
          </a:p>
          <a:p>
            <a:pPr algn="l">
              <a:lnSpc>
                <a:spcPct val="101000"/>
              </a:lnSpc>
              <a:spcAft>
                <a:spcPts val="300"/>
              </a:spcAft>
              <a:defRPr sz="3900" b="1">
                <a:solidFill>
                  <a:srgbClr val="203350"/>
                </a:solidFill>
                <a:latin typeface="DejaVu Sans"/>
              </a:defRPr>
            </a:pPr>
            <a:r>
              <a:t>desde la pregunta</a:t>
            </a:r>
          </a:p>
        </p:txBody>
      </p:sp>
      <p:sp>
        <p:nvSpPr>
          <p:cNvPr id="12" name="TextBox 11"/>
          <p:cNvSpPr txBox="1"/>
          <p:nvPr/>
        </p:nvSpPr>
        <p:spPr>
          <a:xfrm>
            <a:off x="566928" y="2112264"/>
            <a:ext cx="10972800" cy="365760"/>
          </a:xfrm>
          <a:prstGeom prst="rect">
            <a:avLst/>
          </a:prstGeom>
          <a:noFill/>
        </p:spPr>
        <p:txBody>
          <a:bodyPr wrap="square" lIns="0" rIns="0" tIns="0" bIns="0">
            <a:spAutoFit/>
          </a:bodyPr>
          <a:lstStyle/>
          <a:p>
            <a:pPr algn="l">
              <a:lnSpc>
                <a:spcPct val="101000"/>
              </a:lnSpc>
              <a:spcAft>
                <a:spcPts val="300"/>
              </a:spcAft>
              <a:defRPr sz="1450" b="0">
                <a:solidFill>
                  <a:srgbClr val="5C6E83"/>
                </a:solidFill>
                <a:latin typeface="DejaVu Sans"/>
              </a:defRPr>
            </a:pPr>
            <a:r>
              <a:t>Escuchar → acordar → trabajar → interpretar → devolver</a:t>
            </a:r>
          </a:p>
        </p:txBody>
      </p:sp>
      <p:sp>
        <p:nvSpPr>
          <p:cNvPr id="13" name="TextBox 12"/>
          <p:cNvSpPr txBox="1"/>
          <p:nvPr/>
        </p:nvSpPr>
        <p:spPr>
          <a:xfrm>
            <a:off x="548640" y="6446520"/>
            <a:ext cx="9966960" cy="210312"/>
          </a:xfrm>
          <a:prstGeom prst="rect">
            <a:avLst/>
          </a:prstGeom>
          <a:noFill/>
        </p:spPr>
        <p:txBody>
          <a:bodyPr wrap="square" lIns="0" rIns="0" tIns="0" bIns="0">
            <a:spAutoFit/>
          </a:bodyPr>
          <a:lstStyle/>
          <a:p>
            <a:pPr algn="l">
              <a:lnSpc>
                <a:spcPct val="101000"/>
              </a:lnSpc>
              <a:spcAft>
                <a:spcPts val="300"/>
              </a:spcAft>
              <a:defRPr sz="810" b="0">
                <a:solidFill>
                  <a:srgbClr val="5C6E83"/>
                </a:solidFill>
                <a:latin typeface="DejaVu Sans"/>
              </a:defRPr>
            </a:pPr>
            <a:r>
              <a:t>Propuesta de trabajo colaborativo inspirada en el enfoque STARS</a:t>
            </a:r>
          </a:p>
        </p:txBody>
      </p:sp>
      <p:sp>
        <p:nvSpPr>
          <p:cNvPr id="14" name="Rounded Rectangle 13">
            <a:hlinkClick action="ppaction://hlinksldjump" r:id="rId6"/>
          </p:cNvPr>
          <p:cNvSpPr/>
          <p:nvPr/>
        </p:nvSpPr>
        <p:spPr>
          <a:xfrm>
            <a:off x="10469880" y="6400800"/>
            <a:ext cx="594360" cy="265176"/>
          </a:xfrm>
          <a:prstGeom prst="roundRect">
            <a:avLst>
              <a:gd name="adj" fmla="val 12000"/>
            </a:avLst>
          </a:prstGeom>
          <a:solidFill>
            <a:srgbClr val="F0E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a:hlinkClick action="ppaction://hlinksldjump" r:id="rId6"/>
          </p:cNvPr>
          <p:cNvSpPr txBox="1"/>
          <p:nvPr/>
        </p:nvSpPr>
        <p:spPr>
          <a:xfrm>
            <a:off x="10579607" y="6483096"/>
            <a:ext cx="374904" cy="173735"/>
          </a:xfrm>
          <a:prstGeom prst="rect">
            <a:avLst/>
          </a:prstGeom>
          <a:noFill/>
        </p:spPr>
        <p:txBody>
          <a:bodyPr wrap="square" lIns="0" rIns="0" tIns="0" bIns="0">
            <a:spAutoFit/>
          </a:bodyPr>
          <a:lstStyle/>
          <a:p>
            <a:pPr algn="l">
              <a:lnSpc>
                <a:spcPct val="101000"/>
              </a:lnSpc>
              <a:spcAft>
                <a:spcPts val="300"/>
              </a:spcAft>
              <a:defRPr sz="800" b="1">
                <a:solidFill>
                  <a:srgbClr val="8060BA"/>
                </a:solidFill>
                <a:latin typeface="DejaVu Sans"/>
              </a:defRPr>
            </a:pPr>
            <a:r>
              <a:t>Ruta</a:t>
            </a:r>
          </a:p>
        </p:txBody>
      </p:sp>
      <p:sp>
        <p:nvSpPr>
          <p:cNvPr id="16" name="TextBox 15"/>
          <p:cNvSpPr txBox="1"/>
          <p:nvPr/>
        </p:nvSpPr>
        <p:spPr>
          <a:xfrm>
            <a:off x="11228832" y="6400800"/>
            <a:ext cx="457200" cy="274320"/>
          </a:xfrm>
          <a:prstGeom prst="rect">
            <a:avLst/>
          </a:prstGeom>
          <a:noFill/>
        </p:spPr>
        <p:txBody>
          <a:bodyPr wrap="square" lIns="0" rIns="0" tIns="0" bIns="0">
            <a:spAutoFit/>
          </a:bodyPr>
          <a:lstStyle/>
          <a:p>
            <a:pPr algn="r">
              <a:lnSpc>
                <a:spcPct val="101000"/>
              </a:lnSpc>
              <a:spcAft>
                <a:spcPts val="300"/>
              </a:spcAft>
              <a:defRPr sz="1300" b="1">
                <a:solidFill>
                  <a:srgbClr val="203350"/>
                </a:solidFill>
                <a:latin typeface="DejaVu Sans"/>
              </a:defRPr>
            </a:pPr>
            <a:r>
              <a:t>19</a:t>
            </a:r>
          </a:p>
        </p:txBody>
      </p:sp>
      <p:sp>
        <p:nvSpPr>
          <p:cNvPr id="17" name="Rectangle 16"/>
          <p:cNvSpPr/>
          <p:nvPr/>
        </p:nvSpPr>
        <p:spPr>
          <a:xfrm>
            <a:off x="0" y="6821424"/>
            <a:ext cx="8909516" cy="36576"/>
          </a:xfrm>
          <a:prstGeom prst="rect">
            <a:avLst/>
          </a:prstGeom>
          <a:solidFill>
            <a:srgbClr val="43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community.gif"/>
          <p:cNvPicPr>
            <a:picLocks noChangeAspect="1"/>
          </p:cNvPicPr>
          <p:nvPr/>
        </p:nvPicPr>
        <p:blipFill>
          <a:blip r:embed="rId8"/>
          <a:stretch>
            <a:fillRect/>
          </a:stretch>
        </p:blipFill>
        <p:spPr>
          <a:xfrm>
            <a:off x="548640" y="2606040"/>
            <a:ext cx="11109960" cy="3456432"/>
          </a:xfrm>
          <a:prstGeom prst="rect">
            <a:avLst/>
          </a:prstGeom>
        </p:spPr>
      </p:pic>
    </p:spTree>
  </p:cSld>
  <p:clrMapOvr>
    <a:masterClrMapping/>
  </p:clrMapOvr>
  <p:transition advClick="1">
    <p:fade/>
  </p:transition>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9FBFF"/>
        </a:solidFill>
        <a:effectLst/>
      </p:bgPr>
    </p:bg>
    <p:spTree>
      <p:nvGrpSpPr>
        <p:cNvPr id="1" name=""/>
        <p:cNvGrpSpPr/>
        <p:nvPr/>
      </p:nvGrpSpPr>
      <p:grpSpPr/>
      <p:sp>
        <p:nvSpPr>
          <p:cNvPr id="2" name="TextBox 1"/>
          <p:cNvSpPr txBox="1"/>
          <p:nvPr/>
        </p:nvSpPr>
        <p:spPr>
          <a:xfrm>
            <a:off x="548640" y="365760"/>
            <a:ext cx="7543800" cy="274320"/>
          </a:xfrm>
          <a:prstGeom prst="rect">
            <a:avLst/>
          </a:prstGeom>
          <a:noFill/>
        </p:spPr>
        <p:txBody>
          <a:bodyPr wrap="square" lIns="0" rIns="0" tIns="0" bIns="0">
            <a:spAutoFit/>
          </a:bodyPr>
          <a:lstStyle/>
          <a:p>
            <a:pPr algn="l">
              <a:lnSpc>
                <a:spcPct val="101000"/>
              </a:lnSpc>
              <a:spcAft>
                <a:spcPts val="300"/>
              </a:spcAft>
              <a:defRPr sz="930" b="1">
                <a:solidFill>
                  <a:srgbClr val="437A3E"/>
                </a:solidFill>
                <a:latin typeface="DejaVu Sans"/>
              </a:defRPr>
            </a:pPr>
            <a:r>
              <a:t>MÁS ALLÁ DEL INGRESO Y DE UN SOLO SECTOR</a:t>
            </a:r>
          </a:p>
        </p:txBody>
      </p:sp>
      <p:sp>
        <p:nvSpPr>
          <p:cNvPr id="3" name="Rounded Rectangle 2">
            <a:hlinkClick action="ppaction://hlinksldjump" r:id="rId2"/>
          </p:cNvPr>
          <p:cNvSpPr/>
          <p:nvPr/>
        </p:nvSpPr>
        <p:spPr>
          <a:xfrm>
            <a:off x="8229600" y="310896"/>
            <a:ext cx="795528" cy="310896"/>
          </a:xfrm>
          <a:prstGeom prst="roundRect">
            <a:avLst>
              <a:gd name="adj" fmla="val 12000"/>
            </a:avLst>
          </a:prstGeom>
          <a:solidFill>
            <a:srgbClr val="E2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a:hlinkClick action="ppaction://hlinksldjump" r:id="rId2"/>
          </p:cNvPr>
          <p:cNvSpPr txBox="1"/>
          <p:nvPr/>
        </p:nvSpPr>
        <p:spPr>
          <a:xfrm>
            <a:off x="8339327"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Explorar</a:t>
            </a:r>
          </a:p>
        </p:txBody>
      </p:sp>
      <p:sp>
        <p:nvSpPr>
          <p:cNvPr id="5" name="Rounded Rectangle 4">
            <a:hlinkClick action="ppaction://hlinksldjump" r:id="rId3"/>
          </p:cNvPr>
          <p:cNvSpPr/>
          <p:nvPr/>
        </p:nvSpPr>
        <p:spPr>
          <a:xfrm>
            <a:off x="9089136" y="310896"/>
            <a:ext cx="795528" cy="310896"/>
          </a:xfrm>
          <a:prstGeom prst="roundRect">
            <a:avLst>
              <a:gd name="adj" fmla="val 12000"/>
            </a:avLst>
          </a:prstGeom>
          <a:solidFill>
            <a:srgbClr val="F0E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a:hlinkClick action="ppaction://hlinksldjump" r:id="rId3"/>
          </p:cNvPr>
          <p:cNvSpPr txBox="1"/>
          <p:nvPr/>
        </p:nvSpPr>
        <p:spPr>
          <a:xfrm>
            <a:off x="9198863"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Diseñar</a:t>
            </a:r>
          </a:p>
        </p:txBody>
      </p:sp>
      <p:sp>
        <p:nvSpPr>
          <p:cNvPr id="7" name="Rounded Rectangle 6">
            <a:hlinkClick action="ppaction://hlinksldjump" r:id="rId4"/>
          </p:cNvPr>
          <p:cNvSpPr/>
          <p:nvPr/>
        </p:nvSpPr>
        <p:spPr>
          <a:xfrm>
            <a:off x="9948672" y="310896"/>
            <a:ext cx="795528" cy="310896"/>
          </a:xfrm>
          <a:prstGeom prst="roundRect">
            <a:avLst>
              <a:gd name="adj" fmla="val 12000"/>
            </a:avLst>
          </a:prstGeom>
          <a:solidFill>
            <a:srgbClr val="FFF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a:hlinkClick action="ppaction://hlinksldjump" r:id="rId4"/>
          </p:cNvPr>
          <p:cNvSpPr txBox="1"/>
          <p:nvPr/>
        </p:nvSpPr>
        <p:spPr>
          <a:xfrm>
            <a:off x="10058399"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Servir</a:t>
            </a:r>
          </a:p>
        </p:txBody>
      </p:sp>
      <p:sp>
        <p:nvSpPr>
          <p:cNvPr id="9" name="Rounded Rectangle 8">
            <a:hlinkClick action="ppaction://hlinksldjump" r:id="rId5"/>
          </p:cNvPr>
          <p:cNvSpPr/>
          <p:nvPr/>
        </p:nvSpPr>
        <p:spPr>
          <a:xfrm>
            <a:off x="10808208" y="310896"/>
            <a:ext cx="795528" cy="310896"/>
          </a:xfrm>
          <a:prstGeom prst="roundRect">
            <a:avLst>
              <a:gd name="adj" fmla="val 12000"/>
            </a:avLst>
          </a:prstGeom>
          <a:solidFill>
            <a:srgbClr val="E9F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a:hlinkClick action="ppaction://hlinksldjump" r:id="rId5"/>
          </p:cNvPr>
          <p:cNvSpPr txBox="1"/>
          <p:nvPr/>
        </p:nvSpPr>
        <p:spPr>
          <a:xfrm>
            <a:off x="10917936"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Empezar</a:t>
            </a:r>
          </a:p>
        </p:txBody>
      </p:sp>
      <p:sp>
        <p:nvSpPr>
          <p:cNvPr id="11" name="TextBox 10"/>
          <p:cNvSpPr txBox="1"/>
          <p:nvPr/>
        </p:nvSpPr>
        <p:spPr>
          <a:xfrm>
            <a:off x="548640" y="877824"/>
            <a:ext cx="11064240" cy="1234440"/>
          </a:xfrm>
          <a:prstGeom prst="rect">
            <a:avLst/>
          </a:prstGeom>
          <a:noFill/>
        </p:spPr>
        <p:txBody>
          <a:bodyPr wrap="square" lIns="0" rIns="0" tIns="0" bIns="0">
            <a:spAutoFit/>
          </a:bodyPr>
          <a:lstStyle/>
          <a:p>
            <a:pPr algn="l">
              <a:lnSpc>
                <a:spcPct val="101000"/>
              </a:lnSpc>
              <a:spcAft>
                <a:spcPts val="300"/>
              </a:spcAft>
              <a:defRPr sz="3900" b="1">
                <a:solidFill>
                  <a:srgbClr val="203350"/>
                </a:solidFill>
                <a:latin typeface="DejaVu Sans"/>
              </a:defRPr>
            </a:pPr>
            <a:r>
              <a:t>¿Qué más quieres</a:t>
            </a:r>
          </a:p>
          <a:p>
            <a:pPr algn="l">
              <a:lnSpc>
                <a:spcPct val="101000"/>
              </a:lnSpc>
              <a:spcAft>
                <a:spcPts val="300"/>
              </a:spcAft>
              <a:defRPr sz="3900" b="1">
                <a:solidFill>
                  <a:srgbClr val="203350"/>
                </a:solidFill>
                <a:latin typeface="DejaVu Sans"/>
              </a:defRPr>
            </a:pPr>
            <a:r>
              <a:t>que produzca tu trabajo?</a:t>
            </a:r>
          </a:p>
        </p:txBody>
      </p:sp>
      <p:sp>
        <p:nvSpPr>
          <p:cNvPr id="12" name="TextBox 11"/>
          <p:cNvSpPr txBox="1"/>
          <p:nvPr/>
        </p:nvSpPr>
        <p:spPr>
          <a:xfrm>
            <a:off x="566928" y="2112264"/>
            <a:ext cx="10972800" cy="365760"/>
          </a:xfrm>
          <a:prstGeom prst="rect">
            <a:avLst/>
          </a:prstGeom>
          <a:noFill/>
        </p:spPr>
        <p:txBody>
          <a:bodyPr wrap="square" lIns="0" rIns="0" tIns="0" bIns="0">
            <a:spAutoFit/>
          </a:bodyPr>
          <a:lstStyle/>
          <a:p>
            <a:pPr algn="l">
              <a:lnSpc>
                <a:spcPct val="101000"/>
              </a:lnSpc>
              <a:spcAft>
                <a:spcPts val="300"/>
              </a:spcAft>
              <a:defRPr sz="1450" b="0">
                <a:solidFill>
                  <a:srgbClr val="5C6E83"/>
                </a:solidFill>
                <a:latin typeface="DejaVu Sans"/>
              </a:defRPr>
            </a:pPr>
            <a:r>
              <a:t>Sustento, aprendizaje, bienestar comunitario y cuidado del entorno.</a:t>
            </a:r>
          </a:p>
        </p:txBody>
      </p:sp>
      <p:sp>
        <p:nvSpPr>
          <p:cNvPr id="13" name="TextBox 12"/>
          <p:cNvSpPr txBox="1"/>
          <p:nvPr/>
        </p:nvSpPr>
        <p:spPr>
          <a:xfrm>
            <a:off x="548640" y="6446520"/>
            <a:ext cx="9966960" cy="210312"/>
          </a:xfrm>
          <a:prstGeom prst="rect">
            <a:avLst/>
          </a:prstGeom>
          <a:noFill/>
        </p:spPr>
        <p:txBody>
          <a:bodyPr wrap="square" lIns="0" rIns="0" tIns="0" bIns="0">
            <a:spAutoFit/>
          </a:bodyPr>
          <a:lstStyle/>
          <a:p>
            <a:pPr algn="l">
              <a:lnSpc>
                <a:spcPct val="101000"/>
              </a:lnSpc>
              <a:spcAft>
                <a:spcPts val="300"/>
              </a:spcAft>
              <a:defRPr sz="810" b="0">
                <a:solidFill>
                  <a:srgbClr val="5C6E83"/>
                </a:solidFill>
                <a:latin typeface="DejaVu Sans"/>
              </a:defRPr>
            </a:pPr>
            <a:r>
              <a:t>Actividad de reflexión sobre carrera, propósito y contribución</a:t>
            </a:r>
          </a:p>
        </p:txBody>
      </p:sp>
      <p:sp>
        <p:nvSpPr>
          <p:cNvPr id="14" name="Rounded Rectangle 13">
            <a:hlinkClick action="ppaction://hlinksldjump" r:id="rId6"/>
          </p:cNvPr>
          <p:cNvSpPr/>
          <p:nvPr/>
        </p:nvSpPr>
        <p:spPr>
          <a:xfrm>
            <a:off x="10469880" y="6400800"/>
            <a:ext cx="594360" cy="265176"/>
          </a:xfrm>
          <a:prstGeom prst="roundRect">
            <a:avLst>
              <a:gd name="adj" fmla="val 12000"/>
            </a:avLst>
          </a:prstGeom>
          <a:solidFill>
            <a:srgbClr val="F0E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a:hlinkClick action="ppaction://hlinksldjump" r:id="rId6"/>
          </p:cNvPr>
          <p:cNvSpPr txBox="1"/>
          <p:nvPr/>
        </p:nvSpPr>
        <p:spPr>
          <a:xfrm>
            <a:off x="10579607" y="6483096"/>
            <a:ext cx="374904" cy="173735"/>
          </a:xfrm>
          <a:prstGeom prst="rect">
            <a:avLst/>
          </a:prstGeom>
          <a:noFill/>
        </p:spPr>
        <p:txBody>
          <a:bodyPr wrap="square" lIns="0" rIns="0" tIns="0" bIns="0">
            <a:spAutoFit/>
          </a:bodyPr>
          <a:lstStyle/>
          <a:p>
            <a:pPr algn="l">
              <a:lnSpc>
                <a:spcPct val="101000"/>
              </a:lnSpc>
              <a:spcAft>
                <a:spcPts val="300"/>
              </a:spcAft>
              <a:defRPr sz="800" b="1">
                <a:solidFill>
                  <a:srgbClr val="8060BA"/>
                </a:solidFill>
                <a:latin typeface="DejaVu Sans"/>
              </a:defRPr>
            </a:pPr>
            <a:r>
              <a:t>Ruta</a:t>
            </a:r>
          </a:p>
        </p:txBody>
      </p:sp>
      <p:sp>
        <p:nvSpPr>
          <p:cNvPr id="16" name="TextBox 15"/>
          <p:cNvSpPr txBox="1"/>
          <p:nvPr/>
        </p:nvSpPr>
        <p:spPr>
          <a:xfrm>
            <a:off x="11228832" y="6400800"/>
            <a:ext cx="457200" cy="274320"/>
          </a:xfrm>
          <a:prstGeom prst="rect">
            <a:avLst/>
          </a:prstGeom>
          <a:noFill/>
        </p:spPr>
        <p:txBody>
          <a:bodyPr wrap="square" lIns="0" rIns="0" tIns="0" bIns="0">
            <a:spAutoFit/>
          </a:bodyPr>
          <a:lstStyle/>
          <a:p>
            <a:pPr algn="r">
              <a:lnSpc>
                <a:spcPct val="101000"/>
              </a:lnSpc>
              <a:spcAft>
                <a:spcPts val="300"/>
              </a:spcAft>
              <a:defRPr sz="1300" b="1">
                <a:solidFill>
                  <a:srgbClr val="203350"/>
                </a:solidFill>
                <a:latin typeface="DejaVu Sans"/>
              </a:defRPr>
            </a:pPr>
            <a:r>
              <a:t>20</a:t>
            </a:r>
          </a:p>
        </p:txBody>
      </p:sp>
      <p:sp>
        <p:nvSpPr>
          <p:cNvPr id="17" name="Rectangle 16"/>
          <p:cNvSpPr/>
          <p:nvPr/>
        </p:nvSpPr>
        <p:spPr>
          <a:xfrm>
            <a:off x="0" y="6821424"/>
            <a:ext cx="9378438" cy="36576"/>
          </a:xfrm>
          <a:prstGeom prst="rect">
            <a:avLst/>
          </a:prstGeom>
          <a:solidFill>
            <a:srgbClr val="43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values.png"/>
          <p:cNvPicPr>
            <a:picLocks noChangeAspect="1"/>
          </p:cNvPicPr>
          <p:nvPr/>
        </p:nvPicPr>
        <p:blipFill>
          <a:blip r:embed="rId8"/>
          <a:stretch>
            <a:fillRect/>
          </a:stretch>
        </p:blipFill>
        <p:spPr>
          <a:xfrm>
            <a:off x="548640" y="2606040"/>
            <a:ext cx="11109960" cy="3246120"/>
          </a:xfrm>
          <a:prstGeom prst="rect">
            <a:avLst/>
          </a:prstGeom>
        </p:spPr>
      </p:pic>
      <p:sp>
        <p:nvSpPr>
          <p:cNvPr id="19" name="TextBox 18"/>
          <p:cNvSpPr txBox="1"/>
          <p:nvPr/>
        </p:nvSpPr>
        <p:spPr>
          <a:xfrm>
            <a:off x="640080" y="6016752"/>
            <a:ext cx="10881360" cy="292608"/>
          </a:xfrm>
          <a:prstGeom prst="rect">
            <a:avLst/>
          </a:prstGeom>
          <a:noFill/>
        </p:spPr>
        <p:txBody>
          <a:bodyPr wrap="square" lIns="0" rIns="0" tIns="0" bIns="0">
            <a:spAutoFit/>
          </a:bodyPr>
          <a:lstStyle/>
          <a:p>
            <a:pPr algn="l">
              <a:lnSpc>
                <a:spcPct val="101000"/>
              </a:lnSpc>
              <a:spcAft>
                <a:spcPts val="300"/>
              </a:spcAft>
              <a:defRPr sz="1600" b="0">
                <a:solidFill>
                  <a:srgbClr val="203350"/>
                </a:solidFill>
                <a:latin typeface="DejaVu Sans"/>
              </a:defRPr>
            </a:pPr>
            <a:r>
              <a:t>Una carrera puede sostener tu vida y contribuir al bienestar de otros.</a:t>
            </a:r>
          </a:p>
        </p:txBody>
      </p:sp>
    </p:spTree>
  </p:cSld>
  <p:clrMapOvr>
    <a:masterClrMapping/>
  </p:clrMapOvr>
  <p:transition advClick="1">
    <p:fade/>
  </p:transition>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9FBFF"/>
        </a:solidFill>
        <a:effectLst/>
      </p:bgPr>
    </p:bg>
    <p:spTree>
      <p:nvGrpSpPr>
        <p:cNvPr id="1" name=""/>
        <p:cNvGrpSpPr/>
        <p:nvPr/>
      </p:nvGrpSpPr>
      <p:grpSpPr/>
      <p:sp>
        <p:nvSpPr>
          <p:cNvPr id="2" name="TextBox 1"/>
          <p:cNvSpPr txBox="1"/>
          <p:nvPr/>
        </p:nvSpPr>
        <p:spPr>
          <a:xfrm>
            <a:off x="548640" y="365760"/>
            <a:ext cx="7543800" cy="274320"/>
          </a:xfrm>
          <a:prstGeom prst="rect">
            <a:avLst/>
          </a:prstGeom>
          <a:noFill/>
        </p:spPr>
        <p:txBody>
          <a:bodyPr wrap="square" lIns="0" rIns="0" tIns="0" bIns="0">
            <a:spAutoFit/>
          </a:bodyPr>
          <a:lstStyle/>
          <a:p>
            <a:pPr algn="l">
              <a:lnSpc>
                <a:spcPct val="101000"/>
              </a:lnSpc>
              <a:spcAft>
                <a:spcPts val="300"/>
              </a:spcAft>
              <a:defRPr sz="930" b="1">
                <a:solidFill>
                  <a:srgbClr val="437A3E"/>
                </a:solidFill>
                <a:latin typeface="DejaVu Sans"/>
              </a:defRPr>
            </a:pPr>
            <a:r>
              <a:t>SOLUCIONES DESDE LA BIOLOGÍA</a:t>
            </a:r>
          </a:p>
        </p:txBody>
      </p:sp>
      <p:sp>
        <p:nvSpPr>
          <p:cNvPr id="3" name="Rounded Rectangle 2">
            <a:hlinkClick action="ppaction://hlinksldjump" r:id="rId2"/>
          </p:cNvPr>
          <p:cNvSpPr/>
          <p:nvPr/>
        </p:nvSpPr>
        <p:spPr>
          <a:xfrm>
            <a:off x="8229600" y="310896"/>
            <a:ext cx="795528" cy="310896"/>
          </a:xfrm>
          <a:prstGeom prst="roundRect">
            <a:avLst>
              <a:gd name="adj" fmla="val 12000"/>
            </a:avLst>
          </a:prstGeom>
          <a:solidFill>
            <a:srgbClr val="E2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a:hlinkClick action="ppaction://hlinksldjump" r:id="rId2"/>
          </p:cNvPr>
          <p:cNvSpPr txBox="1"/>
          <p:nvPr/>
        </p:nvSpPr>
        <p:spPr>
          <a:xfrm>
            <a:off x="8339327"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Explorar</a:t>
            </a:r>
          </a:p>
        </p:txBody>
      </p:sp>
      <p:sp>
        <p:nvSpPr>
          <p:cNvPr id="5" name="Rounded Rectangle 4">
            <a:hlinkClick action="ppaction://hlinksldjump" r:id="rId3"/>
          </p:cNvPr>
          <p:cNvSpPr/>
          <p:nvPr/>
        </p:nvSpPr>
        <p:spPr>
          <a:xfrm>
            <a:off x="9089136" y="310896"/>
            <a:ext cx="795528" cy="310896"/>
          </a:xfrm>
          <a:prstGeom prst="roundRect">
            <a:avLst>
              <a:gd name="adj" fmla="val 12000"/>
            </a:avLst>
          </a:prstGeom>
          <a:solidFill>
            <a:srgbClr val="F0E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a:hlinkClick action="ppaction://hlinksldjump" r:id="rId3"/>
          </p:cNvPr>
          <p:cNvSpPr txBox="1"/>
          <p:nvPr/>
        </p:nvSpPr>
        <p:spPr>
          <a:xfrm>
            <a:off x="9198863"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Diseñar</a:t>
            </a:r>
          </a:p>
        </p:txBody>
      </p:sp>
      <p:sp>
        <p:nvSpPr>
          <p:cNvPr id="7" name="Rounded Rectangle 6">
            <a:hlinkClick action="ppaction://hlinksldjump" r:id="rId4"/>
          </p:cNvPr>
          <p:cNvSpPr/>
          <p:nvPr/>
        </p:nvSpPr>
        <p:spPr>
          <a:xfrm>
            <a:off x="9948672" y="310896"/>
            <a:ext cx="795528" cy="310896"/>
          </a:xfrm>
          <a:prstGeom prst="roundRect">
            <a:avLst>
              <a:gd name="adj" fmla="val 12000"/>
            </a:avLst>
          </a:prstGeom>
          <a:solidFill>
            <a:srgbClr val="FFF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a:hlinkClick action="ppaction://hlinksldjump" r:id="rId4"/>
          </p:cNvPr>
          <p:cNvSpPr txBox="1"/>
          <p:nvPr/>
        </p:nvSpPr>
        <p:spPr>
          <a:xfrm>
            <a:off x="10058399"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Servir</a:t>
            </a:r>
          </a:p>
        </p:txBody>
      </p:sp>
      <p:sp>
        <p:nvSpPr>
          <p:cNvPr id="9" name="Rounded Rectangle 8">
            <a:hlinkClick action="ppaction://hlinksldjump" r:id="rId5"/>
          </p:cNvPr>
          <p:cNvSpPr/>
          <p:nvPr/>
        </p:nvSpPr>
        <p:spPr>
          <a:xfrm>
            <a:off x="10808208" y="310896"/>
            <a:ext cx="795528" cy="310896"/>
          </a:xfrm>
          <a:prstGeom prst="roundRect">
            <a:avLst>
              <a:gd name="adj" fmla="val 12000"/>
            </a:avLst>
          </a:prstGeom>
          <a:solidFill>
            <a:srgbClr val="E9F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a:hlinkClick action="ppaction://hlinksldjump" r:id="rId5"/>
          </p:cNvPr>
          <p:cNvSpPr txBox="1"/>
          <p:nvPr/>
        </p:nvSpPr>
        <p:spPr>
          <a:xfrm>
            <a:off x="10917936"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Empezar</a:t>
            </a:r>
          </a:p>
        </p:txBody>
      </p:sp>
      <p:sp>
        <p:nvSpPr>
          <p:cNvPr id="11" name="TextBox 10"/>
          <p:cNvSpPr txBox="1"/>
          <p:nvPr/>
        </p:nvSpPr>
        <p:spPr>
          <a:xfrm>
            <a:off x="548640" y="877824"/>
            <a:ext cx="11064240" cy="1234440"/>
          </a:xfrm>
          <a:prstGeom prst="rect">
            <a:avLst/>
          </a:prstGeom>
          <a:noFill/>
        </p:spPr>
        <p:txBody>
          <a:bodyPr wrap="square" lIns="0" rIns="0" tIns="0" bIns="0">
            <a:spAutoFit/>
          </a:bodyPr>
          <a:lstStyle/>
          <a:p>
            <a:pPr algn="l">
              <a:lnSpc>
                <a:spcPct val="101000"/>
              </a:lnSpc>
              <a:spcAft>
                <a:spcPts val="300"/>
              </a:spcAft>
              <a:defRPr sz="3900" b="1">
                <a:solidFill>
                  <a:srgbClr val="203350"/>
                </a:solidFill>
                <a:latin typeface="DejaVu Sans"/>
              </a:defRPr>
            </a:pPr>
            <a:r>
              <a:t>Tu experiencia puede</a:t>
            </a:r>
          </a:p>
          <a:p>
            <a:pPr algn="l">
              <a:lnSpc>
                <a:spcPct val="101000"/>
              </a:lnSpc>
              <a:spcAft>
                <a:spcPts val="300"/>
              </a:spcAft>
              <a:defRPr sz="3900" b="1">
                <a:solidFill>
                  <a:srgbClr val="203350"/>
                </a:solidFill>
                <a:latin typeface="DejaVu Sans"/>
              </a:defRPr>
            </a:pPr>
            <a:r>
              <a:t>abrir más de una ruta</a:t>
            </a:r>
          </a:p>
        </p:txBody>
      </p:sp>
      <p:sp>
        <p:nvSpPr>
          <p:cNvPr id="12" name="TextBox 11"/>
          <p:cNvSpPr txBox="1"/>
          <p:nvPr/>
        </p:nvSpPr>
        <p:spPr>
          <a:xfrm>
            <a:off x="566928" y="2112264"/>
            <a:ext cx="10972800" cy="365760"/>
          </a:xfrm>
          <a:prstGeom prst="rect">
            <a:avLst/>
          </a:prstGeom>
          <a:noFill/>
        </p:spPr>
        <p:txBody>
          <a:bodyPr wrap="square" lIns="0" rIns="0" tIns="0" bIns="0">
            <a:spAutoFit/>
          </a:bodyPr>
          <a:lstStyle/>
          <a:p>
            <a:pPr algn="l">
              <a:lnSpc>
                <a:spcPct val="101000"/>
              </a:lnSpc>
              <a:spcAft>
                <a:spcPts val="300"/>
              </a:spcAft>
              <a:defRPr sz="1450" b="0">
                <a:solidFill>
                  <a:srgbClr val="5C6E83"/>
                </a:solidFill>
                <a:latin typeface="DejaVu Sans"/>
              </a:defRPr>
            </a:pPr>
            <a:r>
              <a:t>Ejemplos de proyectos iniciales · adaptar con acompañamiento y contexto</a:t>
            </a:r>
          </a:p>
        </p:txBody>
      </p:sp>
      <p:sp>
        <p:nvSpPr>
          <p:cNvPr id="13" name="TextBox 12"/>
          <p:cNvSpPr txBox="1"/>
          <p:nvPr/>
        </p:nvSpPr>
        <p:spPr>
          <a:xfrm>
            <a:off x="548640" y="6446520"/>
            <a:ext cx="9966960" cy="210312"/>
          </a:xfrm>
          <a:prstGeom prst="rect">
            <a:avLst/>
          </a:prstGeom>
          <a:noFill/>
        </p:spPr>
        <p:txBody>
          <a:bodyPr wrap="square" lIns="0" rIns="0" tIns="0" bIns="0">
            <a:spAutoFit/>
          </a:bodyPr>
          <a:lstStyle/>
          <a:p>
            <a:pPr algn="l">
              <a:lnSpc>
                <a:spcPct val="101000"/>
              </a:lnSpc>
              <a:spcAft>
                <a:spcPts val="300"/>
              </a:spcAft>
              <a:defRPr sz="810" b="0">
                <a:solidFill>
                  <a:srgbClr val="5C6E83"/>
                </a:solidFill>
                <a:latin typeface="DejaVu Sans"/>
              </a:defRPr>
            </a:pPr>
            <a:r>
              <a:t>Ideas didácticas; no son resultados ni intervenciones verificadas de los proyectos</a:t>
            </a:r>
          </a:p>
        </p:txBody>
      </p:sp>
      <p:sp>
        <p:nvSpPr>
          <p:cNvPr id="14" name="Rounded Rectangle 13">
            <a:hlinkClick action="ppaction://hlinksldjump" r:id="rId6"/>
          </p:cNvPr>
          <p:cNvSpPr/>
          <p:nvPr/>
        </p:nvSpPr>
        <p:spPr>
          <a:xfrm>
            <a:off x="10469880" y="6400800"/>
            <a:ext cx="594360" cy="265176"/>
          </a:xfrm>
          <a:prstGeom prst="roundRect">
            <a:avLst>
              <a:gd name="adj" fmla="val 12000"/>
            </a:avLst>
          </a:prstGeom>
          <a:solidFill>
            <a:srgbClr val="F0E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a:hlinkClick action="ppaction://hlinksldjump" r:id="rId6"/>
          </p:cNvPr>
          <p:cNvSpPr txBox="1"/>
          <p:nvPr/>
        </p:nvSpPr>
        <p:spPr>
          <a:xfrm>
            <a:off x="10579607" y="6483096"/>
            <a:ext cx="374904" cy="173735"/>
          </a:xfrm>
          <a:prstGeom prst="rect">
            <a:avLst/>
          </a:prstGeom>
          <a:noFill/>
        </p:spPr>
        <p:txBody>
          <a:bodyPr wrap="square" lIns="0" rIns="0" tIns="0" bIns="0">
            <a:spAutoFit/>
          </a:bodyPr>
          <a:lstStyle/>
          <a:p>
            <a:pPr algn="l">
              <a:lnSpc>
                <a:spcPct val="101000"/>
              </a:lnSpc>
              <a:spcAft>
                <a:spcPts val="300"/>
              </a:spcAft>
              <a:defRPr sz="800" b="1">
                <a:solidFill>
                  <a:srgbClr val="8060BA"/>
                </a:solidFill>
                <a:latin typeface="DejaVu Sans"/>
              </a:defRPr>
            </a:pPr>
            <a:r>
              <a:t>Ruta</a:t>
            </a:r>
          </a:p>
        </p:txBody>
      </p:sp>
      <p:sp>
        <p:nvSpPr>
          <p:cNvPr id="16" name="TextBox 15"/>
          <p:cNvSpPr txBox="1"/>
          <p:nvPr/>
        </p:nvSpPr>
        <p:spPr>
          <a:xfrm>
            <a:off x="11228832" y="6400800"/>
            <a:ext cx="457200" cy="274320"/>
          </a:xfrm>
          <a:prstGeom prst="rect">
            <a:avLst/>
          </a:prstGeom>
          <a:noFill/>
        </p:spPr>
        <p:txBody>
          <a:bodyPr wrap="square" lIns="0" rIns="0" tIns="0" bIns="0">
            <a:spAutoFit/>
          </a:bodyPr>
          <a:lstStyle/>
          <a:p>
            <a:pPr algn="r">
              <a:lnSpc>
                <a:spcPct val="101000"/>
              </a:lnSpc>
              <a:spcAft>
                <a:spcPts val="300"/>
              </a:spcAft>
              <a:defRPr sz="1300" b="1">
                <a:solidFill>
                  <a:srgbClr val="203350"/>
                </a:solidFill>
                <a:latin typeface="DejaVu Sans"/>
              </a:defRPr>
            </a:pPr>
            <a:r>
              <a:t>21</a:t>
            </a:r>
          </a:p>
        </p:txBody>
      </p:sp>
      <p:sp>
        <p:nvSpPr>
          <p:cNvPr id="17" name="Rectangle 16"/>
          <p:cNvSpPr/>
          <p:nvPr/>
        </p:nvSpPr>
        <p:spPr>
          <a:xfrm>
            <a:off x="0" y="6821424"/>
            <a:ext cx="9847359" cy="36576"/>
          </a:xfrm>
          <a:prstGeom prst="rect">
            <a:avLst/>
          </a:prstGeom>
          <a:solidFill>
            <a:srgbClr val="43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rutas_biologia.jpg"/>
          <p:cNvPicPr>
            <a:picLocks noChangeAspect="1"/>
          </p:cNvPicPr>
          <p:nvPr/>
        </p:nvPicPr>
        <p:blipFill>
          <a:blip r:embed="rId8"/>
          <a:stretch>
            <a:fillRect/>
          </a:stretch>
        </p:blipFill>
        <p:spPr>
          <a:xfrm>
            <a:off x="594360" y="2724912"/>
            <a:ext cx="6583680" cy="3410712"/>
          </a:xfrm>
          <a:prstGeom prst="rect">
            <a:avLst/>
          </a:prstGeom>
        </p:spPr>
      </p:pic>
      <p:sp>
        <p:nvSpPr>
          <p:cNvPr id="19" name="Rounded Rectangle 18"/>
          <p:cNvSpPr/>
          <p:nvPr/>
        </p:nvSpPr>
        <p:spPr>
          <a:xfrm>
            <a:off x="7452360" y="2734056"/>
            <a:ext cx="4178808" cy="749808"/>
          </a:xfrm>
          <a:prstGeom prst="roundRect">
            <a:avLst>
              <a:gd name="adj" fmla="val 12000"/>
            </a:avLst>
          </a:prstGeom>
          <a:solidFill>
            <a:srgbClr val="E0F7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icon_water.png"/>
          <p:cNvPicPr>
            <a:picLocks noChangeAspect="1"/>
          </p:cNvPicPr>
          <p:nvPr/>
        </p:nvPicPr>
        <p:blipFill>
          <a:blip r:embed="rId9"/>
          <a:stretch>
            <a:fillRect/>
          </a:stretch>
        </p:blipFill>
        <p:spPr>
          <a:xfrm>
            <a:off x="7598664" y="2852928"/>
            <a:ext cx="493776" cy="493776"/>
          </a:xfrm>
          <a:prstGeom prst="rect">
            <a:avLst/>
          </a:prstGeom>
        </p:spPr>
      </p:pic>
      <p:sp>
        <p:nvSpPr>
          <p:cNvPr id="21" name="TextBox 20"/>
          <p:cNvSpPr txBox="1"/>
          <p:nvPr/>
        </p:nvSpPr>
        <p:spPr>
          <a:xfrm>
            <a:off x="8266175" y="2843784"/>
            <a:ext cx="3145536" cy="274320"/>
          </a:xfrm>
          <a:prstGeom prst="rect">
            <a:avLst/>
          </a:prstGeom>
          <a:noFill/>
        </p:spPr>
        <p:txBody>
          <a:bodyPr wrap="square" lIns="0" rIns="0" tIns="0" bIns="0">
            <a:spAutoFit/>
          </a:bodyPr>
          <a:lstStyle/>
          <a:p>
            <a:pPr algn="l">
              <a:lnSpc>
                <a:spcPct val="101000"/>
              </a:lnSpc>
              <a:spcAft>
                <a:spcPts val="300"/>
              </a:spcAft>
              <a:defRPr sz="1700" b="1">
                <a:solidFill>
                  <a:srgbClr val="203350"/>
                </a:solidFill>
                <a:latin typeface="DejaVu Sans"/>
              </a:defRPr>
            </a:pPr>
            <a:r>
              <a:t>Agua</a:t>
            </a:r>
          </a:p>
        </p:txBody>
      </p:sp>
      <p:sp>
        <p:nvSpPr>
          <p:cNvPr id="22" name="TextBox 21"/>
          <p:cNvSpPr txBox="1"/>
          <p:nvPr/>
        </p:nvSpPr>
        <p:spPr>
          <a:xfrm>
            <a:off x="8266175" y="3154680"/>
            <a:ext cx="3136392" cy="274320"/>
          </a:xfrm>
          <a:prstGeom prst="rect">
            <a:avLst/>
          </a:prstGeom>
          <a:noFill/>
        </p:spPr>
        <p:txBody>
          <a:bodyPr wrap="square" lIns="0" rIns="0" tIns="0" bIns="0">
            <a:spAutoFit/>
          </a:bodyPr>
          <a:lstStyle/>
          <a:p>
            <a:pPr algn="l">
              <a:lnSpc>
                <a:spcPct val="101000"/>
              </a:lnSpc>
              <a:spcAft>
                <a:spcPts val="300"/>
              </a:spcAft>
              <a:defRPr sz="1030" b="0">
                <a:solidFill>
                  <a:srgbClr val="5C6E83"/>
                </a:solidFill>
                <a:latin typeface="DejaVu Sans"/>
              </a:defRPr>
            </a:pPr>
            <a:r>
              <a:t>Entender un sistema de abastecimiento.</a:t>
            </a:r>
          </a:p>
        </p:txBody>
      </p:sp>
      <p:sp>
        <p:nvSpPr>
          <p:cNvPr id="23" name="Rounded Rectangle 22"/>
          <p:cNvSpPr/>
          <p:nvPr/>
        </p:nvSpPr>
        <p:spPr>
          <a:xfrm>
            <a:off x="7452360" y="3584448"/>
            <a:ext cx="4178808" cy="749808"/>
          </a:xfrm>
          <a:prstGeom prst="roundRect">
            <a:avLst>
              <a:gd name="adj" fmla="val 12000"/>
            </a:avLst>
          </a:prstGeom>
          <a:solidFill>
            <a:srgbClr val="E2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icon_food.png"/>
          <p:cNvPicPr>
            <a:picLocks noChangeAspect="1"/>
          </p:cNvPicPr>
          <p:nvPr/>
        </p:nvPicPr>
        <p:blipFill>
          <a:blip r:embed="rId10"/>
          <a:stretch>
            <a:fillRect/>
          </a:stretch>
        </p:blipFill>
        <p:spPr>
          <a:xfrm>
            <a:off x="7598664" y="3703320"/>
            <a:ext cx="493776" cy="493776"/>
          </a:xfrm>
          <a:prstGeom prst="rect">
            <a:avLst/>
          </a:prstGeom>
        </p:spPr>
      </p:pic>
      <p:sp>
        <p:nvSpPr>
          <p:cNvPr id="25" name="TextBox 24"/>
          <p:cNvSpPr txBox="1"/>
          <p:nvPr/>
        </p:nvSpPr>
        <p:spPr>
          <a:xfrm>
            <a:off x="8266175" y="3694176"/>
            <a:ext cx="3145536" cy="274320"/>
          </a:xfrm>
          <a:prstGeom prst="rect">
            <a:avLst/>
          </a:prstGeom>
          <a:noFill/>
        </p:spPr>
        <p:txBody>
          <a:bodyPr wrap="square" lIns="0" rIns="0" tIns="0" bIns="0">
            <a:spAutoFit/>
          </a:bodyPr>
          <a:lstStyle/>
          <a:p>
            <a:pPr algn="l">
              <a:lnSpc>
                <a:spcPct val="101000"/>
              </a:lnSpc>
              <a:spcAft>
                <a:spcPts val="300"/>
              </a:spcAft>
              <a:defRPr sz="1700" b="1">
                <a:solidFill>
                  <a:srgbClr val="203350"/>
                </a:solidFill>
                <a:latin typeface="DejaVu Sans"/>
              </a:defRPr>
            </a:pPr>
            <a:r>
              <a:t>Alimentos</a:t>
            </a:r>
          </a:p>
        </p:txBody>
      </p:sp>
      <p:sp>
        <p:nvSpPr>
          <p:cNvPr id="26" name="TextBox 25"/>
          <p:cNvSpPr txBox="1"/>
          <p:nvPr/>
        </p:nvSpPr>
        <p:spPr>
          <a:xfrm>
            <a:off x="8266175" y="4005072"/>
            <a:ext cx="3136392" cy="274320"/>
          </a:xfrm>
          <a:prstGeom prst="rect">
            <a:avLst/>
          </a:prstGeom>
          <a:noFill/>
        </p:spPr>
        <p:txBody>
          <a:bodyPr wrap="square" lIns="0" rIns="0" tIns="0" bIns="0">
            <a:spAutoFit/>
          </a:bodyPr>
          <a:lstStyle/>
          <a:p>
            <a:pPr algn="l">
              <a:lnSpc>
                <a:spcPct val="101000"/>
              </a:lnSpc>
              <a:spcAft>
                <a:spcPts val="300"/>
              </a:spcAft>
              <a:defRPr sz="1030" b="0">
                <a:solidFill>
                  <a:srgbClr val="5C6E83"/>
                </a:solidFill>
                <a:latin typeface="DejaVu Sans"/>
              </a:defRPr>
            </a:pPr>
            <a:r>
              <a:t>Precisar una observación o comparación.</a:t>
            </a:r>
          </a:p>
        </p:txBody>
      </p:sp>
      <p:sp>
        <p:nvSpPr>
          <p:cNvPr id="27" name="Rounded Rectangle 26"/>
          <p:cNvSpPr/>
          <p:nvPr/>
        </p:nvSpPr>
        <p:spPr>
          <a:xfrm>
            <a:off x="7452360" y="4434840"/>
            <a:ext cx="4178808" cy="749808"/>
          </a:xfrm>
          <a:prstGeom prst="roundRect">
            <a:avLst>
              <a:gd name="adj" fmla="val 12000"/>
            </a:avLst>
          </a:prstGeom>
          <a:solidFill>
            <a:srgbClr val="F0E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icon_leaf.png"/>
          <p:cNvPicPr>
            <a:picLocks noChangeAspect="1"/>
          </p:cNvPicPr>
          <p:nvPr/>
        </p:nvPicPr>
        <p:blipFill>
          <a:blip r:embed="rId11"/>
          <a:stretch>
            <a:fillRect/>
          </a:stretch>
        </p:blipFill>
        <p:spPr>
          <a:xfrm>
            <a:off x="7598664" y="4553712"/>
            <a:ext cx="493776" cy="493776"/>
          </a:xfrm>
          <a:prstGeom prst="rect">
            <a:avLst/>
          </a:prstGeom>
        </p:spPr>
      </p:pic>
      <p:sp>
        <p:nvSpPr>
          <p:cNvPr id="29" name="TextBox 28"/>
          <p:cNvSpPr txBox="1"/>
          <p:nvPr/>
        </p:nvSpPr>
        <p:spPr>
          <a:xfrm>
            <a:off x="8266175" y="4544568"/>
            <a:ext cx="3145536" cy="274320"/>
          </a:xfrm>
          <a:prstGeom prst="rect">
            <a:avLst/>
          </a:prstGeom>
          <a:noFill/>
        </p:spPr>
        <p:txBody>
          <a:bodyPr wrap="square" lIns="0" rIns="0" tIns="0" bIns="0">
            <a:spAutoFit/>
          </a:bodyPr>
          <a:lstStyle/>
          <a:p>
            <a:pPr algn="l">
              <a:lnSpc>
                <a:spcPct val="101000"/>
              </a:lnSpc>
              <a:spcAft>
                <a:spcPts val="300"/>
              </a:spcAft>
              <a:defRPr sz="1700" b="1">
                <a:solidFill>
                  <a:srgbClr val="203350"/>
                </a:solidFill>
                <a:latin typeface="DejaVu Sans"/>
              </a:defRPr>
            </a:pPr>
            <a:r>
              <a:t>Biodiversidad</a:t>
            </a:r>
          </a:p>
        </p:txBody>
      </p:sp>
      <p:sp>
        <p:nvSpPr>
          <p:cNvPr id="30" name="TextBox 29"/>
          <p:cNvSpPr txBox="1"/>
          <p:nvPr/>
        </p:nvSpPr>
        <p:spPr>
          <a:xfrm>
            <a:off x="8266175" y="4855464"/>
            <a:ext cx="3136392" cy="274320"/>
          </a:xfrm>
          <a:prstGeom prst="rect">
            <a:avLst/>
          </a:prstGeom>
          <a:noFill/>
        </p:spPr>
        <p:txBody>
          <a:bodyPr wrap="square" lIns="0" rIns="0" tIns="0" bIns="0">
            <a:spAutoFit/>
          </a:bodyPr>
          <a:lstStyle/>
          <a:p>
            <a:pPr algn="l">
              <a:lnSpc>
                <a:spcPct val="101000"/>
              </a:lnSpc>
              <a:spcAft>
                <a:spcPts val="300"/>
              </a:spcAft>
              <a:defRPr sz="1030" b="0">
                <a:solidFill>
                  <a:srgbClr val="5C6E83"/>
                </a:solidFill>
                <a:latin typeface="DejaVu Sans"/>
              </a:defRPr>
            </a:pPr>
            <a:r>
              <a:t>Registrar lo que falta conocer del entorno.</a:t>
            </a:r>
          </a:p>
        </p:txBody>
      </p:sp>
      <p:sp>
        <p:nvSpPr>
          <p:cNvPr id="31" name="Rounded Rectangle 30"/>
          <p:cNvSpPr/>
          <p:nvPr/>
        </p:nvSpPr>
        <p:spPr>
          <a:xfrm>
            <a:off x="7452360" y="5285232"/>
            <a:ext cx="4178808" cy="749808"/>
          </a:xfrm>
          <a:prstGeom prst="roundRect">
            <a:avLst>
              <a:gd name="adj" fmla="val 12000"/>
            </a:avLst>
          </a:prstGeom>
          <a:solidFill>
            <a:srgbClr val="FFF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icon_book.png"/>
          <p:cNvPicPr>
            <a:picLocks noChangeAspect="1"/>
          </p:cNvPicPr>
          <p:nvPr/>
        </p:nvPicPr>
        <p:blipFill>
          <a:blip r:embed="rId12"/>
          <a:stretch>
            <a:fillRect/>
          </a:stretch>
        </p:blipFill>
        <p:spPr>
          <a:xfrm>
            <a:off x="7598664" y="5404104"/>
            <a:ext cx="493776" cy="493776"/>
          </a:xfrm>
          <a:prstGeom prst="rect">
            <a:avLst/>
          </a:prstGeom>
        </p:spPr>
      </p:pic>
      <p:sp>
        <p:nvSpPr>
          <p:cNvPr id="33" name="TextBox 32"/>
          <p:cNvSpPr txBox="1"/>
          <p:nvPr/>
        </p:nvSpPr>
        <p:spPr>
          <a:xfrm>
            <a:off x="8266175" y="5394960"/>
            <a:ext cx="3145536" cy="274320"/>
          </a:xfrm>
          <a:prstGeom prst="rect">
            <a:avLst/>
          </a:prstGeom>
          <a:noFill/>
        </p:spPr>
        <p:txBody>
          <a:bodyPr wrap="square" lIns="0" rIns="0" tIns="0" bIns="0">
            <a:spAutoFit/>
          </a:bodyPr>
          <a:lstStyle/>
          <a:p>
            <a:pPr algn="l">
              <a:lnSpc>
                <a:spcPct val="101000"/>
              </a:lnSpc>
              <a:spcAft>
                <a:spcPts val="300"/>
              </a:spcAft>
              <a:defRPr sz="1700" b="1">
                <a:solidFill>
                  <a:srgbClr val="203350"/>
                </a:solidFill>
                <a:latin typeface="DejaVu Sans"/>
              </a:defRPr>
            </a:pPr>
            <a:r>
              <a:t>Educación científica</a:t>
            </a:r>
          </a:p>
        </p:txBody>
      </p:sp>
      <p:sp>
        <p:nvSpPr>
          <p:cNvPr id="34" name="TextBox 33"/>
          <p:cNvSpPr txBox="1"/>
          <p:nvPr/>
        </p:nvSpPr>
        <p:spPr>
          <a:xfrm>
            <a:off x="8266175" y="5705856"/>
            <a:ext cx="3136392" cy="274320"/>
          </a:xfrm>
          <a:prstGeom prst="rect">
            <a:avLst/>
          </a:prstGeom>
          <a:noFill/>
        </p:spPr>
        <p:txBody>
          <a:bodyPr wrap="square" lIns="0" rIns="0" tIns="0" bIns="0">
            <a:spAutoFit/>
          </a:bodyPr>
          <a:lstStyle/>
          <a:p>
            <a:pPr algn="l">
              <a:lnSpc>
                <a:spcPct val="101000"/>
              </a:lnSpc>
              <a:spcAft>
                <a:spcPts val="300"/>
              </a:spcAft>
              <a:defRPr sz="1030" b="0">
                <a:solidFill>
                  <a:srgbClr val="5C6E83"/>
                </a:solidFill>
                <a:latin typeface="DejaVu Sans"/>
              </a:defRPr>
            </a:pPr>
            <a:r>
              <a:t>Diseñar un recurso que responda a dudas.</a:t>
            </a:r>
          </a:p>
        </p:txBody>
      </p:sp>
    </p:spTree>
  </p:cSld>
  <p:clrMapOvr>
    <a:masterClrMapping/>
  </p:clrMapOvr>
  <p:transition advClick="1">
    <p:fade/>
  </p:transition>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9FBFF"/>
        </a:solidFill>
        <a:effectLst/>
      </p:bgPr>
    </p:bg>
    <p:spTree>
      <p:nvGrpSpPr>
        <p:cNvPr id="1" name=""/>
        <p:cNvGrpSpPr/>
        <p:nvPr/>
      </p:nvGrpSpPr>
      <p:grpSpPr/>
      <p:sp>
        <p:nvSpPr>
          <p:cNvPr id="2" name="TextBox 1"/>
          <p:cNvSpPr txBox="1"/>
          <p:nvPr/>
        </p:nvSpPr>
        <p:spPr>
          <a:xfrm>
            <a:off x="548640" y="365760"/>
            <a:ext cx="7543800" cy="274320"/>
          </a:xfrm>
          <a:prstGeom prst="rect">
            <a:avLst/>
          </a:prstGeom>
          <a:noFill/>
        </p:spPr>
        <p:txBody>
          <a:bodyPr wrap="square" lIns="0" rIns="0" tIns="0" bIns="0">
            <a:spAutoFit/>
          </a:bodyPr>
          <a:lstStyle/>
          <a:p>
            <a:pPr algn="l">
              <a:lnSpc>
                <a:spcPct val="101000"/>
              </a:lnSpc>
              <a:spcAft>
                <a:spcPts val="300"/>
              </a:spcAft>
              <a:defRPr sz="930" b="1">
                <a:solidFill>
                  <a:srgbClr val="A34872"/>
                </a:solidFill>
                <a:latin typeface="DejaVu Sans"/>
              </a:defRPr>
            </a:pPr>
            <a:r>
              <a:t>TALLER · 4 MIN 30 S</a:t>
            </a:r>
          </a:p>
        </p:txBody>
      </p:sp>
      <p:sp>
        <p:nvSpPr>
          <p:cNvPr id="3" name="Rounded Rectangle 2">
            <a:hlinkClick action="ppaction://hlinksldjump" r:id="rId2"/>
          </p:cNvPr>
          <p:cNvSpPr/>
          <p:nvPr/>
        </p:nvSpPr>
        <p:spPr>
          <a:xfrm>
            <a:off x="8229600" y="310896"/>
            <a:ext cx="795528" cy="310896"/>
          </a:xfrm>
          <a:prstGeom prst="roundRect">
            <a:avLst>
              <a:gd name="adj" fmla="val 12000"/>
            </a:avLst>
          </a:prstGeom>
          <a:solidFill>
            <a:srgbClr val="E2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a:hlinkClick action="ppaction://hlinksldjump" r:id="rId2"/>
          </p:cNvPr>
          <p:cNvSpPr txBox="1"/>
          <p:nvPr/>
        </p:nvSpPr>
        <p:spPr>
          <a:xfrm>
            <a:off x="8339327"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Explorar</a:t>
            </a:r>
          </a:p>
        </p:txBody>
      </p:sp>
      <p:sp>
        <p:nvSpPr>
          <p:cNvPr id="5" name="Rounded Rectangle 4">
            <a:hlinkClick action="ppaction://hlinksldjump" r:id="rId3"/>
          </p:cNvPr>
          <p:cNvSpPr/>
          <p:nvPr/>
        </p:nvSpPr>
        <p:spPr>
          <a:xfrm>
            <a:off x="9089136" y="310896"/>
            <a:ext cx="795528" cy="310896"/>
          </a:xfrm>
          <a:prstGeom prst="roundRect">
            <a:avLst>
              <a:gd name="adj" fmla="val 12000"/>
            </a:avLst>
          </a:prstGeom>
          <a:solidFill>
            <a:srgbClr val="F0E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a:hlinkClick action="ppaction://hlinksldjump" r:id="rId3"/>
          </p:cNvPr>
          <p:cNvSpPr txBox="1"/>
          <p:nvPr/>
        </p:nvSpPr>
        <p:spPr>
          <a:xfrm>
            <a:off x="9198863"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Diseñar</a:t>
            </a:r>
          </a:p>
        </p:txBody>
      </p:sp>
      <p:sp>
        <p:nvSpPr>
          <p:cNvPr id="7" name="Rounded Rectangle 6">
            <a:hlinkClick action="ppaction://hlinksldjump" r:id="rId4"/>
          </p:cNvPr>
          <p:cNvSpPr/>
          <p:nvPr/>
        </p:nvSpPr>
        <p:spPr>
          <a:xfrm>
            <a:off x="9948672" y="310896"/>
            <a:ext cx="795528" cy="310896"/>
          </a:xfrm>
          <a:prstGeom prst="roundRect">
            <a:avLst>
              <a:gd name="adj" fmla="val 12000"/>
            </a:avLst>
          </a:prstGeom>
          <a:solidFill>
            <a:srgbClr val="FFF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a:hlinkClick action="ppaction://hlinksldjump" r:id="rId4"/>
          </p:cNvPr>
          <p:cNvSpPr txBox="1"/>
          <p:nvPr/>
        </p:nvSpPr>
        <p:spPr>
          <a:xfrm>
            <a:off x="10058399"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Servir</a:t>
            </a:r>
          </a:p>
        </p:txBody>
      </p:sp>
      <p:sp>
        <p:nvSpPr>
          <p:cNvPr id="9" name="Rounded Rectangle 8">
            <a:hlinkClick action="ppaction://hlinksldjump" r:id="rId5"/>
          </p:cNvPr>
          <p:cNvSpPr/>
          <p:nvPr/>
        </p:nvSpPr>
        <p:spPr>
          <a:xfrm>
            <a:off x="10808208" y="310896"/>
            <a:ext cx="795528" cy="310896"/>
          </a:xfrm>
          <a:prstGeom prst="roundRect">
            <a:avLst>
              <a:gd name="adj" fmla="val 12000"/>
            </a:avLst>
          </a:prstGeom>
          <a:solidFill>
            <a:srgbClr val="E9F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a:hlinkClick action="ppaction://hlinksldjump" r:id="rId5"/>
          </p:cNvPr>
          <p:cNvSpPr txBox="1"/>
          <p:nvPr/>
        </p:nvSpPr>
        <p:spPr>
          <a:xfrm>
            <a:off x="10917936"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Empezar</a:t>
            </a:r>
          </a:p>
        </p:txBody>
      </p:sp>
      <p:sp>
        <p:nvSpPr>
          <p:cNvPr id="11" name="TextBox 10"/>
          <p:cNvSpPr txBox="1"/>
          <p:nvPr/>
        </p:nvSpPr>
        <p:spPr>
          <a:xfrm>
            <a:off x="548640" y="877824"/>
            <a:ext cx="11064240" cy="1234440"/>
          </a:xfrm>
          <a:prstGeom prst="rect">
            <a:avLst/>
          </a:prstGeom>
          <a:noFill/>
        </p:spPr>
        <p:txBody>
          <a:bodyPr wrap="square" lIns="0" rIns="0" tIns="0" bIns="0">
            <a:spAutoFit/>
          </a:bodyPr>
          <a:lstStyle/>
          <a:p>
            <a:pPr algn="l">
              <a:lnSpc>
                <a:spcPct val="101000"/>
              </a:lnSpc>
              <a:spcAft>
                <a:spcPts val="300"/>
              </a:spcAft>
              <a:defRPr sz="3900" b="1">
                <a:solidFill>
                  <a:srgbClr val="203350"/>
                </a:solidFill>
                <a:latin typeface="DejaVu Sans"/>
              </a:defRPr>
            </a:pPr>
            <a:r>
              <a:t>Diseña un primer proyecto</a:t>
            </a:r>
          </a:p>
          <a:p>
            <a:pPr algn="l">
              <a:lnSpc>
                <a:spcPct val="101000"/>
              </a:lnSpc>
              <a:spcAft>
                <a:spcPts val="300"/>
              </a:spcAft>
              <a:defRPr sz="3900" b="1">
                <a:solidFill>
                  <a:srgbClr val="203350"/>
                </a:solidFill>
                <a:latin typeface="DejaVu Sans"/>
              </a:defRPr>
            </a:pPr>
            <a:r>
              <a:t>con otra persona</a:t>
            </a:r>
          </a:p>
        </p:txBody>
      </p:sp>
      <p:sp>
        <p:nvSpPr>
          <p:cNvPr id="12" name="TextBox 11"/>
          <p:cNvSpPr txBox="1"/>
          <p:nvPr/>
        </p:nvSpPr>
        <p:spPr>
          <a:xfrm>
            <a:off x="566928" y="2112264"/>
            <a:ext cx="10972800" cy="365760"/>
          </a:xfrm>
          <a:prstGeom prst="rect">
            <a:avLst/>
          </a:prstGeom>
          <a:noFill/>
        </p:spPr>
        <p:txBody>
          <a:bodyPr wrap="square" lIns="0" rIns="0" tIns="0" bIns="0">
            <a:spAutoFit/>
          </a:bodyPr>
          <a:lstStyle/>
          <a:p>
            <a:pPr algn="l">
              <a:lnSpc>
                <a:spcPct val="101000"/>
              </a:lnSpc>
              <a:spcAft>
                <a:spcPts val="300"/>
              </a:spcAft>
              <a:defRPr sz="1450" b="0">
                <a:solidFill>
                  <a:srgbClr val="5C6E83"/>
                </a:solidFill>
                <a:latin typeface="DejaVu Sans"/>
              </a:defRPr>
            </a:pPr>
            <a:r>
              <a:t>Una situación cercana. Seis decisiones. Un aporte posible.</a:t>
            </a:r>
          </a:p>
        </p:txBody>
      </p:sp>
      <p:sp>
        <p:nvSpPr>
          <p:cNvPr id="13" name="TextBox 12"/>
          <p:cNvSpPr txBox="1"/>
          <p:nvPr/>
        </p:nvSpPr>
        <p:spPr>
          <a:xfrm>
            <a:off x="548640" y="6446520"/>
            <a:ext cx="9966960" cy="210312"/>
          </a:xfrm>
          <a:prstGeom prst="rect">
            <a:avLst/>
          </a:prstGeom>
          <a:noFill/>
        </p:spPr>
        <p:txBody>
          <a:bodyPr wrap="square" lIns="0" rIns="0" tIns="0" bIns="0">
            <a:spAutoFit/>
          </a:bodyPr>
          <a:lstStyle/>
          <a:p>
            <a:pPr algn="l">
              <a:lnSpc>
                <a:spcPct val="101000"/>
              </a:lnSpc>
              <a:spcAft>
                <a:spcPts val="300"/>
              </a:spcAft>
              <a:defRPr sz="810" b="0">
                <a:solidFill>
                  <a:srgbClr val="5C6E83"/>
                </a:solidFill>
                <a:latin typeface="DejaVu Sans"/>
              </a:defRPr>
            </a:pPr>
            <a:r>
              <a:t>Actividad creada para esta clase · ficha de proyecto disponible</a:t>
            </a:r>
          </a:p>
        </p:txBody>
      </p:sp>
      <p:sp>
        <p:nvSpPr>
          <p:cNvPr id="14" name="Rounded Rectangle 13">
            <a:hlinkClick action="ppaction://hlinksldjump" r:id="rId6"/>
          </p:cNvPr>
          <p:cNvSpPr/>
          <p:nvPr/>
        </p:nvSpPr>
        <p:spPr>
          <a:xfrm>
            <a:off x="10469880" y="6400800"/>
            <a:ext cx="594360" cy="265176"/>
          </a:xfrm>
          <a:prstGeom prst="roundRect">
            <a:avLst>
              <a:gd name="adj" fmla="val 12000"/>
            </a:avLst>
          </a:prstGeom>
          <a:solidFill>
            <a:srgbClr val="F0E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a:hlinkClick action="ppaction://hlinksldjump" r:id="rId6"/>
          </p:cNvPr>
          <p:cNvSpPr txBox="1"/>
          <p:nvPr/>
        </p:nvSpPr>
        <p:spPr>
          <a:xfrm>
            <a:off x="10579607" y="6483096"/>
            <a:ext cx="374904" cy="173735"/>
          </a:xfrm>
          <a:prstGeom prst="rect">
            <a:avLst/>
          </a:prstGeom>
          <a:noFill/>
        </p:spPr>
        <p:txBody>
          <a:bodyPr wrap="square" lIns="0" rIns="0" tIns="0" bIns="0">
            <a:spAutoFit/>
          </a:bodyPr>
          <a:lstStyle/>
          <a:p>
            <a:pPr algn="l">
              <a:lnSpc>
                <a:spcPct val="101000"/>
              </a:lnSpc>
              <a:spcAft>
                <a:spcPts val="300"/>
              </a:spcAft>
              <a:defRPr sz="800" b="1">
                <a:solidFill>
                  <a:srgbClr val="8060BA"/>
                </a:solidFill>
                <a:latin typeface="DejaVu Sans"/>
              </a:defRPr>
            </a:pPr>
            <a:r>
              <a:t>Ruta</a:t>
            </a:r>
          </a:p>
        </p:txBody>
      </p:sp>
      <p:sp>
        <p:nvSpPr>
          <p:cNvPr id="16" name="TextBox 15"/>
          <p:cNvSpPr txBox="1"/>
          <p:nvPr/>
        </p:nvSpPr>
        <p:spPr>
          <a:xfrm>
            <a:off x="11228832" y="6400800"/>
            <a:ext cx="457200" cy="274320"/>
          </a:xfrm>
          <a:prstGeom prst="rect">
            <a:avLst/>
          </a:prstGeom>
          <a:noFill/>
        </p:spPr>
        <p:txBody>
          <a:bodyPr wrap="square" lIns="0" rIns="0" tIns="0" bIns="0">
            <a:spAutoFit/>
          </a:bodyPr>
          <a:lstStyle/>
          <a:p>
            <a:pPr algn="r">
              <a:lnSpc>
                <a:spcPct val="101000"/>
              </a:lnSpc>
              <a:spcAft>
                <a:spcPts val="300"/>
              </a:spcAft>
              <a:defRPr sz="1300" b="1">
                <a:solidFill>
                  <a:srgbClr val="203350"/>
                </a:solidFill>
                <a:latin typeface="DejaVu Sans"/>
              </a:defRPr>
            </a:pPr>
            <a:r>
              <a:t>22</a:t>
            </a:r>
          </a:p>
        </p:txBody>
      </p:sp>
      <p:sp>
        <p:nvSpPr>
          <p:cNvPr id="17" name="Rectangle 16"/>
          <p:cNvSpPr/>
          <p:nvPr/>
        </p:nvSpPr>
        <p:spPr>
          <a:xfrm>
            <a:off x="0" y="6821424"/>
            <a:ext cx="10316281" cy="36576"/>
          </a:xfrm>
          <a:prstGeom prst="rect">
            <a:avLst/>
          </a:prstGeom>
          <a:solidFill>
            <a:srgbClr val="A348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2642616"/>
            <a:ext cx="3648456" cy="219456"/>
          </a:xfrm>
          <a:prstGeom prst="rect">
            <a:avLst/>
          </a:prstGeom>
          <a:noFill/>
        </p:spPr>
        <p:txBody>
          <a:bodyPr wrap="square" lIns="0" rIns="0" tIns="0" bIns="0">
            <a:spAutoFit/>
          </a:bodyPr>
          <a:lstStyle/>
          <a:p>
            <a:pPr algn="l">
              <a:lnSpc>
                <a:spcPct val="101000"/>
              </a:lnSpc>
              <a:spcAft>
                <a:spcPts val="300"/>
              </a:spcAft>
              <a:defRPr sz="1000" b="0">
                <a:solidFill>
                  <a:srgbClr val="5C6E83"/>
                </a:solidFill>
                <a:latin typeface="DejaVu Sans"/>
              </a:defRPr>
            </a:pPr>
            <a:r>
              <a:t>1 min · situación y participantes</a:t>
            </a:r>
          </a:p>
        </p:txBody>
      </p:sp>
      <p:sp>
        <p:nvSpPr>
          <p:cNvPr id="19" name="TextBox 18"/>
          <p:cNvSpPr txBox="1"/>
          <p:nvPr/>
        </p:nvSpPr>
        <p:spPr>
          <a:xfrm>
            <a:off x="4407408" y="2642616"/>
            <a:ext cx="3648456" cy="219456"/>
          </a:xfrm>
          <a:prstGeom prst="rect">
            <a:avLst/>
          </a:prstGeom>
          <a:noFill/>
        </p:spPr>
        <p:txBody>
          <a:bodyPr wrap="square" lIns="0" rIns="0" tIns="0" bIns="0">
            <a:spAutoFit/>
          </a:bodyPr>
          <a:lstStyle/>
          <a:p>
            <a:pPr algn="l">
              <a:lnSpc>
                <a:spcPct val="101000"/>
              </a:lnSpc>
              <a:spcAft>
                <a:spcPts val="300"/>
              </a:spcAft>
              <a:defRPr sz="1000" b="0">
                <a:solidFill>
                  <a:srgbClr val="5C6E83"/>
                </a:solidFill>
                <a:latin typeface="DejaVu Sans"/>
              </a:defRPr>
            </a:pPr>
            <a:r>
              <a:t>2 min · pregunta y evidencia</a:t>
            </a:r>
          </a:p>
        </p:txBody>
      </p:sp>
      <p:sp>
        <p:nvSpPr>
          <p:cNvPr id="20" name="TextBox 19"/>
          <p:cNvSpPr txBox="1"/>
          <p:nvPr/>
        </p:nvSpPr>
        <p:spPr>
          <a:xfrm>
            <a:off x="8174736" y="2642616"/>
            <a:ext cx="3648456" cy="219456"/>
          </a:xfrm>
          <a:prstGeom prst="rect">
            <a:avLst/>
          </a:prstGeom>
          <a:noFill/>
        </p:spPr>
        <p:txBody>
          <a:bodyPr wrap="square" lIns="0" rIns="0" tIns="0" bIns="0">
            <a:spAutoFit/>
          </a:bodyPr>
          <a:lstStyle/>
          <a:p>
            <a:pPr algn="l">
              <a:lnSpc>
                <a:spcPct val="101000"/>
              </a:lnSpc>
              <a:spcAft>
                <a:spcPts val="300"/>
              </a:spcAft>
              <a:defRPr sz="1000" b="0">
                <a:solidFill>
                  <a:srgbClr val="5C6E83"/>
                </a:solidFill>
                <a:latin typeface="DejaVu Sans"/>
              </a:defRPr>
            </a:pPr>
            <a:r>
              <a:t>1 min 30 s · devolución y relato</a:t>
            </a:r>
          </a:p>
        </p:txBody>
      </p:sp>
      <p:sp>
        <p:nvSpPr>
          <p:cNvPr id="21" name="Rounded Rectangle 20"/>
          <p:cNvSpPr/>
          <p:nvPr/>
        </p:nvSpPr>
        <p:spPr>
          <a:xfrm>
            <a:off x="594360" y="2889504"/>
            <a:ext cx="3602736" cy="1453896"/>
          </a:xfrm>
          <a:prstGeom prst="roundRect">
            <a:avLst>
              <a:gd name="adj" fmla="val 12000"/>
            </a:avLst>
          </a:prstGeom>
          <a:solidFill>
            <a:srgbClr val="E0F7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95528" y="3044952"/>
            <a:ext cx="2834640" cy="320040"/>
          </a:xfrm>
          <a:prstGeom prst="rect">
            <a:avLst/>
          </a:prstGeom>
          <a:noFill/>
        </p:spPr>
        <p:txBody>
          <a:bodyPr wrap="square" lIns="0" rIns="0" tIns="0" bIns="0">
            <a:spAutoFit/>
          </a:bodyPr>
          <a:lstStyle/>
          <a:p>
            <a:pPr algn="l">
              <a:lnSpc>
                <a:spcPct val="101000"/>
              </a:lnSpc>
              <a:spcAft>
                <a:spcPts val="300"/>
              </a:spcAft>
              <a:defRPr sz="2000" b="1">
                <a:solidFill>
                  <a:srgbClr val="203350"/>
                </a:solidFill>
                <a:latin typeface="DejaVu Sans"/>
              </a:defRPr>
            </a:pPr>
            <a:r>
              <a:t>Situación</a:t>
            </a:r>
          </a:p>
        </p:txBody>
      </p:sp>
      <p:sp>
        <p:nvSpPr>
          <p:cNvPr id="23" name="TextBox 22"/>
          <p:cNvSpPr txBox="1"/>
          <p:nvPr/>
        </p:nvSpPr>
        <p:spPr>
          <a:xfrm>
            <a:off x="3675888" y="3044952"/>
            <a:ext cx="329184" cy="228600"/>
          </a:xfrm>
          <a:prstGeom prst="rect">
            <a:avLst/>
          </a:prstGeom>
          <a:noFill/>
        </p:spPr>
        <p:txBody>
          <a:bodyPr wrap="square" lIns="0" rIns="0" tIns="0" bIns="0">
            <a:spAutoFit/>
          </a:bodyPr>
          <a:lstStyle/>
          <a:p>
            <a:pPr algn="l">
              <a:lnSpc>
                <a:spcPct val="101000"/>
              </a:lnSpc>
              <a:spcAft>
                <a:spcPts val="300"/>
              </a:spcAft>
              <a:defRPr sz="1000" b="0">
                <a:solidFill>
                  <a:srgbClr val="5C6E83"/>
                </a:solidFill>
                <a:latin typeface="DejaVu Sans"/>
              </a:defRPr>
            </a:pPr>
            <a:r>
              <a:t>01</a:t>
            </a:r>
          </a:p>
        </p:txBody>
      </p:sp>
      <p:sp>
        <p:nvSpPr>
          <p:cNvPr id="24" name="TextBox 23"/>
          <p:cNvSpPr txBox="1"/>
          <p:nvPr/>
        </p:nvSpPr>
        <p:spPr>
          <a:xfrm>
            <a:off x="795528" y="3483864"/>
            <a:ext cx="3172968" cy="475488"/>
          </a:xfrm>
          <a:prstGeom prst="rect">
            <a:avLst/>
          </a:prstGeom>
          <a:noFill/>
        </p:spPr>
        <p:txBody>
          <a:bodyPr wrap="square" lIns="0" rIns="0" tIns="0" bIns="0">
            <a:spAutoFit/>
          </a:bodyPr>
          <a:lstStyle/>
          <a:p>
            <a:pPr algn="l">
              <a:lnSpc>
                <a:spcPct val="101000"/>
              </a:lnSpc>
              <a:spcAft>
                <a:spcPts val="300"/>
              </a:spcAft>
              <a:defRPr sz="1300" b="0">
                <a:solidFill>
                  <a:srgbClr val="5C6E83"/>
                </a:solidFill>
                <a:latin typeface="DejaVu Sans"/>
              </a:defRPr>
            </a:pPr>
            <a:r>
              <a:t>¿Qué observamos y por qué importa?</a:t>
            </a:r>
          </a:p>
        </p:txBody>
      </p:sp>
      <p:sp>
        <p:nvSpPr>
          <p:cNvPr id="25" name="Rectangle 24"/>
          <p:cNvSpPr/>
          <p:nvPr/>
        </p:nvSpPr>
        <p:spPr>
          <a:xfrm>
            <a:off x="804672" y="4005072"/>
            <a:ext cx="3182112" cy="11887"/>
          </a:xfrm>
          <a:prstGeom prst="rect">
            <a:avLst/>
          </a:prstGeom>
          <a:solidFill>
            <a:srgbClr val="BBC8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4389120" y="2889504"/>
            <a:ext cx="3602736" cy="1453896"/>
          </a:xfrm>
          <a:prstGeom prst="roundRect">
            <a:avLst>
              <a:gd name="adj" fmla="val 12000"/>
            </a:avLst>
          </a:prstGeom>
          <a:solidFill>
            <a:srgbClr val="E2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90288" y="3044952"/>
            <a:ext cx="2834640" cy="320040"/>
          </a:xfrm>
          <a:prstGeom prst="rect">
            <a:avLst/>
          </a:prstGeom>
          <a:noFill/>
        </p:spPr>
        <p:txBody>
          <a:bodyPr wrap="square" lIns="0" rIns="0" tIns="0" bIns="0">
            <a:spAutoFit/>
          </a:bodyPr>
          <a:lstStyle/>
          <a:p>
            <a:pPr algn="l">
              <a:lnSpc>
                <a:spcPct val="101000"/>
              </a:lnSpc>
              <a:spcAft>
                <a:spcPts val="300"/>
              </a:spcAft>
              <a:defRPr sz="2000" b="1">
                <a:solidFill>
                  <a:srgbClr val="203350"/>
                </a:solidFill>
                <a:latin typeface="DejaVu Sans"/>
              </a:defRPr>
            </a:pPr>
            <a:r>
              <a:t>Con quién</a:t>
            </a:r>
          </a:p>
        </p:txBody>
      </p:sp>
      <p:sp>
        <p:nvSpPr>
          <p:cNvPr id="28" name="TextBox 27"/>
          <p:cNvSpPr txBox="1"/>
          <p:nvPr/>
        </p:nvSpPr>
        <p:spPr>
          <a:xfrm>
            <a:off x="7470648" y="3044952"/>
            <a:ext cx="329184" cy="228600"/>
          </a:xfrm>
          <a:prstGeom prst="rect">
            <a:avLst/>
          </a:prstGeom>
          <a:noFill/>
        </p:spPr>
        <p:txBody>
          <a:bodyPr wrap="square" lIns="0" rIns="0" tIns="0" bIns="0">
            <a:spAutoFit/>
          </a:bodyPr>
          <a:lstStyle/>
          <a:p>
            <a:pPr algn="l">
              <a:lnSpc>
                <a:spcPct val="101000"/>
              </a:lnSpc>
              <a:spcAft>
                <a:spcPts val="300"/>
              </a:spcAft>
              <a:defRPr sz="1000" b="0">
                <a:solidFill>
                  <a:srgbClr val="5C6E83"/>
                </a:solidFill>
                <a:latin typeface="DejaVu Sans"/>
              </a:defRPr>
            </a:pPr>
            <a:r>
              <a:t>02</a:t>
            </a:r>
          </a:p>
        </p:txBody>
      </p:sp>
      <p:sp>
        <p:nvSpPr>
          <p:cNvPr id="29" name="TextBox 28"/>
          <p:cNvSpPr txBox="1"/>
          <p:nvPr/>
        </p:nvSpPr>
        <p:spPr>
          <a:xfrm>
            <a:off x="4590288" y="3483864"/>
            <a:ext cx="3172968" cy="475488"/>
          </a:xfrm>
          <a:prstGeom prst="rect">
            <a:avLst/>
          </a:prstGeom>
          <a:noFill/>
        </p:spPr>
        <p:txBody>
          <a:bodyPr wrap="square" lIns="0" rIns="0" tIns="0" bIns="0">
            <a:spAutoFit/>
          </a:bodyPr>
          <a:lstStyle/>
          <a:p>
            <a:pPr algn="l">
              <a:lnSpc>
                <a:spcPct val="101000"/>
              </a:lnSpc>
              <a:spcAft>
                <a:spcPts val="300"/>
              </a:spcAft>
              <a:defRPr sz="1300" b="0">
                <a:solidFill>
                  <a:srgbClr val="5C6E83"/>
                </a:solidFill>
                <a:latin typeface="DejaVu Sans"/>
              </a:defRPr>
            </a:pPr>
            <a:r>
              <a:t>¿Quién participa y quién orienta?</a:t>
            </a:r>
          </a:p>
        </p:txBody>
      </p:sp>
      <p:sp>
        <p:nvSpPr>
          <p:cNvPr id="30" name="Rectangle 29"/>
          <p:cNvSpPr/>
          <p:nvPr/>
        </p:nvSpPr>
        <p:spPr>
          <a:xfrm>
            <a:off x="4599432" y="4005072"/>
            <a:ext cx="3182112" cy="11887"/>
          </a:xfrm>
          <a:prstGeom prst="rect">
            <a:avLst/>
          </a:prstGeom>
          <a:solidFill>
            <a:srgbClr val="BBC8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8183880" y="2889504"/>
            <a:ext cx="3602736" cy="1453896"/>
          </a:xfrm>
          <a:prstGeom prst="roundRect">
            <a:avLst>
              <a:gd name="adj" fmla="val 12000"/>
            </a:avLst>
          </a:prstGeom>
          <a:solidFill>
            <a:srgbClr val="F0E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385048" y="3044952"/>
            <a:ext cx="2834640" cy="320040"/>
          </a:xfrm>
          <a:prstGeom prst="rect">
            <a:avLst/>
          </a:prstGeom>
          <a:noFill/>
        </p:spPr>
        <p:txBody>
          <a:bodyPr wrap="square" lIns="0" rIns="0" tIns="0" bIns="0">
            <a:spAutoFit/>
          </a:bodyPr>
          <a:lstStyle/>
          <a:p>
            <a:pPr algn="l">
              <a:lnSpc>
                <a:spcPct val="101000"/>
              </a:lnSpc>
              <a:spcAft>
                <a:spcPts val="300"/>
              </a:spcAft>
              <a:defRPr sz="2000" b="1">
                <a:solidFill>
                  <a:srgbClr val="203350"/>
                </a:solidFill>
                <a:latin typeface="DejaVu Sans"/>
              </a:defRPr>
            </a:pPr>
            <a:r>
              <a:t>Pregunta</a:t>
            </a:r>
          </a:p>
        </p:txBody>
      </p:sp>
      <p:sp>
        <p:nvSpPr>
          <p:cNvPr id="33" name="TextBox 32"/>
          <p:cNvSpPr txBox="1"/>
          <p:nvPr/>
        </p:nvSpPr>
        <p:spPr>
          <a:xfrm>
            <a:off x="11265408" y="3044952"/>
            <a:ext cx="329184" cy="228600"/>
          </a:xfrm>
          <a:prstGeom prst="rect">
            <a:avLst/>
          </a:prstGeom>
          <a:noFill/>
        </p:spPr>
        <p:txBody>
          <a:bodyPr wrap="square" lIns="0" rIns="0" tIns="0" bIns="0">
            <a:spAutoFit/>
          </a:bodyPr>
          <a:lstStyle/>
          <a:p>
            <a:pPr algn="l">
              <a:lnSpc>
                <a:spcPct val="101000"/>
              </a:lnSpc>
              <a:spcAft>
                <a:spcPts val="300"/>
              </a:spcAft>
              <a:defRPr sz="1000" b="0">
                <a:solidFill>
                  <a:srgbClr val="5C6E83"/>
                </a:solidFill>
                <a:latin typeface="DejaVu Sans"/>
              </a:defRPr>
            </a:pPr>
            <a:r>
              <a:t>03</a:t>
            </a:r>
          </a:p>
        </p:txBody>
      </p:sp>
      <p:sp>
        <p:nvSpPr>
          <p:cNvPr id="34" name="TextBox 33"/>
          <p:cNvSpPr txBox="1"/>
          <p:nvPr/>
        </p:nvSpPr>
        <p:spPr>
          <a:xfrm>
            <a:off x="8385048" y="3483864"/>
            <a:ext cx="3172968" cy="475488"/>
          </a:xfrm>
          <a:prstGeom prst="rect">
            <a:avLst/>
          </a:prstGeom>
          <a:noFill/>
        </p:spPr>
        <p:txBody>
          <a:bodyPr wrap="square" lIns="0" rIns="0" tIns="0" bIns="0">
            <a:spAutoFit/>
          </a:bodyPr>
          <a:lstStyle/>
          <a:p>
            <a:pPr algn="l">
              <a:lnSpc>
                <a:spcPct val="101000"/>
              </a:lnSpc>
              <a:spcAft>
                <a:spcPts val="300"/>
              </a:spcAft>
              <a:defRPr sz="1300" b="0">
                <a:solidFill>
                  <a:srgbClr val="5C6E83"/>
                </a:solidFill>
                <a:latin typeface="DejaVu Sans"/>
              </a:defRPr>
            </a:pPr>
            <a:r>
              <a:t>¿Qué queremos comprender o comparar?</a:t>
            </a:r>
          </a:p>
        </p:txBody>
      </p:sp>
      <p:sp>
        <p:nvSpPr>
          <p:cNvPr id="35" name="Rectangle 34"/>
          <p:cNvSpPr/>
          <p:nvPr/>
        </p:nvSpPr>
        <p:spPr>
          <a:xfrm>
            <a:off x="8394192" y="4005072"/>
            <a:ext cx="3182112" cy="11887"/>
          </a:xfrm>
          <a:prstGeom prst="rect">
            <a:avLst/>
          </a:prstGeom>
          <a:solidFill>
            <a:srgbClr val="BBC8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594360" y="4480560"/>
            <a:ext cx="3602736" cy="1453896"/>
          </a:xfrm>
          <a:prstGeom prst="roundRect">
            <a:avLst>
              <a:gd name="adj" fmla="val 12000"/>
            </a:avLst>
          </a:prstGeom>
          <a:solidFill>
            <a:srgbClr val="FFF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95528" y="4636008"/>
            <a:ext cx="2834640" cy="320040"/>
          </a:xfrm>
          <a:prstGeom prst="rect">
            <a:avLst/>
          </a:prstGeom>
          <a:noFill/>
        </p:spPr>
        <p:txBody>
          <a:bodyPr wrap="square" lIns="0" rIns="0" tIns="0" bIns="0">
            <a:spAutoFit/>
          </a:bodyPr>
          <a:lstStyle/>
          <a:p>
            <a:pPr algn="l">
              <a:lnSpc>
                <a:spcPct val="101000"/>
              </a:lnSpc>
              <a:spcAft>
                <a:spcPts val="300"/>
              </a:spcAft>
              <a:defRPr sz="2000" b="1">
                <a:solidFill>
                  <a:srgbClr val="203350"/>
                </a:solidFill>
                <a:latin typeface="DejaVu Sans"/>
              </a:defRPr>
            </a:pPr>
            <a:r>
              <a:t>Método</a:t>
            </a:r>
          </a:p>
        </p:txBody>
      </p:sp>
      <p:sp>
        <p:nvSpPr>
          <p:cNvPr id="38" name="TextBox 37"/>
          <p:cNvSpPr txBox="1"/>
          <p:nvPr/>
        </p:nvSpPr>
        <p:spPr>
          <a:xfrm>
            <a:off x="3675888" y="4636008"/>
            <a:ext cx="329184" cy="228600"/>
          </a:xfrm>
          <a:prstGeom prst="rect">
            <a:avLst/>
          </a:prstGeom>
          <a:noFill/>
        </p:spPr>
        <p:txBody>
          <a:bodyPr wrap="square" lIns="0" rIns="0" tIns="0" bIns="0">
            <a:spAutoFit/>
          </a:bodyPr>
          <a:lstStyle/>
          <a:p>
            <a:pPr algn="l">
              <a:lnSpc>
                <a:spcPct val="101000"/>
              </a:lnSpc>
              <a:spcAft>
                <a:spcPts val="300"/>
              </a:spcAft>
              <a:defRPr sz="1000" b="0">
                <a:solidFill>
                  <a:srgbClr val="5C6E83"/>
                </a:solidFill>
                <a:latin typeface="DejaVu Sans"/>
              </a:defRPr>
            </a:pPr>
            <a:r>
              <a:t>04</a:t>
            </a:r>
          </a:p>
        </p:txBody>
      </p:sp>
      <p:sp>
        <p:nvSpPr>
          <p:cNvPr id="39" name="TextBox 38"/>
          <p:cNvSpPr txBox="1"/>
          <p:nvPr/>
        </p:nvSpPr>
        <p:spPr>
          <a:xfrm>
            <a:off x="795528" y="5074920"/>
            <a:ext cx="3172968" cy="475488"/>
          </a:xfrm>
          <a:prstGeom prst="rect">
            <a:avLst/>
          </a:prstGeom>
          <a:noFill/>
        </p:spPr>
        <p:txBody>
          <a:bodyPr wrap="square" lIns="0" rIns="0" tIns="0" bIns="0">
            <a:spAutoFit/>
          </a:bodyPr>
          <a:lstStyle/>
          <a:p>
            <a:pPr algn="l">
              <a:lnSpc>
                <a:spcPct val="101000"/>
              </a:lnSpc>
              <a:spcAft>
                <a:spcPts val="300"/>
              </a:spcAft>
              <a:defRPr sz="1300" b="0">
                <a:solidFill>
                  <a:srgbClr val="5C6E83"/>
                </a:solidFill>
                <a:latin typeface="DejaVu Sans"/>
              </a:defRPr>
            </a:pPr>
            <a:r>
              <a:t>¿Cómo empezar con recursos reales?</a:t>
            </a:r>
          </a:p>
        </p:txBody>
      </p:sp>
      <p:sp>
        <p:nvSpPr>
          <p:cNvPr id="40" name="Rectangle 39"/>
          <p:cNvSpPr/>
          <p:nvPr/>
        </p:nvSpPr>
        <p:spPr>
          <a:xfrm>
            <a:off x="804672" y="5596128"/>
            <a:ext cx="3182112" cy="11887"/>
          </a:xfrm>
          <a:prstGeom prst="rect">
            <a:avLst/>
          </a:prstGeom>
          <a:solidFill>
            <a:srgbClr val="BBC8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4389120" y="4480560"/>
            <a:ext cx="3602736" cy="1453896"/>
          </a:xfrm>
          <a:prstGeom prst="roundRect">
            <a:avLst>
              <a:gd name="adj" fmla="val 12000"/>
            </a:avLst>
          </a:prstGeom>
          <a:solidFill>
            <a:srgbClr val="E9F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590288" y="4636008"/>
            <a:ext cx="2834640" cy="320040"/>
          </a:xfrm>
          <a:prstGeom prst="rect">
            <a:avLst/>
          </a:prstGeom>
          <a:noFill/>
        </p:spPr>
        <p:txBody>
          <a:bodyPr wrap="square" lIns="0" rIns="0" tIns="0" bIns="0">
            <a:spAutoFit/>
          </a:bodyPr>
          <a:lstStyle/>
          <a:p>
            <a:pPr algn="l">
              <a:lnSpc>
                <a:spcPct val="101000"/>
              </a:lnSpc>
              <a:spcAft>
                <a:spcPts val="300"/>
              </a:spcAft>
              <a:defRPr sz="2000" b="1">
                <a:solidFill>
                  <a:srgbClr val="203350"/>
                </a:solidFill>
                <a:latin typeface="DejaVu Sans"/>
              </a:defRPr>
            </a:pPr>
            <a:r>
              <a:t>Evidencia</a:t>
            </a:r>
          </a:p>
        </p:txBody>
      </p:sp>
      <p:sp>
        <p:nvSpPr>
          <p:cNvPr id="43" name="TextBox 42"/>
          <p:cNvSpPr txBox="1"/>
          <p:nvPr/>
        </p:nvSpPr>
        <p:spPr>
          <a:xfrm>
            <a:off x="7470648" y="4636008"/>
            <a:ext cx="329184" cy="228600"/>
          </a:xfrm>
          <a:prstGeom prst="rect">
            <a:avLst/>
          </a:prstGeom>
          <a:noFill/>
        </p:spPr>
        <p:txBody>
          <a:bodyPr wrap="square" lIns="0" rIns="0" tIns="0" bIns="0">
            <a:spAutoFit/>
          </a:bodyPr>
          <a:lstStyle/>
          <a:p>
            <a:pPr algn="l">
              <a:lnSpc>
                <a:spcPct val="101000"/>
              </a:lnSpc>
              <a:spcAft>
                <a:spcPts val="300"/>
              </a:spcAft>
              <a:defRPr sz="1000" b="0">
                <a:solidFill>
                  <a:srgbClr val="5C6E83"/>
                </a:solidFill>
                <a:latin typeface="DejaVu Sans"/>
              </a:defRPr>
            </a:pPr>
            <a:r>
              <a:t>05</a:t>
            </a:r>
          </a:p>
        </p:txBody>
      </p:sp>
      <p:sp>
        <p:nvSpPr>
          <p:cNvPr id="44" name="TextBox 43"/>
          <p:cNvSpPr txBox="1"/>
          <p:nvPr/>
        </p:nvSpPr>
        <p:spPr>
          <a:xfrm>
            <a:off x="4590288" y="5074920"/>
            <a:ext cx="3172968" cy="475488"/>
          </a:xfrm>
          <a:prstGeom prst="rect">
            <a:avLst/>
          </a:prstGeom>
          <a:noFill/>
        </p:spPr>
        <p:txBody>
          <a:bodyPr wrap="square" lIns="0" rIns="0" tIns="0" bIns="0">
            <a:spAutoFit/>
          </a:bodyPr>
          <a:lstStyle/>
          <a:p>
            <a:pPr algn="l">
              <a:lnSpc>
                <a:spcPct val="101000"/>
              </a:lnSpc>
              <a:spcAft>
                <a:spcPts val="300"/>
              </a:spcAft>
              <a:defRPr sz="1300" b="0">
                <a:solidFill>
                  <a:srgbClr val="5C6E83"/>
                </a:solidFill>
                <a:latin typeface="DejaVu Sans"/>
              </a:defRPr>
            </a:pPr>
            <a:r>
              <a:t>¿Qué registraríamos para responder?</a:t>
            </a:r>
          </a:p>
        </p:txBody>
      </p:sp>
      <p:sp>
        <p:nvSpPr>
          <p:cNvPr id="45" name="Rectangle 44"/>
          <p:cNvSpPr/>
          <p:nvPr/>
        </p:nvSpPr>
        <p:spPr>
          <a:xfrm>
            <a:off x="4599432" y="5596128"/>
            <a:ext cx="3182112" cy="11887"/>
          </a:xfrm>
          <a:prstGeom prst="rect">
            <a:avLst/>
          </a:prstGeom>
          <a:solidFill>
            <a:srgbClr val="BBC8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8183880" y="4480560"/>
            <a:ext cx="3602736" cy="1453896"/>
          </a:xfrm>
          <a:prstGeom prst="roundRect">
            <a:avLst>
              <a:gd name="adj" fmla="val 12000"/>
            </a:avLst>
          </a:prstGeom>
          <a:solidFill>
            <a:srgbClr val="FBE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385048" y="4636008"/>
            <a:ext cx="2834640" cy="320040"/>
          </a:xfrm>
          <a:prstGeom prst="rect">
            <a:avLst/>
          </a:prstGeom>
          <a:noFill/>
        </p:spPr>
        <p:txBody>
          <a:bodyPr wrap="square" lIns="0" rIns="0" tIns="0" bIns="0">
            <a:spAutoFit/>
          </a:bodyPr>
          <a:lstStyle/>
          <a:p>
            <a:pPr algn="l">
              <a:lnSpc>
                <a:spcPct val="101000"/>
              </a:lnSpc>
              <a:spcAft>
                <a:spcPts val="300"/>
              </a:spcAft>
              <a:defRPr sz="2000" b="1">
                <a:solidFill>
                  <a:srgbClr val="203350"/>
                </a:solidFill>
                <a:latin typeface="DejaVu Sans"/>
              </a:defRPr>
            </a:pPr>
            <a:r>
              <a:t>Devolución</a:t>
            </a:r>
          </a:p>
        </p:txBody>
      </p:sp>
      <p:sp>
        <p:nvSpPr>
          <p:cNvPr id="48" name="TextBox 47"/>
          <p:cNvSpPr txBox="1"/>
          <p:nvPr/>
        </p:nvSpPr>
        <p:spPr>
          <a:xfrm>
            <a:off x="11265408" y="4636008"/>
            <a:ext cx="329184" cy="228600"/>
          </a:xfrm>
          <a:prstGeom prst="rect">
            <a:avLst/>
          </a:prstGeom>
          <a:noFill/>
        </p:spPr>
        <p:txBody>
          <a:bodyPr wrap="square" lIns="0" rIns="0" tIns="0" bIns="0">
            <a:spAutoFit/>
          </a:bodyPr>
          <a:lstStyle/>
          <a:p>
            <a:pPr algn="l">
              <a:lnSpc>
                <a:spcPct val="101000"/>
              </a:lnSpc>
              <a:spcAft>
                <a:spcPts val="300"/>
              </a:spcAft>
              <a:defRPr sz="1000" b="0">
                <a:solidFill>
                  <a:srgbClr val="5C6E83"/>
                </a:solidFill>
                <a:latin typeface="DejaVu Sans"/>
              </a:defRPr>
            </a:pPr>
            <a:r>
              <a:t>06</a:t>
            </a:r>
          </a:p>
        </p:txBody>
      </p:sp>
      <p:sp>
        <p:nvSpPr>
          <p:cNvPr id="49" name="TextBox 48"/>
          <p:cNvSpPr txBox="1"/>
          <p:nvPr/>
        </p:nvSpPr>
        <p:spPr>
          <a:xfrm>
            <a:off x="8385048" y="5074920"/>
            <a:ext cx="3172968" cy="475488"/>
          </a:xfrm>
          <a:prstGeom prst="rect">
            <a:avLst/>
          </a:prstGeom>
          <a:noFill/>
        </p:spPr>
        <p:txBody>
          <a:bodyPr wrap="square" lIns="0" rIns="0" tIns="0" bIns="0">
            <a:spAutoFit/>
          </a:bodyPr>
          <a:lstStyle/>
          <a:p>
            <a:pPr algn="l">
              <a:lnSpc>
                <a:spcPct val="101000"/>
              </a:lnSpc>
              <a:spcAft>
                <a:spcPts val="300"/>
              </a:spcAft>
              <a:defRPr sz="1300" b="0">
                <a:solidFill>
                  <a:srgbClr val="5C6E83"/>
                </a:solidFill>
                <a:latin typeface="DejaVu Sans"/>
              </a:defRPr>
            </a:pPr>
            <a:r>
              <a:t>¿Cómo compartiríamos algo útil?</a:t>
            </a:r>
          </a:p>
        </p:txBody>
      </p:sp>
      <p:sp>
        <p:nvSpPr>
          <p:cNvPr id="50" name="Rectangle 49"/>
          <p:cNvSpPr/>
          <p:nvPr/>
        </p:nvSpPr>
        <p:spPr>
          <a:xfrm>
            <a:off x="8394192" y="5596128"/>
            <a:ext cx="3182112" cy="11887"/>
          </a:xfrm>
          <a:prstGeom prst="rect">
            <a:avLst/>
          </a:prstGeom>
          <a:solidFill>
            <a:srgbClr val="BBC8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advClick="1">
    <p:fade/>
  </p:transition>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9FBFF"/>
        </a:solidFill>
        <a:effectLst/>
      </p:bgPr>
    </p:bg>
    <p:spTree>
      <p:nvGrpSpPr>
        <p:cNvPr id="1" name=""/>
        <p:cNvGrpSpPr/>
        <p:nvPr/>
      </p:nvGrpSpPr>
      <p:grpSpPr/>
      <p:sp>
        <p:nvSpPr>
          <p:cNvPr id="2" name="TextBox 1"/>
          <p:cNvSpPr txBox="1"/>
          <p:nvPr/>
        </p:nvSpPr>
        <p:spPr>
          <a:xfrm>
            <a:off x="548640" y="365760"/>
            <a:ext cx="7543800" cy="274320"/>
          </a:xfrm>
          <a:prstGeom prst="rect">
            <a:avLst/>
          </a:prstGeom>
          <a:noFill/>
        </p:spPr>
        <p:txBody>
          <a:bodyPr wrap="square" lIns="0" rIns="0" tIns="0" bIns="0">
            <a:spAutoFit/>
          </a:bodyPr>
          <a:lstStyle/>
          <a:p>
            <a:pPr algn="l">
              <a:lnSpc>
                <a:spcPct val="101000"/>
              </a:lnSpc>
              <a:spcAft>
                <a:spcPts val="300"/>
              </a:spcAft>
              <a:defRPr sz="930" b="1">
                <a:solidFill>
                  <a:srgbClr val="A34872"/>
                </a:solidFill>
                <a:latin typeface="DejaVu Sans"/>
              </a:defRPr>
            </a:pPr>
            <a:r>
              <a:t>APRENDER SIN NECESITAR TENER TODO RESUELTO</a:t>
            </a:r>
          </a:p>
        </p:txBody>
      </p:sp>
      <p:sp>
        <p:nvSpPr>
          <p:cNvPr id="3" name="Rounded Rectangle 2">
            <a:hlinkClick action="ppaction://hlinksldjump" r:id="rId2"/>
          </p:cNvPr>
          <p:cNvSpPr/>
          <p:nvPr/>
        </p:nvSpPr>
        <p:spPr>
          <a:xfrm>
            <a:off x="8229600" y="310896"/>
            <a:ext cx="795528" cy="310896"/>
          </a:xfrm>
          <a:prstGeom prst="roundRect">
            <a:avLst>
              <a:gd name="adj" fmla="val 12000"/>
            </a:avLst>
          </a:prstGeom>
          <a:solidFill>
            <a:srgbClr val="E2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a:hlinkClick action="ppaction://hlinksldjump" r:id="rId2"/>
          </p:cNvPr>
          <p:cNvSpPr txBox="1"/>
          <p:nvPr/>
        </p:nvSpPr>
        <p:spPr>
          <a:xfrm>
            <a:off x="8339327"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Explorar</a:t>
            </a:r>
          </a:p>
        </p:txBody>
      </p:sp>
      <p:sp>
        <p:nvSpPr>
          <p:cNvPr id="5" name="Rounded Rectangle 4">
            <a:hlinkClick action="ppaction://hlinksldjump" r:id="rId3"/>
          </p:cNvPr>
          <p:cNvSpPr/>
          <p:nvPr/>
        </p:nvSpPr>
        <p:spPr>
          <a:xfrm>
            <a:off x="9089136" y="310896"/>
            <a:ext cx="795528" cy="310896"/>
          </a:xfrm>
          <a:prstGeom prst="roundRect">
            <a:avLst>
              <a:gd name="adj" fmla="val 12000"/>
            </a:avLst>
          </a:prstGeom>
          <a:solidFill>
            <a:srgbClr val="F0E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a:hlinkClick action="ppaction://hlinksldjump" r:id="rId3"/>
          </p:cNvPr>
          <p:cNvSpPr txBox="1"/>
          <p:nvPr/>
        </p:nvSpPr>
        <p:spPr>
          <a:xfrm>
            <a:off x="9198863"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Diseñar</a:t>
            </a:r>
          </a:p>
        </p:txBody>
      </p:sp>
      <p:sp>
        <p:nvSpPr>
          <p:cNvPr id="7" name="Rounded Rectangle 6">
            <a:hlinkClick action="ppaction://hlinksldjump" r:id="rId4"/>
          </p:cNvPr>
          <p:cNvSpPr/>
          <p:nvPr/>
        </p:nvSpPr>
        <p:spPr>
          <a:xfrm>
            <a:off x="9948672" y="310896"/>
            <a:ext cx="795528" cy="310896"/>
          </a:xfrm>
          <a:prstGeom prst="roundRect">
            <a:avLst>
              <a:gd name="adj" fmla="val 12000"/>
            </a:avLst>
          </a:prstGeom>
          <a:solidFill>
            <a:srgbClr val="FFF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a:hlinkClick action="ppaction://hlinksldjump" r:id="rId4"/>
          </p:cNvPr>
          <p:cNvSpPr txBox="1"/>
          <p:nvPr/>
        </p:nvSpPr>
        <p:spPr>
          <a:xfrm>
            <a:off x="10058399"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Servir</a:t>
            </a:r>
          </a:p>
        </p:txBody>
      </p:sp>
      <p:sp>
        <p:nvSpPr>
          <p:cNvPr id="9" name="Rounded Rectangle 8">
            <a:hlinkClick action="ppaction://hlinksldjump" r:id="rId5"/>
          </p:cNvPr>
          <p:cNvSpPr/>
          <p:nvPr/>
        </p:nvSpPr>
        <p:spPr>
          <a:xfrm>
            <a:off x="10808208" y="310896"/>
            <a:ext cx="795528" cy="310896"/>
          </a:xfrm>
          <a:prstGeom prst="roundRect">
            <a:avLst>
              <a:gd name="adj" fmla="val 12000"/>
            </a:avLst>
          </a:prstGeom>
          <a:solidFill>
            <a:srgbClr val="E9F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a:hlinkClick action="ppaction://hlinksldjump" r:id="rId5"/>
          </p:cNvPr>
          <p:cNvSpPr txBox="1"/>
          <p:nvPr/>
        </p:nvSpPr>
        <p:spPr>
          <a:xfrm>
            <a:off x="10917936"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Empezar</a:t>
            </a:r>
          </a:p>
        </p:txBody>
      </p:sp>
      <p:sp>
        <p:nvSpPr>
          <p:cNvPr id="11" name="TextBox 10"/>
          <p:cNvSpPr txBox="1"/>
          <p:nvPr/>
        </p:nvSpPr>
        <p:spPr>
          <a:xfrm>
            <a:off x="548640" y="877824"/>
            <a:ext cx="11064240" cy="1234440"/>
          </a:xfrm>
          <a:prstGeom prst="rect">
            <a:avLst/>
          </a:prstGeom>
          <a:noFill/>
        </p:spPr>
        <p:txBody>
          <a:bodyPr wrap="square" lIns="0" rIns="0" tIns="0" bIns="0">
            <a:spAutoFit/>
          </a:bodyPr>
          <a:lstStyle/>
          <a:p>
            <a:pPr algn="l">
              <a:lnSpc>
                <a:spcPct val="101000"/>
              </a:lnSpc>
              <a:spcAft>
                <a:spcPts val="300"/>
              </a:spcAft>
              <a:defRPr sz="3900" b="1">
                <a:solidFill>
                  <a:srgbClr val="203350"/>
                </a:solidFill>
                <a:latin typeface="DejaVu Sans"/>
              </a:defRPr>
            </a:pPr>
            <a:r>
              <a:t>Un piloto pequeño</a:t>
            </a:r>
          </a:p>
          <a:p>
            <a:pPr algn="l">
              <a:lnSpc>
                <a:spcPct val="101000"/>
              </a:lnSpc>
              <a:spcAft>
                <a:spcPts val="300"/>
              </a:spcAft>
              <a:defRPr sz="3900" b="1">
                <a:solidFill>
                  <a:srgbClr val="203350"/>
                </a:solidFill>
                <a:latin typeface="DejaVu Sans"/>
              </a:defRPr>
            </a:pPr>
            <a:r>
              <a:t>también produce conocimiento</a:t>
            </a:r>
          </a:p>
        </p:txBody>
      </p:sp>
      <p:sp>
        <p:nvSpPr>
          <p:cNvPr id="12" name="TextBox 11"/>
          <p:cNvSpPr txBox="1"/>
          <p:nvPr/>
        </p:nvSpPr>
        <p:spPr>
          <a:xfrm>
            <a:off x="548640" y="6446520"/>
            <a:ext cx="9966960" cy="210312"/>
          </a:xfrm>
          <a:prstGeom prst="rect">
            <a:avLst/>
          </a:prstGeom>
          <a:noFill/>
        </p:spPr>
        <p:txBody>
          <a:bodyPr wrap="square" lIns="0" rIns="0" tIns="0" bIns="0">
            <a:spAutoFit/>
          </a:bodyPr>
          <a:lstStyle/>
          <a:p>
            <a:pPr algn="l">
              <a:lnSpc>
                <a:spcPct val="101000"/>
              </a:lnSpc>
              <a:spcAft>
                <a:spcPts val="300"/>
              </a:spcAft>
              <a:defRPr sz="810" b="0">
                <a:solidFill>
                  <a:srgbClr val="5C6E83"/>
                </a:solidFill>
                <a:latin typeface="DejaVu Sans"/>
              </a:defRPr>
            </a:pPr>
            <a:r>
              <a:t>Orientaciones didácticas para acotar un primer proyecto</a:t>
            </a:r>
          </a:p>
        </p:txBody>
      </p:sp>
      <p:sp>
        <p:nvSpPr>
          <p:cNvPr id="13" name="Rounded Rectangle 12">
            <a:hlinkClick action="ppaction://hlinksldjump" r:id="rId6"/>
          </p:cNvPr>
          <p:cNvSpPr/>
          <p:nvPr/>
        </p:nvSpPr>
        <p:spPr>
          <a:xfrm>
            <a:off x="10469880" y="6400800"/>
            <a:ext cx="594360" cy="265176"/>
          </a:xfrm>
          <a:prstGeom prst="roundRect">
            <a:avLst>
              <a:gd name="adj" fmla="val 12000"/>
            </a:avLst>
          </a:prstGeom>
          <a:solidFill>
            <a:srgbClr val="F0E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a:hlinkClick action="ppaction://hlinksldjump" r:id="rId6"/>
          </p:cNvPr>
          <p:cNvSpPr txBox="1"/>
          <p:nvPr/>
        </p:nvSpPr>
        <p:spPr>
          <a:xfrm>
            <a:off x="10579607" y="6483096"/>
            <a:ext cx="374904" cy="173735"/>
          </a:xfrm>
          <a:prstGeom prst="rect">
            <a:avLst/>
          </a:prstGeom>
          <a:noFill/>
        </p:spPr>
        <p:txBody>
          <a:bodyPr wrap="square" lIns="0" rIns="0" tIns="0" bIns="0">
            <a:spAutoFit/>
          </a:bodyPr>
          <a:lstStyle/>
          <a:p>
            <a:pPr algn="l">
              <a:lnSpc>
                <a:spcPct val="101000"/>
              </a:lnSpc>
              <a:spcAft>
                <a:spcPts val="300"/>
              </a:spcAft>
              <a:defRPr sz="800" b="1">
                <a:solidFill>
                  <a:srgbClr val="8060BA"/>
                </a:solidFill>
                <a:latin typeface="DejaVu Sans"/>
              </a:defRPr>
            </a:pPr>
            <a:r>
              <a:t>Ruta</a:t>
            </a:r>
          </a:p>
        </p:txBody>
      </p:sp>
      <p:sp>
        <p:nvSpPr>
          <p:cNvPr id="15" name="TextBox 14"/>
          <p:cNvSpPr txBox="1"/>
          <p:nvPr/>
        </p:nvSpPr>
        <p:spPr>
          <a:xfrm>
            <a:off x="11228832" y="6400800"/>
            <a:ext cx="457200" cy="274320"/>
          </a:xfrm>
          <a:prstGeom prst="rect">
            <a:avLst/>
          </a:prstGeom>
          <a:noFill/>
        </p:spPr>
        <p:txBody>
          <a:bodyPr wrap="square" lIns="0" rIns="0" tIns="0" bIns="0">
            <a:spAutoFit/>
          </a:bodyPr>
          <a:lstStyle/>
          <a:p>
            <a:pPr algn="r">
              <a:lnSpc>
                <a:spcPct val="101000"/>
              </a:lnSpc>
              <a:spcAft>
                <a:spcPts val="300"/>
              </a:spcAft>
              <a:defRPr sz="1300" b="1">
                <a:solidFill>
                  <a:srgbClr val="203350"/>
                </a:solidFill>
                <a:latin typeface="DejaVu Sans"/>
              </a:defRPr>
            </a:pPr>
            <a:r>
              <a:t>23</a:t>
            </a:r>
          </a:p>
        </p:txBody>
      </p:sp>
      <p:sp>
        <p:nvSpPr>
          <p:cNvPr id="16" name="Rectangle 15"/>
          <p:cNvSpPr/>
          <p:nvPr/>
        </p:nvSpPr>
        <p:spPr>
          <a:xfrm>
            <a:off x="0" y="6821424"/>
            <a:ext cx="10785203" cy="36576"/>
          </a:xfrm>
          <a:prstGeom prst="rect">
            <a:avLst/>
          </a:prstGeom>
          <a:solidFill>
            <a:srgbClr val="A348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pilot.png"/>
          <p:cNvPicPr>
            <a:picLocks noChangeAspect="1"/>
          </p:cNvPicPr>
          <p:nvPr/>
        </p:nvPicPr>
        <p:blipFill>
          <a:blip r:embed="rId8"/>
          <a:stretch>
            <a:fillRect/>
          </a:stretch>
        </p:blipFill>
        <p:spPr>
          <a:xfrm>
            <a:off x="548640" y="2606040"/>
            <a:ext cx="11109960" cy="3456432"/>
          </a:xfrm>
          <a:prstGeom prst="rect">
            <a:avLst/>
          </a:prstGeom>
        </p:spPr>
      </p:pic>
    </p:spTree>
  </p:cSld>
  <p:clrMapOvr>
    <a:masterClrMapping/>
  </p:clrMapOvr>
  <p:transition advClick="1">
    <p:fade/>
  </p:transition>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9FBFF"/>
        </a:solidFill>
        <a:effectLst/>
      </p:bgPr>
    </p:bg>
    <p:spTree>
      <p:nvGrpSpPr>
        <p:cNvPr id="1" name=""/>
        <p:cNvGrpSpPr/>
        <p:nvPr/>
      </p:nvGrpSpPr>
      <p:grpSpPr/>
      <p:sp>
        <p:nvSpPr>
          <p:cNvPr id="2" name="TextBox 1"/>
          <p:cNvSpPr txBox="1"/>
          <p:nvPr/>
        </p:nvSpPr>
        <p:spPr>
          <a:xfrm>
            <a:off x="548640" y="365760"/>
            <a:ext cx="7543800" cy="274320"/>
          </a:xfrm>
          <a:prstGeom prst="rect">
            <a:avLst/>
          </a:prstGeom>
          <a:noFill/>
        </p:spPr>
        <p:txBody>
          <a:bodyPr wrap="square" lIns="0" rIns="0" tIns="0" bIns="0">
            <a:spAutoFit/>
          </a:bodyPr>
          <a:lstStyle/>
          <a:p>
            <a:pPr algn="l">
              <a:lnSpc>
                <a:spcPct val="101000"/>
              </a:lnSpc>
              <a:spcAft>
                <a:spcPts val="300"/>
              </a:spcAft>
              <a:defRPr sz="930" b="1">
                <a:solidFill>
                  <a:srgbClr val="A34872"/>
                </a:solidFill>
                <a:latin typeface="DejaVu Sans"/>
              </a:defRPr>
            </a:pPr>
            <a:r>
              <a:t>COMPARTE Y RECIBE RETROALIMENTACIÓN</a:t>
            </a:r>
          </a:p>
        </p:txBody>
      </p:sp>
      <p:sp>
        <p:nvSpPr>
          <p:cNvPr id="3" name="Rounded Rectangle 2">
            <a:hlinkClick action="ppaction://hlinksldjump" r:id="rId2"/>
          </p:cNvPr>
          <p:cNvSpPr/>
          <p:nvPr/>
        </p:nvSpPr>
        <p:spPr>
          <a:xfrm>
            <a:off x="8229600" y="310896"/>
            <a:ext cx="795528" cy="310896"/>
          </a:xfrm>
          <a:prstGeom prst="roundRect">
            <a:avLst>
              <a:gd name="adj" fmla="val 12000"/>
            </a:avLst>
          </a:prstGeom>
          <a:solidFill>
            <a:srgbClr val="E2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a:hlinkClick action="ppaction://hlinksldjump" r:id="rId2"/>
          </p:cNvPr>
          <p:cNvSpPr txBox="1"/>
          <p:nvPr/>
        </p:nvSpPr>
        <p:spPr>
          <a:xfrm>
            <a:off x="8339327"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Explorar</a:t>
            </a:r>
          </a:p>
        </p:txBody>
      </p:sp>
      <p:sp>
        <p:nvSpPr>
          <p:cNvPr id="5" name="Rounded Rectangle 4">
            <a:hlinkClick action="ppaction://hlinksldjump" r:id="rId3"/>
          </p:cNvPr>
          <p:cNvSpPr/>
          <p:nvPr/>
        </p:nvSpPr>
        <p:spPr>
          <a:xfrm>
            <a:off x="9089136" y="310896"/>
            <a:ext cx="795528" cy="310896"/>
          </a:xfrm>
          <a:prstGeom prst="roundRect">
            <a:avLst>
              <a:gd name="adj" fmla="val 12000"/>
            </a:avLst>
          </a:prstGeom>
          <a:solidFill>
            <a:srgbClr val="F0E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a:hlinkClick action="ppaction://hlinksldjump" r:id="rId3"/>
          </p:cNvPr>
          <p:cNvSpPr txBox="1"/>
          <p:nvPr/>
        </p:nvSpPr>
        <p:spPr>
          <a:xfrm>
            <a:off x="9198863"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Diseñar</a:t>
            </a:r>
          </a:p>
        </p:txBody>
      </p:sp>
      <p:sp>
        <p:nvSpPr>
          <p:cNvPr id="7" name="Rounded Rectangle 6">
            <a:hlinkClick action="ppaction://hlinksldjump" r:id="rId4"/>
          </p:cNvPr>
          <p:cNvSpPr/>
          <p:nvPr/>
        </p:nvSpPr>
        <p:spPr>
          <a:xfrm>
            <a:off x="9948672" y="310896"/>
            <a:ext cx="795528" cy="310896"/>
          </a:xfrm>
          <a:prstGeom prst="roundRect">
            <a:avLst>
              <a:gd name="adj" fmla="val 12000"/>
            </a:avLst>
          </a:prstGeom>
          <a:solidFill>
            <a:srgbClr val="FFF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a:hlinkClick action="ppaction://hlinksldjump" r:id="rId4"/>
          </p:cNvPr>
          <p:cNvSpPr txBox="1"/>
          <p:nvPr/>
        </p:nvSpPr>
        <p:spPr>
          <a:xfrm>
            <a:off x="10058399"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Servir</a:t>
            </a:r>
          </a:p>
        </p:txBody>
      </p:sp>
      <p:sp>
        <p:nvSpPr>
          <p:cNvPr id="9" name="Rounded Rectangle 8">
            <a:hlinkClick action="ppaction://hlinksldjump" r:id="rId5"/>
          </p:cNvPr>
          <p:cNvSpPr/>
          <p:nvPr/>
        </p:nvSpPr>
        <p:spPr>
          <a:xfrm>
            <a:off x="10808208" y="310896"/>
            <a:ext cx="795528" cy="310896"/>
          </a:xfrm>
          <a:prstGeom prst="roundRect">
            <a:avLst>
              <a:gd name="adj" fmla="val 12000"/>
            </a:avLst>
          </a:prstGeom>
          <a:solidFill>
            <a:srgbClr val="E9F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a:hlinkClick action="ppaction://hlinksldjump" r:id="rId5"/>
          </p:cNvPr>
          <p:cNvSpPr txBox="1"/>
          <p:nvPr/>
        </p:nvSpPr>
        <p:spPr>
          <a:xfrm>
            <a:off x="10917936"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Empezar</a:t>
            </a:r>
          </a:p>
        </p:txBody>
      </p:sp>
      <p:sp>
        <p:nvSpPr>
          <p:cNvPr id="11" name="TextBox 10"/>
          <p:cNvSpPr txBox="1"/>
          <p:nvPr/>
        </p:nvSpPr>
        <p:spPr>
          <a:xfrm>
            <a:off x="548640" y="877824"/>
            <a:ext cx="11064240" cy="1234440"/>
          </a:xfrm>
          <a:prstGeom prst="rect">
            <a:avLst/>
          </a:prstGeom>
          <a:noFill/>
        </p:spPr>
        <p:txBody>
          <a:bodyPr wrap="square" lIns="0" rIns="0" tIns="0" bIns="0">
            <a:spAutoFit/>
          </a:bodyPr>
          <a:lstStyle/>
          <a:p>
            <a:pPr algn="l">
              <a:lnSpc>
                <a:spcPct val="101000"/>
              </a:lnSpc>
              <a:spcAft>
                <a:spcPts val="300"/>
              </a:spcAft>
              <a:defRPr sz="3900" b="1">
                <a:solidFill>
                  <a:srgbClr val="203350"/>
                </a:solidFill>
                <a:latin typeface="DejaVu Sans"/>
              </a:defRPr>
            </a:pPr>
            <a:r>
              <a:t>60 segundos</a:t>
            </a:r>
          </a:p>
          <a:p>
            <a:pPr algn="l">
              <a:lnSpc>
                <a:spcPct val="101000"/>
              </a:lnSpc>
              <a:spcAft>
                <a:spcPts val="300"/>
              </a:spcAft>
              <a:defRPr sz="3900" b="1">
                <a:solidFill>
                  <a:srgbClr val="203350"/>
                </a:solidFill>
                <a:latin typeface="DejaVu Sans"/>
              </a:defRPr>
            </a:pPr>
            <a:r>
              <a:t>para explicar tu proyecto</a:t>
            </a:r>
          </a:p>
        </p:txBody>
      </p:sp>
      <p:sp>
        <p:nvSpPr>
          <p:cNvPr id="12" name="TextBox 11"/>
          <p:cNvSpPr txBox="1"/>
          <p:nvPr/>
        </p:nvSpPr>
        <p:spPr>
          <a:xfrm>
            <a:off x="566928" y="2112264"/>
            <a:ext cx="10972800" cy="365760"/>
          </a:xfrm>
          <a:prstGeom prst="rect">
            <a:avLst/>
          </a:prstGeom>
          <a:noFill/>
        </p:spPr>
        <p:txBody>
          <a:bodyPr wrap="square" lIns="0" rIns="0" tIns="0" bIns="0">
            <a:spAutoFit/>
          </a:bodyPr>
          <a:lstStyle/>
          <a:p>
            <a:pPr algn="l">
              <a:lnSpc>
                <a:spcPct val="101000"/>
              </a:lnSpc>
              <a:spcAft>
                <a:spcPts val="300"/>
              </a:spcAft>
              <a:defRPr sz="1450" b="0">
                <a:solidFill>
                  <a:srgbClr val="5C6E83"/>
                </a:solidFill>
                <a:latin typeface="DejaVu Sans"/>
              </a:defRPr>
            </a:pPr>
            <a:r>
              <a:t>Una persona presenta; la otra escucha y devuelve una pregunta útil.</a:t>
            </a:r>
          </a:p>
        </p:txBody>
      </p:sp>
      <p:sp>
        <p:nvSpPr>
          <p:cNvPr id="13" name="TextBox 12"/>
          <p:cNvSpPr txBox="1"/>
          <p:nvPr/>
        </p:nvSpPr>
        <p:spPr>
          <a:xfrm>
            <a:off x="548640" y="6446520"/>
            <a:ext cx="9966960" cy="210312"/>
          </a:xfrm>
          <a:prstGeom prst="rect">
            <a:avLst/>
          </a:prstGeom>
          <a:noFill/>
        </p:spPr>
        <p:txBody>
          <a:bodyPr wrap="square" lIns="0" rIns="0" tIns="0" bIns="0">
            <a:spAutoFit/>
          </a:bodyPr>
          <a:lstStyle/>
          <a:p>
            <a:pPr algn="l">
              <a:lnSpc>
                <a:spcPct val="101000"/>
              </a:lnSpc>
              <a:spcAft>
                <a:spcPts val="300"/>
              </a:spcAft>
              <a:defRPr sz="810" b="0">
                <a:solidFill>
                  <a:srgbClr val="5C6E83"/>
                </a:solidFill>
                <a:latin typeface="DejaVu Sans"/>
              </a:defRPr>
            </a:pPr>
            <a:r>
              <a:t>Evaluación formativa mediante presentación breve</a:t>
            </a:r>
          </a:p>
        </p:txBody>
      </p:sp>
      <p:sp>
        <p:nvSpPr>
          <p:cNvPr id="14" name="Rounded Rectangle 13">
            <a:hlinkClick action="ppaction://hlinksldjump" r:id="rId6"/>
          </p:cNvPr>
          <p:cNvSpPr/>
          <p:nvPr/>
        </p:nvSpPr>
        <p:spPr>
          <a:xfrm>
            <a:off x="10469880" y="6400800"/>
            <a:ext cx="594360" cy="265176"/>
          </a:xfrm>
          <a:prstGeom prst="roundRect">
            <a:avLst>
              <a:gd name="adj" fmla="val 12000"/>
            </a:avLst>
          </a:prstGeom>
          <a:solidFill>
            <a:srgbClr val="F0E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a:hlinkClick action="ppaction://hlinksldjump" r:id="rId6"/>
          </p:cNvPr>
          <p:cNvSpPr txBox="1"/>
          <p:nvPr/>
        </p:nvSpPr>
        <p:spPr>
          <a:xfrm>
            <a:off x="10579607" y="6483096"/>
            <a:ext cx="374904" cy="173735"/>
          </a:xfrm>
          <a:prstGeom prst="rect">
            <a:avLst/>
          </a:prstGeom>
          <a:noFill/>
        </p:spPr>
        <p:txBody>
          <a:bodyPr wrap="square" lIns="0" rIns="0" tIns="0" bIns="0">
            <a:spAutoFit/>
          </a:bodyPr>
          <a:lstStyle/>
          <a:p>
            <a:pPr algn="l">
              <a:lnSpc>
                <a:spcPct val="101000"/>
              </a:lnSpc>
              <a:spcAft>
                <a:spcPts val="300"/>
              </a:spcAft>
              <a:defRPr sz="800" b="1">
                <a:solidFill>
                  <a:srgbClr val="8060BA"/>
                </a:solidFill>
                <a:latin typeface="DejaVu Sans"/>
              </a:defRPr>
            </a:pPr>
            <a:r>
              <a:t>Ruta</a:t>
            </a:r>
          </a:p>
        </p:txBody>
      </p:sp>
      <p:sp>
        <p:nvSpPr>
          <p:cNvPr id="16" name="TextBox 15"/>
          <p:cNvSpPr txBox="1"/>
          <p:nvPr/>
        </p:nvSpPr>
        <p:spPr>
          <a:xfrm>
            <a:off x="11228832" y="6400800"/>
            <a:ext cx="457200" cy="274320"/>
          </a:xfrm>
          <a:prstGeom prst="rect">
            <a:avLst/>
          </a:prstGeom>
          <a:noFill/>
        </p:spPr>
        <p:txBody>
          <a:bodyPr wrap="square" lIns="0" rIns="0" tIns="0" bIns="0">
            <a:spAutoFit/>
          </a:bodyPr>
          <a:lstStyle/>
          <a:p>
            <a:pPr algn="r">
              <a:lnSpc>
                <a:spcPct val="101000"/>
              </a:lnSpc>
              <a:spcAft>
                <a:spcPts val="300"/>
              </a:spcAft>
              <a:defRPr sz="1300" b="1">
                <a:solidFill>
                  <a:srgbClr val="203350"/>
                </a:solidFill>
                <a:latin typeface="DejaVu Sans"/>
              </a:defRPr>
            </a:pPr>
            <a:r>
              <a:t>24</a:t>
            </a:r>
          </a:p>
        </p:txBody>
      </p:sp>
      <p:sp>
        <p:nvSpPr>
          <p:cNvPr id="17" name="Rectangle 16"/>
          <p:cNvSpPr/>
          <p:nvPr/>
        </p:nvSpPr>
        <p:spPr>
          <a:xfrm>
            <a:off x="0" y="6821424"/>
            <a:ext cx="11254125" cy="36576"/>
          </a:xfrm>
          <a:prstGeom prst="rect">
            <a:avLst/>
          </a:prstGeom>
          <a:solidFill>
            <a:srgbClr val="A348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94360" y="2743200"/>
            <a:ext cx="3108960" cy="3200400"/>
          </a:xfrm>
          <a:prstGeom prst="roundRect">
            <a:avLst>
              <a:gd name="adj" fmla="val 12000"/>
            </a:avLst>
          </a:prstGeom>
          <a:solidFill>
            <a:srgbClr val="FBE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33271" y="2971800"/>
            <a:ext cx="2194560" cy="1280160"/>
          </a:xfrm>
          <a:prstGeom prst="rect">
            <a:avLst/>
          </a:prstGeom>
          <a:noFill/>
        </p:spPr>
        <p:txBody>
          <a:bodyPr wrap="square" lIns="0" rIns="0" tIns="0" bIns="0">
            <a:spAutoFit/>
          </a:bodyPr>
          <a:lstStyle/>
          <a:p>
            <a:pPr algn="ctr">
              <a:lnSpc>
                <a:spcPct val="101000"/>
              </a:lnSpc>
              <a:spcAft>
                <a:spcPts val="300"/>
              </a:spcAft>
              <a:defRPr sz="8800" b="1">
                <a:solidFill>
                  <a:srgbClr val="9B4671"/>
                </a:solidFill>
                <a:latin typeface="DejaVu Sans"/>
              </a:defRPr>
            </a:pPr>
            <a:r>
              <a:t>60</a:t>
            </a:r>
          </a:p>
        </p:txBody>
      </p:sp>
      <p:sp>
        <p:nvSpPr>
          <p:cNvPr id="20" name="TextBox 19"/>
          <p:cNvSpPr txBox="1"/>
          <p:nvPr/>
        </p:nvSpPr>
        <p:spPr>
          <a:xfrm>
            <a:off x="1078992" y="4398264"/>
            <a:ext cx="2157984" cy="320040"/>
          </a:xfrm>
          <a:prstGeom prst="rect">
            <a:avLst/>
          </a:prstGeom>
          <a:noFill/>
        </p:spPr>
        <p:txBody>
          <a:bodyPr wrap="square" lIns="0" rIns="0" tIns="0" bIns="0">
            <a:spAutoFit/>
          </a:bodyPr>
          <a:lstStyle/>
          <a:p>
            <a:pPr algn="ctr">
              <a:lnSpc>
                <a:spcPct val="101000"/>
              </a:lnSpc>
              <a:spcAft>
                <a:spcPts val="300"/>
              </a:spcAft>
              <a:defRPr sz="1600" b="1">
                <a:solidFill>
                  <a:srgbClr val="203350"/>
                </a:solidFill>
                <a:latin typeface="DejaVu Sans"/>
              </a:defRPr>
            </a:pPr>
            <a:r>
              <a:t>SEGUNDOS</a:t>
            </a:r>
          </a:p>
        </p:txBody>
      </p:sp>
      <p:pic>
        <p:nvPicPr>
          <p:cNvPr id="21" name="Picture 20" descr="icon_chat.png"/>
          <p:cNvPicPr>
            <a:picLocks noChangeAspect="1"/>
          </p:cNvPicPr>
          <p:nvPr/>
        </p:nvPicPr>
        <p:blipFill>
          <a:blip r:embed="rId8"/>
          <a:stretch>
            <a:fillRect/>
          </a:stretch>
        </p:blipFill>
        <p:spPr>
          <a:xfrm>
            <a:off x="1627632" y="4965192"/>
            <a:ext cx="822960" cy="822960"/>
          </a:xfrm>
          <a:prstGeom prst="rect">
            <a:avLst/>
          </a:prstGeom>
        </p:spPr>
      </p:pic>
      <p:sp>
        <p:nvSpPr>
          <p:cNvPr id="22" name="Rounded Rectangle 21"/>
          <p:cNvSpPr/>
          <p:nvPr/>
        </p:nvSpPr>
        <p:spPr>
          <a:xfrm>
            <a:off x="4005072" y="2734056"/>
            <a:ext cx="7635240" cy="548640"/>
          </a:xfrm>
          <a:prstGeom prst="roundRect">
            <a:avLst>
              <a:gd name="adj" fmla="val 12000"/>
            </a:avLst>
          </a:prstGeom>
          <a:solidFill>
            <a:srgbClr val="FFFFFF"/>
          </a:solidFill>
          <a:ln w="16510">
            <a:solidFill>
              <a:srgbClr val="D5DDE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187952" y="2862072"/>
            <a:ext cx="3749039" cy="283464"/>
          </a:xfrm>
          <a:prstGeom prst="rect">
            <a:avLst/>
          </a:prstGeom>
          <a:noFill/>
        </p:spPr>
        <p:txBody>
          <a:bodyPr wrap="square" lIns="0" rIns="0" tIns="0" bIns="0">
            <a:spAutoFit/>
          </a:bodyPr>
          <a:lstStyle/>
          <a:p>
            <a:pPr algn="l">
              <a:lnSpc>
                <a:spcPct val="101000"/>
              </a:lnSpc>
              <a:spcAft>
                <a:spcPts val="300"/>
              </a:spcAft>
              <a:defRPr sz="1800" b="1">
                <a:solidFill>
                  <a:srgbClr val="203350"/>
                </a:solidFill>
                <a:latin typeface="DejaVu Sans"/>
              </a:defRPr>
            </a:pPr>
            <a:r>
              <a:t>Con…</a:t>
            </a:r>
          </a:p>
        </p:txBody>
      </p:sp>
      <p:sp>
        <p:nvSpPr>
          <p:cNvPr id="24" name="TextBox 23"/>
          <p:cNvSpPr txBox="1"/>
          <p:nvPr/>
        </p:nvSpPr>
        <p:spPr>
          <a:xfrm>
            <a:off x="8074152" y="2889504"/>
            <a:ext cx="3337560" cy="265176"/>
          </a:xfrm>
          <a:prstGeom prst="rect">
            <a:avLst/>
          </a:prstGeom>
          <a:noFill/>
        </p:spPr>
        <p:txBody>
          <a:bodyPr wrap="square" lIns="0" rIns="0" tIns="0" bIns="0">
            <a:spAutoFit/>
          </a:bodyPr>
          <a:lstStyle/>
          <a:p>
            <a:pPr algn="l">
              <a:lnSpc>
                <a:spcPct val="101000"/>
              </a:lnSpc>
              <a:spcAft>
                <a:spcPts val="300"/>
              </a:spcAft>
              <a:defRPr sz="1400" b="0">
                <a:solidFill>
                  <a:srgbClr val="5C6E83"/>
                </a:solidFill>
                <a:latin typeface="DejaVu Sans"/>
              </a:defRPr>
            </a:pPr>
            <a:r>
              <a:t>personas y colaboradores</a:t>
            </a:r>
          </a:p>
        </p:txBody>
      </p:sp>
      <p:sp>
        <p:nvSpPr>
          <p:cNvPr id="25" name="Rounded Rectangle 24"/>
          <p:cNvSpPr/>
          <p:nvPr/>
        </p:nvSpPr>
        <p:spPr>
          <a:xfrm>
            <a:off x="4005072" y="3401568"/>
            <a:ext cx="7635240" cy="548640"/>
          </a:xfrm>
          <a:prstGeom prst="roundRect">
            <a:avLst>
              <a:gd name="adj" fmla="val 12000"/>
            </a:avLst>
          </a:prstGeom>
          <a:solidFill>
            <a:srgbClr val="FFFFFF"/>
          </a:solidFill>
          <a:ln w="16510">
            <a:solidFill>
              <a:srgbClr val="D5DDE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187952" y="3529584"/>
            <a:ext cx="3749039" cy="283464"/>
          </a:xfrm>
          <a:prstGeom prst="rect">
            <a:avLst/>
          </a:prstGeom>
          <a:noFill/>
        </p:spPr>
        <p:txBody>
          <a:bodyPr wrap="square" lIns="0" rIns="0" tIns="0" bIns="0">
            <a:spAutoFit/>
          </a:bodyPr>
          <a:lstStyle/>
          <a:p>
            <a:pPr algn="l">
              <a:lnSpc>
                <a:spcPct val="101000"/>
              </a:lnSpc>
              <a:spcAft>
                <a:spcPts val="300"/>
              </a:spcAft>
              <a:defRPr sz="1800" b="1">
                <a:solidFill>
                  <a:srgbClr val="203350"/>
                </a:solidFill>
                <a:latin typeface="DejaVu Sans"/>
              </a:defRPr>
            </a:pPr>
            <a:r>
              <a:t>Queremos comprender…</a:t>
            </a:r>
          </a:p>
        </p:txBody>
      </p:sp>
      <p:sp>
        <p:nvSpPr>
          <p:cNvPr id="27" name="TextBox 26"/>
          <p:cNvSpPr txBox="1"/>
          <p:nvPr/>
        </p:nvSpPr>
        <p:spPr>
          <a:xfrm>
            <a:off x="8074152" y="3557016"/>
            <a:ext cx="3337560" cy="265176"/>
          </a:xfrm>
          <a:prstGeom prst="rect">
            <a:avLst/>
          </a:prstGeom>
          <a:noFill/>
        </p:spPr>
        <p:txBody>
          <a:bodyPr wrap="square" lIns="0" rIns="0" tIns="0" bIns="0">
            <a:spAutoFit/>
          </a:bodyPr>
          <a:lstStyle/>
          <a:p>
            <a:pPr algn="l">
              <a:lnSpc>
                <a:spcPct val="101000"/>
              </a:lnSpc>
              <a:spcAft>
                <a:spcPts val="300"/>
              </a:spcAft>
              <a:defRPr sz="1400" b="0">
                <a:solidFill>
                  <a:srgbClr val="5C6E83"/>
                </a:solidFill>
                <a:latin typeface="DejaVu Sans"/>
              </a:defRPr>
            </a:pPr>
            <a:r>
              <a:t>una pregunta</a:t>
            </a:r>
          </a:p>
        </p:txBody>
      </p:sp>
      <p:sp>
        <p:nvSpPr>
          <p:cNvPr id="28" name="Rounded Rectangle 27"/>
          <p:cNvSpPr/>
          <p:nvPr/>
        </p:nvSpPr>
        <p:spPr>
          <a:xfrm>
            <a:off x="4005072" y="4069080"/>
            <a:ext cx="7635240" cy="548640"/>
          </a:xfrm>
          <a:prstGeom prst="roundRect">
            <a:avLst>
              <a:gd name="adj" fmla="val 12000"/>
            </a:avLst>
          </a:prstGeom>
          <a:solidFill>
            <a:srgbClr val="FFFFFF"/>
          </a:solidFill>
          <a:ln w="16510">
            <a:solidFill>
              <a:srgbClr val="D5DDE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187952" y="4197096"/>
            <a:ext cx="3749039" cy="283464"/>
          </a:xfrm>
          <a:prstGeom prst="rect">
            <a:avLst/>
          </a:prstGeom>
          <a:noFill/>
        </p:spPr>
        <p:txBody>
          <a:bodyPr wrap="square" lIns="0" rIns="0" tIns="0" bIns="0">
            <a:spAutoFit/>
          </a:bodyPr>
          <a:lstStyle/>
          <a:p>
            <a:pPr algn="l">
              <a:lnSpc>
                <a:spcPct val="101000"/>
              </a:lnSpc>
              <a:spcAft>
                <a:spcPts val="300"/>
              </a:spcAft>
              <a:defRPr sz="1800" b="1">
                <a:solidFill>
                  <a:srgbClr val="203350"/>
                </a:solidFill>
                <a:latin typeface="DejaVu Sans"/>
              </a:defRPr>
            </a:pPr>
            <a:r>
              <a:t>Haremos…</a:t>
            </a:r>
          </a:p>
        </p:txBody>
      </p:sp>
      <p:sp>
        <p:nvSpPr>
          <p:cNvPr id="30" name="TextBox 29"/>
          <p:cNvSpPr txBox="1"/>
          <p:nvPr/>
        </p:nvSpPr>
        <p:spPr>
          <a:xfrm>
            <a:off x="8074152" y="4224528"/>
            <a:ext cx="3337560" cy="265176"/>
          </a:xfrm>
          <a:prstGeom prst="rect">
            <a:avLst/>
          </a:prstGeom>
          <a:noFill/>
        </p:spPr>
        <p:txBody>
          <a:bodyPr wrap="square" lIns="0" rIns="0" tIns="0" bIns="0">
            <a:spAutoFit/>
          </a:bodyPr>
          <a:lstStyle/>
          <a:p>
            <a:pPr algn="l">
              <a:lnSpc>
                <a:spcPct val="101000"/>
              </a:lnSpc>
              <a:spcAft>
                <a:spcPts val="300"/>
              </a:spcAft>
              <a:defRPr sz="1400" b="0">
                <a:solidFill>
                  <a:srgbClr val="5C6E83"/>
                </a:solidFill>
                <a:latin typeface="DejaVu Sans"/>
              </a:defRPr>
            </a:pPr>
            <a:r>
              <a:t>un primer paso</a:t>
            </a:r>
          </a:p>
        </p:txBody>
      </p:sp>
      <p:sp>
        <p:nvSpPr>
          <p:cNvPr id="31" name="Rounded Rectangle 30"/>
          <p:cNvSpPr/>
          <p:nvPr/>
        </p:nvSpPr>
        <p:spPr>
          <a:xfrm>
            <a:off x="4005072" y="4736592"/>
            <a:ext cx="7635240" cy="548640"/>
          </a:xfrm>
          <a:prstGeom prst="roundRect">
            <a:avLst>
              <a:gd name="adj" fmla="val 12000"/>
            </a:avLst>
          </a:prstGeom>
          <a:solidFill>
            <a:srgbClr val="FFFFFF"/>
          </a:solidFill>
          <a:ln w="16510">
            <a:solidFill>
              <a:srgbClr val="D5DDE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187952" y="4864607"/>
            <a:ext cx="3749039" cy="283464"/>
          </a:xfrm>
          <a:prstGeom prst="rect">
            <a:avLst/>
          </a:prstGeom>
          <a:noFill/>
        </p:spPr>
        <p:txBody>
          <a:bodyPr wrap="square" lIns="0" rIns="0" tIns="0" bIns="0">
            <a:spAutoFit/>
          </a:bodyPr>
          <a:lstStyle/>
          <a:p>
            <a:pPr algn="l">
              <a:lnSpc>
                <a:spcPct val="101000"/>
              </a:lnSpc>
              <a:spcAft>
                <a:spcPts val="300"/>
              </a:spcAft>
              <a:defRPr sz="1800" b="1">
                <a:solidFill>
                  <a:srgbClr val="203350"/>
                </a:solidFill>
                <a:latin typeface="DejaVu Sans"/>
              </a:defRPr>
            </a:pPr>
            <a:r>
              <a:t>Observaremos…</a:t>
            </a:r>
          </a:p>
        </p:txBody>
      </p:sp>
      <p:sp>
        <p:nvSpPr>
          <p:cNvPr id="33" name="TextBox 32"/>
          <p:cNvSpPr txBox="1"/>
          <p:nvPr/>
        </p:nvSpPr>
        <p:spPr>
          <a:xfrm>
            <a:off x="8074152" y="4892040"/>
            <a:ext cx="3337560" cy="265176"/>
          </a:xfrm>
          <a:prstGeom prst="rect">
            <a:avLst/>
          </a:prstGeom>
          <a:noFill/>
        </p:spPr>
        <p:txBody>
          <a:bodyPr wrap="square" lIns="0" rIns="0" tIns="0" bIns="0">
            <a:spAutoFit/>
          </a:bodyPr>
          <a:lstStyle/>
          <a:p>
            <a:pPr algn="l">
              <a:lnSpc>
                <a:spcPct val="101000"/>
              </a:lnSpc>
              <a:spcAft>
                <a:spcPts val="300"/>
              </a:spcAft>
              <a:defRPr sz="1400" b="0">
                <a:solidFill>
                  <a:srgbClr val="5C6E83"/>
                </a:solidFill>
                <a:latin typeface="DejaVu Sans"/>
              </a:defRPr>
            </a:pPr>
            <a:r>
              <a:t>evidencia</a:t>
            </a:r>
          </a:p>
        </p:txBody>
      </p:sp>
      <p:sp>
        <p:nvSpPr>
          <p:cNvPr id="34" name="Rounded Rectangle 33"/>
          <p:cNvSpPr/>
          <p:nvPr/>
        </p:nvSpPr>
        <p:spPr>
          <a:xfrm>
            <a:off x="4005072" y="5404104"/>
            <a:ext cx="7635240" cy="548640"/>
          </a:xfrm>
          <a:prstGeom prst="roundRect">
            <a:avLst>
              <a:gd name="adj" fmla="val 12000"/>
            </a:avLst>
          </a:prstGeom>
          <a:solidFill>
            <a:srgbClr val="FFFFFF"/>
          </a:solidFill>
          <a:ln w="16510">
            <a:solidFill>
              <a:srgbClr val="D5DDE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87952" y="5532120"/>
            <a:ext cx="3749039" cy="283464"/>
          </a:xfrm>
          <a:prstGeom prst="rect">
            <a:avLst/>
          </a:prstGeom>
          <a:noFill/>
        </p:spPr>
        <p:txBody>
          <a:bodyPr wrap="square" lIns="0" rIns="0" tIns="0" bIns="0">
            <a:spAutoFit/>
          </a:bodyPr>
          <a:lstStyle/>
          <a:p>
            <a:pPr algn="l">
              <a:lnSpc>
                <a:spcPct val="101000"/>
              </a:lnSpc>
              <a:spcAft>
                <a:spcPts val="300"/>
              </a:spcAft>
              <a:defRPr sz="1800" b="1">
                <a:solidFill>
                  <a:srgbClr val="203350"/>
                </a:solidFill>
                <a:latin typeface="DejaVu Sans"/>
              </a:defRPr>
            </a:pPr>
            <a:r>
              <a:t>Compartiremos…</a:t>
            </a:r>
          </a:p>
        </p:txBody>
      </p:sp>
      <p:sp>
        <p:nvSpPr>
          <p:cNvPr id="36" name="TextBox 35"/>
          <p:cNvSpPr txBox="1"/>
          <p:nvPr/>
        </p:nvSpPr>
        <p:spPr>
          <a:xfrm>
            <a:off x="8074152" y="5559552"/>
            <a:ext cx="3337560" cy="265176"/>
          </a:xfrm>
          <a:prstGeom prst="rect">
            <a:avLst/>
          </a:prstGeom>
          <a:noFill/>
        </p:spPr>
        <p:txBody>
          <a:bodyPr wrap="square" lIns="0" rIns="0" tIns="0" bIns="0">
            <a:spAutoFit/>
          </a:bodyPr>
          <a:lstStyle/>
          <a:p>
            <a:pPr algn="l">
              <a:lnSpc>
                <a:spcPct val="101000"/>
              </a:lnSpc>
              <a:spcAft>
                <a:spcPts val="300"/>
              </a:spcAft>
              <a:defRPr sz="1400" b="0">
                <a:solidFill>
                  <a:srgbClr val="5C6E83"/>
                </a:solidFill>
                <a:latin typeface="DejaVu Sans"/>
              </a:defRPr>
            </a:pPr>
            <a:r>
              <a:t>una devolución</a:t>
            </a:r>
          </a:p>
        </p:txBody>
      </p:sp>
    </p:spTree>
  </p:cSld>
  <p:clrMapOvr>
    <a:masterClrMapping/>
  </p:clrMapOvr>
  <p:transition advClick="1">
    <p:fade/>
  </p:transition>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9FBFF"/>
        </a:solidFill>
        <a:effectLst/>
      </p:bgPr>
    </p:bg>
    <p:spTree>
      <p:nvGrpSpPr>
        <p:cNvPr id="1" name=""/>
        <p:cNvGrpSpPr/>
        <p:nvPr/>
      </p:nvGrpSpPr>
      <p:grpSpPr/>
      <p:sp>
        <p:nvSpPr>
          <p:cNvPr id="2" name="TextBox 1"/>
          <p:cNvSpPr txBox="1"/>
          <p:nvPr/>
        </p:nvSpPr>
        <p:spPr>
          <a:xfrm>
            <a:off x="548640" y="365760"/>
            <a:ext cx="7543800" cy="274320"/>
          </a:xfrm>
          <a:prstGeom prst="rect">
            <a:avLst/>
          </a:prstGeom>
          <a:noFill/>
        </p:spPr>
        <p:txBody>
          <a:bodyPr wrap="square" lIns="0" rIns="0" tIns="0" bIns="0">
            <a:spAutoFit/>
          </a:bodyPr>
          <a:lstStyle/>
          <a:p>
            <a:pPr algn="l">
              <a:lnSpc>
                <a:spcPct val="101000"/>
              </a:lnSpc>
              <a:spcAft>
                <a:spcPts val="300"/>
              </a:spcAft>
              <a:defRPr sz="930" b="1">
                <a:solidFill>
                  <a:srgbClr val="A34872"/>
                </a:solidFill>
                <a:latin typeface="DejaVu Sans"/>
              </a:defRPr>
            </a:pPr>
            <a:r>
              <a:t>UN PASO QUE PUEDES DAR</a:t>
            </a:r>
          </a:p>
        </p:txBody>
      </p:sp>
      <p:sp>
        <p:nvSpPr>
          <p:cNvPr id="3" name="Rounded Rectangle 2">
            <a:hlinkClick action="ppaction://hlinksldjump" r:id="rId2"/>
          </p:cNvPr>
          <p:cNvSpPr/>
          <p:nvPr/>
        </p:nvSpPr>
        <p:spPr>
          <a:xfrm>
            <a:off x="8229600" y="310896"/>
            <a:ext cx="795528" cy="310896"/>
          </a:xfrm>
          <a:prstGeom prst="roundRect">
            <a:avLst>
              <a:gd name="adj" fmla="val 12000"/>
            </a:avLst>
          </a:prstGeom>
          <a:solidFill>
            <a:srgbClr val="E2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a:hlinkClick action="ppaction://hlinksldjump" r:id="rId2"/>
          </p:cNvPr>
          <p:cNvSpPr txBox="1"/>
          <p:nvPr/>
        </p:nvSpPr>
        <p:spPr>
          <a:xfrm>
            <a:off x="8339327"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Explorar</a:t>
            </a:r>
          </a:p>
        </p:txBody>
      </p:sp>
      <p:sp>
        <p:nvSpPr>
          <p:cNvPr id="5" name="Rounded Rectangle 4">
            <a:hlinkClick action="ppaction://hlinksldjump" r:id="rId3"/>
          </p:cNvPr>
          <p:cNvSpPr/>
          <p:nvPr/>
        </p:nvSpPr>
        <p:spPr>
          <a:xfrm>
            <a:off x="9089136" y="310896"/>
            <a:ext cx="795528" cy="310896"/>
          </a:xfrm>
          <a:prstGeom prst="roundRect">
            <a:avLst>
              <a:gd name="adj" fmla="val 12000"/>
            </a:avLst>
          </a:prstGeom>
          <a:solidFill>
            <a:srgbClr val="F0E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a:hlinkClick action="ppaction://hlinksldjump" r:id="rId3"/>
          </p:cNvPr>
          <p:cNvSpPr txBox="1"/>
          <p:nvPr/>
        </p:nvSpPr>
        <p:spPr>
          <a:xfrm>
            <a:off x="9198863"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Diseñar</a:t>
            </a:r>
          </a:p>
        </p:txBody>
      </p:sp>
      <p:sp>
        <p:nvSpPr>
          <p:cNvPr id="7" name="Rounded Rectangle 6">
            <a:hlinkClick action="ppaction://hlinksldjump" r:id="rId4"/>
          </p:cNvPr>
          <p:cNvSpPr/>
          <p:nvPr/>
        </p:nvSpPr>
        <p:spPr>
          <a:xfrm>
            <a:off x="9948672" y="310896"/>
            <a:ext cx="795528" cy="310896"/>
          </a:xfrm>
          <a:prstGeom prst="roundRect">
            <a:avLst>
              <a:gd name="adj" fmla="val 12000"/>
            </a:avLst>
          </a:prstGeom>
          <a:solidFill>
            <a:srgbClr val="FFF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a:hlinkClick action="ppaction://hlinksldjump" r:id="rId4"/>
          </p:cNvPr>
          <p:cNvSpPr txBox="1"/>
          <p:nvPr/>
        </p:nvSpPr>
        <p:spPr>
          <a:xfrm>
            <a:off x="10058399"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Servir</a:t>
            </a:r>
          </a:p>
        </p:txBody>
      </p:sp>
      <p:sp>
        <p:nvSpPr>
          <p:cNvPr id="9" name="Rounded Rectangle 8">
            <a:hlinkClick action="ppaction://hlinksldjump" r:id="rId5"/>
          </p:cNvPr>
          <p:cNvSpPr/>
          <p:nvPr/>
        </p:nvSpPr>
        <p:spPr>
          <a:xfrm>
            <a:off x="10808208" y="310896"/>
            <a:ext cx="795528" cy="310896"/>
          </a:xfrm>
          <a:prstGeom prst="roundRect">
            <a:avLst>
              <a:gd name="adj" fmla="val 12000"/>
            </a:avLst>
          </a:prstGeom>
          <a:solidFill>
            <a:srgbClr val="E9F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a:hlinkClick action="ppaction://hlinksldjump" r:id="rId5"/>
          </p:cNvPr>
          <p:cNvSpPr txBox="1"/>
          <p:nvPr/>
        </p:nvSpPr>
        <p:spPr>
          <a:xfrm>
            <a:off x="10917936"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Empezar</a:t>
            </a:r>
          </a:p>
        </p:txBody>
      </p:sp>
      <p:sp>
        <p:nvSpPr>
          <p:cNvPr id="11" name="TextBox 10"/>
          <p:cNvSpPr txBox="1"/>
          <p:nvPr/>
        </p:nvSpPr>
        <p:spPr>
          <a:xfrm>
            <a:off x="548640" y="877824"/>
            <a:ext cx="11064240" cy="1234440"/>
          </a:xfrm>
          <a:prstGeom prst="rect">
            <a:avLst/>
          </a:prstGeom>
          <a:noFill/>
        </p:spPr>
        <p:txBody>
          <a:bodyPr wrap="square" lIns="0" rIns="0" tIns="0" bIns="0">
            <a:spAutoFit/>
          </a:bodyPr>
          <a:lstStyle/>
          <a:p>
            <a:pPr algn="l">
              <a:lnSpc>
                <a:spcPct val="101000"/>
              </a:lnSpc>
              <a:spcAft>
                <a:spcPts val="300"/>
              </a:spcAft>
              <a:defRPr sz="3900" b="1">
                <a:solidFill>
                  <a:srgbClr val="203350"/>
                </a:solidFill>
                <a:latin typeface="DejaVu Sans"/>
              </a:defRPr>
            </a:pPr>
            <a:r>
              <a:t>Tu siguiente paso</a:t>
            </a:r>
          </a:p>
          <a:p>
            <a:pPr algn="l">
              <a:lnSpc>
                <a:spcPct val="101000"/>
              </a:lnSpc>
              <a:spcAft>
                <a:spcPts val="300"/>
              </a:spcAft>
              <a:defRPr sz="3900" b="1">
                <a:solidFill>
                  <a:srgbClr val="203350"/>
                </a:solidFill>
                <a:latin typeface="DejaVu Sans"/>
              </a:defRPr>
            </a:pPr>
            <a:r>
              <a:t>tiene nombre y fecha</a:t>
            </a:r>
          </a:p>
        </p:txBody>
      </p:sp>
      <p:sp>
        <p:nvSpPr>
          <p:cNvPr id="12" name="TextBox 11"/>
          <p:cNvSpPr txBox="1"/>
          <p:nvPr/>
        </p:nvSpPr>
        <p:spPr>
          <a:xfrm>
            <a:off x="566928" y="2112264"/>
            <a:ext cx="10972800" cy="365760"/>
          </a:xfrm>
          <a:prstGeom prst="rect">
            <a:avLst/>
          </a:prstGeom>
          <a:noFill/>
        </p:spPr>
        <p:txBody>
          <a:bodyPr wrap="square" lIns="0" rIns="0" tIns="0" bIns="0">
            <a:spAutoFit/>
          </a:bodyPr>
          <a:lstStyle/>
          <a:p>
            <a:pPr algn="l">
              <a:lnSpc>
                <a:spcPct val="101000"/>
              </a:lnSpc>
              <a:spcAft>
                <a:spcPts val="300"/>
              </a:spcAft>
              <a:defRPr sz="1450" b="0">
                <a:solidFill>
                  <a:srgbClr val="5C6E83"/>
                </a:solidFill>
                <a:latin typeface="DejaVu Sans"/>
              </a:defRPr>
            </a:pPr>
            <a:r>
              <a:t>Escribe una acción, con quién y para cuándo.</a:t>
            </a:r>
          </a:p>
        </p:txBody>
      </p:sp>
      <p:sp>
        <p:nvSpPr>
          <p:cNvPr id="13" name="TextBox 12"/>
          <p:cNvSpPr txBox="1"/>
          <p:nvPr/>
        </p:nvSpPr>
        <p:spPr>
          <a:xfrm>
            <a:off x="548640" y="6446520"/>
            <a:ext cx="9966960" cy="210312"/>
          </a:xfrm>
          <a:prstGeom prst="rect">
            <a:avLst/>
          </a:prstGeom>
          <a:noFill/>
        </p:spPr>
        <p:txBody>
          <a:bodyPr wrap="square" lIns="0" rIns="0" tIns="0" bIns="0">
            <a:spAutoFit/>
          </a:bodyPr>
          <a:lstStyle/>
          <a:p>
            <a:pPr algn="l">
              <a:lnSpc>
                <a:spcPct val="101000"/>
              </a:lnSpc>
              <a:spcAft>
                <a:spcPts val="300"/>
              </a:spcAft>
              <a:defRPr sz="810" b="0">
                <a:solidFill>
                  <a:srgbClr val="5C6E83"/>
                </a:solidFill>
                <a:latin typeface="DejaVu Sans"/>
              </a:defRPr>
            </a:pPr>
            <a:r>
              <a:t>Cierre de la actividad de proyecto · compromiso personal de aprendizaje</a:t>
            </a:r>
          </a:p>
        </p:txBody>
      </p:sp>
      <p:sp>
        <p:nvSpPr>
          <p:cNvPr id="14" name="Rounded Rectangle 13">
            <a:hlinkClick action="ppaction://hlinksldjump" r:id="rId6"/>
          </p:cNvPr>
          <p:cNvSpPr/>
          <p:nvPr/>
        </p:nvSpPr>
        <p:spPr>
          <a:xfrm>
            <a:off x="10469880" y="6400800"/>
            <a:ext cx="594360" cy="265176"/>
          </a:xfrm>
          <a:prstGeom prst="roundRect">
            <a:avLst>
              <a:gd name="adj" fmla="val 12000"/>
            </a:avLst>
          </a:prstGeom>
          <a:solidFill>
            <a:srgbClr val="F0E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a:hlinkClick action="ppaction://hlinksldjump" r:id="rId6"/>
          </p:cNvPr>
          <p:cNvSpPr txBox="1"/>
          <p:nvPr/>
        </p:nvSpPr>
        <p:spPr>
          <a:xfrm>
            <a:off x="10579607" y="6483096"/>
            <a:ext cx="374904" cy="173735"/>
          </a:xfrm>
          <a:prstGeom prst="rect">
            <a:avLst/>
          </a:prstGeom>
          <a:noFill/>
        </p:spPr>
        <p:txBody>
          <a:bodyPr wrap="square" lIns="0" rIns="0" tIns="0" bIns="0">
            <a:spAutoFit/>
          </a:bodyPr>
          <a:lstStyle/>
          <a:p>
            <a:pPr algn="l">
              <a:lnSpc>
                <a:spcPct val="101000"/>
              </a:lnSpc>
              <a:spcAft>
                <a:spcPts val="300"/>
              </a:spcAft>
              <a:defRPr sz="800" b="1">
                <a:solidFill>
                  <a:srgbClr val="8060BA"/>
                </a:solidFill>
                <a:latin typeface="DejaVu Sans"/>
              </a:defRPr>
            </a:pPr>
            <a:r>
              <a:t>Ruta</a:t>
            </a:r>
          </a:p>
        </p:txBody>
      </p:sp>
      <p:sp>
        <p:nvSpPr>
          <p:cNvPr id="16" name="TextBox 15"/>
          <p:cNvSpPr txBox="1"/>
          <p:nvPr/>
        </p:nvSpPr>
        <p:spPr>
          <a:xfrm>
            <a:off x="11228832" y="6400800"/>
            <a:ext cx="457200" cy="274320"/>
          </a:xfrm>
          <a:prstGeom prst="rect">
            <a:avLst/>
          </a:prstGeom>
          <a:noFill/>
        </p:spPr>
        <p:txBody>
          <a:bodyPr wrap="square" lIns="0" rIns="0" tIns="0" bIns="0">
            <a:spAutoFit/>
          </a:bodyPr>
          <a:lstStyle/>
          <a:p>
            <a:pPr algn="r">
              <a:lnSpc>
                <a:spcPct val="101000"/>
              </a:lnSpc>
              <a:spcAft>
                <a:spcPts val="300"/>
              </a:spcAft>
              <a:defRPr sz="1300" b="1">
                <a:solidFill>
                  <a:srgbClr val="203350"/>
                </a:solidFill>
                <a:latin typeface="DejaVu Sans"/>
              </a:defRPr>
            </a:pPr>
            <a:r>
              <a:t>25</a:t>
            </a:r>
          </a:p>
        </p:txBody>
      </p:sp>
      <p:sp>
        <p:nvSpPr>
          <p:cNvPr id="17" name="Rectangle 16"/>
          <p:cNvSpPr/>
          <p:nvPr/>
        </p:nvSpPr>
        <p:spPr>
          <a:xfrm>
            <a:off x="0" y="6821424"/>
            <a:ext cx="11723047" cy="36576"/>
          </a:xfrm>
          <a:prstGeom prst="rect">
            <a:avLst/>
          </a:prstGeom>
          <a:solidFill>
            <a:srgbClr val="A348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next.png"/>
          <p:cNvPicPr>
            <a:picLocks noChangeAspect="1"/>
          </p:cNvPicPr>
          <p:nvPr/>
        </p:nvPicPr>
        <p:blipFill>
          <a:blip r:embed="rId8"/>
          <a:stretch>
            <a:fillRect/>
          </a:stretch>
        </p:blipFill>
        <p:spPr>
          <a:xfrm>
            <a:off x="548640" y="2606040"/>
            <a:ext cx="11109960" cy="2926080"/>
          </a:xfrm>
          <a:prstGeom prst="rect">
            <a:avLst/>
          </a:prstGeom>
        </p:spPr>
      </p:pic>
      <p:sp>
        <p:nvSpPr>
          <p:cNvPr id="19" name="Rounded Rectangle 18"/>
          <p:cNvSpPr/>
          <p:nvPr/>
        </p:nvSpPr>
        <p:spPr>
          <a:xfrm>
            <a:off x="731520" y="5641848"/>
            <a:ext cx="3337560" cy="448056"/>
          </a:xfrm>
          <a:prstGeom prst="roundRect">
            <a:avLst>
              <a:gd name="adj" fmla="val 12000"/>
            </a:avLst>
          </a:prstGeom>
          <a:solidFill>
            <a:srgbClr val="FFFFFF"/>
          </a:solidFill>
          <a:ln w="16510">
            <a:solidFill>
              <a:srgbClr val="BDC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5751576"/>
            <a:ext cx="3017520" cy="256032"/>
          </a:xfrm>
          <a:prstGeom prst="rect">
            <a:avLst/>
          </a:prstGeom>
          <a:noFill/>
        </p:spPr>
        <p:txBody>
          <a:bodyPr wrap="square" lIns="0" rIns="0" tIns="0" bIns="0">
            <a:spAutoFit/>
          </a:bodyPr>
          <a:lstStyle/>
          <a:p>
            <a:pPr algn="l">
              <a:lnSpc>
                <a:spcPct val="101000"/>
              </a:lnSpc>
              <a:spcAft>
                <a:spcPts val="300"/>
              </a:spcAft>
              <a:defRPr sz="1600" b="0">
                <a:solidFill>
                  <a:srgbClr val="5C6E83"/>
                </a:solidFill>
                <a:latin typeface="DejaVu Sans"/>
              </a:defRPr>
            </a:pPr>
            <a:r>
              <a:t>Voy a…</a:t>
            </a:r>
          </a:p>
        </p:txBody>
      </p:sp>
      <p:sp>
        <p:nvSpPr>
          <p:cNvPr id="21" name="Rounded Rectangle 20"/>
          <p:cNvSpPr/>
          <p:nvPr/>
        </p:nvSpPr>
        <p:spPr>
          <a:xfrm>
            <a:off x="4526280" y="5641848"/>
            <a:ext cx="3337560" cy="448056"/>
          </a:xfrm>
          <a:prstGeom prst="roundRect">
            <a:avLst>
              <a:gd name="adj" fmla="val 12000"/>
            </a:avLst>
          </a:prstGeom>
          <a:solidFill>
            <a:srgbClr val="FFFFFF"/>
          </a:solidFill>
          <a:ln w="16510">
            <a:solidFill>
              <a:srgbClr val="BDC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690872" y="5751576"/>
            <a:ext cx="3017520" cy="256032"/>
          </a:xfrm>
          <a:prstGeom prst="rect">
            <a:avLst/>
          </a:prstGeom>
          <a:noFill/>
        </p:spPr>
        <p:txBody>
          <a:bodyPr wrap="square" lIns="0" rIns="0" tIns="0" bIns="0">
            <a:spAutoFit/>
          </a:bodyPr>
          <a:lstStyle/>
          <a:p>
            <a:pPr algn="l">
              <a:lnSpc>
                <a:spcPct val="101000"/>
              </a:lnSpc>
              <a:spcAft>
                <a:spcPts val="300"/>
              </a:spcAft>
              <a:defRPr sz="1600" b="0">
                <a:solidFill>
                  <a:srgbClr val="5C6E83"/>
                </a:solidFill>
                <a:latin typeface="DejaVu Sans"/>
              </a:defRPr>
            </a:pPr>
            <a:r>
              <a:t>Hablaré con…</a:t>
            </a:r>
          </a:p>
        </p:txBody>
      </p:sp>
      <p:sp>
        <p:nvSpPr>
          <p:cNvPr id="23" name="Rounded Rectangle 22"/>
          <p:cNvSpPr/>
          <p:nvPr/>
        </p:nvSpPr>
        <p:spPr>
          <a:xfrm>
            <a:off x="8321040" y="5641848"/>
            <a:ext cx="3337560" cy="448056"/>
          </a:xfrm>
          <a:prstGeom prst="roundRect">
            <a:avLst>
              <a:gd name="adj" fmla="val 12000"/>
            </a:avLst>
          </a:prstGeom>
          <a:solidFill>
            <a:srgbClr val="FFFFFF"/>
          </a:solidFill>
          <a:ln w="16510">
            <a:solidFill>
              <a:srgbClr val="BDC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485632" y="5751576"/>
            <a:ext cx="3017520" cy="256032"/>
          </a:xfrm>
          <a:prstGeom prst="rect">
            <a:avLst/>
          </a:prstGeom>
          <a:noFill/>
        </p:spPr>
        <p:txBody>
          <a:bodyPr wrap="square" lIns="0" rIns="0" tIns="0" bIns="0">
            <a:spAutoFit/>
          </a:bodyPr>
          <a:lstStyle/>
          <a:p>
            <a:pPr algn="l">
              <a:lnSpc>
                <a:spcPct val="101000"/>
              </a:lnSpc>
              <a:spcAft>
                <a:spcPts val="300"/>
              </a:spcAft>
              <a:defRPr sz="1600" b="0">
                <a:solidFill>
                  <a:srgbClr val="5C6E83"/>
                </a:solidFill>
                <a:latin typeface="DejaVu Sans"/>
              </a:defRPr>
            </a:pPr>
            <a:r>
              <a:t>Antes de…</a:t>
            </a:r>
          </a:p>
        </p:txBody>
      </p:sp>
    </p:spTree>
  </p:cSld>
  <p:clrMapOvr>
    <a:masterClrMapping/>
  </p:clrMapOvr>
  <p:transition advClick="1">
    <p:fade/>
  </p:transition>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7F6ED"/>
        </a:solidFill>
        <a:effectLst/>
      </p:bgPr>
    </p:bg>
    <p:spTree>
      <p:nvGrpSpPr>
        <p:cNvPr id="1" name=""/>
        <p:cNvGrpSpPr/>
        <p:nvPr/>
      </p:nvGrpSpPr>
      <p:grpSpPr/>
      <p:sp>
        <p:nvSpPr>
          <p:cNvPr id="2" name="TextBox 1"/>
          <p:cNvSpPr txBox="1"/>
          <p:nvPr/>
        </p:nvSpPr>
        <p:spPr>
          <a:xfrm>
            <a:off x="548640" y="365760"/>
            <a:ext cx="7543800" cy="274320"/>
          </a:xfrm>
          <a:prstGeom prst="rect">
            <a:avLst/>
          </a:prstGeom>
          <a:noFill/>
        </p:spPr>
        <p:txBody>
          <a:bodyPr wrap="square" lIns="0" rIns="0" tIns="0" bIns="0">
            <a:spAutoFit/>
          </a:bodyPr>
          <a:lstStyle/>
          <a:p>
            <a:pPr algn="l">
              <a:lnSpc>
                <a:spcPct val="101000"/>
              </a:lnSpc>
              <a:spcAft>
                <a:spcPts val="300"/>
              </a:spcAft>
              <a:defRPr sz="930" b="1">
                <a:solidFill>
                  <a:srgbClr val="A34872"/>
                </a:solidFill>
                <a:latin typeface="DejaVu Sans"/>
              </a:defRPr>
            </a:pPr>
            <a:r>
              <a:t>BIOLOGÍA CON SENTIDO Y CON OTROS</a:t>
            </a:r>
          </a:p>
        </p:txBody>
      </p:sp>
      <p:sp>
        <p:nvSpPr>
          <p:cNvPr id="3" name="Rounded Rectangle 2">
            <a:hlinkClick action="ppaction://hlinksldjump" r:id="rId2"/>
          </p:cNvPr>
          <p:cNvSpPr/>
          <p:nvPr/>
        </p:nvSpPr>
        <p:spPr>
          <a:xfrm>
            <a:off x="8229600" y="310896"/>
            <a:ext cx="795528" cy="310896"/>
          </a:xfrm>
          <a:prstGeom prst="roundRect">
            <a:avLst>
              <a:gd name="adj" fmla="val 12000"/>
            </a:avLst>
          </a:prstGeom>
          <a:solidFill>
            <a:srgbClr val="E2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a:hlinkClick action="ppaction://hlinksldjump" r:id="rId2"/>
          </p:cNvPr>
          <p:cNvSpPr txBox="1"/>
          <p:nvPr/>
        </p:nvSpPr>
        <p:spPr>
          <a:xfrm>
            <a:off x="8339327"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Explorar</a:t>
            </a:r>
          </a:p>
        </p:txBody>
      </p:sp>
      <p:sp>
        <p:nvSpPr>
          <p:cNvPr id="5" name="Rounded Rectangle 4">
            <a:hlinkClick action="ppaction://hlinksldjump" r:id="rId3"/>
          </p:cNvPr>
          <p:cNvSpPr/>
          <p:nvPr/>
        </p:nvSpPr>
        <p:spPr>
          <a:xfrm>
            <a:off x="9089136" y="310896"/>
            <a:ext cx="795528" cy="310896"/>
          </a:xfrm>
          <a:prstGeom prst="roundRect">
            <a:avLst>
              <a:gd name="adj" fmla="val 12000"/>
            </a:avLst>
          </a:prstGeom>
          <a:solidFill>
            <a:srgbClr val="F0E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a:hlinkClick action="ppaction://hlinksldjump" r:id="rId3"/>
          </p:cNvPr>
          <p:cNvSpPr txBox="1"/>
          <p:nvPr/>
        </p:nvSpPr>
        <p:spPr>
          <a:xfrm>
            <a:off x="9198863"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Diseñar</a:t>
            </a:r>
          </a:p>
        </p:txBody>
      </p:sp>
      <p:sp>
        <p:nvSpPr>
          <p:cNvPr id="7" name="Rounded Rectangle 6">
            <a:hlinkClick action="ppaction://hlinksldjump" r:id="rId4"/>
          </p:cNvPr>
          <p:cNvSpPr/>
          <p:nvPr/>
        </p:nvSpPr>
        <p:spPr>
          <a:xfrm>
            <a:off x="9948672" y="310896"/>
            <a:ext cx="795528" cy="310896"/>
          </a:xfrm>
          <a:prstGeom prst="roundRect">
            <a:avLst>
              <a:gd name="adj" fmla="val 12000"/>
            </a:avLst>
          </a:prstGeom>
          <a:solidFill>
            <a:srgbClr val="FFF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a:hlinkClick action="ppaction://hlinksldjump" r:id="rId4"/>
          </p:cNvPr>
          <p:cNvSpPr txBox="1"/>
          <p:nvPr/>
        </p:nvSpPr>
        <p:spPr>
          <a:xfrm>
            <a:off x="10058399"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Servir</a:t>
            </a:r>
          </a:p>
        </p:txBody>
      </p:sp>
      <p:sp>
        <p:nvSpPr>
          <p:cNvPr id="9" name="Rounded Rectangle 8">
            <a:hlinkClick action="ppaction://hlinksldjump" r:id="rId5"/>
          </p:cNvPr>
          <p:cNvSpPr/>
          <p:nvPr/>
        </p:nvSpPr>
        <p:spPr>
          <a:xfrm>
            <a:off x="10808208" y="310896"/>
            <a:ext cx="795528" cy="310896"/>
          </a:xfrm>
          <a:prstGeom prst="roundRect">
            <a:avLst>
              <a:gd name="adj" fmla="val 12000"/>
            </a:avLst>
          </a:prstGeom>
          <a:solidFill>
            <a:srgbClr val="E9F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a:hlinkClick action="ppaction://hlinksldjump" r:id="rId5"/>
          </p:cNvPr>
          <p:cNvSpPr txBox="1"/>
          <p:nvPr/>
        </p:nvSpPr>
        <p:spPr>
          <a:xfrm>
            <a:off x="10917936"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Empezar</a:t>
            </a:r>
          </a:p>
        </p:txBody>
      </p:sp>
      <p:sp>
        <p:nvSpPr>
          <p:cNvPr id="11" name="TextBox 10"/>
          <p:cNvSpPr txBox="1"/>
          <p:nvPr/>
        </p:nvSpPr>
        <p:spPr>
          <a:xfrm>
            <a:off x="548640" y="877824"/>
            <a:ext cx="11064240" cy="1234440"/>
          </a:xfrm>
          <a:prstGeom prst="rect">
            <a:avLst/>
          </a:prstGeom>
          <a:noFill/>
        </p:spPr>
        <p:txBody>
          <a:bodyPr wrap="square" lIns="0" rIns="0" tIns="0" bIns="0">
            <a:spAutoFit/>
          </a:bodyPr>
          <a:lstStyle/>
          <a:p>
            <a:pPr algn="l">
              <a:lnSpc>
                <a:spcPct val="101000"/>
              </a:lnSpc>
              <a:spcAft>
                <a:spcPts val="300"/>
              </a:spcAft>
              <a:defRPr sz="3900" b="1">
                <a:solidFill>
                  <a:srgbClr val="203350"/>
                </a:solidFill>
                <a:latin typeface="DejaVu Sans"/>
              </a:defRPr>
            </a:pPr>
            <a:r>
              <a:t>Tu curiosidad cobra fuerza</a:t>
            </a:r>
          </a:p>
          <a:p>
            <a:pPr algn="l">
              <a:lnSpc>
                <a:spcPct val="101000"/>
              </a:lnSpc>
              <a:spcAft>
                <a:spcPts val="300"/>
              </a:spcAft>
              <a:defRPr sz="3900" b="1">
                <a:solidFill>
                  <a:srgbClr val="203350"/>
                </a:solidFill>
                <a:latin typeface="DejaVu Sans"/>
              </a:defRPr>
            </a:pPr>
            <a:r>
              <a:t>cuando la pones al servicio</a:t>
            </a:r>
          </a:p>
        </p:txBody>
      </p:sp>
      <p:sp>
        <p:nvSpPr>
          <p:cNvPr id="12" name="TextBox 11"/>
          <p:cNvSpPr txBox="1"/>
          <p:nvPr/>
        </p:nvSpPr>
        <p:spPr>
          <a:xfrm>
            <a:off x="566928" y="2112264"/>
            <a:ext cx="10972800" cy="365760"/>
          </a:xfrm>
          <a:prstGeom prst="rect">
            <a:avLst/>
          </a:prstGeom>
          <a:noFill/>
        </p:spPr>
        <p:txBody>
          <a:bodyPr wrap="square" lIns="0" rIns="0" tIns="0" bIns="0">
            <a:spAutoFit/>
          </a:bodyPr>
          <a:lstStyle/>
          <a:p>
            <a:pPr algn="l">
              <a:lnSpc>
                <a:spcPct val="101000"/>
              </a:lnSpc>
              <a:spcAft>
                <a:spcPts val="300"/>
              </a:spcAft>
              <a:defRPr sz="1450" b="0">
                <a:solidFill>
                  <a:srgbClr val="5C6E83"/>
                </a:solidFill>
                <a:latin typeface="DejaVu Sans"/>
              </a:defRPr>
            </a:pPr>
            <a:r>
              <a:t>Pregunta. Busca equipo. Prueba. Comparte lo aprendido.</a:t>
            </a:r>
          </a:p>
        </p:txBody>
      </p:sp>
      <p:sp>
        <p:nvSpPr>
          <p:cNvPr id="13" name="TextBox 12"/>
          <p:cNvSpPr txBox="1"/>
          <p:nvPr/>
        </p:nvSpPr>
        <p:spPr>
          <a:xfrm>
            <a:off x="548640" y="6446520"/>
            <a:ext cx="9966960" cy="210312"/>
          </a:xfrm>
          <a:prstGeom prst="rect">
            <a:avLst/>
          </a:prstGeom>
          <a:noFill/>
        </p:spPr>
        <p:txBody>
          <a:bodyPr wrap="square" lIns="0" rIns="0" tIns="0" bIns="0">
            <a:spAutoFit/>
          </a:bodyPr>
          <a:lstStyle/>
          <a:p>
            <a:pPr algn="l">
              <a:lnSpc>
                <a:spcPct val="101000"/>
              </a:lnSpc>
              <a:spcAft>
                <a:spcPts val="300"/>
              </a:spcAft>
              <a:defRPr sz="810" b="0">
                <a:solidFill>
                  <a:srgbClr val="5C6E83"/>
                </a:solidFill>
                <a:latin typeface="DejaVu Sans"/>
              </a:defRPr>
            </a:pPr>
            <a:r>
              <a:t>Síntesis de la clase · Emilia Espín Loza</a:t>
            </a:r>
          </a:p>
        </p:txBody>
      </p:sp>
      <p:sp>
        <p:nvSpPr>
          <p:cNvPr id="14" name="Rounded Rectangle 13">
            <a:hlinkClick action="ppaction://hlinksldjump" r:id="rId6"/>
          </p:cNvPr>
          <p:cNvSpPr/>
          <p:nvPr/>
        </p:nvSpPr>
        <p:spPr>
          <a:xfrm>
            <a:off x="10469880" y="6400800"/>
            <a:ext cx="594360" cy="265176"/>
          </a:xfrm>
          <a:prstGeom prst="roundRect">
            <a:avLst>
              <a:gd name="adj" fmla="val 12000"/>
            </a:avLst>
          </a:prstGeom>
          <a:solidFill>
            <a:srgbClr val="F0E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a:hlinkClick action="ppaction://hlinksldjump" r:id="rId6"/>
          </p:cNvPr>
          <p:cNvSpPr txBox="1"/>
          <p:nvPr/>
        </p:nvSpPr>
        <p:spPr>
          <a:xfrm>
            <a:off x="10579607" y="6483096"/>
            <a:ext cx="374904" cy="173735"/>
          </a:xfrm>
          <a:prstGeom prst="rect">
            <a:avLst/>
          </a:prstGeom>
          <a:noFill/>
        </p:spPr>
        <p:txBody>
          <a:bodyPr wrap="square" lIns="0" rIns="0" tIns="0" bIns="0">
            <a:spAutoFit/>
          </a:bodyPr>
          <a:lstStyle/>
          <a:p>
            <a:pPr algn="l">
              <a:lnSpc>
                <a:spcPct val="101000"/>
              </a:lnSpc>
              <a:spcAft>
                <a:spcPts val="300"/>
              </a:spcAft>
              <a:defRPr sz="800" b="1">
                <a:solidFill>
                  <a:srgbClr val="8060BA"/>
                </a:solidFill>
                <a:latin typeface="DejaVu Sans"/>
              </a:defRPr>
            </a:pPr>
            <a:r>
              <a:t>Ruta</a:t>
            </a:r>
          </a:p>
        </p:txBody>
      </p:sp>
      <p:sp>
        <p:nvSpPr>
          <p:cNvPr id="16" name="TextBox 15"/>
          <p:cNvSpPr txBox="1"/>
          <p:nvPr/>
        </p:nvSpPr>
        <p:spPr>
          <a:xfrm>
            <a:off x="11228832" y="6400800"/>
            <a:ext cx="457200" cy="274320"/>
          </a:xfrm>
          <a:prstGeom prst="rect">
            <a:avLst/>
          </a:prstGeom>
          <a:noFill/>
        </p:spPr>
        <p:txBody>
          <a:bodyPr wrap="square" lIns="0" rIns="0" tIns="0" bIns="0">
            <a:spAutoFit/>
          </a:bodyPr>
          <a:lstStyle/>
          <a:p>
            <a:pPr algn="r">
              <a:lnSpc>
                <a:spcPct val="101000"/>
              </a:lnSpc>
              <a:spcAft>
                <a:spcPts val="300"/>
              </a:spcAft>
              <a:defRPr sz="1300" b="1">
                <a:solidFill>
                  <a:srgbClr val="203350"/>
                </a:solidFill>
                <a:latin typeface="DejaVu Sans"/>
              </a:defRPr>
            </a:pPr>
            <a:r>
              <a:t>26</a:t>
            </a:r>
          </a:p>
        </p:txBody>
      </p:sp>
      <p:sp>
        <p:nvSpPr>
          <p:cNvPr id="17" name="Rectangle 16"/>
          <p:cNvSpPr/>
          <p:nvPr/>
        </p:nvSpPr>
        <p:spPr>
          <a:xfrm>
            <a:off x="0" y="6821424"/>
            <a:ext cx="12191969" cy="36576"/>
          </a:xfrm>
          <a:prstGeom prst="rect">
            <a:avLst/>
          </a:prstGeom>
          <a:solidFill>
            <a:srgbClr val="A348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hero.png"/>
          <p:cNvPicPr>
            <a:picLocks noChangeAspect="1"/>
          </p:cNvPicPr>
          <p:nvPr/>
        </p:nvPicPr>
        <p:blipFill>
          <a:blip r:embed="rId8"/>
          <a:stretch>
            <a:fillRect/>
          </a:stretch>
        </p:blipFill>
        <p:spPr>
          <a:xfrm>
            <a:off x="548640" y="2606040"/>
            <a:ext cx="11109960" cy="3017520"/>
          </a:xfrm>
          <a:prstGeom prst="rect">
            <a:avLst/>
          </a:prstGeom>
        </p:spPr>
      </p:pic>
      <p:sp>
        <p:nvSpPr>
          <p:cNvPr id="19" name="TextBox 18"/>
          <p:cNvSpPr txBox="1"/>
          <p:nvPr/>
        </p:nvSpPr>
        <p:spPr>
          <a:xfrm>
            <a:off x="786384" y="5797296"/>
            <a:ext cx="10744200" cy="438912"/>
          </a:xfrm>
          <a:prstGeom prst="rect">
            <a:avLst/>
          </a:prstGeom>
          <a:noFill/>
        </p:spPr>
        <p:txBody>
          <a:bodyPr wrap="square" lIns="0" rIns="0" tIns="0" bIns="0">
            <a:spAutoFit/>
          </a:bodyPr>
          <a:lstStyle/>
          <a:p>
            <a:pPr algn="ctr">
              <a:lnSpc>
                <a:spcPct val="101000"/>
              </a:lnSpc>
              <a:spcAft>
                <a:spcPts val="300"/>
              </a:spcAft>
              <a:defRPr sz="2100" b="1">
                <a:solidFill>
                  <a:srgbClr val="203350"/>
                </a:solidFill>
                <a:latin typeface="DejaVu Sans"/>
              </a:defRPr>
            </a:pPr>
            <a:r>
              <a:t>¿Qué pequeño paso vas a dar con lo que te interesa?</a:t>
            </a:r>
          </a:p>
        </p:txBody>
      </p:sp>
    </p:spTree>
  </p:cSld>
  <p:clrMapOvr>
    <a:masterClrMapping/>
  </p:clrMapOvr>
  <p:transition advClick="1">
    <p:fade/>
  </p:transition>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9FBFF"/>
        </a:solidFill>
        <a:effectLst/>
      </p:bgPr>
    </p:bg>
    <p:spTree>
      <p:nvGrpSpPr>
        <p:cNvPr id="1" name=""/>
        <p:cNvGrpSpPr/>
        <p:nvPr/>
      </p:nvGrpSpPr>
      <p:grpSpPr/>
      <p:sp>
        <p:nvSpPr>
          <p:cNvPr id="2" name="TextBox 1"/>
          <p:cNvSpPr txBox="1"/>
          <p:nvPr/>
        </p:nvSpPr>
        <p:spPr>
          <a:xfrm>
            <a:off x="548640" y="365760"/>
            <a:ext cx="7543800" cy="274320"/>
          </a:xfrm>
          <a:prstGeom prst="rect">
            <a:avLst/>
          </a:prstGeom>
          <a:noFill/>
        </p:spPr>
        <p:txBody>
          <a:bodyPr wrap="square" lIns="0" rIns="0" tIns="0" bIns="0">
            <a:spAutoFit/>
          </a:bodyPr>
          <a:lstStyle/>
          <a:p>
            <a:pPr algn="l">
              <a:lnSpc>
                <a:spcPct val="101000"/>
              </a:lnSpc>
              <a:spcAft>
                <a:spcPts val="300"/>
              </a:spcAft>
              <a:defRPr sz="930" b="1">
                <a:solidFill>
                  <a:srgbClr val="8060BA"/>
                </a:solidFill>
                <a:latin typeface="DejaVu Sans"/>
              </a:defRPr>
            </a:pPr>
            <a:r>
              <a:t>ANEXO · NAVEGACIÓN</a:t>
            </a:r>
          </a:p>
        </p:txBody>
      </p:sp>
      <p:sp>
        <p:nvSpPr>
          <p:cNvPr id="3" name="Rounded Rectangle 2">
            <a:hlinkClick action="ppaction://hlinksldjump" r:id="rId2"/>
          </p:cNvPr>
          <p:cNvSpPr/>
          <p:nvPr/>
        </p:nvSpPr>
        <p:spPr>
          <a:xfrm>
            <a:off x="8229600" y="310896"/>
            <a:ext cx="795528" cy="310896"/>
          </a:xfrm>
          <a:prstGeom prst="roundRect">
            <a:avLst>
              <a:gd name="adj" fmla="val 12000"/>
            </a:avLst>
          </a:prstGeom>
          <a:solidFill>
            <a:srgbClr val="E2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a:hlinkClick action="ppaction://hlinksldjump" r:id="rId2"/>
          </p:cNvPr>
          <p:cNvSpPr txBox="1"/>
          <p:nvPr/>
        </p:nvSpPr>
        <p:spPr>
          <a:xfrm>
            <a:off x="8339327"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Explorar</a:t>
            </a:r>
          </a:p>
        </p:txBody>
      </p:sp>
      <p:sp>
        <p:nvSpPr>
          <p:cNvPr id="5" name="Rounded Rectangle 4">
            <a:hlinkClick action="ppaction://hlinksldjump" r:id="rId3"/>
          </p:cNvPr>
          <p:cNvSpPr/>
          <p:nvPr/>
        </p:nvSpPr>
        <p:spPr>
          <a:xfrm>
            <a:off x="9089136" y="310896"/>
            <a:ext cx="795528" cy="310896"/>
          </a:xfrm>
          <a:prstGeom prst="roundRect">
            <a:avLst>
              <a:gd name="adj" fmla="val 12000"/>
            </a:avLst>
          </a:prstGeom>
          <a:solidFill>
            <a:srgbClr val="F0E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a:hlinkClick action="ppaction://hlinksldjump" r:id="rId3"/>
          </p:cNvPr>
          <p:cNvSpPr txBox="1"/>
          <p:nvPr/>
        </p:nvSpPr>
        <p:spPr>
          <a:xfrm>
            <a:off x="9198863"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Diseñar</a:t>
            </a:r>
          </a:p>
        </p:txBody>
      </p:sp>
      <p:sp>
        <p:nvSpPr>
          <p:cNvPr id="7" name="Rounded Rectangle 6">
            <a:hlinkClick action="ppaction://hlinksldjump" r:id="rId4"/>
          </p:cNvPr>
          <p:cNvSpPr/>
          <p:nvPr/>
        </p:nvSpPr>
        <p:spPr>
          <a:xfrm>
            <a:off x="9948672" y="310896"/>
            <a:ext cx="795528" cy="310896"/>
          </a:xfrm>
          <a:prstGeom prst="roundRect">
            <a:avLst>
              <a:gd name="adj" fmla="val 12000"/>
            </a:avLst>
          </a:prstGeom>
          <a:solidFill>
            <a:srgbClr val="FFF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a:hlinkClick action="ppaction://hlinksldjump" r:id="rId4"/>
          </p:cNvPr>
          <p:cNvSpPr txBox="1"/>
          <p:nvPr/>
        </p:nvSpPr>
        <p:spPr>
          <a:xfrm>
            <a:off x="10058399"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Servir</a:t>
            </a:r>
          </a:p>
        </p:txBody>
      </p:sp>
      <p:sp>
        <p:nvSpPr>
          <p:cNvPr id="9" name="Rounded Rectangle 8">
            <a:hlinkClick action="ppaction://hlinksldjump" r:id="rId5"/>
          </p:cNvPr>
          <p:cNvSpPr/>
          <p:nvPr/>
        </p:nvSpPr>
        <p:spPr>
          <a:xfrm>
            <a:off x="10808208" y="310896"/>
            <a:ext cx="795528" cy="310896"/>
          </a:xfrm>
          <a:prstGeom prst="roundRect">
            <a:avLst>
              <a:gd name="adj" fmla="val 12000"/>
            </a:avLst>
          </a:prstGeom>
          <a:solidFill>
            <a:srgbClr val="E9F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a:hlinkClick action="ppaction://hlinksldjump" r:id="rId5"/>
          </p:cNvPr>
          <p:cNvSpPr txBox="1"/>
          <p:nvPr/>
        </p:nvSpPr>
        <p:spPr>
          <a:xfrm>
            <a:off x="10917936"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Empezar</a:t>
            </a:r>
          </a:p>
        </p:txBody>
      </p:sp>
      <p:sp>
        <p:nvSpPr>
          <p:cNvPr id="11" name="TextBox 10"/>
          <p:cNvSpPr txBox="1"/>
          <p:nvPr/>
        </p:nvSpPr>
        <p:spPr>
          <a:xfrm>
            <a:off x="548640" y="877824"/>
            <a:ext cx="11064240" cy="1234440"/>
          </a:xfrm>
          <a:prstGeom prst="rect">
            <a:avLst/>
          </a:prstGeom>
          <a:noFill/>
        </p:spPr>
        <p:txBody>
          <a:bodyPr wrap="square" lIns="0" rIns="0" tIns="0" bIns="0">
            <a:spAutoFit/>
          </a:bodyPr>
          <a:lstStyle/>
          <a:p>
            <a:pPr algn="l">
              <a:lnSpc>
                <a:spcPct val="101000"/>
              </a:lnSpc>
              <a:spcAft>
                <a:spcPts val="300"/>
              </a:spcAft>
              <a:defRPr sz="3900" b="1">
                <a:solidFill>
                  <a:srgbClr val="203350"/>
                </a:solidFill>
                <a:latin typeface="DejaVu Sans"/>
              </a:defRPr>
            </a:pPr>
            <a:r>
              <a:t>Elige una parte del recorrido</a:t>
            </a:r>
          </a:p>
        </p:txBody>
      </p:sp>
      <p:sp>
        <p:nvSpPr>
          <p:cNvPr id="12" name="TextBox 11"/>
          <p:cNvSpPr txBox="1"/>
          <p:nvPr/>
        </p:nvSpPr>
        <p:spPr>
          <a:xfrm>
            <a:off x="548640" y="6446520"/>
            <a:ext cx="9966960" cy="210312"/>
          </a:xfrm>
          <a:prstGeom prst="rect">
            <a:avLst/>
          </a:prstGeom>
          <a:noFill/>
        </p:spPr>
        <p:txBody>
          <a:bodyPr wrap="square" lIns="0" rIns="0" tIns="0" bIns="0">
            <a:spAutoFit/>
          </a:bodyPr>
          <a:lstStyle/>
          <a:p>
            <a:pPr algn="l">
              <a:lnSpc>
                <a:spcPct val="101000"/>
              </a:lnSpc>
              <a:spcAft>
                <a:spcPts val="300"/>
              </a:spcAft>
              <a:defRPr sz="810" b="0">
                <a:solidFill>
                  <a:srgbClr val="5C6E83"/>
                </a:solidFill>
                <a:latin typeface="DejaVu Sans"/>
              </a:defRPr>
            </a:pPr>
            <a:r>
              <a:t>26 diapositivas principales · 40 minutos con actividades</a:t>
            </a:r>
          </a:p>
        </p:txBody>
      </p:sp>
      <p:sp>
        <p:nvSpPr>
          <p:cNvPr id="13" name="Rounded Rectangle 12">
            <a:hlinkClick action="ppaction://hlinksldjump" r:id="rId6"/>
          </p:cNvPr>
          <p:cNvSpPr/>
          <p:nvPr/>
        </p:nvSpPr>
        <p:spPr>
          <a:xfrm>
            <a:off x="10469880" y="6400800"/>
            <a:ext cx="594360" cy="265176"/>
          </a:xfrm>
          <a:prstGeom prst="roundRect">
            <a:avLst>
              <a:gd name="adj" fmla="val 12000"/>
            </a:avLst>
          </a:prstGeom>
          <a:solidFill>
            <a:srgbClr val="F0E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a:hlinkClick action="ppaction://hlinksldjump" r:id="rId6"/>
          </p:cNvPr>
          <p:cNvSpPr txBox="1"/>
          <p:nvPr/>
        </p:nvSpPr>
        <p:spPr>
          <a:xfrm>
            <a:off x="10579607" y="6483096"/>
            <a:ext cx="374904" cy="173735"/>
          </a:xfrm>
          <a:prstGeom prst="rect">
            <a:avLst/>
          </a:prstGeom>
          <a:noFill/>
        </p:spPr>
        <p:txBody>
          <a:bodyPr wrap="square" lIns="0" rIns="0" tIns="0" bIns="0">
            <a:spAutoFit/>
          </a:bodyPr>
          <a:lstStyle/>
          <a:p>
            <a:pPr algn="l">
              <a:lnSpc>
                <a:spcPct val="101000"/>
              </a:lnSpc>
              <a:spcAft>
                <a:spcPts val="300"/>
              </a:spcAft>
              <a:defRPr sz="800" b="1">
                <a:solidFill>
                  <a:srgbClr val="8060BA"/>
                </a:solidFill>
                <a:latin typeface="DejaVu Sans"/>
              </a:defRPr>
            </a:pPr>
            <a:r>
              <a:t>Ruta</a:t>
            </a:r>
          </a:p>
        </p:txBody>
      </p:sp>
      <p:sp>
        <p:nvSpPr>
          <p:cNvPr id="15" name="TextBox 14"/>
          <p:cNvSpPr txBox="1"/>
          <p:nvPr/>
        </p:nvSpPr>
        <p:spPr>
          <a:xfrm>
            <a:off x="11228832" y="6400800"/>
            <a:ext cx="457200" cy="274320"/>
          </a:xfrm>
          <a:prstGeom prst="rect">
            <a:avLst/>
          </a:prstGeom>
          <a:noFill/>
        </p:spPr>
        <p:txBody>
          <a:bodyPr wrap="square" lIns="0" rIns="0" tIns="0" bIns="0">
            <a:spAutoFit/>
          </a:bodyPr>
          <a:lstStyle/>
          <a:p>
            <a:pPr algn="r">
              <a:lnSpc>
                <a:spcPct val="101000"/>
              </a:lnSpc>
              <a:spcAft>
                <a:spcPts val="300"/>
              </a:spcAft>
              <a:defRPr sz="1300" b="1">
                <a:solidFill>
                  <a:srgbClr val="203350"/>
                </a:solidFill>
                <a:latin typeface="DejaVu Sans"/>
              </a:defRPr>
            </a:pPr>
            <a:r>
              <a:t>ANX</a:t>
            </a:r>
          </a:p>
        </p:txBody>
      </p:sp>
      <p:sp>
        <p:nvSpPr>
          <p:cNvPr id="16" name="Rectangle 15"/>
          <p:cNvSpPr/>
          <p:nvPr/>
        </p:nvSpPr>
        <p:spPr>
          <a:xfrm>
            <a:off x="0" y="6821424"/>
            <a:ext cx="12191969" cy="36576"/>
          </a:xfrm>
          <a:prstGeom prst="rect">
            <a:avLst/>
          </a:prstGeom>
          <a:solidFill>
            <a:srgbClr val="8060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a:hlinkClick action="ppaction://hlinksldjump" r:id="rId7"/>
          </p:cNvPr>
          <p:cNvSpPr/>
          <p:nvPr/>
        </p:nvSpPr>
        <p:spPr>
          <a:xfrm>
            <a:off x="612648" y="2606040"/>
            <a:ext cx="2697480" cy="356616"/>
          </a:xfrm>
          <a:prstGeom prst="roundRect">
            <a:avLst>
              <a:gd name="adj" fmla="val 12000"/>
            </a:avLst>
          </a:prstGeom>
          <a:solidFill>
            <a:srgbClr val="E0F7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a:hlinkClick action="ppaction://hlinksldjump" r:id="rId7"/>
          </p:cNvPr>
          <p:cNvSpPr txBox="1"/>
          <p:nvPr/>
        </p:nvSpPr>
        <p:spPr>
          <a:xfrm>
            <a:off x="722376" y="2688336"/>
            <a:ext cx="2478024" cy="265176"/>
          </a:xfrm>
          <a:prstGeom prst="rect">
            <a:avLst/>
          </a:prstGeom>
          <a:noFill/>
        </p:spPr>
        <p:txBody>
          <a:bodyPr wrap="square" lIns="0" rIns="0" tIns="0" bIns="0">
            <a:spAutoFit/>
          </a:bodyPr>
          <a:lstStyle/>
          <a:p>
            <a:pPr algn="l">
              <a:lnSpc>
                <a:spcPct val="101000"/>
              </a:lnSpc>
              <a:spcAft>
                <a:spcPts val="300"/>
              </a:spcAft>
              <a:defRPr sz="672" b="1">
                <a:solidFill>
                  <a:srgbClr val="203350"/>
                </a:solidFill>
                <a:latin typeface="DejaVu Sans"/>
              </a:defRPr>
            </a:pPr>
            <a:r>
              <a:t>01  Tu curiosidad puede convertirse en un proyecto</a:t>
            </a:r>
          </a:p>
        </p:txBody>
      </p:sp>
      <p:sp>
        <p:nvSpPr>
          <p:cNvPr id="19" name="Rounded Rectangle 18">
            <a:hlinkClick action="ppaction://hlinksldjump" r:id="rId2"/>
          </p:cNvPr>
          <p:cNvSpPr/>
          <p:nvPr/>
        </p:nvSpPr>
        <p:spPr>
          <a:xfrm>
            <a:off x="3474720" y="2606040"/>
            <a:ext cx="2697480" cy="356616"/>
          </a:xfrm>
          <a:prstGeom prst="roundRect">
            <a:avLst>
              <a:gd name="adj" fmla="val 12000"/>
            </a:avLst>
          </a:prstGeom>
          <a:solidFill>
            <a:srgbClr val="E0F7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a:hlinkClick action="ppaction://hlinksldjump" r:id="rId2"/>
          </p:cNvPr>
          <p:cNvSpPr txBox="1"/>
          <p:nvPr/>
        </p:nvSpPr>
        <p:spPr>
          <a:xfrm>
            <a:off x="3584448" y="2688336"/>
            <a:ext cx="2478024" cy="265176"/>
          </a:xfrm>
          <a:prstGeom prst="rect">
            <a:avLst/>
          </a:prstGeom>
          <a:noFill/>
        </p:spPr>
        <p:txBody>
          <a:bodyPr wrap="square" lIns="0" rIns="0" tIns="0" bIns="0">
            <a:spAutoFit/>
          </a:bodyPr>
          <a:lstStyle/>
          <a:p>
            <a:pPr algn="l">
              <a:lnSpc>
                <a:spcPct val="101000"/>
              </a:lnSpc>
              <a:spcAft>
                <a:spcPts val="300"/>
              </a:spcAft>
              <a:defRPr sz="810" b="1">
                <a:solidFill>
                  <a:srgbClr val="203350"/>
                </a:solidFill>
                <a:latin typeface="DejaVu Sans"/>
              </a:defRPr>
            </a:pPr>
            <a:r>
              <a:t>02  ¿Qué te gustaría entender o mejorar?</a:t>
            </a:r>
          </a:p>
        </p:txBody>
      </p:sp>
      <p:sp>
        <p:nvSpPr>
          <p:cNvPr id="21" name="Rounded Rectangle 20">
            <a:hlinkClick action="ppaction://hlinksldjump" r:id="rId8"/>
          </p:cNvPr>
          <p:cNvSpPr/>
          <p:nvPr/>
        </p:nvSpPr>
        <p:spPr>
          <a:xfrm>
            <a:off x="6336792" y="2606040"/>
            <a:ext cx="2697480" cy="356616"/>
          </a:xfrm>
          <a:prstGeom prst="roundRect">
            <a:avLst>
              <a:gd name="adj" fmla="val 12000"/>
            </a:avLst>
          </a:prstGeom>
          <a:solidFill>
            <a:srgbClr val="E0F7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a:hlinkClick action="ppaction://hlinksldjump" r:id="rId8"/>
          </p:cNvPr>
          <p:cNvSpPr txBox="1"/>
          <p:nvPr/>
        </p:nvSpPr>
        <p:spPr>
          <a:xfrm>
            <a:off x="6446520" y="2688336"/>
            <a:ext cx="2478024" cy="265176"/>
          </a:xfrm>
          <a:prstGeom prst="rect">
            <a:avLst/>
          </a:prstGeom>
          <a:noFill/>
        </p:spPr>
        <p:txBody>
          <a:bodyPr wrap="square" lIns="0" rIns="0" tIns="0" bIns="0">
            <a:spAutoFit/>
          </a:bodyPr>
          <a:lstStyle/>
          <a:p>
            <a:pPr algn="l">
              <a:lnSpc>
                <a:spcPct val="101000"/>
              </a:lnSpc>
              <a:spcAft>
                <a:spcPts val="300"/>
              </a:spcAft>
              <a:defRPr sz="668" b="1">
                <a:solidFill>
                  <a:srgbClr val="203350"/>
                </a:solidFill>
                <a:latin typeface="DejaVu Sans"/>
              </a:defRPr>
            </a:pPr>
            <a:r>
              <a:t>03  Una idea que puedas empezar a poner a prueba</a:t>
            </a:r>
          </a:p>
        </p:txBody>
      </p:sp>
      <p:sp>
        <p:nvSpPr>
          <p:cNvPr id="23" name="Rounded Rectangle 22">
            <a:hlinkClick action="ppaction://hlinksldjump" r:id="rId9"/>
          </p:cNvPr>
          <p:cNvSpPr/>
          <p:nvPr/>
        </p:nvSpPr>
        <p:spPr>
          <a:xfrm>
            <a:off x="9198864" y="2606040"/>
            <a:ext cx="2697480" cy="356616"/>
          </a:xfrm>
          <a:prstGeom prst="roundRect">
            <a:avLst>
              <a:gd name="adj" fmla="val 12000"/>
            </a:avLst>
          </a:prstGeom>
          <a:solidFill>
            <a:srgbClr val="E0F7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a:hlinkClick action="ppaction://hlinksldjump" r:id="rId9"/>
          </p:cNvPr>
          <p:cNvSpPr txBox="1"/>
          <p:nvPr/>
        </p:nvSpPr>
        <p:spPr>
          <a:xfrm>
            <a:off x="9308592" y="2688336"/>
            <a:ext cx="2478024" cy="265176"/>
          </a:xfrm>
          <a:prstGeom prst="rect">
            <a:avLst/>
          </a:prstGeom>
          <a:noFill/>
        </p:spPr>
        <p:txBody>
          <a:bodyPr wrap="square" lIns="0" rIns="0" tIns="0" bIns="0">
            <a:spAutoFit/>
          </a:bodyPr>
          <a:lstStyle/>
          <a:p>
            <a:pPr algn="l">
              <a:lnSpc>
                <a:spcPct val="101000"/>
              </a:lnSpc>
              <a:spcAft>
                <a:spcPts val="300"/>
              </a:spcAft>
              <a:defRPr sz="654" b="1">
                <a:solidFill>
                  <a:srgbClr val="203350"/>
                </a:solidFill>
                <a:latin typeface="DejaVu Sans"/>
              </a:defRPr>
            </a:pPr>
            <a:r>
              <a:t>04  La universidad también se recorre por preguntas</a:t>
            </a:r>
          </a:p>
        </p:txBody>
      </p:sp>
      <p:sp>
        <p:nvSpPr>
          <p:cNvPr id="25" name="Rounded Rectangle 24">
            <a:hlinkClick action="ppaction://hlinksldjump" r:id="rId10"/>
          </p:cNvPr>
          <p:cNvSpPr/>
          <p:nvPr/>
        </p:nvSpPr>
        <p:spPr>
          <a:xfrm>
            <a:off x="612648" y="3054096"/>
            <a:ext cx="2697480" cy="356616"/>
          </a:xfrm>
          <a:prstGeom prst="roundRect">
            <a:avLst>
              <a:gd name="adj" fmla="val 12000"/>
            </a:avLst>
          </a:prstGeom>
          <a:solidFill>
            <a:srgbClr val="E0F7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a:hlinkClick action="ppaction://hlinksldjump" r:id="rId10"/>
          </p:cNvPr>
          <p:cNvSpPr txBox="1"/>
          <p:nvPr/>
        </p:nvSpPr>
        <p:spPr>
          <a:xfrm>
            <a:off x="722376" y="3136391"/>
            <a:ext cx="2478024" cy="265176"/>
          </a:xfrm>
          <a:prstGeom prst="rect">
            <a:avLst/>
          </a:prstGeom>
          <a:noFill/>
        </p:spPr>
        <p:txBody>
          <a:bodyPr wrap="square" lIns="0" rIns="0" tIns="0" bIns="0">
            <a:spAutoFit/>
          </a:bodyPr>
          <a:lstStyle/>
          <a:p>
            <a:pPr algn="l">
              <a:lnSpc>
                <a:spcPct val="101000"/>
              </a:lnSpc>
              <a:spcAft>
                <a:spcPts val="300"/>
              </a:spcAft>
              <a:defRPr sz="507" b="1">
                <a:solidFill>
                  <a:srgbClr val="203350"/>
                </a:solidFill>
                <a:latin typeface="DejaVu Sans"/>
              </a:defRPr>
            </a:pPr>
            <a:r>
              <a:t>05  Tu interés encuentra fuerza cuando conversa con una necesidad</a:t>
            </a:r>
          </a:p>
        </p:txBody>
      </p:sp>
      <p:sp>
        <p:nvSpPr>
          <p:cNvPr id="27" name="Rounded Rectangle 26">
            <a:hlinkClick action="ppaction://hlinksldjump" r:id="rId11"/>
          </p:cNvPr>
          <p:cNvSpPr/>
          <p:nvPr/>
        </p:nvSpPr>
        <p:spPr>
          <a:xfrm>
            <a:off x="3474720" y="3054096"/>
            <a:ext cx="2697480" cy="356616"/>
          </a:xfrm>
          <a:prstGeom prst="roundRect">
            <a:avLst>
              <a:gd name="adj" fmla="val 12000"/>
            </a:avLst>
          </a:prstGeom>
          <a:solidFill>
            <a:srgbClr val="E0F7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a:hlinkClick action="ppaction://hlinksldjump" r:id="rId11"/>
          </p:cNvPr>
          <p:cNvSpPr txBox="1"/>
          <p:nvPr/>
        </p:nvSpPr>
        <p:spPr>
          <a:xfrm>
            <a:off x="3584448" y="3136391"/>
            <a:ext cx="2478024" cy="265176"/>
          </a:xfrm>
          <a:prstGeom prst="rect">
            <a:avLst/>
          </a:prstGeom>
          <a:noFill/>
        </p:spPr>
        <p:txBody>
          <a:bodyPr wrap="square" lIns="0" rIns="0" tIns="0" bIns="0">
            <a:spAutoFit/>
          </a:bodyPr>
          <a:lstStyle/>
          <a:p>
            <a:pPr algn="l">
              <a:lnSpc>
                <a:spcPct val="101000"/>
              </a:lnSpc>
              <a:spcAft>
                <a:spcPts val="300"/>
              </a:spcAft>
              <a:defRPr sz="613" b="1">
                <a:solidFill>
                  <a:srgbClr val="203350"/>
                </a:solidFill>
                <a:latin typeface="DejaVu Sans"/>
              </a:defRPr>
            </a:pPr>
            <a:r>
              <a:t>06  La confianza se construye con pasos que puedes dar</a:t>
            </a:r>
          </a:p>
        </p:txBody>
      </p:sp>
      <p:sp>
        <p:nvSpPr>
          <p:cNvPr id="29" name="Rounded Rectangle 28">
            <a:hlinkClick action="ppaction://hlinksldjump" r:id="rId12"/>
          </p:cNvPr>
          <p:cNvSpPr/>
          <p:nvPr/>
        </p:nvSpPr>
        <p:spPr>
          <a:xfrm>
            <a:off x="6336792" y="3054096"/>
            <a:ext cx="2697480" cy="356616"/>
          </a:xfrm>
          <a:prstGeom prst="roundRect">
            <a:avLst>
              <a:gd name="adj" fmla="val 12000"/>
            </a:avLst>
          </a:prstGeom>
          <a:solidFill>
            <a:srgbClr val="E0F7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a:hlinkClick action="ppaction://hlinksldjump" r:id="rId12"/>
          </p:cNvPr>
          <p:cNvSpPr txBox="1"/>
          <p:nvPr/>
        </p:nvSpPr>
        <p:spPr>
          <a:xfrm>
            <a:off x="6446520" y="3136391"/>
            <a:ext cx="2478024" cy="265176"/>
          </a:xfrm>
          <a:prstGeom prst="rect">
            <a:avLst/>
          </a:prstGeom>
          <a:noFill/>
        </p:spPr>
        <p:txBody>
          <a:bodyPr wrap="square" lIns="0" rIns="0" tIns="0" bIns="0">
            <a:spAutoFit/>
          </a:bodyPr>
          <a:lstStyle/>
          <a:p>
            <a:pPr algn="l">
              <a:lnSpc>
                <a:spcPct val="101000"/>
              </a:lnSpc>
              <a:spcAft>
                <a:spcPts val="300"/>
              </a:spcAft>
              <a:defRPr sz="810" b="1">
                <a:solidFill>
                  <a:srgbClr val="203350"/>
                </a:solidFill>
                <a:latin typeface="DejaVu Sans"/>
              </a:defRPr>
            </a:pPr>
            <a:r>
              <a:t>07  Tu primer contacto puede empezar así</a:t>
            </a:r>
          </a:p>
        </p:txBody>
      </p:sp>
      <p:sp>
        <p:nvSpPr>
          <p:cNvPr id="31" name="Rounded Rectangle 30">
            <a:hlinkClick action="ppaction://hlinksldjump" r:id="rId13"/>
          </p:cNvPr>
          <p:cNvSpPr/>
          <p:nvPr/>
        </p:nvSpPr>
        <p:spPr>
          <a:xfrm>
            <a:off x="9198864" y="3054096"/>
            <a:ext cx="2697480" cy="356616"/>
          </a:xfrm>
          <a:prstGeom prst="roundRect">
            <a:avLst>
              <a:gd name="adj" fmla="val 12000"/>
            </a:avLst>
          </a:prstGeom>
          <a:solidFill>
            <a:srgbClr val="E2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a:hlinkClick action="ppaction://hlinksldjump" r:id="rId13"/>
          </p:cNvPr>
          <p:cNvSpPr txBox="1"/>
          <p:nvPr/>
        </p:nvSpPr>
        <p:spPr>
          <a:xfrm>
            <a:off x="9308592" y="3136391"/>
            <a:ext cx="2478024" cy="265176"/>
          </a:xfrm>
          <a:prstGeom prst="rect">
            <a:avLst/>
          </a:prstGeom>
          <a:noFill/>
        </p:spPr>
        <p:txBody>
          <a:bodyPr wrap="square" lIns="0" rIns="0" tIns="0" bIns="0">
            <a:spAutoFit/>
          </a:bodyPr>
          <a:lstStyle/>
          <a:p>
            <a:pPr algn="l">
              <a:lnSpc>
                <a:spcPct val="101000"/>
              </a:lnSpc>
              <a:spcAft>
                <a:spcPts val="300"/>
              </a:spcAft>
              <a:defRPr sz="608" b="1">
                <a:solidFill>
                  <a:srgbClr val="203350"/>
                </a:solidFill>
                <a:latin typeface="DejaVu Sans"/>
              </a:defRPr>
            </a:pPr>
            <a:r>
              <a:t>08  Loja: una pregunta de agua, un trabajo con personas</a:t>
            </a:r>
          </a:p>
        </p:txBody>
      </p:sp>
      <p:sp>
        <p:nvSpPr>
          <p:cNvPr id="33" name="Rounded Rectangle 32">
            <a:hlinkClick action="ppaction://hlinksldjump" r:id="rId14"/>
          </p:cNvPr>
          <p:cNvSpPr/>
          <p:nvPr/>
        </p:nvSpPr>
        <p:spPr>
          <a:xfrm>
            <a:off x="612648" y="3502152"/>
            <a:ext cx="2697480" cy="356616"/>
          </a:xfrm>
          <a:prstGeom prst="roundRect">
            <a:avLst>
              <a:gd name="adj" fmla="val 12000"/>
            </a:avLst>
          </a:prstGeom>
          <a:solidFill>
            <a:srgbClr val="E2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a:hlinkClick action="ppaction://hlinksldjump" r:id="rId14"/>
          </p:cNvPr>
          <p:cNvSpPr txBox="1"/>
          <p:nvPr/>
        </p:nvSpPr>
        <p:spPr>
          <a:xfrm>
            <a:off x="722376" y="3584448"/>
            <a:ext cx="2478024" cy="265176"/>
          </a:xfrm>
          <a:prstGeom prst="rect">
            <a:avLst/>
          </a:prstGeom>
          <a:noFill/>
        </p:spPr>
        <p:txBody>
          <a:bodyPr wrap="square" lIns="0" rIns="0" tIns="0" bIns="0">
            <a:spAutoFit/>
          </a:bodyPr>
          <a:lstStyle/>
          <a:p>
            <a:pPr algn="l">
              <a:lnSpc>
                <a:spcPct val="101000"/>
              </a:lnSpc>
              <a:spcAft>
                <a:spcPts val="300"/>
              </a:spcAft>
              <a:defRPr sz="810" b="1">
                <a:solidFill>
                  <a:srgbClr val="203350"/>
                </a:solidFill>
                <a:latin typeface="DejaVu Sans"/>
              </a:defRPr>
            </a:pPr>
            <a:r>
              <a:t>09  El proyecto tiene rostros y lugares</a:t>
            </a:r>
          </a:p>
        </p:txBody>
      </p:sp>
      <p:sp>
        <p:nvSpPr>
          <p:cNvPr id="35" name="Rounded Rectangle 34">
            <a:hlinkClick action="ppaction://hlinksldjump" r:id="rId3"/>
          </p:cNvPr>
          <p:cNvSpPr/>
          <p:nvPr/>
        </p:nvSpPr>
        <p:spPr>
          <a:xfrm>
            <a:off x="3474720" y="3502152"/>
            <a:ext cx="2697480" cy="356616"/>
          </a:xfrm>
          <a:prstGeom prst="roundRect">
            <a:avLst>
              <a:gd name="adj" fmla="val 12000"/>
            </a:avLst>
          </a:prstGeom>
          <a:solidFill>
            <a:srgbClr val="E2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a:hlinkClick action="ppaction://hlinksldjump" r:id="rId3"/>
          </p:cNvPr>
          <p:cNvSpPr txBox="1"/>
          <p:nvPr/>
        </p:nvSpPr>
        <p:spPr>
          <a:xfrm>
            <a:off x="3584448" y="3584448"/>
            <a:ext cx="2478024" cy="265176"/>
          </a:xfrm>
          <a:prstGeom prst="rect">
            <a:avLst/>
          </a:prstGeom>
          <a:noFill/>
        </p:spPr>
        <p:txBody>
          <a:bodyPr wrap="square" lIns="0" rIns="0" tIns="0" bIns="0">
            <a:spAutoFit/>
          </a:bodyPr>
          <a:lstStyle/>
          <a:p>
            <a:pPr algn="l">
              <a:lnSpc>
                <a:spcPct val="101000"/>
              </a:lnSpc>
              <a:spcAft>
                <a:spcPts val="300"/>
              </a:spcAft>
              <a:defRPr sz="487" b="1">
                <a:solidFill>
                  <a:srgbClr val="203350"/>
                </a:solidFill>
                <a:latin typeface="DejaVu Sans"/>
              </a:defRPr>
            </a:pPr>
            <a:r>
              <a:t>10  De una preocupación amplia a una pregunta que puedas investigar</a:t>
            </a:r>
          </a:p>
        </p:txBody>
      </p:sp>
      <p:sp>
        <p:nvSpPr>
          <p:cNvPr id="37" name="Rounded Rectangle 36">
            <a:hlinkClick action="ppaction://hlinksldjump" r:id="rId15"/>
          </p:cNvPr>
          <p:cNvSpPr/>
          <p:nvPr/>
        </p:nvSpPr>
        <p:spPr>
          <a:xfrm>
            <a:off x="6336792" y="3502152"/>
            <a:ext cx="2697480" cy="356616"/>
          </a:xfrm>
          <a:prstGeom prst="roundRect">
            <a:avLst>
              <a:gd name="adj" fmla="val 12000"/>
            </a:avLst>
          </a:prstGeom>
          <a:solidFill>
            <a:srgbClr val="E2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a:hlinkClick action="ppaction://hlinksldjump" r:id="rId15"/>
          </p:cNvPr>
          <p:cNvSpPr txBox="1"/>
          <p:nvPr/>
        </p:nvSpPr>
        <p:spPr>
          <a:xfrm>
            <a:off x="6446520" y="3584448"/>
            <a:ext cx="2478024" cy="265176"/>
          </a:xfrm>
          <a:prstGeom prst="rect">
            <a:avLst/>
          </a:prstGeom>
          <a:noFill/>
        </p:spPr>
        <p:txBody>
          <a:bodyPr wrap="square" lIns="0" rIns="0" tIns="0" bIns="0">
            <a:spAutoFit/>
          </a:bodyPr>
          <a:lstStyle/>
          <a:p>
            <a:pPr algn="l">
              <a:lnSpc>
                <a:spcPct val="101000"/>
              </a:lnSpc>
              <a:spcAft>
                <a:spcPts val="300"/>
              </a:spcAft>
              <a:defRPr sz="597" b="1">
                <a:solidFill>
                  <a:srgbClr val="203350"/>
                </a:solidFill>
                <a:latin typeface="DejaVu Sans"/>
              </a:defRPr>
            </a:pPr>
            <a:r>
              <a:t>11  Cinco decisiones que convierten curiosidad en trabajo</a:t>
            </a:r>
          </a:p>
        </p:txBody>
      </p:sp>
      <p:sp>
        <p:nvSpPr>
          <p:cNvPr id="39" name="Rounded Rectangle 38">
            <a:hlinkClick action="ppaction://hlinksldjump" r:id="rId16"/>
          </p:cNvPr>
          <p:cNvSpPr/>
          <p:nvPr/>
        </p:nvSpPr>
        <p:spPr>
          <a:xfrm>
            <a:off x="9198864" y="3502152"/>
            <a:ext cx="2697480" cy="356616"/>
          </a:xfrm>
          <a:prstGeom prst="roundRect">
            <a:avLst>
              <a:gd name="adj" fmla="val 12000"/>
            </a:avLst>
          </a:prstGeom>
          <a:solidFill>
            <a:srgbClr val="E2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a:hlinkClick action="ppaction://hlinksldjump" r:id="rId16"/>
          </p:cNvPr>
          <p:cNvSpPr txBox="1"/>
          <p:nvPr/>
        </p:nvSpPr>
        <p:spPr>
          <a:xfrm>
            <a:off x="9308592" y="3584448"/>
            <a:ext cx="2478024" cy="265176"/>
          </a:xfrm>
          <a:prstGeom prst="rect">
            <a:avLst/>
          </a:prstGeom>
          <a:noFill/>
        </p:spPr>
        <p:txBody>
          <a:bodyPr wrap="square" lIns="0" rIns="0" tIns="0" bIns="0">
            <a:spAutoFit/>
          </a:bodyPr>
          <a:lstStyle/>
          <a:p>
            <a:pPr algn="l">
              <a:lnSpc>
                <a:spcPct val="101000"/>
              </a:lnSpc>
              <a:spcAft>
                <a:spcPts val="300"/>
              </a:spcAft>
              <a:defRPr sz="655" b="1">
                <a:solidFill>
                  <a:srgbClr val="203350"/>
                </a:solidFill>
                <a:latin typeface="DejaVu Sans"/>
              </a:defRPr>
            </a:pPr>
            <a:r>
              <a:t>12  Haz visible lo esencial antes de complicar el plan</a:t>
            </a:r>
          </a:p>
        </p:txBody>
      </p:sp>
      <p:sp>
        <p:nvSpPr>
          <p:cNvPr id="41" name="Rounded Rectangle 40">
            <a:hlinkClick action="ppaction://hlinksldjump" r:id="rId17"/>
          </p:cNvPr>
          <p:cNvSpPr/>
          <p:nvPr/>
        </p:nvSpPr>
        <p:spPr>
          <a:xfrm>
            <a:off x="612648" y="3950208"/>
            <a:ext cx="2697480" cy="356616"/>
          </a:xfrm>
          <a:prstGeom prst="roundRect">
            <a:avLst>
              <a:gd name="adj" fmla="val 12000"/>
            </a:avLst>
          </a:prstGeom>
          <a:solidFill>
            <a:srgbClr val="E2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a:hlinkClick action="ppaction://hlinksldjump" r:id="rId17"/>
          </p:cNvPr>
          <p:cNvSpPr txBox="1"/>
          <p:nvPr/>
        </p:nvSpPr>
        <p:spPr>
          <a:xfrm>
            <a:off x="722376" y="4032504"/>
            <a:ext cx="2478024" cy="265176"/>
          </a:xfrm>
          <a:prstGeom prst="rect">
            <a:avLst/>
          </a:prstGeom>
          <a:noFill/>
        </p:spPr>
        <p:txBody>
          <a:bodyPr wrap="square" lIns="0" rIns="0" tIns="0" bIns="0">
            <a:spAutoFit/>
          </a:bodyPr>
          <a:lstStyle/>
          <a:p>
            <a:pPr algn="l">
              <a:lnSpc>
                <a:spcPct val="101000"/>
              </a:lnSpc>
              <a:spcAft>
                <a:spcPts val="300"/>
              </a:spcAft>
              <a:defRPr sz="769" b="1">
                <a:solidFill>
                  <a:srgbClr val="203350"/>
                </a:solidFill>
                <a:latin typeface="DejaVu Sans"/>
              </a:defRPr>
            </a:pPr>
            <a:r>
              <a:t>13  ¿Cuál permite diseñar una investigación?</a:t>
            </a:r>
          </a:p>
        </p:txBody>
      </p:sp>
      <p:sp>
        <p:nvSpPr>
          <p:cNvPr id="43" name="Rounded Rectangle 42">
            <a:hlinkClick action="ppaction://hlinksldjump" r:id="rId18"/>
          </p:cNvPr>
          <p:cNvSpPr/>
          <p:nvPr/>
        </p:nvSpPr>
        <p:spPr>
          <a:xfrm>
            <a:off x="3474720" y="3950208"/>
            <a:ext cx="2697480" cy="356616"/>
          </a:xfrm>
          <a:prstGeom prst="roundRect">
            <a:avLst>
              <a:gd name="adj" fmla="val 12000"/>
            </a:avLst>
          </a:prstGeom>
          <a:solidFill>
            <a:srgbClr val="E2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a:hlinkClick action="ppaction://hlinksldjump" r:id="rId18"/>
          </p:cNvPr>
          <p:cNvSpPr txBox="1"/>
          <p:nvPr/>
        </p:nvSpPr>
        <p:spPr>
          <a:xfrm>
            <a:off x="3584448" y="4032504"/>
            <a:ext cx="2478024" cy="265176"/>
          </a:xfrm>
          <a:prstGeom prst="rect">
            <a:avLst/>
          </a:prstGeom>
          <a:noFill/>
        </p:spPr>
        <p:txBody>
          <a:bodyPr wrap="square" lIns="0" rIns="0" tIns="0" bIns="0">
            <a:spAutoFit/>
          </a:bodyPr>
          <a:lstStyle/>
          <a:p>
            <a:pPr algn="l">
              <a:lnSpc>
                <a:spcPct val="101000"/>
              </a:lnSpc>
              <a:spcAft>
                <a:spcPts val="300"/>
              </a:spcAft>
              <a:defRPr sz="810" b="1">
                <a:solidFill>
                  <a:srgbClr val="203350"/>
                </a:solidFill>
                <a:latin typeface="DejaVu Sans"/>
              </a:defRPr>
            </a:pPr>
            <a:r>
              <a:t>14  El método sigue a la pregunta</a:t>
            </a:r>
          </a:p>
        </p:txBody>
      </p:sp>
      <p:sp>
        <p:nvSpPr>
          <p:cNvPr id="45" name="Rounded Rectangle 44">
            <a:hlinkClick action="ppaction://hlinksldjump" r:id="rId19"/>
          </p:cNvPr>
          <p:cNvSpPr/>
          <p:nvPr/>
        </p:nvSpPr>
        <p:spPr>
          <a:xfrm>
            <a:off x="6336792" y="3950208"/>
            <a:ext cx="2697480" cy="356616"/>
          </a:xfrm>
          <a:prstGeom prst="roundRect">
            <a:avLst>
              <a:gd name="adj" fmla="val 12000"/>
            </a:avLst>
          </a:prstGeom>
          <a:solidFill>
            <a:srgbClr val="F0E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a:hlinkClick action="ppaction://hlinksldjump" r:id="rId19"/>
          </p:cNvPr>
          <p:cNvSpPr txBox="1"/>
          <p:nvPr/>
        </p:nvSpPr>
        <p:spPr>
          <a:xfrm>
            <a:off x="6446520" y="4032504"/>
            <a:ext cx="2478024" cy="265176"/>
          </a:xfrm>
          <a:prstGeom prst="rect">
            <a:avLst/>
          </a:prstGeom>
          <a:noFill/>
        </p:spPr>
        <p:txBody>
          <a:bodyPr wrap="square" lIns="0" rIns="0" tIns="0" bIns="0">
            <a:spAutoFit/>
          </a:bodyPr>
          <a:lstStyle/>
          <a:p>
            <a:pPr algn="l">
              <a:lnSpc>
                <a:spcPct val="101000"/>
              </a:lnSpc>
              <a:spcAft>
                <a:spcPts val="300"/>
              </a:spcAft>
              <a:defRPr sz="718" b="1">
                <a:solidFill>
                  <a:srgbClr val="203350"/>
                </a:solidFill>
                <a:latin typeface="DejaVu Sans"/>
              </a:defRPr>
            </a:pPr>
            <a:r>
              <a:t>15  Ecuador–Canadá: ampliar la mirada con ADN</a:t>
            </a:r>
          </a:p>
        </p:txBody>
      </p:sp>
      <p:sp>
        <p:nvSpPr>
          <p:cNvPr id="47" name="Rounded Rectangle 46">
            <a:hlinkClick action="ppaction://hlinksldjump" r:id="rId20"/>
          </p:cNvPr>
          <p:cNvSpPr/>
          <p:nvPr/>
        </p:nvSpPr>
        <p:spPr>
          <a:xfrm>
            <a:off x="9198864" y="3950208"/>
            <a:ext cx="2697480" cy="356616"/>
          </a:xfrm>
          <a:prstGeom prst="roundRect">
            <a:avLst>
              <a:gd name="adj" fmla="val 12000"/>
            </a:avLst>
          </a:prstGeom>
          <a:solidFill>
            <a:srgbClr val="F0E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a:hlinkClick action="ppaction://hlinksldjump" r:id="rId20"/>
          </p:cNvPr>
          <p:cNvSpPr txBox="1"/>
          <p:nvPr/>
        </p:nvSpPr>
        <p:spPr>
          <a:xfrm>
            <a:off x="9308592" y="4032504"/>
            <a:ext cx="2478024" cy="265176"/>
          </a:xfrm>
          <a:prstGeom prst="rect">
            <a:avLst/>
          </a:prstGeom>
          <a:noFill/>
        </p:spPr>
        <p:txBody>
          <a:bodyPr wrap="square" lIns="0" rIns="0" tIns="0" bIns="0">
            <a:spAutoFit/>
          </a:bodyPr>
          <a:lstStyle/>
          <a:p>
            <a:pPr algn="l">
              <a:lnSpc>
                <a:spcPct val="101000"/>
              </a:lnSpc>
              <a:spcAft>
                <a:spcPts val="300"/>
              </a:spcAft>
              <a:defRPr sz="612" b="1">
                <a:solidFill>
                  <a:srgbClr val="203350"/>
                </a:solidFill>
                <a:latin typeface="DejaVu Sans"/>
              </a:defRPr>
            </a:pPr>
            <a:r>
              <a:t>16  Del agua al dato: cada etapa transforma la pregunta</a:t>
            </a:r>
          </a:p>
        </p:txBody>
      </p:sp>
      <p:sp>
        <p:nvSpPr>
          <p:cNvPr id="49" name="Rounded Rectangle 48">
            <a:hlinkClick action="ppaction://hlinksldjump" r:id="rId21"/>
          </p:cNvPr>
          <p:cNvSpPr/>
          <p:nvPr/>
        </p:nvSpPr>
        <p:spPr>
          <a:xfrm>
            <a:off x="612648" y="4398264"/>
            <a:ext cx="2697480" cy="356616"/>
          </a:xfrm>
          <a:prstGeom prst="roundRect">
            <a:avLst>
              <a:gd name="adj" fmla="val 12000"/>
            </a:avLst>
          </a:prstGeom>
          <a:solidFill>
            <a:srgbClr val="F0E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a:hlinkClick action="ppaction://hlinksldjump" r:id="rId21"/>
          </p:cNvPr>
          <p:cNvSpPr txBox="1"/>
          <p:nvPr/>
        </p:nvSpPr>
        <p:spPr>
          <a:xfrm>
            <a:off x="722376" y="4480560"/>
            <a:ext cx="2478024" cy="265176"/>
          </a:xfrm>
          <a:prstGeom prst="rect">
            <a:avLst/>
          </a:prstGeom>
          <a:noFill/>
        </p:spPr>
        <p:txBody>
          <a:bodyPr wrap="square" lIns="0" rIns="0" tIns="0" bIns="0">
            <a:spAutoFit/>
          </a:bodyPr>
          <a:lstStyle/>
          <a:p>
            <a:pPr algn="l">
              <a:lnSpc>
                <a:spcPct val="101000"/>
              </a:lnSpc>
              <a:spcAft>
                <a:spcPts val="300"/>
              </a:spcAft>
              <a:defRPr sz="728" b="1">
                <a:solidFill>
                  <a:srgbClr val="203350"/>
                </a:solidFill>
                <a:latin typeface="DejaVu Sans"/>
              </a:defRPr>
            </a:pPr>
            <a:r>
              <a:t>17  Las oportunidades se construyen en equipo</a:t>
            </a:r>
          </a:p>
        </p:txBody>
      </p:sp>
      <p:sp>
        <p:nvSpPr>
          <p:cNvPr id="51" name="Rounded Rectangle 50">
            <a:hlinkClick action="ppaction://hlinksldjump" r:id="rId22"/>
          </p:cNvPr>
          <p:cNvSpPr/>
          <p:nvPr/>
        </p:nvSpPr>
        <p:spPr>
          <a:xfrm>
            <a:off x="3474720" y="4398264"/>
            <a:ext cx="2697480" cy="356616"/>
          </a:xfrm>
          <a:prstGeom prst="roundRect">
            <a:avLst>
              <a:gd name="adj" fmla="val 12000"/>
            </a:avLst>
          </a:prstGeom>
          <a:solidFill>
            <a:srgbClr val="F0E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a:hlinkClick action="ppaction://hlinksldjump" r:id="rId22"/>
          </p:cNvPr>
          <p:cNvSpPr txBox="1"/>
          <p:nvPr/>
        </p:nvSpPr>
        <p:spPr>
          <a:xfrm>
            <a:off x="3584448" y="4480560"/>
            <a:ext cx="2478024" cy="265176"/>
          </a:xfrm>
          <a:prstGeom prst="rect">
            <a:avLst/>
          </a:prstGeom>
          <a:noFill/>
        </p:spPr>
        <p:txBody>
          <a:bodyPr wrap="square" lIns="0" rIns="0" tIns="0" bIns="0">
            <a:spAutoFit/>
          </a:bodyPr>
          <a:lstStyle/>
          <a:p>
            <a:pPr algn="l">
              <a:lnSpc>
                <a:spcPct val="101000"/>
              </a:lnSpc>
              <a:spcAft>
                <a:spcPts val="300"/>
              </a:spcAft>
              <a:defRPr sz="542" b="1">
                <a:solidFill>
                  <a:srgbClr val="203350"/>
                </a:solidFill>
                <a:latin typeface="DejaVu Sans"/>
              </a:defRPr>
            </a:pPr>
            <a:r>
              <a:t>18  Un resultado también te enseña dónde termina la evidencia</a:t>
            </a:r>
          </a:p>
        </p:txBody>
      </p:sp>
      <p:sp>
        <p:nvSpPr>
          <p:cNvPr id="53" name="Rounded Rectangle 52">
            <a:hlinkClick action="ppaction://hlinksldjump" r:id="rId4"/>
          </p:cNvPr>
          <p:cNvSpPr/>
          <p:nvPr/>
        </p:nvSpPr>
        <p:spPr>
          <a:xfrm>
            <a:off x="6336792" y="4398264"/>
            <a:ext cx="2697480" cy="356616"/>
          </a:xfrm>
          <a:prstGeom prst="roundRect">
            <a:avLst>
              <a:gd name="adj" fmla="val 12000"/>
            </a:avLst>
          </a:prstGeom>
          <a:solidFill>
            <a:srgbClr val="F0E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a:hlinkClick action="ppaction://hlinksldjump" r:id="rId4"/>
          </p:cNvPr>
          <p:cNvSpPr txBox="1"/>
          <p:nvPr/>
        </p:nvSpPr>
        <p:spPr>
          <a:xfrm>
            <a:off x="6446520" y="4480560"/>
            <a:ext cx="2478024" cy="265176"/>
          </a:xfrm>
          <a:prstGeom prst="rect">
            <a:avLst/>
          </a:prstGeom>
          <a:noFill/>
        </p:spPr>
        <p:txBody>
          <a:bodyPr wrap="square" lIns="0" rIns="0" tIns="0" bIns="0">
            <a:spAutoFit/>
          </a:bodyPr>
          <a:lstStyle/>
          <a:p>
            <a:pPr algn="l">
              <a:lnSpc>
                <a:spcPct val="101000"/>
              </a:lnSpc>
              <a:spcAft>
                <a:spcPts val="300"/>
              </a:spcAft>
              <a:defRPr sz="751" b="1">
                <a:solidFill>
                  <a:srgbClr val="203350"/>
                </a:solidFill>
                <a:latin typeface="DejaVu Sans"/>
              </a:defRPr>
            </a:pPr>
            <a:r>
              <a:t>19  La comunidad participa desde la pregunta</a:t>
            </a:r>
          </a:p>
        </p:txBody>
      </p:sp>
      <p:sp>
        <p:nvSpPr>
          <p:cNvPr id="55" name="Rounded Rectangle 54">
            <a:hlinkClick action="ppaction://hlinksldjump" r:id="rId23"/>
          </p:cNvPr>
          <p:cNvSpPr/>
          <p:nvPr/>
        </p:nvSpPr>
        <p:spPr>
          <a:xfrm>
            <a:off x="9198864" y="4398264"/>
            <a:ext cx="2697480" cy="356616"/>
          </a:xfrm>
          <a:prstGeom prst="roundRect">
            <a:avLst>
              <a:gd name="adj" fmla="val 12000"/>
            </a:avLst>
          </a:prstGeom>
          <a:solidFill>
            <a:srgbClr val="F0E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3"/>
          </p:cNvPr>
          <p:cNvSpPr txBox="1"/>
          <p:nvPr/>
        </p:nvSpPr>
        <p:spPr>
          <a:xfrm>
            <a:off x="9308592" y="4480560"/>
            <a:ext cx="2478024" cy="265176"/>
          </a:xfrm>
          <a:prstGeom prst="rect">
            <a:avLst/>
          </a:prstGeom>
          <a:noFill/>
        </p:spPr>
        <p:txBody>
          <a:bodyPr wrap="square" lIns="0" rIns="0" tIns="0" bIns="0">
            <a:spAutoFit/>
          </a:bodyPr>
          <a:lstStyle/>
          <a:p>
            <a:pPr algn="l">
              <a:lnSpc>
                <a:spcPct val="101000"/>
              </a:lnSpc>
              <a:spcAft>
                <a:spcPts val="300"/>
              </a:spcAft>
              <a:defRPr sz="732" b="1">
                <a:solidFill>
                  <a:srgbClr val="203350"/>
                </a:solidFill>
                <a:latin typeface="DejaVu Sans"/>
              </a:defRPr>
            </a:pPr>
            <a:r>
              <a:t>20  ¿Qué más quieres que produzca tu trabajo?</a:t>
            </a:r>
          </a:p>
        </p:txBody>
      </p:sp>
      <p:sp>
        <p:nvSpPr>
          <p:cNvPr id="57" name="Rounded Rectangle 56">
            <a:hlinkClick action="ppaction://hlinksldjump" r:id="rId24"/>
          </p:cNvPr>
          <p:cNvSpPr/>
          <p:nvPr/>
        </p:nvSpPr>
        <p:spPr>
          <a:xfrm>
            <a:off x="612648" y="4846320"/>
            <a:ext cx="2697480" cy="356616"/>
          </a:xfrm>
          <a:prstGeom prst="roundRect">
            <a:avLst>
              <a:gd name="adj" fmla="val 12000"/>
            </a:avLst>
          </a:prstGeom>
          <a:solidFill>
            <a:srgbClr val="F0E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a:hlinkClick action="ppaction://hlinksldjump" r:id="rId24"/>
          </p:cNvPr>
          <p:cNvSpPr txBox="1"/>
          <p:nvPr/>
        </p:nvSpPr>
        <p:spPr>
          <a:xfrm>
            <a:off x="722376" y="4928616"/>
            <a:ext cx="2478024" cy="265176"/>
          </a:xfrm>
          <a:prstGeom prst="rect">
            <a:avLst/>
          </a:prstGeom>
          <a:noFill/>
        </p:spPr>
        <p:txBody>
          <a:bodyPr wrap="square" lIns="0" rIns="0" tIns="0" bIns="0">
            <a:spAutoFit/>
          </a:bodyPr>
          <a:lstStyle/>
          <a:p>
            <a:pPr algn="l">
              <a:lnSpc>
                <a:spcPct val="101000"/>
              </a:lnSpc>
              <a:spcAft>
                <a:spcPts val="300"/>
              </a:spcAft>
              <a:defRPr sz="729" b="1">
                <a:solidFill>
                  <a:srgbClr val="203350"/>
                </a:solidFill>
                <a:latin typeface="DejaVu Sans"/>
              </a:defRPr>
            </a:pPr>
            <a:r>
              <a:t>21  Tu experiencia puede abrir más de una ruta</a:t>
            </a:r>
          </a:p>
        </p:txBody>
      </p:sp>
      <p:sp>
        <p:nvSpPr>
          <p:cNvPr id="59" name="Rounded Rectangle 58">
            <a:hlinkClick action="ppaction://hlinksldjump" r:id="rId5"/>
          </p:cNvPr>
          <p:cNvSpPr/>
          <p:nvPr/>
        </p:nvSpPr>
        <p:spPr>
          <a:xfrm>
            <a:off x="3474720" y="4846320"/>
            <a:ext cx="2697480" cy="356616"/>
          </a:xfrm>
          <a:prstGeom prst="roundRect">
            <a:avLst>
              <a:gd name="adj" fmla="val 12000"/>
            </a:avLst>
          </a:prstGeom>
          <a:solidFill>
            <a:srgbClr val="FFF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a:hlinkClick action="ppaction://hlinksldjump" r:id="rId5"/>
          </p:cNvPr>
          <p:cNvSpPr txBox="1"/>
          <p:nvPr/>
        </p:nvSpPr>
        <p:spPr>
          <a:xfrm>
            <a:off x="3584448" y="4928616"/>
            <a:ext cx="2478024" cy="265176"/>
          </a:xfrm>
          <a:prstGeom prst="rect">
            <a:avLst/>
          </a:prstGeom>
          <a:noFill/>
        </p:spPr>
        <p:txBody>
          <a:bodyPr wrap="square" lIns="0" rIns="0" tIns="0" bIns="0">
            <a:spAutoFit/>
          </a:bodyPr>
          <a:lstStyle/>
          <a:p>
            <a:pPr algn="l">
              <a:lnSpc>
                <a:spcPct val="101000"/>
              </a:lnSpc>
              <a:spcAft>
                <a:spcPts val="300"/>
              </a:spcAft>
              <a:defRPr sz="720" b="1">
                <a:solidFill>
                  <a:srgbClr val="203350"/>
                </a:solidFill>
                <a:latin typeface="DejaVu Sans"/>
              </a:defRPr>
            </a:pPr>
            <a:r>
              <a:t>22  Diseña un primer proyecto con otra persona</a:t>
            </a:r>
          </a:p>
        </p:txBody>
      </p:sp>
      <p:sp>
        <p:nvSpPr>
          <p:cNvPr id="61" name="Rounded Rectangle 60">
            <a:hlinkClick action="ppaction://hlinksldjump" r:id="rId25"/>
          </p:cNvPr>
          <p:cNvSpPr/>
          <p:nvPr/>
        </p:nvSpPr>
        <p:spPr>
          <a:xfrm>
            <a:off x="6336792" y="4846320"/>
            <a:ext cx="2697480" cy="356616"/>
          </a:xfrm>
          <a:prstGeom prst="roundRect">
            <a:avLst>
              <a:gd name="adj" fmla="val 12000"/>
            </a:avLst>
          </a:prstGeom>
          <a:solidFill>
            <a:srgbClr val="FFF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a:hlinkClick action="ppaction://hlinksldjump" r:id="rId25"/>
          </p:cNvPr>
          <p:cNvSpPr txBox="1"/>
          <p:nvPr/>
        </p:nvSpPr>
        <p:spPr>
          <a:xfrm>
            <a:off x="6446520" y="4928616"/>
            <a:ext cx="2478024" cy="265176"/>
          </a:xfrm>
          <a:prstGeom prst="rect">
            <a:avLst/>
          </a:prstGeom>
          <a:noFill/>
        </p:spPr>
        <p:txBody>
          <a:bodyPr wrap="square" lIns="0" rIns="0" tIns="0" bIns="0">
            <a:spAutoFit/>
          </a:bodyPr>
          <a:lstStyle/>
          <a:p>
            <a:pPr algn="l">
              <a:lnSpc>
                <a:spcPct val="101000"/>
              </a:lnSpc>
              <a:spcAft>
                <a:spcPts val="300"/>
              </a:spcAft>
              <a:defRPr sz="644" b="1">
                <a:solidFill>
                  <a:srgbClr val="203350"/>
                </a:solidFill>
                <a:latin typeface="DejaVu Sans"/>
              </a:defRPr>
            </a:pPr>
            <a:r>
              <a:t>23  Un piloto pequeño también produce conocimiento</a:t>
            </a:r>
          </a:p>
        </p:txBody>
      </p:sp>
      <p:sp>
        <p:nvSpPr>
          <p:cNvPr id="63" name="Rounded Rectangle 62">
            <a:hlinkClick action="ppaction://hlinksldjump" r:id="rId26"/>
          </p:cNvPr>
          <p:cNvSpPr/>
          <p:nvPr/>
        </p:nvSpPr>
        <p:spPr>
          <a:xfrm>
            <a:off x="9198864" y="4846320"/>
            <a:ext cx="2697480" cy="356616"/>
          </a:xfrm>
          <a:prstGeom prst="roundRect">
            <a:avLst>
              <a:gd name="adj" fmla="val 12000"/>
            </a:avLst>
          </a:prstGeom>
          <a:solidFill>
            <a:srgbClr val="FFF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a:hlinkClick action="ppaction://hlinksldjump" r:id="rId26"/>
          </p:cNvPr>
          <p:cNvSpPr txBox="1"/>
          <p:nvPr/>
        </p:nvSpPr>
        <p:spPr>
          <a:xfrm>
            <a:off x="9308592" y="4928616"/>
            <a:ext cx="2478024" cy="265176"/>
          </a:xfrm>
          <a:prstGeom prst="rect">
            <a:avLst/>
          </a:prstGeom>
          <a:noFill/>
        </p:spPr>
        <p:txBody>
          <a:bodyPr wrap="square" lIns="0" rIns="0" tIns="0" bIns="0">
            <a:spAutoFit/>
          </a:bodyPr>
          <a:lstStyle/>
          <a:p>
            <a:pPr algn="l">
              <a:lnSpc>
                <a:spcPct val="101000"/>
              </a:lnSpc>
              <a:spcAft>
                <a:spcPts val="300"/>
              </a:spcAft>
              <a:defRPr sz="810" b="1">
                <a:solidFill>
                  <a:srgbClr val="203350"/>
                </a:solidFill>
                <a:latin typeface="DejaVu Sans"/>
              </a:defRPr>
            </a:pPr>
            <a:r>
              <a:t>24  60 segundos para explicar tu proyecto</a:t>
            </a:r>
          </a:p>
        </p:txBody>
      </p:sp>
      <p:sp>
        <p:nvSpPr>
          <p:cNvPr id="65" name="Rounded Rectangle 64">
            <a:hlinkClick action="ppaction://hlinksldjump" r:id="rId27"/>
          </p:cNvPr>
          <p:cNvSpPr/>
          <p:nvPr/>
        </p:nvSpPr>
        <p:spPr>
          <a:xfrm>
            <a:off x="612648" y="5294376"/>
            <a:ext cx="2697480" cy="356616"/>
          </a:xfrm>
          <a:prstGeom prst="roundRect">
            <a:avLst>
              <a:gd name="adj" fmla="val 12000"/>
            </a:avLst>
          </a:prstGeom>
          <a:solidFill>
            <a:srgbClr val="FFF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a:hlinkClick action="ppaction://hlinksldjump" r:id="rId27"/>
          </p:cNvPr>
          <p:cNvSpPr txBox="1"/>
          <p:nvPr/>
        </p:nvSpPr>
        <p:spPr>
          <a:xfrm>
            <a:off x="722376" y="5376672"/>
            <a:ext cx="2478024" cy="265176"/>
          </a:xfrm>
          <a:prstGeom prst="rect">
            <a:avLst/>
          </a:prstGeom>
          <a:noFill/>
        </p:spPr>
        <p:txBody>
          <a:bodyPr wrap="square" lIns="0" rIns="0" tIns="0" bIns="0">
            <a:spAutoFit/>
          </a:bodyPr>
          <a:lstStyle/>
          <a:p>
            <a:pPr algn="l">
              <a:lnSpc>
                <a:spcPct val="101000"/>
              </a:lnSpc>
              <a:spcAft>
                <a:spcPts val="300"/>
              </a:spcAft>
              <a:defRPr sz="801" b="1">
                <a:solidFill>
                  <a:srgbClr val="203350"/>
                </a:solidFill>
                <a:latin typeface="DejaVu Sans"/>
              </a:defRPr>
            </a:pPr>
            <a:r>
              <a:t>25  Tu siguiente paso tiene nombre y fecha</a:t>
            </a:r>
          </a:p>
        </p:txBody>
      </p:sp>
      <p:sp>
        <p:nvSpPr>
          <p:cNvPr id="67" name="Rounded Rectangle 66">
            <a:hlinkClick action="ppaction://hlinksldjump" r:id="rId28"/>
          </p:cNvPr>
          <p:cNvSpPr/>
          <p:nvPr/>
        </p:nvSpPr>
        <p:spPr>
          <a:xfrm>
            <a:off x="3474720" y="5294376"/>
            <a:ext cx="2697480" cy="356616"/>
          </a:xfrm>
          <a:prstGeom prst="roundRect">
            <a:avLst>
              <a:gd name="adj" fmla="val 12000"/>
            </a:avLst>
          </a:prstGeom>
          <a:solidFill>
            <a:srgbClr val="FFF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a:hlinkClick action="ppaction://hlinksldjump" r:id="rId28"/>
          </p:cNvPr>
          <p:cNvSpPr txBox="1"/>
          <p:nvPr/>
        </p:nvSpPr>
        <p:spPr>
          <a:xfrm>
            <a:off x="3584448" y="5376672"/>
            <a:ext cx="2478024" cy="265176"/>
          </a:xfrm>
          <a:prstGeom prst="rect">
            <a:avLst/>
          </a:prstGeom>
          <a:noFill/>
        </p:spPr>
        <p:txBody>
          <a:bodyPr wrap="square" lIns="0" rIns="0" tIns="0" bIns="0">
            <a:spAutoFit/>
          </a:bodyPr>
          <a:lstStyle/>
          <a:p>
            <a:pPr algn="l">
              <a:lnSpc>
                <a:spcPct val="101000"/>
              </a:lnSpc>
              <a:spcAft>
                <a:spcPts val="300"/>
              </a:spcAft>
              <a:defRPr sz="597" b="1">
                <a:solidFill>
                  <a:srgbClr val="203350"/>
                </a:solidFill>
                <a:latin typeface="DejaVu Sans"/>
              </a:defRPr>
            </a:pPr>
            <a:r>
              <a:t>26  Tu curiosidad cobra fuerza cuando la pones al servicio</a:t>
            </a:r>
          </a:p>
        </p:txBody>
      </p:sp>
      <p:sp>
        <p:nvSpPr>
          <p:cNvPr id="69" name="Rounded Rectangle 68">
            <a:hlinkClick action="ppaction://hlinksldjump" r:id="rId29"/>
          </p:cNvPr>
          <p:cNvSpPr/>
          <p:nvPr/>
        </p:nvSpPr>
        <p:spPr>
          <a:xfrm>
            <a:off x="640080" y="6007608"/>
            <a:ext cx="2286000" cy="292608"/>
          </a:xfrm>
          <a:prstGeom prst="roundRect">
            <a:avLst>
              <a:gd name="adj" fmla="val 12000"/>
            </a:avLst>
          </a:prstGeom>
          <a:solidFill>
            <a:srgbClr val="8060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a:hlinkClick action="ppaction://hlinksldjump" r:id="rId29"/>
          </p:cNvPr>
          <p:cNvSpPr txBox="1"/>
          <p:nvPr/>
        </p:nvSpPr>
        <p:spPr>
          <a:xfrm>
            <a:off x="749808" y="6089904"/>
            <a:ext cx="2066543" cy="201168"/>
          </a:xfrm>
          <a:prstGeom prst="rect">
            <a:avLst/>
          </a:prstGeom>
          <a:noFill/>
        </p:spPr>
        <p:txBody>
          <a:bodyPr wrap="square" lIns="0" rIns="0" tIns="0" bIns="0">
            <a:spAutoFit/>
          </a:bodyPr>
          <a:lstStyle/>
          <a:p>
            <a:pPr algn="l">
              <a:lnSpc>
                <a:spcPct val="101000"/>
              </a:lnSpc>
              <a:spcAft>
                <a:spcPts val="300"/>
              </a:spcAft>
              <a:defRPr sz="900" b="1">
                <a:solidFill>
                  <a:srgbClr val="FFFFFF"/>
                </a:solidFill>
                <a:latin typeface="DejaVu Sans"/>
              </a:defRPr>
            </a:pPr>
            <a:r>
              <a:t>Fuentes y referencias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9FBFF"/>
        </a:solidFill>
        <a:effectLst/>
      </p:bgPr>
    </p:bg>
    <p:spTree>
      <p:nvGrpSpPr>
        <p:cNvPr id="1" name=""/>
        <p:cNvGrpSpPr/>
        <p:nvPr/>
      </p:nvGrpSpPr>
      <p:grpSpPr/>
      <p:sp>
        <p:nvSpPr>
          <p:cNvPr id="2" name="TextBox 1"/>
          <p:cNvSpPr txBox="1"/>
          <p:nvPr/>
        </p:nvSpPr>
        <p:spPr>
          <a:xfrm>
            <a:off x="548640" y="365760"/>
            <a:ext cx="7543800" cy="274320"/>
          </a:xfrm>
          <a:prstGeom prst="rect">
            <a:avLst/>
          </a:prstGeom>
          <a:noFill/>
        </p:spPr>
        <p:txBody>
          <a:bodyPr wrap="square" lIns="0" rIns="0" tIns="0" bIns="0">
            <a:spAutoFit/>
          </a:bodyPr>
          <a:lstStyle/>
          <a:p>
            <a:pPr algn="l">
              <a:lnSpc>
                <a:spcPct val="101000"/>
              </a:lnSpc>
              <a:spcAft>
                <a:spcPts val="300"/>
              </a:spcAft>
              <a:defRPr sz="930" b="1">
                <a:solidFill>
                  <a:srgbClr val="8060BA"/>
                </a:solidFill>
                <a:latin typeface="DejaVu Sans"/>
              </a:defRPr>
            </a:pPr>
            <a:r>
              <a:t>ANEXO · RETROALIMENTACIÓN</a:t>
            </a:r>
          </a:p>
        </p:txBody>
      </p:sp>
      <p:sp>
        <p:nvSpPr>
          <p:cNvPr id="3" name="Rounded Rectangle 2">
            <a:hlinkClick action="ppaction://hlinksldjump" r:id="rId2"/>
          </p:cNvPr>
          <p:cNvSpPr/>
          <p:nvPr/>
        </p:nvSpPr>
        <p:spPr>
          <a:xfrm>
            <a:off x="8229600" y="310896"/>
            <a:ext cx="795528" cy="310896"/>
          </a:xfrm>
          <a:prstGeom prst="roundRect">
            <a:avLst>
              <a:gd name="adj" fmla="val 12000"/>
            </a:avLst>
          </a:prstGeom>
          <a:solidFill>
            <a:srgbClr val="E2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a:hlinkClick action="ppaction://hlinksldjump" r:id="rId2"/>
          </p:cNvPr>
          <p:cNvSpPr txBox="1"/>
          <p:nvPr/>
        </p:nvSpPr>
        <p:spPr>
          <a:xfrm>
            <a:off x="8339327"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Explorar</a:t>
            </a:r>
          </a:p>
        </p:txBody>
      </p:sp>
      <p:sp>
        <p:nvSpPr>
          <p:cNvPr id="5" name="Rounded Rectangle 4">
            <a:hlinkClick action="ppaction://hlinksldjump" r:id="rId3"/>
          </p:cNvPr>
          <p:cNvSpPr/>
          <p:nvPr/>
        </p:nvSpPr>
        <p:spPr>
          <a:xfrm>
            <a:off x="9089136" y="310896"/>
            <a:ext cx="795528" cy="310896"/>
          </a:xfrm>
          <a:prstGeom prst="roundRect">
            <a:avLst>
              <a:gd name="adj" fmla="val 12000"/>
            </a:avLst>
          </a:prstGeom>
          <a:solidFill>
            <a:srgbClr val="F0E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a:hlinkClick action="ppaction://hlinksldjump" r:id="rId3"/>
          </p:cNvPr>
          <p:cNvSpPr txBox="1"/>
          <p:nvPr/>
        </p:nvSpPr>
        <p:spPr>
          <a:xfrm>
            <a:off x="9198863"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Diseñar</a:t>
            </a:r>
          </a:p>
        </p:txBody>
      </p:sp>
      <p:sp>
        <p:nvSpPr>
          <p:cNvPr id="7" name="Rounded Rectangle 6">
            <a:hlinkClick action="ppaction://hlinksldjump" r:id="rId4"/>
          </p:cNvPr>
          <p:cNvSpPr/>
          <p:nvPr/>
        </p:nvSpPr>
        <p:spPr>
          <a:xfrm>
            <a:off x="9948672" y="310896"/>
            <a:ext cx="795528" cy="310896"/>
          </a:xfrm>
          <a:prstGeom prst="roundRect">
            <a:avLst>
              <a:gd name="adj" fmla="val 12000"/>
            </a:avLst>
          </a:prstGeom>
          <a:solidFill>
            <a:srgbClr val="FFF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a:hlinkClick action="ppaction://hlinksldjump" r:id="rId4"/>
          </p:cNvPr>
          <p:cNvSpPr txBox="1"/>
          <p:nvPr/>
        </p:nvSpPr>
        <p:spPr>
          <a:xfrm>
            <a:off x="10058399"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Servir</a:t>
            </a:r>
          </a:p>
        </p:txBody>
      </p:sp>
      <p:sp>
        <p:nvSpPr>
          <p:cNvPr id="9" name="Rounded Rectangle 8">
            <a:hlinkClick action="ppaction://hlinksldjump" r:id="rId5"/>
          </p:cNvPr>
          <p:cNvSpPr/>
          <p:nvPr/>
        </p:nvSpPr>
        <p:spPr>
          <a:xfrm>
            <a:off x="10808208" y="310896"/>
            <a:ext cx="795528" cy="310896"/>
          </a:xfrm>
          <a:prstGeom prst="roundRect">
            <a:avLst>
              <a:gd name="adj" fmla="val 12000"/>
            </a:avLst>
          </a:prstGeom>
          <a:solidFill>
            <a:srgbClr val="E9F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a:hlinkClick action="ppaction://hlinksldjump" r:id="rId5"/>
          </p:cNvPr>
          <p:cNvSpPr txBox="1"/>
          <p:nvPr/>
        </p:nvSpPr>
        <p:spPr>
          <a:xfrm>
            <a:off x="10917936"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Empezar</a:t>
            </a:r>
          </a:p>
        </p:txBody>
      </p:sp>
      <p:sp>
        <p:nvSpPr>
          <p:cNvPr id="11" name="TextBox 10"/>
          <p:cNvSpPr txBox="1"/>
          <p:nvPr/>
        </p:nvSpPr>
        <p:spPr>
          <a:xfrm>
            <a:off x="548640" y="877824"/>
            <a:ext cx="11064240" cy="1234440"/>
          </a:xfrm>
          <a:prstGeom prst="rect">
            <a:avLst/>
          </a:prstGeom>
          <a:noFill/>
        </p:spPr>
        <p:txBody>
          <a:bodyPr wrap="square" lIns="0" rIns="0" tIns="0" bIns="0">
            <a:spAutoFit/>
          </a:bodyPr>
          <a:lstStyle/>
          <a:p>
            <a:pPr algn="l">
              <a:lnSpc>
                <a:spcPct val="101000"/>
              </a:lnSpc>
              <a:spcAft>
                <a:spcPts val="300"/>
              </a:spcAft>
              <a:defRPr sz="2397" b="1">
                <a:solidFill>
                  <a:srgbClr val="203350"/>
                </a:solidFill>
                <a:latin typeface="DejaVu Sans"/>
              </a:defRPr>
            </a:pPr>
            <a:r>
              <a:t>La pregunta B delimita qué observar, dónde comparar y cuándo.</a:t>
            </a:r>
          </a:p>
        </p:txBody>
      </p:sp>
      <p:sp>
        <p:nvSpPr>
          <p:cNvPr id="12" name="TextBox 11"/>
          <p:cNvSpPr txBox="1"/>
          <p:nvPr/>
        </p:nvSpPr>
        <p:spPr>
          <a:xfrm>
            <a:off x="548640" y="6446520"/>
            <a:ext cx="9966960" cy="210312"/>
          </a:xfrm>
          <a:prstGeom prst="rect">
            <a:avLst/>
          </a:prstGeom>
          <a:noFill/>
        </p:spPr>
        <p:txBody>
          <a:bodyPr wrap="square" lIns="0" rIns="0" tIns="0" bIns="0">
            <a:spAutoFit/>
          </a:bodyPr>
          <a:lstStyle/>
          <a:p>
            <a:pPr algn="l">
              <a:lnSpc>
                <a:spcPct val="101000"/>
              </a:lnSpc>
              <a:spcAft>
                <a:spcPts val="300"/>
              </a:spcAft>
              <a:defRPr sz="810" b="0">
                <a:solidFill>
                  <a:srgbClr val="5C6E83"/>
                </a:solidFill>
                <a:latin typeface="DejaVu Sans"/>
              </a:defRPr>
            </a:pPr>
            <a:r>
              <a:t>Actividad de formulación de preguntas · ejemplo hipotético</a:t>
            </a:r>
          </a:p>
        </p:txBody>
      </p:sp>
      <p:sp>
        <p:nvSpPr>
          <p:cNvPr id="13" name="Rounded Rectangle 12">
            <a:hlinkClick action="ppaction://hlinksldjump" r:id="rId6"/>
          </p:cNvPr>
          <p:cNvSpPr/>
          <p:nvPr/>
        </p:nvSpPr>
        <p:spPr>
          <a:xfrm>
            <a:off x="10469880" y="6400800"/>
            <a:ext cx="594360" cy="265176"/>
          </a:xfrm>
          <a:prstGeom prst="roundRect">
            <a:avLst>
              <a:gd name="adj" fmla="val 12000"/>
            </a:avLst>
          </a:prstGeom>
          <a:solidFill>
            <a:srgbClr val="F0E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a:hlinkClick action="ppaction://hlinksldjump" r:id="rId6"/>
          </p:cNvPr>
          <p:cNvSpPr txBox="1"/>
          <p:nvPr/>
        </p:nvSpPr>
        <p:spPr>
          <a:xfrm>
            <a:off x="10579607" y="6483096"/>
            <a:ext cx="374904" cy="173735"/>
          </a:xfrm>
          <a:prstGeom prst="rect">
            <a:avLst/>
          </a:prstGeom>
          <a:noFill/>
        </p:spPr>
        <p:txBody>
          <a:bodyPr wrap="square" lIns="0" rIns="0" tIns="0" bIns="0">
            <a:spAutoFit/>
          </a:bodyPr>
          <a:lstStyle/>
          <a:p>
            <a:pPr algn="l">
              <a:lnSpc>
                <a:spcPct val="101000"/>
              </a:lnSpc>
              <a:spcAft>
                <a:spcPts val="300"/>
              </a:spcAft>
              <a:defRPr sz="800" b="1">
                <a:solidFill>
                  <a:srgbClr val="8060BA"/>
                </a:solidFill>
                <a:latin typeface="DejaVu Sans"/>
              </a:defRPr>
            </a:pPr>
            <a:r>
              <a:t>Ruta</a:t>
            </a:r>
          </a:p>
        </p:txBody>
      </p:sp>
      <p:sp>
        <p:nvSpPr>
          <p:cNvPr id="15" name="TextBox 14"/>
          <p:cNvSpPr txBox="1"/>
          <p:nvPr/>
        </p:nvSpPr>
        <p:spPr>
          <a:xfrm>
            <a:off x="11228832" y="6400800"/>
            <a:ext cx="457200" cy="274320"/>
          </a:xfrm>
          <a:prstGeom prst="rect">
            <a:avLst/>
          </a:prstGeom>
          <a:noFill/>
        </p:spPr>
        <p:txBody>
          <a:bodyPr wrap="square" lIns="0" rIns="0" tIns="0" bIns="0">
            <a:spAutoFit/>
          </a:bodyPr>
          <a:lstStyle/>
          <a:p>
            <a:pPr algn="r">
              <a:lnSpc>
                <a:spcPct val="101000"/>
              </a:lnSpc>
              <a:spcAft>
                <a:spcPts val="300"/>
              </a:spcAft>
              <a:defRPr sz="1300" b="1">
                <a:solidFill>
                  <a:srgbClr val="203350"/>
                </a:solidFill>
                <a:latin typeface="DejaVu Sans"/>
              </a:defRPr>
            </a:pPr>
            <a:r>
              <a:t>ANX</a:t>
            </a:r>
          </a:p>
        </p:txBody>
      </p:sp>
      <p:sp>
        <p:nvSpPr>
          <p:cNvPr id="16" name="Rectangle 15"/>
          <p:cNvSpPr/>
          <p:nvPr/>
        </p:nvSpPr>
        <p:spPr>
          <a:xfrm>
            <a:off x="0" y="6821424"/>
            <a:ext cx="12191969" cy="36576"/>
          </a:xfrm>
          <a:prstGeom prst="rect">
            <a:avLst/>
          </a:prstGeom>
          <a:solidFill>
            <a:srgbClr val="8060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58368" y="2743200"/>
            <a:ext cx="10881360" cy="2084831"/>
          </a:xfrm>
          <a:prstGeom prst="roundRect">
            <a:avLst>
              <a:gd name="adj" fmla="val 12000"/>
            </a:avLst>
          </a:prstGeom>
          <a:solidFill>
            <a:srgbClr val="F0E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icon_book.png"/>
          <p:cNvPicPr>
            <a:picLocks noChangeAspect="1"/>
          </p:cNvPicPr>
          <p:nvPr/>
        </p:nvPicPr>
        <p:blipFill>
          <a:blip r:embed="rId7"/>
          <a:stretch>
            <a:fillRect/>
          </a:stretch>
        </p:blipFill>
        <p:spPr>
          <a:xfrm>
            <a:off x="941832" y="3218688"/>
            <a:ext cx="758952" cy="758952"/>
          </a:xfrm>
          <a:prstGeom prst="rect">
            <a:avLst/>
          </a:prstGeom>
        </p:spPr>
      </p:pic>
      <p:sp>
        <p:nvSpPr>
          <p:cNvPr id="19" name="TextBox 18"/>
          <p:cNvSpPr txBox="1"/>
          <p:nvPr/>
        </p:nvSpPr>
        <p:spPr>
          <a:xfrm>
            <a:off x="2020824" y="3209544"/>
            <a:ext cx="8997696" cy="1453896"/>
          </a:xfrm>
          <a:prstGeom prst="rect">
            <a:avLst/>
          </a:prstGeom>
          <a:noFill/>
        </p:spPr>
        <p:txBody>
          <a:bodyPr wrap="square" lIns="0" rIns="0" tIns="0" bIns="0">
            <a:spAutoFit/>
          </a:bodyPr>
          <a:lstStyle/>
          <a:p>
            <a:pPr algn="l">
              <a:lnSpc>
                <a:spcPct val="101000"/>
              </a:lnSpc>
              <a:spcAft>
                <a:spcPts val="300"/>
              </a:spcAft>
              <a:defRPr sz="2300" b="0">
                <a:solidFill>
                  <a:srgbClr val="203350"/>
                </a:solidFill>
                <a:latin typeface="DejaVu Sans"/>
              </a:defRPr>
            </a:pPr>
            <a:r>
              <a:t>Todavía necesita un diseño, recursos y acuerdos. El propósito es responder con evidencia, incluso si el resultado obliga a cambiar la idea.</a:t>
            </a:r>
          </a:p>
        </p:txBody>
      </p:sp>
      <p:sp>
        <p:nvSpPr>
          <p:cNvPr id="20" name="Rounded Rectangle 19">
            <a:hlinkClick action="ppaction://hlinksldjump" r:id="rId8"/>
          </p:cNvPr>
          <p:cNvSpPr/>
          <p:nvPr/>
        </p:nvSpPr>
        <p:spPr>
          <a:xfrm>
            <a:off x="713232" y="5367528"/>
            <a:ext cx="2834640" cy="493776"/>
          </a:xfrm>
          <a:prstGeom prst="roundRect">
            <a:avLst>
              <a:gd name="adj" fmla="val 12000"/>
            </a:avLst>
          </a:prstGeom>
          <a:solidFill>
            <a:srgbClr val="F0E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a:hlinkClick action="ppaction://hlinksldjump" r:id="rId8"/>
          </p:cNvPr>
          <p:cNvSpPr txBox="1"/>
          <p:nvPr/>
        </p:nvSpPr>
        <p:spPr>
          <a:xfrm>
            <a:off x="822960" y="5449824"/>
            <a:ext cx="2615184" cy="402336"/>
          </a:xfrm>
          <a:prstGeom prst="rect">
            <a:avLst/>
          </a:prstGeom>
          <a:noFill/>
        </p:spPr>
        <p:txBody>
          <a:bodyPr wrap="square" lIns="0" rIns="0" tIns="0" bIns="0">
            <a:spAutoFit/>
          </a:bodyPr>
          <a:lstStyle/>
          <a:p>
            <a:pPr algn="l">
              <a:lnSpc>
                <a:spcPct val="101000"/>
              </a:lnSpc>
              <a:spcAft>
                <a:spcPts val="300"/>
              </a:spcAft>
              <a:defRPr sz="1300" b="1">
                <a:solidFill>
                  <a:srgbClr val="203350"/>
                </a:solidFill>
                <a:latin typeface="DejaVu Sans"/>
              </a:defRPr>
            </a:pPr>
            <a:r>
              <a:t>Volver a la pregunta</a:t>
            </a:r>
          </a:p>
        </p:txBody>
      </p:sp>
      <p:sp>
        <p:nvSpPr>
          <p:cNvPr id="22" name="Rounded Rectangle 21">
            <a:hlinkClick action="ppaction://hlinksldjump" r:id="rId9"/>
          </p:cNvPr>
          <p:cNvSpPr/>
          <p:nvPr/>
        </p:nvSpPr>
        <p:spPr>
          <a:xfrm>
            <a:off x="3886200" y="5367528"/>
            <a:ext cx="3474720" cy="493776"/>
          </a:xfrm>
          <a:prstGeom prst="roundRect">
            <a:avLst>
              <a:gd name="adj" fmla="val 12000"/>
            </a:avLst>
          </a:prstGeom>
          <a:solidFill>
            <a:srgbClr val="8060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a:hlinkClick action="ppaction://hlinksldjump" r:id="rId9"/>
          </p:cNvPr>
          <p:cNvSpPr txBox="1"/>
          <p:nvPr/>
        </p:nvSpPr>
        <p:spPr>
          <a:xfrm>
            <a:off x="3995928" y="5449824"/>
            <a:ext cx="3255263" cy="402336"/>
          </a:xfrm>
          <a:prstGeom prst="rect">
            <a:avLst/>
          </a:prstGeom>
          <a:noFill/>
        </p:spPr>
        <p:txBody>
          <a:bodyPr wrap="square" lIns="0" rIns="0" tIns="0" bIns="0">
            <a:spAutoFit/>
          </a:bodyPr>
          <a:lstStyle/>
          <a:p>
            <a:pPr algn="l">
              <a:lnSpc>
                <a:spcPct val="101000"/>
              </a:lnSpc>
              <a:spcAft>
                <a:spcPts val="300"/>
              </a:spcAft>
              <a:defRPr sz="1300" b="1">
                <a:solidFill>
                  <a:srgbClr val="FFFFFF"/>
                </a:solidFill>
                <a:latin typeface="DejaVu Sans"/>
              </a:defRPr>
            </a:pPr>
            <a:r>
              <a:t>Continuar la clase →</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9FBFF"/>
        </a:solidFill>
        <a:effectLst/>
      </p:bgPr>
    </p:bg>
    <p:spTree>
      <p:nvGrpSpPr>
        <p:cNvPr id="1" name=""/>
        <p:cNvGrpSpPr/>
        <p:nvPr/>
      </p:nvGrpSpPr>
      <p:grpSpPr/>
      <p:sp>
        <p:nvSpPr>
          <p:cNvPr id="2" name="TextBox 1"/>
          <p:cNvSpPr txBox="1"/>
          <p:nvPr/>
        </p:nvSpPr>
        <p:spPr>
          <a:xfrm>
            <a:off x="548640" y="365760"/>
            <a:ext cx="7543800" cy="274320"/>
          </a:xfrm>
          <a:prstGeom prst="rect">
            <a:avLst/>
          </a:prstGeom>
          <a:noFill/>
        </p:spPr>
        <p:txBody>
          <a:bodyPr wrap="square" lIns="0" rIns="0" tIns="0" bIns="0">
            <a:spAutoFit/>
          </a:bodyPr>
          <a:lstStyle/>
          <a:p>
            <a:pPr algn="l">
              <a:lnSpc>
                <a:spcPct val="101000"/>
              </a:lnSpc>
              <a:spcAft>
                <a:spcPts val="300"/>
              </a:spcAft>
              <a:defRPr sz="930" b="1">
                <a:solidFill>
                  <a:srgbClr val="8060BA"/>
                </a:solidFill>
                <a:latin typeface="DejaVu Sans"/>
              </a:defRPr>
            </a:pPr>
            <a:r>
              <a:t>ANEXO · RETROALIMENTACIÓN</a:t>
            </a:r>
          </a:p>
        </p:txBody>
      </p:sp>
      <p:sp>
        <p:nvSpPr>
          <p:cNvPr id="3" name="Rounded Rectangle 2">
            <a:hlinkClick action="ppaction://hlinksldjump" r:id="rId2"/>
          </p:cNvPr>
          <p:cNvSpPr/>
          <p:nvPr/>
        </p:nvSpPr>
        <p:spPr>
          <a:xfrm>
            <a:off x="8229600" y="310896"/>
            <a:ext cx="795528" cy="310896"/>
          </a:xfrm>
          <a:prstGeom prst="roundRect">
            <a:avLst>
              <a:gd name="adj" fmla="val 12000"/>
            </a:avLst>
          </a:prstGeom>
          <a:solidFill>
            <a:srgbClr val="E2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a:hlinkClick action="ppaction://hlinksldjump" r:id="rId2"/>
          </p:cNvPr>
          <p:cNvSpPr txBox="1"/>
          <p:nvPr/>
        </p:nvSpPr>
        <p:spPr>
          <a:xfrm>
            <a:off x="8339327"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Explorar</a:t>
            </a:r>
          </a:p>
        </p:txBody>
      </p:sp>
      <p:sp>
        <p:nvSpPr>
          <p:cNvPr id="5" name="Rounded Rectangle 4">
            <a:hlinkClick action="ppaction://hlinksldjump" r:id="rId3"/>
          </p:cNvPr>
          <p:cNvSpPr/>
          <p:nvPr/>
        </p:nvSpPr>
        <p:spPr>
          <a:xfrm>
            <a:off x="9089136" y="310896"/>
            <a:ext cx="795528" cy="310896"/>
          </a:xfrm>
          <a:prstGeom prst="roundRect">
            <a:avLst>
              <a:gd name="adj" fmla="val 12000"/>
            </a:avLst>
          </a:prstGeom>
          <a:solidFill>
            <a:srgbClr val="F0E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a:hlinkClick action="ppaction://hlinksldjump" r:id="rId3"/>
          </p:cNvPr>
          <p:cNvSpPr txBox="1"/>
          <p:nvPr/>
        </p:nvSpPr>
        <p:spPr>
          <a:xfrm>
            <a:off x="9198863"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Diseñar</a:t>
            </a:r>
          </a:p>
        </p:txBody>
      </p:sp>
      <p:sp>
        <p:nvSpPr>
          <p:cNvPr id="7" name="Rounded Rectangle 6">
            <a:hlinkClick action="ppaction://hlinksldjump" r:id="rId4"/>
          </p:cNvPr>
          <p:cNvSpPr/>
          <p:nvPr/>
        </p:nvSpPr>
        <p:spPr>
          <a:xfrm>
            <a:off x="9948672" y="310896"/>
            <a:ext cx="795528" cy="310896"/>
          </a:xfrm>
          <a:prstGeom prst="roundRect">
            <a:avLst>
              <a:gd name="adj" fmla="val 12000"/>
            </a:avLst>
          </a:prstGeom>
          <a:solidFill>
            <a:srgbClr val="FFF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a:hlinkClick action="ppaction://hlinksldjump" r:id="rId4"/>
          </p:cNvPr>
          <p:cNvSpPr txBox="1"/>
          <p:nvPr/>
        </p:nvSpPr>
        <p:spPr>
          <a:xfrm>
            <a:off x="10058399"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Servir</a:t>
            </a:r>
          </a:p>
        </p:txBody>
      </p:sp>
      <p:sp>
        <p:nvSpPr>
          <p:cNvPr id="9" name="Rounded Rectangle 8">
            <a:hlinkClick action="ppaction://hlinksldjump" r:id="rId5"/>
          </p:cNvPr>
          <p:cNvSpPr/>
          <p:nvPr/>
        </p:nvSpPr>
        <p:spPr>
          <a:xfrm>
            <a:off x="10808208" y="310896"/>
            <a:ext cx="795528" cy="310896"/>
          </a:xfrm>
          <a:prstGeom prst="roundRect">
            <a:avLst>
              <a:gd name="adj" fmla="val 12000"/>
            </a:avLst>
          </a:prstGeom>
          <a:solidFill>
            <a:srgbClr val="E9F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a:hlinkClick action="ppaction://hlinksldjump" r:id="rId5"/>
          </p:cNvPr>
          <p:cNvSpPr txBox="1"/>
          <p:nvPr/>
        </p:nvSpPr>
        <p:spPr>
          <a:xfrm>
            <a:off x="10917936"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Empezar</a:t>
            </a:r>
          </a:p>
        </p:txBody>
      </p:sp>
      <p:sp>
        <p:nvSpPr>
          <p:cNvPr id="11" name="TextBox 10"/>
          <p:cNvSpPr txBox="1"/>
          <p:nvPr/>
        </p:nvSpPr>
        <p:spPr>
          <a:xfrm>
            <a:off x="548640" y="877824"/>
            <a:ext cx="11064240" cy="1234440"/>
          </a:xfrm>
          <a:prstGeom prst="rect">
            <a:avLst/>
          </a:prstGeom>
          <a:noFill/>
        </p:spPr>
        <p:txBody>
          <a:bodyPr wrap="square" lIns="0" rIns="0" tIns="0" bIns="0">
            <a:spAutoFit/>
          </a:bodyPr>
          <a:lstStyle/>
          <a:p>
            <a:pPr algn="l">
              <a:lnSpc>
                <a:spcPct val="101000"/>
              </a:lnSpc>
              <a:spcAft>
                <a:spcPts val="300"/>
              </a:spcAft>
              <a:defRPr sz="3900" b="1">
                <a:solidFill>
                  <a:srgbClr val="203350"/>
                </a:solidFill>
                <a:latin typeface="DejaVu Sans"/>
              </a:defRPr>
            </a:pPr>
            <a:r>
              <a:t>La diversidad describe</a:t>
            </a:r>
          </a:p>
          <a:p>
            <a:pPr algn="l">
              <a:lnSpc>
                <a:spcPct val="101000"/>
              </a:lnSpc>
              <a:spcAft>
                <a:spcPts val="300"/>
              </a:spcAft>
              <a:defRPr sz="3900" b="1">
                <a:solidFill>
                  <a:srgbClr val="203350"/>
                </a:solidFill>
                <a:latin typeface="DejaVu Sans"/>
              </a:defRPr>
            </a:pPr>
            <a:r>
              <a:t>la comunidad, no el riesgo</a:t>
            </a:r>
          </a:p>
        </p:txBody>
      </p:sp>
      <p:sp>
        <p:nvSpPr>
          <p:cNvPr id="12" name="TextBox 11"/>
          <p:cNvSpPr txBox="1"/>
          <p:nvPr/>
        </p:nvSpPr>
        <p:spPr>
          <a:xfrm>
            <a:off x="548640" y="6446520"/>
            <a:ext cx="9966960" cy="210312"/>
          </a:xfrm>
          <a:prstGeom prst="rect">
            <a:avLst/>
          </a:prstGeom>
          <a:noFill/>
        </p:spPr>
        <p:txBody>
          <a:bodyPr wrap="square" lIns="0" rIns="0" tIns="0" bIns="0">
            <a:spAutoFit/>
          </a:bodyPr>
          <a:lstStyle/>
          <a:p>
            <a:pPr algn="l">
              <a:lnSpc>
                <a:spcPct val="101000"/>
              </a:lnSpc>
              <a:spcAft>
                <a:spcPts val="300"/>
              </a:spcAft>
              <a:defRPr sz="810" b="0">
                <a:solidFill>
                  <a:srgbClr val="5C6E83"/>
                </a:solidFill>
                <a:latin typeface="DejaVu Sans"/>
              </a:defRPr>
            </a:pPr>
            <a:r>
              <a:t>ECCA_EE_CY_vc1, diaps. 14–15 y 20; ± sin definición en la fuente</a:t>
            </a:r>
          </a:p>
        </p:txBody>
      </p:sp>
      <p:sp>
        <p:nvSpPr>
          <p:cNvPr id="13" name="Rounded Rectangle 12">
            <a:hlinkClick action="ppaction://hlinksldjump" r:id="rId6"/>
          </p:cNvPr>
          <p:cNvSpPr/>
          <p:nvPr/>
        </p:nvSpPr>
        <p:spPr>
          <a:xfrm>
            <a:off x="10469880" y="6400800"/>
            <a:ext cx="594360" cy="265176"/>
          </a:xfrm>
          <a:prstGeom prst="roundRect">
            <a:avLst>
              <a:gd name="adj" fmla="val 12000"/>
            </a:avLst>
          </a:prstGeom>
          <a:solidFill>
            <a:srgbClr val="F0E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a:hlinkClick action="ppaction://hlinksldjump" r:id="rId6"/>
          </p:cNvPr>
          <p:cNvSpPr txBox="1"/>
          <p:nvPr/>
        </p:nvSpPr>
        <p:spPr>
          <a:xfrm>
            <a:off x="10579607" y="6483096"/>
            <a:ext cx="374904" cy="173735"/>
          </a:xfrm>
          <a:prstGeom prst="rect">
            <a:avLst/>
          </a:prstGeom>
          <a:noFill/>
        </p:spPr>
        <p:txBody>
          <a:bodyPr wrap="square" lIns="0" rIns="0" tIns="0" bIns="0">
            <a:spAutoFit/>
          </a:bodyPr>
          <a:lstStyle/>
          <a:p>
            <a:pPr algn="l">
              <a:lnSpc>
                <a:spcPct val="101000"/>
              </a:lnSpc>
              <a:spcAft>
                <a:spcPts val="300"/>
              </a:spcAft>
              <a:defRPr sz="800" b="1">
                <a:solidFill>
                  <a:srgbClr val="8060BA"/>
                </a:solidFill>
                <a:latin typeface="DejaVu Sans"/>
              </a:defRPr>
            </a:pPr>
            <a:r>
              <a:t>Ruta</a:t>
            </a:r>
          </a:p>
        </p:txBody>
      </p:sp>
      <p:sp>
        <p:nvSpPr>
          <p:cNvPr id="15" name="TextBox 14"/>
          <p:cNvSpPr txBox="1"/>
          <p:nvPr/>
        </p:nvSpPr>
        <p:spPr>
          <a:xfrm>
            <a:off x="11228832" y="6400800"/>
            <a:ext cx="457200" cy="274320"/>
          </a:xfrm>
          <a:prstGeom prst="rect">
            <a:avLst/>
          </a:prstGeom>
          <a:noFill/>
        </p:spPr>
        <p:txBody>
          <a:bodyPr wrap="square" lIns="0" rIns="0" tIns="0" bIns="0">
            <a:spAutoFit/>
          </a:bodyPr>
          <a:lstStyle/>
          <a:p>
            <a:pPr algn="r">
              <a:lnSpc>
                <a:spcPct val="101000"/>
              </a:lnSpc>
              <a:spcAft>
                <a:spcPts val="300"/>
              </a:spcAft>
              <a:defRPr sz="1300" b="1">
                <a:solidFill>
                  <a:srgbClr val="203350"/>
                </a:solidFill>
                <a:latin typeface="DejaVu Sans"/>
              </a:defRPr>
            </a:pPr>
            <a:r>
              <a:t>ANX</a:t>
            </a:r>
          </a:p>
        </p:txBody>
      </p:sp>
      <p:sp>
        <p:nvSpPr>
          <p:cNvPr id="16" name="Rectangle 15"/>
          <p:cNvSpPr/>
          <p:nvPr/>
        </p:nvSpPr>
        <p:spPr>
          <a:xfrm>
            <a:off x="0" y="6821424"/>
            <a:ext cx="12191969" cy="36576"/>
          </a:xfrm>
          <a:prstGeom prst="rect">
            <a:avLst/>
          </a:prstGeom>
          <a:solidFill>
            <a:srgbClr val="8060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58368" y="2743200"/>
            <a:ext cx="10881360" cy="2084831"/>
          </a:xfrm>
          <a:prstGeom prst="roundRect">
            <a:avLst>
              <a:gd name="adj" fmla="val 12000"/>
            </a:avLst>
          </a:prstGeom>
          <a:solidFill>
            <a:srgbClr val="F0E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icon_book.png"/>
          <p:cNvPicPr>
            <a:picLocks noChangeAspect="1"/>
          </p:cNvPicPr>
          <p:nvPr/>
        </p:nvPicPr>
        <p:blipFill>
          <a:blip r:embed="rId7"/>
          <a:stretch>
            <a:fillRect/>
          </a:stretch>
        </p:blipFill>
        <p:spPr>
          <a:xfrm>
            <a:off x="941832" y="3218688"/>
            <a:ext cx="758952" cy="758952"/>
          </a:xfrm>
          <a:prstGeom prst="rect">
            <a:avLst/>
          </a:prstGeom>
        </p:spPr>
      </p:pic>
      <p:sp>
        <p:nvSpPr>
          <p:cNvPr id="19" name="TextBox 18"/>
          <p:cNvSpPr txBox="1"/>
          <p:nvPr/>
        </p:nvSpPr>
        <p:spPr>
          <a:xfrm>
            <a:off x="2020824" y="3209544"/>
            <a:ext cx="8997696" cy="1453896"/>
          </a:xfrm>
          <a:prstGeom prst="rect">
            <a:avLst/>
          </a:prstGeom>
          <a:noFill/>
        </p:spPr>
        <p:txBody>
          <a:bodyPr wrap="square" lIns="0" rIns="0" tIns="0" bIns="0">
            <a:spAutoFit/>
          </a:bodyPr>
          <a:lstStyle/>
          <a:p>
            <a:pPr algn="l">
              <a:lnSpc>
                <a:spcPct val="101000"/>
              </a:lnSpc>
              <a:spcAft>
                <a:spcPts val="300"/>
              </a:spcAft>
              <a:defRPr sz="2300" b="0">
                <a:solidFill>
                  <a:srgbClr val="203350"/>
                </a:solidFill>
                <a:latin typeface="DejaVu Sans"/>
              </a:defRPr>
            </a:pPr>
            <a:r>
              <a:t>Para evaluar riesgo se necesita información adicional sobre organismos, viabilidad, exposición y contexto.</a:t>
            </a:r>
          </a:p>
          <a:p>
            <a:pPr algn="l">
              <a:lnSpc>
                <a:spcPct val="101000"/>
              </a:lnSpc>
              <a:spcAft>
                <a:spcPts val="300"/>
              </a:spcAft>
              <a:defRPr sz="2300" b="0">
                <a:solidFill>
                  <a:srgbClr val="203350"/>
                </a:solidFill>
                <a:latin typeface="DejaVu Sans"/>
              </a:defRPr>
            </a:pPr>
          </a:p>
          <a:p>
            <a:pPr algn="l">
              <a:lnSpc>
                <a:spcPct val="101000"/>
              </a:lnSpc>
              <a:spcAft>
                <a:spcPts val="300"/>
              </a:spcAft>
              <a:defRPr sz="2300" b="0">
                <a:solidFill>
                  <a:srgbClr val="203350"/>
                </a:solidFill>
                <a:latin typeface="DejaVu Sans"/>
              </a:defRPr>
            </a:pPr>
            <a:r>
              <a:t>Detectar ADN no confirma viabilidad ni demuestra infección.</a:t>
            </a:r>
          </a:p>
        </p:txBody>
      </p:sp>
      <p:sp>
        <p:nvSpPr>
          <p:cNvPr id="20" name="Rounded Rectangle 19">
            <a:hlinkClick action="ppaction://hlinksldjump" r:id="rId8"/>
          </p:cNvPr>
          <p:cNvSpPr/>
          <p:nvPr/>
        </p:nvSpPr>
        <p:spPr>
          <a:xfrm>
            <a:off x="713232" y="5367528"/>
            <a:ext cx="2834640" cy="493776"/>
          </a:xfrm>
          <a:prstGeom prst="roundRect">
            <a:avLst>
              <a:gd name="adj" fmla="val 12000"/>
            </a:avLst>
          </a:prstGeom>
          <a:solidFill>
            <a:srgbClr val="F0E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a:hlinkClick action="ppaction://hlinksldjump" r:id="rId8"/>
          </p:cNvPr>
          <p:cNvSpPr txBox="1"/>
          <p:nvPr/>
        </p:nvSpPr>
        <p:spPr>
          <a:xfrm>
            <a:off x="822960" y="5449824"/>
            <a:ext cx="2615184" cy="402336"/>
          </a:xfrm>
          <a:prstGeom prst="rect">
            <a:avLst/>
          </a:prstGeom>
          <a:noFill/>
        </p:spPr>
        <p:txBody>
          <a:bodyPr wrap="square" lIns="0" rIns="0" tIns="0" bIns="0">
            <a:spAutoFit/>
          </a:bodyPr>
          <a:lstStyle/>
          <a:p>
            <a:pPr algn="l">
              <a:lnSpc>
                <a:spcPct val="101000"/>
              </a:lnSpc>
              <a:spcAft>
                <a:spcPts val="300"/>
              </a:spcAft>
              <a:defRPr sz="1300" b="1">
                <a:solidFill>
                  <a:srgbClr val="203350"/>
                </a:solidFill>
                <a:latin typeface="DejaVu Sans"/>
              </a:defRPr>
            </a:pPr>
            <a:r>
              <a:t>Volver a la pregunta</a:t>
            </a:r>
          </a:p>
        </p:txBody>
      </p:sp>
      <p:sp>
        <p:nvSpPr>
          <p:cNvPr id="22" name="Rounded Rectangle 21">
            <a:hlinkClick action="ppaction://hlinksldjump" r:id="rId4"/>
          </p:cNvPr>
          <p:cNvSpPr/>
          <p:nvPr/>
        </p:nvSpPr>
        <p:spPr>
          <a:xfrm>
            <a:off x="3886200" y="5367528"/>
            <a:ext cx="3474720" cy="493776"/>
          </a:xfrm>
          <a:prstGeom prst="roundRect">
            <a:avLst>
              <a:gd name="adj" fmla="val 12000"/>
            </a:avLst>
          </a:prstGeom>
          <a:solidFill>
            <a:srgbClr val="8060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a:hlinkClick action="ppaction://hlinksldjump" r:id="rId4"/>
          </p:cNvPr>
          <p:cNvSpPr txBox="1"/>
          <p:nvPr/>
        </p:nvSpPr>
        <p:spPr>
          <a:xfrm>
            <a:off x="3995928" y="5449824"/>
            <a:ext cx="3255263" cy="402336"/>
          </a:xfrm>
          <a:prstGeom prst="rect">
            <a:avLst/>
          </a:prstGeom>
          <a:noFill/>
        </p:spPr>
        <p:txBody>
          <a:bodyPr wrap="square" lIns="0" rIns="0" tIns="0" bIns="0">
            <a:spAutoFit/>
          </a:bodyPr>
          <a:lstStyle/>
          <a:p>
            <a:pPr algn="l">
              <a:lnSpc>
                <a:spcPct val="101000"/>
              </a:lnSpc>
              <a:spcAft>
                <a:spcPts val="300"/>
              </a:spcAft>
              <a:defRPr sz="1300" b="1">
                <a:solidFill>
                  <a:srgbClr val="FFFFFF"/>
                </a:solidFill>
                <a:latin typeface="DejaVu Sans"/>
              </a:defRPr>
            </a:pPr>
            <a:r>
              <a:t>Continuar la clase →</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9FBFF"/>
        </a:solidFill>
        <a:effectLst/>
      </p:bgPr>
    </p:bg>
    <p:spTree>
      <p:nvGrpSpPr>
        <p:cNvPr id="1" name=""/>
        <p:cNvGrpSpPr/>
        <p:nvPr/>
      </p:nvGrpSpPr>
      <p:grpSpPr/>
      <p:sp>
        <p:nvSpPr>
          <p:cNvPr id="2" name="TextBox 1"/>
          <p:cNvSpPr txBox="1"/>
          <p:nvPr/>
        </p:nvSpPr>
        <p:spPr>
          <a:xfrm>
            <a:off x="548640" y="365760"/>
            <a:ext cx="7543800" cy="274320"/>
          </a:xfrm>
          <a:prstGeom prst="rect">
            <a:avLst/>
          </a:prstGeom>
          <a:noFill/>
        </p:spPr>
        <p:txBody>
          <a:bodyPr wrap="square" lIns="0" rIns="0" tIns="0" bIns="0">
            <a:spAutoFit/>
          </a:bodyPr>
          <a:lstStyle/>
          <a:p>
            <a:pPr algn="l">
              <a:lnSpc>
                <a:spcPct val="101000"/>
              </a:lnSpc>
              <a:spcAft>
                <a:spcPts val="300"/>
              </a:spcAft>
              <a:defRPr sz="930" b="1">
                <a:solidFill>
                  <a:srgbClr val="8060BA"/>
                </a:solidFill>
                <a:latin typeface="DejaVu Sans"/>
              </a:defRPr>
            </a:pPr>
            <a:r>
              <a:t>ANEXO · FUENTES</a:t>
            </a:r>
          </a:p>
        </p:txBody>
      </p:sp>
      <p:sp>
        <p:nvSpPr>
          <p:cNvPr id="3" name="Rounded Rectangle 2">
            <a:hlinkClick action="ppaction://hlinksldjump" r:id="rId2"/>
          </p:cNvPr>
          <p:cNvSpPr/>
          <p:nvPr/>
        </p:nvSpPr>
        <p:spPr>
          <a:xfrm>
            <a:off x="8229600" y="310896"/>
            <a:ext cx="795528" cy="310896"/>
          </a:xfrm>
          <a:prstGeom prst="roundRect">
            <a:avLst>
              <a:gd name="adj" fmla="val 12000"/>
            </a:avLst>
          </a:prstGeom>
          <a:solidFill>
            <a:srgbClr val="E2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a:hlinkClick action="ppaction://hlinksldjump" r:id="rId2"/>
          </p:cNvPr>
          <p:cNvSpPr txBox="1"/>
          <p:nvPr/>
        </p:nvSpPr>
        <p:spPr>
          <a:xfrm>
            <a:off x="8339327"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Explorar</a:t>
            </a:r>
          </a:p>
        </p:txBody>
      </p:sp>
      <p:sp>
        <p:nvSpPr>
          <p:cNvPr id="5" name="Rounded Rectangle 4">
            <a:hlinkClick action="ppaction://hlinksldjump" r:id="rId3"/>
          </p:cNvPr>
          <p:cNvSpPr/>
          <p:nvPr/>
        </p:nvSpPr>
        <p:spPr>
          <a:xfrm>
            <a:off x="9089136" y="310896"/>
            <a:ext cx="795528" cy="310896"/>
          </a:xfrm>
          <a:prstGeom prst="roundRect">
            <a:avLst>
              <a:gd name="adj" fmla="val 12000"/>
            </a:avLst>
          </a:prstGeom>
          <a:solidFill>
            <a:srgbClr val="F0E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a:hlinkClick action="ppaction://hlinksldjump" r:id="rId3"/>
          </p:cNvPr>
          <p:cNvSpPr txBox="1"/>
          <p:nvPr/>
        </p:nvSpPr>
        <p:spPr>
          <a:xfrm>
            <a:off x="9198863"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Diseñar</a:t>
            </a:r>
          </a:p>
        </p:txBody>
      </p:sp>
      <p:sp>
        <p:nvSpPr>
          <p:cNvPr id="7" name="Rounded Rectangle 6">
            <a:hlinkClick action="ppaction://hlinksldjump" r:id="rId4"/>
          </p:cNvPr>
          <p:cNvSpPr/>
          <p:nvPr/>
        </p:nvSpPr>
        <p:spPr>
          <a:xfrm>
            <a:off x="9948672" y="310896"/>
            <a:ext cx="795528" cy="310896"/>
          </a:xfrm>
          <a:prstGeom prst="roundRect">
            <a:avLst>
              <a:gd name="adj" fmla="val 12000"/>
            </a:avLst>
          </a:prstGeom>
          <a:solidFill>
            <a:srgbClr val="FFF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a:hlinkClick action="ppaction://hlinksldjump" r:id="rId4"/>
          </p:cNvPr>
          <p:cNvSpPr txBox="1"/>
          <p:nvPr/>
        </p:nvSpPr>
        <p:spPr>
          <a:xfrm>
            <a:off x="10058399"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Servir</a:t>
            </a:r>
          </a:p>
        </p:txBody>
      </p:sp>
      <p:sp>
        <p:nvSpPr>
          <p:cNvPr id="9" name="Rounded Rectangle 8">
            <a:hlinkClick action="ppaction://hlinksldjump" r:id="rId5"/>
          </p:cNvPr>
          <p:cNvSpPr/>
          <p:nvPr/>
        </p:nvSpPr>
        <p:spPr>
          <a:xfrm>
            <a:off x="10808208" y="310896"/>
            <a:ext cx="795528" cy="310896"/>
          </a:xfrm>
          <a:prstGeom prst="roundRect">
            <a:avLst>
              <a:gd name="adj" fmla="val 12000"/>
            </a:avLst>
          </a:prstGeom>
          <a:solidFill>
            <a:srgbClr val="E9F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a:hlinkClick action="ppaction://hlinksldjump" r:id="rId5"/>
          </p:cNvPr>
          <p:cNvSpPr txBox="1"/>
          <p:nvPr/>
        </p:nvSpPr>
        <p:spPr>
          <a:xfrm>
            <a:off x="10917936"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Empezar</a:t>
            </a:r>
          </a:p>
        </p:txBody>
      </p:sp>
      <p:sp>
        <p:nvSpPr>
          <p:cNvPr id="11" name="TextBox 10"/>
          <p:cNvSpPr txBox="1"/>
          <p:nvPr/>
        </p:nvSpPr>
        <p:spPr>
          <a:xfrm>
            <a:off x="548640" y="877824"/>
            <a:ext cx="11064240" cy="1234440"/>
          </a:xfrm>
          <a:prstGeom prst="rect">
            <a:avLst/>
          </a:prstGeom>
          <a:noFill/>
        </p:spPr>
        <p:txBody>
          <a:bodyPr wrap="square" lIns="0" rIns="0" tIns="0" bIns="0">
            <a:spAutoFit/>
          </a:bodyPr>
          <a:lstStyle/>
          <a:p>
            <a:pPr algn="l">
              <a:lnSpc>
                <a:spcPct val="101000"/>
              </a:lnSpc>
              <a:spcAft>
                <a:spcPts val="300"/>
              </a:spcAft>
              <a:defRPr sz="3900" b="1">
                <a:solidFill>
                  <a:srgbClr val="203350"/>
                </a:solidFill>
                <a:latin typeface="DejaVu Sans"/>
              </a:defRPr>
            </a:pPr>
            <a:r>
              <a:t>Las experiencias y los datos</a:t>
            </a:r>
          </a:p>
          <a:p>
            <a:pPr algn="l">
              <a:lnSpc>
                <a:spcPct val="101000"/>
              </a:lnSpc>
              <a:spcAft>
                <a:spcPts val="300"/>
              </a:spcAft>
              <a:defRPr sz="3900" b="1">
                <a:solidFill>
                  <a:srgbClr val="203350"/>
                </a:solidFill>
                <a:latin typeface="DejaVu Sans"/>
              </a:defRPr>
            </a:pPr>
            <a:r>
              <a:t>conservan sus referencias</a:t>
            </a:r>
          </a:p>
        </p:txBody>
      </p:sp>
      <p:sp>
        <p:nvSpPr>
          <p:cNvPr id="12" name="TextBox 11"/>
          <p:cNvSpPr txBox="1"/>
          <p:nvPr/>
        </p:nvSpPr>
        <p:spPr>
          <a:xfrm>
            <a:off x="548640" y="6446520"/>
            <a:ext cx="9966960" cy="210312"/>
          </a:xfrm>
          <a:prstGeom prst="rect">
            <a:avLst/>
          </a:prstGeom>
          <a:noFill/>
        </p:spPr>
        <p:txBody>
          <a:bodyPr wrap="square" lIns="0" rIns="0" tIns="0" bIns="0">
            <a:spAutoFit/>
          </a:bodyPr>
          <a:lstStyle/>
          <a:p>
            <a:pPr algn="l">
              <a:lnSpc>
                <a:spcPct val="101000"/>
              </a:lnSpc>
              <a:spcAft>
                <a:spcPts val="300"/>
              </a:spcAft>
              <a:defRPr sz="810" b="0">
                <a:solidFill>
                  <a:srgbClr val="5C6E83"/>
                </a:solidFill>
                <a:latin typeface="DejaVu Sans"/>
              </a:defRPr>
            </a:pPr>
            <a:r>
              <a:t>Ilustraciones originales y conceptuales. El taller y los ejemplos se crearon para esta clase.</a:t>
            </a:r>
          </a:p>
        </p:txBody>
      </p:sp>
      <p:sp>
        <p:nvSpPr>
          <p:cNvPr id="13" name="Rounded Rectangle 12">
            <a:hlinkClick action="ppaction://hlinksldjump" r:id="rId6"/>
          </p:cNvPr>
          <p:cNvSpPr/>
          <p:nvPr/>
        </p:nvSpPr>
        <p:spPr>
          <a:xfrm>
            <a:off x="10469880" y="6400800"/>
            <a:ext cx="594360" cy="265176"/>
          </a:xfrm>
          <a:prstGeom prst="roundRect">
            <a:avLst>
              <a:gd name="adj" fmla="val 12000"/>
            </a:avLst>
          </a:prstGeom>
          <a:solidFill>
            <a:srgbClr val="F0E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a:hlinkClick action="ppaction://hlinksldjump" r:id="rId6"/>
          </p:cNvPr>
          <p:cNvSpPr txBox="1"/>
          <p:nvPr/>
        </p:nvSpPr>
        <p:spPr>
          <a:xfrm>
            <a:off x="10579607" y="6483096"/>
            <a:ext cx="374904" cy="173735"/>
          </a:xfrm>
          <a:prstGeom prst="rect">
            <a:avLst/>
          </a:prstGeom>
          <a:noFill/>
        </p:spPr>
        <p:txBody>
          <a:bodyPr wrap="square" lIns="0" rIns="0" tIns="0" bIns="0">
            <a:spAutoFit/>
          </a:bodyPr>
          <a:lstStyle/>
          <a:p>
            <a:pPr algn="l">
              <a:lnSpc>
                <a:spcPct val="101000"/>
              </a:lnSpc>
              <a:spcAft>
                <a:spcPts val="300"/>
              </a:spcAft>
              <a:defRPr sz="800" b="1">
                <a:solidFill>
                  <a:srgbClr val="8060BA"/>
                </a:solidFill>
                <a:latin typeface="DejaVu Sans"/>
              </a:defRPr>
            </a:pPr>
            <a:r>
              <a:t>Ruta</a:t>
            </a:r>
          </a:p>
        </p:txBody>
      </p:sp>
      <p:sp>
        <p:nvSpPr>
          <p:cNvPr id="15" name="TextBox 14"/>
          <p:cNvSpPr txBox="1"/>
          <p:nvPr/>
        </p:nvSpPr>
        <p:spPr>
          <a:xfrm>
            <a:off x="11228832" y="6400800"/>
            <a:ext cx="457200" cy="274320"/>
          </a:xfrm>
          <a:prstGeom prst="rect">
            <a:avLst/>
          </a:prstGeom>
          <a:noFill/>
        </p:spPr>
        <p:txBody>
          <a:bodyPr wrap="square" lIns="0" rIns="0" tIns="0" bIns="0">
            <a:spAutoFit/>
          </a:bodyPr>
          <a:lstStyle/>
          <a:p>
            <a:pPr algn="r">
              <a:lnSpc>
                <a:spcPct val="101000"/>
              </a:lnSpc>
              <a:spcAft>
                <a:spcPts val="300"/>
              </a:spcAft>
              <a:defRPr sz="1300" b="1">
                <a:solidFill>
                  <a:srgbClr val="203350"/>
                </a:solidFill>
                <a:latin typeface="DejaVu Sans"/>
              </a:defRPr>
            </a:pPr>
            <a:r>
              <a:t>ANX</a:t>
            </a:r>
          </a:p>
        </p:txBody>
      </p:sp>
      <p:sp>
        <p:nvSpPr>
          <p:cNvPr id="16" name="Rectangle 15"/>
          <p:cNvSpPr/>
          <p:nvPr/>
        </p:nvSpPr>
        <p:spPr>
          <a:xfrm>
            <a:off x="0" y="6821424"/>
            <a:ext cx="12191969" cy="36576"/>
          </a:xfrm>
          <a:prstGeom prst="rect">
            <a:avLst/>
          </a:prstGeom>
          <a:solidFill>
            <a:srgbClr val="8060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58368" y="2660904"/>
            <a:ext cx="5394960" cy="1371600"/>
          </a:xfrm>
          <a:prstGeom prst="roundRect">
            <a:avLst>
              <a:gd name="adj" fmla="val 12000"/>
            </a:avLst>
          </a:prstGeom>
          <a:solidFill>
            <a:srgbClr val="E0F7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1247" y="2770632"/>
            <a:ext cx="5010912" cy="246888"/>
          </a:xfrm>
          <a:prstGeom prst="rect">
            <a:avLst/>
          </a:prstGeom>
          <a:noFill/>
        </p:spPr>
        <p:txBody>
          <a:bodyPr wrap="square" lIns="0" rIns="0" tIns="0" bIns="0">
            <a:spAutoFit/>
          </a:bodyPr>
          <a:lstStyle/>
          <a:p>
            <a:pPr algn="l">
              <a:lnSpc>
                <a:spcPct val="101000"/>
              </a:lnSpc>
              <a:spcAft>
                <a:spcPts val="300"/>
              </a:spcAft>
              <a:defRPr sz="900" b="1">
                <a:solidFill>
                  <a:srgbClr val="8060BA"/>
                </a:solidFill>
                <a:latin typeface="DejaVu Sans"/>
              </a:defRPr>
            </a:pPr>
            <a:r>
              <a:t>MATERIAL DE REFERENCIA 1</a:t>
            </a:r>
          </a:p>
        </p:txBody>
      </p:sp>
      <p:sp>
        <p:nvSpPr>
          <p:cNvPr id="19" name="TextBox 18"/>
          <p:cNvSpPr txBox="1"/>
          <p:nvPr/>
        </p:nvSpPr>
        <p:spPr>
          <a:xfrm>
            <a:off x="841247" y="3099816"/>
            <a:ext cx="5001768" cy="466344"/>
          </a:xfrm>
          <a:prstGeom prst="rect">
            <a:avLst/>
          </a:prstGeom>
          <a:noFill/>
        </p:spPr>
        <p:txBody>
          <a:bodyPr wrap="square" lIns="0" rIns="0" tIns="0" bIns="0">
            <a:spAutoFit/>
          </a:bodyPr>
          <a:lstStyle/>
          <a:p>
            <a:pPr algn="l">
              <a:lnSpc>
                <a:spcPct val="101000"/>
              </a:lnSpc>
              <a:spcAft>
                <a:spcPts val="300"/>
              </a:spcAft>
              <a:defRPr sz="1350" b="1">
                <a:solidFill>
                  <a:srgbClr val="203350"/>
                </a:solidFill>
                <a:latin typeface="DejaVu Sans"/>
              </a:defRPr>
            </a:pPr>
            <a:r>
              <a:t>DS_Agua_Loja_2025.pptx</a:t>
            </a:r>
          </a:p>
        </p:txBody>
      </p:sp>
      <p:sp>
        <p:nvSpPr>
          <p:cNvPr id="20" name="TextBox 19"/>
          <p:cNvSpPr txBox="1"/>
          <p:nvPr/>
        </p:nvSpPr>
        <p:spPr>
          <a:xfrm>
            <a:off x="841247" y="3593592"/>
            <a:ext cx="5001768" cy="393192"/>
          </a:xfrm>
          <a:prstGeom prst="rect">
            <a:avLst/>
          </a:prstGeom>
          <a:noFill/>
        </p:spPr>
        <p:txBody>
          <a:bodyPr wrap="square" lIns="0" rIns="0" tIns="0" bIns="0">
            <a:spAutoFit/>
          </a:bodyPr>
          <a:lstStyle/>
          <a:p>
            <a:pPr algn="l">
              <a:lnSpc>
                <a:spcPct val="101000"/>
              </a:lnSpc>
              <a:spcAft>
                <a:spcPts val="300"/>
              </a:spcAft>
              <a:defRPr sz="869" b="0">
                <a:solidFill>
                  <a:srgbClr val="5C6E83"/>
                </a:solidFill>
                <a:latin typeface="DejaVu Sans"/>
              </a:defRPr>
            </a:pPr>
            <a:r>
              <a:t>STARS, Calvas, comunidades, muestreo, registros e indicadores. Se conservaron como referencia las diapositivas 2, 9 y 13–16.</a:t>
            </a:r>
          </a:p>
        </p:txBody>
      </p:sp>
      <p:sp>
        <p:nvSpPr>
          <p:cNvPr id="21" name="Rounded Rectangle 20"/>
          <p:cNvSpPr/>
          <p:nvPr/>
        </p:nvSpPr>
        <p:spPr>
          <a:xfrm>
            <a:off x="6281928" y="2660904"/>
            <a:ext cx="5394960" cy="1371600"/>
          </a:xfrm>
          <a:prstGeom prst="roundRect">
            <a:avLst>
              <a:gd name="adj" fmla="val 12000"/>
            </a:avLst>
          </a:prstGeom>
          <a:solidFill>
            <a:srgbClr val="E2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64808" y="2770632"/>
            <a:ext cx="5010912" cy="246888"/>
          </a:xfrm>
          <a:prstGeom prst="rect">
            <a:avLst/>
          </a:prstGeom>
          <a:noFill/>
        </p:spPr>
        <p:txBody>
          <a:bodyPr wrap="square" lIns="0" rIns="0" tIns="0" bIns="0">
            <a:spAutoFit/>
          </a:bodyPr>
          <a:lstStyle/>
          <a:p>
            <a:pPr algn="l">
              <a:lnSpc>
                <a:spcPct val="101000"/>
              </a:lnSpc>
              <a:spcAft>
                <a:spcPts val="300"/>
              </a:spcAft>
              <a:defRPr sz="900" b="1">
                <a:solidFill>
                  <a:srgbClr val="8060BA"/>
                </a:solidFill>
                <a:latin typeface="DejaVu Sans"/>
              </a:defRPr>
            </a:pPr>
            <a:r>
              <a:t>MATERIAL DE REFERENCIA 2</a:t>
            </a:r>
          </a:p>
        </p:txBody>
      </p:sp>
      <p:sp>
        <p:nvSpPr>
          <p:cNvPr id="23" name="TextBox 22"/>
          <p:cNvSpPr txBox="1"/>
          <p:nvPr/>
        </p:nvSpPr>
        <p:spPr>
          <a:xfrm>
            <a:off x="6464808" y="3099816"/>
            <a:ext cx="5001768" cy="466344"/>
          </a:xfrm>
          <a:prstGeom prst="rect">
            <a:avLst/>
          </a:prstGeom>
          <a:noFill/>
        </p:spPr>
        <p:txBody>
          <a:bodyPr wrap="square" lIns="0" rIns="0" tIns="0" bIns="0">
            <a:spAutoFit/>
          </a:bodyPr>
          <a:lstStyle/>
          <a:p>
            <a:pPr algn="l">
              <a:lnSpc>
                <a:spcPct val="101000"/>
              </a:lnSpc>
              <a:spcAft>
                <a:spcPts val="300"/>
              </a:spcAft>
              <a:defRPr sz="1350" b="1">
                <a:solidFill>
                  <a:srgbClr val="203350"/>
                </a:solidFill>
                <a:latin typeface="DejaVu Sans"/>
              </a:defRPr>
            </a:pPr>
            <a:r>
              <a:t>ECCA_EE_CY_vc1 (1).pptx</a:t>
            </a:r>
          </a:p>
        </p:txBody>
      </p:sp>
      <p:sp>
        <p:nvSpPr>
          <p:cNvPr id="24" name="TextBox 23"/>
          <p:cNvSpPr txBox="1"/>
          <p:nvPr/>
        </p:nvSpPr>
        <p:spPr>
          <a:xfrm>
            <a:off x="6464808" y="3593592"/>
            <a:ext cx="5001768" cy="393192"/>
          </a:xfrm>
          <a:prstGeom prst="rect">
            <a:avLst/>
          </a:prstGeom>
          <a:noFill/>
        </p:spPr>
        <p:txBody>
          <a:bodyPr wrap="square" lIns="0" rIns="0" tIns="0" bIns="0">
            <a:spAutoFit/>
          </a:bodyPr>
          <a:lstStyle/>
          <a:p>
            <a:pPr algn="l">
              <a:lnSpc>
                <a:spcPct val="101000"/>
              </a:lnSpc>
              <a:spcAft>
                <a:spcPts val="300"/>
              </a:spcAft>
              <a:defRPr sz="869" b="0">
                <a:solidFill>
                  <a:srgbClr val="5C6E83"/>
                </a:solidFill>
                <a:latin typeface="DejaVu Sans"/>
              </a:defRPr>
            </a:pPr>
            <a:r>
              <a:t>Pregunta Ecuador–Canadá, 54 muestras, métodos y tabla de diversidad. Referencias principales: diapositivas 6–15 y 20. No se recalcularon los datos.</a:t>
            </a:r>
          </a:p>
        </p:txBody>
      </p:sp>
      <p:sp>
        <p:nvSpPr>
          <p:cNvPr id="25" name="Rounded Rectangle 24"/>
          <p:cNvSpPr/>
          <p:nvPr/>
        </p:nvSpPr>
        <p:spPr>
          <a:xfrm>
            <a:off x="658368" y="4233672"/>
            <a:ext cx="5394960" cy="1371600"/>
          </a:xfrm>
          <a:prstGeom prst="roundRect">
            <a:avLst>
              <a:gd name="adj" fmla="val 12000"/>
            </a:avLst>
          </a:prstGeom>
          <a:solidFill>
            <a:srgbClr val="F0E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41247" y="4343400"/>
            <a:ext cx="5010912" cy="246888"/>
          </a:xfrm>
          <a:prstGeom prst="rect">
            <a:avLst/>
          </a:prstGeom>
          <a:noFill/>
        </p:spPr>
        <p:txBody>
          <a:bodyPr wrap="square" lIns="0" rIns="0" tIns="0" bIns="0">
            <a:spAutoFit/>
          </a:bodyPr>
          <a:lstStyle/>
          <a:p>
            <a:pPr algn="l">
              <a:lnSpc>
                <a:spcPct val="101000"/>
              </a:lnSpc>
              <a:spcAft>
                <a:spcPts val="300"/>
              </a:spcAft>
              <a:defRPr sz="900" b="1">
                <a:solidFill>
                  <a:srgbClr val="8060BA"/>
                </a:solidFill>
                <a:latin typeface="DejaVu Sans"/>
              </a:defRPr>
            </a:pPr>
            <a:r>
              <a:t>PERFIL Y EXPERIENCIA</a:t>
            </a:r>
          </a:p>
        </p:txBody>
      </p:sp>
      <p:sp>
        <p:nvSpPr>
          <p:cNvPr id="27" name="TextBox 26"/>
          <p:cNvSpPr txBox="1"/>
          <p:nvPr/>
        </p:nvSpPr>
        <p:spPr>
          <a:xfrm>
            <a:off x="841247" y="4672583"/>
            <a:ext cx="5001768" cy="466344"/>
          </a:xfrm>
          <a:prstGeom prst="rect">
            <a:avLst/>
          </a:prstGeom>
          <a:noFill/>
        </p:spPr>
        <p:txBody>
          <a:bodyPr wrap="square" lIns="0" rIns="0" tIns="0" bIns="0">
            <a:spAutoFit/>
          </a:bodyPr>
          <a:lstStyle/>
          <a:p>
            <a:pPr algn="l">
              <a:lnSpc>
                <a:spcPct val="101000"/>
              </a:lnSpc>
              <a:spcAft>
                <a:spcPts val="300"/>
              </a:spcAft>
              <a:defRPr sz="1350" b="1">
                <a:solidFill>
                  <a:srgbClr val="203350"/>
                </a:solidFill>
                <a:latin typeface="DejaVu Sans"/>
              </a:defRPr>
            </a:pPr>
            <a:r>
              <a:t>Espin_Emilia_CV (1).pdf</a:t>
            </a:r>
          </a:p>
        </p:txBody>
      </p:sp>
      <p:sp>
        <p:nvSpPr>
          <p:cNvPr id="28" name="TextBox 27"/>
          <p:cNvSpPr txBox="1"/>
          <p:nvPr/>
        </p:nvSpPr>
        <p:spPr>
          <a:xfrm>
            <a:off x="841247" y="5166360"/>
            <a:ext cx="5001768" cy="393192"/>
          </a:xfrm>
          <a:prstGeom prst="rect">
            <a:avLst/>
          </a:prstGeom>
          <a:noFill/>
        </p:spPr>
        <p:txBody>
          <a:bodyPr wrap="square" lIns="0" rIns="0" tIns="0" bIns="0">
            <a:spAutoFit/>
          </a:bodyPr>
          <a:lstStyle/>
          <a:p>
            <a:pPr algn="l">
              <a:lnSpc>
                <a:spcPct val="101000"/>
              </a:lnSpc>
              <a:spcAft>
                <a:spcPts val="300"/>
              </a:spcAft>
              <a:defRPr sz="869" b="0">
                <a:solidFill>
                  <a:srgbClr val="5C6E83"/>
                </a:solidFill>
                <a:latin typeface="DejaVu Sans"/>
              </a:defRPr>
            </a:pPr>
            <a:r>
              <a:t>Roles STARS y estancia ELAP–Manitoba. Se reservan dos diapositivas al aprendizaje de esas experiencias y se omiten datos personales de identificación.</a:t>
            </a:r>
          </a:p>
        </p:txBody>
      </p:sp>
      <p:sp>
        <p:nvSpPr>
          <p:cNvPr id="29" name="Rounded Rectangle 28"/>
          <p:cNvSpPr/>
          <p:nvPr/>
        </p:nvSpPr>
        <p:spPr>
          <a:xfrm>
            <a:off x="6281928" y="4233672"/>
            <a:ext cx="5394960" cy="1371600"/>
          </a:xfrm>
          <a:prstGeom prst="roundRect">
            <a:avLst>
              <a:gd name="adj" fmla="val 12000"/>
            </a:avLst>
          </a:prstGeom>
          <a:solidFill>
            <a:srgbClr val="FFF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4808" y="4343400"/>
            <a:ext cx="5010912" cy="246888"/>
          </a:xfrm>
          <a:prstGeom prst="rect">
            <a:avLst/>
          </a:prstGeom>
          <a:noFill/>
        </p:spPr>
        <p:txBody>
          <a:bodyPr wrap="square" lIns="0" rIns="0" tIns="0" bIns="0">
            <a:spAutoFit/>
          </a:bodyPr>
          <a:lstStyle/>
          <a:p>
            <a:pPr algn="l">
              <a:lnSpc>
                <a:spcPct val="101000"/>
              </a:lnSpc>
              <a:spcAft>
                <a:spcPts val="300"/>
              </a:spcAft>
              <a:defRPr sz="900" b="1">
                <a:solidFill>
                  <a:srgbClr val="8060BA"/>
                </a:solidFill>
                <a:latin typeface="DejaVu Sans"/>
              </a:defRPr>
            </a:pPr>
            <a:r>
              <a:t>PUBLICACIÓN CONSIGNADA EN EL CV</a:t>
            </a:r>
          </a:p>
        </p:txBody>
      </p:sp>
      <p:sp>
        <p:nvSpPr>
          <p:cNvPr id="31" name="TextBox 30"/>
          <p:cNvSpPr txBox="1"/>
          <p:nvPr/>
        </p:nvSpPr>
        <p:spPr>
          <a:xfrm>
            <a:off x="6464808" y="4672583"/>
            <a:ext cx="5001768" cy="466344"/>
          </a:xfrm>
          <a:prstGeom prst="rect">
            <a:avLst/>
          </a:prstGeom>
          <a:noFill/>
        </p:spPr>
        <p:txBody>
          <a:bodyPr wrap="square" lIns="0" rIns="0" tIns="0" bIns="0">
            <a:spAutoFit/>
          </a:bodyPr>
          <a:lstStyle/>
          <a:p>
            <a:pPr algn="l">
              <a:lnSpc>
                <a:spcPct val="101000"/>
              </a:lnSpc>
              <a:spcAft>
                <a:spcPts val="300"/>
              </a:spcAft>
              <a:defRPr sz="1350" b="1">
                <a:solidFill>
                  <a:srgbClr val="203350"/>
                </a:solidFill>
                <a:latin typeface="DejaVu Sans"/>
              </a:defRPr>
            </a:pPr>
            <a:r>
              <a:t>Microbiological quality of drinking water in three rural communities of the Calvas Canton (Loja).</a:t>
            </a:r>
          </a:p>
        </p:txBody>
      </p:sp>
      <p:sp>
        <p:nvSpPr>
          <p:cNvPr id="32" name="TextBox 31"/>
          <p:cNvSpPr txBox="1"/>
          <p:nvPr/>
        </p:nvSpPr>
        <p:spPr>
          <a:xfrm>
            <a:off x="6464808" y="5166360"/>
            <a:ext cx="5001768" cy="393192"/>
          </a:xfrm>
          <a:prstGeom prst="rect">
            <a:avLst/>
          </a:prstGeom>
          <a:noFill/>
        </p:spPr>
        <p:txBody>
          <a:bodyPr wrap="square" lIns="0" rIns="0" tIns="0" bIns="0">
            <a:spAutoFit/>
          </a:bodyPr>
          <a:lstStyle/>
          <a:p>
            <a:pPr algn="l">
              <a:lnSpc>
                <a:spcPct val="101000"/>
              </a:lnSpc>
              <a:spcAft>
                <a:spcPts val="300"/>
              </a:spcAft>
              <a:defRPr sz="869" b="0">
                <a:solidFill>
                  <a:srgbClr val="5C6E83"/>
                </a:solidFill>
                <a:latin typeface="DejaVu Sans"/>
              </a:defRPr>
            </a:pPr>
            <a:r>
              <a:t>Revista Ecuatoriana de Medicina y Ciencias Biológicas. DOI: 10.26807/remcb.v46i2.1053. El artículo completo no fue consultado.</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9FBFF"/>
        </a:solidFill>
        <a:effectLst/>
      </p:bgPr>
    </p:bg>
    <p:spTree>
      <p:nvGrpSpPr>
        <p:cNvPr id="1" name=""/>
        <p:cNvGrpSpPr/>
        <p:nvPr/>
      </p:nvGrpSpPr>
      <p:grpSpPr/>
      <p:sp>
        <p:nvSpPr>
          <p:cNvPr id="2" name="TextBox 1"/>
          <p:cNvSpPr txBox="1"/>
          <p:nvPr/>
        </p:nvSpPr>
        <p:spPr>
          <a:xfrm>
            <a:off x="548640" y="365760"/>
            <a:ext cx="7543800" cy="274320"/>
          </a:xfrm>
          <a:prstGeom prst="rect">
            <a:avLst/>
          </a:prstGeom>
          <a:noFill/>
        </p:spPr>
        <p:txBody>
          <a:bodyPr wrap="square" lIns="0" rIns="0" tIns="0" bIns="0">
            <a:spAutoFit/>
          </a:bodyPr>
          <a:lstStyle/>
          <a:p>
            <a:pPr algn="l">
              <a:lnSpc>
                <a:spcPct val="101000"/>
              </a:lnSpc>
              <a:spcAft>
                <a:spcPts val="300"/>
              </a:spcAft>
              <a:defRPr sz="930" b="1">
                <a:solidFill>
                  <a:srgbClr val="8060BA"/>
                </a:solidFill>
                <a:latin typeface="DejaVu Sans"/>
              </a:defRPr>
            </a:pPr>
            <a:r>
              <a:t>INTERPRETAR CON CRITERIO</a:t>
            </a:r>
          </a:p>
        </p:txBody>
      </p:sp>
      <p:sp>
        <p:nvSpPr>
          <p:cNvPr id="3" name="Rounded Rectangle 2">
            <a:hlinkClick action="ppaction://hlinksldjump" r:id="rId2"/>
          </p:cNvPr>
          <p:cNvSpPr/>
          <p:nvPr/>
        </p:nvSpPr>
        <p:spPr>
          <a:xfrm>
            <a:off x="8229600" y="310896"/>
            <a:ext cx="795528" cy="310896"/>
          </a:xfrm>
          <a:prstGeom prst="roundRect">
            <a:avLst>
              <a:gd name="adj" fmla="val 12000"/>
            </a:avLst>
          </a:prstGeom>
          <a:solidFill>
            <a:srgbClr val="E2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a:hlinkClick action="ppaction://hlinksldjump" r:id="rId2"/>
          </p:cNvPr>
          <p:cNvSpPr txBox="1"/>
          <p:nvPr/>
        </p:nvSpPr>
        <p:spPr>
          <a:xfrm>
            <a:off x="8339327"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Explorar</a:t>
            </a:r>
          </a:p>
        </p:txBody>
      </p:sp>
      <p:sp>
        <p:nvSpPr>
          <p:cNvPr id="5" name="Rounded Rectangle 4">
            <a:hlinkClick action="ppaction://hlinksldjump" r:id="rId3"/>
          </p:cNvPr>
          <p:cNvSpPr/>
          <p:nvPr/>
        </p:nvSpPr>
        <p:spPr>
          <a:xfrm>
            <a:off x="9089136" y="310896"/>
            <a:ext cx="795528" cy="310896"/>
          </a:xfrm>
          <a:prstGeom prst="roundRect">
            <a:avLst>
              <a:gd name="adj" fmla="val 12000"/>
            </a:avLst>
          </a:prstGeom>
          <a:solidFill>
            <a:srgbClr val="F0E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a:hlinkClick action="ppaction://hlinksldjump" r:id="rId3"/>
          </p:cNvPr>
          <p:cNvSpPr txBox="1"/>
          <p:nvPr/>
        </p:nvSpPr>
        <p:spPr>
          <a:xfrm>
            <a:off x="9198863"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Diseñar</a:t>
            </a:r>
          </a:p>
        </p:txBody>
      </p:sp>
      <p:sp>
        <p:nvSpPr>
          <p:cNvPr id="7" name="Rounded Rectangle 6">
            <a:hlinkClick action="ppaction://hlinksldjump" r:id="rId4"/>
          </p:cNvPr>
          <p:cNvSpPr/>
          <p:nvPr/>
        </p:nvSpPr>
        <p:spPr>
          <a:xfrm>
            <a:off x="9948672" y="310896"/>
            <a:ext cx="795528" cy="310896"/>
          </a:xfrm>
          <a:prstGeom prst="roundRect">
            <a:avLst>
              <a:gd name="adj" fmla="val 12000"/>
            </a:avLst>
          </a:prstGeom>
          <a:solidFill>
            <a:srgbClr val="FFF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a:hlinkClick action="ppaction://hlinksldjump" r:id="rId4"/>
          </p:cNvPr>
          <p:cNvSpPr txBox="1"/>
          <p:nvPr/>
        </p:nvSpPr>
        <p:spPr>
          <a:xfrm>
            <a:off x="10058399"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Servir</a:t>
            </a:r>
          </a:p>
        </p:txBody>
      </p:sp>
      <p:sp>
        <p:nvSpPr>
          <p:cNvPr id="9" name="Rounded Rectangle 8">
            <a:hlinkClick action="ppaction://hlinksldjump" r:id="rId5"/>
          </p:cNvPr>
          <p:cNvSpPr/>
          <p:nvPr/>
        </p:nvSpPr>
        <p:spPr>
          <a:xfrm>
            <a:off x="10808208" y="310896"/>
            <a:ext cx="795528" cy="310896"/>
          </a:xfrm>
          <a:prstGeom prst="roundRect">
            <a:avLst>
              <a:gd name="adj" fmla="val 12000"/>
            </a:avLst>
          </a:prstGeom>
          <a:solidFill>
            <a:srgbClr val="E9F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a:hlinkClick action="ppaction://hlinksldjump" r:id="rId5"/>
          </p:cNvPr>
          <p:cNvSpPr txBox="1"/>
          <p:nvPr/>
        </p:nvSpPr>
        <p:spPr>
          <a:xfrm>
            <a:off x="10917936"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Empezar</a:t>
            </a:r>
          </a:p>
        </p:txBody>
      </p:sp>
      <p:sp>
        <p:nvSpPr>
          <p:cNvPr id="11" name="TextBox 10"/>
          <p:cNvSpPr txBox="1"/>
          <p:nvPr/>
        </p:nvSpPr>
        <p:spPr>
          <a:xfrm>
            <a:off x="548640" y="877824"/>
            <a:ext cx="11064240" cy="1234440"/>
          </a:xfrm>
          <a:prstGeom prst="rect">
            <a:avLst/>
          </a:prstGeom>
          <a:noFill/>
        </p:spPr>
        <p:txBody>
          <a:bodyPr wrap="square" lIns="0" rIns="0" tIns="0" bIns="0">
            <a:spAutoFit/>
          </a:bodyPr>
          <a:lstStyle/>
          <a:p>
            <a:pPr algn="l">
              <a:lnSpc>
                <a:spcPct val="101000"/>
              </a:lnSpc>
              <a:spcAft>
                <a:spcPts val="300"/>
              </a:spcAft>
              <a:defRPr sz="3900" b="1">
                <a:solidFill>
                  <a:srgbClr val="203350"/>
                </a:solidFill>
                <a:latin typeface="DejaVu Sans"/>
              </a:defRPr>
            </a:pPr>
            <a:r>
              <a:t>Leer el resultado · Simpson</a:t>
            </a:r>
          </a:p>
        </p:txBody>
      </p:sp>
      <p:sp>
        <p:nvSpPr>
          <p:cNvPr id="12" name="TextBox 11"/>
          <p:cNvSpPr txBox="1"/>
          <p:nvPr/>
        </p:nvSpPr>
        <p:spPr>
          <a:xfrm>
            <a:off x="566928" y="2112264"/>
            <a:ext cx="10972800" cy="365760"/>
          </a:xfrm>
          <a:prstGeom prst="rect">
            <a:avLst/>
          </a:prstGeom>
          <a:noFill/>
        </p:spPr>
        <p:txBody>
          <a:bodyPr wrap="square" lIns="0" rIns="0" tIns="0" bIns="0">
            <a:spAutoFit/>
          </a:bodyPr>
          <a:lstStyle/>
          <a:p>
            <a:pPr algn="l">
              <a:lnSpc>
                <a:spcPct val="101000"/>
              </a:lnSpc>
              <a:spcAft>
                <a:spcPts val="300"/>
              </a:spcAft>
              <a:defRPr sz="1450" b="0">
                <a:solidFill>
                  <a:srgbClr val="5C6E83"/>
                </a:solidFill>
                <a:latin typeface="DejaVu Sans"/>
              </a:defRPr>
            </a:pPr>
            <a:r>
              <a:t>Medias reportadas en la presentación original.</a:t>
            </a:r>
          </a:p>
        </p:txBody>
      </p:sp>
      <p:sp>
        <p:nvSpPr>
          <p:cNvPr id="13" name="TextBox 12"/>
          <p:cNvSpPr txBox="1"/>
          <p:nvPr/>
        </p:nvSpPr>
        <p:spPr>
          <a:xfrm>
            <a:off x="548640" y="6446520"/>
            <a:ext cx="9966960" cy="210312"/>
          </a:xfrm>
          <a:prstGeom prst="rect">
            <a:avLst/>
          </a:prstGeom>
          <a:noFill/>
        </p:spPr>
        <p:txBody>
          <a:bodyPr wrap="square" lIns="0" rIns="0" tIns="0" bIns="0">
            <a:spAutoFit/>
          </a:bodyPr>
          <a:lstStyle/>
          <a:p>
            <a:pPr algn="l">
              <a:lnSpc>
                <a:spcPct val="101000"/>
              </a:lnSpc>
              <a:spcAft>
                <a:spcPts val="300"/>
              </a:spcAft>
              <a:defRPr sz="810" b="0">
                <a:solidFill>
                  <a:srgbClr val="5C6E83"/>
                </a:solidFill>
                <a:latin typeface="DejaVu Sans"/>
              </a:defRPr>
            </a:pPr>
            <a:r>
              <a:t>ECCA_EE_CY_vc1, diaps. 14–15 y 20; ± sin definición en la fuente</a:t>
            </a:r>
          </a:p>
        </p:txBody>
      </p:sp>
      <p:sp>
        <p:nvSpPr>
          <p:cNvPr id="14" name="Rounded Rectangle 13">
            <a:hlinkClick action="ppaction://hlinksldjump" r:id="rId6"/>
          </p:cNvPr>
          <p:cNvSpPr/>
          <p:nvPr/>
        </p:nvSpPr>
        <p:spPr>
          <a:xfrm>
            <a:off x="10469880" y="6400800"/>
            <a:ext cx="594360" cy="265176"/>
          </a:xfrm>
          <a:prstGeom prst="roundRect">
            <a:avLst>
              <a:gd name="adj" fmla="val 12000"/>
            </a:avLst>
          </a:prstGeom>
          <a:solidFill>
            <a:srgbClr val="F0E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a:hlinkClick action="ppaction://hlinksldjump" r:id="rId6"/>
          </p:cNvPr>
          <p:cNvSpPr txBox="1"/>
          <p:nvPr/>
        </p:nvSpPr>
        <p:spPr>
          <a:xfrm>
            <a:off x="10579607" y="6483096"/>
            <a:ext cx="374904" cy="173735"/>
          </a:xfrm>
          <a:prstGeom prst="rect">
            <a:avLst/>
          </a:prstGeom>
          <a:noFill/>
        </p:spPr>
        <p:txBody>
          <a:bodyPr wrap="square" lIns="0" rIns="0" tIns="0" bIns="0">
            <a:spAutoFit/>
          </a:bodyPr>
          <a:lstStyle/>
          <a:p>
            <a:pPr algn="l">
              <a:lnSpc>
                <a:spcPct val="101000"/>
              </a:lnSpc>
              <a:spcAft>
                <a:spcPts val="300"/>
              </a:spcAft>
              <a:defRPr sz="800" b="1">
                <a:solidFill>
                  <a:srgbClr val="8060BA"/>
                </a:solidFill>
                <a:latin typeface="DejaVu Sans"/>
              </a:defRPr>
            </a:pPr>
            <a:r>
              <a:t>Ruta</a:t>
            </a:r>
          </a:p>
        </p:txBody>
      </p:sp>
      <p:sp>
        <p:nvSpPr>
          <p:cNvPr id="16" name="TextBox 15"/>
          <p:cNvSpPr txBox="1"/>
          <p:nvPr/>
        </p:nvSpPr>
        <p:spPr>
          <a:xfrm>
            <a:off x="11228832" y="6400800"/>
            <a:ext cx="457200" cy="274320"/>
          </a:xfrm>
          <a:prstGeom prst="rect">
            <a:avLst/>
          </a:prstGeom>
          <a:noFill/>
        </p:spPr>
        <p:txBody>
          <a:bodyPr wrap="square" lIns="0" rIns="0" tIns="0" bIns="0">
            <a:spAutoFit/>
          </a:bodyPr>
          <a:lstStyle/>
          <a:p>
            <a:pPr algn="r">
              <a:lnSpc>
                <a:spcPct val="101000"/>
              </a:lnSpc>
              <a:spcAft>
                <a:spcPts val="300"/>
              </a:spcAft>
              <a:defRPr sz="1300" b="1">
                <a:solidFill>
                  <a:srgbClr val="203350"/>
                </a:solidFill>
                <a:latin typeface="DejaVu Sans"/>
              </a:defRPr>
            </a:pPr>
            <a:r>
              <a:t>ANX</a:t>
            </a:r>
          </a:p>
        </p:txBody>
      </p:sp>
      <p:sp>
        <p:nvSpPr>
          <p:cNvPr id="17" name="Rectangle 16"/>
          <p:cNvSpPr/>
          <p:nvPr/>
        </p:nvSpPr>
        <p:spPr>
          <a:xfrm>
            <a:off x="0" y="6821424"/>
            <a:ext cx="12191969" cy="36576"/>
          </a:xfrm>
          <a:prstGeom prst="rect">
            <a:avLst/>
          </a:prstGeom>
          <a:solidFill>
            <a:srgbClr val="8060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a:hlinkClick action="ppaction://hlinksldjump" r:id="rId7"/>
          </p:cNvPr>
          <p:cNvSpPr/>
          <p:nvPr/>
        </p:nvSpPr>
        <p:spPr>
          <a:xfrm>
            <a:off x="594360" y="2670048"/>
            <a:ext cx="1152144" cy="320040"/>
          </a:xfrm>
          <a:prstGeom prst="roundRect">
            <a:avLst>
              <a:gd name="adj" fmla="val 12000"/>
            </a:avLst>
          </a:prstGeom>
          <a:solidFill>
            <a:srgbClr val="F0E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a:hlinkClick action="ppaction://hlinksldjump" r:id="rId7"/>
          </p:cNvPr>
          <p:cNvSpPr txBox="1"/>
          <p:nvPr/>
        </p:nvSpPr>
        <p:spPr>
          <a:xfrm>
            <a:off x="704088" y="2752344"/>
            <a:ext cx="932688" cy="228599"/>
          </a:xfrm>
          <a:prstGeom prst="rect">
            <a:avLst/>
          </a:prstGeom>
          <a:noFill/>
        </p:spPr>
        <p:txBody>
          <a:bodyPr wrap="square" lIns="0" rIns="0" tIns="0" bIns="0">
            <a:spAutoFit/>
          </a:bodyPr>
          <a:lstStyle/>
          <a:p>
            <a:pPr algn="l">
              <a:lnSpc>
                <a:spcPct val="101000"/>
              </a:lnSpc>
              <a:spcAft>
                <a:spcPts val="300"/>
              </a:spcAft>
              <a:defRPr sz="1000" b="1">
                <a:solidFill>
                  <a:srgbClr val="203350"/>
                </a:solidFill>
                <a:latin typeface="DejaVu Sans"/>
              </a:defRPr>
            </a:pPr>
            <a:r>
              <a:t>Shannon</a:t>
            </a:r>
          </a:p>
        </p:txBody>
      </p:sp>
      <p:sp>
        <p:nvSpPr>
          <p:cNvPr id="20" name="Rounded Rectangle 19">
            <a:hlinkClick action="ppaction://hlinksldjump" r:id="rId8"/>
          </p:cNvPr>
          <p:cNvSpPr/>
          <p:nvPr/>
        </p:nvSpPr>
        <p:spPr>
          <a:xfrm>
            <a:off x="1874519" y="2670048"/>
            <a:ext cx="1152144" cy="320040"/>
          </a:xfrm>
          <a:prstGeom prst="roundRect">
            <a:avLst>
              <a:gd name="adj" fmla="val 12000"/>
            </a:avLst>
          </a:prstGeom>
          <a:solidFill>
            <a:srgbClr val="8060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a:hlinkClick action="ppaction://hlinksldjump" r:id="rId8"/>
          </p:cNvPr>
          <p:cNvSpPr txBox="1"/>
          <p:nvPr/>
        </p:nvSpPr>
        <p:spPr>
          <a:xfrm>
            <a:off x="1984248" y="2752344"/>
            <a:ext cx="932688" cy="228599"/>
          </a:xfrm>
          <a:prstGeom prst="rect">
            <a:avLst/>
          </a:prstGeom>
          <a:noFill/>
        </p:spPr>
        <p:txBody>
          <a:bodyPr wrap="square" lIns="0" rIns="0" tIns="0" bIns="0">
            <a:spAutoFit/>
          </a:bodyPr>
          <a:lstStyle/>
          <a:p>
            <a:pPr algn="l">
              <a:lnSpc>
                <a:spcPct val="101000"/>
              </a:lnSpc>
              <a:spcAft>
                <a:spcPts val="300"/>
              </a:spcAft>
              <a:defRPr sz="1000" b="1">
                <a:solidFill>
                  <a:srgbClr val="FFFFFF"/>
                </a:solidFill>
                <a:latin typeface="DejaVu Sans"/>
              </a:defRPr>
            </a:pPr>
            <a:r>
              <a:t>Simpson</a:t>
            </a:r>
          </a:p>
        </p:txBody>
      </p:sp>
      <p:sp>
        <p:nvSpPr>
          <p:cNvPr id="22" name="Rounded Rectangle 21">
            <a:hlinkClick action="ppaction://hlinksldjump" r:id="rId9"/>
          </p:cNvPr>
          <p:cNvSpPr/>
          <p:nvPr/>
        </p:nvSpPr>
        <p:spPr>
          <a:xfrm>
            <a:off x="3154679" y="2670048"/>
            <a:ext cx="1152144" cy="320040"/>
          </a:xfrm>
          <a:prstGeom prst="roundRect">
            <a:avLst>
              <a:gd name="adj" fmla="val 12000"/>
            </a:avLst>
          </a:prstGeom>
          <a:solidFill>
            <a:srgbClr val="F0E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a:hlinkClick action="ppaction://hlinksldjump" r:id="rId9"/>
          </p:cNvPr>
          <p:cNvSpPr txBox="1"/>
          <p:nvPr/>
        </p:nvSpPr>
        <p:spPr>
          <a:xfrm>
            <a:off x="3264408" y="2752344"/>
            <a:ext cx="932688" cy="228599"/>
          </a:xfrm>
          <a:prstGeom prst="rect">
            <a:avLst/>
          </a:prstGeom>
          <a:noFill/>
        </p:spPr>
        <p:txBody>
          <a:bodyPr wrap="square" lIns="0" rIns="0" tIns="0" bIns="0">
            <a:spAutoFit/>
          </a:bodyPr>
          <a:lstStyle/>
          <a:p>
            <a:pPr algn="l">
              <a:lnSpc>
                <a:spcPct val="101000"/>
              </a:lnSpc>
              <a:spcAft>
                <a:spcPts val="300"/>
              </a:spcAft>
              <a:defRPr sz="1000" b="1">
                <a:solidFill>
                  <a:srgbClr val="203350"/>
                </a:solidFill>
                <a:latin typeface="DejaVu Sans"/>
              </a:defRPr>
            </a:pPr>
            <a:r>
              <a:t>Riqueza</a:t>
            </a:r>
          </a:p>
        </p:txBody>
      </p:sp>
      <p:graphicFrame>
        <p:nvGraphicFramePr>
          <p:cNvPr id="24" name="Chart 23"/>
          <p:cNvGraphicFramePr>
            <a:graphicFrameLocks noGrp="1"/>
          </p:cNvGraphicFramePr>
          <p:nvPr/>
        </p:nvGraphicFramePr>
        <p:xfrm>
          <a:off x="530352" y="3191256"/>
          <a:ext cx="7589520" cy="2414016"/>
        </p:xfrm>
        <a:graphic>
          <a:graphicData uri="http://schemas.openxmlformats.org/drawingml/2006/chart">
            <c:chart xmlns:c="http://schemas.openxmlformats.org/drawingml/2006/chart" r:id="rId10"/>
          </a:graphicData>
        </a:graphic>
      </p:graphicFrame>
      <p:sp>
        <p:nvSpPr>
          <p:cNvPr id="25" name="TextBox 24"/>
          <p:cNvSpPr txBox="1"/>
          <p:nvPr/>
        </p:nvSpPr>
        <p:spPr>
          <a:xfrm>
            <a:off x="8202168" y="3172968"/>
            <a:ext cx="886968" cy="274320"/>
          </a:xfrm>
          <a:prstGeom prst="rect">
            <a:avLst/>
          </a:prstGeom>
          <a:noFill/>
        </p:spPr>
        <p:txBody>
          <a:bodyPr wrap="square" lIns="0" rIns="0" tIns="0" bIns="0">
            <a:spAutoFit/>
          </a:bodyPr>
          <a:lstStyle/>
          <a:p>
            <a:pPr algn="l">
              <a:lnSpc>
                <a:spcPct val="101000"/>
              </a:lnSpc>
              <a:spcAft>
                <a:spcPts val="300"/>
              </a:spcAft>
              <a:defRPr sz="850" b="0">
                <a:solidFill>
                  <a:srgbClr val="5C6E83"/>
                </a:solidFill>
                <a:latin typeface="DejaVu Sans"/>
              </a:defRPr>
            </a:pPr>
            <a:r>
              <a:t>± reportado</a:t>
            </a:r>
          </a:p>
        </p:txBody>
      </p:sp>
      <p:sp>
        <p:nvSpPr>
          <p:cNvPr id="26" name="TextBox 25"/>
          <p:cNvSpPr txBox="1"/>
          <p:nvPr/>
        </p:nvSpPr>
        <p:spPr>
          <a:xfrm>
            <a:off x="8275320" y="3694176"/>
            <a:ext cx="786384" cy="347472"/>
          </a:xfrm>
          <a:prstGeom prst="rect">
            <a:avLst/>
          </a:prstGeom>
          <a:noFill/>
        </p:spPr>
        <p:txBody>
          <a:bodyPr wrap="square" lIns="0" rIns="0" tIns="0" bIns="0">
            <a:spAutoFit/>
          </a:bodyPr>
          <a:lstStyle/>
          <a:p>
            <a:pPr algn="l">
              <a:lnSpc>
                <a:spcPct val="101000"/>
              </a:lnSpc>
              <a:spcAft>
                <a:spcPts val="300"/>
              </a:spcAft>
              <a:defRPr sz="1200" b="0">
                <a:solidFill>
                  <a:srgbClr val="5C6E83"/>
                </a:solidFill>
                <a:latin typeface="DejaVu Sans"/>
              </a:defRPr>
            </a:pPr>
            <a:r>
              <a:t>0,01</a:t>
            </a:r>
          </a:p>
        </p:txBody>
      </p:sp>
      <p:sp>
        <p:nvSpPr>
          <p:cNvPr id="27" name="TextBox 26"/>
          <p:cNvSpPr txBox="1"/>
          <p:nvPr/>
        </p:nvSpPr>
        <p:spPr>
          <a:xfrm>
            <a:off x="8275320" y="4261104"/>
            <a:ext cx="786384" cy="347472"/>
          </a:xfrm>
          <a:prstGeom prst="rect">
            <a:avLst/>
          </a:prstGeom>
          <a:noFill/>
        </p:spPr>
        <p:txBody>
          <a:bodyPr wrap="square" lIns="0" rIns="0" tIns="0" bIns="0">
            <a:spAutoFit/>
          </a:bodyPr>
          <a:lstStyle/>
          <a:p>
            <a:pPr algn="l">
              <a:lnSpc>
                <a:spcPct val="101000"/>
              </a:lnSpc>
              <a:spcAft>
                <a:spcPts val="300"/>
              </a:spcAft>
              <a:defRPr sz="1200" b="0">
                <a:solidFill>
                  <a:srgbClr val="5C6E83"/>
                </a:solidFill>
                <a:latin typeface="DejaVu Sans"/>
              </a:defRPr>
            </a:pPr>
            <a:r>
              <a:t>0,03</a:t>
            </a:r>
          </a:p>
        </p:txBody>
      </p:sp>
      <p:sp>
        <p:nvSpPr>
          <p:cNvPr id="28" name="TextBox 27"/>
          <p:cNvSpPr txBox="1"/>
          <p:nvPr/>
        </p:nvSpPr>
        <p:spPr>
          <a:xfrm>
            <a:off x="8275320" y="4828032"/>
            <a:ext cx="786384" cy="347472"/>
          </a:xfrm>
          <a:prstGeom prst="rect">
            <a:avLst/>
          </a:prstGeom>
          <a:noFill/>
        </p:spPr>
        <p:txBody>
          <a:bodyPr wrap="square" lIns="0" rIns="0" tIns="0" bIns="0">
            <a:spAutoFit/>
          </a:bodyPr>
          <a:lstStyle/>
          <a:p>
            <a:pPr algn="l">
              <a:lnSpc>
                <a:spcPct val="101000"/>
              </a:lnSpc>
              <a:spcAft>
                <a:spcPts val="300"/>
              </a:spcAft>
              <a:defRPr sz="1200" b="0">
                <a:solidFill>
                  <a:srgbClr val="5C6E83"/>
                </a:solidFill>
                <a:latin typeface="DejaVu Sans"/>
              </a:defRPr>
            </a:pPr>
            <a:r>
              <a:t>0,36</a:t>
            </a:r>
          </a:p>
        </p:txBody>
      </p:sp>
      <p:sp>
        <p:nvSpPr>
          <p:cNvPr id="29" name="TextBox 28"/>
          <p:cNvSpPr txBox="1"/>
          <p:nvPr/>
        </p:nvSpPr>
        <p:spPr>
          <a:xfrm>
            <a:off x="667512" y="5788152"/>
            <a:ext cx="8138160" cy="301752"/>
          </a:xfrm>
          <a:prstGeom prst="rect">
            <a:avLst/>
          </a:prstGeom>
          <a:noFill/>
        </p:spPr>
        <p:txBody>
          <a:bodyPr wrap="square" lIns="0" rIns="0" tIns="0" bIns="0">
            <a:spAutoFit/>
          </a:bodyPr>
          <a:lstStyle/>
          <a:p>
            <a:pPr algn="l">
              <a:lnSpc>
                <a:spcPct val="101000"/>
              </a:lnSpc>
              <a:spcAft>
                <a:spcPts val="300"/>
              </a:spcAft>
              <a:defRPr sz="1050" b="0">
                <a:solidFill>
                  <a:srgbClr val="5C6E83"/>
                </a:solidFill>
                <a:latin typeface="DejaVu Sans"/>
              </a:defRPr>
            </a:pPr>
            <a:r>
              <a:t>Índice reportado; la fuente no especifica la fórmula.</a:t>
            </a:r>
          </a:p>
        </p:txBody>
      </p:sp>
      <p:sp>
        <p:nvSpPr>
          <p:cNvPr id="30" name="Rounded Rectangle 29"/>
          <p:cNvSpPr/>
          <p:nvPr/>
        </p:nvSpPr>
        <p:spPr>
          <a:xfrm>
            <a:off x="9290304" y="2834640"/>
            <a:ext cx="2359152" cy="3127248"/>
          </a:xfrm>
          <a:prstGeom prst="roundRect">
            <a:avLst>
              <a:gd name="adj" fmla="val 12000"/>
            </a:avLst>
          </a:prstGeom>
          <a:solidFill>
            <a:srgbClr val="F0E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09760" y="3154680"/>
            <a:ext cx="1920240" cy="1188720"/>
          </a:xfrm>
          <a:prstGeom prst="rect">
            <a:avLst/>
          </a:prstGeom>
          <a:noFill/>
        </p:spPr>
        <p:txBody>
          <a:bodyPr wrap="square" lIns="0" rIns="0" tIns="0" bIns="0">
            <a:spAutoFit/>
          </a:bodyPr>
          <a:lstStyle/>
          <a:p>
            <a:pPr algn="l">
              <a:lnSpc>
                <a:spcPct val="101000"/>
              </a:lnSpc>
              <a:spcAft>
                <a:spcPts val="300"/>
              </a:spcAft>
              <a:defRPr sz="2200" b="1">
                <a:solidFill>
                  <a:srgbClr val="203350"/>
                </a:solidFill>
                <a:latin typeface="DejaVu Sans"/>
              </a:defRPr>
            </a:pPr>
            <a:r>
              <a:t>¿Más diversidad</a:t>
            </a:r>
          </a:p>
          <a:p>
            <a:pPr algn="l">
              <a:lnSpc>
                <a:spcPct val="101000"/>
              </a:lnSpc>
              <a:spcAft>
                <a:spcPts val="300"/>
              </a:spcAft>
              <a:defRPr sz="2200" b="1">
                <a:solidFill>
                  <a:srgbClr val="203350"/>
                </a:solidFill>
                <a:latin typeface="DejaVu Sans"/>
              </a:defRPr>
            </a:pPr>
            <a:r>
              <a:t>significa</a:t>
            </a:r>
          </a:p>
          <a:p>
            <a:pPr algn="l">
              <a:lnSpc>
                <a:spcPct val="101000"/>
              </a:lnSpc>
              <a:spcAft>
                <a:spcPts val="300"/>
              </a:spcAft>
              <a:defRPr sz="2200" b="1">
                <a:solidFill>
                  <a:srgbClr val="203350"/>
                </a:solidFill>
                <a:latin typeface="DejaVu Sans"/>
              </a:defRPr>
            </a:pPr>
            <a:r>
              <a:t>más peligro?</a:t>
            </a:r>
          </a:p>
        </p:txBody>
      </p:sp>
      <p:sp>
        <p:nvSpPr>
          <p:cNvPr id="32" name="Rounded Rectangle 31">
            <a:hlinkClick action="ppaction://hlinksldjump" r:id="rId11"/>
          </p:cNvPr>
          <p:cNvSpPr/>
          <p:nvPr/>
        </p:nvSpPr>
        <p:spPr>
          <a:xfrm>
            <a:off x="9473184" y="4983480"/>
            <a:ext cx="1984248" cy="594360"/>
          </a:xfrm>
          <a:prstGeom prst="roundRect">
            <a:avLst>
              <a:gd name="adj" fmla="val 12000"/>
            </a:avLst>
          </a:prstGeom>
          <a:solidFill>
            <a:srgbClr val="8060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a:hlinkClick action="ppaction://hlinksldjump" r:id="rId11"/>
          </p:cNvPr>
          <p:cNvSpPr txBox="1"/>
          <p:nvPr/>
        </p:nvSpPr>
        <p:spPr>
          <a:xfrm>
            <a:off x="9582911" y="5065776"/>
            <a:ext cx="1764792" cy="502920"/>
          </a:xfrm>
          <a:prstGeom prst="rect">
            <a:avLst/>
          </a:prstGeom>
          <a:noFill/>
        </p:spPr>
        <p:txBody>
          <a:bodyPr wrap="square" lIns="0" rIns="0" tIns="0" bIns="0">
            <a:spAutoFit/>
          </a:bodyPr>
          <a:lstStyle/>
          <a:p>
            <a:pPr algn="l">
              <a:lnSpc>
                <a:spcPct val="101000"/>
              </a:lnSpc>
              <a:spcAft>
                <a:spcPts val="300"/>
              </a:spcAft>
              <a:defRPr sz="1200" b="1">
                <a:solidFill>
                  <a:srgbClr val="FFFFFF"/>
                </a:solidFill>
                <a:latin typeface="DejaVu Sans"/>
              </a:defRPr>
            </a:pPr>
            <a:r>
              <a:t>Contrastar</a:t>
            </a:r>
          </a:p>
          <a:p>
            <a:pPr algn="l">
              <a:lnSpc>
                <a:spcPct val="101000"/>
              </a:lnSpc>
              <a:spcAft>
                <a:spcPts val="300"/>
              </a:spcAft>
              <a:defRPr sz="1200" b="1">
                <a:solidFill>
                  <a:srgbClr val="FFFFFF"/>
                </a:solidFill>
                <a:latin typeface="DejaVu Sans"/>
              </a:defRPr>
            </a:pPr>
            <a:r>
              <a:t>la conclusión</a:t>
            </a:r>
          </a:p>
        </p:txBody>
      </p:sp>
      <p:sp>
        <p:nvSpPr>
          <p:cNvPr id="34" name="Rounded Rectangle 33">
            <a:hlinkClick action="ppaction://hlinksldjump" r:id="rId7"/>
          </p:cNvPr>
          <p:cNvSpPr/>
          <p:nvPr/>
        </p:nvSpPr>
        <p:spPr>
          <a:xfrm>
            <a:off x="9491472" y="5779008"/>
            <a:ext cx="2002536" cy="292608"/>
          </a:xfrm>
          <a:prstGeom prst="roundRect">
            <a:avLst>
              <a:gd name="adj" fmla="val 12000"/>
            </a:avLst>
          </a:prstGeom>
          <a:solidFill>
            <a:srgbClr val="F0E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a:hlinkClick action="ppaction://hlinksldjump" r:id="rId7"/>
          </p:cNvPr>
          <p:cNvSpPr txBox="1"/>
          <p:nvPr/>
        </p:nvSpPr>
        <p:spPr>
          <a:xfrm>
            <a:off x="9601200" y="5861304"/>
            <a:ext cx="1783080" cy="201168"/>
          </a:xfrm>
          <a:prstGeom prst="rect">
            <a:avLst/>
          </a:prstGeom>
          <a:noFill/>
        </p:spPr>
        <p:txBody>
          <a:bodyPr wrap="square" lIns="0" rIns="0" tIns="0" bIns="0">
            <a:spAutoFit/>
          </a:bodyPr>
          <a:lstStyle/>
          <a:p>
            <a:pPr algn="l">
              <a:lnSpc>
                <a:spcPct val="101000"/>
              </a:lnSpc>
              <a:spcAft>
                <a:spcPts val="300"/>
              </a:spcAft>
              <a:defRPr sz="900" b="1">
                <a:solidFill>
                  <a:srgbClr val="8060BA"/>
                </a:solidFill>
                <a:latin typeface="DejaVu Sans"/>
              </a:defRPr>
            </a:pPr>
            <a:r>
              <a:t>Volver al gráfico</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9FBFF"/>
        </a:solidFill>
        <a:effectLst/>
      </p:bgPr>
    </p:bg>
    <p:spTree>
      <p:nvGrpSpPr>
        <p:cNvPr id="1" name=""/>
        <p:cNvGrpSpPr/>
        <p:nvPr/>
      </p:nvGrpSpPr>
      <p:grpSpPr/>
      <p:sp>
        <p:nvSpPr>
          <p:cNvPr id="2" name="TextBox 1"/>
          <p:cNvSpPr txBox="1"/>
          <p:nvPr/>
        </p:nvSpPr>
        <p:spPr>
          <a:xfrm>
            <a:off x="548640" y="365760"/>
            <a:ext cx="7543800" cy="274320"/>
          </a:xfrm>
          <a:prstGeom prst="rect">
            <a:avLst/>
          </a:prstGeom>
          <a:noFill/>
        </p:spPr>
        <p:txBody>
          <a:bodyPr wrap="square" lIns="0" rIns="0" tIns="0" bIns="0">
            <a:spAutoFit/>
          </a:bodyPr>
          <a:lstStyle/>
          <a:p>
            <a:pPr algn="l">
              <a:lnSpc>
                <a:spcPct val="101000"/>
              </a:lnSpc>
              <a:spcAft>
                <a:spcPts val="300"/>
              </a:spcAft>
              <a:defRPr sz="930" b="1">
                <a:solidFill>
                  <a:srgbClr val="8060BA"/>
                </a:solidFill>
                <a:latin typeface="DejaVu Sans"/>
              </a:defRPr>
            </a:pPr>
            <a:r>
              <a:t>INTERPRETAR CON CRITERIO</a:t>
            </a:r>
          </a:p>
        </p:txBody>
      </p:sp>
      <p:sp>
        <p:nvSpPr>
          <p:cNvPr id="3" name="Rounded Rectangle 2">
            <a:hlinkClick action="ppaction://hlinksldjump" r:id="rId2"/>
          </p:cNvPr>
          <p:cNvSpPr/>
          <p:nvPr/>
        </p:nvSpPr>
        <p:spPr>
          <a:xfrm>
            <a:off x="8229600" y="310896"/>
            <a:ext cx="795528" cy="310896"/>
          </a:xfrm>
          <a:prstGeom prst="roundRect">
            <a:avLst>
              <a:gd name="adj" fmla="val 12000"/>
            </a:avLst>
          </a:prstGeom>
          <a:solidFill>
            <a:srgbClr val="E2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a:hlinkClick action="ppaction://hlinksldjump" r:id="rId2"/>
          </p:cNvPr>
          <p:cNvSpPr txBox="1"/>
          <p:nvPr/>
        </p:nvSpPr>
        <p:spPr>
          <a:xfrm>
            <a:off x="8339327"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Explorar</a:t>
            </a:r>
          </a:p>
        </p:txBody>
      </p:sp>
      <p:sp>
        <p:nvSpPr>
          <p:cNvPr id="5" name="Rounded Rectangle 4">
            <a:hlinkClick action="ppaction://hlinksldjump" r:id="rId3"/>
          </p:cNvPr>
          <p:cNvSpPr/>
          <p:nvPr/>
        </p:nvSpPr>
        <p:spPr>
          <a:xfrm>
            <a:off x="9089136" y="310896"/>
            <a:ext cx="795528" cy="310896"/>
          </a:xfrm>
          <a:prstGeom prst="roundRect">
            <a:avLst>
              <a:gd name="adj" fmla="val 12000"/>
            </a:avLst>
          </a:prstGeom>
          <a:solidFill>
            <a:srgbClr val="F0E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a:hlinkClick action="ppaction://hlinksldjump" r:id="rId3"/>
          </p:cNvPr>
          <p:cNvSpPr txBox="1"/>
          <p:nvPr/>
        </p:nvSpPr>
        <p:spPr>
          <a:xfrm>
            <a:off x="9198863"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Diseñar</a:t>
            </a:r>
          </a:p>
        </p:txBody>
      </p:sp>
      <p:sp>
        <p:nvSpPr>
          <p:cNvPr id="7" name="Rounded Rectangle 6">
            <a:hlinkClick action="ppaction://hlinksldjump" r:id="rId4"/>
          </p:cNvPr>
          <p:cNvSpPr/>
          <p:nvPr/>
        </p:nvSpPr>
        <p:spPr>
          <a:xfrm>
            <a:off x="9948672" y="310896"/>
            <a:ext cx="795528" cy="310896"/>
          </a:xfrm>
          <a:prstGeom prst="roundRect">
            <a:avLst>
              <a:gd name="adj" fmla="val 12000"/>
            </a:avLst>
          </a:prstGeom>
          <a:solidFill>
            <a:srgbClr val="FFF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a:hlinkClick action="ppaction://hlinksldjump" r:id="rId4"/>
          </p:cNvPr>
          <p:cNvSpPr txBox="1"/>
          <p:nvPr/>
        </p:nvSpPr>
        <p:spPr>
          <a:xfrm>
            <a:off x="10058399"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Servir</a:t>
            </a:r>
          </a:p>
        </p:txBody>
      </p:sp>
      <p:sp>
        <p:nvSpPr>
          <p:cNvPr id="9" name="Rounded Rectangle 8">
            <a:hlinkClick action="ppaction://hlinksldjump" r:id="rId5"/>
          </p:cNvPr>
          <p:cNvSpPr/>
          <p:nvPr/>
        </p:nvSpPr>
        <p:spPr>
          <a:xfrm>
            <a:off x="10808208" y="310896"/>
            <a:ext cx="795528" cy="310896"/>
          </a:xfrm>
          <a:prstGeom prst="roundRect">
            <a:avLst>
              <a:gd name="adj" fmla="val 12000"/>
            </a:avLst>
          </a:prstGeom>
          <a:solidFill>
            <a:srgbClr val="E9F5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a:hlinkClick action="ppaction://hlinksldjump" r:id="rId5"/>
          </p:cNvPr>
          <p:cNvSpPr txBox="1"/>
          <p:nvPr/>
        </p:nvSpPr>
        <p:spPr>
          <a:xfrm>
            <a:off x="10917936" y="393192"/>
            <a:ext cx="576072" cy="219456"/>
          </a:xfrm>
          <a:prstGeom prst="rect">
            <a:avLst/>
          </a:prstGeom>
          <a:noFill/>
        </p:spPr>
        <p:txBody>
          <a:bodyPr wrap="square" lIns="0" rIns="0" tIns="0" bIns="0">
            <a:spAutoFit/>
          </a:bodyPr>
          <a:lstStyle/>
          <a:p>
            <a:pPr algn="l">
              <a:lnSpc>
                <a:spcPct val="101000"/>
              </a:lnSpc>
              <a:spcAft>
                <a:spcPts val="300"/>
              </a:spcAft>
              <a:defRPr sz="800" b="1">
                <a:solidFill>
                  <a:srgbClr val="203350"/>
                </a:solidFill>
                <a:latin typeface="DejaVu Sans"/>
              </a:defRPr>
            </a:pPr>
            <a:r>
              <a:t>Empezar</a:t>
            </a:r>
          </a:p>
        </p:txBody>
      </p:sp>
      <p:sp>
        <p:nvSpPr>
          <p:cNvPr id="11" name="TextBox 10"/>
          <p:cNvSpPr txBox="1"/>
          <p:nvPr/>
        </p:nvSpPr>
        <p:spPr>
          <a:xfrm>
            <a:off x="548640" y="877824"/>
            <a:ext cx="11064240" cy="1234440"/>
          </a:xfrm>
          <a:prstGeom prst="rect">
            <a:avLst/>
          </a:prstGeom>
          <a:noFill/>
        </p:spPr>
        <p:txBody>
          <a:bodyPr wrap="square" lIns="0" rIns="0" tIns="0" bIns="0">
            <a:spAutoFit/>
          </a:bodyPr>
          <a:lstStyle/>
          <a:p>
            <a:pPr algn="l">
              <a:lnSpc>
                <a:spcPct val="101000"/>
              </a:lnSpc>
              <a:spcAft>
                <a:spcPts val="300"/>
              </a:spcAft>
              <a:defRPr sz="3900" b="1">
                <a:solidFill>
                  <a:srgbClr val="203350"/>
                </a:solidFill>
                <a:latin typeface="DejaVu Sans"/>
              </a:defRPr>
            </a:pPr>
            <a:r>
              <a:t>Leer el resultado · Riqueza</a:t>
            </a:r>
          </a:p>
        </p:txBody>
      </p:sp>
      <p:sp>
        <p:nvSpPr>
          <p:cNvPr id="12" name="TextBox 11"/>
          <p:cNvSpPr txBox="1"/>
          <p:nvPr/>
        </p:nvSpPr>
        <p:spPr>
          <a:xfrm>
            <a:off x="566928" y="2112264"/>
            <a:ext cx="10972800" cy="365760"/>
          </a:xfrm>
          <a:prstGeom prst="rect">
            <a:avLst/>
          </a:prstGeom>
          <a:noFill/>
        </p:spPr>
        <p:txBody>
          <a:bodyPr wrap="square" lIns="0" rIns="0" tIns="0" bIns="0">
            <a:spAutoFit/>
          </a:bodyPr>
          <a:lstStyle/>
          <a:p>
            <a:pPr algn="l">
              <a:lnSpc>
                <a:spcPct val="101000"/>
              </a:lnSpc>
              <a:spcAft>
                <a:spcPts val="300"/>
              </a:spcAft>
              <a:defRPr sz="1450" b="0">
                <a:solidFill>
                  <a:srgbClr val="5C6E83"/>
                </a:solidFill>
                <a:latin typeface="DejaVu Sans"/>
              </a:defRPr>
            </a:pPr>
            <a:r>
              <a:t>Medias reportadas en la presentación original.</a:t>
            </a:r>
          </a:p>
        </p:txBody>
      </p:sp>
      <p:sp>
        <p:nvSpPr>
          <p:cNvPr id="13" name="TextBox 12"/>
          <p:cNvSpPr txBox="1"/>
          <p:nvPr/>
        </p:nvSpPr>
        <p:spPr>
          <a:xfrm>
            <a:off x="548640" y="6446520"/>
            <a:ext cx="9966960" cy="210312"/>
          </a:xfrm>
          <a:prstGeom prst="rect">
            <a:avLst/>
          </a:prstGeom>
          <a:noFill/>
        </p:spPr>
        <p:txBody>
          <a:bodyPr wrap="square" lIns="0" rIns="0" tIns="0" bIns="0">
            <a:spAutoFit/>
          </a:bodyPr>
          <a:lstStyle/>
          <a:p>
            <a:pPr algn="l">
              <a:lnSpc>
                <a:spcPct val="101000"/>
              </a:lnSpc>
              <a:spcAft>
                <a:spcPts val="300"/>
              </a:spcAft>
              <a:defRPr sz="810" b="0">
                <a:solidFill>
                  <a:srgbClr val="5C6E83"/>
                </a:solidFill>
                <a:latin typeface="DejaVu Sans"/>
              </a:defRPr>
            </a:pPr>
            <a:r>
              <a:t>ECCA_EE_CY_vc1, diaps. 14–15 y 20; ± sin definición en la fuente</a:t>
            </a:r>
          </a:p>
        </p:txBody>
      </p:sp>
      <p:sp>
        <p:nvSpPr>
          <p:cNvPr id="14" name="Rounded Rectangle 13">
            <a:hlinkClick action="ppaction://hlinksldjump" r:id="rId6"/>
          </p:cNvPr>
          <p:cNvSpPr/>
          <p:nvPr/>
        </p:nvSpPr>
        <p:spPr>
          <a:xfrm>
            <a:off x="10469880" y="6400800"/>
            <a:ext cx="594360" cy="265176"/>
          </a:xfrm>
          <a:prstGeom prst="roundRect">
            <a:avLst>
              <a:gd name="adj" fmla="val 12000"/>
            </a:avLst>
          </a:prstGeom>
          <a:solidFill>
            <a:srgbClr val="F0E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a:hlinkClick action="ppaction://hlinksldjump" r:id="rId6"/>
          </p:cNvPr>
          <p:cNvSpPr txBox="1"/>
          <p:nvPr/>
        </p:nvSpPr>
        <p:spPr>
          <a:xfrm>
            <a:off x="10579607" y="6483096"/>
            <a:ext cx="374904" cy="173735"/>
          </a:xfrm>
          <a:prstGeom prst="rect">
            <a:avLst/>
          </a:prstGeom>
          <a:noFill/>
        </p:spPr>
        <p:txBody>
          <a:bodyPr wrap="square" lIns="0" rIns="0" tIns="0" bIns="0">
            <a:spAutoFit/>
          </a:bodyPr>
          <a:lstStyle/>
          <a:p>
            <a:pPr algn="l">
              <a:lnSpc>
                <a:spcPct val="101000"/>
              </a:lnSpc>
              <a:spcAft>
                <a:spcPts val="300"/>
              </a:spcAft>
              <a:defRPr sz="800" b="1">
                <a:solidFill>
                  <a:srgbClr val="8060BA"/>
                </a:solidFill>
                <a:latin typeface="DejaVu Sans"/>
              </a:defRPr>
            </a:pPr>
            <a:r>
              <a:t>Ruta</a:t>
            </a:r>
          </a:p>
        </p:txBody>
      </p:sp>
      <p:sp>
        <p:nvSpPr>
          <p:cNvPr id="16" name="TextBox 15"/>
          <p:cNvSpPr txBox="1"/>
          <p:nvPr/>
        </p:nvSpPr>
        <p:spPr>
          <a:xfrm>
            <a:off x="11228832" y="6400800"/>
            <a:ext cx="457200" cy="274320"/>
          </a:xfrm>
          <a:prstGeom prst="rect">
            <a:avLst/>
          </a:prstGeom>
          <a:noFill/>
        </p:spPr>
        <p:txBody>
          <a:bodyPr wrap="square" lIns="0" rIns="0" tIns="0" bIns="0">
            <a:spAutoFit/>
          </a:bodyPr>
          <a:lstStyle/>
          <a:p>
            <a:pPr algn="r">
              <a:lnSpc>
                <a:spcPct val="101000"/>
              </a:lnSpc>
              <a:spcAft>
                <a:spcPts val="300"/>
              </a:spcAft>
              <a:defRPr sz="1300" b="1">
                <a:solidFill>
                  <a:srgbClr val="203350"/>
                </a:solidFill>
                <a:latin typeface="DejaVu Sans"/>
              </a:defRPr>
            </a:pPr>
            <a:r>
              <a:t>ANX</a:t>
            </a:r>
          </a:p>
        </p:txBody>
      </p:sp>
      <p:sp>
        <p:nvSpPr>
          <p:cNvPr id="17" name="Rectangle 16"/>
          <p:cNvSpPr/>
          <p:nvPr/>
        </p:nvSpPr>
        <p:spPr>
          <a:xfrm>
            <a:off x="0" y="6821424"/>
            <a:ext cx="12191969" cy="36576"/>
          </a:xfrm>
          <a:prstGeom prst="rect">
            <a:avLst/>
          </a:prstGeom>
          <a:solidFill>
            <a:srgbClr val="8060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a:hlinkClick action="ppaction://hlinksldjump" r:id="rId7"/>
          </p:cNvPr>
          <p:cNvSpPr/>
          <p:nvPr/>
        </p:nvSpPr>
        <p:spPr>
          <a:xfrm>
            <a:off x="594360" y="2670048"/>
            <a:ext cx="1152144" cy="320040"/>
          </a:xfrm>
          <a:prstGeom prst="roundRect">
            <a:avLst>
              <a:gd name="adj" fmla="val 12000"/>
            </a:avLst>
          </a:prstGeom>
          <a:solidFill>
            <a:srgbClr val="F0E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a:hlinkClick action="ppaction://hlinksldjump" r:id="rId7"/>
          </p:cNvPr>
          <p:cNvSpPr txBox="1"/>
          <p:nvPr/>
        </p:nvSpPr>
        <p:spPr>
          <a:xfrm>
            <a:off x="704088" y="2752344"/>
            <a:ext cx="932688" cy="228599"/>
          </a:xfrm>
          <a:prstGeom prst="rect">
            <a:avLst/>
          </a:prstGeom>
          <a:noFill/>
        </p:spPr>
        <p:txBody>
          <a:bodyPr wrap="square" lIns="0" rIns="0" tIns="0" bIns="0">
            <a:spAutoFit/>
          </a:bodyPr>
          <a:lstStyle/>
          <a:p>
            <a:pPr algn="l">
              <a:lnSpc>
                <a:spcPct val="101000"/>
              </a:lnSpc>
              <a:spcAft>
                <a:spcPts val="300"/>
              </a:spcAft>
              <a:defRPr sz="1000" b="1">
                <a:solidFill>
                  <a:srgbClr val="203350"/>
                </a:solidFill>
                <a:latin typeface="DejaVu Sans"/>
              </a:defRPr>
            </a:pPr>
            <a:r>
              <a:t>Shannon</a:t>
            </a:r>
          </a:p>
        </p:txBody>
      </p:sp>
      <p:sp>
        <p:nvSpPr>
          <p:cNvPr id="20" name="Rounded Rectangle 19">
            <a:hlinkClick action="ppaction://hlinksldjump" r:id="rId8"/>
          </p:cNvPr>
          <p:cNvSpPr/>
          <p:nvPr/>
        </p:nvSpPr>
        <p:spPr>
          <a:xfrm>
            <a:off x="1874519" y="2670048"/>
            <a:ext cx="1152144" cy="320040"/>
          </a:xfrm>
          <a:prstGeom prst="roundRect">
            <a:avLst>
              <a:gd name="adj" fmla="val 12000"/>
            </a:avLst>
          </a:prstGeom>
          <a:solidFill>
            <a:srgbClr val="F0E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a:hlinkClick action="ppaction://hlinksldjump" r:id="rId8"/>
          </p:cNvPr>
          <p:cNvSpPr txBox="1"/>
          <p:nvPr/>
        </p:nvSpPr>
        <p:spPr>
          <a:xfrm>
            <a:off x="1984248" y="2752344"/>
            <a:ext cx="932688" cy="228599"/>
          </a:xfrm>
          <a:prstGeom prst="rect">
            <a:avLst/>
          </a:prstGeom>
          <a:noFill/>
        </p:spPr>
        <p:txBody>
          <a:bodyPr wrap="square" lIns="0" rIns="0" tIns="0" bIns="0">
            <a:spAutoFit/>
          </a:bodyPr>
          <a:lstStyle/>
          <a:p>
            <a:pPr algn="l">
              <a:lnSpc>
                <a:spcPct val="101000"/>
              </a:lnSpc>
              <a:spcAft>
                <a:spcPts val="300"/>
              </a:spcAft>
              <a:defRPr sz="1000" b="1">
                <a:solidFill>
                  <a:srgbClr val="203350"/>
                </a:solidFill>
                <a:latin typeface="DejaVu Sans"/>
              </a:defRPr>
            </a:pPr>
            <a:r>
              <a:t>Simpson</a:t>
            </a:r>
          </a:p>
        </p:txBody>
      </p:sp>
      <p:sp>
        <p:nvSpPr>
          <p:cNvPr id="22" name="Rounded Rectangle 21">
            <a:hlinkClick action="ppaction://hlinksldjump" r:id="rId9"/>
          </p:cNvPr>
          <p:cNvSpPr/>
          <p:nvPr/>
        </p:nvSpPr>
        <p:spPr>
          <a:xfrm>
            <a:off x="3154679" y="2670048"/>
            <a:ext cx="1152144" cy="320040"/>
          </a:xfrm>
          <a:prstGeom prst="roundRect">
            <a:avLst>
              <a:gd name="adj" fmla="val 12000"/>
            </a:avLst>
          </a:prstGeom>
          <a:solidFill>
            <a:srgbClr val="8060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a:hlinkClick action="ppaction://hlinksldjump" r:id="rId9"/>
          </p:cNvPr>
          <p:cNvSpPr txBox="1"/>
          <p:nvPr/>
        </p:nvSpPr>
        <p:spPr>
          <a:xfrm>
            <a:off x="3264408" y="2752344"/>
            <a:ext cx="932688" cy="228599"/>
          </a:xfrm>
          <a:prstGeom prst="rect">
            <a:avLst/>
          </a:prstGeom>
          <a:noFill/>
        </p:spPr>
        <p:txBody>
          <a:bodyPr wrap="square" lIns="0" rIns="0" tIns="0" bIns="0">
            <a:spAutoFit/>
          </a:bodyPr>
          <a:lstStyle/>
          <a:p>
            <a:pPr algn="l">
              <a:lnSpc>
                <a:spcPct val="101000"/>
              </a:lnSpc>
              <a:spcAft>
                <a:spcPts val="300"/>
              </a:spcAft>
              <a:defRPr sz="1000" b="1">
                <a:solidFill>
                  <a:srgbClr val="FFFFFF"/>
                </a:solidFill>
                <a:latin typeface="DejaVu Sans"/>
              </a:defRPr>
            </a:pPr>
            <a:r>
              <a:t>Riqueza</a:t>
            </a:r>
          </a:p>
        </p:txBody>
      </p:sp>
      <p:graphicFrame>
        <p:nvGraphicFramePr>
          <p:cNvPr id="24" name="Chart 23"/>
          <p:cNvGraphicFramePr>
            <a:graphicFrameLocks noGrp="1"/>
          </p:cNvGraphicFramePr>
          <p:nvPr/>
        </p:nvGraphicFramePr>
        <p:xfrm>
          <a:off x="530352" y="3191256"/>
          <a:ext cx="7589520" cy="2414016"/>
        </p:xfrm>
        <a:graphic>
          <a:graphicData uri="http://schemas.openxmlformats.org/drawingml/2006/chart">
            <c:chart xmlns:c="http://schemas.openxmlformats.org/drawingml/2006/chart" r:id="rId10"/>
          </a:graphicData>
        </a:graphic>
      </p:graphicFrame>
      <p:sp>
        <p:nvSpPr>
          <p:cNvPr id="25" name="TextBox 24"/>
          <p:cNvSpPr txBox="1"/>
          <p:nvPr/>
        </p:nvSpPr>
        <p:spPr>
          <a:xfrm>
            <a:off x="8202168" y="3172968"/>
            <a:ext cx="886968" cy="274320"/>
          </a:xfrm>
          <a:prstGeom prst="rect">
            <a:avLst/>
          </a:prstGeom>
          <a:noFill/>
        </p:spPr>
        <p:txBody>
          <a:bodyPr wrap="square" lIns="0" rIns="0" tIns="0" bIns="0">
            <a:spAutoFit/>
          </a:bodyPr>
          <a:lstStyle/>
          <a:p>
            <a:pPr algn="l">
              <a:lnSpc>
                <a:spcPct val="101000"/>
              </a:lnSpc>
              <a:spcAft>
                <a:spcPts val="300"/>
              </a:spcAft>
              <a:defRPr sz="850" b="0">
                <a:solidFill>
                  <a:srgbClr val="5C6E83"/>
                </a:solidFill>
                <a:latin typeface="DejaVu Sans"/>
              </a:defRPr>
            </a:pPr>
            <a:r>
              <a:t>± reportado</a:t>
            </a:r>
          </a:p>
        </p:txBody>
      </p:sp>
      <p:sp>
        <p:nvSpPr>
          <p:cNvPr id="26" name="TextBox 25"/>
          <p:cNvSpPr txBox="1"/>
          <p:nvPr/>
        </p:nvSpPr>
        <p:spPr>
          <a:xfrm>
            <a:off x="8275320" y="3694176"/>
            <a:ext cx="786384" cy="347472"/>
          </a:xfrm>
          <a:prstGeom prst="rect">
            <a:avLst/>
          </a:prstGeom>
          <a:noFill/>
        </p:spPr>
        <p:txBody>
          <a:bodyPr wrap="square" lIns="0" rIns="0" tIns="0" bIns="0">
            <a:spAutoFit/>
          </a:bodyPr>
          <a:lstStyle/>
          <a:p>
            <a:pPr algn="l">
              <a:lnSpc>
                <a:spcPct val="101000"/>
              </a:lnSpc>
              <a:spcAft>
                <a:spcPts val="300"/>
              </a:spcAft>
              <a:defRPr sz="1200" b="0">
                <a:solidFill>
                  <a:srgbClr val="5C6E83"/>
                </a:solidFill>
                <a:latin typeface="DejaVu Sans"/>
              </a:defRPr>
            </a:pPr>
            <a:r>
              <a:t>115,87</a:t>
            </a:r>
          </a:p>
        </p:txBody>
      </p:sp>
      <p:sp>
        <p:nvSpPr>
          <p:cNvPr id="27" name="TextBox 26"/>
          <p:cNvSpPr txBox="1"/>
          <p:nvPr/>
        </p:nvSpPr>
        <p:spPr>
          <a:xfrm>
            <a:off x="8275320" y="4261104"/>
            <a:ext cx="786384" cy="347472"/>
          </a:xfrm>
          <a:prstGeom prst="rect">
            <a:avLst/>
          </a:prstGeom>
          <a:noFill/>
        </p:spPr>
        <p:txBody>
          <a:bodyPr wrap="square" lIns="0" rIns="0" tIns="0" bIns="0">
            <a:spAutoFit/>
          </a:bodyPr>
          <a:lstStyle/>
          <a:p>
            <a:pPr algn="l">
              <a:lnSpc>
                <a:spcPct val="101000"/>
              </a:lnSpc>
              <a:spcAft>
                <a:spcPts val="300"/>
              </a:spcAft>
              <a:defRPr sz="1200" b="0">
                <a:solidFill>
                  <a:srgbClr val="5C6E83"/>
                </a:solidFill>
                <a:latin typeface="DejaVu Sans"/>
              </a:defRPr>
            </a:pPr>
            <a:r>
              <a:t>100,14</a:t>
            </a:r>
          </a:p>
        </p:txBody>
      </p:sp>
      <p:sp>
        <p:nvSpPr>
          <p:cNvPr id="28" name="TextBox 27"/>
          <p:cNvSpPr txBox="1"/>
          <p:nvPr/>
        </p:nvSpPr>
        <p:spPr>
          <a:xfrm>
            <a:off x="8275320" y="4828032"/>
            <a:ext cx="786384" cy="347472"/>
          </a:xfrm>
          <a:prstGeom prst="rect">
            <a:avLst/>
          </a:prstGeom>
          <a:noFill/>
        </p:spPr>
        <p:txBody>
          <a:bodyPr wrap="square" lIns="0" rIns="0" tIns="0" bIns="0">
            <a:spAutoFit/>
          </a:bodyPr>
          <a:lstStyle/>
          <a:p>
            <a:pPr algn="l">
              <a:lnSpc>
                <a:spcPct val="101000"/>
              </a:lnSpc>
              <a:spcAft>
                <a:spcPts val="300"/>
              </a:spcAft>
              <a:defRPr sz="1200" b="0">
                <a:solidFill>
                  <a:srgbClr val="5C6E83"/>
                </a:solidFill>
                <a:latin typeface="DejaVu Sans"/>
              </a:defRPr>
            </a:pPr>
            <a:r>
              <a:t>26,54</a:t>
            </a:r>
          </a:p>
        </p:txBody>
      </p:sp>
      <p:sp>
        <p:nvSpPr>
          <p:cNvPr id="29" name="TextBox 28"/>
          <p:cNvSpPr txBox="1"/>
          <p:nvPr/>
        </p:nvSpPr>
        <p:spPr>
          <a:xfrm>
            <a:off x="667512" y="5788152"/>
            <a:ext cx="8138160" cy="301752"/>
          </a:xfrm>
          <a:prstGeom prst="rect">
            <a:avLst/>
          </a:prstGeom>
          <a:noFill/>
        </p:spPr>
        <p:txBody>
          <a:bodyPr wrap="square" lIns="0" rIns="0" tIns="0" bIns="0">
            <a:spAutoFit/>
          </a:bodyPr>
          <a:lstStyle/>
          <a:p>
            <a:pPr algn="l">
              <a:lnSpc>
                <a:spcPct val="101000"/>
              </a:lnSpc>
              <a:spcAft>
                <a:spcPts val="300"/>
              </a:spcAft>
              <a:defRPr sz="1050" b="0">
                <a:solidFill>
                  <a:srgbClr val="5C6E83"/>
                </a:solidFill>
                <a:latin typeface="DejaVu Sans"/>
              </a:defRPr>
            </a:pPr>
            <a:r>
              <a:t>Riqueza de taxones reportada en la tabla original.</a:t>
            </a:r>
          </a:p>
        </p:txBody>
      </p:sp>
      <p:sp>
        <p:nvSpPr>
          <p:cNvPr id="30" name="Rounded Rectangle 29"/>
          <p:cNvSpPr/>
          <p:nvPr/>
        </p:nvSpPr>
        <p:spPr>
          <a:xfrm>
            <a:off x="9290304" y="2834640"/>
            <a:ext cx="2359152" cy="3127248"/>
          </a:xfrm>
          <a:prstGeom prst="roundRect">
            <a:avLst>
              <a:gd name="adj" fmla="val 12000"/>
            </a:avLst>
          </a:prstGeom>
          <a:solidFill>
            <a:srgbClr val="F0E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09760" y="3154680"/>
            <a:ext cx="1920240" cy="1188720"/>
          </a:xfrm>
          <a:prstGeom prst="rect">
            <a:avLst/>
          </a:prstGeom>
          <a:noFill/>
        </p:spPr>
        <p:txBody>
          <a:bodyPr wrap="square" lIns="0" rIns="0" tIns="0" bIns="0">
            <a:spAutoFit/>
          </a:bodyPr>
          <a:lstStyle/>
          <a:p>
            <a:pPr algn="l">
              <a:lnSpc>
                <a:spcPct val="101000"/>
              </a:lnSpc>
              <a:spcAft>
                <a:spcPts val="300"/>
              </a:spcAft>
              <a:defRPr sz="2200" b="1">
                <a:solidFill>
                  <a:srgbClr val="203350"/>
                </a:solidFill>
                <a:latin typeface="DejaVu Sans"/>
              </a:defRPr>
            </a:pPr>
            <a:r>
              <a:t>¿Más diversidad</a:t>
            </a:r>
          </a:p>
          <a:p>
            <a:pPr algn="l">
              <a:lnSpc>
                <a:spcPct val="101000"/>
              </a:lnSpc>
              <a:spcAft>
                <a:spcPts val="300"/>
              </a:spcAft>
              <a:defRPr sz="2200" b="1">
                <a:solidFill>
                  <a:srgbClr val="203350"/>
                </a:solidFill>
                <a:latin typeface="DejaVu Sans"/>
              </a:defRPr>
            </a:pPr>
            <a:r>
              <a:t>significa</a:t>
            </a:r>
          </a:p>
          <a:p>
            <a:pPr algn="l">
              <a:lnSpc>
                <a:spcPct val="101000"/>
              </a:lnSpc>
              <a:spcAft>
                <a:spcPts val="300"/>
              </a:spcAft>
              <a:defRPr sz="2200" b="1">
                <a:solidFill>
                  <a:srgbClr val="203350"/>
                </a:solidFill>
                <a:latin typeface="DejaVu Sans"/>
              </a:defRPr>
            </a:pPr>
            <a:r>
              <a:t>más peligro?</a:t>
            </a:r>
          </a:p>
        </p:txBody>
      </p:sp>
      <p:sp>
        <p:nvSpPr>
          <p:cNvPr id="32" name="Rounded Rectangle 31">
            <a:hlinkClick action="ppaction://hlinksldjump" r:id="rId11"/>
          </p:cNvPr>
          <p:cNvSpPr/>
          <p:nvPr/>
        </p:nvSpPr>
        <p:spPr>
          <a:xfrm>
            <a:off x="9473184" y="4983480"/>
            <a:ext cx="1984248" cy="594360"/>
          </a:xfrm>
          <a:prstGeom prst="roundRect">
            <a:avLst>
              <a:gd name="adj" fmla="val 12000"/>
            </a:avLst>
          </a:prstGeom>
          <a:solidFill>
            <a:srgbClr val="8060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a:hlinkClick action="ppaction://hlinksldjump" r:id="rId11"/>
          </p:cNvPr>
          <p:cNvSpPr txBox="1"/>
          <p:nvPr/>
        </p:nvSpPr>
        <p:spPr>
          <a:xfrm>
            <a:off x="9582911" y="5065776"/>
            <a:ext cx="1764792" cy="502920"/>
          </a:xfrm>
          <a:prstGeom prst="rect">
            <a:avLst/>
          </a:prstGeom>
          <a:noFill/>
        </p:spPr>
        <p:txBody>
          <a:bodyPr wrap="square" lIns="0" rIns="0" tIns="0" bIns="0">
            <a:spAutoFit/>
          </a:bodyPr>
          <a:lstStyle/>
          <a:p>
            <a:pPr algn="l">
              <a:lnSpc>
                <a:spcPct val="101000"/>
              </a:lnSpc>
              <a:spcAft>
                <a:spcPts val="300"/>
              </a:spcAft>
              <a:defRPr sz="1200" b="1">
                <a:solidFill>
                  <a:srgbClr val="FFFFFF"/>
                </a:solidFill>
                <a:latin typeface="DejaVu Sans"/>
              </a:defRPr>
            </a:pPr>
            <a:r>
              <a:t>Contrastar</a:t>
            </a:r>
          </a:p>
          <a:p>
            <a:pPr algn="l">
              <a:lnSpc>
                <a:spcPct val="101000"/>
              </a:lnSpc>
              <a:spcAft>
                <a:spcPts val="300"/>
              </a:spcAft>
              <a:defRPr sz="1200" b="1">
                <a:solidFill>
                  <a:srgbClr val="FFFFFF"/>
                </a:solidFill>
                <a:latin typeface="DejaVu Sans"/>
              </a:defRPr>
            </a:pPr>
            <a:r>
              <a:t>la conclusión</a:t>
            </a:r>
          </a:p>
        </p:txBody>
      </p:sp>
      <p:sp>
        <p:nvSpPr>
          <p:cNvPr id="34" name="Rounded Rectangle 33">
            <a:hlinkClick action="ppaction://hlinksldjump" r:id="rId7"/>
          </p:cNvPr>
          <p:cNvSpPr/>
          <p:nvPr/>
        </p:nvSpPr>
        <p:spPr>
          <a:xfrm>
            <a:off x="9491472" y="5779008"/>
            <a:ext cx="2002536" cy="292608"/>
          </a:xfrm>
          <a:prstGeom prst="roundRect">
            <a:avLst>
              <a:gd name="adj" fmla="val 12000"/>
            </a:avLst>
          </a:prstGeom>
          <a:solidFill>
            <a:srgbClr val="F0E7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a:hlinkClick action="ppaction://hlinksldjump" r:id="rId7"/>
          </p:cNvPr>
          <p:cNvSpPr txBox="1"/>
          <p:nvPr/>
        </p:nvSpPr>
        <p:spPr>
          <a:xfrm>
            <a:off x="9601200" y="5861304"/>
            <a:ext cx="1783080" cy="201168"/>
          </a:xfrm>
          <a:prstGeom prst="rect">
            <a:avLst/>
          </a:prstGeom>
          <a:noFill/>
        </p:spPr>
        <p:txBody>
          <a:bodyPr wrap="square" lIns="0" rIns="0" tIns="0" bIns="0">
            <a:spAutoFit/>
          </a:bodyPr>
          <a:lstStyle/>
          <a:p>
            <a:pPr algn="l">
              <a:lnSpc>
                <a:spcPct val="101000"/>
              </a:lnSpc>
              <a:spcAft>
                <a:spcPts val="300"/>
              </a:spcAft>
              <a:defRPr sz="900" b="1">
                <a:solidFill>
                  <a:srgbClr val="8060BA"/>
                </a:solidFill>
                <a:latin typeface="DejaVu Sans"/>
              </a:defRPr>
            </a:pPr>
            <a:r>
              <a:t>Volver al gráfico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 la curiosidad al servicio · Proyectos de biología</dc:title>
  <dc:subject>Clase participativa de 40 minutos · 26 diapositivas principales</dc:subject>
  <dc:creator>Emilia Espín Loza</dc:creator>
  <cp:keywords/>
  <dc:description>Nueva versión centrada en estudiantes, formulación de proyectos y servicio comunitario. Dos casos de experiencia profesional. Ilustraciones originales.</dc:description>
  <cp:lastModifiedBy>Steve Canny</cp:lastModifiedBy>
  <cp:revision>1</cp:revision>
  <dcterms:created xsi:type="dcterms:W3CDTF">2013-01-27T09:14:16Z</dcterms:created>
  <dcterms:modified xsi:type="dcterms:W3CDTF">2013-01-27T09:15:58Z</dcterms:modified>
  <cp:category/>
</cp:coreProperties>
</file>