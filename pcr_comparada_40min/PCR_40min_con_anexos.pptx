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conductor: estudiar dos plantas, control y bajo calor. El gen X es hipotético; no se suministran secuencias de oligos ni resultados reales. Distinguir tres preguntas y asociar cada una con el tipo de dato necesario. La clase se organiza para cuarenta minutos; tiempos solo en la guía.</a:t>
            </a:r>
          </a:p>
          <a:p>
            <a:r>
              <a:t>Fuentes: [1–5,10–11] · Caso y datos simulados.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cambia el molde; qPCR y dPCR describen cómo se lee la amplificación. Las estrategias multiplex, nested y alta fidelidad son combinables. RT-PCR no significa real-time PCR.</a:t>
            </a:r>
          </a:p>
          <a:p>
            <a:r>
              <a:t>Fuentes: [2–4,10–11]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polimerasa extiende desde un 3′ libre en dirección 5′→3′. La temperatura de alineamiento depende de primers y química. Extensión según enzima y tamaño. No son condiciones universales.</a:t>
            </a:r>
          </a:p>
          <a:p>
            <a:r>
              <a:t>Fuentes: [3,5]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Tomar muestras biológicas independientes y conservarlas según objetivo. ADN: extracción, integridad e inhibidores. ARN: RNasas, integridad, DNasa cuando corresponda y control sin RT. Mantener registro de masa, elución y diluciones. Comparar muestras de ambas condiciones balanceando extracción y corrida; medir más tubos de una muestra no añade réplicas biológicas.</a:t>
            </a:r>
          </a:p>
          <a:p>
            <a:r>
              <a:t>Fuentes: [2,4–5,10–11]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Ambos primers se escriben 5′→3′; el reverse se diseña como reverso complementario de su sitio de unión. Validar especificidad, Tm, dímeros y variantes. El cálculo de 0.5 µL por primer es docente, no concentración universal.</a:t>
            </a:r>
          </a:p>
          <a:p>
            <a:r>
              <a:t>Fuentes: [2,5,6]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de reacción de 25 µL: mix completo 2× 12,5 µL, forward 10 µM 0,5 µL, reverse 10 µM 0,5 µL, ADN 2 µL y agua 9,5 µL. Se asume que el mix ya incluye buffer, Mg²⁺, dNTP y polimerasa. Mezclar los componentes comunes, sin molde: 23 µL por tubo. Ocho muestras más NTC y positivo son diez tubos. Con 10 % extra se preparan once equivalentes: 137,5 µL de mix, 5,5 µL de cada primer y 104,5 µL de agua; total 253 µL. Distribuir 23 µL y añadir 2 µL de muestra o control. Adaptar a la composición real del kit.</a:t>
            </a:r>
          </a:p>
          <a:p>
            <a:r>
              <a:t>Fuentes: [5,10] · Ejemplo docente con mix completo 2×.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NTC detecta contaminación de reactivos y productos no específicos según química; blanco evalúa contaminación de extracción. Positivo verifica que el ensayo funciona. Sin RT detecta ADN genómico residual en estudios de ARN. El control interno requiere validación para inhibición/calidad. No existe un Cq universal que distinga positivo y negativo en todo ensayo.</a:t>
            </a:r>
          </a:p>
          <a:p>
            <a:r>
              <a:t>Fuentes: [2,4–6,10–11]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gel es esquemático y no confirma identidad por tamaño solamente. A tiene una banda esperada; B tiene mezcla de productos y NTC no debería mostrar señal. Si se obtiene banda única, revisar calidad y purificar antes de Sanger.</a:t>
            </a:r>
          </a:p>
          <a:p>
            <a:r>
              <a:t>Fuentes: [1,3,5]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RT produce ADNc inicialmente monocatenario. En un paso, RT y amplificación ocurren en un tubo con química compatible; en dos pasos, una misma preparación de ADNc puede usarse en varios ensayos. Ejemplo de anexo: 500 ng de ARN se procesan en 20 µL; tras diluir 1:5, el volumen es 100 µL y 2 µL corresponden a 10 ng equivalentes de ARN inicial. Ese valor no mide el rendimiento real de ADNc. Incluir control sin RT y evaluar integridad e inhibidores.</a:t>
            </a:r>
          </a:p>
          <a:p>
            <a:r>
              <a:t>Fuentes: [2–3,5,10]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colorante fluoresce al unirse al ADN de doble hebra y también puede detectar dímeros. La sonda de hidrólisis lleva un reportero y quencher; la extensión y actividad nucleasa separan ambos, aumentando señal. La sonda no sustituye validar el ensayo. Para colorantes, estudiar fusión ayuda a investigar productos: un pico único no demuestra por sí solo identidad.</a:t>
            </a:r>
          </a:p>
          <a:p>
            <a:r>
              <a:t>Fuentes: [1–2,6,10]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Curvas simuladas con umbral común y eficiencias iguales. El eje y representa señal relativa; Cq se lee en el cruce del umbral. Comparar Cq requiere ensayos y condiciones comparables. La química puede usar colorante o sonda; ver anexos.</a:t>
            </a:r>
          </a:p>
          <a:p>
            <a:r>
              <a:t>Fuentes: [1–3,6,10]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réplicas biológicas y referencias validadas. ΔCq control=25−20=5; tratado=22−20=2; ΔΔCq=−3; cambio 2³=8. El método requiere eficiencias comparables cercanas al 100 %. La masa equivalente de ARN no garantiza igual eficiencia de RT.</a:t>
            </a:r>
          </a:p>
          <a:p>
            <a:r>
              <a:t>Fuentes: [2,6,7,10]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Estándares de 10² a 10⁵ copias; Cq = −3.32 log10(N) + 40. Para Cq 26.72, log10(N)=4 y N=10⁴. La pendiente implica eficiencia cercana al 100 %. Validar rango y no extrapolar; el ejemplo no muestra todas las réplicas requeridas.</a:t>
            </a:r>
          </a:p>
          <a:p>
            <a:r>
              <a:t>Fuentes: [1,2,6,10]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cuarenta particiones del dibujo contienen diez positivas, 25 %. Son una representación pequeña, no las veinte mil del ejemplo siguiente. Cada positiva puede contener una o más copias. Poisson corrige coincidencias bajo supuestos de distribución aleatoria y volumen conocido. Registrar umbral de clasificación, particiones válidas, volumen efectivo, diluciones e incertidumbre; la técnica no elimina problemas de inhibición o muestreo.</a:t>
            </a:r>
          </a:p>
          <a:p>
            <a:r>
              <a:t>Fuentes: [3–4,8,11]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Veinte mil particiones válidas y cinco mil positivas dan p=0,25. λ=−ln(0,75)=0,287682 copias medias por partición. Con un volumen ilustrativo de 0,85 nL=0,00085 µL, la mezcla contiene 338,4495 copias/µL. Al poner 4 µL de extracto en 20 µL de reacción, multiplicar por 5: aproximadamente 1 692,25 copias/µL del extracto diluido. Si había una dilución previa 1:10, multiplicar de nuevo por 10: aproximadamente 16 922,5 copias/µL originales. Se muestran valores redondeados. El volumen leído es 17 µL y no debe confundirse con los 20 µL nominales. En un resultado real reportar intervalo e incertidumbre.</a:t>
            </a:r>
          </a:p>
          <a:p>
            <a:r>
              <a:t>Fuentes: [4,8,11] · Ejemplo simulado, volumen no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cuantificación digital es sin curva estándar, pero depende de volumen y clasificación. qPCR puede cuantificar absolutamente con estándares o relativamente con referencia. RT se puede añadir a las tres lecturas cuando el molde es ARN. Sensibilidad depende de ensayo, entrada y validación.</a:t>
            </a:r>
          </a:p>
          <a:p>
            <a:r>
              <a:t>Fuentes: [1–4,6,8]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Multiplex emplea varios pares de primers y requiere validar interacciones y competencia; puede usar lectura final, qPCR o dPCR. Nested usa primers externos en la primera ronda e internos en la segunda; transferir producto aumenta la posibilidad de contaminación. Estas estrategias no constituyen una lectura nueva ni miden de forma fiable cantidad inicial por una banda final. Hot-start, touchdown y alta fidelidad se desarrollan en los anexos.</a:t>
            </a:r>
          </a:p>
          <a:p>
            <a:r>
              <a:t>Fuentes: [3,5]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PCR amplifica; la secuenciación lee bases. Para Sanger, preparar un amplicón único, limpio y cuantificado, y recordar que la reacción de secuenciación usa un primer. Illumina y Nanopore pueden leer amplicones con bibliotecas compatibles, y algunos flujos shotgun son PCR-free. Amplificar introduce sesgos y copias y pierde modificaciones nativas del ADN. Los índices identifican muestras; no son automáticamente identificadores moleculares únicos. RNA-seq se puede complementar con RT-qPCR de transcritos seleccionados y referencias validadas.</a:t>
            </a:r>
          </a:p>
          <a:p>
            <a:r>
              <a:t>Fuentes: [3–5,9–11]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Actividad en parejas. 1) Ocho muestras + NTC + positivo = diez tubos. 2) Diez por 1,10 = once equivalentes. 3) Veintitrés µL de mezcla común por once = 253 µL. 4) Distribuir 23 µL y agregar los 2 µL específicos. 5) Para expresión se propone RT-qPCR, control sin RT, referencias validadas, eficiencia y réplicas biológicas. Si interesara conocer las bases, preparar un amplicón para Sanger o diseñar otro flujo de secuenciación. La cantidad de muestras es ilustrativa, no un cálculo de potencia.</a:t>
            </a:r>
          </a:p>
          <a:p>
            <a:r>
              <a:t>Fuentes: Síntesis didáctica de [2–5,10–11].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verificando muestra y controles, lectura elegida y cálculo con sus unidades. Un Cq menor no significa automáticamente mayor expresión entre ensayos o condiciones no comparables; una banda no prueba por sí sola identidad; una partición positiva no equivale siempre a una copia. Las recetas de los anexos son ejemplos de cálculo y deben adaptarse al fabricante y a una validación del ensayo.</a:t>
            </a:r>
          </a:p>
          <a:p>
            <a:r>
              <a:t>Fuentes: [4–6,10–11]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Nn = N0(1+E)^n, con E como fracción: 1 equivale a 100 %. El modelo es válido antes de la meseta. Ejemplo: 100 × 2^25 = 3.36 × 10^9 copias ideales; no predice el rendimiento real final.</a:t>
            </a:r>
          </a:p>
          <a:p>
            <a:r>
              <a:t>Fuentes: [1–3].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razones de absorbancia son indicadores contextuales; no demuestran ausencia de inhibición. Un control añadido después de extraer evalúa inhibición, no recuperación de extracción. cfDNA requiere extracción y control de tamaño adecuados.</a:t>
            </a:r>
          </a:p>
          <a:p>
            <a:r>
              <a:t>Fuentes: [2,4,5].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Rangos orientativos, no criterios universales. Usar Tm por nearest-neighbor con sal y Mg²⁺ relevantes; no fijar el alineamiento solo con la regla de Wallace. Para expresión, diseñar una unión exón-exón cuando sea adecuado y validar −RT.</a:t>
            </a:r>
          </a:p>
          <a:p>
            <a:r>
              <a:t>Fuentes: [2,4–6].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oligo de 25 nmol reconstituido en 250 µL produce 100 µM: 1 µM = 1 pmol/µL. Preparar alícuotas de stock y solución de trabajo; usar agua o buffer compatible. La concentración final se refiere a cada primer por separado.</a:t>
            </a:r>
          </a:p>
          <a:p>
            <a:r>
              <a:t>Fuentes: [5]; ejemplo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mezcla comercial 2× suele incluir buffer, Mg²⁺, dNTP y polimerasa; verificar ficha. Puede incluir colorante o requerir sonda externa. No añadir Mg²⁺ o dNTP nuevamente sin justificarlo.</a:t>
            </a:r>
          </a:p>
          <a:p>
            <a:r>
              <a:t>Fuentes: [3,5].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muestras por duplicado = 12 pozos, más NTC por duplicado = 2, más positivo por duplicado = 2: 16 pozos. Exceso operativo 10 %: preparar 17.6 equivalentes, o redondear a 18 para facilitar pipeteo. No multiplicar el molde dentro de la mezcla común.</a:t>
            </a:r>
          </a:p>
          <a:p>
            <a:r>
              <a:t>Fuentes: Ejemplo docente; [5,6].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Mezcla hipotética cuyo fabricante usa buffer 5× y mezcla enzimática separada, con primers de RT y dNTP incluidos según formulación. No mezclar esta receta con productos que ya integran todo. La masa de ARN equivalente no mide el rendimiento real de síntesis de ADNc.</a:t>
            </a:r>
          </a:p>
          <a:p>
            <a:r>
              <a:t>Fuentes: [2,5]; ejemplo para kit de RT de dos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Fuentes: [1,2,6].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qPCR con colorante: mezcla 2× 10 µL, F y R de 10 µM 0.6 µL cada uno, molde 2 µL, agua 6.8 µL. Sonda: agregar 0.4 µL de sonda 10 µM y reducir agua a 6.4 µL. Para RT-qPCR de dos pasos el molde es ADNc; no agregar RT aquí.</a:t>
            </a:r>
          </a:p>
          <a:p>
            <a:r>
              <a:t>Fuentes: [2,6]; ejemplos docentes, concentraciones dependientes de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de 20 µL que asume PCR mix 2× sin RT y una mezcla enzimática RT separada a 20×. Algunos kits usan otros factores o ya integran RT; respetar su documentación. La cantidad de ARN debe estar dentro del intervalo validado.</a:t>
            </a:r>
          </a:p>
          <a:p>
            <a:r>
              <a:t>Fuentes: [2,3]; ejemplo docente para un kit de RT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Asume mezcla dPCR completa 2× sin primers ni sondas. Aditivos de partición, volumen de carga y recuperación dependen del sistema. Las concentraciones ilustrativas 900 nM de primers y 250 nM de sonda son habituales en algunas plataformas; no universales. Para RT-dPCR un paso se requiere formulación compatible con RT.</a:t>
            </a:r>
          </a:p>
          <a:p>
            <a:r>
              <a:t>Fuentes: [4,8]; ejemplo docente para química de sonda.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una frecuencia f y con N moléculas totales, se esperan Nf moléculas mutantes. Con Poisson, P(≥1) = 1 − exp(−Nf); para 95 % se necesita Nf aproximadamente 3. Esto solo describe presencia por muestreo: detección validada además exige blancos, especificidad y umbral de decisión.</a:t>
            </a:r>
          </a:p>
          <a:p>
            <a:r>
              <a:t>Fuentes: [4,8].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Multiplex puede ser final, qPCR o dPCR. Primero validar cada ensayo en singleplex y luego estudiar interferencias. Para 3 dianas hay 6 primers, con 0.2 µM de cada uno en el ejemplo. En qPCR se necesitan canales/estrategia de discriminación y, si se usan sondas, sumar sus volúmenes.</a:t>
            </a:r>
          </a:p>
          <a:p>
            <a:r>
              <a:t>Fuentes: [3,5].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rondas con primers externos e internos. Cada ronda de 25 µL puede usar la receta base de PCR convencional, con los primers correspondientes. Ronda 2: mix 12.5, F interno 0.5, R interno 0.5, producto diluido 2 y agua 9.5 µL. Abrir productos incrementa riesgo de contaminación; incluir controles por ronda.</a:t>
            </a:r>
          </a:p>
          <a:p>
            <a:r>
              <a:t>Fuentes: [3,5].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Hot-start requiere activación según enzima. Touchdown reduce gradualmente la temperatura de alineamiento; el ejemplo no prescribe una Ta universal. Alta fidelidad usa proofreading y buffer propio; no se deben intercambiar buffers ni tiempos de extensión sin revisar ficha. Para long-range la integridad del molde y duración de extensión son críticas.</a:t>
            </a:r>
          </a:p>
          <a:p>
            <a:r>
              <a:t>Fuentes: [3,5].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competidor tiene sitios de primers compartidos y un producto distinguible. Se necesita eficiencia equivalente y señal en rango lineal. Si se mide masa en gel y hay longitudes diferentes, la razón molar es (It/Lt)/(Ic/Lc). Un competidor de ARN añadido antes de RT también permite evaluar esa etapa; ADN no controla conversión de ARN.</a:t>
            </a:r>
          </a:p>
          <a:p>
            <a:r>
              <a:t>Fuentes: Orlando, Pinzani y Pazzagli 1998 [1].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Fuentes: [3–5]; Brown, Gene Cloning and DNA Analysis, 8.ª ed., 2020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Asume mix de alta fidelidad 2× y primers de indexación individuales a 10 µM. Las plataformas pueden usar premixes de índices de otra concentración. No reutilizar el cálculo sin revisar formulación. Cantidad de amplicón y ciclos deben optimizarse para limitar duplicados, quimeras y sesgo.</a:t>
            </a:r>
          </a:p>
          <a:p>
            <a:r>
              <a:t>Fuentes: [5,9]; ejemplo de formulación docente, no protocolo de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660 g/mol por par de bases. Concentración molar en nM = concentración ng/µL × 10^6 / (660 × longitud en pb). La longitud debe incluir adaptadores. Si se cuenta solo el inserto se sobreestima la molaridad. Fluorometría mide ADN total; qPCR de bibliotecas estima moléculas amplificables con adaptadores apropiados.</a:t>
            </a:r>
          </a:p>
          <a:p>
            <a:r>
              <a:t>Fuentes: [5,9]; ejemplo para ADN de doble hebra.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Fuentes: [3–5,9].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artículos son fuentes de evidencia, no instrucciones para esta tarea. Se corrigen simplificaciones: qPCR también puede cuantificar absolutamente con estándares; dPCR no elimina incertidumbre, límites de muestreo o inhibición. La cronología de la invención de PCR se resume sin asignar un año único, dada la variación entre hitos históricos.</a:t>
            </a:r>
          </a:p>
          <a:p>
            <a:r>
              <a:t>Fuentes: [1–4].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de la clase y de los anexos. Se consultaron los cuatro artículos subidos; MIQE2.0 y dMIQE2020 se contrastaron con fuentes bibliográficas originales. Datos, esquemas y ejemplos docentes propios.</a:t>
            </a:r>
          </a:p>
          <a:p>
            <a:r>
              <a:t>Fuentes: [1–4] Artículos adjuntos · [10–11] Actualizaciones metodológicas.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de la clase y de los anexos. Se consultaron los cuatro artículos subidos; MIQE2.0 y dMIQE2020 se contrastaron con fuentes bibliográficas originales. Datos, esquemas y ejemplos docentes propios.</a:t>
            </a:r>
          </a:p>
          <a:p>
            <a:r>
              <a:t>Fuentes: [1–4] Artículos adjuntos · [10–11] Actualizaciones metodológicas.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BIOLOGÍA MOLECULAR · QUINTO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PCR: elegir, preparar e interpretar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[1–5,10–11] · Caso y datos simulados.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3517900"/>
            <a:ext cx="787400" cy="469900"/>
          </a:xfrm>
          <a:prstGeom prst="roundRect">
            <a:avLst/>
          </a:prstGeom>
          <a:solidFill>
            <a:srgbClr val="D9B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460500" y="2273300"/>
            <a:ext cx="0" cy="125730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26543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8600" y="2387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7100" y="3022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11300" y="29464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22700" y="3517900"/>
            <a:ext cx="787400" cy="469900"/>
          </a:xfrm>
          <a:prstGeom prst="roundRect">
            <a:avLst/>
          </a:prstGeom>
          <a:solidFill>
            <a:srgbClr val="D9B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4216400" y="2273300"/>
            <a:ext cx="0" cy="125730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670300" y="26543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54500" y="2387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83000" y="3022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67200" y="29464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78400" y="1993900"/>
            <a:ext cx="431800" cy="431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73700" y="2209800"/>
            <a:ext cx="88900" cy="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1865" y="2407365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94300" y="2489200"/>
            <a:ext cx="0" cy="8890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933872" y="2407365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826000" y="2209800"/>
            <a:ext cx="88900" cy="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4933872" y="1949372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94300" y="1841500"/>
            <a:ext cx="0" cy="8890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391865" y="1949372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64300" y="1866900"/>
            <a:ext cx="4991100" cy="10541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2100" y="2006600"/>
            <a:ext cx="46355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¿Está el gen?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2100" y="2451100"/>
            <a:ext cx="463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Detectar ADN de la diana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4300" y="3073400"/>
            <a:ext cx="4991100" cy="10541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2100" y="3213100"/>
            <a:ext cx="46355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¿Cambia su expresión?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2100" y="3657600"/>
            <a:ext cx="463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Convertir ARN y cuantificar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64300" y="4279900"/>
            <a:ext cx="4991100" cy="10541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2100" y="4419600"/>
            <a:ext cx="46355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061AC"/>
                </a:solidFill>
                <a:latin typeface="DejaVu Sans"/>
              </a:defRPr>
            </a:pPr>
            <a:r>
              <a:t>¿Qué bases contiene?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2100" y="4864100"/>
            <a:ext cx="463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Preparar un amplicón y secuenciar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00600"/>
            <a:ext cx="49784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DejaVu Sans"/>
              </a:defRPr>
            </a:pPr>
            <a:r>
              <a:t>Dos plantas. Tres preguntas.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MAPA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La familia PCR: nombres que sí tienen sentido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[2–4,10–11]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54200"/>
            <a:ext cx="27940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16000" y="2374900"/>
            <a:ext cx="15875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6000" y="2565400"/>
            <a:ext cx="15875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049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700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351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002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653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304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955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606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25700" y="23749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6000" y="2844800"/>
            <a:ext cx="1968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ADN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6000" y="3746500"/>
            <a:ext cx="66145" cy="9948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82145" y="3845982"/>
            <a:ext cx="66146" cy="24196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48291" y="3800777"/>
            <a:ext cx="66146" cy="6940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14437" y="3690299"/>
            <a:ext cx="66146" cy="11047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80583" y="3622353"/>
            <a:ext cx="66146" cy="67946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46729" y="3622353"/>
            <a:ext cx="66146" cy="26005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12875" y="3648358"/>
            <a:ext cx="66145" cy="10027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79020" y="3748635"/>
            <a:ext cx="66146" cy="9866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45166" y="3847295"/>
            <a:ext cx="66146" cy="2238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11312" y="3798839"/>
            <a:ext cx="66146" cy="7083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77458" y="3688392"/>
            <a:ext cx="66146" cy="11044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743604" y="3621921"/>
            <a:ext cx="66146" cy="6647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09750" y="3621921"/>
            <a:ext cx="66145" cy="2780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75895" y="3649728"/>
            <a:ext cx="66146" cy="10104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2041" y="3750770"/>
            <a:ext cx="66146" cy="9781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08187" y="3848580"/>
            <a:ext cx="66146" cy="2055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074333" y="3796886"/>
            <a:ext cx="66146" cy="7225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140479" y="3686502"/>
            <a:ext cx="66146" cy="110384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206625" y="3621523"/>
            <a:ext cx="66145" cy="64979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72770" y="3621523"/>
            <a:ext cx="66146" cy="2960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38916" y="3651124"/>
            <a:ext cx="66146" cy="101779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405062" y="3752903"/>
            <a:ext cx="66146" cy="96933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71208" y="3849836"/>
            <a:ext cx="66146" cy="1873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537354" y="3794918"/>
            <a:ext cx="66146" cy="7364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6000" y="3619500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14437" y="3673777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412875" y="3521358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611312" y="3742676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09750" y="3494921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008187" y="3721580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06625" y="3559502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405062" y="3625903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16000" y="4140200"/>
            <a:ext cx="1968500" cy="6385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061AC"/>
                </a:solidFill>
                <a:latin typeface="DejaVu Sans"/>
              </a:defRPr>
            </a:pPr>
            <a:r>
              <a:t>ARN → RT →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061AC"/>
                </a:solidFill>
                <a:latin typeface="DejaVu Sans"/>
              </a:defRPr>
            </a:pPr>
            <a:r>
              <a:t>ADNc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530600" y="3556000"/>
            <a:ext cx="571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013200" y="3492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013200" y="3556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343400" y="1828800"/>
            <a:ext cx="71755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21200" y="20447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76800" y="1981200"/>
            <a:ext cx="65151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DejaVu Sans"/>
              </a:defRPr>
            </a:pPr>
            <a:r>
              <a:t>PCR convencional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6600" y="2400300"/>
            <a:ext cx="6794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Una banda al final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43400" y="3022600"/>
            <a:ext cx="71755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521200" y="3238500"/>
            <a:ext cx="203200" cy="2032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76800" y="3175000"/>
            <a:ext cx="65151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276C8"/>
                </a:solidFill>
                <a:latin typeface="DejaVu Sans"/>
              </a:defRPr>
            </a:pPr>
            <a:r>
              <a:t>qPCR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6600" y="3594100"/>
            <a:ext cx="6794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Fluorescencia en cada ciclo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43400" y="4216400"/>
            <a:ext cx="71755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21200" y="4432300"/>
            <a:ext cx="203200" cy="2032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76800" y="4368800"/>
            <a:ext cx="65151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061AC"/>
                </a:solidFill>
                <a:latin typeface="DejaVu Sans"/>
              </a:defRPr>
            </a:pPr>
            <a:r>
              <a:t>dPCR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46600" y="4787900"/>
            <a:ext cx="6794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Particiones positivas y negativas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RT = convertir ARN en ADNc. Se puede combinar con PCR final, qPCR o dPCR.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La PCR copia en tres movimientos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[3,5]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41500"/>
            <a:ext cx="3327400" cy="3352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070100"/>
            <a:ext cx="28829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1. Separar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495800"/>
            <a:ext cx="2882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94–98 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2300" y="1841500"/>
            <a:ext cx="3327400" cy="3352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0900" y="2070100"/>
            <a:ext cx="28829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2. Reconocer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0900" y="4495800"/>
            <a:ext cx="2882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Alineamiento según Tm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5000" y="1841500"/>
            <a:ext cx="3327400" cy="3352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3600" y="2070100"/>
            <a:ext cx="28829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3. Copiar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3600" y="4495800"/>
            <a:ext cx="2882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Extensión según enzima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0600" y="3213100"/>
            <a:ext cx="25400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0600" y="3771900"/>
            <a:ext cx="25400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26000" y="3162300"/>
            <a:ext cx="25400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26000" y="3771900"/>
            <a:ext cx="25400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67300" y="3606800"/>
            <a:ext cx="609600" cy="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88000" y="35433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588000" y="36068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515100" y="3314700"/>
            <a:ext cx="609600" cy="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515100" y="32512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515100" y="33147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48700" y="3149600"/>
            <a:ext cx="25400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48700" y="3340100"/>
            <a:ext cx="25400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376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027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678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29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980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631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282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933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584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235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886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5537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7188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839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0490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48700" y="3784600"/>
            <a:ext cx="25400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648700" y="3975100"/>
            <a:ext cx="25400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376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027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78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329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980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631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282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933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584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2235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3886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5537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188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8839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049000" y="3784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987800" y="3492500"/>
            <a:ext cx="3683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267200" y="3429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267200" y="3492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810500" y="3492500"/>
            <a:ext cx="3683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089900" y="3429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089900" y="3492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Cada ciclo aumenta las copias; la duplicación ideal no se mantiene hasta la meseta.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DE LA HOJA AL TUBO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La preparación depende de lo que queremos medir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[2,4–5,10–11]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800" y="3632200"/>
            <a:ext cx="787400" cy="469900"/>
          </a:xfrm>
          <a:prstGeom prst="roundRect">
            <a:avLst/>
          </a:prstGeom>
          <a:solidFill>
            <a:srgbClr val="D9B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333500" y="2387600"/>
            <a:ext cx="0" cy="125730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87400" y="2768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5019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" y="31369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4300" y="30607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095500" y="3086100"/>
            <a:ext cx="4953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01900" y="30226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501900" y="30861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43200" y="2540000"/>
            <a:ext cx="1092200" cy="1092200"/>
          </a:xfrm>
          <a:prstGeom prst="ellipse">
            <a:avLst/>
          </a:prstGeom>
          <a:solidFill>
            <a:srgbClr val="CBE9E7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70860" y="2840355"/>
            <a:ext cx="464184" cy="464184"/>
          </a:xfrm>
          <a:prstGeom prst="ellipse">
            <a:avLst/>
          </a:prstGeom>
          <a:solidFill>
            <a:srgbClr val="92B9D8"/>
          </a:solidFill>
          <a:ln>
            <a:solidFill>
              <a:srgbClr val="427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4335" y="3195320"/>
            <a:ext cx="203200" cy="114300"/>
          </a:xfrm>
          <a:prstGeom prst="ellipse">
            <a:avLst/>
          </a:prstGeom>
          <a:solidFill>
            <a:srgbClr val="91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89654" y="3195320"/>
            <a:ext cx="203200" cy="114300"/>
          </a:xfrm>
          <a:prstGeom prst="ellipse">
            <a:avLst/>
          </a:prstGeom>
          <a:solidFill>
            <a:srgbClr val="91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71215" y="3468370"/>
            <a:ext cx="203200" cy="114300"/>
          </a:xfrm>
          <a:prstGeom prst="ellipse">
            <a:avLst/>
          </a:prstGeom>
          <a:solidFill>
            <a:srgbClr val="91C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3962400" y="2476500"/>
            <a:ext cx="965200" cy="6096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877114" y="2476500"/>
            <a:ext cx="50486" cy="102546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13310" y="2476500"/>
            <a:ext cx="114290" cy="1522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62400" y="3086100"/>
            <a:ext cx="965200" cy="12192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20275" y="4265982"/>
            <a:ext cx="107325" cy="3931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13957" y="4191817"/>
            <a:ext cx="13643" cy="113483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83200" y="2413000"/>
            <a:ext cx="18923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83200" y="2603500"/>
            <a:ext cx="18923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721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372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023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674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325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976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627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278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929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80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23100" y="24130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83200" y="4305300"/>
            <a:ext cx="78845" cy="9948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362045" y="4404782"/>
            <a:ext cx="78846" cy="24196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440891" y="4359577"/>
            <a:ext cx="78846" cy="6940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519737" y="4249099"/>
            <a:ext cx="78846" cy="11047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598583" y="4181153"/>
            <a:ext cx="78846" cy="67946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77429" y="4181153"/>
            <a:ext cx="78846" cy="26005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756275" y="4207158"/>
            <a:ext cx="78845" cy="10027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35120" y="4307435"/>
            <a:ext cx="78846" cy="9866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913966" y="4406095"/>
            <a:ext cx="78846" cy="2238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992812" y="4357639"/>
            <a:ext cx="78846" cy="7083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071658" y="4247192"/>
            <a:ext cx="78846" cy="11044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150504" y="4180721"/>
            <a:ext cx="78846" cy="6647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229350" y="4180721"/>
            <a:ext cx="78845" cy="2780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308195" y="4208528"/>
            <a:ext cx="78846" cy="10104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387041" y="4309570"/>
            <a:ext cx="78846" cy="9781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465887" y="4407380"/>
            <a:ext cx="78846" cy="2055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544733" y="4355686"/>
            <a:ext cx="78846" cy="7225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623579" y="4245302"/>
            <a:ext cx="78846" cy="110384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702425" y="4180323"/>
            <a:ext cx="78845" cy="64979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781270" y="4180323"/>
            <a:ext cx="78846" cy="2960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60116" y="4209924"/>
            <a:ext cx="78846" cy="101779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938962" y="4311703"/>
            <a:ext cx="78846" cy="96933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17808" y="4408636"/>
            <a:ext cx="78846" cy="1873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096654" y="4353718"/>
            <a:ext cx="78846" cy="7364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283200" y="4178300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519737" y="4232577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756275" y="4080158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992812" y="4301476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29350" y="4053721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65887" y="4280380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2425" y="4118302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938962" y="4184703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7823200" y="1930400"/>
            <a:ext cx="3632200" cy="1295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01000" y="2070100"/>
            <a:ext cx="32766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ADN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01000" y="2514600"/>
            <a:ext cx="32766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Integridad + pureza +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inhibición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823200" y="3632200"/>
            <a:ext cx="3632200" cy="1485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01000" y="3771900"/>
            <a:ext cx="32766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061AC"/>
                </a:solidFill>
                <a:latin typeface="DejaVu Sans"/>
              </a:defRPr>
            </a:pPr>
            <a:r>
              <a:t>ARN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01000" y="4216400"/>
            <a:ext cx="32766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Proteger de RNasas y controlar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ADN residual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83200" y="2895600"/>
            <a:ext cx="2032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DejaVu Sans"/>
              </a:defRPr>
            </a:pPr>
            <a:r>
              <a:t>¿Está el gen?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83200" y="4737100"/>
            <a:ext cx="21844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061AC"/>
                </a:solidFill>
                <a:latin typeface="DejaVu Sans"/>
              </a:defRPr>
            </a:pPr>
            <a:r>
              <a:t>¿Se expresa?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Registrar la muestra y sus diluciones. La absorbancia sola no demuestra ausencia de inhibidores.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DISEÑO Y CÁLCULO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Los primers son dos puntos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[2,5,6]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97000" y="2641600"/>
            <a:ext cx="92964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97000" y="3429000"/>
            <a:ext cx="92964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3600" y="2311400"/>
            <a:ext cx="6985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5′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5000" y="2311400"/>
            <a:ext cx="6985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3′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3467100"/>
            <a:ext cx="6985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3′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0" y="3467100"/>
            <a:ext cx="6985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5′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3500" y="3213100"/>
            <a:ext cx="1651000" cy="0"/>
          </a:xfrm>
          <a:prstGeom prst="line">
            <a:avLst/>
          </a:prstGeom>
          <a:ln w="889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54500" y="3213100"/>
            <a:ext cx="571500" cy="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37100" y="31496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37100" y="32131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47900" y="3721100"/>
            <a:ext cx="3429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A765B"/>
                </a:solidFill>
                <a:latin typeface="DejaVu Sans"/>
              </a:defRPr>
            </a:pPr>
            <a:r>
              <a:t>Forward: 5′ → 3′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3200" y="2844800"/>
            <a:ext cx="1651000" cy="0"/>
          </a:xfrm>
          <a:prstGeom prst="line">
            <a:avLst/>
          </a:prstGeom>
          <a:ln w="889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251700" y="2844800"/>
            <a:ext cx="571500" cy="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251700" y="27813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251700" y="28448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91400" y="1993900"/>
            <a:ext cx="3810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061AC"/>
                </a:solidFill>
                <a:latin typeface="DejaVu Sans"/>
              </a:defRPr>
            </a:pPr>
            <a:r>
              <a:t>Reverse: 3′ ← 5′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44600" y="4457700"/>
            <a:ext cx="9575800" cy="88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7800" y="4610100"/>
            <a:ext cx="9207500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Stock 10 µM → final 0,2 µM en 25 µL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800" y="4991100"/>
            <a:ext cx="92075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443"/>
                </a:solidFill>
                <a:latin typeface="DejaVu Sans"/>
              </a:defRPr>
            </a:pPr>
            <a:r>
              <a:t>V = (0,2 × 25) / 10 = 0,5 µL de cada primer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Los extremos 3′ miran hacia la región que queremos copiar.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MASTER MIX · PREPARAR SIN PERDER VOLUMEN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Una receta se convierte en una mezcla para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[5,10] · Ejemplo docente con mix completo 2×.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2209800"/>
            <a:ext cx="3175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500" y="2044700"/>
            <a:ext cx="190500" cy="1778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7900" y="2971800"/>
            <a:ext cx="139700" cy="482600"/>
          </a:xfrm>
          <a:prstGeom prst="rect">
            <a:avLst/>
          </a:prstGeom>
          <a:solidFill>
            <a:srgbClr val="D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77900" y="3454400"/>
            <a:ext cx="63500" cy="317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41400" y="3454400"/>
            <a:ext cx="76200" cy="317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77900" y="3911600"/>
            <a:ext cx="152400" cy="2159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66900" y="2743200"/>
            <a:ext cx="9652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30400" y="2908300"/>
            <a:ext cx="838200" cy="13589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8500" y="3451860"/>
            <a:ext cx="762000" cy="8153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943100" y="4267200"/>
            <a:ext cx="4064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49500" y="4267200"/>
            <a:ext cx="4064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30600" y="1892300"/>
            <a:ext cx="34417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8400" y="2032000"/>
            <a:ext cx="30861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Mix 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8400" y="2476500"/>
            <a:ext cx="30861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12,5 µL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0600" y="2755900"/>
            <a:ext cx="34417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8400" y="2895600"/>
            <a:ext cx="30861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061AC"/>
                </a:solidFill>
                <a:latin typeface="DejaVu Sans"/>
              </a:defRPr>
            </a:pPr>
            <a:r>
              <a:t>Primer F +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8400" y="3340100"/>
            <a:ext cx="30861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0,5 + 0,5 µL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30600" y="3619500"/>
            <a:ext cx="3441700" cy="774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8400" y="3759200"/>
            <a:ext cx="30861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Agua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8400" y="4203700"/>
            <a:ext cx="30861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9,5 µL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39000" y="3225800"/>
            <a:ext cx="4826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32700" y="31623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32700" y="32258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51800" y="1892300"/>
            <a:ext cx="33147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032000"/>
            <a:ext cx="29591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Por tubo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476500"/>
            <a:ext cx="29591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23 µL comunes + 2 µL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ADN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1800" y="3657600"/>
            <a:ext cx="3314700" cy="157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797300"/>
            <a:ext cx="29591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10 tubos + 10 %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41800"/>
            <a:ext cx="29591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Preparar 11 equivalentes: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23 × 11 = 253 µL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Cada reacción termina en 25 µL. En el NTC, sustituir el molde por 2 µL de agua.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QUÉ SEÑAL ESPERAMOS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Los controles permiten creer el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[2,4–6,10–11]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5700" y="2006600"/>
            <a:ext cx="5969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9200" y="2171700"/>
            <a:ext cx="469900" cy="8128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57300" y="2578100"/>
            <a:ext cx="393700" cy="406400"/>
          </a:xfrm>
          <a:prstGeom prst="rect">
            <a:avLst/>
          </a:prstGeom>
          <a:solidFill>
            <a:srgbClr val="D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23190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5415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" y="3530600"/>
            <a:ext cx="2095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NTC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051300"/>
            <a:ext cx="20955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76C8"/>
                </a:solidFill>
                <a:latin typeface="DejaVu Sans"/>
              </a:defRPr>
            </a:pPr>
            <a:r>
              <a:t>Sin producto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635500"/>
            <a:ext cx="209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Reactivos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0100" y="2006600"/>
            <a:ext cx="5969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03600" y="2171700"/>
            <a:ext cx="469900" cy="8128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1700" y="2578100"/>
            <a:ext cx="393700" cy="406400"/>
          </a:xfrm>
          <a:prstGeom prst="rect">
            <a:avLst/>
          </a:prstGeom>
          <a:solidFill>
            <a:srgbClr val="D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41630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3855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84500" y="3530600"/>
            <a:ext cx="2095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Blanco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4500" y="4051300"/>
            <a:ext cx="20955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76C8"/>
                </a:solidFill>
                <a:latin typeface="DejaVu Sans"/>
              </a:defRPr>
            </a:pPr>
            <a:r>
              <a:t>Sin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4500" y="4635500"/>
            <a:ext cx="209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Extracción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4500" y="2006600"/>
            <a:ext cx="5969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88000" y="2171700"/>
            <a:ext cx="469900" cy="8128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26100" y="2578100"/>
            <a:ext cx="393700" cy="4064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60070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2295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68900" y="3530600"/>
            <a:ext cx="2095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Positivo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8900" y="4051300"/>
            <a:ext cx="20955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76C8"/>
                </a:solidFill>
                <a:latin typeface="DejaVu Sans"/>
              </a:defRPr>
            </a:pPr>
            <a:r>
              <a:t>Con producto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8900" y="4635500"/>
            <a:ext cx="209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Funcionamiento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8900" y="2006600"/>
            <a:ext cx="5969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0" y="2171700"/>
            <a:ext cx="469900" cy="8128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0500" y="2578100"/>
            <a:ext cx="393700" cy="406400"/>
          </a:xfrm>
          <a:prstGeom prst="rect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78510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0735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53300" y="3530600"/>
            <a:ext cx="2095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−RT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3300" y="4051300"/>
            <a:ext cx="20955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76C8"/>
                </a:solidFill>
                <a:latin typeface="DejaVu Sans"/>
              </a:defRPr>
            </a:pPr>
            <a:r>
              <a:t>Sin producto*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3300" y="4635500"/>
            <a:ext cx="209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ADN residual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93300" y="2006600"/>
            <a:ext cx="5969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56800" y="2171700"/>
            <a:ext cx="469900" cy="8128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94900" y="2578100"/>
            <a:ext cx="393700" cy="406400"/>
          </a:xfrm>
          <a:prstGeom prst="rect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96950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191750" y="2984500"/>
            <a:ext cx="2222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537700" y="3530600"/>
            <a:ext cx="2095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Interno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700" y="4051300"/>
            <a:ext cx="20955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76C8"/>
                </a:solidFill>
                <a:latin typeface="DejaVu Sans"/>
              </a:defRPr>
            </a:pPr>
            <a:r>
              <a:t>Señal válida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37700" y="4635500"/>
            <a:ext cx="2095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Inhibición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" y="5816600"/>
            <a:ext cx="105791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*En un ensayo de ARN. Negativo de muestra + control interno fallido = resultado que debe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revisarse.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EJEMPLO · ELEGIR QUÉ SECUENCIAR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PCR convencional: leer una banda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[1,3,5]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1879600"/>
            <a:ext cx="5969000" cy="3429000"/>
          </a:xfrm>
          <a:prstGeom prst="roundRect">
            <a:avLst/>
          </a:prstGeom>
          <a:solidFill>
            <a:srgbClr val="20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66333" y="20320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M</a:t>
            </a:r>
          </a:p>
        </p:txBody>
      </p:sp>
      <p:sp>
        <p:nvSpPr>
          <p:cNvPr id="9" name="Rectangle 8"/>
          <p:cNvSpPr/>
          <p:nvPr/>
        </p:nvSpPr>
        <p:spPr>
          <a:xfrm>
            <a:off x="1655233" y="23622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667933" y="27051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67933" y="30099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67933" y="33147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67933" y="36195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67933" y="39243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61166" y="20320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0066" y="23622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650066" y="3657600"/>
            <a:ext cx="279400" cy="0"/>
          </a:xfrm>
          <a:prstGeom prst="line">
            <a:avLst/>
          </a:prstGeom>
          <a:ln w="63500">
            <a:solidFill>
              <a:srgbClr val="7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56000" y="20320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4900" y="23622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644900" y="3657600"/>
            <a:ext cx="279400" cy="0"/>
          </a:xfrm>
          <a:prstGeom prst="line">
            <a:avLst/>
          </a:prstGeom>
          <a:ln w="63500">
            <a:solidFill>
              <a:srgbClr val="7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50833" y="20320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9733" y="23622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639733" y="3162300"/>
            <a:ext cx="279400" cy="0"/>
          </a:xfrm>
          <a:prstGeom prst="line">
            <a:avLst/>
          </a:prstGeom>
          <a:ln w="63500">
            <a:solidFill>
              <a:srgbClr val="7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39733" y="4292600"/>
            <a:ext cx="279400" cy="0"/>
          </a:xfrm>
          <a:prstGeom prst="line">
            <a:avLst/>
          </a:prstGeom>
          <a:ln w="63500">
            <a:solidFill>
              <a:srgbClr val="7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45666" y="20320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NTC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4566" y="23622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02500" y="1955800"/>
            <a:ext cx="41275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DejaVu Sans"/>
              </a:defRPr>
            </a:pPr>
            <a:r>
              <a:t>A: una banda esperada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2500" y="2705100"/>
            <a:ext cx="4127500" cy="7322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443"/>
                </a:solidFill>
                <a:latin typeface="DejaVu Sans"/>
              </a:defRPr>
            </a:pPr>
            <a:r>
              <a:t>B: dos productos; revisar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443"/>
                </a:solidFill>
                <a:latin typeface="DejaVu Sans"/>
              </a:defRPr>
            </a:pPr>
            <a:r>
              <a:t>especificidad.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2500" y="3683000"/>
            <a:ext cx="4127500" cy="1154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276C8"/>
                </a:solidFill>
                <a:latin typeface="DejaVu Sans"/>
              </a:defRPr>
            </a:pPr>
            <a:r>
              <a:t>¿Qué muestra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276C8"/>
                </a:solidFill>
                <a:latin typeface="DejaVu Sans"/>
              </a:defRPr>
            </a:pPr>
            <a:r>
              <a:t>prepararías primero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276C8"/>
                </a:solidFill>
                <a:latin typeface="DejaVu Sans"/>
              </a:defRPr>
            </a:pPr>
            <a:r>
              <a:t>para Sanger?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A es la mejor candidata del ejemplo. La intensidad final no mide de forma fiable el ADN inicial.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UNA ETAPA EXTRA · DOS FORMAS DE ORGANIZARLA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RT-PCR: el ARN se transforma antes de amplificar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[2–3,5,10]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5500" y="2463800"/>
            <a:ext cx="88900" cy="9948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2563282"/>
            <a:ext cx="88900" cy="24196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03300" y="2518077"/>
            <a:ext cx="88900" cy="6940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2200" y="2407599"/>
            <a:ext cx="88900" cy="11047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81100" y="2339653"/>
            <a:ext cx="88900" cy="67946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70000" y="2339653"/>
            <a:ext cx="88900" cy="26005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58900" y="2365658"/>
            <a:ext cx="88900" cy="10027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47800" y="2465935"/>
            <a:ext cx="88900" cy="9866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36700" y="2564595"/>
            <a:ext cx="88900" cy="2238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25600" y="2516139"/>
            <a:ext cx="88900" cy="7083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14500" y="2405692"/>
            <a:ext cx="88900" cy="11044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03400" y="2339221"/>
            <a:ext cx="88900" cy="6647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92300" y="2339221"/>
            <a:ext cx="88900" cy="27807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81200" y="2367028"/>
            <a:ext cx="88900" cy="10104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70100" y="2468070"/>
            <a:ext cx="88900" cy="9781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59000" y="2565880"/>
            <a:ext cx="88900" cy="2055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247900" y="2514186"/>
            <a:ext cx="88900" cy="72252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336800" y="2403802"/>
            <a:ext cx="88900" cy="110384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25700" y="2338823"/>
            <a:ext cx="88900" cy="64979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14600" y="2338823"/>
            <a:ext cx="88900" cy="29601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03500" y="2368424"/>
            <a:ext cx="88900" cy="101779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92400" y="2470203"/>
            <a:ext cx="88900" cy="96933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81300" y="2567136"/>
            <a:ext cx="88900" cy="18730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870200" y="2512218"/>
            <a:ext cx="88900" cy="73648"/>
          </a:xfrm>
          <a:prstGeom prst="line">
            <a:avLst/>
          </a:prstGeom>
          <a:ln w="508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25500" y="2336800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92200" y="2391077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358900" y="2238658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625600" y="2459976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892300" y="2212221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159000" y="2438880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425700" y="2276802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692400" y="2343203"/>
            <a:ext cx="25400" cy="1270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13100" y="2463800"/>
            <a:ext cx="5207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44900" y="24003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644900" y="24638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051300" y="1917700"/>
            <a:ext cx="2413000" cy="1155700"/>
          </a:xfrm>
          <a:prstGeom prst="ellipse">
            <a:avLst/>
          </a:prstGeom>
          <a:solidFill>
            <a:srgbClr val="E7E0F1"/>
          </a:solidFill>
          <a:ln>
            <a:solidFill>
              <a:srgbClr val="806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05300" y="2235200"/>
            <a:ext cx="1955800" cy="6385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061AC"/>
                </a:solidFill>
                <a:latin typeface="DejaVu Sans"/>
              </a:defRPr>
            </a:pPr>
            <a:r>
              <a:t>Transcriptasa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061AC"/>
                </a:solidFill>
                <a:latin typeface="DejaVu Sans"/>
              </a:defRPr>
            </a:pPr>
            <a:r>
              <a:t>reversa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05600" y="2463800"/>
            <a:ext cx="5080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24700" y="24003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124700" y="24638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56500" y="2463800"/>
            <a:ext cx="20066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64540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846059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04672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24738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44804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64870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84936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05002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25068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1340" y="2349500"/>
            <a:ext cx="0" cy="1143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89000" y="3073400"/>
            <a:ext cx="2222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061AC"/>
                </a:solidFill>
                <a:latin typeface="DejaVu Sans"/>
              </a:defRPr>
            </a:pPr>
            <a:r>
              <a:t>ARN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70800" y="3073400"/>
            <a:ext cx="2349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ADNc → PCR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6600" y="4025900"/>
            <a:ext cx="5143500" cy="13081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4165600"/>
            <a:ext cx="47879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Un paso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610100"/>
            <a:ext cx="47879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RT y PCR en el mismo tubo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99200" y="4025900"/>
            <a:ext cx="5143500" cy="13081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7000" y="4165600"/>
            <a:ext cx="47879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Dos pasos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0" y="4610100"/>
            <a:ext cx="47879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RT separada: ADNc para varios ensayos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RT no significa tiempo real. ADNc puede analizarse por PCR final, qPCR o dPCR.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QPCR · DEL PRODUCTO A LA LUZ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Dos maneras de producir una señal fluorescente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[1–2,6,10]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79600"/>
            <a:ext cx="5181600" cy="3505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1879600"/>
            <a:ext cx="5181600" cy="3505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095500"/>
            <a:ext cx="47371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DejaVu Sans"/>
              </a:defRPr>
            </a:pPr>
            <a:r>
              <a:t>Colorante de ADN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1100" y="3225800"/>
            <a:ext cx="34544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1100" y="3416300"/>
            <a:ext cx="34544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700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351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002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653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304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955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606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257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908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559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210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861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512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163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814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465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116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767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418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06900" y="3225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358900" y="3238500"/>
            <a:ext cx="177800" cy="177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03400" y="3238500"/>
            <a:ext cx="177800" cy="177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47900" y="3238500"/>
            <a:ext cx="177800" cy="177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692400" y="3238500"/>
            <a:ext cx="177800" cy="177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36900" y="3238500"/>
            <a:ext cx="177800" cy="177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81400" y="3238500"/>
            <a:ext cx="177800" cy="177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25900" y="3238500"/>
            <a:ext cx="177800" cy="177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200" y="4102100"/>
            <a:ext cx="46863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Señal de ADN de doble hebra.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También ve productos no deseados.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9700" y="2095500"/>
            <a:ext cx="46863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061AC"/>
                </a:solidFill>
                <a:latin typeface="DejaVu Sans"/>
              </a:defRPr>
            </a:pPr>
            <a:r>
              <a:t>Sonda de hidrólisis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43700" y="3314700"/>
            <a:ext cx="29210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8326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1247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4168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7089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0010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2931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5852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8773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694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461500" y="3200400"/>
            <a:ext cx="0" cy="1143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15200" y="2895600"/>
            <a:ext cx="1435100" cy="0"/>
          </a:xfrm>
          <a:prstGeom prst="line">
            <a:avLst/>
          </a:prstGeom>
          <a:ln w="635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188200" y="2781300"/>
            <a:ext cx="228600" cy="2286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648700" y="2781300"/>
            <a:ext cx="228600" cy="228600"/>
          </a:xfrm>
          <a:prstGeom prst="ellipse">
            <a:avLst/>
          </a:prstGeom>
          <a:solidFill>
            <a:srgbClr val="577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8978900" y="2895600"/>
            <a:ext cx="546100" cy="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36100" y="28321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36100" y="28956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880600" y="2781300"/>
            <a:ext cx="228600" cy="2286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89700" y="4102100"/>
            <a:ext cx="46863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Reportero separado del quencher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durante la amplificación.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0100" y="5816600"/>
            <a:ext cx="105791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Colorante: revisar fusión y especificidad. Sonda: reconocimiento adicional y posibilidad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multiplex.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LEER DURANTE LA AMPLIFICACIÓN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qPCR: más molde, cruce más temprano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[1–3,6,10]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7600" y="5041900"/>
            <a:ext cx="6502400" cy="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17600" y="2311400"/>
            <a:ext cx="0" cy="273050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17600" y="5041900"/>
            <a:ext cx="0" cy="63500"/>
          </a:xfrm>
          <a:prstGeom prst="line">
            <a:avLst/>
          </a:prstGeom>
          <a:ln w="127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8700" y="51689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3443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5041900"/>
            <a:ext cx="0" cy="63500"/>
          </a:xfrm>
          <a:prstGeom prst="line">
            <a:avLst/>
          </a:prstGeom>
          <a:ln w="127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54300" y="51689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3443"/>
                </a:solidFill>
                <a:latin typeface="DejaVu Sans"/>
              </a:defRPr>
            </a:pPr>
            <a:r>
              <a:t>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68800" y="5041900"/>
            <a:ext cx="0" cy="63500"/>
          </a:xfrm>
          <a:prstGeom prst="line">
            <a:avLst/>
          </a:prstGeom>
          <a:ln w="127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79900" y="51689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3443"/>
                </a:solidFill>
                <a:latin typeface="DejaVu Sans"/>
              </a:defRPr>
            </a:pPr>
            <a:r>
              <a:t>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4400" y="5041900"/>
            <a:ext cx="0" cy="63500"/>
          </a:xfrm>
          <a:prstGeom prst="line">
            <a:avLst/>
          </a:prstGeom>
          <a:ln w="127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05500" y="51689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3443"/>
                </a:solidFill>
                <a:latin typeface="DejaVu Sans"/>
              </a:defRPr>
            </a:pPr>
            <a:r>
              <a:t>30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20000" y="5041900"/>
            <a:ext cx="0" cy="63500"/>
          </a:xfrm>
          <a:prstGeom prst="line">
            <a:avLst/>
          </a:prstGeom>
          <a:ln w="127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31100" y="5168900"/>
            <a:ext cx="571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3443"/>
                </a:solidFill>
                <a:latin typeface="DejaVu Sans"/>
              </a:defRPr>
            </a:pPr>
            <a:r>
              <a:t>40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7600" y="3676650"/>
            <a:ext cx="6502400" cy="0"/>
          </a:xfrm>
          <a:prstGeom prst="line">
            <a:avLst/>
          </a:prstGeom>
          <a:ln w="127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57300" y="3333750"/>
            <a:ext cx="17780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DA765B"/>
                </a:solidFill>
                <a:latin typeface="DejaVu Sans"/>
              </a:defRPr>
            </a:pPr>
            <a:r>
              <a:t>Umbral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117600" y="5041875"/>
            <a:ext cx="40640" cy="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58240" y="5041871"/>
            <a:ext cx="40640" cy="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98880" y="5041867"/>
            <a:ext cx="40640" cy="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39520" y="5041861"/>
            <a:ext cx="40640" cy="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80160" y="5041855"/>
            <a:ext cx="40640" cy="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20800" y="5041848"/>
            <a:ext cx="40640" cy="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61440" y="5041840"/>
            <a:ext cx="40640" cy="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80" y="5041831"/>
            <a:ext cx="40640" cy="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442720" y="5041820"/>
            <a:ext cx="40640" cy="1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483360" y="5041807"/>
            <a:ext cx="40640" cy="1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24000" y="5041792"/>
            <a:ext cx="40640" cy="1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564640" y="5041776"/>
            <a:ext cx="40640" cy="1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605280" y="5041756"/>
            <a:ext cx="40640" cy="2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645920" y="5041733"/>
            <a:ext cx="40640" cy="2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86560" y="5041707"/>
            <a:ext cx="40640" cy="2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27200" y="5041676"/>
            <a:ext cx="40639" cy="3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767839" y="5041641"/>
            <a:ext cx="40641" cy="3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08480" y="5041600"/>
            <a:ext cx="40640" cy="4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49120" y="5041553"/>
            <a:ext cx="40640" cy="4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89760" y="5041498"/>
            <a:ext cx="40640" cy="5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930400" y="5041434"/>
            <a:ext cx="40639" cy="6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971039" y="5041360"/>
            <a:ext cx="40641" cy="7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011680" y="5041275"/>
            <a:ext cx="40640" cy="8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052320" y="5041176"/>
            <a:ext cx="40640" cy="9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092960" y="5041061"/>
            <a:ext cx="40640" cy="11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133600" y="5040928"/>
            <a:ext cx="40640" cy="13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174240" y="5040775"/>
            <a:ext cx="40640" cy="15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214880" y="5040596"/>
            <a:ext cx="40640" cy="17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55520" y="5040390"/>
            <a:ext cx="40640" cy="20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96160" y="5040151"/>
            <a:ext cx="40640" cy="23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336800" y="5039874"/>
            <a:ext cx="40640" cy="27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377440" y="5039554"/>
            <a:ext cx="40640" cy="32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418080" y="5039183"/>
            <a:ext cx="40640" cy="37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458720" y="5038753"/>
            <a:ext cx="40640" cy="43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499360" y="5038255"/>
            <a:ext cx="40640" cy="49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540000" y="5037678"/>
            <a:ext cx="40640" cy="57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580640" y="5037011"/>
            <a:ext cx="40640" cy="66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621280" y="5036238"/>
            <a:ext cx="40640" cy="77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661920" y="5035343"/>
            <a:ext cx="40640" cy="89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02560" y="5034307"/>
            <a:ext cx="40640" cy="103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743200" y="5033109"/>
            <a:ext cx="40640" cy="119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783840" y="5031721"/>
            <a:ext cx="40640" cy="138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824480" y="5030116"/>
            <a:ext cx="40640" cy="160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865120" y="5028258"/>
            <a:ext cx="40640" cy="185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905760" y="5026109"/>
            <a:ext cx="40640" cy="214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946400" y="5023625"/>
            <a:ext cx="40640" cy="248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987040" y="5020752"/>
            <a:ext cx="40640" cy="287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027680" y="5017432"/>
            <a:ext cx="40640" cy="332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068320" y="5013596"/>
            <a:ext cx="40640" cy="383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108960" y="5009165"/>
            <a:ext cx="40640" cy="443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149600" y="5004052"/>
            <a:ext cx="40640" cy="511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190240" y="4998152"/>
            <a:ext cx="40640" cy="590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230880" y="4991349"/>
            <a:ext cx="40640" cy="680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271520" y="4983512"/>
            <a:ext cx="40640" cy="783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312160" y="4974491"/>
            <a:ext cx="40640" cy="902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352800" y="4964116"/>
            <a:ext cx="40640" cy="1037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393440" y="4952198"/>
            <a:ext cx="40639" cy="1191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434079" y="4938526"/>
            <a:ext cx="40641" cy="1367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474720" y="4922863"/>
            <a:ext cx="40640" cy="1566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515360" y="4904951"/>
            <a:ext cx="40640" cy="1791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556000" y="4884506"/>
            <a:ext cx="40640" cy="2044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596640" y="4861221"/>
            <a:ext cx="40639" cy="2328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637279" y="4834769"/>
            <a:ext cx="40641" cy="2645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677920" y="4804804"/>
            <a:ext cx="40640" cy="2996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718560" y="4770970"/>
            <a:ext cx="40640" cy="3383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759200" y="4732906"/>
            <a:ext cx="40640" cy="3806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799840" y="4690258"/>
            <a:ext cx="40639" cy="4264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840479" y="4642695"/>
            <a:ext cx="40641" cy="4756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881120" y="4589921"/>
            <a:ext cx="40640" cy="5277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921760" y="4531697"/>
            <a:ext cx="40640" cy="5822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962400" y="4467862"/>
            <a:ext cx="40640" cy="6383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003040" y="4398355"/>
            <a:ext cx="40639" cy="6950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043679" y="4323237"/>
            <a:ext cx="40641" cy="7511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084320" y="4242708"/>
            <a:ext cx="40640" cy="8052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124960" y="4157125"/>
            <a:ext cx="40640" cy="8558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165600" y="4067002"/>
            <a:ext cx="40640" cy="9012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206240" y="3973016"/>
            <a:ext cx="40640" cy="9398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246880" y="3875987"/>
            <a:ext cx="40640" cy="9702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287520" y="3776855"/>
            <a:ext cx="40640" cy="9913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328160" y="3676650"/>
            <a:ext cx="40640" cy="10020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368800" y="3576444"/>
            <a:ext cx="40640" cy="10020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409440" y="3477312"/>
            <a:ext cx="40640" cy="9913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450080" y="3380283"/>
            <a:ext cx="40640" cy="9702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490720" y="3286297"/>
            <a:ext cx="40640" cy="9398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531360" y="3196174"/>
            <a:ext cx="40640" cy="9012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572000" y="3110591"/>
            <a:ext cx="40640" cy="8558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4612640" y="3030062"/>
            <a:ext cx="40640" cy="8052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653280" y="2954944"/>
            <a:ext cx="40640" cy="7511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4693920" y="2885437"/>
            <a:ext cx="40640" cy="6950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4734560" y="2821602"/>
            <a:ext cx="40640" cy="6383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775200" y="2763378"/>
            <a:ext cx="40640" cy="5822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815840" y="2710604"/>
            <a:ext cx="40640" cy="5277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856480" y="2663041"/>
            <a:ext cx="40640" cy="4756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897120" y="2620393"/>
            <a:ext cx="40640" cy="4264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937760" y="2582329"/>
            <a:ext cx="40640" cy="3806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4978400" y="2548495"/>
            <a:ext cx="40640" cy="3383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5019040" y="2518530"/>
            <a:ext cx="40640" cy="2996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059680" y="2492078"/>
            <a:ext cx="40640" cy="2645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5100320" y="2468793"/>
            <a:ext cx="40640" cy="2328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140960" y="2448348"/>
            <a:ext cx="40640" cy="2044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181600" y="2430436"/>
            <a:ext cx="40640" cy="1791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222240" y="2414773"/>
            <a:ext cx="40640" cy="1566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262880" y="2401101"/>
            <a:ext cx="40640" cy="13672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303520" y="2389183"/>
            <a:ext cx="40640" cy="1191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5344160" y="2378808"/>
            <a:ext cx="40640" cy="1037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5384800" y="2369787"/>
            <a:ext cx="40640" cy="902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425440" y="2361950"/>
            <a:ext cx="40640" cy="783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466080" y="2355147"/>
            <a:ext cx="40640" cy="680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506720" y="2349247"/>
            <a:ext cx="40640" cy="590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5547360" y="2344134"/>
            <a:ext cx="40640" cy="511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5588000" y="2339703"/>
            <a:ext cx="40640" cy="443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5628640" y="2335867"/>
            <a:ext cx="40640" cy="383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5669280" y="2332547"/>
            <a:ext cx="40640" cy="332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5709920" y="2329674"/>
            <a:ext cx="40640" cy="287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5750560" y="2327190"/>
            <a:ext cx="40640" cy="248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5791200" y="2325041"/>
            <a:ext cx="40640" cy="214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831840" y="2323183"/>
            <a:ext cx="40640" cy="185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5872480" y="2321578"/>
            <a:ext cx="40640" cy="160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5913120" y="2320190"/>
            <a:ext cx="40640" cy="138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953760" y="2318992"/>
            <a:ext cx="40640" cy="119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994400" y="2317956"/>
            <a:ext cx="40640" cy="103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035040" y="2317061"/>
            <a:ext cx="40640" cy="89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075680" y="2316288"/>
            <a:ext cx="40640" cy="77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116320" y="2315621"/>
            <a:ext cx="40640" cy="66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6156960" y="2315044"/>
            <a:ext cx="40640" cy="57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197600" y="2314546"/>
            <a:ext cx="40640" cy="49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238240" y="2314116"/>
            <a:ext cx="40640" cy="43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278880" y="2313745"/>
            <a:ext cx="40640" cy="37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319520" y="2313425"/>
            <a:ext cx="40640" cy="32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360160" y="2313148"/>
            <a:ext cx="40640" cy="27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400800" y="2312909"/>
            <a:ext cx="40640" cy="23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441440" y="2312703"/>
            <a:ext cx="40640" cy="20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6482080" y="2312524"/>
            <a:ext cx="40640" cy="17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522720" y="2312371"/>
            <a:ext cx="40639" cy="15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563359" y="2312238"/>
            <a:ext cx="40641" cy="13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04000" y="2312123"/>
            <a:ext cx="40640" cy="11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4640" y="2312024"/>
            <a:ext cx="40640" cy="9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85280" y="2311939"/>
            <a:ext cx="40640" cy="8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725920" y="2311865"/>
            <a:ext cx="40639" cy="7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766559" y="2311801"/>
            <a:ext cx="40641" cy="6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807200" y="2311746"/>
            <a:ext cx="40640" cy="5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847840" y="2311699"/>
            <a:ext cx="40640" cy="4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888480" y="2311658"/>
            <a:ext cx="40640" cy="4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929120" y="2311623"/>
            <a:ext cx="40639" cy="3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969759" y="2311592"/>
            <a:ext cx="40641" cy="3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7010400" y="2311566"/>
            <a:ext cx="40640" cy="2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7051040" y="2311543"/>
            <a:ext cx="40640" cy="2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7091680" y="2311523"/>
            <a:ext cx="40640" cy="2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7132320" y="2311507"/>
            <a:ext cx="40639" cy="1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7172959" y="2311492"/>
            <a:ext cx="40641" cy="1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7213600" y="2311479"/>
            <a:ext cx="40640" cy="1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7254240" y="2311468"/>
            <a:ext cx="40640" cy="1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7294880" y="2311459"/>
            <a:ext cx="40640" cy="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7335520" y="2311451"/>
            <a:ext cx="40639" cy="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7376159" y="2311444"/>
            <a:ext cx="40641" cy="7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7416800" y="2311438"/>
            <a:ext cx="40640" cy="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7457440" y="2311432"/>
            <a:ext cx="40640" cy="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7498080" y="2311428"/>
            <a:ext cx="40640" cy="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7538720" y="2311424"/>
            <a:ext cx="40639" cy="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7579359" y="2311421"/>
            <a:ext cx="40641" cy="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4318000" y="3625850"/>
            <a:ext cx="101600" cy="1016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254500" y="3829050"/>
            <a:ext cx="635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t>20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117600" y="5041898"/>
            <a:ext cx="40640" cy="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158240" y="5041898"/>
            <a:ext cx="40640" cy="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198880" y="5041898"/>
            <a:ext cx="40640" cy="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239520" y="5041897"/>
            <a:ext cx="40640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280160" y="5041897"/>
            <a:ext cx="40640" cy="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320800" y="5041897"/>
            <a:ext cx="40640" cy="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361440" y="5041896"/>
            <a:ext cx="40640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402080" y="5041896"/>
            <a:ext cx="40640" cy="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442720" y="5041895"/>
            <a:ext cx="40640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483360" y="5041895"/>
            <a:ext cx="40640" cy="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524000" y="5041894"/>
            <a:ext cx="40640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564640" y="5041893"/>
            <a:ext cx="40640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605280" y="5041892"/>
            <a:ext cx="40640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645920" y="5041891"/>
            <a:ext cx="40640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686560" y="5041889"/>
            <a:ext cx="40640" cy="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727200" y="5041888"/>
            <a:ext cx="40639" cy="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767839" y="5041886"/>
            <a:ext cx="40641" cy="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808480" y="5041884"/>
            <a:ext cx="40640" cy="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849120" y="5041881"/>
            <a:ext cx="40640" cy="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889760" y="5041878"/>
            <a:ext cx="40640" cy="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930400" y="5041875"/>
            <a:ext cx="40639" cy="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971039" y="5041871"/>
            <a:ext cx="40641" cy="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011680" y="5041867"/>
            <a:ext cx="40640" cy="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052320" y="5041861"/>
            <a:ext cx="40640" cy="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2092960" y="5041855"/>
            <a:ext cx="40640" cy="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2133600" y="5041848"/>
            <a:ext cx="40640" cy="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174240" y="5041840"/>
            <a:ext cx="40640" cy="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214880" y="5041831"/>
            <a:ext cx="40640" cy="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2255520" y="5041820"/>
            <a:ext cx="40640" cy="1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2296160" y="5041807"/>
            <a:ext cx="40640" cy="1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2336800" y="5041792"/>
            <a:ext cx="40640" cy="1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2377440" y="5041776"/>
            <a:ext cx="40640" cy="1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2418080" y="5041756"/>
            <a:ext cx="40640" cy="2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2458720" y="5041733"/>
            <a:ext cx="40640" cy="2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2499360" y="5041707"/>
            <a:ext cx="40640" cy="2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2540000" y="5041676"/>
            <a:ext cx="40640" cy="3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2580640" y="5041641"/>
            <a:ext cx="40640" cy="3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2621280" y="5041600"/>
            <a:ext cx="40640" cy="4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2661920" y="5041553"/>
            <a:ext cx="40640" cy="4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2702560" y="5041498"/>
            <a:ext cx="40640" cy="5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2743200" y="5041434"/>
            <a:ext cx="40640" cy="6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2783840" y="5041360"/>
            <a:ext cx="40640" cy="7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2824480" y="5041275"/>
            <a:ext cx="40640" cy="8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2865120" y="5041176"/>
            <a:ext cx="40640" cy="9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2905760" y="5041061"/>
            <a:ext cx="40640" cy="11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2946400" y="5040928"/>
            <a:ext cx="40640" cy="13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2987040" y="5040775"/>
            <a:ext cx="40640" cy="15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3027680" y="5040596"/>
            <a:ext cx="40640" cy="17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3068320" y="5040390"/>
            <a:ext cx="40640" cy="20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3108960" y="5040151"/>
            <a:ext cx="40640" cy="23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3149600" y="5039874"/>
            <a:ext cx="40640" cy="27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3190240" y="5039554"/>
            <a:ext cx="40640" cy="32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3230880" y="5039183"/>
            <a:ext cx="40640" cy="37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3271520" y="5038753"/>
            <a:ext cx="40640" cy="43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3312160" y="5038255"/>
            <a:ext cx="40640" cy="49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3352800" y="5037678"/>
            <a:ext cx="40640" cy="57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3393440" y="5037011"/>
            <a:ext cx="40639" cy="66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3434079" y="5036238"/>
            <a:ext cx="40641" cy="77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3474720" y="5035343"/>
            <a:ext cx="40640" cy="89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3515360" y="5034307"/>
            <a:ext cx="40640" cy="103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3556000" y="5033109"/>
            <a:ext cx="40640" cy="119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3596640" y="5031721"/>
            <a:ext cx="40639" cy="138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3637279" y="5030116"/>
            <a:ext cx="40641" cy="160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3677920" y="5028258"/>
            <a:ext cx="40640" cy="185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3718560" y="5026109"/>
            <a:ext cx="40640" cy="214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3759200" y="5023625"/>
            <a:ext cx="40640" cy="248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3799840" y="5020752"/>
            <a:ext cx="40639" cy="287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3840479" y="5017432"/>
            <a:ext cx="40641" cy="332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3881120" y="5013596"/>
            <a:ext cx="40640" cy="383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3921760" y="5009165"/>
            <a:ext cx="40640" cy="443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3962400" y="5004052"/>
            <a:ext cx="40640" cy="511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4003040" y="4998152"/>
            <a:ext cx="40639" cy="590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4043679" y="4991349"/>
            <a:ext cx="40641" cy="680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4084320" y="4983512"/>
            <a:ext cx="40640" cy="783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4124960" y="4974491"/>
            <a:ext cx="40640" cy="902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4165600" y="4964116"/>
            <a:ext cx="40640" cy="1037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4206240" y="4952198"/>
            <a:ext cx="40640" cy="1191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4246880" y="4938526"/>
            <a:ext cx="40640" cy="1367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4287520" y="4922863"/>
            <a:ext cx="40640" cy="1566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4328160" y="4904951"/>
            <a:ext cx="40640" cy="1791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4368800" y="4884506"/>
            <a:ext cx="40640" cy="2044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4409440" y="4861221"/>
            <a:ext cx="40640" cy="2328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4450080" y="4834769"/>
            <a:ext cx="40640" cy="2645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4490720" y="4804804"/>
            <a:ext cx="40640" cy="2996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4531360" y="4770970"/>
            <a:ext cx="40640" cy="3383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4572000" y="4732906"/>
            <a:ext cx="40640" cy="3806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4612640" y="4690258"/>
            <a:ext cx="40640" cy="4264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4653280" y="4642695"/>
            <a:ext cx="40640" cy="4756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4693920" y="4589921"/>
            <a:ext cx="40640" cy="5277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4734560" y="4531697"/>
            <a:ext cx="40640" cy="5822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4775200" y="4467862"/>
            <a:ext cx="40640" cy="6383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4815840" y="4398355"/>
            <a:ext cx="40640" cy="6950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4856480" y="4323237"/>
            <a:ext cx="40640" cy="7511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4897120" y="4242708"/>
            <a:ext cx="40640" cy="8052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4937760" y="4157125"/>
            <a:ext cx="40640" cy="8558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4978400" y="4067002"/>
            <a:ext cx="40640" cy="9012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5019040" y="3973016"/>
            <a:ext cx="40640" cy="9398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5059680" y="3875987"/>
            <a:ext cx="40640" cy="9702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5100320" y="3776855"/>
            <a:ext cx="40640" cy="9913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5140960" y="3676650"/>
            <a:ext cx="40640" cy="10020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5181600" y="3576444"/>
            <a:ext cx="40640" cy="10020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5222240" y="3477312"/>
            <a:ext cx="40640" cy="9913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5262880" y="3380283"/>
            <a:ext cx="40640" cy="9702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5303520" y="3286297"/>
            <a:ext cx="40640" cy="9398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5344160" y="3196174"/>
            <a:ext cx="40640" cy="9012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5384800" y="3110591"/>
            <a:ext cx="40640" cy="8558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5425440" y="3030062"/>
            <a:ext cx="40640" cy="8052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5466080" y="2954944"/>
            <a:ext cx="40640" cy="7511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5506720" y="2885437"/>
            <a:ext cx="40640" cy="6950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5547360" y="2821602"/>
            <a:ext cx="40640" cy="6383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5588000" y="2763378"/>
            <a:ext cx="40640" cy="5822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5628640" y="2710604"/>
            <a:ext cx="40640" cy="5277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5669280" y="2663041"/>
            <a:ext cx="40640" cy="4756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5709920" y="2620393"/>
            <a:ext cx="40640" cy="4264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5750560" y="2582329"/>
            <a:ext cx="40640" cy="3806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5791200" y="2548495"/>
            <a:ext cx="40640" cy="3383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5831840" y="2518530"/>
            <a:ext cx="40640" cy="2996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5872480" y="2492078"/>
            <a:ext cx="40640" cy="2645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5913120" y="2468793"/>
            <a:ext cx="40640" cy="2328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5953760" y="2448348"/>
            <a:ext cx="40640" cy="2044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5994400" y="2430436"/>
            <a:ext cx="40640" cy="1791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6035040" y="2414773"/>
            <a:ext cx="40640" cy="1566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6075680" y="2401101"/>
            <a:ext cx="40640" cy="13672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6116320" y="2389183"/>
            <a:ext cx="40640" cy="1191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6156960" y="2378808"/>
            <a:ext cx="40640" cy="1037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6197600" y="2369787"/>
            <a:ext cx="40640" cy="902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6238240" y="2361950"/>
            <a:ext cx="40640" cy="783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278880" y="2355147"/>
            <a:ext cx="40640" cy="680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6319520" y="2349247"/>
            <a:ext cx="40640" cy="590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360160" y="2344134"/>
            <a:ext cx="40640" cy="511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400800" y="2339703"/>
            <a:ext cx="40640" cy="443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441440" y="2335867"/>
            <a:ext cx="40640" cy="383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482080" y="2332547"/>
            <a:ext cx="40640" cy="332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522720" y="2329674"/>
            <a:ext cx="40639" cy="287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563359" y="2327190"/>
            <a:ext cx="40641" cy="248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604000" y="2325041"/>
            <a:ext cx="40640" cy="214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644640" y="2323183"/>
            <a:ext cx="40640" cy="185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685280" y="2321578"/>
            <a:ext cx="40640" cy="160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725920" y="2320190"/>
            <a:ext cx="40639" cy="138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766559" y="2318992"/>
            <a:ext cx="40641" cy="119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6807200" y="2317956"/>
            <a:ext cx="40640" cy="103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6847840" y="2317061"/>
            <a:ext cx="40640" cy="89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6888480" y="2316288"/>
            <a:ext cx="40640" cy="77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929120" y="2315621"/>
            <a:ext cx="40639" cy="66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6969759" y="2315044"/>
            <a:ext cx="40641" cy="57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7010400" y="2314546"/>
            <a:ext cx="40640" cy="49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7051040" y="2314116"/>
            <a:ext cx="40640" cy="43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7091680" y="2313745"/>
            <a:ext cx="40640" cy="37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7132320" y="2313425"/>
            <a:ext cx="40639" cy="32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7172959" y="2313148"/>
            <a:ext cx="40641" cy="277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7213600" y="2312909"/>
            <a:ext cx="40640" cy="23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254240" y="2312703"/>
            <a:ext cx="40640" cy="20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7294880" y="2312524"/>
            <a:ext cx="40640" cy="17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7335520" y="2312371"/>
            <a:ext cx="40639" cy="15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7376159" y="2312238"/>
            <a:ext cx="40641" cy="13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7416800" y="2312123"/>
            <a:ext cx="40640" cy="11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7457440" y="2312024"/>
            <a:ext cx="40640" cy="9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7498080" y="2311939"/>
            <a:ext cx="40640" cy="8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7538720" y="2311865"/>
            <a:ext cx="40639" cy="7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7579359" y="2311801"/>
            <a:ext cx="40641" cy="6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Oval 342"/>
          <p:cNvSpPr/>
          <p:nvPr/>
        </p:nvSpPr>
        <p:spPr>
          <a:xfrm>
            <a:off x="5130800" y="3625850"/>
            <a:ext cx="101600" cy="1016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5067300" y="3829050"/>
            <a:ext cx="635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76C8"/>
                </a:solidFill>
                <a:latin typeface="DejaVu Sans"/>
              </a:defRPr>
            </a:pPr>
            <a:r>
              <a:t>25</a:t>
            </a:r>
          </a:p>
        </p:txBody>
      </p:sp>
      <p:cxnSp>
        <p:nvCxnSpPr>
          <p:cNvPr id="345" name="Connector 344"/>
          <p:cNvCxnSpPr/>
          <p:nvPr/>
        </p:nvCxnSpPr>
        <p:spPr>
          <a:xfrm>
            <a:off x="111760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15824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19888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23952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28016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32080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36144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40208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44272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48336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52400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56464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60528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64592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68656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727200" y="5041899"/>
            <a:ext cx="40639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1767839" y="5041899"/>
            <a:ext cx="40641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80848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1849120" y="5041899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1889760" y="5041898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930400" y="5041898"/>
            <a:ext cx="40639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971039" y="5041898"/>
            <a:ext cx="40641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2011680" y="5041898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2052320" y="5041897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2092960" y="5041897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2133600" y="5041897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2174240" y="5041896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2214880" y="5041896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2255520" y="5041895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2296160" y="5041895"/>
            <a:ext cx="40640" cy="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2336800" y="5041894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2377440" y="5041893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2418080" y="5041892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2458720" y="5041891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2499360" y="5041889"/>
            <a:ext cx="40640" cy="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2540000" y="5041888"/>
            <a:ext cx="40640" cy="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2580640" y="5041886"/>
            <a:ext cx="40640" cy="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2621280" y="5041884"/>
            <a:ext cx="40640" cy="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2661920" y="5041881"/>
            <a:ext cx="40640" cy="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2702560" y="5041878"/>
            <a:ext cx="40640" cy="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2743200" y="5041875"/>
            <a:ext cx="40640" cy="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2783840" y="5041871"/>
            <a:ext cx="40640" cy="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2824480" y="5041867"/>
            <a:ext cx="40640" cy="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2865120" y="5041861"/>
            <a:ext cx="40640" cy="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2905760" y="5041855"/>
            <a:ext cx="40640" cy="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2946400" y="5041848"/>
            <a:ext cx="40640" cy="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2987040" y="5041840"/>
            <a:ext cx="40640" cy="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3027680" y="5041831"/>
            <a:ext cx="40640" cy="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3068320" y="5041820"/>
            <a:ext cx="40640" cy="1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3108960" y="5041807"/>
            <a:ext cx="40640" cy="1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3149600" y="5041792"/>
            <a:ext cx="40640" cy="1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3190240" y="5041776"/>
            <a:ext cx="40640" cy="1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3230880" y="5041756"/>
            <a:ext cx="40640" cy="2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3271520" y="5041733"/>
            <a:ext cx="40640" cy="2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312160" y="5041707"/>
            <a:ext cx="40640" cy="2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352800" y="5041676"/>
            <a:ext cx="40640" cy="3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393440" y="5041641"/>
            <a:ext cx="40639" cy="3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434079" y="5041600"/>
            <a:ext cx="40641" cy="4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474720" y="5041553"/>
            <a:ext cx="40640" cy="4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3515360" y="5041498"/>
            <a:ext cx="40640" cy="5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3556000" y="5041434"/>
            <a:ext cx="40640" cy="6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3596640" y="5041360"/>
            <a:ext cx="40639" cy="7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3637279" y="5041275"/>
            <a:ext cx="40641" cy="8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3677920" y="5041176"/>
            <a:ext cx="40640" cy="9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3718560" y="5041061"/>
            <a:ext cx="40640" cy="11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3759200" y="5040928"/>
            <a:ext cx="40640" cy="13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3799840" y="5040775"/>
            <a:ext cx="40639" cy="15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3840479" y="5040596"/>
            <a:ext cx="40641" cy="17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3881120" y="5040390"/>
            <a:ext cx="40640" cy="20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3921760" y="5040151"/>
            <a:ext cx="40640" cy="23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3962400" y="5039874"/>
            <a:ext cx="40640" cy="27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4003040" y="5039554"/>
            <a:ext cx="40639" cy="32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4043679" y="5039183"/>
            <a:ext cx="40641" cy="37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4084320" y="5038753"/>
            <a:ext cx="40640" cy="43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4124960" y="5038255"/>
            <a:ext cx="40640" cy="49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4165600" y="5037678"/>
            <a:ext cx="40640" cy="57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4206240" y="5037011"/>
            <a:ext cx="40640" cy="66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4246880" y="5036238"/>
            <a:ext cx="40640" cy="77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4287520" y="5035343"/>
            <a:ext cx="40640" cy="89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4328160" y="5034307"/>
            <a:ext cx="40640" cy="103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4368800" y="5033109"/>
            <a:ext cx="40640" cy="119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4409440" y="5031721"/>
            <a:ext cx="40640" cy="138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4450080" y="5030116"/>
            <a:ext cx="40640" cy="160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4490720" y="5028258"/>
            <a:ext cx="40640" cy="185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4531360" y="5026109"/>
            <a:ext cx="40640" cy="214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4572000" y="5023625"/>
            <a:ext cx="40640" cy="248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4612640" y="5020752"/>
            <a:ext cx="40640" cy="287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4653280" y="5017432"/>
            <a:ext cx="40640" cy="332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4693920" y="5013596"/>
            <a:ext cx="40640" cy="383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734560" y="5009165"/>
            <a:ext cx="40640" cy="443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4775200" y="5004052"/>
            <a:ext cx="40640" cy="511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815840" y="4998152"/>
            <a:ext cx="40640" cy="590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4856480" y="4991349"/>
            <a:ext cx="40640" cy="680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4897120" y="4983512"/>
            <a:ext cx="40640" cy="783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4937760" y="4974491"/>
            <a:ext cx="40640" cy="902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4978400" y="4964116"/>
            <a:ext cx="40640" cy="1037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5019040" y="4952198"/>
            <a:ext cx="40640" cy="1191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5059680" y="4938526"/>
            <a:ext cx="40640" cy="1367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5100320" y="4922863"/>
            <a:ext cx="40640" cy="1566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5140960" y="4904951"/>
            <a:ext cx="40640" cy="1791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5181600" y="4884506"/>
            <a:ext cx="40640" cy="2044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5222240" y="4861221"/>
            <a:ext cx="40640" cy="2328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262880" y="4834769"/>
            <a:ext cx="40640" cy="2645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5303520" y="4804804"/>
            <a:ext cx="40640" cy="2996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5344160" y="4770970"/>
            <a:ext cx="40640" cy="3383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5384800" y="4732906"/>
            <a:ext cx="40640" cy="3806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425440" y="4690258"/>
            <a:ext cx="40640" cy="4264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5466080" y="4642695"/>
            <a:ext cx="40640" cy="4756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506720" y="4589921"/>
            <a:ext cx="40640" cy="5277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547360" y="4531697"/>
            <a:ext cx="40640" cy="5822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5588000" y="4467862"/>
            <a:ext cx="40640" cy="6383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5628640" y="4398355"/>
            <a:ext cx="40640" cy="6950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669280" y="4323237"/>
            <a:ext cx="40640" cy="7511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5709920" y="4242708"/>
            <a:ext cx="40640" cy="8052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750560" y="4157125"/>
            <a:ext cx="40640" cy="8558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5791200" y="4067002"/>
            <a:ext cx="40640" cy="9012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831840" y="3973016"/>
            <a:ext cx="40640" cy="9398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5872480" y="3875987"/>
            <a:ext cx="40640" cy="9702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5913120" y="3776855"/>
            <a:ext cx="40640" cy="9913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953760" y="3676650"/>
            <a:ext cx="40640" cy="10020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994400" y="3576444"/>
            <a:ext cx="40640" cy="10020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6035040" y="3477312"/>
            <a:ext cx="40640" cy="9913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6075680" y="3380283"/>
            <a:ext cx="40640" cy="9702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6116320" y="3286297"/>
            <a:ext cx="40640" cy="9398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6156960" y="3196174"/>
            <a:ext cx="40640" cy="9012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6197600" y="3110591"/>
            <a:ext cx="40640" cy="8558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6238240" y="3030062"/>
            <a:ext cx="40640" cy="8052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6278880" y="2954944"/>
            <a:ext cx="40640" cy="7511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6319520" y="2885437"/>
            <a:ext cx="40640" cy="6950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6360160" y="2821602"/>
            <a:ext cx="40640" cy="6383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6400800" y="2763378"/>
            <a:ext cx="40640" cy="5822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6441440" y="2710604"/>
            <a:ext cx="40640" cy="5277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6482080" y="2663041"/>
            <a:ext cx="40640" cy="4756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6522720" y="2620393"/>
            <a:ext cx="40639" cy="4264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6563359" y="2582329"/>
            <a:ext cx="40641" cy="3806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6604000" y="2548495"/>
            <a:ext cx="40640" cy="3383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6644640" y="2518530"/>
            <a:ext cx="40640" cy="2996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6685280" y="2492078"/>
            <a:ext cx="40640" cy="2645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6725920" y="2468793"/>
            <a:ext cx="40639" cy="2328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6766559" y="2448348"/>
            <a:ext cx="40641" cy="2044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6807200" y="2430436"/>
            <a:ext cx="40640" cy="1791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6847840" y="2414773"/>
            <a:ext cx="40640" cy="1566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6888480" y="2401101"/>
            <a:ext cx="40640" cy="13672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6929120" y="2389183"/>
            <a:ext cx="40639" cy="1191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6969759" y="2378808"/>
            <a:ext cx="40641" cy="1037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7010400" y="2369787"/>
            <a:ext cx="40640" cy="902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7051040" y="2361950"/>
            <a:ext cx="40640" cy="7837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7091680" y="2355147"/>
            <a:ext cx="40640" cy="680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7132320" y="2349247"/>
            <a:ext cx="40639" cy="590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7172959" y="2344134"/>
            <a:ext cx="40641" cy="511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7213600" y="2339703"/>
            <a:ext cx="40640" cy="4431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7254240" y="2335867"/>
            <a:ext cx="40640" cy="3836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7294880" y="2332547"/>
            <a:ext cx="40640" cy="3320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7335520" y="2329674"/>
            <a:ext cx="40639" cy="2873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7376159" y="2327190"/>
            <a:ext cx="40641" cy="2484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7416800" y="2325041"/>
            <a:ext cx="40640" cy="2149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7457440" y="2323183"/>
            <a:ext cx="40640" cy="185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7498080" y="2321578"/>
            <a:ext cx="40640" cy="1605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7538720" y="2320190"/>
            <a:ext cx="40639" cy="138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7579359" y="2318992"/>
            <a:ext cx="40641" cy="1198"/>
          </a:xfrm>
          <a:prstGeom prst="line">
            <a:avLst/>
          </a:prstGeom>
          <a:ln w="381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Oval 504"/>
          <p:cNvSpPr/>
          <p:nvPr/>
        </p:nvSpPr>
        <p:spPr>
          <a:xfrm>
            <a:off x="5943600" y="3625850"/>
            <a:ext cx="101600" cy="1016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5880100" y="3829050"/>
            <a:ext cx="635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061AC"/>
                </a:solidFill>
                <a:latin typeface="DejaVu Sans"/>
              </a:defRPr>
            </a:pPr>
            <a:r>
              <a:t>30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946400" y="5588000"/>
            <a:ext cx="30480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Número de ciclos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00100" y="1816100"/>
            <a:ext cx="374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3443"/>
                </a:solidFill>
                <a:latin typeface="DejaVu Sans"/>
              </a:defRPr>
            </a:pPr>
            <a:r>
              <a:t>Fluorescencia relativa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8394700" y="2070100"/>
            <a:ext cx="4064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ounded Rectangle 509"/>
          <p:cNvSpPr/>
          <p:nvPr/>
        </p:nvSpPr>
        <p:spPr>
          <a:xfrm>
            <a:off x="8458200" y="2235200"/>
            <a:ext cx="2794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8496300" y="2406650"/>
            <a:ext cx="203200" cy="17145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>
            <a:off x="8470900" y="2578100"/>
            <a:ext cx="1270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V="1">
            <a:off x="8597900" y="2578100"/>
            <a:ext cx="1270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9029700" y="2222500"/>
            <a:ext cx="2413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DejaVu Sans"/>
              </a:defRPr>
            </a:pPr>
            <a:r>
              <a:t>Más molde</a:t>
            </a:r>
          </a:p>
        </p:txBody>
      </p:sp>
      <p:sp>
        <p:nvSpPr>
          <p:cNvPr id="515" name="Rounded Rectangle 514"/>
          <p:cNvSpPr/>
          <p:nvPr/>
        </p:nvSpPr>
        <p:spPr>
          <a:xfrm>
            <a:off x="8394700" y="3175000"/>
            <a:ext cx="4064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ounded Rectangle 515"/>
          <p:cNvSpPr/>
          <p:nvPr/>
        </p:nvSpPr>
        <p:spPr>
          <a:xfrm>
            <a:off x="8458200" y="3340100"/>
            <a:ext cx="2794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8496300" y="3511550"/>
            <a:ext cx="203200" cy="171450"/>
          </a:xfrm>
          <a:prstGeom prst="rect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>
            <a:off x="8470900" y="3683000"/>
            <a:ext cx="1270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8597900" y="3683000"/>
            <a:ext cx="1270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9029700" y="3327400"/>
            <a:ext cx="2413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276C8"/>
                </a:solidFill>
                <a:latin typeface="DejaVu Sans"/>
              </a:defRPr>
            </a:pPr>
            <a:r>
              <a:t>Intermedio</a:t>
            </a:r>
          </a:p>
        </p:txBody>
      </p:sp>
      <p:sp>
        <p:nvSpPr>
          <p:cNvPr id="521" name="Rounded Rectangle 520"/>
          <p:cNvSpPr/>
          <p:nvPr/>
        </p:nvSpPr>
        <p:spPr>
          <a:xfrm>
            <a:off x="8394700" y="4279900"/>
            <a:ext cx="4064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ounded Rectangle 521"/>
          <p:cNvSpPr/>
          <p:nvPr/>
        </p:nvSpPr>
        <p:spPr>
          <a:xfrm>
            <a:off x="8458200" y="4445000"/>
            <a:ext cx="2794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8496300" y="4616450"/>
            <a:ext cx="203200" cy="171450"/>
          </a:xfrm>
          <a:prstGeom prst="rect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Connector 523"/>
          <p:cNvCxnSpPr/>
          <p:nvPr/>
        </p:nvCxnSpPr>
        <p:spPr>
          <a:xfrm>
            <a:off x="8470900" y="4787900"/>
            <a:ext cx="1270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8597900" y="4787900"/>
            <a:ext cx="1270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TextBox 525"/>
          <p:cNvSpPr txBox="1"/>
          <p:nvPr/>
        </p:nvSpPr>
        <p:spPr>
          <a:xfrm>
            <a:off x="9029700" y="4432300"/>
            <a:ext cx="2413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061AC"/>
                </a:solidFill>
                <a:latin typeface="DejaVu Sans"/>
              </a:defRPr>
            </a:pPr>
            <a:r>
              <a:t>Menos molde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RT-QPCR · COMPARAR DOS CONDICIONES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Ejemplo: ¿el calor cambia la expresión de un gen?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[2,6,7,10]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2400" y="3479800"/>
            <a:ext cx="787400" cy="469900"/>
          </a:xfrm>
          <a:prstGeom prst="roundRect">
            <a:avLst/>
          </a:prstGeom>
          <a:solidFill>
            <a:srgbClr val="D9B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816100" y="2235200"/>
            <a:ext cx="0" cy="125730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270000" y="26162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54200" y="23495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2700" y="29845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66900" y="29083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2500" y="3479800"/>
            <a:ext cx="787400" cy="469900"/>
          </a:xfrm>
          <a:prstGeom prst="roundRect">
            <a:avLst/>
          </a:prstGeom>
          <a:solidFill>
            <a:srgbClr val="D9B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6426200" y="2235200"/>
            <a:ext cx="0" cy="125730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880100" y="26162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64300" y="23495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2800" y="29845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7000" y="29083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200" y="1955800"/>
            <a:ext cx="431800" cy="431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683500" y="2171700"/>
            <a:ext cx="88900" cy="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1665" y="2369265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04100" y="2451100"/>
            <a:ext cx="0" cy="8890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143672" y="2369265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035800" y="2171700"/>
            <a:ext cx="88900" cy="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143672" y="1911272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404100" y="1803400"/>
            <a:ext cx="0" cy="8890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01665" y="1911272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4700" y="4254500"/>
            <a:ext cx="4445000" cy="107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900" y="4381500"/>
            <a:ext cx="40640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Control: 25 − 20 =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900" y="4838700"/>
            <a:ext cx="40640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Cq diana − Cq referencia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16600" y="4254500"/>
            <a:ext cx="5270500" cy="1079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2500" y="4381500"/>
            <a:ext cx="48514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A765B"/>
                </a:solidFill>
                <a:latin typeface="DejaVu Sans"/>
              </a:defRPr>
            </a:pPr>
            <a:r>
              <a:t>Con calor: 22 − 20 =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2500" y="4838700"/>
            <a:ext cx="4851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Cq diana − Cq referencia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600" y="2146300"/>
            <a:ext cx="2705100" cy="7947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061AC"/>
                </a:solidFill>
                <a:latin typeface="DejaVu Sans"/>
              </a:defRPr>
            </a:pPr>
            <a:r>
              <a:t>ΔΔCq = 2 − 5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061AC"/>
                </a:solidFill>
                <a:latin typeface="DejaVu Sans"/>
              </a:defRPr>
            </a:pPr>
            <a:r>
              <a:t>= −3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6600" y="3302000"/>
            <a:ext cx="2921000" cy="466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F86"/>
                </a:solidFill>
                <a:latin typeface="DejaVu Sans"/>
              </a:defRPr>
            </a:pPr>
            <a:r>
              <a:t>2³ = 8 veces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Resultado del ejemplo: expresión relativa 8 veces mayor; referencias y eficiencias validadas.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QPCR CON ESTÁNDARES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Ejemplo: ¿cuántas copias tiene mi muestra?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[1,2,6,10]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1955800"/>
            <a:ext cx="5334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500" y="2120900"/>
            <a:ext cx="4064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600" y="2451100"/>
            <a:ext cx="330200" cy="3302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652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57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" y="3200400"/>
            <a:ext cx="12700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10²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22500" y="1955800"/>
            <a:ext cx="5334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2120900"/>
            <a:ext cx="4064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24100" y="2451100"/>
            <a:ext cx="330200" cy="3302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2987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892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33600" y="3200400"/>
            <a:ext cx="12700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10³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6000" y="1955800"/>
            <a:ext cx="5334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9500" y="2120900"/>
            <a:ext cx="4064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2451100"/>
            <a:ext cx="330200" cy="3302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6322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227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67100" y="3200400"/>
            <a:ext cx="12700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10⁴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89500" y="1955800"/>
            <a:ext cx="5334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53000" y="2120900"/>
            <a:ext cx="4064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91100" y="2451100"/>
            <a:ext cx="330200" cy="3302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9657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156200" y="2781300"/>
            <a:ext cx="19050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00600" y="3200400"/>
            <a:ext cx="12700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10⁵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12000" y="3987800"/>
            <a:ext cx="4038600" cy="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12000" y="1841500"/>
            <a:ext cx="0" cy="214630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277100" y="2006600"/>
            <a:ext cx="127000" cy="127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9800" y="4089400"/>
            <a:ext cx="5588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8432800" y="2565400"/>
            <a:ext cx="127000" cy="127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5500" y="4089400"/>
            <a:ext cx="5588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7" name="Oval 36"/>
          <p:cNvSpPr/>
          <p:nvPr/>
        </p:nvSpPr>
        <p:spPr>
          <a:xfrm>
            <a:off x="9588500" y="3124200"/>
            <a:ext cx="127000" cy="127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4089400"/>
            <a:ext cx="5588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39" name="Oval 38"/>
          <p:cNvSpPr/>
          <p:nvPr/>
        </p:nvSpPr>
        <p:spPr>
          <a:xfrm>
            <a:off x="10744200" y="3683000"/>
            <a:ext cx="127000" cy="127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56900" y="4089400"/>
            <a:ext cx="5588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40600" y="2070100"/>
            <a:ext cx="3467100" cy="1676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37500" y="4432300"/>
            <a:ext cx="31750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log₁₀(copias)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6700" y="1524000"/>
            <a:ext cx="13970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" y="3898900"/>
            <a:ext cx="5588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DejaVu Sans"/>
              </a:defRPr>
            </a:pPr>
            <a:r>
              <a:t>Cq = −3,32 log₁₀(N) + 40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" y="4775200"/>
            <a:ext cx="10490200" cy="78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600" y="4902200"/>
            <a:ext cx="101346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DejaVu Sans"/>
              </a:defRPr>
            </a:pPr>
            <a:r>
              <a:t>Cq = 26,72 → log₁₀(N) = 4 → 10 000 copias/reacción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Usamos muestras conocidas para convertir un Cq en cantidad. Fórmula y eficiencia: notas.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DE UNA MEZCLA A MUCHAS PARTICIONES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dPCR: dividir, amplificar y contar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[3–4,8,11]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200" y="2501900"/>
            <a:ext cx="901700" cy="139700"/>
          </a:xfrm>
          <a:prstGeom prst="roundRect">
            <a:avLst/>
          </a:prstGeom>
          <a:solidFill>
            <a:srgbClr val="DFEBE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55700" y="2667000"/>
            <a:ext cx="7747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AA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3800" y="3195320"/>
            <a:ext cx="698500" cy="792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68400" y="3987800"/>
            <a:ext cx="3746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543050" y="3987800"/>
            <a:ext cx="374650" cy="215900"/>
          </a:xfrm>
          <a:prstGeom prst="line">
            <a:avLst/>
          </a:prstGeom>
          <a:ln w="25400">
            <a:solidFill>
              <a:srgbClr val="AAC2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11400" y="3340100"/>
            <a:ext cx="5842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06700" y="32766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806700" y="33401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63900" y="21209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21209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51300" y="21209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45000" y="21209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38700" y="21209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32400" y="21209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6100" y="21209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19800" y="21209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63900" y="25146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0" y="25146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51300" y="25146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45000" y="25146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38700" y="25146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32400" y="25146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26100" y="25146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19800" y="25146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63900" y="29083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57600" y="29083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51300" y="29083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45000" y="29083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38700" y="29083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232400" y="29083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26100" y="29083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19800" y="29083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63900" y="33020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7600" y="33020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51300" y="33020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45000" y="33020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38700" y="33020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32400" y="33020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26100" y="33020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19800" y="33020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263900" y="36957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57600" y="36957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051300" y="36957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45000" y="36957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838700" y="36957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32400" y="36957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26100" y="3695700"/>
            <a:ext cx="279400" cy="2794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19800" y="3695700"/>
            <a:ext cx="279400" cy="2794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629400" y="3340100"/>
            <a:ext cx="5969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137400" y="32766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137400" y="33401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620000" y="1943100"/>
            <a:ext cx="3771900" cy="1282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97800" y="2082800"/>
            <a:ext cx="34163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10 / 40 positivas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97800" y="2527300"/>
            <a:ext cx="34163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 = 0,25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20000" y="3644900"/>
            <a:ext cx="3771900" cy="1536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97800" y="3784600"/>
            <a:ext cx="34163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061AC"/>
                </a:solidFill>
                <a:latin typeface="DejaVu Sans"/>
              </a:defRPr>
            </a:pPr>
            <a:r>
              <a:t>¿Solo una copia?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97800" y="4229100"/>
            <a:ext cx="3416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Puede haber varias: se corrige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con Poisson.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λ = −ln(1 − p) estima las copias medias por partición; dPCR suele leerse al final.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CÁLCULO CON UNIDADES VISIBLES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982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Ejemplo digital: llevar las copias de vuelta al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extracto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[4,8,11] · Ejemplo simulado, volumen no universal.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1816100"/>
            <a:ext cx="106680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DejaVu Sans"/>
              </a:defRPr>
            </a:pPr>
            <a:r>
              <a:t>5 000 positivas / 20 000 válidas → p = 0,25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200" y="2641600"/>
            <a:ext cx="50419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2781300"/>
            <a:ext cx="46863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1. Ocupación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3225800"/>
            <a:ext cx="4686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λ = −ln(0,75) = 0,28768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copias/partición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000" y="2641600"/>
            <a:ext cx="51689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81300"/>
            <a:ext cx="48133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2. Concentración en mezcla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25800"/>
            <a:ext cx="4813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0,28768 / 0,00085 µL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= 338,45 copias/µL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200" y="4368800"/>
            <a:ext cx="10680700" cy="10541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700" y="4533900"/>
            <a:ext cx="103124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061AC"/>
                </a:solidFill>
                <a:latin typeface="DejaVu Sans"/>
              </a:defRPr>
            </a:pPr>
            <a:r>
              <a:t>3. Extracto: 338,45 × (20 / 4) ≈ 1 692,25 copias/µL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700" y="5029200"/>
            <a:ext cx="103124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4 µL de extracto en 20 µL de reacción → factor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Volumen de partición = 0,85 nL. Dilución previa 1:10 → ≈16 922,5 copias/µL original.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COMPARACIÓN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¿Qué información entrega cada lectura?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[1–4,6,8]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16100"/>
            <a:ext cx="3365500" cy="356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6900" y="1816100"/>
            <a:ext cx="3365500" cy="356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04200" y="1816100"/>
            <a:ext cx="3365500" cy="356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01900"/>
            <a:ext cx="2717800" cy="1524000"/>
          </a:xfrm>
          <a:prstGeom prst="roundRect">
            <a:avLst/>
          </a:prstGeom>
          <a:solidFill>
            <a:srgbClr val="20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5250" y="26543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4150" y="29845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466850" y="33274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66850" y="36322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66850" y="39370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6850" y="42418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66850" y="4546600"/>
            <a:ext cx="254000" cy="0"/>
          </a:xfrm>
          <a:prstGeom prst="line">
            <a:avLst/>
          </a:prstGeom>
          <a:ln w="50800">
            <a:solidFill>
              <a:srgbClr val="D3E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44700" y="26543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3600" y="29845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133600" y="3390900"/>
            <a:ext cx="279400" cy="0"/>
          </a:xfrm>
          <a:prstGeom prst="line">
            <a:avLst/>
          </a:prstGeom>
          <a:ln w="63500">
            <a:solidFill>
              <a:srgbClr val="7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24150" y="2654300"/>
            <a:ext cx="82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DejaVu Sans"/>
              </a:defRPr>
            </a:pPr>
            <a: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3050" y="2984500"/>
            <a:ext cx="279400" cy="76200"/>
          </a:xfrm>
          <a:prstGeom prst="rect">
            <a:avLst/>
          </a:prstGeom>
          <a:solidFill>
            <a:srgbClr val="526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813050" y="3390900"/>
            <a:ext cx="279400" cy="0"/>
          </a:xfrm>
          <a:prstGeom prst="line">
            <a:avLst/>
          </a:prstGeom>
          <a:ln w="63500">
            <a:solidFill>
              <a:srgbClr val="7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5500" y="1993900"/>
            <a:ext cx="2984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Convencional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500" y="4356100"/>
            <a:ext cx="29845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DejaVu Sans"/>
              </a:defRPr>
            </a:pPr>
            <a:r>
              <a:t>Presencia y tamaño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00" y="4965700"/>
            <a:ext cx="2984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Preparar un amplicón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24400" y="3962400"/>
            <a:ext cx="2717800" cy="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724400" y="2641600"/>
            <a:ext cx="0" cy="132080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24400" y="3957489"/>
            <a:ext cx="63500" cy="1927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787900" y="3954325"/>
            <a:ext cx="63500" cy="316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51400" y="3949144"/>
            <a:ext cx="63500" cy="5181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914900" y="3940699"/>
            <a:ext cx="63500" cy="8445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978400" y="3927034"/>
            <a:ext cx="63500" cy="13665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41900" y="3905180"/>
            <a:ext cx="63500" cy="2185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105400" y="3870877"/>
            <a:ext cx="63500" cy="34303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68900" y="3818581"/>
            <a:ext cx="63500" cy="52296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232400" y="3742303"/>
            <a:ext cx="63500" cy="7627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95900" y="3637922"/>
            <a:ext cx="63500" cy="104381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359400" y="3506897"/>
            <a:ext cx="63500" cy="131025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422900" y="3359150"/>
            <a:ext cx="63500" cy="147747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486400" y="3211402"/>
            <a:ext cx="63500" cy="14774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549900" y="3080377"/>
            <a:ext cx="63500" cy="131025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613400" y="2975996"/>
            <a:ext cx="63500" cy="104381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676900" y="2899718"/>
            <a:ext cx="63500" cy="7627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740400" y="2847422"/>
            <a:ext cx="63500" cy="52296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803900" y="2813119"/>
            <a:ext cx="63500" cy="34303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867400" y="2791265"/>
            <a:ext cx="63500" cy="2185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930900" y="2777600"/>
            <a:ext cx="63500" cy="13665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994400" y="2769155"/>
            <a:ext cx="63500" cy="8445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057900" y="2763974"/>
            <a:ext cx="63500" cy="5181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121400" y="2760810"/>
            <a:ext cx="63500" cy="316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184900" y="2758883"/>
            <a:ext cx="63500" cy="1927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248400" y="2757711"/>
            <a:ext cx="63500" cy="1172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311900" y="2756999"/>
            <a:ext cx="63500" cy="712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75400" y="2756566"/>
            <a:ext cx="63500" cy="433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438900" y="2756304"/>
            <a:ext cx="63500" cy="262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502400" y="2756145"/>
            <a:ext cx="63500" cy="159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565900" y="2756048"/>
            <a:ext cx="63500" cy="97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629400" y="2755990"/>
            <a:ext cx="63500" cy="5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92900" y="2755954"/>
            <a:ext cx="63500" cy="36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756400" y="2755933"/>
            <a:ext cx="63500" cy="21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819900" y="2755920"/>
            <a:ext cx="63500" cy="13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883400" y="2755912"/>
            <a:ext cx="63500" cy="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946900" y="2755907"/>
            <a:ext cx="63500" cy="5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010400" y="2755904"/>
            <a:ext cx="63500" cy="3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073900" y="2755902"/>
            <a:ext cx="63500" cy="2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137400" y="2755901"/>
            <a:ext cx="63500" cy="1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00900" y="2755901"/>
            <a:ext cx="63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724400" y="3962309"/>
            <a:ext cx="63500" cy="36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787900" y="3962251"/>
            <a:ext cx="63500" cy="58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851400" y="3962154"/>
            <a:ext cx="63500" cy="97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914900" y="3961995"/>
            <a:ext cx="63500" cy="159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978400" y="3961733"/>
            <a:ext cx="63500" cy="262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041900" y="3961300"/>
            <a:ext cx="63500" cy="433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05400" y="3960588"/>
            <a:ext cx="63500" cy="712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168900" y="3959416"/>
            <a:ext cx="63500" cy="1172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232400" y="3957489"/>
            <a:ext cx="63500" cy="1927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295900" y="3954325"/>
            <a:ext cx="63500" cy="3164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359400" y="3949144"/>
            <a:ext cx="63500" cy="5181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422900" y="3940699"/>
            <a:ext cx="63500" cy="8445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486400" y="3927034"/>
            <a:ext cx="63500" cy="13665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549900" y="3905180"/>
            <a:ext cx="63500" cy="21854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613400" y="3870877"/>
            <a:ext cx="63500" cy="34303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676900" y="3818581"/>
            <a:ext cx="63500" cy="52296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40400" y="3742303"/>
            <a:ext cx="63500" cy="76278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803900" y="3637922"/>
            <a:ext cx="63500" cy="104381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867400" y="3506897"/>
            <a:ext cx="63500" cy="131025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930900" y="3359150"/>
            <a:ext cx="63500" cy="147747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994400" y="3211402"/>
            <a:ext cx="63500" cy="147748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057900" y="3080377"/>
            <a:ext cx="63500" cy="131025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121400" y="2975996"/>
            <a:ext cx="63500" cy="104381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184900" y="2899718"/>
            <a:ext cx="63500" cy="76278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248400" y="2847422"/>
            <a:ext cx="63500" cy="52296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311900" y="2813119"/>
            <a:ext cx="63500" cy="34303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375400" y="2791265"/>
            <a:ext cx="63500" cy="21854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438900" y="2777600"/>
            <a:ext cx="63500" cy="13665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02400" y="2769155"/>
            <a:ext cx="63500" cy="8445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565900" y="2763974"/>
            <a:ext cx="63500" cy="5181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629400" y="2760810"/>
            <a:ext cx="63500" cy="3164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92900" y="2758883"/>
            <a:ext cx="63500" cy="1927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756400" y="2757711"/>
            <a:ext cx="63500" cy="1172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19900" y="2756999"/>
            <a:ext cx="63500" cy="712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883400" y="2756566"/>
            <a:ext cx="63500" cy="433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46900" y="2756304"/>
            <a:ext cx="63500" cy="262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10400" y="2756145"/>
            <a:ext cx="63500" cy="159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73900" y="2756048"/>
            <a:ext cx="63500" cy="97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400" y="2755990"/>
            <a:ext cx="63500" cy="58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200900" y="2755954"/>
            <a:ext cx="63500" cy="36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4635500" y="1993900"/>
            <a:ext cx="2984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276C8"/>
                </a:solidFill>
                <a:latin typeface="DejaVu Sans"/>
              </a:defRPr>
            </a:pPr>
            <a:r>
              <a:t>qPCR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35500" y="4356100"/>
            <a:ext cx="2984500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276C8"/>
                </a:solidFill>
                <a:latin typeface="DejaVu Sans"/>
              </a:defRPr>
            </a:pPr>
            <a:r>
              <a:t>Cantidad por Cq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35500" y="4826000"/>
            <a:ext cx="2984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Carga y expresión</a:t>
            </a:r>
          </a:p>
        </p:txBody>
      </p:sp>
      <p:sp>
        <p:nvSpPr>
          <p:cNvPr id="112" name="Oval 111"/>
          <p:cNvSpPr/>
          <p:nvPr/>
        </p:nvSpPr>
        <p:spPr>
          <a:xfrm>
            <a:off x="8534400" y="27051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877300" y="27051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220200" y="27051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563100" y="27051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906000" y="27051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248900" y="27051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591800" y="27051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34400" y="30480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877300" y="30480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220200" y="30480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563100" y="30480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906000" y="30480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248900" y="30480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591800" y="30480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34400" y="33909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877300" y="33909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9220200" y="33909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9563100" y="33909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906000" y="33909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248900" y="33909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591800" y="33909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534400" y="37338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877300" y="37338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220200" y="37338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563100" y="37338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906000" y="3733800"/>
            <a:ext cx="203200" cy="203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248900" y="37338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591800" y="3733800"/>
            <a:ext cx="203200" cy="2032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432800" y="1993900"/>
            <a:ext cx="29845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061AC"/>
                </a:solidFill>
                <a:latin typeface="DejaVu Sans"/>
              </a:defRPr>
            </a:pPr>
            <a:r>
              <a:t>dPCR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32800" y="4356100"/>
            <a:ext cx="29845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8061AC"/>
                </a:solidFill>
                <a:latin typeface="DejaVu Sans"/>
              </a:defRPr>
            </a:pPr>
            <a:r>
              <a:t>Copias por partición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432800" y="4965700"/>
            <a:ext cx="29845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Variantes conocidas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Si la muestra es ARN, primero RT. Multiplex y nested son estrategias combinables.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FORMATOS QUE SE PUEDEN COMBINAR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982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Multiplex y nested: cambiar la estrategia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amplificación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[3,5]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400" y="1854200"/>
            <a:ext cx="5156200" cy="356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1854200"/>
            <a:ext cx="5156200" cy="356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2057400"/>
            <a:ext cx="46482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Multiplex: varias dianas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5700" y="2984500"/>
            <a:ext cx="3060700" cy="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57300" y="2832100"/>
            <a:ext cx="5461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14500" y="27686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14500" y="28321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556000" y="3136900"/>
            <a:ext cx="5461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556000" y="30734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556000" y="31369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21200" y="2806700"/>
            <a:ext cx="8382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5700" y="3568700"/>
            <a:ext cx="3060700" cy="0"/>
          </a:xfrm>
          <a:prstGeom prst="line">
            <a:avLst/>
          </a:prstGeom>
          <a:ln w="635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57300" y="3416300"/>
            <a:ext cx="546100" cy="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14500" y="33528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14500" y="34163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556000" y="3721100"/>
            <a:ext cx="546100" cy="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556000" y="36576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556000" y="37211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21200" y="3390900"/>
            <a:ext cx="8382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55700" y="4152900"/>
            <a:ext cx="3060700" cy="0"/>
          </a:xfrm>
          <a:prstGeom prst="line">
            <a:avLst/>
          </a:prstGeom>
          <a:ln w="635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57300" y="4000500"/>
            <a:ext cx="546100" cy="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714500" y="39370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714500" y="40005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556000" y="4305300"/>
            <a:ext cx="546100" cy="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556000" y="42418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556000" y="4305300"/>
            <a:ext cx="88900" cy="63500"/>
          </a:xfrm>
          <a:prstGeom prst="line">
            <a:avLst/>
          </a:prstGeom>
          <a:ln w="254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21200" y="3975100"/>
            <a:ext cx="8382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061AC"/>
                </a:solidFill>
                <a:latin typeface="DejaVu Sans"/>
              </a:defRPr>
            </a:pPr>
            <a: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" y="4800600"/>
            <a:ext cx="46482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Un tubo · varios pares de primers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9700" y="2057400"/>
            <a:ext cx="46736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061AC"/>
                </a:solidFill>
                <a:latin typeface="DejaVu Sans"/>
              </a:defRPr>
            </a:pPr>
            <a:r>
              <a:t>Nested: dos rondas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43700" y="2971800"/>
            <a:ext cx="4165600" cy="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819900" y="2743200"/>
            <a:ext cx="698500" cy="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29500" y="26797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29500" y="27432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134600" y="3187700"/>
            <a:ext cx="698500" cy="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134600" y="31242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10134600" y="3187700"/>
            <a:ext cx="88900" cy="63500"/>
          </a:xfrm>
          <a:prstGeom prst="line">
            <a:avLst/>
          </a:prstGeom>
          <a:ln w="25400">
            <a:solidFill>
              <a:srgbClr val="DA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763000" y="3378200"/>
            <a:ext cx="0" cy="317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03256" y="3598256"/>
            <a:ext cx="59744" cy="9744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763000" y="3598256"/>
            <a:ext cx="59743" cy="97444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96200" y="4127500"/>
            <a:ext cx="2197100" cy="0"/>
          </a:xfrm>
          <a:prstGeom prst="line">
            <a:avLst/>
          </a:prstGeom>
          <a:ln w="63500">
            <a:solidFill>
              <a:srgbClr val="806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34300" y="3924300"/>
            <a:ext cx="546100" cy="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191500" y="38608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191500" y="39243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9334500" y="4343400"/>
            <a:ext cx="546100" cy="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334500" y="42799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9334500" y="4343400"/>
            <a:ext cx="88900" cy="63500"/>
          </a:xfrm>
          <a:prstGeom prst="line">
            <a:avLst/>
          </a:prstGeom>
          <a:ln w="254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27800" y="4800600"/>
            <a:ext cx="46228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Primers externos → internos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" y="5816600"/>
            <a:ext cx="105791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Alta fidelidad ayuda al preparar insertos y amplicones para secuenciar; no elimina todos los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errores.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PUENTE CON LA CLASE DE SECUENCIACIÓN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PCR y secuenciación: enriquecer no es leer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[3–5,9–11]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5500" y="2209800"/>
            <a:ext cx="21844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5500" y="2400300"/>
            <a:ext cx="21844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795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446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097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748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399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050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701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352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003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654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305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95600" y="22098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5500" y="2679700"/>
            <a:ext cx="21844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5500" y="2870200"/>
            <a:ext cx="21844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44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95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097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748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399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050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701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352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003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654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305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95600" y="26797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5500" y="3149600"/>
            <a:ext cx="21844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5500" y="3340100"/>
            <a:ext cx="21844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44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795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446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97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748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399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9050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701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352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003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5654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305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95600" y="31496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352800" y="2844800"/>
            <a:ext cx="5080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771900" y="27813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771900" y="28448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267200" y="1905000"/>
            <a:ext cx="3289300" cy="1358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45000" y="2044700"/>
            <a:ext cx="29337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Sanger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5000" y="2489200"/>
            <a:ext cx="29337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Un amplicón limpio → bases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de esa región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7200" y="3670300"/>
            <a:ext cx="3289300" cy="1485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45000" y="3810000"/>
            <a:ext cx="29337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061AC"/>
                </a:solidFill>
                <a:latin typeface="DejaVu Sans"/>
              </a:defRPr>
            </a:pPr>
            <a:r>
              <a:t>Illumina / Nanopore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45000" y="4254500"/>
            <a:ext cx="29337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Amplicones con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preparación compatible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772400" y="2603500"/>
            <a:ext cx="673100" cy="4572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31324" y="3055368"/>
            <a:ext cx="114176" cy="5332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398461" y="2956527"/>
            <a:ext cx="47039" cy="104173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772400" y="3556000"/>
            <a:ext cx="673100" cy="7874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427595" y="3556000"/>
            <a:ext cx="17905" cy="11288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336770" y="3556000"/>
            <a:ext cx="108730" cy="35248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712200" y="2514600"/>
            <a:ext cx="2679700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276C8"/>
                </a:solidFill>
                <a:latin typeface="DejaVu Sans"/>
              </a:defRPr>
            </a:pPr>
            <a:r>
              <a:t>A T G C T A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12200" y="3302000"/>
            <a:ext cx="2679700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061AC"/>
                </a:solidFill>
                <a:latin typeface="DejaVu Sans"/>
              </a:defRPr>
            </a:pPr>
            <a:r>
              <a:t>A T G C A A 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99500" y="4089400"/>
            <a:ext cx="26797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Lecturas de bases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2800" y="4572000"/>
            <a:ext cx="2908300" cy="7322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PCR: más copias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de una región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0100" y="5816600"/>
            <a:ext cx="105791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También existen bibliotecas PCR-free. La PCR puede sesgar abundancias y no conserva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modificaciones nativas.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ACTIVIDAD RESUELTA AL COMENTAR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Tu turno: completa la mezcla y elige la lectura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Síntesis didáctica de [2–5,10–11].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3644900"/>
            <a:ext cx="787400" cy="469900"/>
          </a:xfrm>
          <a:prstGeom prst="roundRect">
            <a:avLst/>
          </a:prstGeom>
          <a:solidFill>
            <a:srgbClr val="D9B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460500" y="2400300"/>
            <a:ext cx="0" cy="125730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27813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8600" y="2514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7100" y="3149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11300" y="30734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98900" y="3644900"/>
            <a:ext cx="787400" cy="469900"/>
          </a:xfrm>
          <a:prstGeom prst="roundRect">
            <a:avLst/>
          </a:prstGeom>
          <a:solidFill>
            <a:srgbClr val="D9B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4292600" y="2400300"/>
            <a:ext cx="0" cy="1257300"/>
          </a:xfrm>
          <a:prstGeom prst="line">
            <a:avLst/>
          </a:prstGeom>
          <a:ln w="635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746500" y="27813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30700" y="2514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59200" y="31496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3073400"/>
            <a:ext cx="533400" cy="254000"/>
          </a:xfrm>
          <a:prstGeom prst="ellipse">
            <a:avLst/>
          </a:prstGeom>
          <a:solidFill>
            <a:srgbClr val="65AE8B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54600" y="2120900"/>
            <a:ext cx="431800" cy="431800"/>
          </a:xfrm>
          <a:prstGeom prst="ellipse">
            <a:avLst/>
          </a:prstGeom>
          <a:solidFill>
            <a:srgbClr val="D1A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549900" y="2336800"/>
            <a:ext cx="88900" cy="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68065" y="2534365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70500" y="2616200"/>
            <a:ext cx="0" cy="8890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010072" y="2534365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902200" y="2336800"/>
            <a:ext cx="88900" cy="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010072" y="2076372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270500" y="1968500"/>
            <a:ext cx="0" cy="88900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468065" y="2076372"/>
            <a:ext cx="62862" cy="62862"/>
          </a:xfrm>
          <a:prstGeom prst="line">
            <a:avLst/>
          </a:prstGeom>
          <a:ln w="25400">
            <a:solidFill>
              <a:srgbClr val="D1A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40500" y="1892300"/>
            <a:ext cx="4902200" cy="1130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8300" y="2032000"/>
            <a:ext cx="45466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DejaVu Sans"/>
              </a:defRPr>
            </a:pPr>
            <a:r>
              <a:t>Tenemos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8300" y="2476500"/>
            <a:ext cx="45466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8 muestras + NTC + positivo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0500" y="3276600"/>
            <a:ext cx="4902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8300" y="3416300"/>
            <a:ext cx="45466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276C8"/>
                </a:solidFill>
                <a:latin typeface="DejaVu Sans"/>
              </a:defRPr>
            </a:pPr>
            <a:r>
              <a:t>Calcula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8300" y="3860800"/>
            <a:ext cx="45466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23 µL comunes por tubo; 10 % extra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40500" y="4686300"/>
            <a:ext cx="4902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8300" y="4826000"/>
            <a:ext cx="45466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061AC"/>
                </a:solidFill>
                <a:latin typeface="DejaVu Sans"/>
              </a:defRPr>
            </a:pPr>
            <a: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8300" y="5270500"/>
            <a:ext cx="45466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¿Qué usarías para medir expresión?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Solución: 10 tubos → 11 equivalentes → 253 µL comunes. Expresión: RT-qPCR validada.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CIERRE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Antes de interpretar, revisa estas tres cosas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[4–6,10–11]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1866900"/>
            <a:ext cx="10795000" cy="1066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" y="2082800"/>
            <a:ext cx="457200" cy="4572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108200"/>
            <a:ext cx="3937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600" y="1981200"/>
            <a:ext cx="96647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DejaVu Sans"/>
              </a:defRPr>
            </a:pPr>
            <a:r>
              <a:t>¿La muestra y los controles son válidos?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8600" y="2438400"/>
            <a:ext cx="96647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Sin buena entrada y controles, la cifra no basta.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" y="3111500"/>
            <a:ext cx="10795000" cy="1066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100" y="3327400"/>
            <a:ext cx="457200" cy="4572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352800"/>
            <a:ext cx="3937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8600" y="3225800"/>
            <a:ext cx="96647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276C8"/>
                </a:solidFill>
                <a:latin typeface="DejaVu Sans"/>
              </a:defRPr>
            </a:pPr>
            <a:r>
              <a:t>¿La lectura responde a la pregunta?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8600" y="3683000"/>
            <a:ext cx="96647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Banda, Cq, particiones o secuencia aportan datos distintos.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700" y="4356100"/>
            <a:ext cx="10795000" cy="1066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100" y="4572000"/>
            <a:ext cx="457200" cy="4572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800" y="4597400"/>
            <a:ext cx="3937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8600" y="4470400"/>
            <a:ext cx="96647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8061AC"/>
                </a:solidFill>
                <a:latin typeface="DejaVu Sans"/>
              </a:defRPr>
            </a:pPr>
            <a:r>
              <a:t>¿El cálculo vuelve a la muestra original?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8600" y="4927600"/>
            <a:ext cx="9664700" cy="357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Revisa unidades, referencias, eficiencia y diluciones.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La banda final pierde la historia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[1–3].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16000" y="5143500"/>
            <a:ext cx="5969000" cy="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16000" y="1905000"/>
            <a:ext cx="0" cy="3238500"/>
          </a:xfrm>
          <a:prstGeom prst="line">
            <a:avLst/>
          </a:prstGeom>
          <a:ln w="25400">
            <a:solidFill>
              <a:srgbClr val="577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16000" y="5142269"/>
            <a:ext cx="139700" cy="44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55700" y="5141561"/>
            <a:ext cx="139700" cy="70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95400" y="5140447"/>
            <a:ext cx="139700" cy="111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435100" y="5138693"/>
            <a:ext cx="139700" cy="175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574800" y="5135935"/>
            <a:ext cx="139700" cy="275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14500" y="5131601"/>
            <a:ext cx="139700" cy="433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54200" y="5124800"/>
            <a:ext cx="139700" cy="680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993900" y="5114152"/>
            <a:ext cx="139700" cy="1064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33600" y="5097541"/>
            <a:ext cx="139700" cy="1661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73300" y="5071773"/>
            <a:ext cx="139700" cy="2576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13000" y="5032143"/>
            <a:ext cx="139700" cy="3963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52700" y="4971995"/>
            <a:ext cx="139700" cy="6014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692400" y="4882520"/>
            <a:ext cx="139700" cy="8947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832100" y="4753311"/>
            <a:ext cx="139700" cy="12920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71800" y="4574502"/>
            <a:ext cx="139700" cy="17880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111500" y="4341102"/>
            <a:ext cx="139700" cy="23340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251200" y="4058644"/>
            <a:ext cx="139700" cy="28245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390900" y="3746500"/>
            <a:ext cx="139700" cy="31214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0600" y="3434355"/>
            <a:ext cx="139700" cy="31214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670300" y="3151897"/>
            <a:ext cx="139700" cy="28245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10000" y="2918497"/>
            <a:ext cx="139700" cy="23340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949700" y="2739688"/>
            <a:ext cx="139700" cy="17880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089400" y="2610479"/>
            <a:ext cx="139700" cy="12920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229100" y="2521004"/>
            <a:ext cx="139700" cy="8947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368800" y="2460856"/>
            <a:ext cx="139700" cy="6014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508500" y="2421226"/>
            <a:ext cx="139700" cy="3963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648200" y="2395458"/>
            <a:ext cx="139700" cy="2576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787900" y="2378847"/>
            <a:ext cx="139700" cy="1661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927600" y="2368199"/>
            <a:ext cx="139700" cy="1064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67300" y="2361398"/>
            <a:ext cx="139700" cy="680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207000" y="2357064"/>
            <a:ext cx="139700" cy="433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346700" y="2354306"/>
            <a:ext cx="139700" cy="275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486400" y="2352552"/>
            <a:ext cx="139700" cy="175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626100" y="2351438"/>
            <a:ext cx="139700" cy="1114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765800" y="2350730"/>
            <a:ext cx="139700" cy="70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905500" y="2350281"/>
            <a:ext cx="139700" cy="449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045200" y="2349995"/>
            <a:ext cx="139700" cy="286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184900" y="2349814"/>
            <a:ext cx="139700" cy="181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324600" y="2349699"/>
            <a:ext cx="139700" cy="115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464300" y="2349626"/>
            <a:ext cx="139700" cy="73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016000" y="5143448"/>
            <a:ext cx="139700" cy="1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55700" y="5143419"/>
            <a:ext cx="139700" cy="2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295400" y="5143373"/>
            <a:ext cx="139700" cy="4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35100" y="5143300"/>
            <a:ext cx="139700" cy="73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574800" y="5143185"/>
            <a:ext cx="139700" cy="11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714500" y="5143004"/>
            <a:ext cx="139700" cy="18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854200" y="5142718"/>
            <a:ext cx="139700" cy="286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993900" y="5142269"/>
            <a:ext cx="139700" cy="44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133600" y="5141561"/>
            <a:ext cx="139700" cy="70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273300" y="5140447"/>
            <a:ext cx="139700" cy="111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413000" y="5138693"/>
            <a:ext cx="139700" cy="175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552700" y="5135935"/>
            <a:ext cx="139700" cy="275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692400" y="5131601"/>
            <a:ext cx="139700" cy="433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832100" y="5124800"/>
            <a:ext cx="139700" cy="680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971800" y="5114152"/>
            <a:ext cx="139700" cy="1064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111500" y="5097541"/>
            <a:ext cx="139700" cy="1661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251200" y="5071773"/>
            <a:ext cx="139700" cy="2576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390900" y="5032143"/>
            <a:ext cx="139700" cy="3963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530600" y="4971995"/>
            <a:ext cx="139700" cy="6014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670300" y="4882520"/>
            <a:ext cx="139700" cy="8947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810000" y="4753311"/>
            <a:ext cx="139700" cy="12920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949700" y="4574502"/>
            <a:ext cx="139700" cy="17880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089400" y="4341102"/>
            <a:ext cx="139700" cy="23340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29100" y="4058644"/>
            <a:ext cx="139700" cy="28245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68800" y="3746500"/>
            <a:ext cx="139700" cy="31214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508500" y="3434355"/>
            <a:ext cx="139700" cy="31214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648200" y="3151897"/>
            <a:ext cx="139700" cy="28245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7900" y="2918497"/>
            <a:ext cx="139700" cy="23340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927600" y="2739688"/>
            <a:ext cx="139700" cy="17880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067300" y="2610479"/>
            <a:ext cx="139700" cy="129209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207000" y="2521004"/>
            <a:ext cx="139700" cy="89475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346700" y="2460856"/>
            <a:ext cx="139700" cy="6014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486400" y="2421226"/>
            <a:ext cx="139700" cy="39630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626100" y="2395458"/>
            <a:ext cx="139700" cy="2576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765800" y="2378847"/>
            <a:ext cx="139700" cy="1661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905500" y="2368199"/>
            <a:ext cx="139700" cy="1064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045200" y="2361398"/>
            <a:ext cx="139700" cy="6801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184900" y="2357064"/>
            <a:ext cx="139700" cy="433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324600" y="2354306"/>
            <a:ext cx="139700" cy="2758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464300" y="2352552"/>
            <a:ext cx="139700" cy="1754"/>
          </a:xfrm>
          <a:prstGeom prst="line">
            <a:avLst/>
          </a:prstGeom>
          <a:ln w="381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238500" y="5232400"/>
            <a:ext cx="31750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Número de ciclos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3000" y="2222500"/>
            <a:ext cx="3810000" cy="451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DejaVu Sans"/>
              </a:defRPr>
            </a:pPr>
            <a:r>
              <a:t>Nₙ = N₀ (1 + E)ⁿ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3000" y="2984500"/>
            <a:ext cx="381000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Exponencial: conserva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diferencias.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Meseta: limita la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cuantificación.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La intensidad de una banda no sustituye una cuantificación validada.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PREPARACIÓN DE MUESTRA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Qué revisar según la muestra y el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[2,4,5].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2413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2184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Material / uso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600" y="1905000"/>
            <a:ext cx="42799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900" y="2006600"/>
            <a:ext cx="40513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Preparación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02500" y="1905000"/>
            <a:ext cx="42799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6800" y="2006600"/>
            <a:ext cx="40513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Cómo comprobar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24130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2184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ADN · PCR / Sanger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22600" y="2387600"/>
            <a:ext cx="42799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900" y="2476500"/>
            <a:ext cx="40513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Extraer; evitar degradación y arrastre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sales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2500" y="2387600"/>
            <a:ext cx="42799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6800" y="2476500"/>
            <a:ext cx="40513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Fluorometría + integridad; control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amplificación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075940"/>
            <a:ext cx="24130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164840"/>
            <a:ext cx="21844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ARN · RT-qPCR /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RNA-seq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2600" y="3075940"/>
            <a:ext cx="42799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900" y="3164840"/>
            <a:ext cx="40513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Extracción sin RNasas; DNasa si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corresponde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2500" y="3075940"/>
            <a:ext cx="42799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6800" y="3164840"/>
            <a:ext cx="40513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Integridad; control sin 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764279"/>
            <a:ext cx="24130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853179"/>
            <a:ext cx="2184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cfDNA · dPCR / 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22600" y="3764279"/>
            <a:ext cx="42799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6900" y="3853179"/>
            <a:ext cx="40513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Preservación y separación de plasma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validadas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2500" y="3764279"/>
            <a:ext cx="42799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6800" y="3853179"/>
            <a:ext cx="40513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Cantidad, tamaño y copias amplificables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452620"/>
            <a:ext cx="24130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4541520"/>
            <a:ext cx="21844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Ambiental ·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amplicones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22600" y="4452620"/>
            <a:ext cx="42799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36900" y="4541520"/>
            <a:ext cx="40513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Remover humatos y otros inhibidores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02500" y="4452620"/>
            <a:ext cx="42799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16800" y="4541520"/>
            <a:ext cx="40513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Blanco de extracción; control interno /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dilución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DISEÑO DE PRIMERS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Diseñar para la lectura que se necesita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[2,4–6].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2794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2565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Modalidad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3600" y="1905000"/>
            <a:ext cx="8178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7900" y="2006600"/>
            <a:ext cx="795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Diseño / validación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87600"/>
            <a:ext cx="2794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2476500"/>
            <a:ext cx="2565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Convencional / Sanger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3600" y="2387600"/>
            <a:ext cx="817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7900" y="2476500"/>
            <a:ext cx="795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Un producto limpio; tamaño según objetivo y calidad de molde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870200"/>
            <a:ext cx="2794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" y="2959100"/>
            <a:ext cx="2565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qPCR / RT-qPCR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2870200"/>
            <a:ext cx="817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7900" y="2959100"/>
            <a:ext cx="795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Amplicón corto (a menudo 70–200 pb); eficiencia y especificidad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352800"/>
            <a:ext cx="2794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441700"/>
            <a:ext cx="2565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dPCR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3600" y="3352800"/>
            <a:ext cx="817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7900" y="3441700"/>
            <a:ext cx="795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Diana corta; ausencia de polimorfismos en sitios de unión; clusters claros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835400"/>
            <a:ext cx="2794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900" y="3924300"/>
            <a:ext cx="2565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Multiplex / nested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3600" y="3835400"/>
            <a:ext cx="817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7900" y="3924300"/>
            <a:ext cx="795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Tm compatibles, sin interacciones; nested usa sitios internos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318000"/>
            <a:ext cx="2794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900" y="4406900"/>
            <a:ext cx="2565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NGS de amplicones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03600" y="4318000"/>
            <a:ext cx="817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7900" y="4406900"/>
            <a:ext cx="795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Cobertura de variantes; región 3′ específica y posibles colas 5′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CÁLCULOS DE PRIMERS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Preparar primers: del tubo seco al ensayo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[5]; ejemplo docente.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222500"/>
            <a:ext cx="2438400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2387600"/>
            <a:ext cx="254000" cy="254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806700"/>
            <a:ext cx="2082800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25 nmol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de oligo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86100" y="2921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14700" y="2857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14700" y="2921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4400" y="2222500"/>
            <a:ext cx="2438400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6800" y="2387600"/>
            <a:ext cx="254000" cy="2540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2200" y="2806700"/>
            <a:ext cx="2082800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250 µL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de diluyente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0900" y="2921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59500" y="2857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59500" y="2921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99200" y="2222500"/>
            <a:ext cx="2438400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1600" y="2387600"/>
            <a:ext cx="254000" cy="2540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0" y="2806700"/>
            <a:ext cx="2082800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Stock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100 µM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5700" y="2921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04300" y="2857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004300" y="2921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0" y="2222500"/>
            <a:ext cx="2438400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96400" y="2387600"/>
            <a:ext cx="254000" cy="254000"/>
          </a:xfrm>
          <a:prstGeom prst="ellipse">
            <a:avLst/>
          </a:prstGeom>
          <a:solidFill>
            <a:srgbClr val="DA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1800" y="2806700"/>
            <a:ext cx="2082800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Trabajo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10 µM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500" y="4114800"/>
            <a:ext cx="10414000" cy="419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Dilución 1:10: 10 µL de stock + 90 µL de diluyente.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500" y="4737100"/>
            <a:ext cx="10414000" cy="388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En 25 µL: V = (0,2 µM × 25 µL) / 10 µM = 0,5 µL por primer.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C₁V₁ = C₂V₂ · comprobar las unidades antes de pipetear.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PREPARACIÓN DE REACCIÓN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Qué aporta cada componente del master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[3,5].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032000"/>
            <a:ext cx="3488266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260600"/>
            <a:ext cx="3031066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Química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70200"/>
            <a:ext cx="3031066" cy="1200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Buffer y Mg²⁺: entorno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reacción.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dNTP: sustratos.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Polimerasa: síntesis.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1866" y="2032000"/>
            <a:ext cx="3488266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0466" y="2260600"/>
            <a:ext cx="3031066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Reconocimiento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0466" y="2870200"/>
            <a:ext cx="3031066" cy="919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Primers: delimitan diana.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Sonda: señal específica,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si la química la usa.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4133" y="2032000"/>
            <a:ext cx="3488266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2733" y="2260600"/>
            <a:ext cx="3031066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Entrada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2733" y="2870200"/>
            <a:ext cx="3031066" cy="1200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Molde: ADN o ADNc.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Agua: completa el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volumen.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RT: necesaria para ARN.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La mezcla maestra compartida reduce variación; el molde se añade por tubo.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MEZCLAS Y CÁLCULOS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Preparar una corrida completa sin perder volumen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Ejemplo docente; [5,6].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1816100"/>
            <a:ext cx="10795000" cy="4354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F86"/>
                </a:solidFill>
                <a:latin typeface="DejaVu Sans"/>
              </a:defRPr>
            </a:pPr>
            <a:r>
              <a:t>6 muestras × 2 + 2 NTC + 2 positivos = 16 reacciones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451100"/>
            <a:ext cx="50165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2552700"/>
            <a:ext cx="4787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Componente común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6100" y="2451100"/>
            <a:ext cx="2540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0400" y="25527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Por tubo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6100" y="2451100"/>
            <a:ext cx="34163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400" y="2552700"/>
            <a:ext cx="31877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Para 18 equivalentes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933700"/>
            <a:ext cx="50165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3022600"/>
            <a:ext cx="4787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Master mix 2×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6100" y="2933700"/>
            <a:ext cx="254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0400" y="30226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12,5 µL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6100" y="2933700"/>
            <a:ext cx="3416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400" y="3022600"/>
            <a:ext cx="31877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225 µL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416300"/>
            <a:ext cx="50165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3505200"/>
            <a:ext cx="4787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Forward 10 µM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6100" y="3416300"/>
            <a:ext cx="254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0400" y="35052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0,5 µL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66100" y="3416300"/>
            <a:ext cx="34163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0400" y="3505200"/>
            <a:ext cx="31877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9 µL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898900"/>
            <a:ext cx="50165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900" y="3987800"/>
            <a:ext cx="4787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Reverse 10 µM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6100" y="3898900"/>
            <a:ext cx="254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40400" y="39878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0,5 µL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6100" y="3898900"/>
            <a:ext cx="3416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0400" y="3987800"/>
            <a:ext cx="31877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9 µL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381500"/>
            <a:ext cx="50165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900" y="4470400"/>
            <a:ext cx="4787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Agua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6100" y="4381500"/>
            <a:ext cx="254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0400" y="44704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9,5 µL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6100" y="4381500"/>
            <a:ext cx="34163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0400" y="4470400"/>
            <a:ext cx="31877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171 µL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4864100"/>
            <a:ext cx="50165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900" y="4953000"/>
            <a:ext cx="4787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TOTAL sin molde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6100" y="4864100"/>
            <a:ext cx="254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40400" y="49530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23 µL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6100" y="4864100"/>
            <a:ext cx="34163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0400" y="4953000"/>
            <a:ext cx="31877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414 µL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Distribuir 23 µL; añadir 2 µL de muestra o control a cada tubo.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MEZCLAS Y CÁLCULOS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RT en dos pasos: seguir la masa, no solo el volumen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[2,5]; ejemplo para kit de RT de dos pasos.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841500"/>
            <a:ext cx="7366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1943100"/>
            <a:ext cx="713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Componente de 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5600" y="1841500"/>
            <a:ext cx="3606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9900" y="1943100"/>
            <a:ext cx="3378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Volumen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24100"/>
            <a:ext cx="7366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2413000"/>
            <a:ext cx="713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ARN 100 ng/µL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5600" y="2324100"/>
            <a:ext cx="3606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9900" y="2413000"/>
            <a:ext cx="3378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5 µL = 500 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806700"/>
            <a:ext cx="7366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" y="2895600"/>
            <a:ext cx="713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Buffer RT 5×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5600" y="2806700"/>
            <a:ext cx="3606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9900" y="2895600"/>
            <a:ext cx="3378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4 µL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289300"/>
            <a:ext cx="7366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378200"/>
            <a:ext cx="713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Mezcla RT + primers + dNTP*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5600" y="3289300"/>
            <a:ext cx="3606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9900" y="3378200"/>
            <a:ext cx="3378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 µL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771900"/>
            <a:ext cx="7366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900" y="3860800"/>
            <a:ext cx="713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Agua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5600" y="3771900"/>
            <a:ext cx="3606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9900" y="3860800"/>
            <a:ext cx="3378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10 µL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254500"/>
            <a:ext cx="7366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900" y="4343400"/>
            <a:ext cx="713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5600" y="4254500"/>
            <a:ext cx="3606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9900" y="4343400"/>
            <a:ext cx="3378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20 µL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500" y="4889500"/>
            <a:ext cx="10731500" cy="669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DejaVu Sans"/>
              </a:defRPr>
            </a:pPr>
            <a:r>
              <a:t>Diluir el ADNc 1:5 → 100 µL; 2 µL contienen el equivalente a 10 ng de ARN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DejaVu Sans"/>
              </a:defRPr>
            </a:pPr>
            <a:r>
              <a:t>inicial.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*Solo si la formulación del kit integra estos componentes; incluir un tubo −RT.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QPCR Y RT-QPCR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Dos maneras de producir fluorescencia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[1,2,6].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032000"/>
            <a:ext cx="5359400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260600"/>
            <a:ext cx="4902200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Colorante de ADN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70200"/>
            <a:ext cx="4902200" cy="919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Señal de todo ADN de doble hebra.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Menor costo; también detecta dímeros.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Revisar curva de fusión.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2032000"/>
            <a:ext cx="5359400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1600" y="2260600"/>
            <a:ext cx="4902200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Sonda de hidrólisis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00" y="2870200"/>
            <a:ext cx="4902200" cy="148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Oligo específico con reportero 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quencher.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La hidrólisis separa ambos y libera señal.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Facilita multiplex con fluoróforos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distintos.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Una sonda aporta reconocimiento adicional; también requiere validar especificidad.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MEZCLAS Y CÁLCULOS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qPCR y RT-qPCR: mezcla de lectura fluorescente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[2,6]; ejemplos docentes, concentraciones dependientes de kit.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5080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4851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20 µL de reacción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89600" y="1905000"/>
            <a:ext cx="29464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900" y="20066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Colorante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0" y="1905000"/>
            <a:ext cx="29464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0300" y="20066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Con sonda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508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4851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Mix específico 2×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9600" y="2387600"/>
            <a:ext cx="2946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3900" y="24765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10,0 µL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0" y="2387600"/>
            <a:ext cx="2946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0300" y="24765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10,0 µL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870200"/>
            <a:ext cx="508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2959100"/>
            <a:ext cx="4851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F + R, cada stock 10 µM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9600" y="2870200"/>
            <a:ext cx="29464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3900" y="29591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0,6 + 0,6 µL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36000" y="2870200"/>
            <a:ext cx="29464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300" y="29591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0,6 + 0,6 µL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352800"/>
            <a:ext cx="508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441700"/>
            <a:ext cx="4851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Sonda 10 µM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89600" y="3352800"/>
            <a:ext cx="2946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3900" y="34417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36000" y="3352800"/>
            <a:ext cx="2946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0300" y="34417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0,4 µL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835400"/>
            <a:ext cx="508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3924300"/>
            <a:ext cx="4851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ADN o ADNc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89600" y="3835400"/>
            <a:ext cx="29464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3900" y="39243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2,0 µL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36000" y="3835400"/>
            <a:ext cx="29464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0300" y="39243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2,0 µL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318000"/>
            <a:ext cx="508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4406900"/>
            <a:ext cx="4851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Agua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89600" y="4318000"/>
            <a:ext cx="2946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3900" y="44069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6,8 µL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36000" y="4318000"/>
            <a:ext cx="29464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50300" y="4406900"/>
            <a:ext cx="27178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6,4 µL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Finales: mix 1×; cada primer 300 nM; sonda, si corresponde, 200 nM.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MEZCLAS Y CÁLCULOS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982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RT-qPCR en un paso: sumar RT sin duplicar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[2,3]; ejemplo docente para un kit de RT separado.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5080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485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Componente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689600" y="1905000"/>
            <a:ext cx="2667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900" y="2006600"/>
            <a:ext cx="2438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Volumen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6600" y="1905000"/>
            <a:ext cx="3225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0900" y="2006600"/>
            <a:ext cx="2997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Concentración final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508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485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PCR mix con sonda, 2×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9600" y="2387600"/>
            <a:ext cx="2667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3900" y="2476500"/>
            <a:ext cx="2438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10,0 µL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6600" y="2387600"/>
            <a:ext cx="3225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0900" y="2476500"/>
            <a:ext cx="2997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870200"/>
            <a:ext cx="508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2959100"/>
            <a:ext cx="485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Mezcla RT, 20×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9600" y="2870200"/>
            <a:ext cx="2667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3900" y="2959100"/>
            <a:ext cx="2438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1,0 µL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56600" y="2870200"/>
            <a:ext cx="3225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0900" y="2959100"/>
            <a:ext cx="2997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352800"/>
            <a:ext cx="508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441700"/>
            <a:ext cx="485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F + R, stocks 10 µM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89600" y="3352800"/>
            <a:ext cx="2667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3900" y="3441700"/>
            <a:ext cx="2438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0,6 + 0,6 µL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6600" y="3352800"/>
            <a:ext cx="3225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0900" y="3441700"/>
            <a:ext cx="2997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300 nM cada uno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835400"/>
            <a:ext cx="508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3924300"/>
            <a:ext cx="485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Sonda 10 µM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89600" y="3835400"/>
            <a:ext cx="2667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3900" y="3924300"/>
            <a:ext cx="2438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0,4 µL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56600" y="3835400"/>
            <a:ext cx="3225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0900" y="3924300"/>
            <a:ext cx="2997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200 nM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318000"/>
            <a:ext cx="508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4406900"/>
            <a:ext cx="485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89600" y="4318000"/>
            <a:ext cx="2667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3900" y="4406900"/>
            <a:ext cx="2438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2,0 µL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56600" y="4318000"/>
            <a:ext cx="3225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0900" y="4406900"/>
            <a:ext cx="2997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Según concentración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800600"/>
            <a:ext cx="508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900" y="4889500"/>
            <a:ext cx="485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Agua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89600" y="4800600"/>
            <a:ext cx="2667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03900" y="4889500"/>
            <a:ext cx="2438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5,4 µL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56600" y="4800600"/>
            <a:ext cx="3225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0900" y="4889500"/>
            <a:ext cx="2997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Total: 20 µL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MEZCLAS Y CÁLCULOS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dPCR: ejemplo de mezcla para 20 µL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[4,8]; ejemplo docente para química de sonda.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5334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510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Reactivo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905000"/>
            <a:ext cx="2540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7900" y="20066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Volumen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83600" y="1905000"/>
            <a:ext cx="3098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7900" y="2006600"/>
            <a:ext cx="287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Final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5334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510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Mix dPCR 2×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387600"/>
            <a:ext cx="254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7900" y="24765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10,0 µL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83600" y="2387600"/>
            <a:ext cx="309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7900" y="2476500"/>
            <a:ext cx="287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1×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870200"/>
            <a:ext cx="5334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2959100"/>
            <a:ext cx="510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Forward 20 µM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870200"/>
            <a:ext cx="254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7900" y="29591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0,9 µL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83600" y="2870200"/>
            <a:ext cx="309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7900" y="2959100"/>
            <a:ext cx="287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900 nM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352800"/>
            <a:ext cx="5334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441700"/>
            <a:ext cx="510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Reverse 20 µM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352800"/>
            <a:ext cx="254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7900" y="34417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0,9 µL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83600" y="3352800"/>
            <a:ext cx="309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7900" y="3441700"/>
            <a:ext cx="287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900 nM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835400"/>
            <a:ext cx="5334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3924300"/>
            <a:ext cx="510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Sonda 10 µM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35400"/>
            <a:ext cx="254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7900" y="39243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0,5 µL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83600" y="3835400"/>
            <a:ext cx="309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7900" y="3924300"/>
            <a:ext cx="287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250 nM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318000"/>
            <a:ext cx="5334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4406900"/>
            <a:ext cx="510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ADN diluido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318000"/>
            <a:ext cx="254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7900" y="44069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4,0 µL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83600" y="4318000"/>
            <a:ext cx="309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7900" y="4406900"/>
            <a:ext cx="287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Entrada validada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800600"/>
            <a:ext cx="5334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900" y="4889500"/>
            <a:ext cx="510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Agua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4800600"/>
            <a:ext cx="254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57900" y="4889500"/>
            <a:ext cx="231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3,7 µL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83600" y="4800600"/>
            <a:ext cx="309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7900" y="4889500"/>
            <a:ext cx="287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Total: 20 µL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INTERPRETACIÓN DE DPCR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Rara no significa imposible de muestrear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[4,8].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032000"/>
            <a:ext cx="3488266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260600"/>
            <a:ext cx="3031066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Ejemplo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70200"/>
            <a:ext cx="3031066" cy="1200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Frecuencia = 0,1 %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Entrada = 1 000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moléculas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Mutantes esperados 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1866" y="2032000"/>
            <a:ext cx="3488266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0466" y="2260600"/>
            <a:ext cx="3031066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Muestreo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0466" y="2870200"/>
            <a:ext cx="3031066" cy="9197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P(al menos 1) = 1 − e⁻¹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≈ 63,2 %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Un negativo es posible.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4133" y="2032000"/>
            <a:ext cx="3488266" cy="311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2733" y="2260600"/>
            <a:ext cx="3031066" cy="404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Diseño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2733" y="2870200"/>
            <a:ext cx="3031066" cy="148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≈ 3 000 moléculas dan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95 % de probabilidad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incluir ≥1 mutante.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No equivale al LOD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443"/>
                </a:solidFill>
                <a:latin typeface="DejaVu Sans"/>
              </a:defRPr>
            </a:pPr>
            <a:r>
              <a:t>validado.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ESTRATEGIAS COMBINABLES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Multiplex: varias dianas comparten un tubo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[3,5].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41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2006600"/>
            <a:ext cx="254000" cy="254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425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Diana 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F₁ + R₁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4366" y="2540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62966" y="2476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62966" y="2540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02666" y="1841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5066" y="2006600"/>
            <a:ext cx="254000" cy="2540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0466" y="2425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Diana B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F₂ + R₂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27433" y="2540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6033" y="2476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056033" y="2540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95733" y="1841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8133" y="2006600"/>
            <a:ext cx="254000" cy="2540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3533" y="2425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Diana 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F₃ + R₃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708400"/>
            <a:ext cx="10668000" cy="7635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Ejemplo final de 25 µL: mix 2× 12,5 + 6 primers × 0,5 + ADN 2 +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agua 7,5 = 25 µL.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711700"/>
            <a:ext cx="106680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Cada primer stock 10 µM → 0,2 µM final. La competencia puede sesgar las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abundancias.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Aplicación: paneles y secuenciación dirigida; amplificar más dianas exige balancearlas.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ESTRATEGIAS COMBINABLES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Nested: dos rondas para mejorar especificidad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[3,5].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050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2070100"/>
            <a:ext cx="254000" cy="254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4892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Ronda 1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primers externos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4366" y="26035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62966" y="2540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62966" y="2603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02666" y="19050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5066" y="2070100"/>
            <a:ext cx="254000" cy="2540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0466" y="24892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Diluir producto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1:100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27433" y="26035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6033" y="2540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056033" y="2603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95733" y="19050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8133" y="2070100"/>
            <a:ext cx="254000" cy="2540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3533" y="24892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Ronda 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primers internos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06500" y="3873500"/>
            <a:ext cx="33020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06500" y="4064000"/>
            <a:ext cx="33020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954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605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256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907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558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209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860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511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162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813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464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115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2766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4417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068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719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370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021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672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4323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20000" y="3873500"/>
            <a:ext cx="2032000" cy="0"/>
          </a:xfrm>
          <a:prstGeom prst="line">
            <a:avLst/>
          </a:prstGeom>
          <a:ln w="508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20000" y="4064000"/>
            <a:ext cx="2032000" cy="0"/>
          </a:xfrm>
          <a:prstGeom prst="line">
            <a:avLst/>
          </a:prstGeom>
          <a:ln w="50800">
            <a:solidFill>
              <a:srgbClr val="427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089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740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391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042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693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344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995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8646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0297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1948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599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25000" y="3873500"/>
            <a:ext cx="0" cy="190500"/>
          </a:xfrm>
          <a:prstGeom prst="line">
            <a:avLst/>
          </a:prstGeom>
          <a:ln w="25400">
            <a:solidFill>
              <a:srgbClr val="DF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62000" y="4508500"/>
            <a:ext cx="106680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Dilución: 2 µL de producto + 198 µL de agua. Transferir 2 µL equivale a 0,02 µL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del producto inicial.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Más manipulación y contaminación potencial; el resultado final no es cuantificación inicial.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ESTRATEGIAS COMBINABLES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Hot-start, touchdown y alta fidelidad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[3,5].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2413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2184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Estrategia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22600" y="1905000"/>
            <a:ext cx="3429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900" y="2006600"/>
            <a:ext cx="3200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Qué cambia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1600" y="1905000"/>
            <a:ext cx="5130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900" y="2006600"/>
            <a:ext cx="4902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Ejemplo de cálculo / preparación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2413000" cy="719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2184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Hot-start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22600" y="2387600"/>
            <a:ext cx="3429000" cy="719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900" y="2476500"/>
            <a:ext cx="32004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Reduce actividad a baja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temperatura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1600" y="2387600"/>
            <a:ext cx="5130800" cy="719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900" y="2476500"/>
            <a:ext cx="49022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La receta base no cambia si el mix es 2×;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añadir activación indicada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107436"/>
            <a:ext cx="2413000" cy="719836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196336"/>
            <a:ext cx="2184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Touchdown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2600" y="3107436"/>
            <a:ext cx="3429000" cy="719836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900" y="3196336"/>
            <a:ext cx="3200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Cambia el programa térmico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1600" y="3107436"/>
            <a:ext cx="5130800" cy="719836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900" y="3196336"/>
            <a:ext cx="49022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68 → 60 °C en 9 ciclos, bajando 1 °C/ciclo;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luego ciclos a 60 °C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827272"/>
            <a:ext cx="2413000" cy="719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916172"/>
            <a:ext cx="21844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Alta fidelidad /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long-range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22600" y="3827272"/>
            <a:ext cx="3429000" cy="719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6900" y="3916172"/>
            <a:ext cx="3200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Enzima, buffer y extensión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1600" y="3827272"/>
            <a:ext cx="5130800" cy="7198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900" y="3916172"/>
            <a:ext cx="49022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25 µL: mix 2× 12,5 + F/R 0,5 cada uno + ADN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2 + agua 9,5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Alta fidelidad: preferible al preparar insertos o amplicones destinados a secuenciación.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PERSPECTIVA HISTÓRICA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982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PCR competitiva: el puente histórico hacia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cuantificar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Orlando, Pinzani y Pazzagli 1998 [1].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841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2006600"/>
            <a:ext cx="254000" cy="254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425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Diana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desconocida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4366" y="2540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62966" y="2476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62966" y="2540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02666" y="1841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5066" y="2006600"/>
            <a:ext cx="254000" cy="2540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0466" y="2425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Competidor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conocido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27433" y="2540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6033" y="2476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056033" y="2540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95733" y="1841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8133" y="2006600"/>
            <a:ext cx="254000" cy="2540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3533" y="2425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Mismos primers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coamplificación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746500"/>
            <a:ext cx="10668000" cy="372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443"/>
                </a:solidFill>
                <a:latin typeface="DejaVu Sans"/>
              </a:defRPr>
            </a:pPr>
            <a:r>
              <a:t>En 25 µL: mix 12,5 + F/R 0,5 cada uno + diana 2 + competidor 1 + agua 8 = 25 µL.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508500"/>
            <a:ext cx="10668000" cy="7322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Con razón molar diana/competidor = 2 y 1 000 copias de competidor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DejaVu Sans"/>
              </a:defRPr>
            </a:pPr>
            <a:r>
              <a:t>→ ≈ 2 000 copias de diana.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Hoy tiene un papel principalmente histórico y especializado; no equivale a qPCR moderna.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CONEXIÓN CON SECUENCIACIÓN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PCR y secuenciación responden preguntas distintas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[3–5]; Brown, Gene Cloning and DNA Analysis, 8.ª ed., 2020 [9].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222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2387600"/>
            <a:ext cx="254000" cy="254000"/>
          </a:xfrm>
          <a:prstGeom prst="ellipse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806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PCR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Enriquecer diana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4366" y="2921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62966" y="2857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62966" y="2921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02666" y="2222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5066" y="2387600"/>
            <a:ext cx="254000" cy="254000"/>
          </a:xfrm>
          <a:prstGeom prst="ellipse">
            <a:avLst/>
          </a:prstGeom>
          <a:solidFill>
            <a:srgbClr val="427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0466" y="2806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Secuenciación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Leer bases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27433" y="2921000"/>
            <a:ext cx="31750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6033" y="28575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056033" y="2921000"/>
            <a:ext cx="88900" cy="6350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95733" y="2222500"/>
            <a:ext cx="3386666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48133" y="2387600"/>
            <a:ext cx="254000" cy="254000"/>
          </a:xfrm>
          <a:prstGeom prst="ellipse">
            <a:avLst/>
          </a:prstGeom>
          <a:solidFill>
            <a:srgbClr val="806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3533" y="2806700"/>
            <a:ext cx="3031066" cy="6073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Bioinformática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443"/>
                </a:solidFill>
                <a:latin typeface="DejaVu Sans"/>
              </a:defRPr>
            </a:pPr>
            <a:r>
              <a:t>Interpretar variantes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00" y="4178300"/>
            <a:ext cx="4953000" cy="7635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qPCR / dPCR: ¿cuánto hay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DejaVu Sans"/>
              </a:defRPr>
            </a:pPr>
            <a:r>
              <a:t>una diana conocida?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4178300"/>
            <a:ext cx="4953000" cy="7635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276C8"/>
                </a:solidFill>
                <a:latin typeface="DejaVu Sans"/>
              </a:defRPr>
            </a:pPr>
            <a:r>
              <a:t>Secuenciación: ¿qué secuencia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276C8"/>
                </a:solidFill>
                <a:latin typeface="DejaVu Sans"/>
              </a:defRPr>
            </a:pPr>
            <a:r>
              <a:t>y qué variantes contiene?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La PCR no descubre por sí sola variantes fuera de las regiones que reconoce el ensayo.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MEZCLAS Y CÁLCULOS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Ejemplo de PCR de índices para una biblioteca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[5,9]; ejemplo de formulación docente, no protocolo de plataforma.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5588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5359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PCR de índices · 25 µL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7600" y="1905000"/>
            <a:ext cx="2286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1900" y="2006600"/>
            <a:ext cx="205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Volumen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83600" y="1905000"/>
            <a:ext cx="3098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7900" y="2006600"/>
            <a:ext cx="287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Final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5588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5359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Mix de alta fidelidad 2×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7600" y="2387600"/>
            <a:ext cx="2286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1900" y="2476500"/>
            <a:ext cx="205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12,5 µL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83600" y="2387600"/>
            <a:ext cx="309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7900" y="2476500"/>
            <a:ext cx="287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870200"/>
            <a:ext cx="5588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2959100"/>
            <a:ext cx="5359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Primer índice F 10 µM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7600" y="2870200"/>
            <a:ext cx="2286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1900" y="2959100"/>
            <a:ext cx="205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1,25 µL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83600" y="2870200"/>
            <a:ext cx="309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7900" y="2959100"/>
            <a:ext cx="287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0,5 µM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352800"/>
            <a:ext cx="5588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441700"/>
            <a:ext cx="5359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Primer índice R 10 µM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7600" y="3352800"/>
            <a:ext cx="2286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1900" y="3441700"/>
            <a:ext cx="205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1,25 µL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83600" y="3352800"/>
            <a:ext cx="309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7900" y="3441700"/>
            <a:ext cx="287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0,5 µM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835400"/>
            <a:ext cx="5588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3924300"/>
            <a:ext cx="5359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Amplicón purificado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7600" y="3835400"/>
            <a:ext cx="2286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1900" y="3924300"/>
            <a:ext cx="205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5,0 µL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83600" y="3835400"/>
            <a:ext cx="309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7900" y="3924300"/>
            <a:ext cx="287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Cantidad validada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318000"/>
            <a:ext cx="5588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4406900"/>
            <a:ext cx="5359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Agua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318000"/>
            <a:ext cx="2286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1900" y="4406900"/>
            <a:ext cx="20574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5,0 µL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83600" y="4318000"/>
            <a:ext cx="309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7900" y="4406900"/>
            <a:ext cx="2870200" cy="326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443"/>
                </a:solidFill>
                <a:latin typeface="DejaVu Sans"/>
              </a:defRPr>
            </a:pPr>
            <a:r>
              <a:t>Total: 25 µL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El índice identifica una muestra; no identifica automáticamente cada molécula original.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CÁLCULOS PARA SECUENCIACIÓN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Normalizar bibliotecas por moléculas, no por masa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[5,9]; ejemplo para ADN de doble hebra.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1816100"/>
            <a:ext cx="10795000" cy="451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DejaVu Sans"/>
              </a:defRPr>
            </a:pPr>
            <a:r>
              <a:t>nM = [ng/µL × 10⁶] / [660 × longitud total en pb]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730500"/>
            <a:ext cx="23495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2832100"/>
            <a:ext cx="2120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Biblioteca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9100" y="2730500"/>
            <a:ext cx="31115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3400" y="2832100"/>
            <a:ext cx="2882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Concentración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0600" y="2730500"/>
            <a:ext cx="2921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4900" y="2832100"/>
            <a:ext cx="26924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Longitud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1600" y="2730500"/>
            <a:ext cx="2590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2832100"/>
            <a:ext cx="23622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Molaridad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213100"/>
            <a:ext cx="2349500" cy="483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3302000"/>
            <a:ext cx="2120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59100" y="3213100"/>
            <a:ext cx="3111500" cy="483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3400" y="3302000"/>
            <a:ext cx="2882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10 ng/µL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0600" y="3213100"/>
            <a:ext cx="2921000" cy="483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4900" y="3302000"/>
            <a:ext cx="26924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500 pb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1600" y="3213100"/>
            <a:ext cx="2590800" cy="483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5900" y="3302000"/>
            <a:ext cx="23622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30,3 nM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696716"/>
            <a:ext cx="2349500" cy="483616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900" y="3785616"/>
            <a:ext cx="2120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9100" y="3696716"/>
            <a:ext cx="3111500" cy="483616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73400" y="3785616"/>
            <a:ext cx="28829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10 ng/µL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70600" y="3696716"/>
            <a:ext cx="2921000" cy="483616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4900" y="3785616"/>
            <a:ext cx="26924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1 000 pb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1600" y="3696716"/>
            <a:ext cx="2590800" cy="483616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5900" y="3785616"/>
            <a:ext cx="2362200" cy="341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443"/>
                </a:solidFill>
                <a:latin typeface="DejaVu Sans"/>
              </a:defRPr>
            </a:pPr>
            <a:r>
              <a:t>15,15 nM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500" y="4495800"/>
            <a:ext cx="10795000" cy="701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Para 20 µL de A a 4 nM: V₁ = (4 × 20) / 30,3 = 2,64 µL; añadir 17,36 µL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443"/>
                </a:solidFill>
                <a:latin typeface="DejaVu Sans"/>
              </a:defRPr>
            </a:pPr>
            <a:r>
              <a:t>diluyente.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Para aportar las mismas moléculas sin diluir: volumen B = 2 × volumen 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INTERPRETACIÓN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Errores que la secuenciación también hereda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[3–5,9].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2794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256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3600" y="1905000"/>
            <a:ext cx="38100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7900" y="2006600"/>
            <a:ext cx="358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Consecuencia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13600" y="1905000"/>
            <a:ext cx="4368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7900" y="2006600"/>
            <a:ext cx="414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Qué revisar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2794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256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Desajuste de primer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2387600"/>
            <a:ext cx="38100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7900" y="2476500"/>
            <a:ext cx="358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Pérdida de alelo / taxón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3600" y="2387600"/>
            <a:ext cx="4368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7900" y="2476500"/>
            <a:ext cx="414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Variantes en sitios de unión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870200"/>
            <a:ext cx="27940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2959100"/>
            <a:ext cx="256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Demasiados ciclos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3600" y="2870200"/>
            <a:ext cx="38100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7900" y="2959100"/>
            <a:ext cx="358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Quimeras y duplicados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3600" y="2870200"/>
            <a:ext cx="43688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7900" y="2959100"/>
            <a:ext cx="41402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Entrada suficiente; ciclos mínimos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validados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558540"/>
            <a:ext cx="27940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647440"/>
            <a:ext cx="256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Error de polimerasa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3600" y="3558540"/>
            <a:ext cx="38100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7900" y="3647440"/>
            <a:ext cx="358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Variantes aparentes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13600" y="3558540"/>
            <a:ext cx="43688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27900" y="3647440"/>
            <a:ext cx="41402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Alta fidelidad y confirmación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independiente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246880"/>
            <a:ext cx="2794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4335780"/>
            <a:ext cx="256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Contaminación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3600" y="4246880"/>
            <a:ext cx="38100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7900" y="4335780"/>
            <a:ext cx="358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Lecturas ajenas a la muestra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13600" y="4246880"/>
            <a:ext cx="4368800" cy="48260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7900" y="4335780"/>
            <a:ext cx="4140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Blancos y separación pre/post-PCR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729480"/>
            <a:ext cx="27940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4818380"/>
            <a:ext cx="2565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PCR desbalanceada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3600" y="4729480"/>
            <a:ext cx="38100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17900" y="4818380"/>
            <a:ext cx="35814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Abundancias distorsionadas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3600" y="4729480"/>
            <a:ext cx="43688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7900" y="4818380"/>
            <a:ext cx="41402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Validación de multiplex; controles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composición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600" y="5689600"/>
            <a:ext cx="10972800" cy="571500"/>
          </a:xfrm>
          <a:prstGeom prst="roundRect">
            <a:avLst/>
          </a:prstGeom>
          <a:solidFill>
            <a:srgbClr val="E1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" y="5816600"/>
            <a:ext cx="105791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DejaVu Sans"/>
              </a:defRPr>
            </a:pPr>
            <a:r>
              <a:t>Un UMI ayuda a rastrear moléculas si se incorpora antes de la amplificación relevante.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BIBLIOGRAFÍA COMENTADA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Lectura crítica de los cuatro artículos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[1–4].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05000"/>
            <a:ext cx="28575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006600"/>
            <a:ext cx="2628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Fuente 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7100" y="1905000"/>
            <a:ext cx="41275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1400" y="2006600"/>
            <a:ext cx="3898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Aporte a esta clase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94600" y="1905000"/>
            <a:ext cx="3987800" cy="482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900" y="2006600"/>
            <a:ext cx="37592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Cómo contextualizarla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387600"/>
            <a:ext cx="28575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476500"/>
            <a:ext cx="2628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Orlando et al., 1998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7100" y="2387600"/>
            <a:ext cx="41275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1400" y="2476500"/>
            <a:ext cx="38989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Competidores, calibración y primeras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sondas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94600" y="2387600"/>
            <a:ext cx="39878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900" y="2476500"/>
            <a:ext cx="37592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Perspectiva histórica; no protocolo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moderno universal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075940"/>
            <a:ext cx="28575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164840"/>
            <a:ext cx="2628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Bustin y Mueller, 2005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67100" y="3075940"/>
            <a:ext cx="41275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1400" y="3164840"/>
            <a:ext cx="38989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RT-qPCR; aplicaciones y límites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diagnósticos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94600" y="3075940"/>
            <a:ext cx="39878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8900" y="3164840"/>
            <a:ext cx="37592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Complementar con criterios 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validación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764279"/>
            <a:ext cx="28575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853179"/>
            <a:ext cx="2628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Zhu et al., 2020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7100" y="3764279"/>
            <a:ext cx="41275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1400" y="3853179"/>
            <a:ext cx="38989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Panorama PCR, multiplex, microfluídica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y POC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4600" y="3764279"/>
            <a:ext cx="3987800" cy="688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900" y="3853179"/>
            <a:ext cx="37592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No todas las mejoras se aplican a toda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muestra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452620"/>
            <a:ext cx="28575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4541520"/>
            <a:ext cx="2628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Trouchet et al., 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7100" y="4452620"/>
            <a:ext cx="41275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1400" y="4541520"/>
            <a:ext cx="3898900" cy="310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dPCR, clínica y relación con 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94600" y="4452620"/>
            <a:ext cx="3987800" cy="688340"/>
          </a:xfrm>
          <a:prstGeom prst="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08900" y="4541520"/>
            <a:ext cx="3759200" cy="544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Interpretar sensibilidad con entrada 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443"/>
                </a:solidFill>
                <a:latin typeface="DejaVu Sans"/>
              </a:defRPr>
            </a:pPr>
            <a:r>
              <a:t>validación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ARTÍCULOS DE BASE Y LIBRO DE CONSULTA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Referencias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[1–4] Artículos adjuntos · [10–11] Actualizaciones metodológicas.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1765300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t>[1] Orlando C, Pinzani P, Pazzagli M (1998).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2047494"/>
            <a:ext cx="5219700" cy="4823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Developments in Quantitative PCR. Clin Chem Lab Med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36:255–269.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2745740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3"/>
              </a:rPr>
              <a:t>[2] Bustin SA, Mueller R (2005).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3027934"/>
            <a:ext cx="5219700" cy="4823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3"/>
              </a:rPr>
              <a:t>Real-time reverse transcription PCR (qRT-PCR) and its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3"/>
              </a:rPr>
              <a:t>potential use in clinical diagnosis. Clin Sci 109:365–379.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3497579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3"/>
              </a:rPr>
              <a:t>DOI: 10.1042/CS20050086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3921442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4"/>
              </a:rPr>
              <a:t>[3] Zhu H et al. (2020).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4203636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4"/>
              </a:rPr>
              <a:t>PCR past, present and future. BioTechniques 69:317–325.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4470209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4"/>
              </a:rPr>
              <a:t>DOI: 10.2144/btn-2020-0057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1765300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5"/>
              </a:rPr>
              <a:t>[4] Trouchet A et al. (2025).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047494"/>
            <a:ext cx="5219700" cy="4823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5"/>
              </a:rPr>
              <a:t>Digital PCR: from early developments to its future application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5"/>
              </a:rPr>
              <a:t>in clinics. Lab Chip 25:3921–3961.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517140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5"/>
              </a:rPr>
              <a:t>DOI: 10.1039/d5lc00055f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2941002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t>[5] Green MR, Sambrook J (2012).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223196"/>
            <a:ext cx="5219700" cy="4823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Molecular Cloning: A Laboratory Manual. 4.ª ed. Cold Spring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Harbor Laboratory Press.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30200"/>
            <a:ext cx="1098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CUANTIFICACIÓN, VALIDACIÓN Y ACTUALIZACIÓN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3100"/>
            <a:ext cx="10972800" cy="5292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43"/>
                </a:solidFill>
                <a:latin typeface="DejaVu Sans"/>
              </a:defRPr>
            </a:pPr>
            <a:r>
              <a:t>Referencias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502400"/>
            <a:ext cx="1022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7717D"/>
                </a:solidFill>
                <a:latin typeface="DejaVu Sans"/>
              </a:defRPr>
            </a:pPr>
            <a:r>
              <a:t>[1–4] Artículos adjuntos · [10–11] Actualizaciones metodológicas.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6464300"/>
            <a:ext cx="50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DejaVu Sans"/>
              </a:defRPr>
            </a:pPr>
            <a: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1765300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3"/>
              </a:rPr>
              <a:t>[6] Bustin SA et al. (2009).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2047494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3"/>
              </a:rPr>
              <a:t>The MIQE guidelines. Clin Chem 55:611–622.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100" y="2314067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3"/>
              </a:rPr>
              <a:t>DOI: 10.1373/clinchem.2008.112797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100" y="2737929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4"/>
              </a:rPr>
              <a:t>[7] Livak KJ, Schmittgen TD (2001).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" y="3020123"/>
            <a:ext cx="5219700" cy="6854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4"/>
              </a:rPr>
              <a:t>Analysis of relative gene expression data using real-time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4"/>
              </a:rPr>
              <a:t>quantitative PCR and the 2−ΔΔCT method. Methods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4"/>
              </a:rPr>
              <a:t>25:402–408.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3692842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4"/>
              </a:rPr>
              <a:t>DOI: 10.1006/meth.2001.1262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" y="4116704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5"/>
              </a:rPr>
              <a:t>[8] Huggett JF et al. (2013).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100" y="4398899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5"/>
              </a:rPr>
              <a:t>The digital MIQE guidelines. Clin Chem 59:892–902.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4665472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5"/>
              </a:rPr>
              <a:t>DOI: 10.1373/clinchem.2013.206375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1765300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t>[9] Brown TA (2020).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047494"/>
            <a:ext cx="5219700" cy="4823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Gene Cloning and DNA Analysis: An Introduction. 8.ª 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t>Wiley-Blackwell.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2745740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6"/>
              </a:rPr>
              <a:t>[10] Bustin SA et al. (2025).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027934"/>
            <a:ext cx="5219700" cy="6854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6"/>
              </a:rPr>
              <a:t>MIQE 2.0: Revision of the Minimum Information for Publication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6"/>
              </a:rPr>
              <a:t>of Quantitative Real-Time PCR Experiments Guidelines. Clin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6"/>
              </a:rPr>
              <a:t>Chem 71:634–651.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3700653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6"/>
              </a:rPr>
              <a:t>DOI: 10.1093/clinchem/hvaf043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4124515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DejaVu Sans"/>
              </a:defRPr>
            </a:pPr>
            <a:r>
              <a:rPr>
                <a:hlinkClick r:id="rId7"/>
              </a:rPr>
              <a:t>[11] The dMIQE Group, Huggett JF (2020).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4406709"/>
            <a:ext cx="5219700" cy="6854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7"/>
              </a:rPr>
              <a:t>The Digital MIQE Guidelines Update: Minimum Information for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7"/>
              </a:rPr>
              <a:t>Publication of Quantitative Digital PCR Experiments for 2020.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3443"/>
                </a:solidFill>
                <a:latin typeface="DejaVu Sans"/>
              </a:defRPr>
            </a:pPr>
            <a:r>
              <a:rPr>
                <a:hlinkClick r:id="rId7"/>
              </a:rPr>
              <a:t>Clin Chem 66:1012–1029.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5079428"/>
            <a:ext cx="52197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57717D"/>
                </a:solidFill>
                <a:latin typeface="DejaVu Sans"/>
              </a:defRPr>
            </a:pPr>
            <a:r>
              <a:rPr>
                <a:hlinkClick r:id="rId7"/>
              </a:rPr>
              <a:t>DOI: 10.1093/clinchem/hvaa125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