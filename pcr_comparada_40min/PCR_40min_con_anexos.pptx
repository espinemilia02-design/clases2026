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8" r:id="rId10"/>
    <p:sldId id="259" r:id="rId11"/>
    <p:sldId id="261" r:id="rId13"/>
    <p:sldId id="263" r:id="rId15"/>
    <p:sldId id="264" r:id="rId16"/>
    <p:sldId id="268" r:id="rId20"/>
    <p:sldId id="270" r:id="rId22"/>
    <p:sldId id="271" r:id="rId23"/>
    <p:sldId id="273" r:id="rId25"/>
    <p:sldId id="277" r:id="rId29"/>
    <p:sldId id="278" r:id="rId30"/>
    <p:sldId id="279" r:id="rId31"/>
    <p:sldId id="281" r:id="rId33"/>
    <p:sldId id="287" r:id="rId39"/>
    <p:sldId id="289" r:id="rId41"/>
    <p:sldId id="290" r:id="rId42"/>
    <p:sldId id="293" r:id="rId45"/>
    <p:sldId id="295" r:id="rId47"/>
    <p:sldId id="296" r:id="rId48"/>
    <p:sldId id="257" r:id="rId9"/>
    <p:sldId id="260" r:id="rId12"/>
    <p:sldId id="262" r:id="rId14"/>
    <p:sldId id="265" r:id="rId17"/>
    <p:sldId id="266" r:id="rId18"/>
    <p:sldId id="267" r:id="rId19"/>
    <p:sldId id="269" r:id="rId21"/>
    <p:sldId id="272" r:id="rId24"/>
    <p:sldId id="274" r:id="rId26"/>
    <p:sldId id="275" r:id="rId27"/>
    <p:sldId id="276" r:id="rId28"/>
    <p:sldId id="280" r:id="rId32"/>
    <p:sldId id="282" r:id="rId34"/>
    <p:sldId id="283" r:id="rId35"/>
    <p:sldId id="284" r:id="rId36"/>
    <p:sldId id="285" r:id="rId37"/>
    <p:sldId id="286" r:id="rId38"/>
    <p:sldId id="288" r:id="rId40"/>
    <p:sldId id="291" r:id="rId43"/>
    <p:sldId id="292" r:id="rId44"/>
    <p:sldId id="294" r:id="rId46"/>
    <p:sldId id="297" r:id="rId49"/>
    <p:sldId id="298" r:id="rId50"/>
    <p:sldId id="299" r:id="rId5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22.xml"/><Relationship Id="rId13" Type="http://schemas.openxmlformats.org/officeDocument/2006/relationships/slide" Target="slides/slide4.xml"/><Relationship Id="rId14" Type="http://schemas.openxmlformats.org/officeDocument/2006/relationships/slide" Target="slides/slide23.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24.xml"/><Relationship Id="rId18" Type="http://schemas.openxmlformats.org/officeDocument/2006/relationships/slide" Target="slides/slide25.xml"/><Relationship Id="rId19" Type="http://schemas.openxmlformats.org/officeDocument/2006/relationships/slide" Target="slides/slide26.xml"/><Relationship Id="rId20" Type="http://schemas.openxmlformats.org/officeDocument/2006/relationships/slide" Target="slides/slide7.xml"/><Relationship Id="rId21" Type="http://schemas.openxmlformats.org/officeDocument/2006/relationships/slide" Target="slides/slide2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28.xml"/><Relationship Id="rId25" Type="http://schemas.openxmlformats.org/officeDocument/2006/relationships/slide" Target="slides/slide10.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11.xml"/><Relationship Id="rId30" Type="http://schemas.openxmlformats.org/officeDocument/2006/relationships/slide" Target="slides/slide12.xml"/><Relationship Id="rId31" Type="http://schemas.openxmlformats.org/officeDocument/2006/relationships/slide" Target="slides/slide13.xml"/><Relationship Id="rId32" Type="http://schemas.openxmlformats.org/officeDocument/2006/relationships/slide" Target="slides/slide32.xml"/><Relationship Id="rId33" Type="http://schemas.openxmlformats.org/officeDocument/2006/relationships/slide" Target="slides/slide14.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15.xml"/><Relationship Id="rId40" Type="http://schemas.openxmlformats.org/officeDocument/2006/relationships/slide" Target="slides/slide38.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18.xml"/><Relationship Id="rId46" Type="http://schemas.openxmlformats.org/officeDocument/2006/relationships/slide" Target="slides/slide41.xml"/><Relationship Id="rId47" Type="http://schemas.openxmlformats.org/officeDocument/2006/relationships/slide" Target="slides/slide19.xml"/><Relationship Id="rId48" Type="http://schemas.openxmlformats.org/officeDocument/2006/relationships/slide" Target="slides/slide20.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1 min · Clase de 40 minutos.</a:t>
            </a:r>
          </a:p>
          <a:p>
            <a:r>
              <a:t>Ruta de 40 minutos con anexos para lectura y práctica fuera de clase. Esquemas originales, no elaborados en BioRender. Todas las curvas y datos numéricos son didácticos, no resultados experimentales.</a:t>
            </a:r>
          </a:p>
          <a:p>
            <a:r>
              <a:t>Fuentes: Base: Orlando 1998 [1]; Bustin y Mueller 2005 [2]; Zhu et al. 2020 [3]; Trouchet et al. 2025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p>
            <a:r>
              <a:t>Fuentes: [1–4]; Green y Sambrook, Molecular Cloning, 2012 [5].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r>
              <a:t>RT-PCR = PCR con transcripción reversa; no significa real-time. En esta presentación usamos RT-qPCR para ARN cuantificado en tiempo real. Nested, multiplex y hot-start pueden combinarse con otros formatos.</a:t>
            </a:r>
          </a:p>
          <a:p>
            <a:r>
              <a:t>Fuentes: [2–4].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1 min · Clase de 40 minutos.</a:t>
            </a:r>
          </a:p>
          <a:p>
            <a:r>
              <a:t>Temperaturas ilustrativas: desnaturalización 94–98 °C, alineamiento según Tm y química, extensión según polimerasa. Alta fidelidad puede usar condiciones diferentes. La polimerasa alarga un extremo 3′ libre en dirección 5′→3′.</a:t>
            </a:r>
          </a:p>
          <a:p>
            <a:r>
              <a:t>Fuentes: [3,5].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Nn = N0(1+E)^n, con E como fracción: 1 equivale a 100 %. El modelo es válido antes de la meseta. Ejemplo: 100 × 2^25 = 3.36 × 10^9 copias ideales; no predice el rendimiento real final.</a:t>
            </a:r>
          </a:p>
          <a:p>
            <a:r>
              <a:t>Fuentes: [1–3].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p>
            <a:r>
              <a:t>Fuentes: [2,4,5].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Las razones de absorbancia son indicadores contextuales; no demuestran ausencia de inhibición. Un control añadido después de extraer evalúa inhibición, no recuperación de extracción. cfDNA requiere extracción y control de tamaño adecuados.</a:t>
            </a:r>
          </a:p>
          <a:p>
            <a:r>
              <a:t>Fuentes: [2,4,5].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p>
            <a:r>
              <a:t>Fuentes: [2,4]; MIQE 2009 [6].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r>
              <a:t>Los primers forward y reverse se escriben ambos 5′→3′. El reverse es el reverso complementario de la región de unión de la otra hebra. Validar especificidad in silico, variantes, dímeros y después experimentalmente.</a:t>
            </a:r>
          </a:p>
          <a:p>
            <a:r>
              <a:t>Fuentes: [2,5,6].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Rangos orientativos, no criterios universales. Usar Tm por nearest-neighbor con sal y Mg²⁺ relevantes; no fijar el alineamiento solo con la regla de Wallace. Para expresión, diseñar una unión exón-exón cuando sea adecuado y validar −RT.</a:t>
            </a:r>
          </a:p>
          <a:p>
            <a:r>
              <a:t>Fuentes: [2,4–6].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Un oligo de 25 nmol reconstituido en 250 µL produce 100 µM: 1 µM = 1 pmol/µL. Preparar alícuotas de stock y solución de trabajo; usar agua o buffer compatible. La concentración final se refiere a cada primer por separado.</a:t>
            </a:r>
          </a:p>
          <a:p>
            <a:r>
              <a:t>Fuentes: [5]; ejemplo docente.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Una mezcla comercial 2× suele incluir buffer, Mg²⁺, dNTP y polimerasa; verificar ficha. Puede incluir colorante o requerir sonda externa. No añadir Mg²⁺ o dNTP nuevamente sin justificarlo.</a:t>
            </a:r>
          </a:p>
          <a:p>
            <a:r>
              <a:t>Fuentes: [3,5].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3 min · Clase de 40 minutos.</a:t>
            </a:r>
          </a:p>
          <a:p>
            <a:r>
              <a:t>El ejemplo asume una mezcla comercial completa 2× y ADN a 10 ng/µL; 2 µL aportan 20 ng, una entrada ilustrativa que debe ajustarse al ensayo. Mantener separación física de preparación y post-PCR.</a:t>
            </a:r>
          </a:p>
          <a:p>
            <a:r>
              <a:t>Fuentes: [5]; ejemplo docente, ajustar a la ficha del kit.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Seis muestras por duplicado = 12 pozos, más NTC por duplicado = 2, más positivo por duplicado = 2: 16 pozos. Exceso operativo 10 %: preparar 17.6 equivalentes, o redondear a 18 para facilitar pipeteo. No multiplicar el molde dentro de la mezcla común.</a:t>
            </a:r>
          </a:p>
          <a:p>
            <a:r>
              <a:t>Fuentes: Ejemplo docente; [5,6].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1 min · Clase de 40 minutos.</a:t>
            </a:r>
          </a:p>
          <a:p>
            <a:r>
              <a:t>La identidad no queda demostrada solo por tamaño. Los dibujos son esquemáticos. La PCR es una amplificación previa a Sanger; Sanger utiliza una reacción de secuenciación diferente, con un primer por reacción.</a:t>
            </a:r>
          </a:p>
          <a:p>
            <a:r>
              <a:t>Fuentes: [1,3,5].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p>
            <a:r>
              <a:t>Fuentes: [2,3,5].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Mezcla hipotética cuyo fabricante usa buffer 5× y mezcla enzimática separada, con primers de RT y dNTP incluidos según formulación. No mezclar esta receta con productos que ya integran todo. La masa de ARN equivalente no mide el rendimiento real de síntesis de ADNc.</a:t>
            </a:r>
          </a:p>
          <a:p>
            <a:r>
              <a:t>Fuentes: [2,5]; ejemplo para kit de RT de dos pasos.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r>
              <a:t>El umbral se sitúa en una región apropiada de amplificación exponencial; Cq menor indica mayor cantidad inicial únicamente bajo condiciones y eficiencias comparables. No comparar Cq crudos de ensayos diferentes como cantidades absolutas.</a:t>
            </a:r>
          </a:p>
          <a:p>
            <a:r>
              <a:t>Fuentes: [1–3,6].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p>
            <a:r>
              <a:t>Fuentes: [1,2,6].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qPCR con colorante: mezcla 2× 10 µL, F y R de 10 µM 0.6 µL cada uno, molde 2 µL, agua 6.8 µL. Sonda: agregar 0.4 µL de sonda 10 µM y reducir agua a 6.4 µL. Para RT-qPCR de dos pasos el molde es ADNc; no agregar RT aquí.</a:t>
            </a:r>
          </a:p>
          <a:p>
            <a:r>
              <a:t>Fuentes: [2,6]; ejemplos docentes, concentraciones dependientes de kit.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Ejemplo de 20 µL que asume PCR mix 2× sin RT y una mezcla enzimática RT separada a 20×. Algunos kits usan otros factores o ya integran RT; respetar su documentación. La cantidad de ARN debe estar dentro del intervalo validado.</a:t>
            </a:r>
          </a:p>
          <a:p>
            <a:r>
              <a:t>Fuentes: [2,3]; ejemplo docente para un kit de RT separado.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r>
              <a:t>Cq = m log10(N) + b. La pendiente ilustrativa −3.32 corresponde aproximadamente a E = 1.001, es decir 100.1 %. El intervalo frecuentemente utilizado de 90–110 % es orientativo y no sustituye validar rango, repetibilidad, LOD y LOQ.</a:t>
            </a:r>
          </a:p>
          <a:p>
            <a:r>
              <a:t>Fuentes: [1,2,6].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r>
              <a:t>Se requiere expresión estable de referencias validadas y eficiencias similares a 100 % y comparables entre referencia y diana. Con eficiencias diferentes, usar un modelo corregido. Preferir varias referencias validadas. Promediar réplicas técnicas tras control de calidad; la inferencia biológica requiere réplicas biológicas.</a:t>
            </a:r>
          </a:p>
          <a:p>
            <a:r>
              <a:t>Fuentes: [2,6]; Livak y Schmittgen 2001 [7].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r>
              <a:t>La cuantificación sin curva estándar depende del volumen efectivo de partición, del muestreo y de la clasificación. Puede haber más de una copia por partición; Poisson corrige esa coincidencia bajo los supuestos del modelo. Las particiones dibujadas son ilustrativas, no el conjunto del ejemplo numérico.</a:t>
            </a:r>
          </a:p>
          <a:p>
            <a:r>
              <a:t>Fuentes: [3,4]; dMIQE 2013 [8].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Asume mezcla dPCR completa 2× sin primers ni sondas. Aditivos de partición, volumen de carga y recuperación dependen del sistema. Las concentraciones ilustrativas 900 nM de primers y 250 nM de sonda son habituales en algunas plataformas; no universales. Para RT-dPCR un paso se requiere formulación compatible con RT.</a:t>
            </a:r>
          </a:p>
          <a:p>
            <a:r>
              <a:t>Fuentes: [4,8]; ejemplo docente para química de sonda.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3 min · Clase de 40 minutos.</a:t>
            </a:r>
          </a:p>
          <a:p>
            <a:r>
              <a:t>Supuestos: particiones de volumen homogéneo 0.85 nL, ocupación aleatoria y 20 000 particiones válidas. El volumen nominal de mezcla es 20 µL, pero aquí el volumen leído es 17 µL. No confundir moléculas detectadas en ese volumen con copias estimadas en los 20 µL nominales. Se requiere intervalo de confianza e incertidumbre del volumen en un reporte real.</a:t>
            </a:r>
          </a:p>
          <a:p>
            <a:r>
              <a:t>Fuentes: [4,8]; datos simulados.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A una frecuencia f y con N moléculas totales, se esperan Nf moléculas mutantes. Con Poisson, P(≥1) = 1 − exp(−Nf); para 95 % se necesita Nf aproximadamente 3. Esto solo describe presencia por muestreo: detección validada además exige blancos, especificidad y umbral de decisión.</a:t>
            </a:r>
          </a:p>
          <a:p>
            <a:r>
              <a:t>Fuentes: [4,8].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Multiplex puede ser final, qPCR o dPCR. Primero validar cada ensayo en singleplex y luego estudiar interferencias. Para 3 dianas hay 6 primers, con 0.2 µM de cada uno en el ejemplo. En qPCR se necesitan canales/estrategia de discriminación y, si se usan sondas, sumar sus volúmenes.</a:t>
            </a:r>
          </a:p>
          <a:p>
            <a:r>
              <a:t>Fuentes: [3,5].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Dos rondas con primers externos e internos. Cada ronda de 25 µL puede usar la receta base de PCR convencional, con los primers correspondientes. Ronda 2: mix 12.5, F interno 0.5, R interno 0.5, producto diluido 2 y agua 9.5 µL. Abrir productos incrementa riesgo de contaminación; incluir controles por ronda.</a:t>
            </a:r>
          </a:p>
          <a:p>
            <a:r>
              <a:t>Fuentes: [3,5].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Hot-start requiere activación según enzima. Touchdown reduce gradualmente la temperatura de alineamiento; el ejemplo no prescribe una Ta universal. Alta fidelidad usa proofreading y buffer propio; no se deben intercambiar buffers ni tiempos de extensión sin revisar ficha. Para long-range la integridad del molde y duración de extensión son críticas.</a:t>
            </a:r>
          </a:p>
          <a:p>
            <a:r>
              <a:t>Fuentes: [3,5].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El competidor tiene sitios de primers compartidos y un producto distinguible. Se necesita eficiencia equivalente y señal en rango lineal. Si se mide masa en gel y hay longitudes diferentes, la razón molar es (It/Lt)/(Ic/Lc). Un competidor de ARN añadido antes de RT también permite evaluar esa etapa; ADN no controla conversión de ARN.</a:t>
            </a:r>
          </a:p>
          <a:p>
            <a:r>
              <a:t>Fuentes: Orlando, Pinzani y Pazzagli 1998 [1].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p>
            <a:r>
              <a:t>Fuentes: [1–4,6,8].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p>
            <a:r>
              <a:t>Fuentes: [3–5]; Brown, Gene Cloning and DNA Analysis, 8.ª ed., 2020 [9].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r>
              <a:t>La cantidad de entrada depende de longitud y servicio. Ejemplo hipotético: el proveedor pide 20 ng de un amplicón de 500 pb. Se dispone de 10 ng/µL, por lo que se toman 2 µL y se completa según especificación del servicio. La reacción Sanger usa un solo primer, polimerasa, dNTP y ddNTP; no es una PCR con dos primers.</a:t>
            </a:r>
          </a:p>
          <a:p>
            <a:r>
              <a:t>Fuentes: [5,9].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r>
              <a:t>Flujo frecuente de dos PCR: una de locus y otra de índices; otras plataformas usan adaptadores por ligación o una sola PCR. Colas 5′ no complementarias se incorporan en ciclos posteriores. El cálculo de Tm inicial usa la región 3′ complementaria, no toda la cola. Preparar blancos de extracción y biblioteca.</a:t>
            </a:r>
          </a:p>
          <a:p>
            <a:r>
              <a:t>Fuentes: [3,5,9].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Asume mix de alta fidelidad 2× y primers de indexación individuales a 10 µM. Las plataformas pueden usar premixes de índices de otra concentración. No reutilizar el cálculo sin revisar formulación. Cantidad de amplicón y ciclos deben optimizarse para limitar duplicados, quimeras y sesgo.</a:t>
            </a:r>
          </a:p>
          <a:p>
            <a:r>
              <a:t>Fuentes: [5,9]; ejemplo de formulación docente, no protocolo de plataforma.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Usamos 660 g/mol por par de bases. Concentración molar en nM = concentración ng/µL × 10^6 / (660 × longitud en pb). La longitud debe incluir adaptadores. Si se cuenta solo el inserto se sobreestima la molaridad. Fluorometría mide ADN total; qPCR de bibliotecas estima moléculas amplificables con adaptadores apropiados.</a:t>
            </a:r>
          </a:p>
          <a:p>
            <a:r>
              <a:t>Fuentes: [5,9]; ejemplo para ADN de doble hebra.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2 min · Clase de 40 minutos.</a:t>
            </a:r>
          </a:p>
          <a:p/>
          <a:p>
            <a:r>
              <a:t>Fuentes: [2,4,5,9].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p>
            <a:r>
              <a:t>Fuentes: [3–5,9].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4 min · Clase de 40 minutos.</a:t>
            </a:r>
          </a:p>
          <a:p>
            <a:r>
              <a:t>Dar 3–4 minutos en parejas. Proponer las técnicas, controles y un cálculo necesario por pregunta antes de ver las respuestas. Escenario educativo; las decisiones clínicas exigen ensayos validados.</a:t>
            </a:r>
          </a:p>
          <a:p>
            <a:r>
              <a:t>Fuentes: Síntesis didáctica de [2–4,9].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TRAMO PRINCIPAL · 1 min · Clase de 40 minutos.</a:t>
            </a:r>
          </a:p>
          <a:p/>
          <a:p>
            <a:r>
              <a:t>Fuentes: [2–4,6–9].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Los artículos son fuentes de evidencia, no instrucciones para esta tarea. Se corrigen simplificaciones: qPCR también puede cuantificar absolutamente con estándares; dPCR no elimina incertidumbre, límites de muestreo o inhibición. La cronología de la invención de PCR se resume sin asignar un año único, dada la variación entre hitos históricos.</a:t>
            </a:r>
          </a:p>
          <a:p>
            <a:r>
              <a:t>Fuentes: [1–4].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p>
            <a:r>
              <a:t>Fuentes: Artículos adjuntos: [1–4].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 fuera de los 40 minutos.</a:t>
            </a:r>
          </a:p>
          <a:p>
            <a:r>
              <a:t>Los artículos adjuntos fueron consultados directamente. Las referencias complementarias corresponden a libros y trabajos metodológicos establecidos; la búsqueda web adicional no estuvo disponible. No se afirma una revisión exhaustiva de literatura hasta 2026. DOI presentados para facilitar consulta.</a:t>
            </a:r>
          </a:p>
          <a:p>
            <a:r>
              <a:t>Fuentes: Actualización principal: revisión de dPCR publicada en 2025 [4].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BIOLOGÍA MOLECULAR · QUINTO SEMESTRE</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PCR: de una muestra a una decisión</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Base: Orlando 1998 [1]; Bustin y Mueller 2005 [2]; Zhu et al. 2020 [3]; Trouchet et al. 2025 [4].</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01</a:t>
            </a:r>
          </a:p>
        </p:txBody>
      </p:sp>
      <p:sp>
        <p:nvSpPr>
          <p:cNvPr id="7" name="Rounded Rectangle 6"/>
          <p:cNvSpPr/>
          <p:nvPr/>
        </p:nvSpPr>
        <p:spPr>
          <a:xfrm>
            <a:off x="609600" y="2476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6416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3060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Preparar</a:t>
            </a:r>
          </a:p>
          <a:p>
            <a:pPr>
              <a:lnSpc>
                <a:spcPct val="115000"/>
              </a:lnSpc>
              <a:spcBef>
                <a:spcPts val="0"/>
              </a:spcBef>
              <a:spcAft>
                <a:spcPts val="0"/>
              </a:spcAft>
              <a:defRPr sz="1700" b="1">
                <a:solidFill>
                  <a:srgbClr val="183443"/>
                </a:solidFill>
                <a:latin typeface="DejaVu Sans"/>
              </a:defRPr>
            </a:pPr>
            <a:r>
              <a:t>la muestra</a:t>
            </a:r>
          </a:p>
        </p:txBody>
      </p:sp>
      <p:cxnSp>
        <p:nvCxnSpPr>
          <p:cNvPr id="10" name="Connector 9"/>
          <p:cNvCxnSpPr/>
          <p:nvPr/>
        </p:nvCxnSpPr>
        <p:spPr>
          <a:xfrm>
            <a:off x="3086100" y="3175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14700" y="3111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314700" y="3175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54400" y="2476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06800" y="26416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2200" y="3060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Amplificar</a:t>
            </a:r>
          </a:p>
          <a:p>
            <a:pPr>
              <a:lnSpc>
                <a:spcPct val="115000"/>
              </a:lnSpc>
              <a:spcBef>
                <a:spcPts val="0"/>
              </a:spcBef>
              <a:spcAft>
                <a:spcPts val="0"/>
              </a:spcAft>
              <a:defRPr sz="1700" b="1">
                <a:solidFill>
                  <a:srgbClr val="183443"/>
                </a:solidFill>
                <a:latin typeface="DejaVu Sans"/>
              </a:defRPr>
            </a:pPr>
            <a:r>
              <a:t>una región</a:t>
            </a:r>
          </a:p>
        </p:txBody>
      </p:sp>
      <p:cxnSp>
        <p:nvCxnSpPr>
          <p:cNvPr id="16" name="Connector 15"/>
          <p:cNvCxnSpPr/>
          <p:nvPr/>
        </p:nvCxnSpPr>
        <p:spPr>
          <a:xfrm>
            <a:off x="5930900" y="3175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59500" y="3111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159500" y="3175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99200" y="2476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51600" y="26416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7000" y="3060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Detectar</a:t>
            </a:r>
          </a:p>
          <a:p>
            <a:pPr>
              <a:lnSpc>
                <a:spcPct val="115000"/>
              </a:lnSpc>
              <a:spcBef>
                <a:spcPts val="0"/>
              </a:spcBef>
              <a:spcAft>
                <a:spcPts val="0"/>
              </a:spcAft>
              <a:defRPr sz="1700" b="1">
                <a:solidFill>
                  <a:srgbClr val="183443"/>
                </a:solidFill>
                <a:latin typeface="DejaVu Sans"/>
              </a:defRPr>
            </a:pPr>
            <a:r>
              <a:t>y cuantificar</a:t>
            </a:r>
          </a:p>
        </p:txBody>
      </p:sp>
      <p:cxnSp>
        <p:nvCxnSpPr>
          <p:cNvPr id="22" name="Connector 21"/>
          <p:cNvCxnSpPr/>
          <p:nvPr/>
        </p:nvCxnSpPr>
        <p:spPr>
          <a:xfrm>
            <a:off x="8775700" y="3175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04300" y="3111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004300" y="3175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44000" y="2476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296400" y="2641600"/>
            <a:ext cx="254000" cy="254000"/>
          </a:xfrm>
          <a:prstGeom prst="ellipse">
            <a:avLst/>
          </a:prstGeom>
          <a:solidFill>
            <a:srgbClr val="DA7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1800" y="3060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Secuenciar</a:t>
            </a:r>
          </a:p>
          <a:p>
            <a:pPr>
              <a:lnSpc>
                <a:spcPct val="115000"/>
              </a:lnSpc>
              <a:spcBef>
                <a:spcPts val="0"/>
              </a:spcBef>
              <a:spcAft>
                <a:spcPts val="0"/>
              </a:spcAft>
              <a:defRPr sz="1700" b="1">
                <a:solidFill>
                  <a:srgbClr val="183443"/>
                </a:solidFill>
                <a:latin typeface="DejaVu Sans"/>
              </a:defRPr>
            </a:pPr>
            <a:r>
              <a:t>e interpretar</a:t>
            </a:r>
          </a:p>
        </p:txBody>
      </p:sp>
      <p:sp>
        <p:nvSpPr>
          <p:cNvPr id="28" name="TextBox 27"/>
          <p:cNvSpPr txBox="1"/>
          <p:nvPr/>
        </p:nvSpPr>
        <p:spPr>
          <a:xfrm>
            <a:off x="635000" y="4445000"/>
            <a:ext cx="10795000" cy="794766"/>
          </a:xfrm>
          <a:prstGeom prst="rect">
            <a:avLst/>
          </a:prstGeom>
          <a:noFill/>
        </p:spPr>
        <p:txBody>
          <a:bodyPr wrap="none" lIns="0" rIns="0" tIns="0" bIns="0">
            <a:spAutoFit/>
          </a:bodyPr>
          <a:lstStyle/>
          <a:p>
            <a:pPr>
              <a:lnSpc>
                <a:spcPct val="115000"/>
              </a:lnSpc>
              <a:spcBef>
                <a:spcPts val="0"/>
              </a:spcBef>
              <a:spcAft>
                <a:spcPts val="0"/>
              </a:spcAft>
              <a:defRPr sz="2300" b="1">
                <a:solidFill>
                  <a:srgbClr val="183443"/>
                </a:solidFill>
                <a:latin typeface="DejaVu Sans"/>
              </a:defRPr>
            </a:pPr>
            <a:r>
              <a:t>Una misma pregunta biológica puede necesitar más de una</a:t>
            </a:r>
          </a:p>
          <a:p>
            <a:pPr>
              <a:lnSpc>
                <a:spcPct val="115000"/>
              </a:lnSpc>
              <a:spcBef>
                <a:spcPts val="0"/>
              </a:spcBef>
              <a:spcAft>
                <a:spcPts val="0"/>
              </a:spcAft>
              <a:defRPr sz="2300" b="1">
                <a:solidFill>
                  <a:srgbClr val="183443"/>
                </a:solidFill>
                <a:latin typeface="DejaVu Sans"/>
              </a:defRPr>
            </a:pPr>
            <a:r>
              <a:t>técnica.</a:t>
            </a:r>
          </a:p>
        </p:txBody>
      </p:sp>
      <p:sp>
        <p:nvSpPr>
          <p:cNvPr id="29" name="TextBox 28"/>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1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MAPA CONCEPTUAL</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Los nombres describen ejes diferentes</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[2–4].</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02</a:t>
            </a:r>
          </a:p>
        </p:txBody>
      </p:sp>
      <p:sp>
        <p:nvSpPr>
          <p:cNvPr id="7" name="Rounded Rectangle 6"/>
          <p:cNvSpPr/>
          <p:nvPr/>
        </p:nvSpPr>
        <p:spPr>
          <a:xfrm>
            <a:off x="609600"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Molde</a:t>
            </a:r>
          </a:p>
        </p:txBody>
      </p:sp>
      <p:sp>
        <p:nvSpPr>
          <p:cNvPr id="9" name="TextBox 8"/>
          <p:cNvSpPr txBox="1"/>
          <p:nvPr/>
        </p:nvSpPr>
        <p:spPr>
          <a:xfrm>
            <a:off x="838200" y="2870200"/>
            <a:ext cx="3031066" cy="1200912"/>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ADN → PCR</a:t>
            </a:r>
          </a:p>
          <a:p>
            <a:pPr>
              <a:lnSpc>
                <a:spcPct val="115000"/>
              </a:lnSpc>
              <a:spcBef>
                <a:spcPts val="0"/>
              </a:spcBef>
              <a:spcAft>
                <a:spcPts val="0"/>
              </a:spcAft>
              <a:defRPr sz="1800" b="0">
                <a:solidFill>
                  <a:srgbClr val="183443"/>
                </a:solidFill>
                <a:latin typeface="DejaVu Sans"/>
              </a:defRPr>
            </a:pPr>
            <a:r>
              <a:t>ARN → RT → ADNc</a:t>
            </a:r>
          </a:p>
          <a:p>
            <a:pPr>
              <a:lnSpc>
                <a:spcPct val="115000"/>
              </a:lnSpc>
              <a:spcBef>
                <a:spcPts val="0"/>
              </a:spcBef>
              <a:spcAft>
                <a:spcPts val="0"/>
              </a:spcAft>
              <a:defRPr sz="1800" b="0">
                <a:solidFill>
                  <a:srgbClr val="183443"/>
                </a:solidFill>
                <a:latin typeface="DejaVu Sans"/>
              </a:defRPr>
            </a:pPr>
            <a:r>
              <a:t>RT-PCR / RT-qPCR /</a:t>
            </a:r>
          </a:p>
          <a:p>
            <a:pPr>
              <a:lnSpc>
                <a:spcPct val="115000"/>
              </a:lnSpc>
              <a:spcBef>
                <a:spcPts val="0"/>
              </a:spcBef>
              <a:spcAft>
                <a:spcPts val="0"/>
              </a:spcAft>
              <a:defRPr sz="1800" b="0">
                <a:solidFill>
                  <a:srgbClr val="183443"/>
                </a:solidFill>
                <a:latin typeface="DejaVu Sans"/>
              </a:defRPr>
            </a:pPr>
            <a:r>
              <a:t>RT-dPCR</a:t>
            </a:r>
          </a:p>
        </p:txBody>
      </p:sp>
      <p:sp>
        <p:nvSpPr>
          <p:cNvPr id="10" name="Rounded Rectangle 9"/>
          <p:cNvSpPr/>
          <p:nvPr/>
        </p:nvSpPr>
        <p:spPr>
          <a:xfrm>
            <a:off x="4351866"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0466"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Lectura</a:t>
            </a:r>
          </a:p>
        </p:txBody>
      </p:sp>
      <p:sp>
        <p:nvSpPr>
          <p:cNvPr id="12" name="TextBox 11"/>
          <p:cNvSpPr txBox="1"/>
          <p:nvPr/>
        </p:nvSpPr>
        <p:spPr>
          <a:xfrm>
            <a:off x="4580466" y="2870200"/>
            <a:ext cx="3031066" cy="919734"/>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Final → convencional</a:t>
            </a:r>
          </a:p>
          <a:p>
            <a:pPr>
              <a:lnSpc>
                <a:spcPct val="115000"/>
              </a:lnSpc>
              <a:spcBef>
                <a:spcPts val="0"/>
              </a:spcBef>
              <a:spcAft>
                <a:spcPts val="0"/>
              </a:spcAft>
              <a:defRPr sz="1800" b="0">
                <a:solidFill>
                  <a:srgbClr val="183443"/>
                </a:solidFill>
                <a:latin typeface="DejaVu Sans"/>
              </a:defRPr>
            </a:pPr>
            <a:r>
              <a:t>Cada ciclo → qPCR</a:t>
            </a:r>
          </a:p>
          <a:p>
            <a:pPr>
              <a:lnSpc>
                <a:spcPct val="115000"/>
              </a:lnSpc>
              <a:spcBef>
                <a:spcPts val="0"/>
              </a:spcBef>
              <a:spcAft>
                <a:spcPts val="0"/>
              </a:spcAft>
              <a:defRPr sz="1800" b="0">
                <a:solidFill>
                  <a:srgbClr val="183443"/>
                </a:solidFill>
                <a:latin typeface="DejaVu Sans"/>
              </a:defRPr>
            </a:pPr>
            <a:r>
              <a:t>Particiones → dPCR</a:t>
            </a:r>
          </a:p>
        </p:txBody>
      </p:sp>
      <p:sp>
        <p:nvSpPr>
          <p:cNvPr id="13" name="Rounded Rectangle 12"/>
          <p:cNvSpPr/>
          <p:nvPr/>
        </p:nvSpPr>
        <p:spPr>
          <a:xfrm>
            <a:off x="8094133"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2733"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Estrategia</a:t>
            </a:r>
          </a:p>
        </p:txBody>
      </p:sp>
      <p:sp>
        <p:nvSpPr>
          <p:cNvPr id="15" name="TextBox 14"/>
          <p:cNvSpPr txBox="1"/>
          <p:nvPr/>
        </p:nvSpPr>
        <p:spPr>
          <a:xfrm>
            <a:off x="8322733" y="2870200"/>
            <a:ext cx="3031066" cy="1200912"/>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Multiplex: varias dianas</a:t>
            </a:r>
          </a:p>
          <a:p>
            <a:pPr>
              <a:lnSpc>
                <a:spcPct val="115000"/>
              </a:lnSpc>
              <a:spcBef>
                <a:spcPts val="0"/>
              </a:spcBef>
              <a:spcAft>
                <a:spcPts val="0"/>
              </a:spcAft>
              <a:defRPr sz="1800" b="0">
                <a:solidFill>
                  <a:srgbClr val="183443"/>
                </a:solidFill>
                <a:latin typeface="DejaVu Sans"/>
              </a:defRPr>
            </a:pPr>
            <a:r>
              <a:t>Nested: dos rondas</a:t>
            </a:r>
          </a:p>
          <a:p>
            <a:pPr>
              <a:lnSpc>
                <a:spcPct val="115000"/>
              </a:lnSpc>
              <a:spcBef>
                <a:spcPts val="0"/>
              </a:spcBef>
              <a:spcAft>
                <a:spcPts val="0"/>
              </a:spcAft>
              <a:defRPr sz="1800" b="0">
                <a:solidFill>
                  <a:srgbClr val="183443"/>
                </a:solidFill>
                <a:latin typeface="DejaVu Sans"/>
              </a:defRPr>
            </a:pPr>
            <a:r>
              <a:t>Alta fidelidad: menos</a:t>
            </a:r>
          </a:p>
          <a:p>
            <a:pPr>
              <a:lnSpc>
                <a:spcPct val="115000"/>
              </a:lnSpc>
              <a:spcBef>
                <a:spcPts val="0"/>
              </a:spcBef>
              <a:spcAft>
                <a:spcPts val="0"/>
              </a:spcAft>
              <a:defRPr sz="1800" b="0">
                <a:solidFill>
                  <a:srgbClr val="183443"/>
                </a:solidFill>
                <a:latin typeface="DejaVu Sans"/>
              </a:defRPr>
            </a:pPr>
            <a:r>
              <a:t>errores</a:t>
            </a:r>
          </a:p>
        </p:txBody>
      </p:sp>
      <p:sp>
        <p:nvSpPr>
          <p:cNvPr id="16" name="TextBox 15"/>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FUNDAMENTOS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Un ciclo: separar, reconocer, copiar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03</a:t>
            </a:r>
          </a:p>
        </p:txBody>
      </p:sp>
      <p:sp>
        <p:nvSpPr>
          <p:cNvPr id="7" name="Rounded Rectangle 6"/>
          <p:cNvSpPr/>
          <p:nvPr/>
        </p:nvSpPr>
        <p:spPr>
          <a:xfrm>
            <a:off x="609600" y="21590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3241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7432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Desnaturalizar</a:t>
            </a:r>
          </a:p>
          <a:p>
            <a:pPr>
              <a:lnSpc>
                <a:spcPct val="115000"/>
              </a:lnSpc>
              <a:spcBef>
                <a:spcPts val="0"/>
              </a:spcBef>
              <a:spcAft>
                <a:spcPts val="0"/>
              </a:spcAft>
              <a:defRPr sz="1700" b="1">
                <a:solidFill>
                  <a:srgbClr val="183443"/>
                </a:solidFill>
                <a:latin typeface="DejaVu Sans"/>
              </a:defRPr>
            </a:pPr>
            <a:r>
              <a:t>94–98 °C</a:t>
            </a:r>
          </a:p>
        </p:txBody>
      </p:sp>
      <p:cxnSp>
        <p:nvCxnSpPr>
          <p:cNvPr id="10" name="Connector 9"/>
          <p:cNvCxnSpPr/>
          <p:nvPr/>
        </p:nvCxnSpPr>
        <p:spPr>
          <a:xfrm>
            <a:off x="4034366" y="28575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262966" y="2794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262966"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02666" y="21590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5066" y="23241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0466" y="27432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Alinear primers</a:t>
            </a:r>
          </a:p>
          <a:p>
            <a:pPr>
              <a:lnSpc>
                <a:spcPct val="115000"/>
              </a:lnSpc>
              <a:spcBef>
                <a:spcPts val="0"/>
              </a:spcBef>
              <a:spcAft>
                <a:spcPts val="0"/>
              </a:spcAft>
              <a:defRPr sz="1700" b="1">
                <a:solidFill>
                  <a:srgbClr val="183443"/>
                </a:solidFill>
                <a:latin typeface="DejaVu Sans"/>
              </a:defRPr>
            </a:pPr>
            <a:r>
              <a:t>según Tm</a:t>
            </a:r>
          </a:p>
        </p:txBody>
      </p:sp>
      <p:cxnSp>
        <p:nvCxnSpPr>
          <p:cNvPr id="16" name="Connector 15"/>
          <p:cNvCxnSpPr/>
          <p:nvPr/>
        </p:nvCxnSpPr>
        <p:spPr>
          <a:xfrm>
            <a:off x="7827433" y="28575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56033" y="2794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056033"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195733" y="21590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48133" y="23241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73533" y="27432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Extender</a:t>
            </a:r>
          </a:p>
          <a:p>
            <a:pPr>
              <a:lnSpc>
                <a:spcPct val="115000"/>
              </a:lnSpc>
              <a:spcBef>
                <a:spcPts val="0"/>
              </a:spcBef>
              <a:spcAft>
                <a:spcPts val="0"/>
              </a:spcAft>
              <a:defRPr sz="1700" b="1">
                <a:solidFill>
                  <a:srgbClr val="183443"/>
                </a:solidFill>
                <a:latin typeface="DejaVu Sans"/>
              </a:defRPr>
            </a:pPr>
            <a:r>
              <a:t>según enzima</a:t>
            </a:r>
          </a:p>
        </p:txBody>
      </p:sp>
      <p:cxnSp>
        <p:nvCxnSpPr>
          <p:cNvPr id="22" name="Connector 21"/>
          <p:cNvCxnSpPr/>
          <p:nvPr/>
        </p:nvCxnSpPr>
        <p:spPr>
          <a:xfrm>
            <a:off x="1143000" y="4191000"/>
            <a:ext cx="2349500" cy="0"/>
          </a:xfrm>
          <a:prstGeom prst="line">
            <a:avLst/>
          </a:prstGeom>
          <a:ln w="508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43000" y="4381500"/>
            <a:ext cx="2349500" cy="0"/>
          </a:xfrm>
          <a:prstGeom prst="line">
            <a:avLst/>
          </a:prstGeom>
          <a:ln w="508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319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970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5621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7272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8923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574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2225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3876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527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7178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29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0480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2131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3782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889500" y="4191000"/>
            <a:ext cx="2413000" cy="0"/>
          </a:xfrm>
          <a:prstGeom prst="line">
            <a:avLst/>
          </a:prstGeom>
          <a:ln w="508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889500" y="4508500"/>
            <a:ext cx="2413000" cy="0"/>
          </a:xfrm>
          <a:prstGeom prst="line">
            <a:avLst/>
          </a:prstGeom>
          <a:ln w="508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08600" y="4394200"/>
            <a:ext cx="825500" cy="0"/>
          </a:xfrm>
          <a:prstGeom prst="line">
            <a:avLst/>
          </a:prstGeom>
          <a:ln w="25400">
            <a:solidFill>
              <a:srgbClr val="DA765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45200" y="4330700"/>
            <a:ext cx="88900" cy="63500"/>
          </a:xfrm>
          <a:prstGeom prst="line">
            <a:avLst/>
          </a:prstGeom>
          <a:ln w="25400">
            <a:solidFill>
              <a:srgbClr val="DA765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045200" y="4394200"/>
            <a:ext cx="88900" cy="63500"/>
          </a:xfrm>
          <a:prstGeom prst="line">
            <a:avLst/>
          </a:prstGeom>
          <a:ln w="25400">
            <a:solidFill>
              <a:srgbClr val="DA765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763000" y="4191000"/>
            <a:ext cx="2159000" cy="0"/>
          </a:xfrm>
          <a:prstGeom prst="line">
            <a:avLst/>
          </a:prstGeom>
          <a:ln w="508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763000" y="4381500"/>
            <a:ext cx="2159000" cy="0"/>
          </a:xfrm>
          <a:prstGeom prst="line">
            <a:avLst/>
          </a:prstGeom>
          <a:ln w="508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8519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0170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1821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472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5123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6774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8425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0076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01727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3378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5029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6680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0833100" y="41910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La temperatura y duración exactas dependen del amplicón y de la polimerasa.</a:t>
            </a:r>
          </a:p>
        </p:txBody>
      </p:sp>
      <p:sp>
        <p:nvSpPr>
          <p:cNvPr id="60" name="TextBox 59"/>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1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PREPARACIÓN DE MUESTRA</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La calidad empieza antes del termociclador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[2,4,5].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04</a:t>
            </a:r>
          </a:p>
        </p:txBody>
      </p:sp>
      <p:sp>
        <p:nvSpPr>
          <p:cNvPr id="7" name="Rounded Rectangle 6"/>
          <p:cNvSpPr/>
          <p:nvPr/>
        </p:nvSpPr>
        <p:spPr>
          <a:xfrm>
            <a:off x="609600" y="22860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4511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8702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Tomar y</a:t>
            </a:r>
          </a:p>
          <a:p>
            <a:pPr>
              <a:lnSpc>
                <a:spcPct val="115000"/>
              </a:lnSpc>
              <a:spcBef>
                <a:spcPts val="0"/>
              </a:spcBef>
              <a:spcAft>
                <a:spcPts val="0"/>
              </a:spcAft>
              <a:defRPr sz="1700" b="1">
                <a:solidFill>
                  <a:srgbClr val="183443"/>
                </a:solidFill>
                <a:latin typeface="DejaVu Sans"/>
              </a:defRPr>
            </a:pPr>
            <a:r>
              <a:t>preservar</a:t>
            </a:r>
          </a:p>
        </p:txBody>
      </p:sp>
      <p:cxnSp>
        <p:nvCxnSpPr>
          <p:cNvPr id="10" name="Connector 9"/>
          <p:cNvCxnSpPr/>
          <p:nvPr/>
        </p:nvCxnSpPr>
        <p:spPr>
          <a:xfrm>
            <a:off x="3086100" y="29845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147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314700" y="2984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54400" y="22860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06800" y="24511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2200" y="28702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Lisar y</a:t>
            </a:r>
          </a:p>
          <a:p>
            <a:pPr>
              <a:lnSpc>
                <a:spcPct val="115000"/>
              </a:lnSpc>
              <a:spcBef>
                <a:spcPts val="0"/>
              </a:spcBef>
              <a:spcAft>
                <a:spcPts val="0"/>
              </a:spcAft>
              <a:defRPr sz="1700" b="1">
                <a:solidFill>
                  <a:srgbClr val="183443"/>
                </a:solidFill>
                <a:latin typeface="DejaVu Sans"/>
              </a:defRPr>
            </a:pPr>
            <a:r>
              <a:t>extraer</a:t>
            </a:r>
          </a:p>
        </p:txBody>
      </p:sp>
      <p:cxnSp>
        <p:nvCxnSpPr>
          <p:cNvPr id="16" name="Connector 15"/>
          <p:cNvCxnSpPr/>
          <p:nvPr/>
        </p:nvCxnSpPr>
        <p:spPr>
          <a:xfrm>
            <a:off x="5930900" y="29845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595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159500" y="2984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99200" y="22860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51600" y="24511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7000" y="28702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Eliminar</a:t>
            </a:r>
          </a:p>
          <a:p>
            <a:pPr>
              <a:lnSpc>
                <a:spcPct val="115000"/>
              </a:lnSpc>
              <a:spcBef>
                <a:spcPts val="0"/>
              </a:spcBef>
              <a:spcAft>
                <a:spcPts val="0"/>
              </a:spcAft>
              <a:defRPr sz="1700" b="1">
                <a:solidFill>
                  <a:srgbClr val="183443"/>
                </a:solidFill>
                <a:latin typeface="DejaVu Sans"/>
              </a:defRPr>
            </a:pPr>
            <a:r>
              <a:t>inhibidores</a:t>
            </a:r>
          </a:p>
        </p:txBody>
      </p:sp>
      <p:cxnSp>
        <p:nvCxnSpPr>
          <p:cNvPr id="22" name="Connector 21"/>
          <p:cNvCxnSpPr/>
          <p:nvPr/>
        </p:nvCxnSpPr>
        <p:spPr>
          <a:xfrm>
            <a:off x="8775700" y="29845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043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004300" y="2984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44000" y="22860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296400" y="2451100"/>
            <a:ext cx="254000" cy="254000"/>
          </a:xfrm>
          <a:prstGeom prst="ellipse">
            <a:avLst/>
          </a:prstGeom>
          <a:solidFill>
            <a:srgbClr val="DA7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1800" y="28702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Medir calidad</a:t>
            </a:r>
          </a:p>
          <a:p>
            <a:pPr>
              <a:lnSpc>
                <a:spcPct val="115000"/>
              </a:lnSpc>
              <a:spcBef>
                <a:spcPts val="0"/>
              </a:spcBef>
              <a:spcAft>
                <a:spcPts val="0"/>
              </a:spcAft>
              <a:defRPr sz="1700" b="1">
                <a:solidFill>
                  <a:srgbClr val="183443"/>
                </a:solidFill>
                <a:latin typeface="DejaVu Sans"/>
              </a:defRPr>
            </a:pPr>
            <a:r>
              <a:t>y cantidad</a:t>
            </a:r>
          </a:p>
        </p:txBody>
      </p:sp>
      <p:sp>
        <p:nvSpPr>
          <p:cNvPr id="28" name="TextBox 27"/>
          <p:cNvSpPr txBox="1"/>
          <p:nvPr/>
        </p:nvSpPr>
        <p:spPr>
          <a:xfrm>
            <a:off x="825500" y="4191000"/>
            <a:ext cx="4953000" cy="669798"/>
          </a:xfrm>
          <a:prstGeom prst="rect">
            <a:avLst/>
          </a:prstGeom>
          <a:noFill/>
        </p:spPr>
        <p:txBody>
          <a:bodyPr wrap="none" lIns="0" rIns="0" tIns="0" bIns="0">
            <a:spAutoFit/>
          </a:bodyPr>
          <a:lstStyle/>
          <a:p>
            <a:pPr>
              <a:lnSpc>
                <a:spcPct val="115000"/>
              </a:lnSpc>
              <a:spcBef>
                <a:spcPts val="0"/>
              </a:spcBef>
              <a:spcAft>
                <a:spcPts val="0"/>
              </a:spcAft>
              <a:defRPr sz="1900" b="0">
                <a:solidFill>
                  <a:srgbClr val="183443"/>
                </a:solidFill>
                <a:latin typeface="DejaVu Sans"/>
              </a:defRPr>
            </a:pPr>
            <a:r>
              <a:t>ADN: integridad y pureza compatibles</a:t>
            </a:r>
          </a:p>
          <a:p>
            <a:pPr>
              <a:lnSpc>
                <a:spcPct val="115000"/>
              </a:lnSpc>
              <a:spcBef>
                <a:spcPts val="0"/>
              </a:spcBef>
              <a:spcAft>
                <a:spcPts val="0"/>
              </a:spcAft>
              <a:defRPr sz="1900" b="0">
                <a:solidFill>
                  <a:srgbClr val="183443"/>
                </a:solidFill>
                <a:latin typeface="DejaVu Sans"/>
              </a:defRPr>
            </a:pPr>
            <a:r>
              <a:t>con el tamaño de la diana.</a:t>
            </a:r>
          </a:p>
        </p:txBody>
      </p:sp>
      <p:sp>
        <p:nvSpPr>
          <p:cNvPr id="29" name="TextBox 28"/>
          <p:cNvSpPr txBox="1"/>
          <p:nvPr/>
        </p:nvSpPr>
        <p:spPr>
          <a:xfrm>
            <a:off x="6413500" y="4191000"/>
            <a:ext cx="4953000" cy="669798"/>
          </a:xfrm>
          <a:prstGeom prst="rect">
            <a:avLst/>
          </a:prstGeom>
          <a:noFill/>
        </p:spPr>
        <p:txBody>
          <a:bodyPr wrap="none" lIns="0" rIns="0" tIns="0" bIns="0">
            <a:spAutoFit/>
          </a:bodyPr>
          <a:lstStyle/>
          <a:p>
            <a:pPr>
              <a:lnSpc>
                <a:spcPct val="115000"/>
              </a:lnSpc>
              <a:spcBef>
                <a:spcPts val="0"/>
              </a:spcBef>
              <a:spcAft>
                <a:spcPts val="0"/>
              </a:spcAft>
              <a:defRPr sz="1900" b="0">
                <a:solidFill>
                  <a:srgbClr val="183443"/>
                </a:solidFill>
                <a:latin typeface="DejaVu Sans"/>
              </a:defRPr>
            </a:pPr>
            <a:r>
              <a:t>ARN: proteger de RNasas, conservar</a:t>
            </a:r>
          </a:p>
          <a:p>
            <a:pPr>
              <a:lnSpc>
                <a:spcPct val="115000"/>
              </a:lnSpc>
              <a:spcBef>
                <a:spcPts val="0"/>
              </a:spcBef>
              <a:spcAft>
                <a:spcPts val="0"/>
              </a:spcAft>
              <a:defRPr sz="1900" b="0">
                <a:solidFill>
                  <a:srgbClr val="183443"/>
                </a:solidFill>
                <a:latin typeface="DejaVu Sans"/>
              </a:defRPr>
            </a:pPr>
            <a:r>
              <a:t>integridad y controlar ADN genómico.</a:t>
            </a:r>
          </a:p>
        </p:txBody>
      </p:sp>
      <p:sp>
        <p:nvSpPr>
          <p:cNvPr id="30" name="Rounded Rectangle 29"/>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Registrar origen, conservación, extracción, elución y diluciones.</a:t>
            </a:r>
          </a:p>
        </p:txBody>
      </p:sp>
      <p:sp>
        <p:nvSpPr>
          <p:cNvPr id="32" name="TextBox 31"/>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CONTROLES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Los controles explican un resultado negativo</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[2,4]; MIQE 2009 [6].</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05</a:t>
            </a:r>
          </a:p>
        </p:txBody>
      </p:sp>
      <p:sp>
        <p:nvSpPr>
          <p:cNvPr id="7" name="Rectangle 6"/>
          <p:cNvSpPr/>
          <p:nvPr/>
        </p:nvSpPr>
        <p:spPr>
          <a:xfrm>
            <a:off x="609600" y="1905000"/>
            <a:ext cx="22225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19939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Control</a:t>
            </a:r>
          </a:p>
        </p:txBody>
      </p:sp>
      <p:sp>
        <p:nvSpPr>
          <p:cNvPr id="9" name="Rectangle 8"/>
          <p:cNvSpPr/>
          <p:nvPr/>
        </p:nvSpPr>
        <p:spPr>
          <a:xfrm>
            <a:off x="2832100" y="1905000"/>
            <a:ext cx="3810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6400" y="2006600"/>
            <a:ext cx="3581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Qué contiene</a:t>
            </a:r>
          </a:p>
        </p:txBody>
      </p:sp>
      <p:sp>
        <p:nvSpPr>
          <p:cNvPr id="11" name="Rectangle 10"/>
          <p:cNvSpPr/>
          <p:nvPr/>
        </p:nvSpPr>
        <p:spPr>
          <a:xfrm>
            <a:off x="6642100" y="1905000"/>
            <a:ext cx="49403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56400" y="2006600"/>
            <a:ext cx="47117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Qué permite detectar</a:t>
            </a:r>
          </a:p>
        </p:txBody>
      </p:sp>
      <p:sp>
        <p:nvSpPr>
          <p:cNvPr id="13" name="Rectangle 12"/>
          <p:cNvSpPr/>
          <p:nvPr/>
        </p:nvSpPr>
        <p:spPr>
          <a:xfrm>
            <a:off x="609600" y="2387600"/>
            <a:ext cx="2222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1993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NTC</a:t>
            </a:r>
          </a:p>
        </p:txBody>
      </p:sp>
      <p:sp>
        <p:nvSpPr>
          <p:cNvPr id="15" name="Rectangle 14"/>
          <p:cNvSpPr/>
          <p:nvPr/>
        </p:nvSpPr>
        <p:spPr>
          <a:xfrm>
            <a:off x="2832100" y="2387600"/>
            <a:ext cx="381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46400" y="247650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Agua en lugar de molde</a:t>
            </a:r>
          </a:p>
        </p:txBody>
      </p:sp>
      <p:sp>
        <p:nvSpPr>
          <p:cNvPr id="17" name="Rectangle 16"/>
          <p:cNvSpPr/>
          <p:nvPr/>
        </p:nvSpPr>
        <p:spPr>
          <a:xfrm>
            <a:off x="6642100" y="2387600"/>
            <a:ext cx="4940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56400" y="2476500"/>
            <a:ext cx="4711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Contaminación de reactivos o dímeros</a:t>
            </a:r>
          </a:p>
        </p:txBody>
      </p:sp>
      <p:sp>
        <p:nvSpPr>
          <p:cNvPr id="19" name="Rectangle 18"/>
          <p:cNvSpPr/>
          <p:nvPr/>
        </p:nvSpPr>
        <p:spPr>
          <a:xfrm>
            <a:off x="609600" y="2870200"/>
            <a:ext cx="22225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2959100"/>
            <a:ext cx="19939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Blanco de</a:t>
            </a:r>
          </a:p>
          <a:p>
            <a:pPr>
              <a:lnSpc>
                <a:spcPct val="115000"/>
              </a:lnSpc>
              <a:spcBef>
                <a:spcPts val="0"/>
              </a:spcBef>
              <a:spcAft>
                <a:spcPts val="0"/>
              </a:spcAft>
              <a:defRPr sz="1500" b="0">
                <a:solidFill>
                  <a:srgbClr val="183443"/>
                </a:solidFill>
                <a:latin typeface="DejaVu Sans"/>
              </a:defRPr>
            </a:pPr>
            <a:r>
              <a:t>extracción</a:t>
            </a:r>
          </a:p>
        </p:txBody>
      </p:sp>
      <p:sp>
        <p:nvSpPr>
          <p:cNvPr id="21" name="Rectangle 20"/>
          <p:cNvSpPr/>
          <p:nvPr/>
        </p:nvSpPr>
        <p:spPr>
          <a:xfrm>
            <a:off x="2832100" y="2870200"/>
            <a:ext cx="38100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46400" y="295910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Procesado sin muestra</a:t>
            </a:r>
          </a:p>
        </p:txBody>
      </p:sp>
      <p:sp>
        <p:nvSpPr>
          <p:cNvPr id="23" name="Rectangle 22"/>
          <p:cNvSpPr/>
          <p:nvPr/>
        </p:nvSpPr>
        <p:spPr>
          <a:xfrm>
            <a:off x="6642100" y="2870200"/>
            <a:ext cx="49403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56400" y="2959100"/>
            <a:ext cx="4711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Contaminación durante extracción</a:t>
            </a:r>
          </a:p>
        </p:txBody>
      </p:sp>
      <p:sp>
        <p:nvSpPr>
          <p:cNvPr id="25" name="Rectangle 24"/>
          <p:cNvSpPr/>
          <p:nvPr/>
        </p:nvSpPr>
        <p:spPr>
          <a:xfrm>
            <a:off x="609600" y="3558540"/>
            <a:ext cx="2222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647440"/>
            <a:ext cx="1993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Positivo</a:t>
            </a:r>
          </a:p>
        </p:txBody>
      </p:sp>
      <p:sp>
        <p:nvSpPr>
          <p:cNvPr id="27" name="Rectangle 26"/>
          <p:cNvSpPr/>
          <p:nvPr/>
        </p:nvSpPr>
        <p:spPr>
          <a:xfrm>
            <a:off x="2832100" y="3558540"/>
            <a:ext cx="381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46400" y="364744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Diana conocida</a:t>
            </a:r>
          </a:p>
        </p:txBody>
      </p:sp>
      <p:sp>
        <p:nvSpPr>
          <p:cNvPr id="29" name="Rectangle 28"/>
          <p:cNvSpPr/>
          <p:nvPr/>
        </p:nvSpPr>
        <p:spPr>
          <a:xfrm>
            <a:off x="6642100" y="3558540"/>
            <a:ext cx="4940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56400" y="3647440"/>
            <a:ext cx="4711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Fallo de mezcla, primers o programa</a:t>
            </a:r>
          </a:p>
        </p:txBody>
      </p:sp>
      <p:sp>
        <p:nvSpPr>
          <p:cNvPr id="31" name="Rectangle 30"/>
          <p:cNvSpPr/>
          <p:nvPr/>
        </p:nvSpPr>
        <p:spPr>
          <a:xfrm>
            <a:off x="609600" y="4041140"/>
            <a:ext cx="22225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4130040"/>
            <a:ext cx="1993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Sin RT (−RT)</a:t>
            </a:r>
          </a:p>
        </p:txBody>
      </p:sp>
      <p:sp>
        <p:nvSpPr>
          <p:cNvPr id="33" name="Rectangle 32"/>
          <p:cNvSpPr/>
          <p:nvPr/>
        </p:nvSpPr>
        <p:spPr>
          <a:xfrm>
            <a:off x="2832100" y="4041140"/>
            <a:ext cx="381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46400" y="413004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ARN procesado sin transcriptasa</a:t>
            </a:r>
          </a:p>
        </p:txBody>
      </p:sp>
      <p:sp>
        <p:nvSpPr>
          <p:cNvPr id="35" name="Rectangle 34"/>
          <p:cNvSpPr/>
          <p:nvPr/>
        </p:nvSpPr>
        <p:spPr>
          <a:xfrm>
            <a:off x="6642100" y="4041140"/>
            <a:ext cx="49403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6400" y="4130040"/>
            <a:ext cx="4711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ADN genómico residual</a:t>
            </a:r>
          </a:p>
        </p:txBody>
      </p:sp>
      <p:sp>
        <p:nvSpPr>
          <p:cNvPr id="37" name="Rectangle 36"/>
          <p:cNvSpPr/>
          <p:nvPr/>
        </p:nvSpPr>
        <p:spPr>
          <a:xfrm>
            <a:off x="609600" y="4523740"/>
            <a:ext cx="2222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3900" y="4612640"/>
            <a:ext cx="1993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Control interno</a:t>
            </a:r>
          </a:p>
        </p:txBody>
      </p:sp>
      <p:sp>
        <p:nvSpPr>
          <p:cNvPr id="39" name="Rectangle 38"/>
          <p:cNvSpPr/>
          <p:nvPr/>
        </p:nvSpPr>
        <p:spPr>
          <a:xfrm>
            <a:off x="2832100" y="4523740"/>
            <a:ext cx="381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46400" y="461264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Diana endógena o añadida, validada</a:t>
            </a:r>
          </a:p>
        </p:txBody>
      </p:sp>
      <p:sp>
        <p:nvSpPr>
          <p:cNvPr id="41" name="Rectangle 40"/>
          <p:cNvSpPr/>
          <p:nvPr/>
        </p:nvSpPr>
        <p:spPr>
          <a:xfrm>
            <a:off x="6642100" y="4523740"/>
            <a:ext cx="4940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56400" y="4612640"/>
            <a:ext cx="4711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Inhibición o calidad insuficiente</a:t>
            </a:r>
          </a:p>
        </p:txBody>
      </p:sp>
      <p:sp>
        <p:nvSpPr>
          <p:cNvPr id="43" name="Rounded Rectangle 42"/>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Un NTC limpio no demuestra que una muestra negativa sea amplificable.</a:t>
            </a:r>
          </a:p>
        </p:txBody>
      </p:sp>
      <p:sp>
        <p:nvSpPr>
          <p:cNvPr id="45" name="TextBox 4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DISEÑO DE PRIMERS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Los primers delimitan lo que podrás observar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[2,5,6].</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06</a:t>
            </a:r>
          </a:p>
        </p:txBody>
      </p:sp>
      <p:cxnSp>
        <p:nvCxnSpPr>
          <p:cNvPr id="7" name="Connector 6"/>
          <p:cNvCxnSpPr/>
          <p:nvPr/>
        </p:nvCxnSpPr>
        <p:spPr>
          <a:xfrm>
            <a:off x="1270000" y="2984500"/>
            <a:ext cx="9525000" cy="0"/>
          </a:xfrm>
          <a:prstGeom prst="line">
            <a:avLst/>
          </a:prstGeom>
          <a:ln w="508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270000" y="3746500"/>
            <a:ext cx="9525000" cy="0"/>
          </a:xfrm>
          <a:prstGeom prst="line">
            <a:avLst/>
          </a:prstGeom>
          <a:ln w="50800">
            <a:solidFill>
              <a:srgbClr val="4276C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89000" y="2603500"/>
            <a:ext cx="8890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5′</a:t>
            </a:r>
          </a:p>
        </p:txBody>
      </p:sp>
      <p:sp>
        <p:nvSpPr>
          <p:cNvPr id="10" name="TextBox 9"/>
          <p:cNvSpPr txBox="1"/>
          <p:nvPr/>
        </p:nvSpPr>
        <p:spPr>
          <a:xfrm>
            <a:off x="10795000" y="2603500"/>
            <a:ext cx="8890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3′</a:t>
            </a:r>
          </a:p>
        </p:txBody>
      </p:sp>
      <p:sp>
        <p:nvSpPr>
          <p:cNvPr id="11" name="TextBox 10"/>
          <p:cNvSpPr txBox="1"/>
          <p:nvPr/>
        </p:nvSpPr>
        <p:spPr>
          <a:xfrm>
            <a:off x="889000" y="3822700"/>
            <a:ext cx="8890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3′</a:t>
            </a:r>
          </a:p>
        </p:txBody>
      </p:sp>
      <p:sp>
        <p:nvSpPr>
          <p:cNvPr id="12" name="TextBox 11"/>
          <p:cNvSpPr txBox="1"/>
          <p:nvPr/>
        </p:nvSpPr>
        <p:spPr>
          <a:xfrm>
            <a:off x="10795000" y="3822700"/>
            <a:ext cx="8890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5′</a:t>
            </a:r>
          </a:p>
        </p:txBody>
      </p:sp>
      <p:cxnSp>
        <p:nvCxnSpPr>
          <p:cNvPr id="13" name="Connector 12"/>
          <p:cNvCxnSpPr/>
          <p:nvPr/>
        </p:nvCxnSpPr>
        <p:spPr>
          <a:xfrm>
            <a:off x="2667000" y="3556000"/>
            <a:ext cx="1524000" cy="0"/>
          </a:xfrm>
          <a:prstGeom prst="line">
            <a:avLst/>
          </a:prstGeom>
          <a:ln w="76200">
            <a:solidFill>
              <a:srgbClr val="DA765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27500" y="3556000"/>
            <a:ext cx="635000" cy="0"/>
          </a:xfrm>
          <a:prstGeom prst="line">
            <a:avLst/>
          </a:prstGeom>
          <a:ln w="25400">
            <a:solidFill>
              <a:srgbClr val="DA765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73600" y="3492500"/>
            <a:ext cx="88900" cy="63500"/>
          </a:xfrm>
          <a:prstGeom prst="line">
            <a:avLst/>
          </a:prstGeom>
          <a:ln w="25400">
            <a:solidFill>
              <a:srgbClr val="DA765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673600" y="3556000"/>
            <a:ext cx="88900" cy="63500"/>
          </a:xfrm>
          <a:prstGeom prst="line">
            <a:avLst/>
          </a:prstGeom>
          <a:ln w="25400">
            <a:solidFill>
              <a:srgbClr val="DA765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413000" y="4191000"/>
            <a:ext cx="2984500" cy="357378"/>
          </a:xfrm>
          <a:prstGeom prst="rect">
            <a:avLst/>
          </a:prstGeom>
          <a:noFill/>
        </p:spPr>
        <p:txBody>
          <a:bodyPr wrap="none" lIns="0" rIns="0" tIns="0" bIns="0">
            <a:spAutoFit/>
          </a:bodyPr>
          <a:lstStyle/>
          <a:p>
            <a:pPr>
              <a:lnSpc>
                <a:spcPct val="115000"/>
              </a:lnSpc>
              <a:spcBef>
                <a:spcPts val="0"/>
              </a:spcBef>
              <a:spcAft>
                <a:spcPts val="0"/>
              </a:spcAft>
              <a:defRPr sz="1800" b="1">
                <a:solidFill>
                  <a:srgbClr val="DA765B"/>
                </a:solidFill>
                <a:latin typeface="DejaVu Sans"/>
              </a:defRPr>
            </a:pPr>
            <a:r>
              <a:t>Forward 5′ → 3′</a:t>
            </a:r>
          </a:p>
        </p:txBody>
      </p:sp>
      <p:cxnSp>
        <p:nvCxnSpPr>
          <p:cNvPr id="18" name="Connector 17"/>
          <p:cNvCxnSpPr/>
          <p:nvPr/>
        </p:nvCxnSpPr>
        <p:spPr>
          <a:xfrm>
            <a:off x="7937500" y="3187700"/>
            <a:ext cx="1524000" cy="0"/>
          </a:xfrm>
          <a:prstGeom prst="line">
            <a:avLst/>
          </a:prstGeom>
          <a:ln w="762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302500" y="3187700"/>
            <a:ext cx="635000" cy="0"/>
          </a:xfrm>
          <a:prstGeom prst="line">
            <a:avLst/>
          </a:prstGeom>
          <a:ln w="254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302500" y="3124200"/>
            <a:ext cx="88900" cy="63500"/>
          </a:xfrm>
          <a:prstGeom prst="line">
            <a:avLst/>
          </a:prstGeom>
          <a:ln w="254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7302500" y="3187700"/>
            <a:ext cx="88900" cy="63500"/>
          </a:xfrm>
          <a:prstGeom prst="line">
            <a:avLst/>
          </a:prstGeom>
          <a:ln w="25400">
            <a:solidFill>
              <a:srgbClr val="8061A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93000" y="2095500"/>
            <a:ext cx="3302000" cy="357378"/>
          </a:xfrm>
          <a:prstGeom prst="rect">
            <a:avLst/>
          </a:prstGeom>
          <a:noFill/>
        </p:spPr>
        <p:txBody>
          <a:bodyPr wrap="none" lIns="0" rIns="0" tIns="0" bIns="0">
            <a:spAutoFit/>
          </a:bodyPr>
          <a:lstStyle/>
          <a:p>
            <a:pPr>
              <a:lnSpc>
                <a:spcPct val="115000"/>
              </a:lnSpc>
              <a:spcBef>
                <a:spcPts val="0"/>
              </a:spcBef>
              <a:spcAft>
                <a:spcPts val="0"/>
              </a:spcAft>
              <a:defRPr sz="1800" b="1">
                <a:solidFill>
                  <a:srgbClr val="8061AC"/>
                </a:solidFill>
                <a:latin typeface="DejaVu Sans"/>
              </a:defRPr>
            </a:pPr>
            <a:r>
              <a:t>Reverse 3′ ← 5′</a:t>
            </a:r>
          </a:p>
        </p:txBody>
      </p:sp>
      <p:sp>
        <p:nvSpPr>
          <p:cNvPr id="23" name="TextBox 22"/>
          <p:cNvSpPr txBox="1"/>
          <p:nvPr/>
        </p:nvSpPr>
        <p:spPr>
          <a:xfrm>
            <a:off x="4572000" y="4508500"/>
            <a:ext cx="3556000" cy="388620"/>
          </a:xfrm>
          <a:prstGeom prst="rect">
            <a:avLst/>
          </a:prstGeom>
          <a:noFill/>
        </p:spPr>
        <p:txBody>
          <a:bodyPr wrap="none" lIns="0" rIns="0" tIns="0" bIns="0">
            <a:spAutoFit/>
          </a:bodyPr>
          <a:lstStyle/>
          <a:p>
            <a:pPr>
              <a:lnSpc>
                <a:spcPct val="115000"/>
              </a:lnSpc>
              <a:spcBef>
                <a:spcPts val="0"/>
              </a:spcBef>
              <a:spcAft>
                <a:spcPts val="0"/>
              </a:spcAft>
              <a:defRPr sz="2000" b="1">
                <a:solidFill>
                  <a:srgbClr val="007F86"/>
                </a:solidFill>
                <a:latin typeface="DejaVu Sans"/>
              </a:defRPr>
            </a:pPr>
            <a:r>
              <a:t>Región amplificada</a:t>
            </a:r>
          </a:p>
        </p:txBody>
      </p:sp>
      <p:sp>
        <p:nvSpPr>
          <p:cNvPr id="24" name="Rounded Rectangle 23"/>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Los extremos 3′ se orientan hacia el interior de la región que se copiará.</a:t>
            </a:r>
          </a:p>
        </p:txBody>
      </p:sp>
      <p:sp>
        <p:nvSpPr>
          <p:cNvPr id="26" name="TextBox 25"/>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MEZCLAS Y CÁLCULOS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Receta base: PCR convencional en 25 µL</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[5]; ejemplo docente, ajustar a la ficha del kit.</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07</a:t>
            </a:r>
          </a:p>
        </p:txBody>
      </p:sp>
      <p:sp>
        <p:nvSpPr>
          <p:cNvPr id="7" name="Rectangle 6"/>
          <p:cNvSpPr/>
          <p:nvPr/>
        </p:nvSpPr>
        <p:spPr>
          <a:xfrm>
            <a:off x="609600" y="1905000"/>
            <a:ext cx="3683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3454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Reactivo</a:t>
            </a:r>
          </a:p>
        </p:txBody>
      </p:sp>
      <p:sp>
        <p:nvSpPr>
          <p:cNvPr id="9" name="Rectangle 8"/>
          <p:cNvSpPr/>
          <p:nvPr/>
        </p:nvSpPr>
        <p:spPr>
          <a:xfrm>
            <a:off x="4292600" y="1905000"/>
            <a:ext cx="1905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06900" y="2006600"/>
            <a:ext cx="1676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Stock</a:t>
            </a:r>
          </a:p>
        </p:txBody>
      </p:sp>
      <p:sp>
        <p:nvSpPr>
          <p:cNvPr id="11" name="Rectangle 10"/>
          <p:cNvSpPr/>
          <p:nvPr/>
        </p:nvSpPr>
        <p:spPr>
          <a:xfrm>
            <a:off x="6197600" y="1905000"/>
            <a:ext cx="2159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1900" y="2006600"/>
            <a:ext cx="1930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Volumen</a:t>
            </a:r>
          </a:p>
        </p:txBody>
      </p:sp>
      <p:sp>
        <p:nvSpPr>
          <p:cNvPr id="13" name="Rectangle 12"/>
          <p:cNvSpPr/>
          <p:nvPr/>
        </p:nvSpPr>
        <p:spPr>
          <a:xfrm>
            <a:off x="8356600" y="1905000"/>
            <a:ext cx="3225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0900" y="2006600"/>
            <a:ext cx="29972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Final / aporte</a:t>
            </a:r>
          </a:p>
        </p:txBody>
      </p:sp>
      <p:sp>
        <p:nvSpPr>
          <p:cNvPr id="15" name="Rectangle 14"/>
          <p:cNvSpPr/>
          <p:nvPr/>
        </p:nvSpPr>
        <p:spPr>
          <a:xfrm>
            <a:off x="609600" y="2387600"/>
            <a:ext cx="3683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900" y="2476500"/>
            <a:ext cx="3454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Master mix completo</a:t>
            </a:r>
          </a:p>
        </p:txBody>
      </p:sp>
      <p:sp>
        <p:nvSpPr>
          <p:cNvPr id="17" name="Rectangle 16"/>
          <p:cNvSpPr/>
          <p:nvPr/>
        </p:nvSpPr>
        <p:spPr>
          <a:xfrm>
            <a:off x="4292600" y="2387600"/>
            <a:ext cx="1905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6900" y="2476500"/>
            <a:ext cx="1676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2×</a:t>
            </a:r>
          </a:p>
        </p:txBody>
      </p:sp>
      <p:sp>
        <p:nvSpPr>
          <p:cNvPr id="19" name="Rectangle 18"/>
          <p:cNvSpPr/>
          <p:nvPr/>
        </p:nvSpPr>
        <p:spPr>
          <a:xfrm>
            <a:off x="6197600" y="2387600"/>
            <a:ext cx="2159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00" y="2476500"/>
            <a:ext cx="193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12,5 µL</a:t>
            </a:r>
          </a:p>
        </p:txBody>
      </p:sp>
      <p:sp>
        <p:nvSpPr>
          <p:cNvPr id="21" name="Rectangle 20"/>
          <p:cNvSpPr/>
          <p:nvPr/>
        </p:nvSpPr>
        <p:spPr>
          <a:xfrm>
            <a:off x="8356600" y="2387600"/>
            <a:ext cx="3225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0900" y="2476500"/>
            <a:ext cx="2997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a:t>
            </a:r>
          </a:p>
        </p:txBody>
      </p:sp>
      <p:sp>
        <p:nvSpPr>
          <p:cNvPr id="23" name="Rectangle 22"/>
          <p:cNvSpPr/>
          <p:nvPr/>
        </p:nvSpPr>
        <p:spPr>
          <a:xfrm>
            <a:off x="609600" y="2870200"/>
            <a:ext cx="3683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900" y="2959100"/>
            <a:ext cx="3454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Primer forward</a:t>
            </a:r>
          </a:p>
        </p:txBody>
      </p:sp>
      <p:sp>
        <p:nvSpPr>
          <p:cNvPr id="25" name="Rectangle 24"/>
          <p:cNvSpPr/>
          <p:nvPr/>
        </p:nvSpPr>
        <p:spPr>
          <a:xfrm>
            <a:off x="4292600" y="2870200"/>
            <a:ext cx="1905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6900" y="2959100"/>
            <a:ext cx="1676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10 µM</a:t>
            </a:r>
          </a:p>
        </p:txBody>
      </p:sp>
      <p:sp>
        <p:nvSpPr>
          <p:cNvPr id="27" name="Rectangle 26"/>
          <p:cNvSpPr/>
          <p:nvPr/>
        </p:nvSpPr>
        <p:spPr>
          <a:xfrm>
            <a:off x="6197600" y="2870200"/>
            <a:ext cx="2159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11900" y="2959100"/>
            <a:ext cx="193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0,5 µL</a:t>
            </a:r>
          </a:p>
        </p:txBody>
      </p:sp>
      <p:sp>
        <p:nvSpPr>
          <p:cNvPr id="29" name="Rectangle 28"/>
          <p:cNvSpPr/>
          <p:nvPr/>
        </p:nvSpPr>
        <p:spPr>
          <a:xfrm>
            <a:off x="8356600" y="2870200"/>
            <a:ext cx="3225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70900" y="2959100"/>
            <a:ext cx="2997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0,2 µM</a:t>
            </a:r>
          </a:p>
        </p:txBody>
      </p:sp>
      <p:sp>
        <p:nvSpPr>
          <p:cNvPr id="31" name="Rectangle 30"/>
          <p:cNvSpPr/>
          <p:nvPr/>
        </p:nvSpPr>
        <p:spPr>
          <a:xfrm>
            <a:off x="609600" y="3352800"/>
            <a:ext cx="3683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3441700"/>
            <a:ext cx="3454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Primer reverse</a:t>
            </a:r>
          </a:p>
        </p:txBody>
      </p:sp>
      <p:sp>
        <p:nvSpPr>
          <p:cNvPr id="33" name="Rectangle 32"/>
          <p:cNvSpPr/>
          <p:nvPr/>
        </p:nvSpPr>
        <p:spPr>
          <a:xfrm>
            <a:off x="4292600" y="3352800"/>
            <a:ext cx="1905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06900" y="3441700"/>
            <a:ext cx="1676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10 µM</a:t>
            </a:r>
          </a:p>
        </p:txBody>
      </p:sp>
      <p:sp>
        <p:nvSpPr>
          <p:cNvPr id="35" name="Rectangle 34"/>
          <p:cNvSpPr/>
          <p:nvPr/>
        </p:nvSpPr>
        <p:spPr>
          <a:xfrm>
            <a:off x="6197600" y="3352800"/>
            <a:ext cx="2159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11900" y="3441700"/>
            <a:ext cx="193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0,5 µL</a:t>
            </a:r>
          </a:p>
        </p:txBody>
      </p:sp>
      <p:sp>
        <p:nvSpPr>
          <p:cNvPr id="37" name="Rectangle 36"/>
          <p:cNvSpPr/>
          <p:nvPr/>
        </p:nvSpPr>
        <p:spPr>
          <a:xfrm>
            <a:off x="8356600" y="3352800"/>
            <a:ext cx="3225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70900" y="3441700"/>
            <a:ext cx="2997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0,2 µM</a:t>
            </a:r>
          </a:p>
        </p:txBody>
      </p:sp>
      <p:sp>
        <p:nvSpPr>
          <p:cNvPr id="39" name="Rectangle 38"/>
          <p:cNvSpPr/>
          <p:nvPr/>
        </p:nvSpPr>
        <p:spPr>
          <a:xfrm>
            <a:off x="609600" y="3835400"/>
            <a:ext cx="3683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3900" y="3924300"/>
            <a:ext cx="3454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ADN molde</a:t>
            </a:r>
          </a:p>
        </p:txBody>
      </p:sp>
      <p:sp>
        <p:nvSpPr>
          <p:cNvPr id="41" name="Rectangle 40"/>
          <p:cNvSpPr/>
          <p:nvPr/>
        </p:nvSpPr>
        <p:spPr>
          <a:xfrm>
            <a:off x="4292600" y="3835400"/>
            <a:ext cx="1905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06900" y="3924300"/>
            <a:ext cx="1676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10 ng/µL</a:t>
            </a:r>
          </a:p>
        </p:txBody>
      </p:sp>
      <p:sp>
        <p:nvSpPr>
          <p:cNvPr id="43" name="Rectangle 42"/>
          <p:cNvSpPr/>
          <p:nvPr/>
        </p:nvSpPr>
        <p:spPr>
          <a:xfrm>
            <a:off x="6197600" y="3835400"/>
            <a:ext cx="2159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11900" y="3924300"/>
            <a:ext cx="193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2,0 µL</a:t>
            </a:r>
          </a:p>
        </p:txBody>
      </p:sp>
      <p:sp>
        <p:nvSpPr>
          <p:cNvPr id="45" name="Rectangle 44"/>
          <p:cNvSpPr/>
          <p:nvPr/>
        </p:nvSpPr>
        <p:spPr>
          <a:xfrm>
            <a:off x="8356600" y="3835400"/>
            <a:ext cx="3225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70900" y="3924300"/>
            <a:ext cx="2997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20 ng</a:t>
            </a:r>
          </a:p>
        </p:txBody>
      </p:sp>
      <p:sp>
        <p:nvSpPr>
          <p:cNvPr id="47" name="Rectangle 46"/>
          <p:cNvSpPr/>
          <p:nvPr/>
        </p:nvSpPr>
        <p:spPr>
          <a:xfrm>
            <a:off x="609600" y="4318000"/>
            <a:ext cx="3683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3900" y="4406900"/>
            <a:ext cx="3454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Agua</a:t>
            </a:r>
          </a:p>
        </p:txBody>
      </p:sp>
      <p:sp>
        <p:nvSpPr>
          <p:cNvPr id="49" name="Rectangle 48"/>
          <p:cNvSpPr/>
          <p:nvPr/>
        </p:nvSpPr>
        <p:spPr>
          <a:xfrm>
            <a:off x="4292600" y="4318000"/>
            <a:ext cx="1905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06900" y="4406900"/>
            <a:ext cx="1676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t>
            </a:r>
          </a:p>
        </p:txBody>
      </p:sp>
      <p:sp>
        <p:nvSpPr>
          <p:cNvPr id="51" name="Rectangle 50"/>
          <p:cNvSpPr/>
          <p:nvPr/>
        </p:nvSpPr>
        <p:spPr>
          <a:xfrm>
            <a:off x="6197600" y="4318000"/>
            <a:ext cx="2159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11900" y="4406900"/>
            <a:ext cx="193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9,5 µL</a:t>
            </a:r>
          </a:p>
        </p:txBody>
      </p:sp>
      <p:sp>
        <p:nvSpPr>
          <p:cNvPr id="53" name="Rectangle 52"/>
          <p:cNvSpPr/>
          <p:nvPr/>
        </p:nvSpPr>
        <p:spPr>
          <a:xfrm>
            <a:off x="8356600" y="4318000"/>
            <a:ext cx="3225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70900" y="4406900"/>
            <a:ext cx="2997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Hasta 25 µL</a:t>
            </a:r>
          </a:p>
        </p:txBody>
      </p:sp>
      <p:sp>
        <p:nvSpPr>
          <p:cNvPr id="55" name="Rounded Rectangle 54"/>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12,5 + 0,5 + 0,5 + 2,0 + 9,5 = 25,0 µL. En NTC, sustituir el ADN por agua.</a:t>
            </a:r>
          </a:p>
        </p:txBody>
      </p:sp>
      <p:sp>
        <p:nvSpPr>
          <p:cNvPr id="57" name="TextBox 56"/>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3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COMPARACIÓN DE MÉTODOS</a:t>
            </a:r>
          </a:p>
        </p:txBody>
      </p:sp>
      <p:sp>
        <p:nvSpPr>
          <p:cNvPr id="4" name="TextBox 3"/>
          <p:cNvSpPr txBox="1"/>
          <p:nvPr/>
        </p:nvSpPr>
        <p:spPr>
          <a:xfrm>
            <a:off x="609600" y="673100"/>
            <a:ext cx="10972800" cy="982218"/>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PCR convencional: ¿hay un producto del tamaño</a:t>
            </a:r>
          </a:p>
          <a:p>
            <a:pPr>
              <a:lnSpc>
                <a:spcPct val="115000"/>
              </a:lnSpc>
              <a:spcBef>
                <a:spcPts val="0"/>
              </a:spcBef>
              <a:spcAft>
                <a:spcPts val="0"/>
              </a:spcAft>
              <a:defRPr sz="2900" b="1">
                <a:solidFill>
                  <a:srgbClr val="183443"/>
                </a:solidFill>
                <a:latin typeface="DejaVu Sans"/>
              </a:defRPr>
            </a:pPr>
            <a:r>
              <a:t>esperado?</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[1,3,5].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08</a:t>
            </a:r>
          </a:p>
        </p:txBody>
      </p:sp>
      <p:sp>
        <p:nvSpPr>
          <p:cNvPr id="7" name="Rounded Rectangle 6"/>
          <p:cNvSpPr/>
          <p:nvPr/>
        </p:nvSpPr>
        <p:spPr>
          <a:xfrm>
            <a:off x="825500" y="1968500"/>
            <a:ext cx="5588000" cy="3302000"/>
          </a:xfrm>
          <a:prstGeom prst="roundRect">
            <a:avLst/>
          </a:prstGeom>
          <a:solidFill>
            <a:srgbClr val="203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6500" y="2108200"/>
            <a:ext cx="1206500" cy="304800"/>
          </a:xfrm>
          <a:prstGeom prst="rect">
            <a:avLst/>
          </a:prstGeom>
          <a:noFill/>
        </p:spPr>
        <p:txBody>
          <a:bodyPr wrap="none" lIns="0" rIns="0" tIns="0" bIns="0">
            <a:spAutoFit/>
          </a:bodyPr>
          <a:lstStyle/>
          <a:p>
            <a:pPr>
              <a:lnSpc>
                <a:spcPct val="115000"/>
              </a:lnSpc>
              <a:spcBef>
                <a:spcPts val="0"/>
              </a:spcBef>
              <a:spcAft>
                <a:spcPts val="0"/>
              </a:spcAft>
              <a:defRPr sz="1400" b="1">
                <a:solidFill>
                  <a:srgbClr val="FFFFFF"/>
                </a:solidFill>
                <a:latin typeface="DejaVu Sans"/>
              </a:defRPr>
            </a:pPr>
            <a:r>
              <a:t>M</a:t>
            </a:r>
          </a:p>
        </p:txBody>
      </p:sp>
      <p:sp>
        <p:nvSpPr>
          <p:cNvPr id="9" name="TextBox 8"/>
          <p:cNvSpPr txBox="1"/>
          <p:nvPr/>
        </p:nvSpPr>
        <p:spPr>
          <a:xfrm>
            <a:off x="2476500" y="2108200"/>
            <a:ext cx="1206500" cy="304800"/>
          </a:xfrm>
          <a:prstGeom prst="rect">
            <a:avLst/>
          </a:prstGeom>
          <a:noFill/>
        </p:spPr>
        <p:txBody>
          <a:bodyPr wrap="none" lIns="0" rIns="0" tIns="0" bIns="0">
            <a:spAutoFit/>
          </a:bodyPr>
          <a:lstStyle/>
          <a:p>
            <a:pPr>
              <a:lnSpc>
                <a:spcPct val="115000"/>
              </a:lnSpc>
              <a:spcBef>
                <a:spcPts val="0"/>
              </a:spcBef>
              <a:spcAft>
                <a:spcPts val="0"/>
              </a:spcAft>
              <a:defRPr sz="1400" b="1">
                <a:solidFill>
                  <a:srgbClr val="FFFFFF"/>
                </a:solidFill>
                <a:latin typeface="DejaVu Sans"/>
              </a:defRPr>
            </a:pPr>
            <a:r>
              <a:t>+</a:t>
            </a:r>
          </a:p>
        </p:txBody>
      </p:sp>
      <p:sp>
        <p:nvSpPr>
          <p:cNvPr id="10" name="TextBox 9"/>
          <p:cNvSpPr txBox="1"/>
          <p:nvPr/>
        </p:nvSpPr>
        <p:spPr>
          <a:xfrm>
            <a:off x="3746500" y="2108200"/>
            <a:ext cx="1206500" cy="304800"/>
          </a:xfrm>
          <a:prstGeom prst="rect">
            <a:avLst/>
          </a:prstGeom>
          <a:noFill/>
        </p:spPr>
        <p:txBody>
          <a:bodyPr wrap="none" lIns="0" rIns="0" tIns="0" bIns="0">
            <a:spAutoFit/>
          </a:bodyPr>
          <a:lstStyle/>
          <a:p>
            <a:pPr>
              <a:lnSpc>
                <a:spcPct val="115000"/>
              </a:lnSpc>
              <a:spcBef>
                <a:spcPts val="0"/>
              </a:spcBef>
              <a:spcAft>
                <a:spcPts val="0"/>
              </a:spcAft>
              <a:defRPr sz="1400" b="1">
                <a:solidFill>
                  <a:srgbClr val="FFFFFF"/>
                </a:solidFill>
                <a:latin typeface="DejaVu Sans"/>
              </a:defRPr>
            </a:pPr>
            <a:r>
              <a:t>Muestra</a:t>
            </a:r>
          </a:p>
        </p:txBody>
      </p:sp>
      <p:sp>
        <p:nvSpPr>
          <p:cNvPr id="11" name="TextBox 10"/>
          <p:cNvSpPr txBox="1"/>
          <p:nvPr/>
        </p:nvSpPr>
        <p:spPr>
          <a:xfrm>
            <a:off x="5143500" y="2108200"/>
            <a:ext cx="1206500" cy="304800"/>
          </a:xfrm>
          <a:prstGeom prst="rect">
            <a:avLst/>
          </a:prstGeom>
          <a:noFill/>
        </p:spPr>
        <p:txBody>
          <a:bodyPr wrap="none" lIns="0" rIns="0" tIns="0" bIns="0">
            <a:spAutoFit/>
          </a:bodyPr>
          <a:lstStyle/>
          <a:p>
            <a:pPr>
              <a:lnSpc>
                <a:spcPct val="115000"/>
              </a:lnSpc>
              <a:spcBef>
                <a:spcPts val="0"/>
              </a:spcBef>
              <a:spcAft>
                <a:spcPts val="0"/>
              </a:spcAft>
              <a:defRPr sz="1400" b="1">
                <a:solidFill>
                  <a:srgbClr val="FFFFFF"/>
                </a:solidFill>
                <a:latin typeface="DejaVu Sans"/>
              </a:defRPr>
            </a:pPr>
            <a:r>
              <a:t>NTC</a:t>
            </a:r>
          </a:p>
        </p:txBody>
      </p:sp>
      <p:cxnSp>
        <p:nvCxnSpPr>
          <p:cNvPr id="12" name="Connector 11"/>
          <p:cNvCxnSpPr/>
          <p:nvPr/>
        </p:nvCxnSpPr>
        <p:spPr>
          <a:xfrm>
            <a:off x="1206500" y="2667000"/>
            <a:ext cx="444500" cy="0"/>
          </a:xfrm>
          <a:prstGeom prst="line">
            <a:avLst/>
          </a:prstGeom>
          <a:ln w="63500">
            <a:solidFill>
              <a:srgbClr val="D5E8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206500" y="3048000"/>
            <a:ext cx="444500" cy="0"/>
          </a:xfrm>
          <a:prstGeom prst="line">
            <a:avLst/>
          </a:prstGeom>
          <a:ln w="63500">
            <a:solidFill>
              <a:srgbClr val="D5E8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206500" y="3556000"/>
            <a:ext cx="444500" cy="0"/>
          </a:xfrm>
          <a:prstGeom prst="line">
            <a:avLst/>
          </a:prstGeom>
          <a:ln w="63500">
            <a:solidFill>
              <a:srgbClr val="D5E8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06500" y="4064000"/>
            <a:ext cx="444500" cy="0"/>
          </a:xfrm>
          <a:prstGeom prst="line">
            <a:avLst/>
          </a:prstGeom>
          <a:ln w="63500">
            <a:solidFill>
              <a:srgbClr val="D5E8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06500" y="4572000"/>
            <a:ext cx="444500" cy="0"/>
          </a:xfrm>
          <a:prstGeom prst="line">
            <a:avLst/>
          </a:prstGeom>
          <a:ln w="63500">
            <a:solidFill>
              <a:srgbClr val="D5E8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438400" y="3556000"/>
            <a:ext cx="457200" cy="0"/>
          </a:xfrm>
          <a:prstGeom prst="line">
            <a:avLst/>
          </a:prstGeom>
          <a:ln w="88900">
            <a:solidFill>
              <a:srgbClr val="66D9C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08400" y="3556000"/>
            <a:ext cx="457200" cy="0"/>
          </a:xfrm>
          <a:prstGeom prst="line">
            <a:avLst/>
          </a:prstGeom>
          <a:ln w="88900">
            <a:solidFill>
              <a:srgbClr val="66D9C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048500" y="2159000"/>
            <a:ext cx="4191000" cy="435483"/>
          </a:xfrm>
          <a:prstGeom prst="rect">
            <a:avLst/>
          </a:prstGeom>
          <a:noFill/>
        </p:spPr>
        <p:txBody>
          <a:bodyPr wrap="none" lIns="0" rIns="0" tIns="0" bIns="0">
            <a:spAutoFit/>
          </a:bodyPr>
          <a:lstStyle/>
          <a:p>
            <a:pPr>
              <a:lnSpc>
                <a:spcPct val="115000"/>
              </a:lnSpc>
              <a:spcBef>
                <a:spcPts val="0"/>
              </a:spcBef>
              <a:spcAft>
                <a:spcPts val="0"/>
              </a:spcAft>
              <a:defRPr sz="2300" b="1">
                <a:solidFill>
                  <a:srgbClr val="007F86"/>
                </a:solidFill>
                <a:latin typeface="DejaVu Sans"/>
              </a:defRPr>
            </a:pPr>
            <a:r>
              <a:t>Lectura final en gel</a:t>
            </a:r>
          </a:p>
        </p:txBody>
      </p:sp>
      <p:sp>
        <p:nvSpPr>
          <p:cNvPr id="20" name="TextBox 19"/>
          <p:cNvSpPr txBox="1"/>
          <p:nvPr/>
        </p:nvSpPr>
        <p:spPr>
          <a:xfrm>
            <a:off x="7048500" y="2819400"/>
            <a:ext cx="4191000" cy="1560195"/>
          </a:xfrm>
          <a:prstGeom prst="rect">
            <a:avLst/>
          </a:prstGeom>
          <a:noFill/>
        </p:spPr>
        <p:txBody>
          <a:bodyPr wrap="none" lIns="0" rIns="0" tIns="0" bIns="0">
            <a:spAutoFit/>
          </a:bodyPr>
          <a:lstStyle/>
          <a:p>
            <a:pPr>
              <a:lnSpc>
                <a:spcPct val="115000"/>
              </a:lnSpc>
              <a:spcBef>
                <a:spcPts val="0"/>
              </a:spcBef>
              <a:spcAft>
                <a:spcPts val="0"/>
              </a:spcAft>
              <a:defRPr sz="1900" b="0">
                <a:solidFill>
                  <a:srgbClr val="183443"/>
                </a:solidFill>
                <a:latin typeface="DejaVu Sans"/>
              </a:defRPr>
            </a:pPr>
            <a:r>
              <a:t>Aplicaciones: genotipado,</a:t>
            </a:r>
          </a:p>
          <a:p>
            <a:pPr>
              <a:lnSpc>
                <a:spcPct val="115000"/>
              </a:lnSpc>
              <a:spcBef>
                <a:spcPts val="0"/>
              </a:spcBef>
              <a:spcAft>
                <a:spcPts val="0"/>
              </a:spcAft>
              <a:defRPr sz="1900" b="0">
                <a:solidFill>
                  <a:srgbClr val="183443"/>
                </a:solidFill>
                <a:latin typeface="DejaVu Sans"/>
              </a:defRPr>
            </a:pPr>
            <a:r>
              <a:t>clonación y preparación de un</a:t>
            </a:r>
          </a:p>
          <a:p>
            <a:pPr>
              <a:lnSpc>
                <a:spcPct val="115000"/>
              </a:lnSpc>
              <a:spcBef>
                <a:spcPts val="0"/>
              </a:spcBef>
              <a:spcAft>
                <a:spcPts val="0"/>
              </a:spcAft>
              <a:defRPr sz="1900" b="0">
                <a:solidFill>
                  <a:srgbClr val="183443"/>
                </a:solidFill>
                <a:latin typeface="DejaVu Sans"/>
              </a:defRPr>
            </a:pPr>
            <a:r>
              <a:t>amplicón para Sanger.</a:t>
            </a:r>
          </a:p>
          <a:p>
            <a:pPr>
              <a:lnSpc>
                <a:spcPct val="115000"/>
              </a:lnSpc>
              <a:spcBef>
                <a:spcPts val="0"/>
              </a:spcBef>
              <a:spcAft>
                <a:spcPts val="0"/>
              </a:spcAft>
              <a:defRPr sz="1900" b="0">
                <a:solidFill>
                  <a:srgbClr val="183443"/>
                </a:solidFill>
                <a:latin typeface="DejaVu Sans"/>
              </a:defRPr>
            </a:pPr>
            <a:r>
              <a:t>No cuantifica de forma robusta la</a:t>
            </a:r>
          </a:p>
          <a:p>
            <a:pPr>
              <a:lnSpc>
                <a:spcPct val="115000"/>
              </a:lnSpc>
              <a:spcBef>
                <a:spcPts val="0"/>
              </a:spcBef>
              <a:spcAft>
                <a:spcPts val="0"/>
              </a:spcAft>
              <a:defRPr sz="1900" b="0">
                <a:solidFill>
                  <a:srgbClr val="183443"/>
                </a:solidFill>
                <a:latin typeface="DejaVu Sans"/>
              </a:defRPr>
            </a:pPr>
            <a:r>
              <a:t>cantidad inicial.</a:t>
            </a:r>
          </a:p>
        </p:txBody>
      </p:sp>
      <p:sp>
        <p:nvSpPr>
          <p:cNvPr id="21" name="Rounded Rectangle 20"/>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Una banda extra o un NTC positivo exige investigar antes de secuenciar.</a:t>
            </a:r>
          </a:p>
        </p:txBody>
      </p:sp>
      <p:sp>
        <p:nvSpPr>
          <p:cNvPr id="23" name="TextBox 22"/>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1 min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COMPARACIÓN DE MÉTODOS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RT-PCR: convertir ARN en un molde amplificable</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[2,3,5].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09</a:t>
            </a:r>
          </a:p>
        </p:txBody>
      </p:sp>
      <p:sp>
        <p:nvSpPr>
          <p:cNvPr id="7" name="Rounded Rectangle 6"/>
          <p:cNvSpPr/>
          <p:nvPr/>
        </p:nvSpPr>
        <p:spPr>
          <a:xfrm>
            <a:off x="609600" y="2222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3876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806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ARN</a:t>
            </a:r>
          </a:p>
          <a:p>
            <a:pPr>
              <a:lnSpc>
                <a:spcPct val="115000"/>
              </a:lnSpc>
              <a:spcBef>
                <a:spcPts val="0"/>
              </a:spcBef>
              <a:spcAft>
                <a:spcPts val="0"/>
              </a:spcAft>
              <a:defRPr sz="1700" b="1">
                <a:solidFill>
                  <a:srgbClr val="183443"/>
                </a:solidFill>
                <a:latin typeface="DejaVu Sans"/>
              </a:defRPr>
            </a:pPr>
            <a:r>
              <a:t>control de ADN</a:t>
            </a:r>
          </a:p>
        </p:txBody>
      </p:sp>
      <p:cxnSp>
        <p:nvCxnSpPr>
          <p:cNvPr id="10" name="Connector 9"/>
          <p:cNvCxnSpPr/>
          <p:nvPr/>
        </p:nvCxnSpPr>
        <p:spPr>
          <a:xfrm>
            <a:off x="3086100" y="2921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14700"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3147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54400" y="2222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06800" y="23876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2200" y="2806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Transcripción</a:t>
            </a:r>
          </a:p>
          <a:p>
            <a:pPr>
              <a:lnSpc>
                <a:spcPct val="115000"/>
              </a:lnSpc>
              <a:spcBef>
                <a:spcPts val="0"/>
              </a:spcBef>
              <a:spcAft>
                <a:spcPts val="0"/>
              </a:spcAft>
              <a:defRPr sz="1700" b="1">
                <a:solidFill>
                  <a:srgbClr val="183443"/>
                </a:solidFill>
                <a:latin typeface="DejaVu Sans"/>
              </a:defRPr>
            </a:pPr>
            <a:r>
              <a:t>reversa</a:t>
            </a:r>
          </a:p>
        </p:txBody>
      </p:sp>
      <p:cxnSp>
        <p:nvCxnSpPr>
          <p:cNvPr id="16" name="Connector 15"/>
          <p:cNvCxnSpPr/>
          <p:nvPr/>
        </p:nvCxnSpPr>
        <p:spPr>
          <a:xfrm>
            <a:off x="5930900" y="2921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59500"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1595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99200" y="2222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51600" y="23876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7000" y="2806700"/>
            <a:ext cx="2082800" cy="341757"/>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ADNc</a:t>
            </a:r>
          </a:p>
        </p:txBody>
      </p:sp>
      <p:cxnSp>
        <p:nvCxnSpPr>
          <p:cNvPr id="22" name="Connector 21"/>
          <p:cNvCxnSpPr/>
          <p:nvPr/>
        </p:nvCxnSpPr>
        <p:spPr>
          <a:xfrm>
            <a:off x="8775700" y="2921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04300"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0043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44000" y="2222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296400" y="2387600"/>
            <a:ext cx="254000" cy="254000"/>
          </a:xfrm>
          <a:prstGeom prst="ellipse">
            <a:avLst/>
          </a:prstGeom>
          <a:solidFill>
            <a:srgbClr val="DA7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1800" y="2806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PCR final</a:t>
            </a:r>
          </a:p>
          <a:p>
            <a:pPr>
              <a:lnSpc>
                <a:spcPct val="115000"/>
              </a:lnSpc>
              <a:spcBef>
                <a:spcPts val="0"/>
              </a:spcBef>
              <a:spcAft>
                <a:spcPts val="0"/>
              </a:spcAft>
              <a:defRPr sz="1700" b="1">
                <a:solidFill>
                  <a:srgbClr val="183443"/>
                </a:solidFill>
                <a:latin typeface="DejaVu Sans"/>
              </a:defRPr>
            </a:pPr>
            <a:r>
              <a:t>o qPCR</a:t>
            </a:r>
          </a:p>
        </p:txBody>
      </p:sp>
      <p:sp>
        <p:nvSpPr>
          <p:cNvPr id="28" name="TextBox 27"/>
          <p:cNvSpPr txBox="1"/>
          <p:nvPr/>
        </p:nvSpPr>
        <p:spPr>
          <a:xfrm>
            <a:off x="825500" y="4127500"/>
            <a:ext cx="4953000" cy="669798"/>
          </a:xfrm>
          <a:prstGeom prst="rect">
            <a:avLst/>
          </a:prstGeom>
          <a:noFill/>
        </p:spPr>
        <p:txBody>
          <a:bodyPr wrap="none" lIns="0" rIns="0" tIns="0" bIns="0">
            <a:spAutoFit/>
          </a:bodyPr>
          <a:lstStyle/>
          <a:p>
            <a:pPr>
              <a:lnSpc>
                <a:spcPct val="115000"/>
              </a:lnSpc>
              <a:spcBef>
                <a:spcPts val="0"/>
              </a:spcBef>
              <a:spcAft>
                <a:spcPts val="0"/>
              </a:spcAft>
              <a:defRPr sz="1900" b="0">
                <a:solidFill>
                  <a:srgbClr val="183443"/>
                </a:solidFill>
                <a:latin typeface="DejaVu Sans"/>
              </a:defRPr>
            </a:pPr>
            <a:r>
              <a:t>Un paso: RT + PCR en el mismo tubo.</a:t>
            </a:r>
          </a:p>
          <a:p>
            <a:pPr>
              <a:lnSpc>
                <a:spcPct val="115000"/>
              </a:lnSpc>
              <a:spcBef>
                <a:spcPts val="0"/>
              </a:spcBef>
              <a:spcAft>
                <a:spcPts val="0"/>
              </a:spcAft>
              <a:defRPr sz="1900" b="0">
                <a:solidFill>
                  <a:srgbClr val="183443"/>
                </a:solidFill>
                <a:latin typeface="DejaVu Sans"/>
              </a:defRPr>
            </a:pPr>
            <a:r>
              <a:t>Menos manipulación; menor flexibilidad.</a:t>
            </a:r>
          </a:p>
        </p:txBody>
      </p:sp>
      <p:sp>
        <p:nvSpPr>
          <p:cNvPr id="29" name="TextBox 28"/>
          <p:cNvSpPr txBox="1"/>
          <p:nvPr/>
        </p:nvSpPr>
        <p:spPr>
          <a:xfrm>
            <a:off x="6413500" y="4127500"/>
            <a:ext cx="4953000" cy="669798"/>
          </a:xfrm>
          <a:prstGeom prst="rect">
            <a:avLst/>
          </a:prstGeom>
          <a:noFill/>
        </p:spPr>
        <p:txBody>
          <a:bodyPr wrap="none" lIns="0" rIns="0" tIns="0" bIns="0">
            <a:spAutoFit/>
          </a:bodyPr>
          <a:lstStyle/>
          <a:p>
            <a:pPr>
              <a:lnSpc>
                <a:spcPct val="115000"/>
              </a:lnSpc>
              <a:spcBef>
                <a:spcPts val="0"/>
              </a:spcBef>
              <a:spcAft>
                <a:spcPts val="0"/>
              </a:spcAft>
              <a:defRPr sz="1900" b="0">
                <a:solidFill>
                  <a:srgbClr val="183443"/>
                </a:solidFill>
                <a:latin typeface="DejaVu Sans"/>
              </a:defRPr>
            </a:pPr>
            <a:r>
              <a:t>Dos pasos: RT separada. Un ADNc</a:t>
            </a:r>
          </a:p>
          <a:p>
            <a:pPr>
              <a:lnSpc>
                <a:spcPct val="115000"/>
              </a:lnSpc>
              <a:spcBef>
                <a:spcPts val="0"/>
              </a:spcBef>
              <a:spcAft>
                <a:spcPts val="0"/>
              </a:spcAft>
              <a:defRPr sz="1900" b="0">
                <a:solidFill>
                  <a:srgbClr val="183443"/>
                </a:solidFill>
                <a:latin typeface="DejaVu Sans"/>
              </a:defRPr>
            </a:pPr>
            <a:r>
              <a:t>puede servir para varias dianas.</a:t>
            </a:r>
          </a:p>
        </p:txBody>
      </p:sp>
      <p:sp>
        <p:nvSpPr>
          <p:cNvPr id="30" name="Rounded Rectangle 29"/>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−RT controla ADN residual. RT-PCR por sí sola no significa tiempo real.</a:t>
            </a:r>
          </a:p>
        </p:txBody>
      </p:sp>
      <p:sp>
        <p:nvSpPr>
          <p:cNvPr id="32" name="TextBox 31"/>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COMPARACIÓN DE MÉTODOS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qPCR: leer la amplificación mientras ocurre</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[1–3,6].</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10</a:t>
            </a:r>
          </a:p>
        </p:txBody>
      </p:sp>
      <p:cxnSp>
        <p:nvCxnSpPr>
          <p:cNvPr id="7" name="Connector 6"/>
          <p:cNvCxnSpPr/>
          <p:nvPr/>
        </p:nvCxnSpPr>
        <p:spPr>
          <a:xfrm>
            <a:off x="1079500" y="5092700"/>
            <a:ext cx="6159500" cy="0"/>
          </a:xfrm>
          <a:prstGeom prst="line">
            <a:avLst/>
          </a:prstGeom>
          <a:ln w="25400">
            <a:solidFill>
              <a:srgbClr val="57717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79500" y="1905000"/>
            <a:ext cx="0" cy="3187700"/>
          </a:xfrm>
          <a:prstGeom prst="line">
            <a:avLst/>
          </a:prstGeom>
          <a:ln w="25400">
            <a:solidFill>
              <a:srgbClr val="57717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079500" y="5077454"/>
            <a:ext cx="139700" cy="100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219200" y="5075805"/>
            <a:ext cx="139700" cy="164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358900" y="5073091"/>
            <a:ext cx="139700" cy="271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498600" y="5068628"/>
            <a:ext cx="139700" cy="4463"/>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638300" y="5061300"/>
            <a:ext cx="139700" cy="732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78000" y="5049302"/>
            <a:ext cx="139700" cy="1199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917700" y="5029746"/>
            <a:ext cx="139700" cy="19556"/>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57400" y="4998101"/>
            <a:ext cx="139700" cy="3164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197100" y="4947492"/>
            <a:ext cx="139700" cy="5060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336800" y="4868052"/>
            <a:ext cx="139700" cy="79440"/>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476500" y="4746947"/>
            <a:ext cx="139700" cy="12110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16200" y="4570303"/>
            <a:ext cx="139700" cy="17664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755900" y="4328577"/>
            <a:ext cx="139700" cy="241726"/>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895600" y="4025151"/>
            <a:ext cx="139700" cy="303426"/>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035300" y="3683000"/>
            <a:ext cx="139700" cy="34215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175000" y="3340848"/>
            <a:ext cx="139700" cy="342152"/>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314700" y="3037422"/>
            <a:ext cx="139700" cy="303426"/>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4400" y="2795696"/>
            <a:ext cx="139700" cy="241726"/>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594100" y="2619052"/>
            <a:ext cx="139700" cy="17664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800" y="2497947"/>
            <a:ext cx="139700" cy="12110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873500" y="2418507"/>
            <a:ext cx="139700" cy="79440"/>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013200" y="2367898"/>
            <a:ext cx="139700" cy="5060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152900" y="2336253"/>
            <a:ext cx="139700" cy="3164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292600" y="2316697"/>
            <a:ext cx="139700" cy="19556"/>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432300" y="2304699"/>
            <a:ext cx="139700" cy="1199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72000" y="2297371"/>
            <a:ext cx="139700" cy="732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711700" y="2292908"/>
            <a:ext cx="139700" cy="4463"/>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851400" y="2290194"/>
            <a:ext cx="139700" cy="271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91100" y="2288545"/>
            <a:ext cx="139700" cy="164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130800" y="2287544"/>
            <a:ext cx="139700" cy="100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270500" y="2286936"/>
            <a:ext cx="139700" cy="60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410200" y="2286568"/>
            <a:ext cx="139700" cy="36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549900" y="2286344"/>
            <a:ext cx="139700" cy="22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689600" y="2286209"/>
            <a:ext cx="139700" cy="13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829300" y="2286126"/>
            <a:ext cx="139700" cy="83"/>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69000" y="2286076"/>
            <a:ext cx="139700" cy="50"/>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8700" y="2286046"/>
            <a:ext cx="139700" cy="30"/>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248400" y="2286028"/>
            <a:ext cx="139700" cy="1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388100" y="2286017"/>
            <a:ext cx="139700" cy="1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527800" y="2286010"/>
            <a:ext cx="139700" cy="7"/>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667500" y="2286006"/>
            <a:ext cx="139700" cy="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79500" y="5079953"/>
            <a:ext cx="139700" cy="1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219200" y="5079923"/>
            <a:ext cx="139700" cy="30"/>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358900" y="5079873"/>
            <a:ext cx="139700" cy="50"/>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498600" y="5079790"/>
            <a:ext cx="139700" cy="83"/>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638300" y="5079655"/>
            <a:ext cx="139700" cy="13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778000" y="5079431"/>
            <a:ext cx="139700" cy="22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917700" y="5079063"/>
            <a:ext cx="139700" cy="36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2057400" y="5078455"/>
            <a:ext cx="139700" cy="60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2197100" y="5077454"/>
            <a:ext cx="139700" cy="1001"/>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2336800" y="5075805"/>
            <a:ext cx="139700" cy="164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476500" y="5073091"/>
            <a:ext cx="139700" cy="271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2616200" y="5068628"/>
            <a:ext cx="139700" cy="4463"/>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755900" y="5061300"/>
            <a:ext cx="139700" cy="732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2895600" y="5049302"/>
            <a:ext cx="139700" cy="1199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3035300" y="5029746"/>
            <a:ext cx="139700" cy="19556"/>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175000" y="4998101"/>
            <a:ext cx="139700" cy="3164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3314700" y="4947492"/>
            <a:ext cx="139700" cy="5060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3454400" y="4868052"/>
            <a:ext cx="139700" cy="79440"/>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3594100" y="4746947"/>
            <a:ext cx="139700" cy="12110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3733800" y="4570303"/>
            <a:ext cx="139700" cy="17664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3873500" y="4328577"/>
            <a:ext cx="139700" cy="241726"/>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013200" y="4025151"/>
            <a:ext cx="139700" cy="303426"/>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152900" y="3683000"/>
            <a:ext cx="139700" cy="342151"/>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292600" y="3340848"/>
            <a:ext cx="139700" cy="342152"/>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4432300" y="3037422"/>
            <a:ext cx="139700" cy="303426"/>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4572000" y="2795696"/>
            <a:ext cx="139700" cy="241726"/>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4711700" y="2619052"/>
            <a:ext cx="139700" cy="17664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4851400" y="2497947"/>
            <a:ext cx="139700" cy="12110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4991100" y="2418507"/>
            <a:ext cx="139700" cy="79440"/>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5130800" y="2367898"/>
            <a:ext cx="139700" cy="5060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5270500" y="2336253"/>
            <a:ext cx="139700" cy="3164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5410200" y="2316697"/>
            <a:ext cx="139700" cy="19556"/>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5549900" y="2304699"/>
            <a:ext cx="139700" cy="1199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5689600" y="2297371"/>
            <a:ext cx="139700" cy="732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5829300" y="2292908"/>
            <a:ext cx="139700" cy="4463"/>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5969000" y="2290194"/>
            <a:ext cx="139700" cy="271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6108700" y="2288545"/>
            <a:ext cx="139700" cy="164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6248400" y="2287544"/>
            <a:ext cx="139700" cy="1001"/>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6388100" y="2286936"/>
            <a:ext cx="139700" cy="60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6527800" y="2286568"/>
            <a:ext cx="139700" cy="36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6667500" y="2286344"/>
            <a:ext cx="139700" cy="22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079500" y="5079998"/>
            <a:ext cx="139700" cy="1"/>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219200" y="5079997"/>
            <a:ext cx="139700" cy="1"/>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358900" y="5079996"/>
            <a:ext cx="139700" cy="1"/>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498600" y="5079993"/>
            <a:ext cx="139700" cy="3"/>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638300" y="5079989"/>
            <a:ext cx="139700" cy="4"/>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1778000" y="5079982"/>
            <a:ext cx="139700" cy="7"/>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917700" y="5079971"/>
            <a:ext cx="139700" cy="11"/>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057400" y="5079953"/>
            <a:ext cx="139700" cy="18"/>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197100" y="5079923"/>
            <a:ext cx="139700" cy="30"/>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336800" y="5079873"/>
            <a:ext cx="139700" cy="50"/>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476500" y="5079790"/>
            <a:ext cx="139700" cy="83"/>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616200" y="5079655"/>
            <a:ext cx="139700" cy="135"/>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2755900" y="5079431"/>
            <a:ext cx="139700" cy="224"/>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2895600" y="5079063"/>
            <a:ext cx="139700" cy="368"/>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035300" y="5078455"/>
            <a:ext cx="139700" cy="608"/>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175000" y="5077454"/>
            <a:ext cx="139700" cy="1001"/>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314700" y="5075805"/>
            <a:ext cx="139700" cy="1649"/>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454400" y="5073091"/>
            <a:ext cx="139700" cy="2714"/>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594100" y="5068628"/>
            <a:ext cx="139700" cy="4463"/>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33800" y="5061300"/>
            <a:ext cx="139700" cy="7328"/>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873500" y="5049302"/>
            <a:ext cx="139700" cy="11998"/>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4013200" y="5029746"/>
            <a:ext cx="139700" cy="19556"/>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4152900" y="4998101"/>
            <a:ext cx="139700" cy="31645"/>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4292600" y="4947492"/>
            <a:ext cx="139700" cy="50609"/>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4432300" y="4868052"/>
            <a:ext cx="139700" cy="79440"/>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4572000" y="4746947"/>
            <a:ext cx="139700" cy="121105"/>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711700" y="4570303"/>
            <a:ext cx="139700" cy="176644"/>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4851400" y="4328577"/>
            <a:ext cx="139700" cy="241726"/>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4991100" y="4025151"/>
            <a:ext cx="139700" cy="303426"/>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5130800" y="3683000"/>
            <a:ext cx="139700" cy="342151"/>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5270500" y="3340848"/>
            <a:ext cx="139700" cy="342152"/>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5410200" y="3037422"/>
            <a:ext cx="139700" cy="303426"/>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5549900" y="2795696"/>
            <a:ext cx="139700" cy="241726"/>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5689600" y="2619052"/>
            <a:ext cx="139700" cy="176644"/>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5829300" y="2497947"/>
            <a:ext cx="139700" cy="121105"/>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5969000" y="2418507"/>
            <a:ext cx="139700" cy="79440"/>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108700" y="2367898"/>
            <a:ext cx="139700" cy="50609"/>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248400" y="2336253"/>
            <a:ext cx="139700" cy="31645"/>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388100" y="2316697"/>
            <a:ext cx="139700" cy="19556"/>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527800" y="2304699"/>
            <a:ext cx="139700" cy="11998"/>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667500" y="2297371"/>
            <a:ext cx="139700" cy="7328"/>
          </a:xfrm>
          <a:prstGeom prst="line">
            <a:avLst/>
          </a:prstGeom>
          <a:ln w="38100">
            <a:solidFill>
              <a:srgbClr val="8061AC"/>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79500" y="3937000"/>
            <a:ext cx="6032500" cy="0"/>
          </a:xfrm>
          <a:prstGeom prst="line">
            <a:avLst/>
          </a:prstGeom>
          <a:ln w="12700">
            <a:solidFill>
              <a:srgbClr val="DA765B"/>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206500" y="3568700"/>
            <a:ext cx="2032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DA765B"/>
                </a:solidFill>
                <a:latin typeface="DejaVu Sans"/>
              </a:defRPr>
            </a:pPr>
            <a:r>
              <a:t>Umbral</a:t>
            </a:r>
          </a:p>
        </p:txBody>
      </p:sp>
      <p:sp>
        <p:nvSpPr>
          <p:cNvPr id="134" name="TextBox 133"/>
          <p:cNvSpPr txBox="1"/>
          <p:nvPr/>
        </p:nvSpPr>
        <p:spPr>
          <a:xfrm>
            <a:off x="3302000" y="5219700"/>
            <a:ext cx="31750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Ciclos →</a:t>
            </a:r>
          </a:p>
        </p:txBody>
      </p:sp>
      <p:sp>
        <p:nvSpPr>
          <p:cNvPr id="135" name="TextBox 134"/>
          <p:cNvSpPr txBox="1"/>
          <p:nvPr/>
        </p:nvSpPr>
        <p:spPr>
          <a:xfrm>
            <a:off x="7747000" y="2095500"/>
            <a:ext cx="3556000" cy="435483"/>
          </a:xfrm>
          <a:prstGeom prst="rect">
            <a:avLst/>
          </a:prstGeom>
          <a:noFill/>
        </p:spPr>
        <p:txBody>
          <a:bodyPr wrap="none" lIns="0" rIns="0" tIns="0" bIns="0">
            <a:spAutoFit/>
          </a:bodyPr>
          <a:lstStyle/>
          <a:p>
            <a:pPr>
              <a:lnSpc>
                <a:spcPct val="115000"/>
              </a:lnSpc>
              <a:spcBef>
                <a:spcPts val="0"/>
              </a:spcBef>
              <a:spcAft>
                <a:spcPts val="0"/>
              </a:spcAft>
              <a:defRPr sz="2300" b="1">
                <a:solidFill>
                  <a:srgbClr val="007F86"/>
                </a:solidFill>
                <a:latin typeface="DejaVu Sans"/>
              </a:defRPr>
            </a:pPr>
            <a:r>
              <a:t>Cq: ciclo de cruce</a:t>
            </a:r>
          </a:p>
        </p:txBody>
      </p:sp>
      <p:sp>
        <p:nvSpPr>
          <p:cNvPr id="136" name="TextBox 135"/>
          <p:cNvSpPr txBox="1"/>
          <p:nvPr/>
        </p:nvSpPr>
        <p:spPr>
          <a:xfrm>
            <a:off x="7747000" y="2895600"/>
            <a:ext cx="3556000" cy="1263396"/>
          </a:xfrm>
          <a:prstGeom prst="rect">
            <a:avLst/>
          </a:prstGeom>
          <a:noFill/>
        </p:spPr>
        <p:txBody>
          <a:bodyPr wrap="none" lIns="0" rIns="0" tIns="0" bIns="0">
            <a:spAutoFit/>
          </a:bodyPr>
          <a:lstStyle/>
          <a:p>
            <a:pPr>
              <a:lnSpc>
                <a:spcPct val="115000"/>
              </a:lnSpc>
              <a:spcBef>
                <a:spcPts val="0"/>
              </a:spcBef>
              <a:spcAft>
                <a:spcPts val="0"/>
              </a:spcAft>
              <a:defRPr sz="1900" b="0">
                <a:solidFill>
                  <a:srgbClr val="183443"/>
                </a:solidFill>
                <a:latin typeface="DejaVu Sans"/>
              </a:defRPr>
            </a:pPr>
            <a:r>
              <a:t>Más molde inicial → cruce</a:t>
            </a:r>
          </a:p>
          <a:p>
            <a:pPr>
              <a:lnSpc>
                <a:spcPct val="115000"/>
              </a:lnSpc>
              <a:spcBef>
                <a:spcPts val="0"/>
              </a:spcBef>
              <a:spcAft>
                <a:spcPts val="0"/>
              </a:spcAft>
              <a:defRPr sz="1900" b="0">
                <a:solidFill>
                  <a:srgbClr val="183443"/>
                </a:solidFill>
                <a:latin typeface="DejaVu Sans"/>
              </a:defRPr>
            </a:pPr>
            <a:r>
              <a:t>temprano.</a:t>
            </a:r>
          </a:p>
          <a:p>
            <a:pPr>
              <a:lnSpc>
                <a:spcPct val="115000"/>
              </a:lnSpc>
              <a:spcBef>
                <a:spcPts val="0"/>
              </a:spcBef>
              <a:spcAft>
                <a:spcPts val="0"/>
              </a:spcAft>
              <a:defRPr sz="1900" b="0">
                <a:solidFill>
                  <a:srgbClr val="183443"/>
                </a:solidFill>
                <a:latin typeface="DejaVu Sans"/>
              </a:defRPr>
            </a:pPr>
            <a:r>
              <a:t>Resultado cuantitativo:</a:t>
            </a:r>
          </a:p>
          <a:p>
            <a:pPr>
              <a:lnSpc>
                <a:spcPct val="115000"/>
              </a:lnSpc>
              <a:spcBef>
                <a:spcPts val="0"/>
              </a:spcBef>
              <a:spcAft>
                <a:spcPts val="0"/>
              </a:spcAft>
              <a:defRPr sz="1900" b="0">
                <a:solidFill>
                  <a:srgbClr val="183443"/>
                </a:solidFill>
                <a:latin typeface="DejaVu Sans"/>
              </a:defRPr>
            </a:pPr>
            <a:r>
              <a:t>exige validación y controles.</a:t>
            </a:r>
          </a:p>
        </p:txBody>
      </p:sp>
      <p:sp>
        <p:nvSpPr>
          <p:cNvPr id="137" name="Rounded Rectangle 136"/>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Cq también se denomina Ct. Las curvas mostradas son simuladas.</a:t>
            </a:r>
          </a:p>
        </p:txBody>
      </p:sp>
      <p:sp>
        <p:nvSpPr>
          <p:cNvPr id="139" name="TextBox 138"/>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CÁLCULOS DE QPCR</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Cuantificar con una curva estándar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[1,2,6].</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11</a:t>
            </a:r>
          </a:p>
        </p:txBody>
      </p:sp>
      <p:cxnSp>
        <p:nvCxnSpPr>
          <p:cNvPr id="7" name="Connector 6"/>
          <p:cNvCxnSpPr/>
          <p:nvPr/>
        </p:nvCxnSpPr>
        <p:spPr>
          <a:xfrm>
            <a:off x="1079500" y="5041900"/>
            <a:ext cx="5524500" cy="0"/>
          </a:xfrm>
          <a:prstGeom prst="line">
            <a:avLst/>
          </a:prstGeom>
          <a:ln w="25400">
            <a:solidFill>
              <a:srgbClr val="57717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79500" y="1905000"/>
            <a:ext cx="0" cy="3136900"/>
          </a:xfrm>
          <a:prstGeom prst="line">
            <a:avLst/>
          </a:prstGeom>
          <a:ln w="25400">
            <a:solidFill>
              <a:srgbClr val="57717D"/>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651000" y="2286000"/>
            <a:ext cx="127000" cy="127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3500" y="2806700"/>
            <a:ext cx="127000" cy="127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556000" y="3327400"/>
            <a:ext cx="127000" cy="127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08500" y="3848100"/>
            <a:ext cx="127000" cy="127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61000" y="4368800"/>
            <a:ext cx="127000" cy="127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714500" y="2349500"/>
            <a:ext cx="3810000" cy="20828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349500" y="5194300"/>
            <a:ext cx="41910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log₁₀(copias/reacción)</a:t>
            </a:r>
          </a:p>
        </p:txBody>
      </p:sp>
      <p:sp>
        <p:nvSpPr>
          <p:cNvPr id="16" name="TextBox 15"/>
          <p:cNvSpPr txBox="1"/>
          <p:nvPr/>
        </p:nvSpPr>
        <p:spPr>
          <a:xfrm>
            <a:off x="7175500" y="2006600"/>
            <a:ext cx="4191000" cy="419862"/>
          </a:xfrm>
          <a:prstGeom prst="rect">
            <a:avLst/>
          </a:prstGeom>
          <a:noFill/>
        </p:spPr>
        <p:txBody>
          <a:bodyPr wrap="none" lIns="0" rIns="0" tIns="0" bIns="0">
            <a:spAutoFit/>
          </a:bodyPr>
          <a:lstStyle/>
          <a:p>
            <a:pPr>
              <a:lnSpc>
                <a:spcPct val="115000"/>
              </a:lnSpc>
              <a:spcBef>
                <a:spcPts val="0"/>
              </a:spcBef>
              <a:spcAft>
                <a:spcPts val="0"/>
              </a:spcAft>
              <a:defRPr sz="2200" b="1">
                <a:solidFill>
                  <a:srgbClr val="007F86"/>
                </a:solidFill>
                <a:latin typeface="DejaVu Sans"/>
              </a:defRPr>
            </a:pPr>
            <a:r>
              <a:t>Cq = −3,32 log₁₀(N) + 40</a:t>
            </a:r>
          </a:p>
        </p:txBody>
      </p:sp>
      <p:sp>
        <p:nvSpPr>
          <p:cNvPr id="17" name="TextBox 16"/>
          <p:cNvSpPr txBox="1"/>
          <p:nvPr/>
        </p:nvSpPr>
        <p:spPr>
          <a:xfrm>
            <a:off x="7175500" y="2794000"/>
            <a:ext cx="4254500" cy="1013460"/>
          </a:xfrm>
          <a:prstGeom prst="rect">
            <a:avLst/>
          </a:prstGeom>
          <a:noFill/>
        </p:spPr>
        <p:txBody>
          <a:bodyPr wrap="none" lIns="0" rIns="0" tIns="0" bIns="0">
            <a:spAutoFit/>
          </a:bodyPr>
          <a:lstStyle/>
          <a:p>
            <a:pPr>
              <a:lnSpc>
                <a:spcPct val="115000"/>
              </a:lnSpc>
              <a:spcBef>
                <a:spcPts val="0"/>
              </a:spcBef>
              <a:spcAft>
                <a:spcPts val="0"/>
              </a:spcAft>
              <a:defRPr sz="2000" b="0">
                <a:solidFill>
                  <a:srgbClr val="183443"/>
                </a:solidFill>
                <a:latin typeface="DejaVu Sans"/>
              </a:defRPr>
            </a:pPr>
            <a:r>
              <a:t>Si Cq = 26,72:</a:t>
            </a:r>
          </a:p>
          <a:p>
            <a:pPr>
              <a:lnSpc>
                <a:spcPct val="115000"/>
              </a:lnSpc>
              <a:spcBef>
                <a:spcPts val="0"/>
              </a:spcBef>
              <a:spcAft>
                <a:spcPts val="0"/>
              </a:spcAft>
              <a:defRPr sz="2000" b="0">
                <a:solidFill>
                  <a:srgbClr val="183443"/>
                </a:solidFill>
                <a:latin typeface="DejaVu Sans"/>
              </a:defRPr>
            </a:pPr>
            <a:r>
              <a:t>log₁₀(N) = 4</a:t>
            </a:r>
          </a:p>
          <a:p>
            <a:pPr>
              <a:lnSpc>
                <a:spcPct val="115000"/>
              </a:lnSpc>
              <a:spcBef>
                <a:spcPts val="0"/>
              </a:spcBef>
              <a:spcAft>
                <a:spcPts val="0"/>
              </a:spcAft>
              <a:defRPr sz="2000" b="0">
                <a:solidFill>
                  <a:srgbClr val="183443"/>
                </a:solidFill>
                <a:latin typeface="DejaVu Sans"/>
              </a:defRPr>
            </a:pPr>
            <a:r>
              <a:t>N = 10 000 copias/reacción</a:t>
            </a:r>
          </a:p>
        </p:txBody>
      </p:sp>
      <p:sp>
        <p:nvSpPr>
          <p:cNvPr id="18" name="TextBox 17"/>
          <p:cNvSpPr txBox="1"/>
          <p:nvPr/>
        </p:nvSpPr>
        <p:spPr>
          <a:xfrm>
            <a:off x="7175500" y="4318000"/>
            <a:ext cx="4254500" cy="419862"/>
          </a:xfrm>
          <a:prstGeom prst="rect">
            <a:avLst/>
          </a:prstGeom>
          <a:noFill/>
        </p:spPr>
        <p:txBody>
          <a:bodyPr wrap="none" lIns="0" rIns="0" tIns="0" bIns="0">
            <a:spAutoFit/>
          </a:bodyPr>
          <a:lstStyle/>
          <a:p>
            <a:pPr>
              <a:lnSpc>
                <a:spcPct val="115000"/>
              </a:lnSpc>
              <a:spcBef>
                <a:spcPts val="0"/>
              </a:spcBef>
              <a:spcAft>
                <a:spcPts val="0"/>
              </a:spcAft>
              <a:defRPr sz="2200" b="1">
                <a:solidFill>
                  <a:srgbClr val="007F86"/>
                </a:solidFill>
                <a:latin typeface="DejaVu Sans"/>
              </a:defRPr>
            </a:pPr>
            <a:r>
              <a:t>E = 10^(−1/m) − 1</a:t>
            </a:r>
          </a:p>
        </p:txBody>
      </p:sp>
      <p:sp>
        <p:nvSpPr>
          <p:cNvPr id="19" name="Rounded Rectangle 18"/>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No extrapolar fuera del rango de estándares; R² alto por sí solo no valida el ensayo.</a:t>
            </a:r>
          </a:p>
        </p:txBody>
      </p:sp>
      <p:sp>
        <p:nvSpPr>
          <p:cNvPr id="21" name="TextBox 20"/>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CÁLCULOS DE RT-QPCR</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Expresión relativa: comparar contra una referencia</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[2,6]; Livak y Schmittgen 2001 [7].</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12</a:t>
            </a:r>
          </a:p>
        </p:txBody>
      </p:sp>
      <p:sp>
        <p:nvSpPr>
          <p:cNvPr id="7" name="Rectangle 6"/>
          <p:cNvSpPr/>
          <p:nvPr/>
        </p:nvSpPr>
        <p:spPr>
          <a:xfrm>
            <a:off x="609600" y="1968500"/>
            <a:ext cx="3302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70100"/>
            <a:ext cx="3073400" cy="357378"/>
          </a:xfrm>
          <a:prstGeom prst="rect">
            <a:avLst/>
          </a:prstGeom>
          <a:noFill/>
        </p:spPr>
        <p:txBody>
          <a:bodyPr wrap="none" lIns="0" rIns="0" tIns="0" bIns="0">
            <a:spAutoFit/>
          </a:bodyPr>
          <a:lstStyle/>
          <a:p>
            <a:pPr>
              <a:lnSpc>
                <a:spcPct val="115000"/>
              </a:lnSpc>
              <a:spcBef>
                <a:spcPts val="0"/>
              </a:spcBef>
              <a:spcAft>
                <a:spcPts val="0"/>
              </a:spcAft>
              <a:defRPr sz="1800" b="1">
                <a:solidFill>
                  <a:srgbClr val="FFFFFF"/>
                </a:solidFill>
                <a:latin typeface="DejaVu Sans"/>
              </a:defRPr>
            </a:pPr>
            <a:r>
              <a:t>Condición</a:t>
            </a:r>
          </a:p>
        </p:txBody>
      </p:sp>
      <p:sp>
        <p:nvSpPr>
          <p:cNvPr id="9" name="Rectangle 8"/>
          <p:cNvSpPr/>
          <p:nvPr/>
        </p:nvSpPr>
        <p:spPr>
          <a:xfrm>
            <a:off x="3911600" y="1968500"/>
            <a:ext cx="2413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5900" y="2070100"/>
            <a:ext cx="2184400" cy="357378"/>
          </a:xfrm>
          <a:prstGeom prst="rect">
            <a:avLst/>
          </a:prstGeom>
          <a:noFill/>
        </p:spPr>
        <p:txBody>
          <a:bodyPr wrap="none" lIns="0" rIns="0" tIns="0" bIns="0">
            <a:spAutoFit/>
          </a:bodyPr>
          <a:lstStyle/>
          <a:p>
            <a:pPr>
              <a:lnSpc>
                <a:spcPct val="115000"/>
              </a:lnSpc>
              <a:spcBef>
                <a:spcPts val="0"/>
              </a:spcBef>
              <a:spcAft>
                <a:spcPts val="0"/>
              </a:spcAft>
              <a:defRPr sz="1800" b="1">
                <a:solidFill>
                  <a:srgbClr val="FFFFFF"/>
                </a:solidFill>
                <a:latin typeface="DejaVu Sans"/>
              </a:defRPr>
            </a:pPr>
            <a:r>
              <a:t>Cq diana</a:t>
            </a:r>
          </a:p>
        </p:txBody>
      </p:sp>
      <p:sp>
        <p:nvSpPr>
          <p:cNvPr id="11" name="Rectangle 10"/>
          <p:cNvSpPr/>
          <p:nvPr/>
        </p:nvSpPr>
        <p:spPr>
          <a:xfrm>
            <a:off x="6324600" y="1968500"/>
            <a:ext cx="2844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8900" y="2070100"/>
            <a:ext cx="2616200" cy="357378"/>
          </a:xfrm>
          <a:prstGeom prst="rect">
            <a:avLst/>
          </a:prstGeom>
          <a:noFill/>
        </p:spPr>
        <p:txBody>
          <a:bodyPr wrap="none" lIns="0" rIns="0" tIns="0" bIns="0">
            <a:spAutoFit/>
          </a:bodyPr>
          <a:lstStyle/>
          <a:p>
            <a:pPr>
              <a:lnSpc>
                <a:spcPct val="115000"/>
              </a:lnSpc>
              <a:spcBef>
                <a:spcPts val="0"/>
              </a:spcBef>
              <a:spcAft>
                <a:spcPts val="0"/>
              </a:spcAft>
              <a:defRPr sz="1800" b="1">
                <a:solidFill>
                  <a:srgbClr val="FFFFFF"/>
                </a:solidFill>
                <a:latin typeface="DejaVu Sans"/>
              </a:defRPr>
            </a:pPr>
            <a:r>
              <a:t>Cq referencia</a:t>
            </a:r>
          </a:p>
        </p:txBody>
      </p:sp>
      <p:sp>
        <p:nvSpPr>
          <p:cNvPr id="13" name="Rectangle 12"/>
          <p:cNvSpPr/>
          <p:nvPr/>
        </p:nvSpPr>
        <p:spPr>
          <a:xfrm>
            <a:off x="9169400" y="1968500"/>
            <a:ext cx="2413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3700" y="2070100"/>
            <a:ext cx="2184400" cy="357378"/>
          </a:xfrm>
          <a:prstGeom prst="rect">
            <a:avLst/>
          </a:prstGeom>
          <a:noFill/>
        </p:spPr>
        <p:txBody>
          <a:bodyPr wrap="none" lIns="0" rIns="0" tIns="0" bIns="0">
            <a:spAutoFit/>
          </a:bodyPr>
          <a:lstStyle/>
          <a:p>
            <a:pPr>
              <a:lnSpc>
                <a:spcPct val="115000"/>
              </a:lnSpc>
              <a:spcBef>
                <a:spcPts val="0"/>
              </a:spcBef>
              <a:spcAft>
                <a:spcPts val="0"/>
              </a:spcAft>
              <a:defRPr sz="1800" b="1">
                <a:solidFill>
                  <a:srgbClr val="FFFFFF"/>
                </a:solidFill>
                <a:latin typeface="DejaVu Sans"/>
              </a:defRPr>
            </a:pPr>
            <a:r>
              <a:t>ΔCq</a:t>
            </a:r>
          </a:p>
        </p:txBody>
      </p:sp>
      <p:sp>
        <p:nvSpPr>
          <p:cNvPr id="15" name="Rectangle 14"/>
          <p:cNvSpPr/>
          <p:nvPr/>
        </p:nvSpPr>
        <p:spPr>
          <a:xfrm>
            <a:off x="609600" y="2451100"/>
            <a:ext cx="3302000" cy="4993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900" y="2540000"/>
            <a:ext cx="3073400" cy="35737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Control</a:t>
            </a:r>
          </a:p>
        </p:txBody>
      </p:sp>
      <p:sp>
        <p:nvSpPr>
          <p:cNvPr id="17" name="Rectangle 16"/>
          <p:cNvSpPr/>
          <p:nvPr/>
        </p:nvSpPr>
        <p:spPr>
          <a:xfrm>
            <a:off x="3911600" y="2451100"/>
            <a:ext cx="2413000" cy="4993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25900" y="2540000"/>
            <a:ext cx="2184400" cy="35737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25</a:t>
            </a:r>
          </a:p>
        </p:txBody>
      </p:sp>
      <p:sp>
        <p:nvSpPr>
          <p:cNvPr id="19" name="Rectangle 18"/>
          <p:cNvSpPr/>
          <p:nvPr/>
        </p:nvSpPr>
        <p:spPr>
          <a:xfrm>
            <a:off x="6324600" y="2451100"/>
            <a:ext cx="2844800" cy="4993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8900" y="2540000"/>
            <a:ext cx="2616200" cy="35737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20</a:t>
            </a:r>
          </a:p>
        </p:txBody>
      </p:sp>
      <p:sp>
        <p:nvSpPr>
          <p:cNvPr id="21" name="Rectangle 20"/>
          <p:cNvSpPr/>
          <p:nvPr/>
        </p:nvSpPr>
        <p:spPr>
          <a:xfrm>
            <a:off x="9169400" y="2451100"/>
            <a:ext cx="2413000" cy="4993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83700" y="2540000"/>
            <a:ext cx="2184400" cy="35737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5</a:t>
            </a:r>
          </a:p>
        </p:txBody>
      </p:sp>
      <p:sp>
        <p:nvSpPr>
          <p:cNvPr id="23" name="Rectangle 22"/>
          <p:cNvSpPr/>
          <p:nvPr/>
        </p:nvSpPr>
        <p:spPr>
          <a:xfrm>
            <a:off x="609600" y="2950464"/>
            <a:ext cx="3302000" cy="499364"/>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900" y="3039364"/>
            <a:ext cx="3073400" cy="35737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Tratada</a:t>
            </a:r>
          </a:p>
        </p:txBody>
      </p:sp>
      <p:sp>
        <p:nvSpPr>
          <p:cNvPr id="25" name="Rectangle 24"/>
          <p:cNvSpPr/>
          <p:nvPr/>
        </p:nvSpPr>
        <p:spPr>
          <a:xfrm>
            <a:off x="3911600" y="2950464"/>
            <a:ext cx="2413000" cy="499364"/>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25900" y="3039364"/>
            <a:ext cx="2184400" cy="35737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22</a:t>
            </a:r>
          </a:p>
        </p:txBody>
      </p:sp>
      <p:sp>
        <p:nvSpPr>
          <p:cNvPr id="27" name="Rectangle 26"/>
          <p:cNvSpPr/>
          <p:nvPr/>
        </p:nvSpPr>
        <p:spPr>
          <a:xfrm>
            <a:off x="6324600" y="2950464"/>
            <a:ext cx="2844800" cy="499364"/>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38900" y="3039364"/>
            <a:ext cx="2616200" cy="35737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20</a:t>
            </a:r>
          </a:p>
        </p:txBody>
      </p:sp>
      <p:sp>
        <p:nvSpPr>
          <p:cNvPr id="29" name="Rectangle 28"/>
          <p:cNvSpPr/>
          <p:nvPr/>
        </p:nvSpPr>
        <p:spPr>
          <a:xfrm>
            <a:off x="9169400" y="2950464"/>
            <a:ext cx="2413000" cy="499364"/>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83700" y="3039364"/>
            <a:ext cx="2184400" cy="35737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2</a:t>
            </a:r>
          </a:p>
        </p:txBody>
      </p:sp>
      <p:sp>
        <p:nvSpPr>
          <p:cNvPr id="31" name="TextBox 30"/>
          <p:cNvSpPr txBox="1"/>
          <p:nvPr/>
        </p:nvSpPr>
        <p:spPr>
          <a:xfrm>
            <a:off x="825500" y="3962400"/>
            <a:ext cx="10414000" cy="466725"/>
          </a:xfrm>
          <a:prstGeom prst="rect">
            <a:avLst/>
          </a:prstGeom>
          <a:noFill/>
        </p:spPr>
        <p:txBody>
          <a:bodyPr wrap="none" lIns="0" rIns="0" tIns="0" bIns="0">
            <a:spAutoFit/>
          </a:bodyPr>
          <a:lstStyle/>
          <a:p>
            <a:pPr>
              <a:lnSpc>
                <a:spcPct val="115000"/>
              </a:lnSpc>
              <a:spcBef>
                <a:spcPts val="0"/>
              </a:spcBef>
              <a:spcAft>
                <a:spcPts val="0"/>
              </a:spcAft>
              <a:defRPr sz="2500" b="1">
                <a:solidFill>
                  <a:srgbClr val="007F86"/>
                </a:solidFill>
                <a:latin typeface="DejaVu Sans"/>
              </a:defRPr>
            </a:pPr>
            <a:r>
              <a:t>ΔΔCq = 2 − 5 = −3</a:t>
            </a:r>
          </a:p>
        </p:txBody>
      </p:sp>
      <p:sp>
        <p:nvSpPr>
          <p:cNvPr id="32" name="TextBox 31"/>
          <p:cNvSpPr txBox="1"/>
          <p:nvPr/>
        </p:nvSpPr>
        <p:spPr>
          <a:xfrm>
            <a:off x="825500" y="4635500"/>
            <a:ext cx="10414000" cy="466725"/>
          </a:xfrm>
          <a:prstGeom prst="rect">
            <a:avLst/>
          </a:prstGeom>
          <a:noFill/>
        </p:spPr>
        <p:txBody>
          <a:bodyPr wrap="none" lIns="0" rIns="0" tIns="0" bIns="0">
            <a:spAutoFit/>
          </a:bodyPr>
          <a:lstStyle/>
          <a:p>
            <a:pPr>
              <a:lnSpc>
                <a:spcPct val="115000"/>
              </a:lnSpc>
              <a:spcBef>
                <a:spcPts val="0"/>
              </a:spcBef>
              <a:spcAft>
                <a:spcPts val="0"/>
              </a:spcAft>
              <a:defRPr sz="2500" b="1">
                <a:solidFill>
                  <a:srgbClr val="007F86"/>
                </a:solidFill>
                <a:latin typeface="DejaVu Sans"/>
              </a:defRPr>
            </a:pPr>
            <a:r>
              <a:t>Cambio relativo = 2^(−ΔΔCq) = 2³ = 8 veces</a:t>
            </a:r>
          </a:p>
        </p:txBody>
      </p:sp>
      <p:sp>
        <p:nvSpPr>
          <p:cNvPr id="33" name="Rounded Rectangle 32"/>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GAPDH o ACTB no son referencias estables por definición: deben validarse.</a:t>
            </a:r>
          </a:p>
        </p:txBody>
      </p:sp>
      <p:sp>
        <p:nvSpPr>
          <p:cNvPr id="35" name="TextBox 3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COMPARACIÓN DE MÉTODOS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PCR digital: contar particiones y corregir ocupación</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[3,4]; dMIQE 2013 [8].</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13</a:t>
            </a:r>
          </a:p>
        </p:txBody>
      </p:sp>
      <p:sp>
        <p:nvSpPr>
          <p:cNvPr id="7" name="Oval 6"/>
          <p:cNvSpPr/>
          <p:nvPr/>
        </p:nvSpPr>
        <p:spPr>
          <a:xfrm>
            <a:off x="939800" y="20955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97000" y="20955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54200" y="2095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311400" y="2095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68600" y="2095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225800" y="20955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83000" y="20955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140200" y="2095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97400" y="2095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54600" y="2095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9800" y="25273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97000" y="25273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854200" y="25273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311400" y="25273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768600" y="25273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225800" y="25273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83000" y="25273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140200" y="25273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597400" y="25273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054600" y="25273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39800" y="29591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397000" y="29591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54200" y="29591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311400" y="29591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768600" y="29591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225800" y="29591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83000" y="29591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140200" y="29591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597400" y="29591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054600" y="29591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39800" y="33909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397000" y="33909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854200" y="33909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311400" y="33909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2768600" y="33909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225800" y="33909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3683000" y="33909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140200" y="33909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597400" y="33909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5054600" y="33909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39800" y="38227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397000" y="38227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854200" y="38227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311400" y="38227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2768600" y="38227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3225800" y="38227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683000" y="38227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4140200" y="38227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597400" y="38227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5054600" y="38227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39800" y="42545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397000" y="42545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854200" y="4254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11400" y="4254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768600" y="4254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3225800" y="42545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683000" y="4254500"/>
            <a:ext cx="279400" cy="2794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140200" y="4254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4597400" y="4254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5054600" y="4254500"/>
            <a:ext cx="279400" cy="279400"/>
          </a:xfrm>
          <a:prstGeom prst="ellipse">
            <a:avLst/>
          </a:prstGeom>
          <a:solidFill>
            <a:srgbClr val="CD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98500" y="5016500"/>
            <a:ext cx="50800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Positiva = señal; negativa = sin señal</a:t>
            </a:r>
          </a:p>
        </p:txBody>
      </p:sp>
      <p:cxnSp>
        <p:nvCxnSpPr>
          <p:cNvPr id="68" name="Connector 67"/>
          <p:cNvCxnSpPr/>
          <p:nvPr/>
        </p:nvCxnSpPr>
        <p:spPr>
          <a:xfrm>
            <a:off x="5778500" y="3365500"/>
            <a:ext cx="825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515100" y="3302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6515100" y="3365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048500" y="2070100"/>
            <a:ext cx="4318000" cy="435483"/>
          </a:xfrm>
          <a:prstGeom prst="rect">
            <a:avLst/>
          </a:prstGeom>
          <a:noFill/>
        </p:spPr>
        <p:txBody>
          <a:bodyPr wrap="none" lIns="0" rIns="0" tIns="0" bIns="0">
            <a:spAutoFit/>
          </a:bodyPr>
          <a:lstStyle/>
          <a:p>
            <a:pPr>
              <a:lnSpc>
                <a:spcPct val="115000"/>
              </a:lnSpc>
              <a:spcBef>
                <a:spcPts val="0"/>
              </a:spcBef>
              <a:spcAft>
                <a:spcPts val="0"/>
              </a:spcAft>
              <a:defRPr sz="2300" b="1">
                <a:solidFill>
                  <a:srgbClr val="007F86"/>
                </a:solidFill>
                <a:latin typeface="DejaVu Sans"/>
              </a:defRPr>
            </a:pPr>
            <a:r>
              <a:t>p = positivas / válidas</a:t>
            </a:r>
          </a:p>
        </p:txBody>
      </p:sp>
      <p:sp>
        <p:nvSpPr>
          <p:cNvPr id="72" name="TextBox 71"/>
          <p:cNvSpPr txBox="1"/>
          <p:nvPr/>
        </p:nvSpPr>
        <p:spPr>
          <a:xfrm>
            <a:off x="7048500" y="2857500"/>
            <a:ext cx="4318000" cy="497967"/>
          </a:xfrm>
          <a:prstGeom prst="rect">
            <a:avLst/>
          </a:prstGeom>
          <a:noFill/>
        </p:spPr>
        <p:txBody>
          <a:bodyPr wrap="none" lIns="0" rIns="0" tIns="0" bIns="0">
            <a:spAutoFit/>
          </a:bodyPr>
          <a:lstStyle/>
          <a:p>
            <a:pPr>
              <a:lnSpc>
                <a:spcPct val="115000"/>
              </a:lnSpc>
              <a:spcBef>
                <a:spcPts val="0"/>
              </a:spcBef>
              <a:spcAft>
                <a:spcPts val="0"/>
              </a:spcAft>
              <a:defRPr sz="2700" b="1">
                <a:solidFill>
                  <a:srgbClr val="007F86"/>
                </a:solidFill>
                <a:latin typeface="DejaVu Sans"/>
              </a:defRPr>
            </a:pPr>
            <a:r>
              <a:t>λ = −ln(1 − p)</a:t>
            </a:r>
          </a:p>
        </p:txBody>
      </p:sp>
      <p:sp>
        <p:nvSpPr>
          <p:cNvPr id="73" name="TextBox 72"/>
          <p:cNvSpPr txBox="1"/>
          <p:nvPr/>
        </p:nvSpPr>
        <p:spPr>
          <a:xfrm>
            <a:off x="7048500" y="3695700"/>
            <a:ext cx="4318000" cy="404241"/>
          </a:xfrm>
          <a:prstGeom prst="rect">
            <a:avLst/>
          </a:prstGeom>
          <a:noFill/>
        </p:spPr>
        <p:txBody>
          <a:bodyPr wrap="none" lIns="0" rIns="0" tIns="0" bIns="0">
            <a:spAutoFit/>
          </a:bodyPr>
          <a:lstStyle/>
          <a:p>
            <a:pPr>
              <a:lnSpc>
                <a:spcPct val="115000"/>
              </a:lnSpc>
              <a:spcBef>
                <a:spcPts val="0"/>
              </a:spcBef>
              <a:spcAft>
                <a:spcPts val="0"/>
              </a:spcAft>
              <a:defRPr sz="2100" b="0">
                <a:solidFill>
                  <a:srgbClr val="183443"/>
                </a:solidFill>
                <a:latin typeface="DejaVu Sans"/>
              </a:defRPr>
            </a:pPr>
            <a:r>
              <a:t>c = λ / volumen de partición</a:t>
            </a:r>
          </a:p>
        </p:txBody>
      </p:sp>
      <p:sp>
        <p:nvSpPr>
          <p:cNvPr id="74" name="TextBox 73"/>
          <p:cNvSpPr txBox="1"/>
          <p:nvPr/>
        </p:nvSpPr>
        <p:spPr>
          <a:xfrm>
            <a:off x="7048500" y="4381500"/>
            <a:ext cx="43180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λ: copias medias por partición</a:t>
            </a:r>
          </a:p>
        </p:txBody>
      </p:sp>
      <p:sp>
        <p:nvSpPr>
          <p:cNvPr id="75" name="Rounded Rectangle 74"/>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dPCR puede usar gotas o cámaras; la lectura suele hacerse al final.</a:t>
            </a:r>
          </a:p>
        </p:txBody>
      </p:sp>
      <p:sp>
        <p:nvSpPr>
          <p:cNvPr id="77" name="TextBox 76"/>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CÁLCULOS DE DPCR</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De particiones positivas a copias en el extracto</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[4,8]; datos simulados.</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14</a:t>
            </a:r>
          </a:p>
        </p:txBody>
      </p:sp>
      <p:sp>
        <p:nvSpPr>
          <p:cNvPr id="7" name="TextBox 6"/>
          <p:cNvSpPr txBox="1"/>
          <p:nvPr/>
        </p:nvSpPr>
        <p:spPr>
          <a:xfrm>
            <a:off x="698500" y="1841500"/>
            <a:ext cx="10795000" cy="419862"/>
          </a:xfrm>
          <a:prstGeom prst="rect">
            <a:avLst/>
          </a:prstGeom>
          <a:noFill/>
        </p:spPr>
        <p:txBody>
          <a:bodyPr wrap="none" lIns="0" rIns="0" tIns="0" bIns="0">
            <a:spAutoFit/>
          </a:bodyPr>
          <a:lstStyle/>
          <a:p>
            <a:pPr>
              <a:lnSpc>
                <a:spcPct val="115000"/>
              </a:lnSpc>
              <a:spcBef>
                <a:spcPts val="0"/>
              </a:spcBef>
              <a:spcAft>
                <a:spcPts val="0"/>
              </a:spcAft>
              <a:defRPr sz="2200" b="1">
                <a:solidFill>
                  <a:srgbClr val="007F86"/>
                </a:solidFill>
                <a:latin typeface="DejaVu Sans"/>
              </a:defRPr>
            </a:pPr>
            <a:r>
              <a:t>20 000 válidas · 5 000 positivas · partición = 0,85 nL</a:t>
            </a:r>
          </a:p>
        </p:txBody>
      </p:sp>
      <p:sp>
        <p:nvSpPr>
          <p:cNvPr id="8" name="Rectangle 7"/>
          <p:cNvSpPr/>
          <p:nvPr/>
        </p:nvSpPr>
        <p:spPr>
          <a:xfrm>
            <a:off x="609600" y="2476500"/>
            <a:ext cx="56896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3900" y="2578100"/>
            <a:ext cx="54610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Paso</a:t>
            </a:r>
          </a:p>
        </p:txBody>
      </p:sp>
      <p:sp>
        <p:nvSpPr>
          <p:cNvPr id="10" name="Rectangle 9"/>
          <p:cNvSpPr/>
          <p:nvPr/>
        </p:nvSpPr>
        <p:spPr>
          <a:xfrm>
            <a:off x="6299200" y="2476500"/>
            <a:ext cx="52832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3500" y="2578100"/>
            <a:ext cx="50546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Resultado</a:t>
            </a:r>
          </a:p>
        </p:txBody>
      </p:sp>
      <p:sp>
        <p:nvSpPr>
          <p:cNvPr id="12" name="Rectangle 11"/>
          <p:cNvSpPr/>
          <p:nvPr/>
        </p:nvSpPr>
        <p:spPr>
          <a:xfrm>
            <a:off x="609600" y="2959100"/>
            <a:ext cx="56896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900" y="3048000"/>
            <a:ext cx="5461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 = 5 000 / 20 000</a:t>
            </a:r>
          </a:p>
        </p:txBody>
      </p:sp>
      <p:sp>
        <p:nvSpPr>
          <p:cNvPr id="14" name="Rectangle 13"/>
          <p:cNvSpPr/>
          <p:nvPr/>
        </p:nvSpPr>
        <p:spPr>
          <a:xfrm>
            <a:off x="6299200" y="2959100"/>
            <a:ext cx="52832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3500" y="3048000"/>
            <a:ext cx="50546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0,25</a:t>
            </a:r>
          </a:p>
        </p:txBody>
      </p:sp>
      <p:sp>
        <p:nvSpPr>
          <p:cNvPr id="16" name="Rectangle 15"/>
          <p:cNvSpPr/>
          <p:nvPr/>
        </p:nvSpPr>
        <p:spPr>
          <a:xfrm>
            <a:off x="609600" y="3441700"/>
            <a:ext cx="56896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900" y="3530600"/>
            <a:ext cx="5461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λ = −ln(0,75)</a:t>
            </a:r>
          </a:p>
        </p:txBody>
      </p:sp>
      <p:sp>
        <p:nvSpPr>
          <p:cNvPr id="18" name="Rectangle 17"/>
          <p:cNvSpPr/>
          <p:nvPr/>
        </p:nvSpPr>
        <p:spPr>
          <a:xfrm>
            <a:off x="6299200" y="3441700"/>
            <a:ext cx="52832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3500" y="3530600"/>
            <a:ext cx="50546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0,28768 copias/partición</a:t>
            </a:r>
          </a:p>
        </p:txBody>
      </p:sp>
      <p:sp>
        <p:nvSpPr>
          <p:cNvPr id="20" name="Rectangle 19"/>
          <p:cNvSpPr/>
          <p:nvPr/>
        </p:nvSpPr>
        <p:spPr>
          <a:xfrm>
            <a:off x="609600" y="3924300"/>
            <a:ext cx="56896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900" y="4013200"/>
            <a:ext cx="5461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 = 0,28768 / 0,00085 µL</a:t>
            </a:r>
          </a:p>
        </p:txBody>
      </p:sp>
      <p:sp>
        <p:nvSpPr>
          <p:cNvPr id="22" name="Rectangle 21"/>
          <p:cNvSpPr/>
          <p:nvPr/>
        </p:nvSpPr>
        <p:spPr>
          <a:xfrm>
            <a:off x="6299200" y="3924300"/>
            <a:ext cx="52832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3500" y="4013200"/>
            <a:ext cx="50546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338,45 copias/µL de reacción</a:t>
            </a:r>
          </a:p>
        </p:txBody>
      </p:sp>
      <p:sp>
        <p:nvSpPr>
          <p:cNvPr id="24" name="Rectangle 23"/>
          <p:cNvSpPr/>
          <p:nvPr/>
        </p:nvSpPr>
        <p:spPr>
          <a:xfrm>
            <a:off x="609600" y="4406900"/>
            <a:ext cx="56896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900" y="4495800"/>
            <a:ext cx="5461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Extracto: 4 µL en 20 µL (×5)</a:t>
            </a:r>
          </a:p>
        </p:txBody>
      </p:sp>
      <p:sp>
        <p:nvSpPr>
          <p:cNvPr id="26" name="Rectangle 25"/>
          <p:cNvSpPr/>
          <p:nvPr/>
        </p:nvSpPr>
        <p:spPr>
          <a:xfrm>
            <a:off x="6299200" y="4406900"/>
            <a:ext cx="52832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3500" y="4495800"/>
            <a:ext cx="50546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1 692,25 copias/µL del extracto diluido</a:t>
            </a:r>
          </a:p>
        </p:txBody>
      </p:sp>
      <p:sp>
        <p:nvSpPr>
          <p:cNvPr id="28" name="Rectangle 27"/>
          <p:cNvSpPr/>
          <p:nvPr/>
        </p:nvSpPr>
        <p:spPr>
          <a:xfrm>
            <a:off x="609600" y="4889500"/>
            <a:ext cx="56896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3900" y="4978400"/>
            <a:ext cx="5461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Dilución previa del extracto 1:10 (×10)</a:t>
            </a:r>
          </a:p>
        </p:txBody>
      </p:sp>
      <p:sp>
        <p:nvSpPr>
          <p:cNvPr id="30" name="Rectangle 29"/>
          <p:cNvSpPr/>
          <p:nvPr/>
        </p:nvSpPr>
        <p:spPr>
          <a:xfrm>
            <a:off x="6299200" y="4889500"/>
            <a:ext cx="52832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3500" y="4978400"/>
            <a:ext cx="50546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16 922,5 copias/µL del extracto original</a:t>
            </a:r>
          </a:p>
        </p:txBody>
      </p:sp>
      <p:sp>
        <p:nvSpPr>
          <p:cNvPr id="32" name="Rounded Rectangle 31"/>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Contar 5 000 positivas como 5 000 moléculas subestima las copias: hay coincidencias.</a:t>
            </a:r>
          </a:p>
        </p:txBody>
      </p:sp>
      <p:sp>
        <p:nvSpPr>
          <p:cNvPr id="34" name="TextBox 33"/>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3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SÍNTESIS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Comparación central: elegir por la pregunta</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[1–4,6,8].</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15</a:t>
            </a:r>
          </a:p>
        </p:txBody>
      </p:sp>
      <p:sp>
        <p:nvSpPr>
          <p:cNvPr id="7" name="Rectangle 6"/>
          <p:cNvSpPr/>
          <p:nvPr/>
        </p:nvSpPr>
        <p:spPr>
          <a:xfrm>
            <a:off x="609600" y="1905000"/>
            <a:ext cx="22479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20193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Método</a:t>
            </a:r>
          </a:p>
        </p:txBody>
      </p:sp>
      <p:sp>
        <p:nvSpPr>
          <p:cNvPr id="9" name="Rectangle 8"/>
          <p:cNvSpPr/>
          <p:nvPr/>
        </p:nvSpPr>
        <p:spPr>
          <a:xfrm>
            <a:off x="2857500" y="1905000"/>
            <a:ext cx="30226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2006600"/>
            <a:ext cx="27940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Lectura / resultado</a:t>
            </a:r>
          </a:p>
        </p:txBody>
      </p:sp>
      <p:sp>
        <p:nvSpPr>
          <p:cNvPr id="11" name="Rectangle 10"/>
          <p:cNvSpPr/>
          <p:nvPr/>
        </p:nvSpPr>
        <p:spPr>
          <a:xfrm>
            <a:off x="5880100" y="1905000"/>
            <a:ext cx="27305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94400" y="2006600"/>
            <a:ext cx="25019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Aplicación</a:t>
            </a:r>
          </a:p>
        </p:txBody>
      </p:sp>
      <p:sp>
        <p:nvSpPr>
          <p:cNvPr id="13" name="Rectangle 12"/>
          <p:cNvSpPr/>
          <p:nvPr/>
        </p:nvSpPr>
        <p:spPr>
          <a:xfrm>
            <a:off x="8610600" y="1905000"/>
            <a:ext cx="2971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24900" y="2006600"/>
            <a:ext cx="27432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Límite principal</a:t>
            </a:r>
          </a:p>
        </p:txBody>
      </p:sp>
      <p:sp>
        <p:nvSpPr>
          <p:cNvPr id="15" name="Rectangle 14"/>
          <p:cNvSpPr/>
          <p:nvPr/>
        </p:nvSpPr>
        <p:spPr>
          <a:xfrm>
            <a:off x="609600" y="2387600"/>
            <a:ext cx="22479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900" y="2476500"/>
            <a:ext cx="20193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Convencional</a:t>
            </a:r>
          </a:p>
        </p:txBody>
      </p:sp>
      <p:sp>
        <p:nvSpPr>
          <p:cNvPr id="17" name="Rectangle 16"/>
          <p:cNvSpPr/>
          <p:nvPr/>
        </p:nvSpPr>
        <p:spPr>
          <a:xfrm>
            <a:off x="2857500" y="2387600"/>
            <a:ext cx="30226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2476500"/>
            <a:ext cx="2794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Banda final; tamaño</a:t>
            </a:r>
          </a:p>
        </p:txBody>
      </p:sp>
      <p:sp>
        <p:nvSpPr>
          <p:cNvPr id="19" name="Rectangle 18"/>
          <p:cNvSpPr/>
          <p:nvPr/>
        </p:nvSpPr>
        <p:spPr>
          <a:xfrm>
            <a:off x="5880100" y="2387600"/>
            <a:ext cx="27305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94400" y="2476500"/>
            <a:ext cx="25019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Presencia; amplicón</a:t>
            </a:r>
          </a:p>
          <a:p>
            <a:pPr>
              <a:lnSpc>
                <a:spcPct val="115000"/>
              </a:lnSpc>
              <a:spcBef>
                <a:spcPts val="0"/>
              </a:spcBef>
              <a:spcAft>
                <a:spcPts val="0"/>
              </a:spcAft>
              <a:defRPr sz="1500" b="0">
                <a:solidFill>
                  <a:srgbClr val="183443"/>
                </a:solidFill>
                <a:latin typeface="DejaVu Sans"/>
              </a:defRPr>
            </a:pPr>
            <a:r>
              <a:t>Sanger</a:t>
            </a:r>
          </a:p>
        </p:txBody>
      </p:sp>
      <p:sp>
        <p:nvSpPr>
          <p:cNvPr id="21" name="Rectangle 20"/>
          <p:cNvSpPr/>
          <p:nvPr/>
        </p:nvSpPr>
        <p:spPr>
          <a:xfrm>
            <a:off x="8610600" y="2387600"/>
            <a:ext cx="29718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24900" y="2476500"/>
            <a:ext cx="2743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Poca capacidad cuantitativa</a:t>
            </a:r>
          </a:p>
        </p:txBody>
      </p:sp>
      <p:sp>
        <p:nvSpPr>
          <p:cNvPr id="23" name="Rectangle 22"/>
          <p:cNvSpPr/>
          <p:nvPr/>
        </p:nvSpPr>
        <p:spPr>
          <a:xfrm>
            <a:off x="609600" y="3075940"/>
            <a:ext cx="22479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900" y="3164840"/>
            <a:ext cx="20193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RT-PCR final</a:t>
            </a:r>
          </a:p>
        </p:txBody>
      </p:sp>
      <p:sp>
        <p:nvSpPr>
          <p:cNvPr id="25" name="Rectangle 24"/>
          <p:cNvSpPr/>
          <p:nvPr/>
        </p:nvSpPr>
        <p:spPr>
          <a:xfrm>
            <a:off x="2857500" y="3075940"/>
            <a:ext cx="30226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71800" y="3164840"/>
            <a:ext cx="2794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ARN → ADNc → banda</a:t>
            </a:r>
          </a:p>
        </p:txBody>
      </p:sp>
      <p:sp>
        <p:nvSpPr>
          <p:cNvPr id="27" name="Rectangle 26"/>
          <p:cNvSpPr/>
          <p:nvPr/>
        </p:nvSpPr>
        <p:spPr>
          <a:xfrm>
            <a:off x="5880100" y="3075940"/>
            <a:ext cx="27305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94400" y="3164840"/>
            <a:ext cx="2501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Detectar transcritos</a:t>
            </a:r>
          </a:p>
        </p:txBody>
      </p:sp>
      <p:sp>
        <p:nvSpPr>
          <p:cNvPr id="29" name="Rectangle 28"/>
          <p:cNvSpPr/>
          <p:nvPr/>
        </p:nvSpPr>
        <p:spPr>
          <a:xfrm>
            <a:off x="8610600" y="3075940"/>
            <a:ext cx="2971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24900" y="3164840"/>
            <a:ext cx="2743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Variación de RT</a:t>
            </a:r>
          </a:p>
        </p:txBody>
      </p:sp>
      <p:sp>
        <p:nvSpPr>
          <p:cNvPr id="31" name="Rectangle 30"/>
          <p:cNvSpPr/>
          <p:nvPr/>
        </p:nvSpPr>
        <p:spPr>
          <a:xfrm>
            <a:off x="609600" y="3558540"/>
            <a:ext cx="22479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3647440"/>
            <a:ext cx="20193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qPCR / RT-qPCR</a:t>
            </a:r>
          </a:p>
        </p:txBody>
      </p:sp>
      <p:sp>
        <p:nvSpPr>
          <p:cNvPr id="33" name="Rectangle 32"/>
          <p:cNvSpPr/>
          <p:nvPr/>
        </p:nvSpPr>
        <p:spPr>
          <a:xfrm>
            <a:off x="2857500" y="3558540"/>
            <a:ext cx="30226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71800" y="3647440"/>
            <a:ext cx="2794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Cq; calibración / referencia</a:t>
            </a:r>
          </a:p>
        </p:txBody>
      </p:sp>
      <p:sp>
        <p:nvSpPr>
          <p:cNvPr id="35" name="Rectangle 34"/>
          <p:cNvSpPr/>
          <p:nvPr/>
        </p:nvSpPr>
        <p:spPr>
          <a:xfrm>
            <a:off x="5880100" y="3558540"/>
            <a:ext cx="27305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94400" y="3647440"/>
            <a:ext cx="2501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Carga; expresión</a:t>
            </a:r>
          </a:p>
        </p:txBody>
      </p:sp>
      <p:sp>
        <p:nvSpPr>
          <p:cNvPr id="37" name="Rectangle 36"/>
          <p:cNvSpPr/>
          <p:nvPr/>
        </p:nvSpPr>
        <p:spPr>
          <a:xfrm>
            <a:off x="8610600" y="3558540"/>
            <a:ext cx="29718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24900" y="3647440"/>
            <a:ext cx="2743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Eficiencia, inhibición y</a:t>
            </a:r>
          </a:p>
          <a:p>
            <a:pPr>
              <a:lnSpc>
                <a:spcPct val="115000"/>
              </a:lnSpc>
              <a:spcBef>
                <a:spcPts val="0"/>
              </a:spcBef>
              <a:spcAft>
                <a:spcPts val="0"/>
              </a:spcAft>
              <a:defRPr sz="1500" b="0">
                <a:solidFill>
                  <a:srgbClr val="183443"/>
                </a:solidFill>
                <a:latin typeface="DejaVu Sans"/>
              </a:defRPr>
            </a:pPr>
            <a:r>
              <a:t>calibración</a:t>
            </a:r>
          </a:p>
        </p:txBody>
      </p:sp>
      <p:sp>
        <p:nvSpPr>
          <p:cNvPr id="39" name="Rectangle 38"/>
          <p:cNvSpPr/>
          <p:nvPr/>
        </p:nvSpPr>
        <p:spPr>
          <a:xfrm>
            <a:off x="609600" y="4246880"/>
            <a:ext cx="22479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3900" y="4335780"/>
            <a:ext cx="20193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dPCR / RT-dPCR</a:t>
            </a:r>
          </a:p>
        </p:txBody>
      </p:sp>
      <p:sp>
        <p:nvSpPr>
          <p:cNvPr id="41" name="Rectangle 40"/>
          <p:cNvSpPr/>
          <p:nvPr/>
        </p:nvSpPr>
        <p:spPr>
          <a:xfrm>
            <a:off x="2857500" y="4246880"/>
            <a:ext cx="30226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71800" y="4335780"/>
            <a:ext cx="2794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Positivos + Poisson</a:t>
            </a:r>
          </a:p>
        </p:txBody>
      </p:sp>
      <p:sp>
        <p:nvSpPr>
          <p:cNvPr id="43" name="Rectangle 42"/>
          <p:cNvSpPr/>
          <p:nvPr/>
        </p:nvSpPr>
        <p:spPr>
          <a:xfrm>
            <a:off x="5880100" y="4246880"/>
            <a:ext cx="27305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94400" y="4335780"/>
            <a:ext cx="25019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Copias; variantes</a:t>
            </a:r>
          </a:p>
          <a:p>
            <a:pPr>
              <a:lnSpc>
                <a:spcPct val="115000"/>
              </a:lnSpc>
              <a:spcBef>
                <a:spcPts val="0"/>
              </a:spcBef>
              <a:spcAft>
                <a:spcPts val="0"/>
              </a:spcAft>
              <a:defRPr sz="1500" b="0">
                <a:solidFill>
                  <a:srgbClr val="183443"/>
                </a:solidFill>
                <a:latin typeface="DejaVu Sans"/>
              </a:defRPr>
            </a:pPr>
            <a:r>
              <a:t>conocidas</a:t>
            </a:r>
          </a:p>
        </p:txBody>
      </p:sp>
      <p:sp>
        <p:nvSpPr>
          <p:cNvPr id="45" name="Rectangle 44"/>
          <p:cNvSpPr/>
          <p:nvPr/>
        </p:nvSpPr>
        <p:spPr>
          <a:xfrm>
            <a:off x="8610600" y="4246880"/>
            <a:ext cx="29718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24900" y="4335780"/>
            <a:ext cx="2743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Entrada, volumen y rango</a:t>
            </a:r>
          </a:p>
        </p:txBody>
      </p:sp>
      <p:sp>
        <p:nvSpPr>
          <p:cNvPr id="47" name="Rectangle 46"/>
          <p:cNvSpPr/>
          <p:nvPr/>
        </p:nvSpPr>
        <p:spPr>
          <a:xfrm>
            <a:off x="609600" y="4935220"/>
            <a:ext cx="22479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3900" y="5024120"/>
            <a:ext cx="20193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Multiplex / nested</a:t>
            </a:r>
          </a:p>
        </p:txBody>
      </p:sp>
      <p:sp>
        <p:nvSpPr>
          <p:cNvPr id="49" name="Rectangle 48"/>
          <p:cNvSpPr/>
          <p:nvPr/>
        </p:nvSpPr>
        <p:spPr>
          <a:xfrm>
            <a:off x="2857500" y="4935220"/>
            <a:ext cx="30226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971800" y="5024120"/>
            <a:ext cx="2794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Depende de la lectura</a:t>
            </a:r>
          </a:p>
        </p:txBody>
      </p:sp>
      <p:sp>
        <p:nvSpPr>
          <p:cNvPr id="51" name="Rectangle 50"/>
          <p:cNvSpPr/>
          <p:nvPr/>
        </p:nvSpPr>
        <p:spPr>
          <a:xfrm>
            <a:off x="5880100" y="4935220"/>
            <a:ext cx="27305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94400" y="5024120"/>
            <a:ext cx="2501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Paneles / especificidad</a:t>
            </a:r>
          </a:p>
        </p:txBody>
      </p:sp>
      <p:sp>
        <p:nvSpPr>
          <p:cNvPr id="53" name="Rectangle 52"/>
          <p:cNvSpPr/>
          <p:nvPr/>
        </p:nvSpPr>
        <p:spPr>
          <a:xfrm>
            <a:off x="8610600" y="4935220"/>
            <a:ext cx="29718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724900" y="5024120"/>
            <a:ext cx="2743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Competencia /</a:t>
            </a:r>
          </a:p>
          <a:p>
            <a:pPr>
              <a:lnSpc>
                <a:spcPct val="115000"/>
              </a:lnSpc>
              <a:spcBef>
                <a:spcPts val="0"/>
              </a:spcBef>
              <a:spcAft>
                <a:spcPts val="0"/>
              </a:spcAft>
              <a:defRPr sz="1500" b="0">
                <a:solidFill>
                  <a:srgbClr val="183443"/>
                </a:solidFill>
                <a:latin typeface="DejaVu Sans"/>
              </a:defRPr>
            </a:pPr>
            <a:r>
              <a:t>contaminación</a:t>
            </a:r>
          </a:p>
        </p:txBody>
      </p:sp>
      <p:sp>
        <p:nvSpPr>
          <p:cNvPr id="55" name="TextBox 5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CONEXIÓN CON SECUENCIACIÓN</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Sanger: partir de un amplicón único y limpio</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[5,9].</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16</a:t>
            </a:r>
          </a:p>
        </p:txBody>
      </p:sp>
      <p:sp>
        <p:nvSpPr>
          <p:cNvPr id="7" name="Rounded Rectangle 6"/>
          <p:cNvSpPr/>
          <p:nvPr/>
        </p:nvSpPr>
        <p:spPr>
          <a:xfrm>
            <a:off x="609600" y="2095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2606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679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PCR preferible</a:t>
            </a:r>
          </a:p>
          <a:p>
            <a:pPr>
              <a:lnSpc>
                <a:spcPct val="115000"/>
              </a:lnSpc>
              <a:spcBef>
                <a:spcPts val="0"/>
              </a:spcBef>
              <a:spcAft>
                <a:spcPts val="0"/>
              </a:spcAft>
              <a:defRPr sz="1700" b="1">
                <a:solidFill>
                  <a:srgbClr val="183443"/>
                </a:solidFill>
                <a:latin typeface="DejaVu Sans"/>
              </a:defRPr>
            </a:pPr>
            <a:r>
              <a:t>de alta fidelidad</a:t>
            </a:r>
          </a:p>
        </p:txBody>
      </p:sp>
      <p:cxnSp>
        <p:nvCxnSpPr>
          <p:cNvPr id="10" name="Connector 9"/>
          <p:cNvCxnSpPr/>
          <p:nvPr/>
        </p:nvCxnSpPr>
        <p:spPr>
          <a:xfrm>
            <a:off x="3086100" y="2794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14700" y="2730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314700" y="2794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54400" y="2095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06800" y="22606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2200" y="2679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Revisar gel</a:t>
            </a:r>
          </a:p>
          <a:p>
            <a:pPr>
              <a:lnSpc>
                <a:spcPct val="115000"/>
              </a:lnSpc>
              <a:spcBef>
                <a:spcPts val="0"/>
              </a:spcBef>
              <a:spcAft>
                <a:spcPts val="0"/>
              </a:spcAft>
              <a:defRPr sz="1700" b="1">
                <a:solidFill>
                  <a:srgbClr val="183443"/>
                </a:solidFill>
                <a:latin typeface="DejaVu Sans"/>
              </a:defRPr>
            </a:pPr>
            <a:r>
              <a:t>y purificar</a:t>
            </a:r>
          </a:p>
        </p:txBody>
      </p:sp>
      <p:cxnSp>
        <p:nvCxnSpPr>
          <p:cNvPr id="16" name="Connector 15"/>
          <p:cNvCxnSpPr/>
          <p:nvPr/>
        </p:nvCxnSpPr>
        <p:spPr>
          <a:xfrm>
            <a:off x="5930900" y="2794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59500" y="2730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159500" y="2794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99200" y="2095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51600" y="22606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7000" y="2679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Cuantificar</a:t>
            </a:r>
          </a:p>
          <a:p>
            <a:pPr>
              <a:lnSpc>
                <a:spcPct val="115000"/>
              </a:lnSpc>
              <a:spcBef>
                <a:spcPts val="0"/>
              </a:spcBef>
              <a:spcAft>
                <a:spcPts val="0"/>
              </a:spcAft>
              <a:defRPr sz="1700" b="1">
                <a:solidFill>
                  <a:srgbClr val="183443"/>
                </a:solidFill>
                <a:latin typeface="DejaVu Sans"/>
              </a:defRPr>
            </a:pPr>
            <a:r>
              <a:t>y enviar</a:t>
            </a:r>
          </a:p>
        </p:txBody>
      </p:sp>
      <p:cxnSp>
        <p:nvCxnSpPr>
          <p:cNvPr id="22" name="Connector 21"/>
          <p:cNvCxnSpPr/>
          <p:nvPr/>
        </p:nvCxnSpPr>
        <p:spPr>
          <a:xfrm>
            <a:off x="8775700" y="2794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04300" y="2730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004300" y="2794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44000" y="2095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296400" y="2260600"/>
            <a:ext cx="254000" cy="254000"/>
          </a:xfrm>
          <a:prstGeom prst="ellipse">
            <a:avLst/>
          </a:prstGeom>
          <a:solidFill>
            <a:srgbClr val="DA7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1800" y="2679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Sanger</a:t>
            </a:r>
          </a:p>
          <a:p>
            <a:pPr>
              <a:lnSpc>
                <a:spcPct val="115000"/>
              </a:lnSpc>
              <a:spcBef>
                <a:spcPts val="0"/>
              </a:spcBef>
              <a:spcAft>
                <a:spcPts val="0"/>
              </a:spcAft>
              <a:defRPr sz="1700" b="1">
                <a:solidFill>
                  <a:srgbClr val="183443"/>
                </a:solidFill>
                <a:latin typeface="DejaVu Sans"/>
              </a:defRPr>
            </a:pPr>
            <a:r>
              <a:t>y cromatograma</a:t>
            </a:r>
          </a:p>
        </p:txBody>
      </p:sp>
      <p:sp>
        <p:nvSpPr>
          <p:cNvPr id="28" name="TextBox 27"/>
          <p:cNvSpPr txBox="1"/>
          <p:nvPr/>
        </p:nvSpPr>
        <p:spPr>
          <a:xfrm>
            <a:off x="825500" y="4127500"/>
            <a:ext cx="10414000" cy="419862"/>
          </a:xfrm>
          <a:prstGeom prst="rect">
            <a:avLst/>
          </a:prstGeom>
          <a:noFill/>
        </p:spPr>
        <p:txBody>
          <a:bodyPr wrap="none" lIns="0" rIns="0" tIns="0" bIns="0">
            <a:spAutoFit/>
          </a:bodyPr>
          <a:lstStyle/>
          <a:p>
            <a:pPr>
              <a:lnSpc>
                <a:spcPct val="115000"/>
              </a:lnSpc>
              <a:spcBef>
                <a:spcPts val="0"/>
              </a:spcBef>
              <a:spcAft>
                <a:spcPts val="0"/>
              </a:spcAft>
              <a:defRPr sz="2200" b="0">
                <a:solidFill>
                  <a:srgbClr val="183443"/>
                </a:solidFill>
                <a:latin typeface="DejaVu Sans"/>
              </a:defRPr>
            </a:pPr>
            <a:r>
              <a:t>Si se requieren 20 ng y el producto tiene 10 ng/µL:</a:t>
            </a:r>
          </a:p>
        </p:txBody>
      </p:sp>
      <p:sp>
        <p:nvSpPr>
          <p:cNvPr id="29" name="TextBox 28"/>
          <p:cNvSpPr txBox="1"/>
          <p:nvPr/>
        </p:nvSpPr>
        <p:spPr>
          <a:xfrm>
            <a:off x="825500" y="4737100"/>
            <a:ext cx="10414000" cy="466725"/>
          </a:xfrm>
          <a:prstGeom prst="rect">
            <a:avLst/>
          </a:prstGeom>
          <a:noFill/>
        </p:spPr>
        <p:txBody>
          <a:bodyPr wrap="none" lIns="0" rIns="0" tIns="0" bIns="0">
            <a:spAutoFit/>
          </a:bodyPr>
          <a:lstStyle/>
          <a:p>
            <a:pPr>
              <a:lnSpc>
                <a:spcPct val="115000"/>
              </a:lnSpc>
              <a:spcBef>
                <a:spcPts val="0"/>
              </a:spcBef>
              <a:spcAft>
                <a:spcPts val="0"/>
              </a:spcAft>
              <a:defRPr sz="2500" b="1">
                <a:solidFill>
                  <a:srgbClr val="007F86"/>
                </a:solidFill>
                <a:latin typeface="DejaVu Sans"/>
              </a:defRPr>
            </a:pPr>
            <a:r>
              <a:t>V = masa / concentración = 20 ng ÷ 10 ng/µL = 2 µL</a:t>
            </a:r>
          </a:p>
        </p:txBody>
      </p:sp>
      <p:sp>
        <p:nvSpPr>
          <p:cNvPr id="30" name="Rounded Rectangle 29"/>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Productos mezclados producen cromatogramas superpuestos; revisar identidad y pureza.</a:t>
            </a:r>
          </a:p>
        </p:txBody>
      </p:sp>
      <p:sp>
        <p:nvSpPr>
          <p:cNvPr id="32" name="TextBox 31"/>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CONEXIÓN CON SECUENCIACIÓN</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NGS de amplicones: enriquecer, indexar, agrupar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[3,5,9].</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17</a:t>
            </a:r>
          </a:p>
        </p:txBody>
      </p:sp>
      <p:sp>
        <p:nvSpPr>
          <p:cNvPr id="7" name="Rounded Rectangle 6"/>
          <p:cNvSpPr/>
          <p:nvPr/>
        </p:nvSpPr>
        <p:spPr>
          <a:xfrm>
            <a:off x="609600" y="1968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1336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552700"/>
            <a:ext cx="2082800" cy="872870"/>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PCR de locus</a:t>
            </a:r>
          </a:p>
          <a:p>
            <a:pPr>
              <a:lnSpc>
                <a:spcPct val="115000"/>
              </a:lnSpc>
              <a:spcBef>
                <a:spcPts val="0"/>
              </a:spcBef>
              <a:spcAft>
                <a:spcPts val="0"/>
              </a:spcAft>
              <a:defRPr sz="1700" b="1">
                <a:solidFill>
                  <a:srgbClr val="183443"/>
                </a:solidFill>
                <a:latin typeface="DejaVu Sans"/>
              </a:defRPr>
            </a:pPr>
            <a:r>
              <a:t>región 3′</a:t>
            </a:r>
          </a:p>
          <a:p>
            <a:pPr>
              <a:lnSpc>
                <a:spcPct val="115000"/>
              </a:lnSpc>
              <a:spcBef>
                <a:spcPts val="0"/>
              </a:spcBef>
              <a:spcAft>
                <a:spcPts val="0"/>
              </a:spcAft>
              <a:defRPr sz="1700" b="1">
                <a:solidFill>
                  <a:srgbClr val="183443"/>
                </a:solidFill>
                <a:latin typeface="DejaVu Sans"/>
              </a:defRPr>
            </a:pPr>
            <a:r>
              <a:t>específica</a:t>
            </a:r>
          </a:p>
        </p:txBody>
      </p:sp>
      <p:cxnSp>
        <p:nvCxnSpPr>
          <p:cNvPr id="10" name="Connector 9"/>
          <p:cNvCxnSpPr/>
          <p:nvPr/>
        </p:nvCxnSpPr>
        <p:spPr>
          <a:xfrm>
            <a:off x="3086100" y="2667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14700" y="2603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314700" y="2667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54400" y="1968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06800" y="21336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2200" y="2552700"/>
            <a:ext cx="2082800" cy="872870"/>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Purificar</a:t>
            </a:r>
          </a:p>
          <a:p>
            <a:pPr>
              <a:lnSpc>
                <a:spcPct val="115000"/>
              </a:lnSpc>
              <a:spcBef>
                <a:spcPts val="0"/>
              </a:spcBef>
              <a:spcAft>
                <a:spcPts val="0"/>
              </a:spcAft>
              <a:defRPr sz="1700" b="1">
                <a:solidFill>
                  <a:srgbClr val="183443"/>
                </a:solidFill>
                <a:latin typeface="DejaVu Sans"/>
              </a:defRPr>
            </a:pPr>
            <a:r>
              <a:t>y revisar</a:t>
            </a:r>
          </a:p>
          <a:p>
            <a:pPr>
              <a:lnSpc>
                <a:spcPct val="115000"/>
              </a:lnSpc>
              <a:spcBef>
                <a:spcPts val="0"/>
              </a:spcBef>
              <a:spcAft>
                <a:spcPts val="0"/>
              </a:spcAft>
              <a:defRPr sz="1700" b="1">
                <a:solidFill>
                  <a:srgbClr val="183443"/>
                </a:solidFill>
                <a:latin typeface="DejaVu Sans"/>
              </a:defRPr>
            </a:pPr>
            <a:r>
              <a:t>tamaño</a:t>
            </a:r>
          </a:p>
        </p:txBody>
      </p:sp>
      <p:cxnSp>
        <p:nvCxnSpPr>
          <p:cNvPr id="16" name="Connector 15"/>
          <p:cNvCxnSpPr/>
          <p:nvPr/>
        </p:nvCxnSpPr>
        <p:spPr>
          <a:xfrm>
            <a:off x="5930900" y="2667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59500" y="2603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159500" y="2667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99200" y="1968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51600" y="21336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7000" y="2552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PCR de índices</a:t>
            </a:r>
          </a:p>
          <a:p>
            <a:pPr>
              <a:lnSpc>
                <a:spcPct val="115000"/>
              </a:lnSpc>
              <a:spcBef>
                <a:spcPts val="0"/>
              </a:spcBef>
              <a:spcAft>
                <a:spcPts val="0"/>
              </a:spcAft>
              <a:defRPr sz="1700" b="1">
                <a:solidFill>
                  <a:srgbClr val="183443"/>
                </a:solidFill>
                <a:latin typeface="DejaVu Sans"/>
              </a:defRPr>
            </a:pPr>
            <a:r>
              <a:t>si aplica</a:t>
            </a:r>
          </a:p>
        </p:txBody>
      </p:sp>
      <p:cxnSp>
        <p:nvCxnSpPr>
          <p:cNvPr id="22" name="Connector 21"/>
          <p:cNvCxnSpPr/>
          <p:nvPr/>
        </p:nvCxnSpPr>
        <p:spPr>
          <a:xfrm>
            <a:off x="8775700" y="2667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04300" y="2603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004300" y="2667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44000" y="1968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296400" y="2133600"/>
            <a:ext cx="254000" cy="254000"/>
          </a:xfrm>
          <a:prstGeom prst="ellipse">
            <a:avLst/>
          </a:prstGeom>
          <a:solidFill>
            <a:srgbClr val="DA7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1800" y="2552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Normalizar</a:t>
            </a:r>
          </a:p>
          <a:p>
            <a:pPr>
              <a:lnSpc>
                <a:spcPct val="115000"/>
              </a:lnSpc>
              <a:spcBef>
                <a:spcPts val="0"/>
              </a:spcBef>
              <a:spcAft>
                <a:spcPts val="0"/>
              </a:spcAft>
              <a:defRPr sz="1700" b="1">
                <a:solidFill>
                  <a:srgbClr val="183443"/>
                </a:solidFill>
                <a:latin typeface="DejaVu Sans"/>
              </a:defRPr>
            </a:pPr>
            <a:r>
              <a:t>y secuenciar</a:t>
            </a:r>
          </a:p>
        </p:txBody>
      </p:sp>
      <p:cxnSp>
        <p:nvCxnSpPr>
          <p:cNvPr id="28" name="Connector 27"/>
          <p:cNvCxnSpPr/>
          <p:nvPr/>
        </p:nvCxnSpPr>
        <p:spPr>
          <a:xfrm>
            <a:off x="1397000" y="4279900"/>
            <a:ext cx="3175000" cy="0"/>
          </a:xfrm>
          <a:prstGeom prst="line">
            <a:avLst/>
          </a:prstGeom>
          <a:ln w="889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52500" y="4279900"/>
            <a:ext cx="444500" cy="0"/>
          </a:xfrm>
          <a:prstGeom prst="line">
            <a:avLst/>
          </a:prstGeom>
          <a:ln w="88900">
            <a:solidFill>
              <a:srgbClr val="DA765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572000" y="4279900"/>
            <a:ext cx="444500" cy="0"/>
          </a:xfrm>
          <a:prstGeom prst="line">
            <a:avLst/>
          </a:prstGeom>
          <a:ln w="88900">
            <a:solidFill>
              <a:srgbClr val="8061A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89000" y="4597400"/>
            <a:ext cx="46355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Cola 5′ · inserto · cola 5′</a:t>
            </a:r>
          </a:p>
        </p:txBody>
      </p:sp>
      <p:sp>
        <p:nvSpPr>
          <p:cNvPr id="32" name="TextBox 31"/>
          <p:cNvSpPr txBox="1"/>
          <p:nvPr/>
        </p:nvSpPr>
        <p:spPr>
          <a:xfrm>
            <a:off x="6540500" y="4140200"/>
            <a:ext cx="4699000" cy="1013460"/>
          </a:xfrm>
          <a:prstGeom prst="rect">
            <a:avLst/>
          </a:prstGeom>
          <a:noFill/>
        </p:spPr>
        <p:txBody>
          <a:bodyPr wrap="none" lIns="0" rIns="0" tIns="0" bIns="0">
            <a:spAutoFit/>
          </a:bodyPr>
          <a:lstStyle/>
          <a:p>
            <a:pPr>
              <a:lnSpc>
                <a:spcPct val="115000"/>
              </a:lnSpc>
              <a:spcBef>
                <a:spcPts val="0"/>
              </a:spcBef>
              <a:spcAft>
                <a:spcPts val="0"/>
              </a:spcAft>
              <a:defRPr sz="2000" b="0">
                <a:solidFill>
                  <a:srgbClr val="183443"/>
                </a:solidFill>
                <a:latin typeface="DejaVu Sans"/>
              </a:defRPr>
            </a:pPr>
            <a:r>
              <a:t>La composición de lecturas también</a:t>
            </a:r>
          </a:p>
          <a:p>
            <a:pPr>
              <a:lnSpc>
                <a:spcPct val="115000"/>
              </a:lnSpc>
              <a:spcBef>
                <a:spcPts val="0"/>
              </a:spcBef>
              <a:spcAft>
                <a:spcPts val="0"/>
              </a:spcAft>
              <a:defRPr sz="2000" b="0">
                <a:solidFill>
                  <a:srgbClr val="183443"/>
                </a:solidFill>
                <a:latin typeface="DejaVu Sans"/>
              </a:defRPr>
            </a:pPr>
            <a:r>
              <a:t>depende de afinidad de primers y</a:t>
            </a:r>
          </a:p>
          <a:p>
            <a:pPr>
              <a:lnSpc>
                <a:spcPct val="115000"/>
              </a:lnSpc>
              <a:spcBef>
                <a:spcPts val="0"/>
              </a:spcBef>
              <a:spcAft>
                <a:spcPts val="0"/>
              </a:spcAft>
              <a:defRPr sz="2000" b="0">
                <a:solidFill>
                  <a:srgbClr val="183443"/>
                </a:solidFill>
                <a:latin typeface="DejaVu Sans"/>
              </a:defRPr>
            </a:pPr>
            <a:r>
              <a:t>número de copias del marcador.</a:t>
            </a:r>
          </a:p>
        </p:txBody>
      </p:sp>
      <p:sp>
        <p:nvSpPr>
          <p:cNvPr id="33" name="Rounded Rectangle 32"/>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Las lecturas de un marcador no equivalen directamente a número de células.</a:t>
            </a:r>
          </a:p>
        </p:txBody>
      </p:sp>
      <p:sp>
        <p:nvSpPr>
          <p:cNvPr id="35" name="TextBox 3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CONEXIÓN CON SECUENCIACIÓN</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RNA-seq y variantes: dónde encaja cada PCR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[2,4,5,9].</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18</a:t>
            </a:r>
          </a:p>
        </p:txBody>
      </p:sp>
      <p:sp>
        <p:nvSpPr>
          <p:cNvPr id="7" name="Rounded Rectangle 6"/>
          <p:cNvSpPr/>
          <p:nvPr/>
        </p:nvSpPr>
        <p:spPr>
          <a:xfrm>
            <a:off x="609600"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RNA-seq</a:t>
            </a:r>
          </a:p>
        </p:txBody>
      </p:sp>
      <p:sp>
        <p:nvSpPr>
          <p:cNvPr id="9" name="TextBox 8"/>
          <p:cNvSpPr txBox="1"/>
          <p:nvPr/>
        </p:nvSpPr>
        <p:spPr>
          <a:xfrm>
            <a:off x="838200" y="2870200"/>
            <a:ext cx="3031066" cy="1763268"/>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ARN → biblioteca de</a:t>
            </a:r>
          </a:p>
          <a:p>
            <a:pPr>
              <a:lnSpc>
                <a:spcPct val="115000"/>
              </a:lnSpc>
              <a:spcBef>
                <a:spcPts val="0"/>
              </a:spcBef>
              <a:spcAft>
                <a:spcPts val="0"/>
              </a:spcAft>
              <a:defRPr sz="1800" b="0">
                <a:solidFill>
                  <a:srgbClr val="183443"/>
                </a:solidFill>
                <a:latin typeface="DejaVu Sans"/>
              </a:defRPr>
            </a:pPr>
            <a:r>
              <a:t>ADNc → secuenciar.</a:t>
            </a:r>
          </a:p>
          <a:p>
            <a:pPr>
              <a:lnSpc>
                <a:spcPct val="115000"/>
              </a:lnSpc>
              <a:spcBef>
                <a:spcPts val="0"/>
              </a:spcBef>
              <a:spcAft>
                <a:spcPts val="0"/>
              </a:spcAft>
              <a:defRPr sz="1800" b="0">
                <a:solidFill>
                  <a:srgbClr val="183443"/>
                </a:solidFill>
                <a:latin typeface="DejaVu Sans"/>
              </a:defRPr>
            </a:pPr>
            <a:r>
              <a:t>RT-qPCR verifica</a:t>
            </a:r>
          </a:p>
          <a:p>
            <a:pPr>
              <a:lnSpc>
                <a:spcPct val="115000"/>
              </a:lnSpc>
              <a:spcBef>
                <a:spcPts val="0"/>
              </a:spcBef>
              <a:spcAft>
                <a:spcPts val="0"/>
              </a:spcAft>
              <a:defRPr sz="1800" b="0">
                <a:solidFill>
                  <a:srgbClr val="183443"/>
                </a:solidFill>
                <a:latin typeface="DejaVu Sans"/>
              </a:defRPr>
            </a:pPr>
            <a:r>
              <a:t>transcritos seleccionados</a:t>
            </a:r>
          </a:p>
          <a:p>
            <a:pPr>
              <a:lnSpc>
                <a:spcPct val="115000"/>
              </a:lnSpc>
              <a:spcBef>
                <a:spcPts val="0"/>
              </a:spcBef>
              <a:spcAft>
                <a:spcPts val="0"/>
              </a:spcAft>
              <a:defRPr sz="1800" b="0">
                <a:solidFill>
                  <a:srgbClr val="183443"/>
                </a:solidFill>
                <a:latin typeface="DejaVu Sans"/>
              </a:defRPr>
            </a:pPr>
            <a:r>
              <a:t>con nuevas muestras y</a:t>
            </a:r>
          </a:p>
          <a:p>
            <a:pPr>
              <a:lnSpc>
                <a:spcPct val="115000"/>
              </a:lnSpc>
              <a:spcBef>
                <a:spcPts val="0"/>
              </a:spcBef>
              <a:spcAft>
                <a:spcPts val="0"/>
              </a:spcAft>
              <a:defRPr sz="1800" b="0">
                <a:solidFill>
                  <a:srgbClr val="183443"/>
                </a:solidFill>
                <a:latin typeface="DejaVu Sans"/>
              </a:defRPr>
            </a:pPr>
            <a:r>
              <a:t>referencias validadas.</a:t>
            </a:r>
          </a:p>
        </p:txBody>
      </p:sp>
      <p:sp>
        <p:nvSpPr>
          <p:cNvPr id="10" name="Rounded Rectangle 9"/>
          <p:cNvSpPr/>
          <p:nvPr/>
        </p:nvSpPr>
        <p:spPr>
          <a:xfrm>
            <a:off x="4351866"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0466"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Variantes</a:t>
            </a:r>
          </a:p>
        </p:txBody>
      </p:sp>
      <p:sp>
        <p:nvSpPr>
          <p:cNvPr id="12" name="TextBox 11"/>
          <p:cNvSpPr txBox="1"/>
          <p:nvPr/>
        </p:nvSpPr>
        <p:spPr>
          <a:xfrm>
            <a:off x="4580466" y="2870200"/>
            <a:ext cx="3031066" cy="1482090"/>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NGS identifica variantes.</a:t>
            </a:r>
          </a:p>
          <a:p>
            <a:pPr>
              <a:lnSpc>
                <a:spcPct val="115000"/>
              </a:lnSpc>
              <a:spcBef>
                <a:spcPts val="0"/>
              </a:spcBef>
              <a:spcAft>
                <a:spcPts val="0"/>
              </a:spcAft>
              <a:defRPr sz="1800" b="0">
                <a:solidFill>
                  <a:srgbClr val="183443"/>
                </a:solidFill>
                <a:latin typeface="DejaVu Sans"/>
              </a:defRPr>
            </a:pPr>
            <a:r>
              <a:t>dPCR puede seguir una</a:t>
            </a:r>
          </a:p>
          <a:p>
            <a:pPr>
              <a:lnSpc>
                <a:spcPct val="115000"/>
              </a:lnSpc>
              <a:spcBef>
                <a:spcPts val="0"/>
              </a:spcBef>
              <a:spcAft>
                <a:spcPts val="0"/>
              </a:spcAft>
              <a:defRPr sz="1800" b="0">
                <a:solidFill>
                  <a:srgbClr val="183443"/>
                </a:solidFill>
                <a:latin typeface="DejaVu Sans"/>
              </a:defRPr>
            </a:pPr>
            <a:r>
              <a:t>variante conocida de baja</a:t>
            </a:r>
          </a:p>
          <a:p>
            <a:pPr>
              <a:lnSpc>
                <a:spcPct val="115000"/>
              </a:lnSpc>
              <a:spcBef>
                <a:spcPts val="0"/>
              </a:spcBef>
              <a:spcAft>
                <a:spcPts val="0"/>
              </a:spcAft>
              <a:defRPr sz="1800" b="0">
                <a:solidFill>
                  <a:srgbClr val="183443"/>
                </a:solidFill>
                <a:latin typeface="DejaVu Sans"/>
              </a:defRPr>
            </a:pPr>
            <a:r>
              <a:t>frecuencia con un ensayo</a:t>
            </a:r>
          </a:p>
          <a:p>
            <a:pPr>
              <a:lnSpc>
                <a:spcPct val="115000"/>
              </a:lnSpc>
              <a:spcBef>
                <a:spcPts val="0"/>
              </a:spcBef>
              <a:spcAft>
                <a:spcPts val="0"/>
              </a:spcAft>
              <a:defRPr sz="1800" b="0">
                <a:solidFill>
                  <a:srgbClr val="183443"/>
                </a:solidFill>
                <a:latin typeface="DejaVu Sans"/>
              </a:defRPr>
            </a:pPr>
            <a:r>
              <a:t>específico.</a:t>
            </a:r>
          </a:p>
        </p:txBody>
      </p:sp>
      <p:sp>
        <p:nvSpPr>
          <p:cNvPr id="13" name="Rounded Rectangle 12"/>
          <p:cNvSpPr/>
          <p:nvPr/>
        </p:nvSpPr>
        <p:spPr>
          <a:xfrm>
            <a:off x="8094133"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2733"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Bibliotecas</a:t>
            </a:r>
          </a:p>
        </p:txBody>
      </p:sp>
      <p:sp>
        <p:nvSpPr>
          <p:cNvPr id="15" name="TextBox 14"/>
          <p:cNvSpPr txBox="1"/>
          <p:nvPr/>
        </p:nvSpPr>
        <p:spPr>
          <a:xfrm>
            <a:off x="8322733" y="2870200"/>
            <a:ext cx="3031066" cy="2044445"/>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qPCR cuantifica</a:t>
            </a:r>
          </a:p>
          <a:p>
            <a:pPr>
              <a:lnSpc>
                <a:spcPct val="115000"/>
              </a:lnSpc>
              <a:spcBef>
                <a:spcPts val="0"/>
              </a:spcBef>
              <a:spcAft>
                <a:spcPts val="0"/>
              </a:spcAft>
              <a:defRPr sz="1800" b="0">
                <a:solidFill>
                  <a:srgbClr val="183443"/>
                </a:solidFill>
                <a:latin typeface="DejaVu Sans"/>
              </a:defRPr>
            </a:pPr>
            <a:r>
              <a:t>bibliotecas amplificables.</a:t>
            </a:r>
          </a:p>
          <a:p>
            <a:pPr>
              <a:lnSpc>
                <a:spcPct val="115000"/>
              </a:lnSpc>
              <a:spcBef>
                <a:spcPts val="0"/>
              </a:spcBef>
              <a:spcAft>
                <a:spcPts val="0"/>
              </a:spcAft>
              <a:defRPr sz="1800" b="0">
                <a:solidFill>
                  <a:srgbClr val="183443"/>
                </a:solidFill>
                <a:latin typeface="DejaVu Sans"/>
              </a:defRPr>
            </a:pPr>
            <a:r>
              <a:t>Preparaciones PCR-free</a:t>
            </a:r>
          </a:p>
          <a:p>
            <a:pPr>
              <a:lnSpc>
                <a:spcPct val="115000"/>
              </a:lnSpc>
              <a:spcBef>
                <a:spcPts val="0"/>
              </a:spcBef>
              <a:spcAft>
                <a:spcPts val="0"/>
              </a:spcAft>
              <a:defRPr sz="1800" b="0">
                <a:solidFill>
                  <a:srgbClr val="183443"/>
                </a:solidFill>
                <a:latin typeface="DejaVu Sans"/>
              </a:defRPr>
            </a:pPr>
            <a:r>
              <a:t>reducen sesgo de</a:t>
            </a:r>
          </a:p>
          <a:p>
            <a:pPr>
              <a:lnSpc>
                <a:spcPct val="115000"/>
              </a:lnSpc>
              <a:spcBef>
                <a:spcPts val="0"/>
              </a:spcBef>
              <a:spcAft>
                <a:spcPts val="0"/>
              </a:spcAft>
              <a:defRPr sz="1800" b="0">
                <a:solidFill>
                  <a:srgbClr val="183443"/>
                </a:solidFill>
                <a:latin typeface="DejaVu Sans"/>
              </a:defRPr>
            </a:pPr>
            <a:r>
              <a:t>amplificación si la</a:t>
            </a:r>
          </a:p>
          <a:p>
            <a:pPr>
              <a:lnSpc>
                <a:spcPct val="115000"/>
              </a:lnSpc>
              <a:spcBef>
                <a:spcPts val="0"/>
              </a:spcBef>
              <a:spcAft>
                <a:spcPts val="0"/>
              </a:spcAft>
              <a:defRPr sz="1800" b="0">
                <a:solidFill>
                  <a:srgbClr val="183443"/>
                </a:solidFill>
                <a:latin typeface="DejaVu Sans"/>
              </a:defRPr>
            </a:pPr>
            <a:r>
              <a:t>entrada y el método lo</a:t>
            </a:r>
          </a:p>
          <a:p>
            <a:pPr>
              <a:lnSpc>
                <a:spcPct val="115000"/>
              </a:lnSpc>
              <a:spcBef>
                <a:spcPts val="0"/>
              </a:spcBef>
              <a:spcAft>
                <a:spcPts val="0"/>
              </a:spcAft>
              <a:defRPr sz="1800" b="0">
                <a:solidFill>
                  <a:srgbClr val="183443"/>
                </a:solidFill>
                <a:latin typeface="DejaVu Sans"/>
              </a:defRPr>
            </a:pPr>
            <a:r>
              <a:t>permiten.</a:t>
            </a:r>
          </a:p>
        </p:txBody>
      </p:sp>
      <p:sp>
        <p:nvSpPr>
          <p:cNvPr id="16" name="TextBox 15"/>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2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ACTIVIDAD EN CLASE</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Caso integrador: una muestra, tres preguntas</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Síntesis didáctica de [2–4,9].</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19</a:t>
            </a:r>
          </a:p>
        </p:txBody>
      </p:sp>
      <p:sp>
        <p:nvSpPr>
          <p:cNvPr id="7" name="Rounded Rectangle 6"/>
          <p:cNvSpPr/>
          <p:nvPr/>
        </p:nvSpPr>
        <p:spPr>
          <a:xfrm>
            <a:off x="609600"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Presencia</a:t>
            </a:r>
          </a:p>
        </p:txBody>
      </p:sp>
      <p:sp>
        <p:nvSpPr>
          <p:cNvPr id="9" name="TextBox 8"/>
          <p:cNvSpPr txBox="1"/>
          <p:nvPr/>
        </p:nvSpPr>
        <p:spPr>
          <a:xfrm>
            <a:off x="838200" y="2870200"/>
            <a:ext cx="3031066" cy="1200912"/>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¿El extracto contiene la</a:t>
            </a:r>
          </a:p>
          <a:p>
            <a:pPr>
              <a:lnSpc>
                <a:spcPct val="115000"/>
              </a:lnSpc>
              <a:spcBef>
                <a:spcPts val="0"/>
              </a:spcBef>
              <a:spcAft>
                <a:spcPts val="0"/>
              </a:spcAft>
              <a:defRPr sz="1800" b="0">
                <a:solidFill>
                  <a:srgbClr val="183443"/>
                </a:solidFill>
                <a:latin typeface="DejaVu Sans"/>
              </a:defRPr>
            </a:pPr>
            <a:r>
              <a:t>región diana?</a:t>
            </a:r>
          </a:p>
          <a:p>
            <a:pPr>
              <a:lnSpc>
                <a:spcPct val="115000"/>
              </a:lnSpc>
              <a:spcBef>
                <a:spcPts val="0"/>
              </a:spcBef>
              <a:spcAft>
                <a:spcPts val="0"/>
              </a:spcAft>
              <a:defRPr sz="1800" b="0">
                <a:solidFill>
                  <a:srgbClr val="183443"/>
                </a:solidFill>
                <a:latin typeface="DejaVu Sans"/>
              </a:defRPr>
            </a:pPr>
            <a:r>
              <a:t>Elegir técnica y dos</a:t>
            </a:r>
          </a:p>
          <a:p>
            <a:pPr>
              <a:lnSpc>
                <a:spcPct val="115000"/>
              </a:lnSpc>
              <a:spcBef>
                <a:spcPts val="0"/>
              </a:spcBef>
              <a:spcAft>
                <a:spcPts val="0"/>
              </a:spcAft>
              <a:defRPr sz="1800" b="0">
                <a:solidFill>
                  <a:srgbClr val="183443"/>
                </a:solidFill>
                <a:latin typeface="DejaVu Sans"/>
              </a:defRPr>
            </a:pPr>
            <a:r>
              <a:t>controles.</a:t>
            </a:r>
          </a:p>
        </p:txBody>
      </p:sp>
      <p:sp>
        <p:nvSpPr>
          <p:cNvPr id="10" name="Rounded Rectangle 9"/>
          <p:cNvSpPr/>
          <p:nvPr/>
        </p:nvSpPr>
        <p:spPr>
          <a:xfrm>
            <a:off x="4351866"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0466"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Expresión</a:t>
            </a:r>
          </a:p>
        </p:txBody>
      </p:sp>
      <p:sp>
        <p:nvSpPr>
          <p:cNvPr id="12" name="TextBox 11"/>
          <p:cNvSpPr txBox="1"/>
          <p:nvPr/>
        </p:nvSpPr>
        <p:spPr>
          <a:xfrm>
            <a:off x="4580466" y="2870200"/>
            <a:ext cx="3031066" cy="1200912"/>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¿Un tratamiento cambia</a:t>
            </a:r>
          </a:p>
          <a:p>
            <a:pPr>
              <a:lnSpc>
                <a:spcPct val="115000"/>
              </a:lnSpc>
              <a:spcBef>
                <a:spcPts val="0"/>
              </a:spcBef>
              <a:spcAft>
                <a:spcPts val="0"/>
              </a:spcAft>
              <a:defRPr sz="1800" b="0">
                <a:solidFill>
                  <a:srgbClr val="183443"/>
                </a:solidFill>
                <a:latin typeface="DejaVu Sans"/>
              </a:defRPr>
            </a:pPr>
            <a:r>
              <a:t>un transcrito?</a:t>
            </a:r>
          </a:p>
          <a:p>
            <a:pPr>
              <a:lnSpc>
                <a:spcPct val="115000"/>
              </a:lnSpc>
              <a:spcBef>
                <a:spcPts val="0"/>
              </a:spcBef>
              <a:spcAft>
                <a:spcPts val="0"/>
              </a:spcAft>
              <a:defRPr sz="1800" b="0">
                <a:solidFill>
                  <a:srgbClr val="183443"/>
                </a:solidFill>
                <a:latin typeface="DejaVu Sans"/>
              </a:defRPr>
            </a:pPr>
            <a:r>
              <a:t>Elegir preparación y</a:t>
            </a:r>
          </a:p>
          <a:p>
            <a:pPr>
              <a:lnSpc>
                <a:spcPct val="115000"/>
              </a:lnSpc>
              <a:spcBef>
                <a:spcPts val="0"/>
              </a:spcBef>
              <a:spcAft>
                <a:spcPts val="0"/>
              </a:spcAft>
              <a:defRPr sz="1800" b="0">
                <a:solidFill>
                  <a:srgbClr val="183443"/>
                </a:solidFill>
                <a:latin typeface="DejaVu Sans"/>
              </a:defRPr>
            </a:pPr>
            <a:r>
              <a:t>cálculo.</a:t>
            </a:r>
          </a:p>
        </p:txBody>
      </p:sp>
      <p:sp>
        <p:nvSpPr>
          <p:cNvPr id="13" name="Rounded Rectangle 12"/>
          <p:cNvSpPr/>
          <p:nvPr/>
        </p:nvSpPr>
        <p:spPr>
          <a:xfrm>
            <a:off x="8094133"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2733"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Variante</a:t>
            </a:r>
          </a:p>
        </p:txBody>
      </p:sp>
      <p:sp>
        <p:nvSpPr>
          <p:cNvPr id="15" name="TextBox 14"/>
          <p:cNvSpPr txBox="1"/>
          <p:nvPr/>
        </p:nvSpPr>
        <p:spPr>
          <a:xfrm>
            <a:off x="8322733" y="2870200"/>
            <a:ext cx="3031066" cy="1482090"/>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¿Qué variantes hay y</a:t>
            </a:r>
          </a:p>
          <a:p>
            <a:pPr>
              <a:lnSpc>
                <a:spcPct val="115000"/>
              </a:lnSpc>
              <a:spcBef>
                <a:spcPts val="0"/>
              </a:spcBef>
              <a:spcAft>
                <a:spcPts val="0"/>
              </a:spcAft>
              <a:defRPr sz="1800" b="0">
                <a:solidFill>
                  <a:srgbClr val="183443"/>
                </a:solidFill>
                <a:latin typeface="DejaVu Sans"/>
              </a:defRPr>
            </a:pPr>
            <a:r>
              <a:t>cómo seguir una de</a:t>
            </a:r>
          </a:p>
          <a:p>
            <a:pPr>
              <a:lnSpc>
                <a:spcPct val="115000"/>
              </a:lnSpc>
              <a:spcBef>
                <a:spcPts val="0"/>
              </a:spcBef>
              <a:spcAft>
                <a:spcPts val="0"/>
              </a:spcAft>
              <a:defRPr sz="1800" b="0">
                <a:solidFill>
                  <a:srgbClr val="183443"/>
                </a:solidFill>
                <a:latin typeface="DejaVu Sans"/>
              </a:defRPr>
            </a:pPr>
            <a:r>
              <a:t>ellas?</a:t>
            </a:r>
          </a:p>
          <a:p>
            <a:pPr>
              <a:lnSpc>
                <a:spcPct val="115000"/>
              </a:lnSpc>
              <a:spcBef>
                <a:spcPts val="0"/>
              </a:spcBef>
              <a:spcAft>
                <a:spcPts val="0"/>
              </a:spcAft>
              <a:defRPr sz="1800" b="0">
                <a:solidFill>
                  <a:srgbClr val="183443"/>
                </a:solidFill>
                <a:latin typeface="DejaVu Sans"/>
              </a:defRPr>
            </a:pPr>
            <a:r>
              <a:t>Conectar secuenciación y</a:t>
            </a:r>
          </a:p>
          <a:p>
            <a:pPr>
              <a:lnSpc>
                <a:spcPct val="115000"/>
              </a:lnSpc>
              <a:spcBef>
                <a:spcPts val="0"/>
              </a:spcBef>
              <a:spcAft>
                <a:spcPts val="0"/>
              </a:spcAft>
              <a:defRPr sz="1800" b="0">
                <a:solidFill>
                  <a:srgbClr val="183443"/>
                </a:solidFill>
                <a:latin typeface="DejaVu Sans"/>
              </a:defRPr>
            </a:pPr>
            <a:r>
              <a:t>PCR.</a:t>
            </a:r>
          </a:p>
        </p:txBody>
      </p:sp>
      <p:sp>
        <p:nvSpPr>
          <p:cNvPr id="16" name="Rounded Rectangle 15"/>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Justificar la elección por la información obtenida y por las limitaciones.</a:t>
            </a:r>
          </a:p>
        </p:txBody>
      </p:sp>
      <p:sp>
        <p:nvSpPr>
          <p:cNvPr id="18" name="TextBox 17"/>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4 min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ACTIVIDAD EN CLASE</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Respuestas y comprobación de aprendizaje</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[2–4,6–9].</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20</a:t>
            </a:r>
          </a:p>
        </p:txBody>
      </p:sp>
      <p:sp>
        <p:nvSpPr>
          <p:cNvPr id="7" name="Rectangle 6"/>
          <p:cNvSpPr/>
          <p:nvPr/>
        </p:nvSpPr>
        <p:spPr>
          <a:xfrm>
            <a:off x="609600" y="1905000"/>
            <a:ext cx="2159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1930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Pregunta</a:t>
            </a:r>
          </a:p>
        </p:txBody>
      </p:sp>
      <p:sp>
        <p:nvSpPr>
          <p:cNvPr id="9" name="Rectangle 8"/>
          <p:cNvSpPr/>
          <p:nvPr/>
        </p:nvSpPr>
        <p:spPr>
          <a:xfrm>
            <a:off x="2768600" y="1905000"/>
            <a:ext cx="5461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2900" y="2006600"/>
            <a:ext cx="5232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Propuesta razonada</a:t>
            </a:r>
          </a:p>
        </p:txBody>
      </p:sp>
      <p:sp>
        <p:nvSpPr>
          <p:cNvPr id="11" name="Rectangle 10"/>
          <p:cNvSpPr/>
          <p:nvPr/>
        </p:nvSpPr>
        <p:spPr>
          <a:xfrm>
            <a:off x="8229600" y="1905000"/>
            <a:ext cx="3352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43900" y="2006600"/>
            <a:ext cx="31242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Cálculo asociado</a:t>
            </a:r>
          </a:p>
        </p:txBody>
      </p:sp>
      <p:sp>
        <p:nvSpPr>
          <p:cNvPr id="13" name="Rectangle 12"/>
          <p:cNvSpPr/>
          <p:nvPr/>
        </p:nvSpPr>
        <p:spPr>
          <a:xfrm>
            <a:off x="609600" y="2387600"/>
            <a:ext cx="21590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193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Presencia</a:t>
            </a:r>
          </a:p>
        </p:txBody>
      </p:sp>
      <p:sp>
        <p:nvSpPr>
          <p:cNvPr id="15" name="Rectangle 14"/>
          <p:cNvSpPr/>
          <p:nvPr/>
        </p:nvSpPr>
        <p:spPr>
          <a:xfrm>
            <a:off x="2768600" y="2387600"/>
            <a:ext cx="54610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2900" y="2476500"/>
            <a:ext cx="5232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PCR final; NTC + positivo + control de muestra</a:t>
            </a:r>
          </a:p>
        </p:txBody>
      </p:sp>
      <p:sp>
        <p:nvSpPr>
          <p:cNvPr id="17" name="Rectangle 16"/>
          <p:cNvSpPr/>
          <p:nvPr/>
        </p:nvSpPr>
        <p:spPr>
          <a:xfrm>
            <a:off x="8229600" y="2387600"/>
            <a:ext cx="33528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3900" y="2476500"/>
            <a:ext cx="31242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Dilución del ADN; volumen de</a:t>
            </a:r>
          </a:p>
          <a:p>
            <a:pPr>
              <a:lnSpc>
                <a:spcPct val="115000"/>
              </a:lnSpc>
              <a:spcBef>
                <a:spcPts val="0"/>
              </a:spcBef>
              <a:spcAft>
                <a:spcPts val="0"/>
              </a:spcAft>
              <a:defRPr sz="1600" b="0">
                <a:solidFill>
                  <a:srgbClr val="183443"/>
                </a:solidFill>
                <a:latin typeface="DejaVu Sans"/>
              </a:defRPr>
            </a:pPr>
            <a:r>
              <a:t>mezcla</a:t>
            </a:r>
          </a:p>
        </p:txBody>
      </p:sp>
      <p:sp>
        <p:nvSpPr>
          <p:cNvPr id="19" name="Rectangle 18"/>
          <p:cNvSpPr/>
          <p:nvPr/>
        </p:nvSpPr>
        <p:spPr>
          <a:xfrm>
            <a:off x="609600" y="3107436"/>
            <a:ext cx="2159000" cy="71983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3196336"/>
            <a:ext cx="193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Expresión</a:t>
            </a:r>
          </a:p>
        </p:txBody>
      </p:sp>
      <p:sp>
        <p:nvSpPr>
          <p:cNvPr id="21" name="Rectangle 20"/>
          <p:cNvSpPr/>
          <p:nvPr/>
        </p:nvSpPr>
        <p:spPr>
          <a:xfrm>
            <a:off x="2768600" y="3107436"/>
            <a:ext cx="5461000" cy="71983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82900" y="3196336"/>
            <a:ext cx="5232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RT-qPCR; −RT + referencias validadas + réplicas</a:t>
            </a:r>
          </a:p>
        </p:txBody>
      </p:sp>
      <p:sp>
        <p:nvSpPr>
          <p:cNvPr id="23" name="Rectangle 22"/>
          <p:cNvSpPr/>
          <p:nvPr/>
        </p:nvSpPr>
        <p:spPr>
          <a:xfrm>
            <a:off x="8229600" y="3107436"/>
            <a:ext cx="3352800" cy="71983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43900" y="3196336"/>
            <a:ext cx="31242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ΔCq y ΔΔCq; comprobar</a:t>
            </a:r>
          </a:p>
          <a:p>
            <a:pPr>
              <a:lnSpc>
                <a:spcPct val="115000"/>
              </a:lnSpc>
              <a:spcBef>
                <a:spcPts val="0"/>
              </a:spcBef>
              <a:spcAft>
                <a:spcPts val="0"/>
              </a:spcAft>
              <a:defRPr sz="1600" b="0">
                <a:solidFill>
                  <a:srgbClr val="183443"/>
                </a:solidFill>
                <a:latin typeface="DejaVu Sans"/>
              </a:defRPr>
            </a:pPr>
            <a:r>
              <a:t>eficiencias</a:t>
            </a:r>
          </a:p>
        </p:txBody>
      </p:sp>
      <p:sp>
        <p:nvSpPr>
          <p:cNvPr id="25" name="Rectangle 24"/>
          <p:cNvSpPr/>
          <p:nvPr/>
        </p:nvSpPr>
        <p:spPr>
          <a:xfrm>
            <a:off x="609600" y="3827272"/>
            <a:ext cx="21590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916172"/>
            <a:ext cx="193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Variantes</a:t>
            </a:r>
          </a:p>
        </p:txBody>
      </p:sp>
      <p:sp>
        <p:nvSpPr>
          <p:cNvPr id="27" name="Rectangle 26"/>
          <p:cNvSpPr/>
          <p:nvPr/>
        </p:nvSpPr>
        <p:spPr>
          <a:xfrm>
            <a:off x="2768600" y="3827272"/>
            <a:ext cx="54610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2900" y="3916172"/>
            <a:ext cx="52324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NGS para explorar; dPCR para una variante</a:t>
            </a:r>
          </a:p>
          <a:p>
            <a:pPr>
              <a:lnSpc>
                <a:spcPct val="115000"/>
              </a:lnSpc>
              <a:spcBef>
                <a:spcPts val="0"/>
              </a:spcBef>
              <a:spcAft>
                <a:spcPts val="0"/>
              </a:spcAft>
              <a:defRPr sz="1600" b="0">
                <a:solidFill>
                  <a:srgbClr val="183443"/>
                </a:solidFill>
                <a:latin typeface="DejaVu Sans"/>
              </a:defRPr>
            </a:pPr>
            <a:r>
              <a:t>conocida</a:t>
            </a:r>
          </a:p>
        </p:txBody>
      </p:sp>
      <p:sp>
        <p:nvSpPr>
          <p:cNvPr id="29" name="Rectangle 28"/>
          <p:cNvSpPr/>
          <p:nvPr/>
        </p:nvSpPr>
        <p:spPr>
          <a:xfrm>
            <a:off x="8229600" y="3827272"/>
            <a:ext cx="33528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43900" y="3916172"/>
            <a:ext cx="31242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Molaridad de biblioteca;</a:t>
            </a:r>
          </a:p>
          <a:p>
            <a:pPr>
              <a:lnSpc>
                <a:spcPct val="115000"/>
              </a:lnSpc>
              <a:spcBef>
                <a:spcPts val="0"/>
              </a:spcBef>
              <a:spcAft>
                <a:spcPts val="0"/>
              </a:spcAft>
              <a:defRPr sz="1600" b="0">
                <a:solidFill>
                  <a:srgbClr val="183443"/>
                </a:solidFill>
                <a:latin typeface="DejaVu Sans"/>
              </a:defRPr>
            </a:pPr>
            <a:r>
              <a:t>Poisson y diluciones</a:t>
            </a:r>
          </a:p>
        </p:txBody>
      </p:sp>
      <p:sp>
        <p:nvSpPr>
          <p:cNvPr id="31" name="Rounded Rectangle 30"/>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¿Por qué un Cq menor o una banda más intensa no bastan para comparar cualquier muestra?</a:t>
            </a:r>
          </a:p>
        </p:txBody>
      </p:sp>
      <p:sp>
        <p:nvSpPr>
          <p:cNvPr id="33" name="TextBox 32"/>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CLASE 40 MIN | 1 min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OBJETIVOS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Lo que podrás decidir y calcular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[1–4]; Green y Sambrook, Molecular Cloning, 2012 [5].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21</a:t>
            </a:r>
          </a:p>
        </p:txBody>
      </p:sp>
      <p:sp>
        <p:nvSpPr>
          <p:cNvPr id="7" name="Rounded Rectangle 6"/>
          <p:cNvSpPr/>
          <p:nvPr/>
        </p:nvSpPr>
        <p:spPr>
          <a:xfrm>
            <a:off x="609600"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Elegir</a:t>
            </a:r>
          </a:p>
        </p:txBody>
      </p:sp>
      <p:sp>
        <p:nvSpPr>
          <p:cNvPr id="9" name="TextBox 8"/>
          <p:cNvSpPr txBox="1"/>
          <p:nvPr/>
        </p:nvSpPr>
        <p:spPr>
          <a:xfrm>
            <a:off x="838200" y="2870200"/>
            <a:ext cx="3031066" cy="919734"/>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Distinguir presencia,</a:t>
            </a:r>
          </a:p>
          <a:p>
            <a:pPr>
              <a:lnSpc>
                <a:spcPct val="115000"/>
              </a:lnSpc>
              <a:spcBef>
                <a:spcPts val="0"/>
              </a:spcBef>
              <a:spcAft>
                <a:spcPts val="0"/>
              </a:spcAft>
              <a:defRPr sz="1800" b="0">
                <a:solidFill>
                  <a:srgbClr val="183443"/>
                </a:solidFill>
                <a:latin typeface="DejaVu Sans"/>
              </a:defRPr>
            </a:pPr>
            <a:r>
              <a:t>cantidad, expresión y</a:t>
            </a:r>
          </a:p>
          <a:p>
            <a:pPr>
              <a:lnSpc>
                <a:spcPct val="115000"/>
              </a:lnSpc>
              <a:spcBef>
                <a:spcPts val="0"/>
              </a:spcBef>
              <a:spcAft>
                <a:spcPts val="0"/>
              </a:spcAft>
              <a:defRPr sz="1800" b="0">
                <a:solidFill>
                  <a:srgbClr val="183443"/>
                </a:solidFill>
                <a:latin typeface="DejaVu Sans"/>
              </a:defRPr>
            </a:pPr>
            <a:r>
              <a:t>secuencia.</a:t>
            </a:r>
          </a:p>
        </p:txBody>
      </p:sp>
      <p:sp>
        <p:nvSpPr>
          <p:cNvPr id="10" name="Rounded Rectangle 9"/>
          <p:cNvSpPr/>
          <p:nvPr/>
        </p:nvSpPr>
        <p:spPr>
          <a:xfrm>
            <a:off x="4351866"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0466"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Preparar</a:t>
            </a:r>
          </a:p>
        </p:txBody>
      </p:sp>
      <p:sp>
        <p:nvSpPr>
          <p:cNvPr id="12" name="TextBox 11"/>
          <p:cNvSpPr txBox="1"/>
          <p:nvPr/>
        </p:nvSpPr>
        <p:spPr>
          <a:xfrm>
            <a:off x="4580466" y="2870200"/>
            <a:ext cx="3031066" cy="919734"/>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Diseñar primers,</a:t>
            </a:r>
          </a:p>
          <a:p>
            <a:pPr>
              <a:lnSpc>
                <a:spcPct val="115000"/>
              </a:lnSpc>
              <a:spcBef>
                <a:spcPts val="0"/>
              </a:spcBef>
              <a:spcAft>
                <a:spcPts val="0"/>
              </a:spcAft>
              <a:defRPr sz="1800" b="0">
                <a:solidFill>
                  <a:srgbClr val="183443"/>
                </a:solidFill>
                <a:latin typeface="DejaVu Sans"/>
              </a:defRPr>
            </a:pPr>
            <a:r>
              <a:t>seleccionar mezcla y</a:t>
            </a:r>
          </a:p>
          <a:p>
            <a:pPr>
              <a:lnSpc>
                <a:spcPct val="115000"/>
              </a:lnSpc>
              <a:spcBef>
                <a:spcPts val="0"/>
              </a:spcBef>
              <a:spcAft>
                <a:spcPts val="0"/>
              </a:spcAft>
              <a:defRPr sz="1800" b="0">
                <a:solidFill>
                  <a:srgbClr val="183443"/>
                </a:solidFill>
                <a:latin typeface="DejaVu Sans"/>
              </a:defRPr>
            </a:pPr>
            <a:r>
              <a:t>controlar la muestra.</a:t>
            </a:r>
          </a:p>
        </p:txBody>
      </p:sp>
      <p:sp>
        <p:nvSpPr>
          <p:cNvPr id="13" name="Rounded Rectangle 12"/>
          <p:cNvSpPr/>
          <p:nvPr/>
        </p:nvSpPr>
        <p:spPr>
          <a:xfrm>
            <a:off x="8094133"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2733"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Interpretar</a:t>
            </a:r>
          </a:p>
        </p:txBody>
      </p:sp>
      <p:sp>
        <p:nvSpPr>
          <p:cNvPr id="15" name="TextBox 14"/>
          <p:cNvSpPr txBox="1"/>
          <p:nvPr/>
        </p:nvSpPr>
        <p:spPr>
          <a:xfrm>
            <a:off x="8322733" y="2870200"/>
            <a:ext cx="3031066" cy="919734"/>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Calcular volúmenes,</a:t>
            </a:r>
          </a:p>
          <a:p>
            <a:pPr>
              <a:lnSpc>
                <a:spcPct val="115000"/>
              </a:lnSpc>
              <a:spcBef>
                <a:spcPts val="0"/>
              </a:spcBef>
              <a:spcAft>
                <a:spcPts val="0"/>
              </a:spcAft>
              <a:defRPr sz="1800" b="0">
                <a:solidFill>
                  <a:srgbClr val="183443"/>
                </a:solidFill>
                <a:latin typeface="DejaVu Sans"/>
              </a:defRPr>
            </a:pPr>
            <a:r>
              <a:t>cambios relativos, copias</a:t>
            </a:r>
          </a:p>
          <a:p>
            <a:pPr>
              <a:lnSpc>
                <a:spcPct val="115000"/>
              </a:lnSpc>
              <a:spcBef>
                <a:spcPts val="0"/>
              </a:spcBef>
              <a:spcAft>
                <a:spcPts val="0"/>
              </a:spcAft>
              <a:defRPr sz="1800" b="0">
                <a:solidFill>
                  <a:srgbClr val="183443"/>
                </a:solidFill>
                <a:latin typeface="DejaVu Sans"/>
              </a:defRPr>
            </a:pPr>
            <a:r>
              <a:t>y mezclas de bibliotecas.</a:t>
            </a:r>
          </a:p>
        </p:txBody>
      </p:sp>
      <p:sp>
        <p:nvSpPr>
          <p:cNvPr id="16" name="Rounded Rectangle 15"/>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Pregunta guía: ¿qué información necesito obtener del ácido nucleico?</a:t>
            </a:r>
          </a:p>
        </p:txBody>
      </p:sp>
      <p:sp>
        <p:nvSpPr>
          <p:cNvPr id="18" name="TextBox 17"/>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FUNDAMENTOS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La banda final pierde la historia inicial</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[1–3].</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22</a:t>
            </a:r>
          </a:p>
        </p:txBody>
      </p:sp>
      <p:cxnSp>
        <p:nvCxnSpPr>
          <p:cNvPr id="7" name="Connector 6"/>
          <p:cNvCxnSpPr/>
          <p:nvPr/>
        </p:nvCxnSpPr>
        <p:spPr>
          <a:xfrm>
            <a:off x="1016000" y="5143500"/>
            <a:ext cx="5969000" cy="0"/>
          </a:xfrm>
          <a:prstGeom prst="line">
            <a:avLst/>
          </a:prstGeom>
          <a:ln w="25400">
            <a:solidFill>
              <a:srgbClr val="57717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16000" y="1905000"/>
            <a:ext cx="0" cy="3238500"/>
          </a:xfrm>
          <a:prstGeom prst="line">
            <a:avLst/>
          </a:prstGeom>
          <a:ln w="25400">
            <a:solidFill>
              <a:srgbClr val="57717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016000" y="5142269"/>
            <a:ext cx="139700" cy="44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55700" y="5141561"/>
            <a:ext cx="139700" cy="70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295400" y="5140447"/>
            <a:ext cx="139700" cy="111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435100" y="5138693"/>
            <a:ext cx="139700" cy="175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574800" y="5135935"/>
            <a:ext cx="139700" cy="275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14500" y="5131601"/>
            <a:ext cx="139700" cy="433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854200" y="5124800"/>
            <a:ext cx="139700" cy="680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993900" y="5114152"/>
            <a:ext cx="139700" cy="1064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133600" y="5097541"/>
            <a:ext cx="139700" cy="1661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273300" y="5071773"/>
            <a:ext cx="139700" cy="2576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413000" y="5032143"/>
            <a:ext cx="139700" cy="39630"/>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552700" y="4971995"/>
            <a:ext cx="139700" cy="6014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692400" y="4882520"/>
            <a:ext cx="139700" cy="8947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832100" y="4753311"/>
            <a:ext cx="139700" cy="12920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971800" y="4574502"/>
            <a:ext cx="139700" cy="17880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111500" y="4341102"/>
            <a:ext cx="139700" cy="233400"/>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251200" y="4058644"/>
            <a:ext cx="139700" cy="28245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390900" y="3746500"/>
            <a:ext cx="139700" cy="31214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530600" y="3434355"/>
            <a:ext cx="139700" cy="31214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670300" y="3151897"/>
            <a:ext cx="139700" cy="28245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810000" y="2918497"/>
            <a:ext cx="139700" cy="233400"/>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949700" y="2739688"/>
            <a:ext cx="139700" cy="17880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089400" y="2610479"/>
            <a:ext cx="139700" cy="12920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4229100" y="2521004"/>
            <a:ext cx="139700" cy="8947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4368800" y="2460856"/>
            <a:ext cx="139700" cy="6014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08500" y="2421226"/>
            <a:ext cx="139700" cy="39630"/>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648200" y="2395458"/>
            <a:ext cx="139700" cy="2576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787900" y="2378847"/>
            <a:ext cx="139700" cy="1661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27600" y="2368199"/>
            <a:ext cx="139700" cy="1064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5067300" y="2361398"/>
            <a:ext cx="139700" cy="680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207000" y="2357064"/>
            <a:ext cx="139700" cy="433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346700" y="2354306"/>
            <a:ext cx="139700" cy="275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5486400" y="2352552"/>
            <a:ext cx="139700" cy="175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626100" y="2351438"/>
            <a:ext cx="139700" cy="1114"/>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765800" y="2350730"/>
            <a:ext cx="139700" cy="708"/>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05500" y="2350281"/>
            <a:ext cx="139700" cy="449"/>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045200" y="2349995"/>
            <a:ext cx="139700" cy="286"/>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84900" y="2349814"/>
            <a:ext cx="139700" cy="181"/>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324600" y="2349699"/>
            <a:ext cx="139700" cy="115"/>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464300" y="2349626"/>
            <a:ext cx="139700" cy="73"/>
          </a:xfrm>
          <a:prstGeom prst="line">
            <a:avLst/>
          </a:prstGeom>
          <a:ln w="381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16000" y="5143448"/>
            <a:ext cx="139700" cy="1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155700" y="5143419"/>
            <a:ext cx="139700" cy="2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295400" y="5143373"/>
            <a:ext cx="139700" cy="46"/>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435100" y="5143300"/>
            <a:ext cx="139700" cy="73"/>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574800" y="5143185"/>
            <a:ext cx="139700" cy="11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14500" y="5143004"/>
            <a:ext cx="139700" cy="181"/>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854200" y="5142718"/>
            <a:ext cx="139700" cy="286"/>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993900" y="5142269"/>
            <a:ext cx="139700" cy="44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2133600" y="5141561"/>
            <a:ext cx="139700" cy="70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2273300" y="5140447"/>
            <a:ext cx="139700" cy="111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2413000" y="5138693"/>
            <a:ext cx="139700" cy="175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552700" y="5135935"/>
            <a:ext cx="139700" cy="275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2692400" y="5131601"/>
            <a:ext cx="139700" cy="433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832100" y="5124800"/>
            <a:ext cx="139700" cy="6801"/>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2971800" y="5114152"/>
            <a:ext cx="139700" cy="1064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3111500" y="5097541"/>
            <a:ext cx="139700" cy="16611"/>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251200" y="5071773"/>
            <a:ext cx="139700" cy="2576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3390900" y="5032143"/>
            <a:ext cx="139700" cy="39630"/>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3530600" y="4971995"/>
            <a:ext cx="139700" cy="6014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3670300" y="4882520"/>
            <a:ext cx="139700" cy="8947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3810000" y="4753311"/>
            <a:ext cx="139700" cy="12920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3949700" y="4574502"/>
            <a:ext cx="139700" cy="17880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089400" y="4341102"/>
            <a:ext cx="139700" cy="233400"/>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229100" y="4058644"/>
            <a:ext cx="139700" cy="28245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368800" y="3746500"/>
            <a:ext cx="139700" cy="31214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4508500" y="3434355"/>
            <a:ext cx="139700" cy="31214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4648200" y="3151897"/>
            <a:ext cx="139700" cy="28245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4787900" y="2918497"/>
            <a:ext cx="139700" cy="233400"/>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4927600" y="2739688"/>
            <a:ext cx="139700" cy="17880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5067300" y="2610479"/>
            <a:ext cx="139700" cy="129209"/>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5207000" y="2521004"/>
            <a:ext cx="139700" cy="89475"/>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5346700" y="2460856"/>
            <a:ext cx="139700" cy="6014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5486400" y="2421226"/>
            <a:ext cx="139700" cy="39630"/>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5626100" y="2395458"/>
            <a:ext cx="139700" cy="2576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5765800" y="2378847"/>
            <a:ext cx="139700" cy="16611"/>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5905500" y="2368199"/>
            <a:ext cx="139700" cy="1064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6045200" y="2361398"/>
            <a:ext cx="139700" cy="6801"/>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6184900" y="2357064"/>
            <a:ext cx="139700" cy="433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6324600" y="2354306"/>
            <a:ext cx="139700" cy="2758"/>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6464300" y="2352552"/>
            <a:ext cx="139700" cy="1754"/>
          </a:xfrm>
          <a:prstGeom prst="line">
            <a:avLst/>
          </a:prstGeom>
          <a:ln w="38100">
            <a:solidFill>
              <a:srgbClr val="4276C8"/>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3238500" y="5232400"/>
            <a:ext cx="3175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Número de ciclos</a:t>
            </a:r>
          </a:p>
        </p:txBody>
      </p:sp>
      <p:sp>
        <p:nvSpPr>
          <p:cNvPr id="90" name="TextBox 89"/>
          <p:cNvSpPr txBox="1"/>
          <p:nvPr/>
        </p:nvSpPr>
        <p:spPr>
          <a:xfrm>
            <a:off x="7493000" y="2222500"/>
            <a:ext cx="3810000" cy="451103"/>
          </a:xfrm>
          <a:prstGeom prst="rect">
            <a:avLst/>
          </a:prstGeom>
          <a:noFill/>
        </p:spPr>
        <p:txBody>
          <a:bodyPr wrap="none" lIns="0" rIns="0" tIns="0" bIns="0">
            <a:spAutoFit/>
          </a:bodyPr>
          <a:lstStyle/>
          <a:p>
            <a:pPr>
              <a:lnSpc>
                <a:spcPct val="115000"/>
              </a:lnSpc>
              <a:spcBef>
                <a:spcPts val="0"/>
              </a:spcBef>
              <a:spcAft>
                <a:spcPts val="0"/>
              </a:spcAft>
              <a:defRPr sz="2400" b="1">
                <a:solidFill>
                  <a:srgbClr val="007F86"/>
                </a:solidFill>
                <a:latin typeface="DejaVu Sans"/>
              </a:defRPr>
            </a:pPr>
            <a:r>
              <a:t>Nₙ = N₀ (1 + E)ⁿ</a:t>
            </a:r>
          </a:p>
        </p:txBody>
      </p:sp>
      <p:sp>
        <p:nvSpPr>
          <p:cNvPr id="91" name="TextBox 90"/>
          <p:cNvSpPr txBox="1"/>
          <p:nvPr/>
        </p:nvSpPr>
        <p:spPr>
          <a:xfrm>
            <a:off x="7493000" y="2984500"/>
            <a:ext cx="3810000" cy="1325880"/>
          </a:xfrm>
          <a:prstGeom prst="rect">
            <a:avLst/>
          </a:prstGeom>
          <a:noFill/>
        </p:spPr>
        <p:txBody>
          <a:bodyPr wrap="none" lIns="0" rIns="0" tIns="0" bIns="0">
            <a:spAutoFit/>
          </a:bodyPr>
          <a:lstStyle/>
          <a:p>
            <a:pPr>
              <a:lnSpc>
                <a:spcPct val="115000"/>
              </a:lnSpc>
              <a:spcBef>
                <a:spcPts val="0"/>
              </a:spcBef>
              <a:spcAft>
                <a:spcPts val="0"/>
              </a:spcAft>
              <a:defRPr sz="2000" b="0">
                <a:solidFill>
                  <a:srgbClr val="183443"/>
                </a:solidFill>
                <a:latin typeface="DejaVu Sans"/>
              </a:defRPr>
            </a:pPr>
            <a:r>
              <a:t>Exponencial: conserva</a:t>
            </a:r>
          </a:p>
          <a:p>
            <a:pPr>
              <a:lnSpc>
                <a:spcPct val="115000"/>
              </a:lnSpc>
              <a:spcBef>
                <a:spcPts val="0"/>
              </a:spcBef>
              <a:spcAft>
                <a:spcPts val="0"/>
              </a:spcAft>
              <a:defRPr sz="2000" b="0">
                <a:solidFill>
                  <a:srgbClr val="183443"/>
                </a:solidFill>
                <a:latin typeface="DejaVu Sans"/>
              </a:defRPr>
            </a:pPr>
            <a:r>
              <a:t>diferencias.</a:t>
            </a:r>
          </a:p>
          <a:p>
            <a:pPr>
              <a:lnSpc>
                <a:spcPct val="115000"/>
              </a:lnSpc>
              <a:spcBef>
                <a:spcPts val="0"/>
              </a:spcBef>
              <a:spcAft>
                <a:spcPts val="0"/>
              </a:spcAft>
              <a:defRPr sz="2000" b="0">
                <a:solidFill>
                  <a:srgbClr val="183443"/>
                </a:solidFill>
                <a:latin typeface="DejaVu Sans"/>
              </a:defRPr>
            </a:pPr>
            <a:r>
              <a:t>Meseta: limita la</a:t>
            </a:r>
          </a:p>
          <a:p>
            <a:pPr>
              <a:lnSpc>
                <a:spcPct val="115000"/>
              </a:lnSpc>
              <a:spcBef>
                <a:spcPts val="0"/>
              </a:spcBef>
              <a:spcAft>
                <a:spcPts val="0"/>
              </a:spcAft>
              <a:defRPr sz="2000" b="0">
                <a:solidFill>
                  <a:srgbClr val="183443"/>
                </a:solidFill>
                <a:latin typeface="DejaVu Sans"/>
              </a:defRPr>
            </a:pPr>
            <a:r>
              <a:t>cuantificación.</a:t>
            </a:r>
          </a:p>
        </p:txBody>
      </p:sp>
      <p:sp>
        <p:nvSpPr>
          <p:cNvPr id="92" name="Rounded Rectangle 91"/>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La intensidad de una banda no sustituye una cuantificación validada.</a:t>
            </a:r>
          </a:p>
        </p:txBody>
      </p:sp>
      <p:sp>
        <p:nvSpPr>
          <p:cNvPr id="94" name="TextBox 93"/>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PREPARACIÓN DE MUESTRA</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Qué revisar según la muestra y el objetivo</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[2,4,5].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23</a:t>
            </a:r>
          </a:p>
        </p:txBody>
      </p:sp>
      <p:sp>
        <p:nvSpPr>
          <p:cNvPr id="7" name="Rectangle 6"/>
          <p:cNvSpPr/>
          <p:nvPr/>
        </p:nvSpPr>
        <p:spPr>
          <a:xfrm>
            <a:off x="609600" y="1905000"/>
            <a:ext cx="2413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2184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Material / uso</a:t>
            </a:r>
          </a:p>
        </p:txBody>
      </p:sp>
      <p:sp>
        <p:nvSpPr>
          <p:cNvPr id="9" name="Rectangle 8"/>
          <p:cNvSpPr/>
          <p:nvPr/>
        </p:nvSpPr>
        <p:spPr>
          <a:xfrm>
            <a:off x="3022600" y="1905000"/>
            <a:ext cx="42799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36900" y="2006600"/>
            <a:ext cx="40513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Preparación clave</a:t>
            </a:r>
          </a:p>
        </p:txBody>
      </p:sp>
      <p:sp>
        <p:nvSpPr>
          <p:cNvPr id="11" name="Rectangle 10"/>
          <p:cNvSpPr/>
          <p:nvPr/>
        </p:nvSpPr>
        <p:spPr>
          <a:xfrm>
            <a:off x="7302500" y="1905000"/>
            <a:ext cx="42799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6800" y="2006600"/>
            <a:ext cx="40513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Cómo comprobar</a:t>
            </a:r>
          </a:p>
        </p:txBody>
      </p:sp>
      <p:sp>
        <p:nvSpPr>
          <p:cNvPr id="13" name="Rectangle 12"/>
          <p:cNvSpPr/>
          <p:nvPr/>
        </p:nvSpPr>
        <p:spPr>
          <a:xfrm>
            <a:off x="609600" y="2387600"/>
            <a:ext cx="24130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2184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ADN · PCR / Sanger</a:t>
            </a:r>
          </a:p>
        </p:txBody>
      </p:sp>
      <p:sp>
        <p:nvSpPr>
          <p:cNvPr id="15" name="Rectangle 14"/>
          <p:cNvSpPr/>
          <p:nvPr/>
        </p:nvSpPr>
        <p:spPr>
          <a:xfrm>
            <a:off x="3022600" y="2387600"/>
            <a:ext cx="42799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6900" y="2476500"/>
            <a:ext cx="40513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Extraer; evitar degradación y arrastre de</a:t>
            </a:r>
          </a:p>
          <a:p>
            <a:pPr>
              <a:lnSpc>
                <a:spcPct val="115000"/>
              </a:lnSpc>
              <a:spcBef>
                <a:spcPts val="0"/>
              </a:spcBef>
              <a:spcAft>
                <a:spcPts val="0"/>
              </a:spcAft>
              <a:defRPr sz="1500" b="0">
                <a:solidFill>
                  <a:srgbClr val="183443"/>
                </a:solidFill>
                <a:latin typeface="DejaVu Sans"/>
              </a:defRPr>
            </a:pPr>
            <a:r>
              <a:t>sales</a:t>
            </a:r>
          </a:p>
        </p:txBody>
      </p:sp>
      <p:sp>
        <p:nvSpPr>
          <p:cNvPr id="17" name="Rectangle 16"/>
          <p:cNvSpPr/>
          <p:nvPr/>
        </p:nvSpPr>
        <p:spPr>
          <a:xfrm>
            <a:off x="7302500" y="2387600"/>
            <a:ext cx="42799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6800" y="2476500"/>
            <a:ext cx="40513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Fluorometría + integridad; control de</a:t>
            </a:r>
          </a:p>
          <a:p>
            <a:pPr>
              <a:lnSpc>
                <a:spcPct val="115000"/>
              </a:lnSpc>
              <a:spcBef>
                <a:spcPts val="0"/>
              </a:spcBef>
              <a:spcAft>
                <a:spcPts val="0"/>
              </a:spcAft>
              <a:defRPr sz="1500" b="0">
                <a:solidFill>
                  <a:srgbClr val="183443"/>
                </a:solidFill>
                <a:latin typeface="DejaVu Sans"/>
              </a:defRPr>
            </a:pPr>
            <a:r>
              <a:t>amplificación</a:t>
            </a:r>
          </a:p>
        </p:txBody>
      </p:sp>
      <p:sp>
        <p:nvSpPr>
          <p:cNvPr id="19" name="Rectangle 18"/>
          <p:cNvSpPr/>
          <p:nvPr/>
        </p:nvSpPr>
        <p:spPr>
          <a:xfrm>
            <a:off x="609600" y="3075940"/>
            <a:ext cx="24130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3164840"/>
            <a:ext cx="21844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ARN · RT-qPCR /</a:t>
            </a:r>
          </a:p>
          <a:p>
            <a:pPr>
              <a:lnSpc>
                <a:spcPct val="115000"/>
              </a:lnSpc>
              <a:spcBef>
                <a:spcPts val="0"/>
              </a:spcBef>
              <a:spcAft>
                <a:spcPts val="0"/>
              </a:spcAft>
              <a:defRPr sz="1500" b="0">
                <a:solidFill>
                  <a:srgbClr val="183443"/>
                </a:solidFill>
                <a:latin typeface="DejaVu Sans"/>
              </a:defRPr>
            </a:pPr>
            <a:r>
              <a:t>RNA-seq</a:t>
            </a:r>
          </a:p>
        </p:txBody>
      </p:sp>
      <p:sp>
        <p:nvSpPr>
          <p:cNvPr id="21" name="Rectangle 20"/>
          <p:cNvSpPr/>
          <p:nvPr/>
        </p:nvSpPr>
        <p:spPr>
          <a:xfrm>
            <a:off x="3022600" y="3075940"/>
            <a:ext cx="42799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36900" y="3164840"/>
            <a:ext cx="40513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Extracción sin RNasas; DNasa si</a:t>
            </a:r>
          </a:p>
          <a:p>
            <a:pPr>
              <a:lnSpc>
                <a:spcPct val="115000"/>
              </a:lnSpc>
              <a:spcBef>
                <a:spcPts val="0"/>
              </a:spcBef>
              <a:spcAft>
                <a:spcPts val="0"/>
              </a:spcAft>
              <a:defRPr sz="1500" b="0">
                <a:solidFill>
                  <a:srgbClr val="183443"/>
                </a:solidFill>
                <a:latin typeface="DejaVu Sans"/>
              </a:defRPr>
            </a:pPr>
            <a:r>
              <a:t>corresponde</a:t>
            </a:r>
          </a:p>
        </p:txBody>
      </p:sp>
      <p:sp>
        <p:nvSpPr>
          <p:cNvPr id="23" name="Rectangle 22"/>
          <p:cNvSpPr/>
          <p:nvPr/>
        </p:nvSpPr>
        <p:spPr>
          <a:xfrm>
            <a:off x="7302500" y="3075940"/>
            <a:ext cx="42799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6800" y="3164840"/>
            <a:ext cx="40513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Integridad; control sin RT</a:t>
            </a:r>
          </a:p>
        </p:txBody>
      </p:sp>
      <p:sp>
        <p:nvSpPr>
          <p:cNvPr id="25" name="Rectangle 24"/>
          <p:cNvSpPr/>
          <p:nvPr/>
        </p:nvSpPr>
        <p:spPr>
          <a:xfrm>
            <a:off x="609600" y="3764279"/>
            <a:ext cx="24130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853179"/>
            <a:ext cx="2184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cfDNA · dPCR / NGS</a:t>
            </a:r>
          </a:p>
        </p:txBody>
      </p:sp>
      <p:sp>
        <p:nvSpPr>
          <p:cNvPr id="27" name="Rectangle 26"/>
          <p:cNvSpPr/>
          <p:nvPr/>
        </p:nvSpPr>
        <p:spPr>
          <a:xfrm>
            <a:off x="3022600" y="3764279"/>
            <a:ext cx="42799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36900" y="3853179"/>
            <a:ext cx="40513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Preservación y separación de plasma</a:t>
            </a:r>
          </a:p>
          <a:p>
            <a:pPr>
              <a:lnSpc>
                <a:spcPct val="115000"/>
              </a:lnSpc>
              <a:spcBef>
                <a:spcPts val="0"/>
              </a:spcBef>
              <a:spcAft>
                <a:spcPts val="0"/>
              </a:spcAft>
              <a:defRPr sz="1500" b="0">
                <a:solidFill>
                  <a:srgbClr val="183443"/>
                </a:solidFill>
                <a:latin typeface="DejaVu Sans"/>
              </a:defRPr>
            </a:pPr>
            <a:r>
              <a:t>validadas</a:t>
            </a:r>
          </a:p>
        </p:txBody>
      </p:sp>
      <p:sp>
        <p:nvSpPr>
          <p:cNvPr id="29" name="Rectangle 28"/>
          <p:cNvSpPr/>
          <p:nvPr/>
        </p:nvSpPr>
        <p:spPr>
          <a:xfrm>
            <a:off x="7302500" y="3764279"/>
            <a:ext cx="42799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16800" y="3853179"/>
            <a:ext cx="40513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Cantidad, tamaño y copias amplificables</a:t>
            </a:r>
          </a:p>
        </p:txBody>
      </p:sp>
      <p:sp>
        <p:nvSpPr>
          <p:cNvPr id="31" name="Rectangle 30"/>
          <p:cNvSpPr/>
          <p:nvPr/>
        </p:nvSpPr>
        <p:spPr>
          <a:xfrm>
            <a:off x="609600" y="4452620"/>
            <a:ext cx="24130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4541520"/>
            <a:ext cx="21844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Ambiental ·</a:t>
            </a:r>
          </a:p>
          <a:p>
            <a:pPr>
              <a:lnSpc>
                <a:spcPct val="115000"/>
              </a:lnSpc>
              <a:spcBef>
                <a:spcPts val="0"/>
              </a:spcBef>
              <a:spcAft>
                <a:spcPts val="0"/>
              </a:spcAft>
              <a:defRPr sz="1500" b="0">
                <a:solidFill>
                  <a:srgbClr val="183443"/>
                </a:solidFill>
                <a:latin typeface="DejaVu Sans"/>
              </a:defRPr>
            </a:pPr>
            <a:r>
              <a:t>amplicones</a:t>
            </a:r>
          </a:p>
        </p:txBody>
      </p:sp>
      <p:sp>
        <p:nvSpPr>
          <p:cNvPr id="33" name="Rectangle 32"/>
          <p:cNvSpPr/>
          <p:nvPr/>
        </p:nvSpPr>
        <p:spPr>
          <a:xfrm>
            <a:off x="3022600" y="4452620"/>
            <a:ext cx="42799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36900" y="4541520"/>
            <a:ext cx="40513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Remover humatos y otros inhibidores</a:t>
            </a:r>
          </a:p>
        </p:txBody>
      </p:sp>
      <p:sp>
        <p:nvSpPr>
          <p:cNvPr id="35" name="Rectangle 34"/>
          <p:cNvSpPr/>
          <p:nvPr/>
        </p:nvSpPr>
        <p:spPr>
          <a:xfrm>
            <a:off x="7302500" y="4452620"/>
            <a:ext cx="42799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16800" y="4541520"/>
            <a:ext cx="40513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Blanco de extracción; control interno /</a:t>
            </a:r>
          </a:p>
          <a:p>
            <a:pPr>
              <a:lnSpc>
                <a:spcPct val="115000"/>
              </a:lnSpc>
              <a:spcBef>
                <a:spcPts val="0"/>
              </a:spcBef>
              <a:spcAft>
                <a:spcPts val="0"/>
              </a:spcAft>
              <a:defRPr sz="1500" b="0">
                <a:solidFill>
                  <a:srgbClr val="183443"/>
                </a:solidFill>
                <a:latin typeface="DejaVu Sans"/>
              </a:defRPr>
            </a:pPr>
            <a:r>
              <a:t>dilución</a:t>
            </a:r>
          </a:p>
        </p:txBody>
      </p:sp>
      <p:sp>
        <p:nvSpPr>
          <p:cNvPr id="37" name="TextBox 36"/>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DISEÑO DE PRIMERS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Diseñar para la lectura que se necesita</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[2,4–6].</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24</a:t>
            </a:r>
          </a:p>
        </p:txBody>
      </p:sp>
      <p:sp>
        <p:nvSpPr>
          <p:cNvPr id="7" name="Rectangle 6"/>
          <p:cNvSpPr/>
          <p:nvPr/>
        </p:nvSpPr>
        <p:spPr>
          <a:xfrm>
            <a:off x="609600" y="1905000"/>
            <a:ext cx="2794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2565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Modalidad</a:t>
            </a:r>
          </a:p>
        </p:txBody>
      </p:sp>
      <p:sp>
        <p:nvSpPr>
          <p:cNvPr id="9" name="Rectangle 8"/>
          <p:cNvSpPr/>
          <p:nvPr/>
        </p:nvSpPr>
        <p:spPr>
          <a:xfrm>
            <a:off x="3403600" y="1905000"/>
            <a:ext cx="8178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17900" y="2006600"/>
            <a:ext cx="79502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Diseño / validación</a:t>
            </a:r>
          </a:p>
        </p:txBody>
      </p:sp>
      <p:sp>
        <p:nvSpPr>
          <p:cNvPr id="11" name="Rectangle 10"/>
          <p:cNvSpPr/>
          <p:nvPr/>
        </p:nvSpPr>
        <p:spPr>
          <a:xfrm>
            <a:off x="609600" y="2387600"/>
            <a:ext cx="2794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900" y="2476500"/>
            <a:ext cx="2565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Convencional / Sanger</a:t>
            </a:r>
          </a:p>
        </p:txBody>
      </p:sp>
      <p:sp>
        <p:nvSpPr>
          <p:cNvPr id="13" name="Rectangle 12"/>
          <p:cNvSpPr/>
          <p:nvPr/>
        </p:nvSpPr>
        <p:spPr>
          <a:xfrm>
            <a:off x="3403600" y="2387600"/>
            <a:ext cx="817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7900" y="2476500"/>
            <a:ext cx="795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Un producto limpio; tamaño según objetivo y calidad de molde</a:t>
            </a:r>
          </a:p>
        </p:txBody>
      </p:sp>
      <p:sp>
        <p:nvSpPr>
          <p:cNvPr id="15" name="Rectangle 14"/>
          <p:cNvSpPr/>
          <p:nvPr/>
        </p:nvSpPr>
        <p:spPr>
          <a:xfrm>
            <a:off x="609600" y="2870200"/>
            <a:ext cx="2794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900" y="2959100"/>
            <a:ext cx="2565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qPCR / RT-qPCR</a:t>
            </a:r>
          </a:p>
        </p:txBody>
      </p:sp>
      <p:sp>
        <p:nvSpPr>
          <p:cNvPr id="17" name="Rectangle 16"/>
          <p:cNvSpPr/>
          <p:nvPr/>
        </p:nvSpPr>
        <p:spPr>
          <a:xfrm>
            <a:off x="3403600" y="2870200"/>
            <a:ext cx="8178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17900" y="2959100"/>
            <a:ext cx="795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Amplicón corto (a menudo 70–200 pb); eficiencia y especificidad</a:t>
            </a:r>
          </a:p>
        </p:txBody>
      </p:sp>
      <p:sp>
        <p:nvSpPr>
          <p:cNvPr id="19" name="Rectangle 18"/>
          <p:cNvSpPr/>
          <p:nvPr/>
        </p:nvSpPr>
        <p:spPr>
          <a:xfrm>
            <a:off x="609600" y="3352800"/>
            <a:ext cx="2794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3441700"/>
            <a:ext cx="2565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dPCR</a:t>
            </a:r>
          </a:p>
        </p:txBody>
      </p:sp>
      <p:sp>
        <p:nvSpPr>
          <p:cNvPr id="21" name="Rectangle 20"/>
          <p:cNvSpPr/>
          <p:nvPr/>
        </p:nvSpPr>
        <p:spPr>
          <a:xfrm>
            <a:off x="3403600" y="3352800"/>
            <a:ext cx="817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7900" y="3441700"/>
            <a:ext cx="795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Diana corta; ausencia de polimorfismos en sitios de unión; clusters claros</a:t>
            </a:r>
          </a:p>
        </p:txBody>
      </p:sp>
      <p:sp>
        <p:nvSpPr>
          <p:cNvPr id="23" name="Rectangle 22"/>
          <p:cNvSpPr/>
          <p:nvPr/>
        </p:nvSpPr>
        <p:spPr>
          <a:xfrm>
            <a:off x="609600" y="3835400"/>
            <a:ext cx="2794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900" y="3924300"/>
            <a:ext cx="2565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Multiplex / nested</a:t>
            </a:r>
          </a:p>
        </p:txBody>
      </p:sp>
      <p:sp>
        <p:nvSpPr>
          <p:cNvPr id="25" name="Rectangle 24"/>
          <p:cNvSpPr/>
          <p:nvPr/>
        </p:nvSpPr>
        <p:spPr>
          <a:xfrm>
            <a:off x="3403600" y="3835400"/>
            <a:ext cx="8178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17900" y="3924300"/>
            <a:ext cx="795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Tm compatibles, sin interacciones; nested usa sitios internos</a:t>
            </a:r>
          </a:p>
        </p:txBody>
      </p:sp>
      <p:sp>
        <p:nvSpPr>
          <p:cNvPr id="27" name="Rectangle 26"/>
          <p:cNvSpPr/>
          <p:nvPr/>
        </p:nvSpPr>
        <p:spPr>
          <a:xfrm>
            <a:off x="609600" y="4318000"/>
            <a:ext cx="2794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3900" y="4406900"/>
            <a:ext cx="2565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NGS de amplicones</a:t>
            </a:r>
          </a:p>
        </p:txBody>
      </p:sp>
      <p:sp>
        <p:nvSpPr>
          <p:cNvPr id="29" name="Rectangle 28"/>
          <p:cNvSpPr/>
          <p:nvPr/>
        </p:nvSpPr>
        <p:spPr>
          <a:xfrm>
            <a:off x="3403600" y="4318000"/>
            <a:ext cx="817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17900" y="4406900"/>
            <a:ext cx="795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Cobertura de variantes; región 3′ específica y posibles colas 5′</a:t>
            </a:r>
          </a:p>
        </p:txBody>
      </p:sp>
      <p:sp>
        <p:nvSpPr>
          <p:cNvPr id="31" name="TextBox 30"/>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CÁLCULOS DE PRIMERS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Preparar primers: del tubo seco al ensayo</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[5]; ejemplo docente.</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25</a:t>
            </a:r>
          </a:p>
        </p:txBody>
      </p:sp>
      <p:sp>
        <p:nvSpPr>
          <p:cNvPr id="7" name="Rounded Rectangle 6"/>
          <p:cNvSpPr/>
          <p:nvPr/>
        </p:nvSpPr>
        <p:spPr>
          <a:xfrm>
            <a:off x="609600" y="2222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3876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806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25 nmol</a:t>
            </a:r>
          </a:p>
          <a:p>
            <a:pPr>
              <a:lnSpc>
                <a:spcPct val="115000"/>
              </a:lnSpc>
              <a:spcBef>
                <a:spcPts val="0"/>
              </a:spcBef>
              <a:spcAft>
                <a:spcPts val="0"/>
              </a:spcAft>
              <a:defRPr sz="1700" b="1">
                <a:solidFill>
                  <a:srgbClr val="183443"/>
                </a:solidFill>
                <a:latin typeface="DejaVu Sans"/>
              </a:defRPr>
            </a:pPr>
            <a:r>
              <a:t>de oligo</a:t>
            </a:r>
          </a:p>
        </p:txBody>
      </p:sp>
      <p:cxnSp>
        <p:nvCxnSpPr>
          <p:cNvPr id="10" name="Connector 9"/>
          <p:cNvCxnSpPr/>
          <p:nvPr/>
        </p:nvCxnSpPr>
        <p:spPr>
          <a:xfrm>
            <a:off x="3086100" y="2921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14700"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3147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54400" y="2222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06800" y="23876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32200" y="2806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250 µL</a:t>
            </a:r>
          </a:p>
          <a:p>
            <a:pPr>
              <a:lnSpc>
                <a:spcPct val="115000"/>
              </a:lnSpc>
              <a:spcBef>
                <a:spcPts val="0"/>
              </a:spcBef>
              <a:spcAft>
                <a:spcPts val="0"/>
              </a:spcAft>
              <a:defRPr sz="1700" b="1">
                <a:solidFill>
                  <a:srgbClr val="183443"/>
                </a:solidFill>
                <a:latin typeface="DejaVu Sans"/>
              </a:defRPr>
            </a:pPr>
            <a:r>
              <a:t>de diluyente</a:t>
            </a:r>
          </a:p>
        </p:txBody>
      </p:sp>
      <p:cxnSp>
        <p:nvCxnSpPr>
          <p:cNvPr id="16" name="Connector 15"/>
          <p:cNvCxnSpPr/>
          <p:nvPr/>
        </p:nvCxnSpPr>
        <p:spPr>
          <a:xfrm>
            <a:off x="5930900" y="2921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59500"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1595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99200" y="2222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51600" y="23876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7000" y="2806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Stock</a:t>
            </a:r>
          </a:p>
          <a:p>
            <a:pPr>
              <a:lnSpc>
                <a:spcPct val="115000"/>
              </a:lnSpc>
              <a:spcBef>
                <a:spcPts val="0"/>
              </a:spcBef>
              <a:spcAft>
                <a:spcPts val="0"/>
              </a:spcAft>
              <a:defRPr sz="1700" b="1">
                <a:solidFill>
                  <a:srgbClr val="183443"/>
                </a:solidFill>
                <a:latin typeface="DejaVu Sans"/>
              </a:defRPr>
            </a:pPr>
            <a:r>
              <a:t>100 µM</a:t>
            </a:r>
          </a:p>
        </p:txBody>
      </p:sp>
      <p:cxnSp>
        <p:nvCxnSpPr>
          <p:cNvPr id="22" name="Connector 21"/>
          <p:cNvCxnSpPr/>
          <p:nvPr/>
        </p:nvCxnSpPr>
        <p:spPr>
          <a:xfrm>
            <a:off x="8775700" y="2921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04300"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004300"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44000" y="2222500"/>
            <a:ext cx="2438400"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296400" y="2387600"/>
            <a:ext cx="254000" cy="254000"/>
          </a:xfrm>
          <a:prstGeom prst="ellipse">
            <a:avLst/>
          </a:prstGeom>
          <a:solidFill>
            <a:srgbClr val="DA7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1800" y="2806700"/>
            <a:ext cx="2082800"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Trabajo</a:t>
            </a:r>
          </a:p>
          <a:p>
            <a:pPr>
              <a:lnSpc>
                <a:spcPct val="115000"/>
              </a:lnSpc>
              <a:spcBef>
                <a:spcPts val="0"/>
              </a:spcBef>
              <a:spcAft>
                <a:spcPts val="0"/>
              </a:spcAft>
              <a:defRPr sz="1700" b="1">
                <a:solidFill>
                  <a:srgbClr val="183443"/>
                </a:solidFill>
                <a:latin typeface="DejaVu Sans"/>
              </a:defRPr>
            </a:pPr>
            <a:r>
              <a:t>10 µM</a:t>
            </a:r>
          </a:p>
        </p:txBody>
      </p:sp>
      <p:sp>
        <p:nvSpPr>
          <p:cNvPr id="28" name="TextBox 27"/>
          <p:cNvSpPr txBox="1"/>
          <p:nvPr/>
        </p:nvSpPr>
        <p:spPr>
          <a:xfrm>
            <a:off x="825500" y="4114800"/>
            <a:ext cx="10414000" cy="419862"/>
          </a:xfrm>
          <a:prstGeom prst="rect">
            <a:avLst/>
          </a:prstGeom>
          <a:noFill/>
        </p:spPr>
        <p:txBody>
          <a:bodyPr wrap="none" lIns="0" rIns="0" tIns="0" bIns="0">
            <a:spAutoFit/>
          </a:bodyPr>
          <a:lstStyle/>
          <a:p>
            <a:pPr>
              <a:lnSpc>
                <a:spcPct val="115000"/>
              </a:lnSpc>
              <a:spcBef>
                <a:spcPts val="0"/>
              </a:spcBef>
              <a:spcAft>
                <a:spcPts val="0"/>
              </a:spcAft>
              <a:defRPr sz="2200" b="1">
                <a:solidFill>
                  <a:srgbClr val="007F86"/>
                </a:solidFill>
                <a:latin typeface="DejaVu Sans"/>
              </a:defRPr>
            </a:pPr>
            <a:r>
              <a:t>Dilución 1:10: 10 µL de stock + 90 µL de diluyente.</a:t>
            </a:r>
          </a:p>
        </p:txBody>
      </p:sp>
      <p:sp>
        <p:nvSpPr>
          <p:cNvPr id="29" name="TextBox 28"/>
          <p:cNvSpPr txBox="1"/>
          <p:nvPr/>
        </p:nvSpPr>
        <p:spPr>
          <a:xfrm>
            <a:off x="825500" y="4737100"/>
            <a:ext cx="10414000" cy="388620"/>
          </a:xfrm>
          <a:prstGeom prst="rect">
            <a:avLst/>
          </a:prstGeom>
          <a:noFill/>
        </p:spPr>
        <p:txBody>
          <a:bodyPr wrap="none" lIns="0" rIns="0" tIns="0" bIns="0">
            <a:spAutoFit/>
          </a:bodyPr>
          <a:lstStyle/>
          <a:p>
            <a:pPr>
              <a:lnSpc>
                <a:spcPct val="115000"/>
              </a:lnSpc>
              <a:spcBef>
                <a:spcPts val="0"/>
              </a:spcBef>
              <a:spcAft>
                <a:spcPts val="0"/>
              </a:spcAft>
              <a:defRPr sz="2000" b="0">
                <a:solidFill>
                  <a:srgbClr val="183443"/>
                </a:solidFill>
                <a:latin typeface="DejaVu Sans"/>
              </a:defRPr>
            </a:pPr>
            <a:r>
              <a:t>En 25 µL: V = (0,2 µM × 25 µL) / 10 µM = 0,5 µL por primer.</a:t>
            </a:r>
          </a:p>
        </p:txBody>
      </p:sp>
      <p:sp>
        <p:nvSpPr>
          <p:cNvPr id="30" name="Rounded Rectangle 29"/>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C₁V₁ = C₂V₂ · comprobar las unidades antes de pipetear.</a:t>
            </a:r>
          </a:p>
        </p:txBody>
      </p:sp>
      <p:sp>
        <p:nvSpPr>
          <p:cNvPr id="32" name="TextBox 31"/>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PREPARACIÓN DE REACCIÓN</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Qué aporta cada componente del master mix</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26</a:t>
            </a:r>
          </a:p>
        </p:txBody>
      </p:sp>
      <p:sp>
        <p:nvSpPr>
          <p:cNvPr id="7" name="Rounded Rectangle 6"/>
          <p:cNvSpPr/>
          <p:nvPr/>
        </p:nvSpPr>
        <p:spPr>
          <a:xfrm>
            <a:off x="609600"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Química</a:t>
            </a:r>
          </a:p>
        </p:txBody>
      </p:sp>
      <p:sp>
        <p:nvSpPr>
          <p:cNvPr id="9" name="TextBox 8"/>
          <p:cNvSpPr txBox="1"/>
          <p:nvPr/>
        </p:nvSpPr>
        <p:spPr>
          <a:xfrm>
            <a:off x="838200" y="2870200"/>
            <a:ext cx="3031066" cy="1200912"/>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Buffer y Mg²⁺: entorno de</a:t>
            </a:r>
          </a:p>
          <a:p>
            <a:pPr>
              <a:lnSpc>
                <a:spcPct val="115000"/>
              </a:lnSpc>
              <a:spcBef>
                <a:spcPts val="0"/>
              </a:spcBef>
              <a:spcAft>
                <a:spcPts val="0"/>
              </a:spcAft>
              <a:defRPr sz="1800" b="0">
                <a:solidFill>
                  <a:srgbClr val="183443"/>
                </a:solidFill>
                <a:latin typeface="DejaVu Sans"/>
              </a:defRPr>
            </a:pPr>
            <a:r>
              <a:t>reacción.</a:t>
            </a:r>
          </a:p>
          <a:p>
            <a:pPr>
              <a:lnSpc>
                <a:spcPct val="115000"/>
              </a:lnSpc>
              <a:spcBef>
                <a:spcPts val="0"/>
              </a:spcBef>
              <a:spcAft>
                <a:spcPts val="0"/>
              </a:spcAft>
              <a:defRPr sz="1800" b="0">
                <a:solidFill>
                  <a:srgbClr val="183443"/>
                </a:solidFill>
                <a:latin typeface="DejaVu Sans"/>
              </a:defRPr>
            </a:pPr>
            <a:r>
              <a:t>dNTP: sustratos.</a:t>
            </a:r>
          </a:p>
          <a:p>
            <a:pPr>
              <a:lnSpc>
                <a:spcPct val="115000"/>
              </a:lnSpc>
              <a:spcBef>
                <a:spcPts val="0"/>
              </a:spcBef>
              <a:spcAft>
                <a:spcPts val="0"/>
              </a:spcAft>
              <a:defRPr sz="1800" b="0">
                <a:solidFill>
                  <a:srgbClr val="183443"/>
                </a:solidFill>
                <a:latin typeface="DejaVu Sans"/>
              </a:defRPr>
            </a:pPr>
            <a:r>
              <a:t>Polimerasa: síntesis.</a:t>
            </a:r>
          </a:p>
        </p:txBody>
      </p:sp>
      <p:sp>
        <p:nvSpPr>
          <p:cNvPr id="10" name="Rounded Rectangle 9"/>
          <p:cNvSpPr/>
          <p:nvPr/>
        </p:nvSpPr>
        <p:spPr>
          <a:xfrm>
            <a:off x="4351866"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0466"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Reconocimiento</a:t>
            </a:r>
          </a:p>
        </p:txBody>
      </p:sp>
      <p:sp>
        <p:nvSpPr>
          <p:cNvPr id="12" name="TextBox 11"/>
          <p:cNvSpPr txBox="1"/>
          <p:nvPr/>
        </p:nvSpPr>
        <p:spPr>
          <a:xfrm>
            <a:off x="4580466" y="2870200"/>
            <a:ext cx="3031066" cy="919734"/>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Primers: delimitan diana.</a:t>
            </a:r>
          </a:p>
          <a:p>
            <a:pPr>
              <a:lnSpc>
                <a:spcPct val="115000"/>
              </a:lnSpc>
              <a:spcBef>
                <a:spcPts val="0"/>
              </a:spcBef>
              <a:spcAft>
                <a:spcPts val="0"/>
              </a:spcAft>
              <a:defRPr sz="1800" b="0">
                <a:solidFill>
                  <a:srgbClr val="183443"/>
                </a:solidFill>
                <a:latin typeface="DejaVu Sans"/>
              </a:defRPr>
            </a:pPr>
            <a:r>
              <a:t>Sonda: señal específica,</a:t>
            </a:r>
          </a:p>
          <a:p>
            <a:pPr>
              <a:lnSpc>
                <a:spcPct val="115000"/>
              </a:lnSpc>
              <a:spcBef>
                <a:spcPts val="0"/>
              </a:spcBef>
              <a:spcAft>
                <a:spcPts val="0"/>
              </a:spcAft>
              <a:defRPr sz="1800" b="0">
                <a:solidFill>
                  <a:srgbClr val="183443"/>
                </a:solidFill>
                <a:latin typeface="DejaVu Sans"/>
              </a:defRPr>
            </a:pPr>
            <a:r>
              <a:t>si la química la usa.</a:t>
            </a:r>
          </a:p>
        </p:txBody>
      </p:sp>
      <p:sp>
        <p:nvSpPr>
          <p:cNvPr id="13" name="Rounded Rectangle 12"/>
          <p:cNvSpPr/>
          <p:nvPr/>
        </p:nvSpPr>
        <p:spPr>
          <a:xfrm>
            <a:off x="8094133"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2733"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Entrada</a:t>
            </a:r>
          </a:p>
        </p:txBody>
      </p:sp>
      <p:sp>
        <p:nvSpPr>
          <p:cNvPr id="15" name="TextBox 14"/>
          <p:cNvSpPr txBox="1"/>
          <p:nvPr/>
        </p:nvSpPr>
        <p:spPr>
          <a:xfrm>
            <a:off x="8322733" y="2870200"/>
            <a:ext cx="3031066" cy="1200912"/>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Molde: ADN o ADNc.</a:t>
            </a:r>
          </a:p>
          <a:p>
            <a:pPr>
              <a:lnSpc>
                <a:spcPct val="115000"/>
              </a:lnSpc>
              <a:spcBef>
                <a:spcPts val="0"/>
              </a:spcBef>
              <a:spcAft>
                <a:spcPts val="0"/>
              </a:spcAft>
              <a:defRPr sz="1800" b="0">
                <a:solidFill>
                  <a:srgbClr val="183443"/>
                </a:solidFill>
                <a:latin typeface="DejaVu Sans"/>
              </a:defRPr>
            </a:pPr>
            <a:r>
              <a:t>Agua: completa el</a:t>
            </a:r>
          </a:p>
          <a:p>
            <a:pPr>
              <a:lnSpc>
                <a:spcPct val="115000"/>
              </a:lnSpc>
              <a:spcBef>
                <a:spcPts val="0"/>
              </a:spcBef>
              <a:spcAft>
                <a:spcPts val="0"/>
              </a:spcAft>
              <a:defRPr sz="1800" b="0">
                <a:solidFill>
                  <a:srgbClr val="183443"/>
                </a:solidFill>
                <a:latin typeface="DejaVu Sans"/>
              </a:defRPr>
            </a:pPr>
            <a:r>
              <a:t>volumen.</a:t>
            </a:r>
          </a:p>
          <a:p>
            <a:pPr>
              <a:lnSpc>
                <a:spcPct val="115000"/>
              </a:lnSpc>
              <a:spcBef>
                <a:spcPts val="0"/>
              </a:spcBef>
              <a:spcAft>
                <a:spcPts val="0"/>
              </a:spcAft>
              <a:defRPr sz="1800" b="0">
                <a:solidFill>
                  <a:srgbClr val="183443"/>
                </a:solidFill>
                <a:latin typeface="DejaVu Sans"/>
              </a:defRPr>
            </a:pPr>
            <a:r>
              <a:t>RT: necesaria para ARN.</a:t>
            </a:r>
          </a:p>
        </p:txBody>
      </p:sp>
      <p:sp>
        <p:nvSpPr>
          <p:cNvPr id="16" name="Rounded Rectangle 15"/>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La mezcla maestra compartida reduce variación; el molde se añade por tubo.</a:t>
            </a:r>
          </a:p>
        </p:txBody>
      </p:sp>
      <p:sp>
        <p:nvSpPr>
          <p:cNvPr id="18" name="TextBox 17"/>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MEZCLAS Y CÁLCULOS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Preparar una corrida completa sin perder volumen</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Ejemplo docente; [5,6].</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27</a:t>
            </a:r>
          </a:p>
        </p:txBody>
      </p:sp>
      <p:sp>
        <p:nvSpPr>
          <p:cNvPr id="7" name="TextBox 6"/>
          <p:cNvSpPr txBox="1"/>
          <p:nvPr/>
        </p:nvSpPr>
        <p:spPr>
          <a:xfrm>
            <a:off x="698500" y="1816100"/>
            <a:ext cx="10795000" cy="435483"/>
          </a:xfrm>
          <a:prstGeom prst="rect">
            <a:avLst/>
          </a:prstGeom>
          <a:noFill/>
        </p:spPr>
        <p:txBody>
          <a:bodyPr wrap="none" lIns="0" rIns="0" tIns="0" bIns="0">
            <a:spAutoFit/>
          </a:bodyPr>
          <a:lstStyle/>
          <a:p>
            <a:pPr>
              <a:lnSpc>
                <a:spcPct val="115000"/>
              </a:lnSpc>
              <a:spcBef>
                <a:spcPts val="0"/>
              </a:spcBef>
              <a:spcAft>
                <a:spcPts val="0"/>
              </a:spcAft>
              <a:defRPr sz="2300" b="1">
                <a:solidFill>
                  <a:srgbClr val="007F86"/>
                </a:solidFill>
                <a:latin typeface="DejaVu Sans"/>
              </a:defRPr>
            </a:pPr>
            <a:r>
              <a:t>6 muestras × 2 + 2 NTC + 2 positivos = 16 reacciones</a:t>
            </a:r>
          </a:p>
        </p:txBody>
      </p:sp>
      <p:sp>
        <p:nvSpPr>
          <p:cNvPr id="8" name="Rectangle 7"/>
          <p:cNvSpPr/>
          <p:nvPr/>
        </p:nvSpPr>
        <p:spPr>
          <a:xfrm>
            <a:off x="609600" y="2451100"/>
            <a:ext cx="50165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3900" y="2552700"/>
            <a:ext cx="47879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Componente común</a:t>
            </a:r>
          </a:p>
        </p:txBody>
      </p:sp>
      <p:sp>
        <p:nvSpPr>
          <p:cNvPr id="10" name="Rectangle 9"/>
          <p:cNvSpPr/>
          <p:nvPr/>
        </p:nvSpPr>
        <p:spPr>
          <a:xfrm>
            <a:off x="5626100" y="2451100"/>
            <a:ext cx="2540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40400" y="2552700"/>
            <a:ext cx="2311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Por tubo</a:t>
            </a:r>
          </a:p>
        </p:txBody>
      </p:sp>
      <p:sp>
        <p:nvSpPr>
          <p:cNvPr id="12" name="Rectangle 11"/>
          <p:cNvSpPr/>
          <p:nvPr/>
        </p:nvSpPr>
        <p:spPr>
          <a:xfrm>
            <a:off x="8166100" y="2451100"/>
            <a:ext cx="34163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80400" y="2552700"/>
            <a:ext cx="31877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Para 18 equivalentes</a:t>
            </a:r>
          </a:p>
        </p:txBody>
      </p:sp>
      <p:sp>
        <p:nvSpPr>
          <p:cNvPr id="14" name="Rectangle 13"/>
          <p:cNvSpPr/>
          <p:nvPr/>
        </p:nvSpPr>
        <p:spPr>
          <a:xfrm>
            <a:off x="609600" y="2933700"/>
            <a:ext cx="5016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3900" y="3022600"/>
            <a:ext cx="4787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Master mix 2×</a:t>
            </a:r>
          </a:p>
        </p:txBody>
      </p:sp>
      <p:sp>
        <p:nvSpPr>
          <p:cNvPr id="16" name="Rectangle 15"/>
          <p:cNvSpPr/>
          <p:nvPr/>
        </p:nvSpPr>
        <p:spPr>
          <a:xfrm>
            <a:off x="5626100" y="2933700"/>
            <a:ext cx="254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40400" y="30226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12,5 µL</a:t>
            </a:r>
          </a:p>
        </p:txBody>
      </p:sp>
      <p:sp>
        <p:nvSpPr>
          <p:cNvPr id="18" name="Rectangle 17"/>
          <p:cNvSpPr/>
          <p:nvPr/>
        </p:nvSpPr>
        <p:spPr>
          <a:xfrm>
            <a:off x="8166100" y="2933700"/>
            <a:ext cx="3416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80400" y="3022600"/>
            <a:ext cx="3187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225 µL</a:t>
            </a:r>
          </a:p>
        </p:txBody>
      </p:sp>
      <p:sp>
        <p:nvSpPr>
          <p:cNvPr id="20" name="Rectangle 19"/>
          <p:cNvSpPr/>
          <p:nvPr/>
        </p:nvSpPr>
        <p:spPr>
          <a:xfrm>
            <a:off x="609600" y="3416300"/>
            <a:ext cx="50165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900" y="3505200"/>
            <a:ext cx="4787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Forward 10 µM</a:t>
            </a:r>
          </a:p>
        </p:txBody>
      </p:sp>
      <p:sp>
        <p:nvSpPr>
          <p:cNvPr id="22" name="Rectangle 21"/>
          <p:cNvSpPr/>
          <p:nvPr/>
        </p:nvSpPr>
        <p:spPr>
          <a:xfrm>
            <a:off x="5626100" y="3416300"/>
            <a:ext cx="254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40400" y="35052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0,5 µL</a:t>
            </a:r>
          </a:p>
        </p:txBody>
      </p:sp>
      <p:sp>
        <p:nvSpPr>
          <p:cNvPr id="24" name="Rectangle 23"/>
          <p:cNvSpPr/>
          <p:nvPr/>
        </p:nvSpPr>
        <p:spPr>
          <a:xfrm>
            <a:off x="8166100" y="3416300"/>
            <a:ext cx="34163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0400" y="3505200"/>
            <a:ext cx="3187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9 µL</a:t>
            </a:r>
          </a:p>
        </p:txBody>
      </p:sp>
      <p:sp>
        <p:nvSpPr>
          <p:cNvPr id="26" name="Rectangle 25"/>
          <p:cNvSpPr/>
          <p:nvPr/>
        </p:nvSpPr>
        <p:spPr>
          <a:xfrm>
            <a:off x="609600" y="3898900"/>
            <a:ext cx="5016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3900" y="3987800"/>
            <a:ext cx="4787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Reverse 10 µM</a:t>
            </a:r>
          </a:p>
        </p:txBody>
      </p:sp>
      <p:sp>
        <p:nvSpPr>
          <p:cNvPr id="28" name="Rectangle 27"/>
          <p:cNvSpPr/>
          <p:nvPr/>
        </p:nvSpPr>
        <p:spPr>
          <a:xfrm>
            <a:off x="5626100" y="3898900"/>
            <a:ext cx="254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40400" y="39878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0,5 µL</a:t>
            </a:r>
          </a:p>
        </p:txBody>
      </p:sp>
      <p:sp>
        <p:nvSpPr>
          <p:cNvPr id="30" name="Rectangle 29"/>
          <p:cNvSpPr/>
          <p:nvPr/>
        </p:nvSpPr>
        <p:spPr>
          <a:xfrm>
            <a:off x="8166100" y="3898900"/>
            <a:ext cx="3416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80400" y="3987800"/>
            <a:ext cx="3187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9 µL</a:t>
            </a:r>
          </a:p>
        </p:txBody>
      </p:sp>
      <p:sp>
        <p:nvSpPr>
          <p:cNvPr id="32" name="Rectangle 31"/>
          <p:cNvSpPr/>
          <p:nvPr/>
        </p:nvSpPr>
        <p:spPr>
          <a:xfrm>
            <a:off x="609600" y="4381500"/>
            <a:ext cx="50165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3900" y="4470400"/>
            <a:ext cx="4787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Agua</a:t>
            </a:r>
          </a:p>
        </p:txBody>
      </p:sp>
      <p:sp>
        <p:nvSpPr>
          <p:cNvPr id="34" name="Rectangle 33"/>
          <p:cNvSpPr/>
          <p:nvPr/>
        </p:nvSpPr>
        <p:spPr>
          <a:xfrm>
            <a:off x="5626100" y="4381500"/>
            <a:ext cx="254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40400" y="44704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9,5 µL</a:t>
            </a:r>
          </a:p>
        </p:txBody>
      </p:sp>
      <p:sp>
        <p:nvSpPr>
          <p:cNvPr id="36" name="Rectangle 35"/>
          <p:cNvSpPr/>
          <p:nvPr/>
        </p:nvSpPr>
        <p:spPr>
          <a:xfrm>
            <a:off x="8166100" y="4381500"/>
            <a:ext cx="34163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80400" y="4470400"/>
            <a:ext cx="3187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171 µL</a:t>
            </a:r>
          </a:p>
        </p:txBody>
      </p:sp>
      <p:sp>
        <p:nvSpPr>
          <p:cNvPr id="38" name="Rectangle 37"/>
          <p:cNvSpPr/>
          <p:nvPr/>
        </p:nvSpPr>
        <p:spPr>
          <a:xfrm>
            <a:off x="609600" y="4864100"/>
            <a:ext cx="5016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3900" y="4953000"/>
            <a:ext cx="4787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TOTAL sin molde</a:t>
            </a:r>
          </a:p>
        </p:txBody>
      </p:sp>
      <p:sp>
        <p:nvSpPr>
          <p:cNvPr id="40" name="Rectangle 39"/>
          <p:cNvSpPr/>
          <p:nvPr/>
        </p:nvSpPr>
        <p:spPr>
          <a:xfrm>
            <a:off x="5626100" y="4864100"/>
            <a:ext cx="254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40400" y="49530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23 µL</a:t>
            </a:r>
          </a:p>
        </p:txBody>
      </p:sp>
      <p:sp>
        <p:nvSpPr>
          <p:cNvPr id="42" name="Rectangle 41"/>
          <p:cNvSpPr/>
          <p:nvPr/>
        </p:nvSpPr>
        <p:spPr>
          <a:xfrm>
            <a:off x="8166100" y="4864100"/>
            <a:ext cx="3416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80400" y="4953000"/>
            <a:ext cx="31877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414 µL</a:t>
            </a:r>
          </a:p>
        </p:txBody>
      </p:sp>
      <p:sp>
        <p:nvSpPr>
          <p:cNvPr id="44" name="Rounded Rectangle 43"/>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Distribuir 23 µL; añadir 2 µL de muestra o control a cada tubo.</a:t>
            </a:r>
          </a:p>
        </p:txBody>
      </p:sp>
      <p:sp>
        <p:nvSpPr>
          <p:cNvPr id="46" name="TextBox 45"/>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MEZCLAS Y CÁLCULOS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RT en dos pasos: seguir la masa, no solo el volumen</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[2,5]; ejemplo para kit de RT de dos pasos.</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28</a:t>
            </a:r>
          </a:p>
        </p:txBody>
      </p:sp>
      <p:sp>
        <p:nvSpPr>
          <p:cNvPr id="7" name="Rectangle 6"/>
          <p:cNvSpPr/>
          <p:nvPr/>
        </p:nvSpPr>
        <p:spPr>
          <a:xfrm>
            <a:off x="609600" y="1841500"/>
            <a:ext cx="7366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1943100"/>
            <a:ext cx="7137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Componente de RT</a:t>
            </a:r>
          </a:p>
        </p:txBody>
      </p:sp>
      <p:sp>
        <p:nvSpPr>
          <p:cNvPr id="9" name="Rectangle 8"/>
          <p:cNvSpPr/>
          <p:nvPr/>
        </p:nvSpPr>
        <p:spPr>
          <a:xfrm>
            <a:off x="7975600" y="1841500"/>
            <a:ext cx="3606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9900" y="1943100"/>
            <a:ext cx="33782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Volumen</a:t>
            </a:r>
          </a:p>
        </p:txBody>
      </p:sp>
      <p:sp>
        <p:nvSpPr>
          <p:cNvPr id="11" name="Rectangle 10"/>
          <p:cNvSpPr/>
          <p:nvPr/>
        </p:nvSpPr>
        <p:spPr>
          <a:xfrm>
            <a:off x="609600" y="2324100"/>
            <a:ext cx="7366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900" y="2413000"/>
            <a:ext cx="713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ARN 100 ng/µL</a:t>
            </a:r>
          </a:p>
        </p:txBody>
      </p:sp>
      <p:sp>
        <p:nvSpPr>
          <p:cNvPr id="13" name="Rectangle 12"/>
          <p:cNvSpPr/>
          <p:nvPr/>
        </p:nvSpPr>
        <p:spPr>
          <a:xfrm>
            <a:off x="7975600" y="2324100"/>
            <a:ext cx="3606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9900" y="2413000"/>
            <a:ext cx="3378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5 µL = 500 ng</a:t>
            </a:r>
          </a:p>
        </p:txBody>
      </p:sp>
      <p:sp>
        <p:nvSpPr>
          <p:cNvPr id="15" name="Rectangle 14"/>
          <p:cNvSpPr/>
          <p:nvPr/>
        </p:nvSpPr>
        <p:spPr>
          <a:xfrm>
            <a:off x="609600" y="2806700"/>
            <a:ext cx="7366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900" y="2895600"/>
            <a:ext cx="713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Buffer RT 5×</a:t>
            </a:r>
          </a:p>
        </p:txBody>
      </p:sp>
      <p:sp>
        <p:nvSpPr>
          <p:cNvPr id="17" name="Rectangle 16"/>
          <p:cNvSpPr/>
          <p:nvPr/>
        </p:nvSpPr>
        <p:spPr>
          <a:xfrm>
            <a:off x="7975600" y="2806700"/>
            <a:ext cx="3606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9900" y="2895600"/>
            <a:ext cx="3378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4 µL</a:t>
            </a:r>
          </a:p>
        </p:txBody>
      </p:sp>
      <p:sp>
        <p:nvSpPr>
          <p:cNvPr id="19" name="Rectangle 18"/>
          <p:cNvSpPr/>
          <p:nvPr/>
        </p:nvSpPr>
        <p:spPr>
          <a:xfrm>
            <a:off x="609600" y="3289300"/>
            <a:ext cx="7366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3378200"/>
            <a:ext cx="713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Mezcla RT + primers + dNTP*</a:t>
            </a:r>
          </a:p>
        </p:txBody>
      </p:sp>
      <p:sp>
        <p:nvSpPr>
          <p:cNvPr id="21" name="Rectangle 20"/>
          <p:cNvSpPr/>
          <p:nvPr/>
        </p:nvSpPr>
        <p:spPr>
          <a:xfrm>
            <a:off x="7975600" y="3289300"/>
            <a:ext cx="3606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9900" y="3378200"/>
            <a:ext cx="3378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 µL</a:t>
            </a:r>
          </a:p>
        </p:txBody>
      </p:sp>
      <p:sp>
        <p:nvSpPr>
          <p:cNvPr id="23" name="Rectangle 22"/>
          <p:cNvSpPr/>
          <p:nvPr/>
        </p:nvSpPr>
        <p:spPr>
          <a:xfrm>
            <a:off x="609600" y="3771900"/>
            <a:ext cx="7366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900" y="3860800"/>
            <a:ext cx="713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Agua</a:t>
            </a:r>
          </a:p>
        </p:txBody>
      </p:sp>
      <p:sp>
        <p:nvSpPr>
          <p:cNvPr id="25" name="Rectangle 24"/>
          <p:cNvSpPr/>
          <p:nvPr/>
        </p:nvSpPr>
        <p:spPr>
          <a:xfrm>
            <a:off x="7975600" y="3771900"/>
            <a:ext cx="3606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9900" y="3860800"/>
            <a:ext cx="3378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10 µL</a:t>
            </a:r>
          </a:p>
        </p:txBody>
      </p:sp>
      <p:sp>
        <p:nvSpPr>
          <p:cNvPr id="27" name="Rectangle 26"/>
          <p:cNvSpPr/>
          <p:nvPr/>
        </p:nvSpPr>
        <p:spPr>
          <a:xfrm>
            <a:off x="609600" y="4254500"/>
            <a:ext cx="7366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3900" y="4343400"/>
            <a:ext cx="713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TOTAL</a:t>
            </a:r>
          </a:p>
        </p:txBody>
      </p:sp>
      <p:sp>
        <p:nvSpPr>
          <p:cNvPr id="29" name="Rectangle 28"/>
          <p:cNvSpPr/>
          <p:nvPr/>
        </p:nvSpPr>
        <p:spPr>
          <a:xfrm>
            <a:off x="7975600" y="4254500"/>
            <a:ext cx="3606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89900" y="4343400"/>
            <a:ext cx="3378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20 µL</a:t>
            </a:r>
          </a:p>
        </p:txBody>
      </p:sp>
      <p:sp>
        <p:nvSpPr>
          <p:cNvPr id="31" name="TextBox 30"/>
          <p:cNvSpPr txBox="1"/>
          <p:nvPr/>
        </p:nvSpPr>
        <p:spPr>
          <a:xfrm>
            <a:off x="698500" y="4889500"/>
            <a:ext cx="10731500" cy="669798"/>
          </a:xfrm>
          <a:prstGeom prst="rect">
            <a:avLst/>
          </a:prstGeom>
          <a:noFill/>
        </p:spPr>
        <p:txBody>
          <a:bodyPr wrap="none" lIns="0" rIns="0" tIns="0" bIns="0">
            <a:spAutoFit/>
          </a:bodyPr>
          <a:lstStyle/>
          <a:p>
            <a:pPr>
              <a:lnSpc>
                <a:spcPct val="115000"/>
              </a:lnSpc>
              <a:spcBef>
                <a:spcPts val="0"/>
              </a:spcBef>
              <a:spcAft>
                <a:spcPts val="0"/>
              </a:spcAft>
              <a:defRPr sz="1900" b="1">
                <a:solidFill>
                  <a:srgbClr val="007F86"/>
                </a:solidFill>
                <a:latin typeface="DejaVu Sans"/>
              </a:defRPr>
            </a:pPr>
            <a:r>
              <a:t>Diluir el ADNc 1:5 → 100 µL; 2 µL contienen el equivalente a 10 ng de ARN</a:t>
            </a:r>
          </a:p>
          <a:p>
            <a:pPr>
              <a:lnSpc>
                <a:spcPct val="115000"/>
              </a:lnSpc>
              <a:spcBef>
                <a:spcPts val="0"/>
              </a:spcBef>
              <a:spcAft>
                <a:spcPts val="0"/>
              </a:spcAft>
              <a:defRPr sz="1900" b="1">
                <a:solidFill>
                  <a:srgbClr val="007F86"/>
                </a:solidFill>
                <a:latin typeface="DejaVu Sans"/>
              </a:defRPr>
            </a:pPr>
            <a:r>
              <a:t>inicial.</a:t>
            </a:r>
          </a:p>
        </p:txBody>
      </p:sp>
      <p:sp>
        <p:nvSpPr>
          <p:cNvPr id="32" name="Rounded Rectangle 31"/>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*Solo si la formulación del kit integra estos componentes; incluir un tubo −RT.</a:t>
            </a:r>
          </a:p>
        </p:txBody>
      </p:sp>
      <p:sp>
        <p:nvSpPr>
          <p:cNvPr id="34" name="TextBox 33"/>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QPCR Y RT-QPCR</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Dos maneras de producir fluorescencia</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[1,2,6].</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29</a:t>
            </a:r>
          </a:p>
        </p:txBody>
      </p:sp>
      <p:sp>
        <p:nvSpPr>
          <p:cNvPr id="7" name="Rounded Rectangle 6"/>
          <p:cNvSpPr/>
          <p:nvPr/>
        </p:nvSpPr>
        <p:spPr>
          <a:xfrm>
            <a:off x="609600" y="2032000"/>
            <a:ext cx="5359400"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2260600"/>
            <a:ext cx="4902200"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Colorante de ADN</a:t>
            </a:r>
          </a:p>
        </p:txBody>
      </p:sp>
      <p:sp>
        <p:nvSpPr>
          <p:cNvPr id="9" name="TextBox 8"/>
          <p:cNvSpPr txBox="1"/>
          <p:nvPr/>
        </p:nvSpPr>
        <p:spPr>
          <a:xfrm>
            <a:off x="838200" y="2870200"/>
            <a:ext cx="4902200" cy="919734"/>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Señal de todo ADN de doble hebra.</a:t>
            </a:r>
          </a:p>
          <a:p>
            <a:pPr>
              <a:lnSpc>
                <a:spcPct val="115000"/>
              </a:lnSpc>
              <a:spcBef>
                <a:spcPts val="0"/>
              </a:spcBef>
              <a:spcAft>
                <a:spcPts val="0"/>
              </a:spcAft>
              <a:defRPr sz="1800" b="0">
                <a:solidFill>
                  <a:srgbClr val="183443"/>
                </a:solidFill>
                <a:latin typeface="DejaVu Sans"/>
              </a:defRPr>
            </a:pPr>
            <a:r>
              <a:t>Menor costo; también detecta dímeros.</a:t>
            </a:r>
          </a:p>
          <a:p>
            <a:pPr>
              <a:lnSpc>
                <a:spcPct val="115000"/>
              </a:lnSpc>
              <a:spcBef>
                <a:spcPts val="0"/>
              </a:spcBef>
              <a:spcAft>
                <a:spcPts val="0"/>
              </a:spcAft>
              <a:defRPr sz="1800" b="0">
                <a:solidFill>
                  <a:srgbClr val="183443"/>
                </a:solidFill>
                <a:latin typeface="DejaVu Sans"/>
              </a:defRPr>
            </a:pPr>
            <a:r>
              <a:t>Revisar curva de fusión.</a:t>
            </a:r>
          </a:p>
        </p:txBody>
      </p:sp>
      <p:sp>
        <p:nvSpPr>
          <p:cNvPr id="10" name="Rounded Rectangle 9"/>
          <p:cNvSpPr/>
          <p:nvPr/>
        </p:nvSpPr>
        <p:spPr>
          <a:xfrm>
            <a:off x="6223000" y="2032000"/>
            <a:ext cx="5359400"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1600" y="2260600"/>
            <a:ext cx="4902200"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Sonda de hidrólisis</a:t>
            </a:r>
          </a:p>
        </p:txBody>
      </p:sp>
      <p:sp>
        <p:nvSpPr>
          <p:cNvPr id="12" name="TextBox 11"/>
          <p:cNvSpPr txBox="1"/>
          <p:nvPr/>
        </p:nvSpPr>
        <p:spPr>
          <a:xfrm>
            <a:off x="6451600" y="2870200"/>
            <a:ext cx="4902200" cy="1482090"/>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Oligo específico con reportero y</a:t>
            </a:r>
          </a:p>
          <a:p>
            <a:pPr>
              <a:lnSpc>
                <a:spcPct val="115000"/>
              </a:lnSpc>
              <a:spcBef>
                <a:spcPts val="0"/>
              </a:spcBef>
              <a:spcAft>
                <a:spcPts val="0"/>
              </a:spcAft>
              <a:defRPr sz="1800" b="0">
                <a:solidFill>
                  <a:srgbClr val="183443"/>
                </a:solidFill>
                <a:latin typeface="DejaVu Sans"/>
              </a:defRPr>
            </a:pPr>
            <a:r>
              <a:t>quencher.</a:t>
            </a:r>
          </a:p>
          <a:p>
            <a:pPr>
              <a:lnSpc>
                <a:spcPct val="115000"/>
              </a:lnSpc>
              <a:spcBef>
                <a:spcPts val="0"/>
              </a:spcBef>
              <a:spcAft>
                <a:spcPts val="0"/>
              </a:spcAft>
              <a:defRPr sz="1800" b="0">
                <a:solidFill>
                  <a:srgbClr val="183443"/>
                </a:solidFill>
                <a:latin typeface="DejaVu Sans"/>
              </a:defRPr>
            </a:pPr>
            <a:r>
              <a:t>La hidrólisis separa ambos y libera señal.</a:t>
            </a:r>
          </a:p>
          <a:p>
            <a:pPr>
              <a:lnSpc>
                <a:spcPct val="115000"/>
              </a:lnSpc>
              <a:spcBef>
                <a:spcPts val="0"/>
              </a:spcBef>
              <a:spcAft>
                <a:spcPts val="0"/>
              </a:spcAft>
              <a:defRPr sz="1800" b="0">
                <a:solidFill>
                  <a:srgbClr val="183443"/>
                </a:solidFill>
                <a:latin typeface="DejaVu Sans"/>
              </a:defRPr>
            </a:pPr>
            <a:r>
              <a:t>Facilita multiplex con fluoróforos</a:t>
            </a:r>
          </a:p>
          <a:p>
            <a:pPr>
              <a:lnSpc>
                <a:spcPct val="115000"/>
              </a:lnSpc>
              <a:spcBef>
                <a:spcPts val="0"/>
              </a:spcBef>
              <a:spcAft>
                <a:spcPts val="0"/>
              </a:spcAft>
              <a:defRPr sz="1800" b="0">
                <a:solidFill>
                  <a:srgbClr val="183443"/>
                </a:solidFill>
                <a:latin typeface="DejaVu Sans"/>
              </a:defRPr>
            </a:pPr>
            <a:r>
              <a:t>distintos.</a:t>
            </a:r>
          </a:p>
        </p:txBody>
      </p:sp>
      <p:sp>
        <p:nvSpPr>
          <p:cNvPr id="13" name="Rounded Rectangle 12"/>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Una sonda aporta reconocimiento adicional; también requiere validar especificidad.</a:t>
            </a:r>
          </a:p>
        </p:txBody>
      </p:sp>
      <p:sp>
        <p:nvSpPr>
          <p:cNvPr id="15" name="TextBox 1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MEZCLAS Y CÁLCULOS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qPCR y RT-qPCR: mezcla de lectura fluorescente</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[2,6]; ejemplos docentes, concentraciones dependientes de kit.</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30</a:t>
            </a:r>
          </a:p>
        </p:txBody>
      </p:sp>
      <p:sp>
        <p:nvSpPr>
          <p:cNvPr id="7" name="Rectangle 6"/>
          <p:cNvSpPr/>
          <p:nvPr/>
        </p:nvSpPr>
        <p:spPr>
          <a:xfrm>
            <a:off x="609600" y="1905000"/>
            <a:ext cx="5080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4851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20 µL de reacción</a:t>
            </a:r>
          </a:p>
        </p:txBody>
      </p:sp>
      <p:sp>
        <p:nvSpPr>
          <p:cNvPr id="9" name="Rectangle 8"/>
          <p:cNvSpPr/>
          <p:nvPr/>
        </p:nvSpPr>
        <p:spPr>
          <a:xfrm>
            <a:off x="5689600" y="1905000"/>
            <a:ext cx="29464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03900" y="2006600"/>
            <a:ext cx="27178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Colorante</a:t>
            </a:r>
          </a:p>
        </p:txBody>
      </p:sp>
      <p:sp>
        <p:nvSpPr>
          <p:cNvPr id="11" name="Rectangle 10"/>
          <p:cNvSpPr/>
          <p:nvPr/>
        </p:nvSpPr>
        <p:spPr>
          <a:xfrm>
            <a:off x="8636000" y="1905000"/>
            <a:ext cx="29464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50300" y="2006600"/>
            <a:ext cx="27178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Con sonda</a:t>
            </a:r>
          </a:p>
        </p:txBody>
      </p:sp>
      <p:sp>
        <p:nvSpPr>
          <p:cNvPr id="13" name="Rectangle 12"/>
          <p:cNvSpPr/>
          <p:nvPr/>
        </p:nvSpPr>
        <p:spPr>
          <a:xfrm>
            <a:off x="609600" y="2387600"/>
            <a:ext cx="508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4851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Mix específico 2×</a:t>
            </a:r>
          </a:p>
        </p:txBody>
      </p:sp>
      <p:sp>
        <p:nvSpPr>
          <p:cNvPr id="15" name="Rectangle 14"/>
          <p:cNvSpPr/>
          <p:nvPr/>
        </p:nvSpPr>
        <p:spPr>
          <a:xfrm>
            <a:off x="5689600" y="2387600"/>
            <a:ext cx="29464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03900" y="24765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10,0 µL</a:t>
            </a:r>
          </a:p>
        </p:txBody>
      </p:sp>
      <p:sp>
        <p:nvSpPr>
          <p:cNvPr id="17" name="Rectangle 16"/>
          <p:cNvSpPr/>
          <p:nvPr/>
        </p:nvSpPr>
        <p:spPr>
          <a:xfrm>
            <a:off x="8636000" y="2387600"/>
            <a:ext cx="29464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50300" y="24765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10,0 µL</a:t>
            </a:r>
          </a:p>
        </p:txBody>
      </p:sp>
      <p:sp>
        <p:nvSpPr>
          <p:cNvPr id="19" name="Rectangle 18"/>
          <p:cNvSpPr/>
          <p:nvPr/>
        </p:nvSpPr>
        <p:spPr>
          <a:xfrm>
            <a:off x="609600" y="2870200"/>
            <a:ext cx="508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2959100"/>
            <a:ext cx="4851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F + R, cada stock 10 µM</a:t>
            </a:r>
          </a:p>
        </p:txBody>
      </p:sp>
      <p:sp>
        <p:nvSpPr>
          <p:cNvPr id="21" name="Rectangle 20"/>
          <p:cNvSpPr/>
          <p:nvPr/>
        </p:nvSpPr>
        <p:spPr>
          <a:xfrm>
            <a:off x="5689600" y="2870200"/>
            <a:ext cx="29464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03900" y="29591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0,6 + 0,6 µL</a:t>
            </a:r>
          </a:p>
        </p:txBody>
      </p:sp>
      <p:sp>
        <p:nvSpPr>
          <p:cNvPr id="23" name="Rectangle 22"/>
          <p:cNvSpPr/>
          <p:nvPr/>
        </p:nvSpPr>
        <p:spPr>
          <a:xfrm>
            <a:off x="8636000" y="2870200"/>
            <a:ext cx="29464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50300" y="29591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0,6 + 0,6 µL</a:t>
            </a:r>
          </a:p>
        </p:txBody>
      </p:sp>
      <p:sp>
        <p:nvSpPr>
          <p:cNvPr id="25" name="Rectangle 24"/>
          <p:cNvSpPr/>
          <p:nvPr/>
        </p:nvSpPr>
        <p:spPr>
          <a:xfrm>
            <a:off x="609600" y="3352800"/>
            <a:ext cx="508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441700"/>
            <a:ext cx="4851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Sonda 10 µM</a:t>
            </a:r>
          </a:p>
        </p:txBody>
      </p:sp>
      <p:sp>
        <p:nvSpPr>
          <p:cNvPr id="27" name="Rectangle 26"/>
          <p:cNvSpPr/>
          <p:nvPr/>
        </p:nvSpPr>
        <p:spPr>
          <a:xfrm>
            <a:off x="5689600" y="3352800"/>
            <a:ext cx="29464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3900" y="34417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t>
            </a:r>
          </a:p>
        </p:txBody>
      </p:sp>
      <p:sp>
        <p:nvSpPr>
          <p:cNvPr id="29" name="Rectangle 28"/>
          <p:cNvSpPr/>
          <p:nvPr/>
        </p:nvSpPr>
        <p:spPr>
          <a:xfrm>
            <a:off x="8636000" y="3352800"/>
            <a:ext cx="29464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50300" y="34417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0,4 µL</a:t>
            </a:r>
          </a:p>
        </p:txBody>
      </p:sp>
      <p:sp>
        <p:nvSpPr>
          <p:cNvPr id="31" name="Rectangle 30"/>
          <p:cNvSpPr/>
          <p:nvPr/>
        </p:nvSpPr>
        <p:spPr>
          <a:xfrm>
            <a:off x="609600" y="3835400"/>
            <a:ext cx="508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3924300"/>
            <a:ext cx="4851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ADN o ADNc</a:t>
            </a:r>
          </a:p>
        </p:txBody>
      </p:sp>
      <p:sp>
        <p:nvSpPr>
          <p:cNvPr id="33" name="Rectangle 32"/>
          <p:cNvSpPr/>
          <p:nvPr/>
        </p:nvSpPr>
        <p:spPr>
          <a:xfrm>
            <a:off x="5689600" y="3835400"/>
            <a:ext cx="29464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03900" y="39243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2,0 µL</a:t>
            </a:r>
          </a:p>
        </p:txBody>
      </p:sp>
      <p:sp>
        <p:nvSpPr>
          <p:cNvPr id="35" name="Rectangle 34"/>
          <p:cNvSpPr/>
          <p:nvPr/>
        </p:nvSpPr>
        <p:spPr>
          <a:xfrm>
            <a:off x="8636000" y="3835400"/>
            <a:ext cx="29464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50300" y="39243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2,0 µL</a:t>
            </a:r>
          </a:p>
        </p:txBody>
      </p:sp>
      <p:sp>
        <p:nvSpPr>
          <p:cNvPr id="37" name="Rectangle 36"/>
          <p:cNvSpPr/>
          <p:nvPr/>
        </p:nvSpPr>
        <p:spPr>
          <a:xfrm>
            <a:off x="609600" y="4318000"/>
            <a:ext cx="508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3900" y="4406900"/>
            <a:ext cx="4851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Agua</a:t>
            </a:r>
          </a:p>
        </p:txBody>
      </p:sp>
      <p:sp>
        <p:nvSpPr>
          <p:cNvPr id="39" name="Rectangle 38"/>
          <p:cNvSpPr/>
          <p:nvPr/>
        </p:nvSpPr>
        <p:spPr>
          <a:xfrm>
            <a:off x="5689600" y="4318000"/>
            <a:ext cx="29464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03900" y="44069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6,8 µL</a:t>
            </a:r>
          </a:p>
        </p:txBody>
      </p:sp>
      <p:sp>
        <p:nvSpPr>
          <p:cNvPr id="41" name="Rectangle 40"/>
          <p:cNvSpPr/>
          <p:nvPr/>
        </p:nvSpPr>
        <p:spPr>
          <a:xfrm>
            <a:off x="8636000" y="4318000"/>
            <a:ext cx="29464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50300" y="4406900"/>
            <a:ext cx="27178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6,4 µL</a:t>
            </a:r>
          </a:p>
        </p:txBody>
      </p:sp>
      <p:sp>
        <p:nvSpPr>
          <p:cNvPr id="43" name="Rounded Rectangle 42"/>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Finales: mix 1×; cada primer 300 nM; sonda, si corresponde, 200 nM.</a:t>
            </a:r>
          </a:p>
        </p:txBody>
      </p:sp>
      <p:sp>
        <p:nvSpPr>
          <p:cNvPr id="45" name="TextBox 4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MEZCLAS Y CÁLCULOS</a:t>
            </a:r>
          </a:p>
        </p:txBody>
      </p:sp>
      <p:sp>
        <p:nvSpPr>
          <p:cNvPr id="4" name="TextBox 3"/>
          <p:cNvSpPr txBox="1"/>
          <p:nvPr/>
        </p:nvSpPr>
        <p:spPr>
          <a:xfrm>
            <a:off x="609600" y="673100"/>
            <a:ext cx="10972800" cy="982218"/>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RT-qPCR en un paso: sumar RT sin duplicar</a:t>
            </a:r>
          </a:p>
          <a:p>
            <a:pPr>
              <a:lnSpc>
                <a:spcPct val="115000"/>
              </a:lnSpc>
              <a:spcBef>
                <a:spcPts val="0"/>
              </a:spcBef>
              <a:spcAft>
                <a:spcPts val="0"/>
              </a:spcAft>
              <a:defRPr sz="2900" b="1">
                <a:solidFill>
                  <a:srgbClr val="183443"/>
                </a:solidFill>
                <a:latin typeface="DejaVu Sans"/>
              </a:defRPr>
            </a:pPr>
            <a:r>
              <a:t>componentes</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[2,3]; ejemplo docente para un kit de RT separado.</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31</a:t>
            </a:r>
          </a:p>
        </p:txBody>
      </p:sp>
      <p:sp>
        <p:nvSpPr>
          <p:cNvPr id="7" name="Rectangle 6"/>
          <p:cNvSpPr/>
          <p:nvPr/>
        </p:nvSpPr>
        <p:spPr>
          <a:xfrm>
            <a:off x="609600" y="1905000"/>
            <a:ext cx="5080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4851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Componente</a:t>
            </a:r>
          </a:p>
        </p:txBody>
      </p:sp>
      <p:sp>
        <p:nvSpPr>
          <p:cNvPr id="9" name="Rectangle 8"/>
          <p:cNvSpPr/>
          <p:nvPr/>
        </p:nvSpPr>
        <p:spPr>
          <a:xfrm>
            <a:off x="5689600" y="1905000"/>
            <a:ext cx="2667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03900" y="2006600"/>
            <a:ext cx="2438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Volumen</a:t>
            </a:r>
          </a:p>
        </p:txBody>
      </p:sp>
      <p:sp>
        <p:nvSpPr>
          <p:cNvPr id="11" name="Rectangle 10"/>
          <p:cNvSpPr/>
          <p:nvPr/>
        </p:nvSpPr>
        <p:spPr>
          <a:xfrm>
            <a:off x="8356600" y="1905000"/>
            <a:ext cx="3225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70900" y="2006600"/>
            <a:ext cx="29972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Concentración final</a:t>
            </a:r>
          </a:p>
        </p:txBody>
      </p:sp>
      <p:sp>
        <p:nvSpPr>
          <p:cNvPr id="13" name="Rectangle 12"/>
          <p:cNvSpPr/>
          <p:nvPr/>
        </p:nvSpPr>
        <p:spPr>
          <a:xfrm>
            <a:off x="609600" y="2387600"/>
            <a:ext cx="508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485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PCR mix con sonda, 2×</a:t>
            </a:r>
          </a:p>
        </p:txBody>
      </p:sp>
      <p:sp>
        <p:nvSpPr>
          <p:cNvPr id="15" name="Rectangle 14"/>
          <p:cNvSpPr/>
          <p:nvPr/>
        </p:nvSpPr>
        <p:spPr>
          <a:xfrm>
            <a:off x="5689600" y="2387600"/>
            <a:ext cx="2667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03900" y="2476500"/>
            <a:ext cx="2438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10,0 µL</a:t>
            </a:r>
          </a:p>
        </p:txBody>
      </p:sp>
      <p:sp>
        <p:nvSpPr>
          <p:cNvPr id="17" name="Rectangle 16"/>
          <p:cNvSpPr/>
          <p:nvPr/>
        </p:nvSpPr>
        <p:spPr>
          <a:xfrm>
            <a:off x="8356600" y="2387600"/>
            <a:ext cx="3225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0900" y="2476500"/>
            <a:ext cx="2997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a:t>
            </a:r>
          </a:p>
        </p:txBody>
      </p:sp>
      <p:sp>
        <p:nvSpPr>
          <p:cNvPr id="19" name="Rectangle 18"/>
          <p:cNvSpPr/>
          <p:nvPr/>
        </p:nvSpPr>
        <p:spPr>
          <a:xfrm>
            <a:off x="609600" y="2870200"/>
            <a:ext cx="508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2959100"/>
            <a:ext cx="485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Mezcla RT, 20×</a:t>
            </a:r>
          </a:p>
        </p:txBody>
      </p:sp>
      <p:sp>
        <p:nvSpPr>
          <p:cNvPr id="21" name="Rectangle 20"/>
          <p:cNvSpPr/>
          <p:nvPr/>
        </p:nvSpPr>
        <p:spPr>
          <a:xfrm>
            <a:off x="5689600" y="2870200"/>
            <a:ext cx="2667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03900" y="2959100"/>
            <a:ext cx="2438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1,0 µL</a:t>
            </a:r>
          </a:p>
        </p:txBody>
      </p:sp>
      <p:sp>
        <p:nvSpPr>
          <p:cNvPr id="23" name="Rectangle 22"/>
          <p:cNvSpPr/>
          <p:nvPr/>
        </p:nvSpPr>
        <p:spPr>
          <a:xfrm>
            <a:off x="8356600" y="2870200"/>
            <a:ext cx="3225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70900" y="2959100"/>
            <a:ext cx="2997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a:t>
            </a:r>
          </a:p>
        </p:txBody>
      </p:sp>
      <p:sp>
        <p:nvSpPr>
          <p:cNvPr id="25" name="Rectangle 24"/>
          <p:cNvSpPr/>
          <p:nvPr/>
        </p:nvSpPr>
        <p:spPr>
          <a:xfrm>
            <a:off x="609600" y="3352800"/>
            <a:ext cx="508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441700"/>
            <a:ext cx="485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F + R, stocks 10 µM</a:t>
            </a:r>
          </a:p>
        </p:txBody>
      </p:sp>
      <p:sp>
        <p:nvSpPr>
          <p:cNvPr id="27" name="Rectangle 26"/>
          <p:cNvSpPr/>
          <p:nvPr/>
        </p:nvSpPr>
        <p:spPr>
          <a:xfrm>
            <a:off x="5689600" y="3352800"/>
            <a:ext cx="2667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3900" y="3441700"/>
            <a:ext cx="2438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0,6 + 0,6 µL</a:t>
            </a:r>
          </a:p>
        </p:txBody>
      </p:sp>
      <p:sp>
        <p:nvSpPr>
          <p:cNvPr id="29" name="Rectangle 28"/>
          <p:cNvSpPr/>
          <p:nvPr/>
        </p:nvSpPr>
        <p:spPr>
          <a:xfrm>
            <a:off x="8356600" y="3352800"/>
            <a:ext cx="3225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70900" y="3441700"/>
            <a:ext cx="2997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300 nM cada uno</a:t>
            </a:r>
          </a:p>
        </p:txBody>
      </p:sp>
      <p:sp>
        <p:nvSpPr>
          <p:cNvPr id="31" name="Rectangle 30"/>
          <p:cNvSpPr/>
          <p:nvPr/>
        </p:nvSpPr>
        <p:spPr>
          <a:xfrm>
            <a:off x="609600" y="3835400"/>
            <a:ext cx="508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3924300"/>
            <a:ext cx="485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Sonda 10 µM</a:t>
            </a:r>
          </a:p>
        </p:txBody>
      </p:sp>
      <p:sp>
        <p:nvSpPr>
          <p:cNvPr id="33" name="Rectangle 32"/>
          <p:cNvSpPr/>
          <p:nvPr/>
        </p:nvSpPr>
        <p:spPr>
          <a:xfrm>
            <a:off x="5689600" y="3835400"/>
            <a:ext cx="2667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03900" y="3924300"/>
            <a:ext cx="2438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0,4 µL</a:t>
            </a:r>
          </a:p>
        </p:txBody>
      </p:sp>
      <p:sp>
        <p:nvSpPr>
          <p:cNvPr id="35" name="Rectangle 34"/>
          <p:cNvSpPr/>
          <p:nvPr/>
        </p:nvSpPr>
        <p:spPr>
          <a:xfrm>
            <a:off x="8356600" y="3835400"/>
            <a:ext cx="3225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70900" y="3924300"/>
            <a:ext cx="2997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200 nM</a:t>
            </a:r>
          </a:p>
        </p:txBody>
      </p:sp>
      <p:sp>
        <p:nvSpPr>
          <p:cNvPr id="37" name="Rectangle 36"/>
          <p:cNvSpPr/>
          <p:nvPr/>
        </p:nvSpPr>
        <p:spPr>
          <a:xfrm>
            <a:off x="609600" y="4318000"/>
            <a:ext cx="508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3900" y="4406900"/>
            <a:ext cx="485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ARN</a:t>
            </a:r>
          </a:p>
        </p:txBody>
      </p:sp>
      <p:sp>
        <p:nvSpPr>
          <p:cNvPr id="39" name="Rectangle 38"/>
          <p:cNvSpPr/>
          <p:nvPr/>
        </p:nvSpPr>
        <p:spPr>
          <a:xfrm>
            <a:off x="5689600" y="4318000"/>
            <a:ext cx="2667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03900" y="4406900"/>
            <a:ext cx="2438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2,0 µL</a:t>
            </a:r>
          </a:p>
        </p:txBody>
      </p:sp>
      <p:sp>
        <p:nvSpPr>
          <p:cNvPr id="41" name="Rectangle 40"/>
          <p:cNvSpPr/>
          <p:nvPr/>
        </p:nvSpPr>
        <p:spPr>
          <a:xfrm>
            <a:off x="8356600" y="4318000"/>
            <a:ext cx="3225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70900" y="4406900"/>
            <a:ext cx="2997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Según concentración</a:t>
            </a:r>
          </a:p>
        </p:txBody>
      </p:sp>
      <p:sp>
        <p:nvSpPr>
          <p:cNvPr id="43" name="Rectangle 42"/>
          <p:cNvSpPr/>
          <p:nvPr/>
        </p:nvSpPr>
        <p:spPr>
          <a:xfrm>
            <a:off x="609600" y="4800600"/>
            <a:ext cx="508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3900" y="4889500"/>
            <a:ext cx="485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Agua</a:t>
            </a:r>
          </a:p>
        </p:txBody>
      </p:sp>
      <p:sp>
        <p:nvSpPr>
          <p:cNvPr id="45" name="Rectangle 44"/>
          <p:cNvSpPr/>
          <p:nvPr/>
        </p:nvSpPr>
        <p:spPr>
          <a:xfrm>
            <a:off x="5689600" y="4800600"/>
            <a:ext cx="2667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03900" y="4889500"/>
            <a:ext cx="2438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5,4 µL</a:t>
            </a:r>
          </a:p>
        </p:txBody>
      </p:sp>
      <p:sp>
        <p:nvSpPr>
          <p:cNvPr id="47" name="Rectangle 46"/>
          <p:cNvSpPr/>
          <p:nvPr/>
        </p:nvSpPr>
        <p:spPr>
          <a:xfrm>
            <a:off x="8356600" y="4800600"/>
            <a:ext cx="3225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70900" y="4889500"/>
            <a:ext cx="2997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Total: 20 µL</a:t>
            </a:r>
          </a:p>
        </p:txBody>
      </p:sp>
      <p:sp>
        <p:nvSpPr>
          <p:cNvPr id="49" name="TextBox 48"/>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MEZCLAS Y CÁLCULOS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dPCR: ejemplo de mezcla para 20 µL</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[4,8]; ejemplo docente para química de sonda.</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32</a:t>
            </a:r>
          </a:p>
        </p:txBody>
      </p:sp>
      <p:sp>
        <p:nvSpPr>
          <p:cNvPr id="7" name="Rectangle 6"/>
          <p:cNvSpPr/>
          <p:nvPr/>
        </p:nvSpPr>
        <p:spPr>
          <a:xfrm>
            <a:off x="609600" y="1905000"/>
            <a:ext cx="5334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5105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Reactivo</a:t>
            </a:r>
          </a:p>
        </p:txBody>
      </p:sp>
      <p:sp>
        <p:nvSpPr>
          <p:cNvPr id="9" name="Rectangle 8"/>
          <p:cNvSpPr/>
          <p:nvPr/>
        </p:nvSpPr>
        <p:spPr>
          <a:xfrm>
            <a:off x="5943600" y="1905000"/>
            <a:ext cx="2540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57900" y="2006600"/>
            <a:ext cx="2311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Volumen</a:t>
            </a:r>
          </a:p>
        </p:txBody>
      </p:sp>
      <p:sp>
        <p:nvSpPr>
          <p:cNvPr id="11" name="Rectangle 10"/>
          <p:cNvSpPr/>
          <p:nvPr/>
        </p:nvSpPr>
        <p:spPr>
          <a:xfrm>
            <a:off x="8483600" y="1905000"/>
            <a:ext cx="3098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7900" y="2006600"/>
            <a:ext cx="28702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Final</a:t>
            </a:r>
          </a:p>
        </p:txBody>
      </p:sp>
      <p:sp>
        <p:nvSpPr>
          <p:cNvPr id="13" name="Rectangle 12"/>
          <p:cNvSpPr/>
          <p:nvPr/>
        </p:nvSpPr>
        <p:spPr>
          <a:xfrm>
            <a:off x="609600" y="2387600"/>
            <a:ext cx="5334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510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Mix dPCR 2×</a:t>
            </a:r>
          </a:p>
        </p:txBody>
      </p:sp>
      <p:sp>
        <p:nvSpPr>
          <p:cNvPr id="15" name="Rectangle 14"/>
          <p:cNvSpPr/>
          <p:nvPr/>
        </p:nvSpPr>
        <p:spPr>
          <a:xfrm>
            <a:off x="5943600" y="2387600"/>
            <a:ext cx="254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57900" y="24765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10,0 µL</a:t>
            </a:r>
          </a:p>
        </p:txBody>
      </p:sp>
      <p:sp>
        <p:nvSpPr>
          <p:cNvPr id="17" name="Rectangle 16"/>
          <p:cNvSpPr/>
          <p:nvPr/>
        </p:nvSpPr>
        <p:spPr>
          <a:xfrm>
            <a:off x="8483600" y="2387600"/>
            <a:ext cx="309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7900" y="2476500"/>
            <a:ext cx="2870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1×</a:t>
            </a:r>
          </a:p>
        </p:txBody>
      </p:sp>
      <p:sp>
        <p:nvSpPr>
          <p:cNvPr id="19" name="Rectangle 18"/>
          <p:cNvSpPr/>
          <p:nvPr/>
        </p:nvSpPr>
        <p:spPr>
          <a:xfrm>
            <a:off x="609600" y="2870200"/>
            <a:ext cx="5334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2959100"/>
            <a:ext cx="510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Forward 20 µM</a:t>
            </a:r>
          </a:p>
        </p:txBody>
      </p:sp>
      <p:sp>
        <p:nvSpPr>
          <p:cNvPr id="21" name="Rectangle 20"/>
          <p:cNvSpPr/>
          <p:nvPr/>
        </p:nvSpPr>
        <p:spPr>
          <a:xfrm>
            <a:off x="5943600" y="2870200"/>
            <a:ext cx="254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57900" y="29591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0,9 µL</a:t>
            </a:r>
          </a:p>
        </p:txBody>
      </p:sp>
      <p:sp>
        <p:nvSpPr>
          <p:cNvPr id="23" name="Rectangle 22"/>
          <p:cNvSpPr/>
          <p:nvPr/>
        </p:nvSpPr>
        <p:spPr>
          <a:xfrm>
            <a:off x="8483600" y="2870200"/>
            <a:ext cx="3098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7900" y="2959100"/>
            <a:ext cx="2870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900 nM</a:t>
            </a:r>
          </a:p>
        </p:txBody>
      </p:sp>
      <p:sp>
        <p:nvSpPr>
          <p:cNvPr id="25" name="Rectangle 24"/>
          <p:cNvSpPr/>
          <p:nvPr/>
        </p:nvSpPr>
        <p:spPr>
          <a:xfrm>
            <a:off x="609600" y="3352800"/>
            <a:ext cx="5334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441700"/>
            <a:ext cx="510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Reverse 20 µM</a:t>
            </a:r>
          </a:p>
        </p:txBody>
      </p:sp>
      <p:sp>
        <p:nvSpPr>
          <p:cNvPr id="27" name="Rectangle 26"/>
          <p:cNvSpPr/>
          <p:nvPr/>
        </p:nvSpPr>
        <p:spPr>
          <a:xfrm>
            <a:off x="5943600" y="3352800"/>
            <a:ext cx="254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57900" y="34417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0,9 µL</a:t>
            </a:r>
          </a:p>
        </p:txBody>
      </p:sp>
      <p:sp>
        <p:nvSpPr>
          <p:cNvPr id="29" name="Rectangle 28"/>
          <p:cNvSpPr/>
          <p:nvPr/>
        </p:nvSpPr>
        <p:spPr>
          <a:xfrm>
            <a:off x="8483600" y="3352800"/>
            <a:ext cx="309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7900" y="3441700"/>
            <a:ext cx="2870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900 nM</a:t>
            </a:r>
          </a:p>
        </p:txBody>
      </p:sp>
      <p:sp>
        <p:nvSpPr>
          <p:cNvPr id="31" name="Rectangle 30"/>
          <p:cNvSpPr/>
          <p:nvPr/>
        </p:nvSpPr>
        <p:spPr>
          <a:xfrm>
            <a:off x="609600" y="3835400"/>
            <a:ext cx="5334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3924300"/>
            <a:ext cx="510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Sonda 10 µM</a:t>
            </a:r>
          </a:p>
        </p:txBody>
      </p:sp>
      <p:sp>
        <p:nvSpPr>
          <p:cNvPr id="33" name="Rectangle 32"/>
          <p:cNvSpPr/>
          <p:nvPr/>
        </p:nvSpPr>
        <p:spPr>
          <a:xfrm>
            <a:off x="5943600" y="3835400"/>
            <a:ext cx="254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57900" y="39243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0,5 µL</a:t>
            </a:r>
          </a:p>
        </p:txBody>
      </p:sp>
      <p:sp>
        <p:nvSpPr>
          <p:cNvPr id="35" name="Rectangle 34"/>
          <p:cNvSpPr/>
          <p:nvPr/>
        </p:nvSpPr>
        <p:spPr>
          <a:xfrm>
            <a:off x="8483600" y="3835400"/>
            <a:ext cx="3098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97900" y="3924300"/>
            <a:ext cx="2870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250 nM</a:t>
            </a:r>
          </a:p>
        </p:txBody>
      </p:sp>
      <p:sp>
        <p:nvSpPr>
          <p:cNvPr id="37" name="Rectangle 36"/>
          <p:cNvSpPr/>
          <p:nvPr/>
        </p:nvSpPr>
        <p:spPr>
          <a:xfrm>
            <a:off x="609600" y="4318000"/>
            <a:ext cx="5334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3900" y="4406900"/>
            <a:ext cx="510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ADN diluido</a:t>
            </a:r>
          </a:p>
        </p:txBody>
      </p:sp>
      <p:sp>
        <p:nvSpPr>
          <p:cNvPr id="39" name="Rectangle 38"/>
          <p:cNvSpPr/>
          <p:nvPr/>
        </p:nvSpPr>
        <p:spPr>
          <a:xfrm>
            <a:off x="5943600" y="4318000"/>
            <a:ext cx="254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057900" y="44069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4,0 µL</a:t>
            </a:r>
          </a:p>
        </p:txBody>
      </p:sp>
      <p:sp>
        <p:nvSpPr>
          <p:cNvPr id="41" name="Rectangle 40"/>
          <p:cNvSpPr/>
          <p:nvPr/>
        </p:nvSpPr>
        <p:spPr>
          <a:xfrm>
            <a:off x="8483600" y="4318000"/>
            <a:ext cx="309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97900" y="4406900"/>
            <a:ext cx="2870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Entrada validada</a:t>
            </a:r>
          </a:p>
        </p:txBody>
      </p:sp>
      <p:sp>
        <p:nvSpPr>
          <p:cNvPr id="43" name="Rectangle 42"/>
          <p:cNvSpPr/>
          <p:nvPr/>
        </p:nvSpPr>
        <p:spPr>
          <a:xfrm>
            <a:off x="609600" y="4800600"/>
            <a:ext cx="5334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3900" y="4889500"/>
            <a:ext cx="510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Agua</a:t>
            </a:r>
          </a:p>
        </p:txBody>
      </p:sp>
      <p:sp>
        <p:nvSpPr>
          <p:cNvPr id="45" name="Rectangle 44"/>
          <p:cNvSpPr/>
          <p:nvPr/>
        </p:nvSpPr>
        <p:spPr>
          <a:xfrm>
            <a:off x="5943600" y="4800600"/>
            <a:ext cx="254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057900" y="4889500"/>
            <a:ext cx="231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3,7 µL</a:t>
            </a:r>
          </a:p>
        </p:txBody>
      </p:sp>
      <p:sp>
        <p:nvSpPr>
          <p:cNvPr id="47" name="Rectangle 46"/>
          <p:cNvSpPr/>
          <p:nvPr/>
        </p:nvSpPr>
        <p:spPr>
          <a:xfrm>
            <a:off x="8483600" y="4800600"/>
            <a:ext cx="3098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7900" y="4889500"/>
            <a:ext cx="2870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Total: 20 µL</a:t>
            </a:r>
          </a:p>
        </p:txBody>
      </p:sp>
      <p:sp>
        <p:nvSpPr>
          <p:cNvPr id="49" name="TextBox 48"/>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INTERPRETACIÓN DE DPCR</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Rara no significa imposible de muestrear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[4,8].</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33</a:t>
            </a:r>
          </a:p>
        </p:txBody>
      </p:sp>
      <p:sp>
        <p:nvSpPr>
          <p:cNvPr id="7" name="Rounded Rectangle 6"/>
          <p:cNvSpPr/>
          <p:nvPr/>
        </p:nvSpPr>
        <p:spPr>
          <a:xfrm>
            <a:off x="609600"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Ejemplo</a:t>
            </a:r>
          </a:p>
        </p:txBody>
      </p:sp>
      <p:sp>
        <p:nvSpPr>
          <p:cNvPr id="9" name="TextBox 8"/>
          <p:cNvSpPr txBox="1"/>
          <p:nvPr/>
        </p:nvSpPr>
        <p:spPr>
          <a:xfrm>
            <a:off x="838200" y="2870200"/>
            <a:ext cx="3031066" cy="1200912"/>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Frecuencia = 0,1 %</a:t>
            </a:r>
          </a:p>
          <a:p>
            <a:pPr>
              <a:lnSpc>
                <a:spcPct val="115000"/>
              </a:lnSpc>
              <a:spcBef>
                <a:spcPts val="0"/>
              </a:spcBef>
              <a:spcAft>
                <a:spcPts val="0"/>
              </a:spcAft>
              <a:defRPr sz="1800" b="0">
                <a:solidFill>
                  <a:srgbClr val="183443"/>
                </a:solidFill>
                <a:latin typeface="DejaVu Sans"/>
              </a:defRPr>
            </a:pPr>
            <a:r>
              <a:t>Entrada = 1 000</a:t>
            </a:r>
          </a:p>
          <a:p>
            <a:pPr>
              <a:lnSpc>
                <a:spcPct val="115000"/>
              </a:lnSpc>
              <a:spcBef>
                <a:spcPts val="0"/>
              </a:spcBef>
              <a:spcAft>
                <a:spcPts val="0"/>
              </a:spcAft>
              <a:defRPr sz="1800" b="0">
                <a:solidFill>
                  <a:srgbClr val="183443"/>
                </a:solidFill>
                <a:latin typeface="DejaVu Sans"/>
              </a:defRPr>
            </a:pPr>
            <a:r>
              <a:t>moléculas</a:t>
            </a:r>
          </a:p>
          <a:p>
            <a:pPr>
              <a:lnSpc>
                <a:spcPct val="115000"/>
              </a:lnSpc>
              <a:spcBef>
                <a:spcPts val="0"/>
              </a:spcBef>
              <a:spcAft>
                <a:spcPts val="0"/>
              </a:spcAft>
              <a:defRPr sz="1800" b="0">
                <a:solidFill>
                  <a:srgbClr val="183443"/>
                </a:solidFill>
                <a:latin typeface="DejaVu Sans"/>
              </a:defRPr>
            </a:pPr>
            <a:r>
              <a:t>Mutantes esperados = 1</a:t>
            </a:r>
          </a:p>
        </p:txBody>
      </p:sp>
      <p:sp>
        <p:nvSpPr>
          <p:cNvPr id="10" name="Rounded Rectangle 9"/>
          <p:cNvSpPr/>
          <p:nvPr/>
        </p:nvSpPr>
        <p:spPr>
          <a:xfrm>
            <a:off x="4351866"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0466"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Muestreo</a:t>
            </a:r>
          </a:p>
        </p:txBody>
      </p:sp>
      <p:sp>
        <p:nvSpPr>
          <p:cNvPr id="12" name="TextBox 11"/>
          <p:cNvSpPr txBox="1"/>
          <p:nvPr/>
        </p:nvSpPr>
        <p:spPr>
          <a:xfrm>
            <a:off x="4580466" y="2870200"/>
            <a:ext cx="3031066" cy="919734"/>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P(al menos 1) = 1 − e⁻¹</a:t>
            </a:r>
          </a:p>
          <a:p>
            <a:pPr>
              <a:lnSpc>
                <a:spcPct val="115000"/>
              </a:lnSpc>
              <a:spcBef>
                <a:spcPts val="0"/>
              </a:spcBef>
              <a:spcAft>
                <a:spcPts val="0"/>
              </a:spcAft>
              <a:defRPr sz="1800" b="0">
                <a:solidFill>
                  <a:srgbClr val="183443"/>
                </a:solidFill>
                <a:latin typeface="DejaVu Sans"/>
              </a:defRPr>
            </a:pPr>
            <a:r>
              <a:t>≈ 63,2 %</a:t>
            </a:r>
          </a:p>
          <a:p>
            <a:pPr>
              <a:lnSpc>
                <a:spcPct val="115000"/>
              </a:lnSpc>
              <a:spcBef>
                <a:spcPts val="0"/>
              </a:spcBef>
              <a:spcAft>
                <a:spcPts val="0"/>
              </a:spcAft>
              <a:defRPr sz="1800" b="0">
                <a:solidFill>
                  <a:srgbClr val="183443"/>
                </a:solidFill>
                <a:latin typeface="DejaVu Sans"/>
              </a:defRPr>
            </a:pPr>
            <a:r>
              <a:t>Un negativo es posible.</a:t>
            </a:r>
          </a:p>
        </p:txBody>
      </p:sp>
      <p:sp>
        <p:nvSpPr>
          <p:cNvPr id="13" name="Rounded Rectangle 12"/>
          <p:cNvSpPr/>
          <p:nvPr/>
        </p:nvSpPr>
        <p:spPr>
          <a:xfrm>
            <a:off x="8094133" y="2032000"/>
            <a:ext cx="3488266" cy="31115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2733" y="2260600"/>
            <a:ext cx="3031066" cy="404241"/>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Diseño</a:t>
            </a:r>
          </a:p>
        </p:txBody>
      </p:sp>
      <p:sp>
        <p:nvSpPr>
          <p:cNvPr id="15" name="TextBox 14"/>
          <p:cNvSpPr txBox="1"/>
          <p:nvPr/>
        </p:nvSpPr>
        <p:spPr>
          <a:xfrm>
            <a:off x="8322733" y="2870200"/>
            <a:ext cx="3031066" cy="1482090"/>
          </a:xfrm>
          <a:prstGeom prst="rect">
            <a:avLst/>
          </a:prstGeom>
          <a:noFill/>
        </p:spPr>
        <p:txBody>
          <a:bodyPr wrap="none" lIns="0" rIns="0" tIns="0" bIns="0">
            <a:spAutoFit/>
          </a:bodyPr>
          <a:lstStyle/>
          <a:p>
            <a:pPr>
              <a:lnSpc>
                <a:spcPct val="115000"/>
              </a:lnSpc>
              <a:spcBef>
                <a:spcPts val="0"/>
              </a:spcBef>
              <a:spcAft>
                <a:spcPts val="0"/>
              </a:spcAft>
              <a:defRPr sz="1800" b="0">
                <a:solidFill>
                  <a:srgbClr val="183443"/>
                </a:solidFill>
                <a:latin typeface="DejaVu Sans"/>
              </a:defRPr>
            </a:pPr>
            <a:r>
              <a:t>≈ 3 000 moléculas dan</a:t>
            </a:r>
          </a:p>
          <a:p>
            <a:pPr>
              <a:lnSpc>
                <a:spcPct val="115000"/>
              </a:lnSpc>
              <a:spcBef>
                <a:spcPts val="0"/>
              </a:spcBef>
              <a:spcAft>
                <a:spcPts val="0"/>
              </a:spcAft>
              <a:defRPr sz="1800" b="0">
                <a:solidFill>
                  <a:srgbClr val="183443"/>
                </a:solidFill>
                <a:latin typeface="DejaVu Sans"/>
              </a:defRPr>
            </a:pPr>
            <a:r>
              <a:t>95 % de probabilidad de</a:t>
            </a:r>
          </a:p>
          <a:p>
            <a:pPr>
              <a:lnSpc>
                <a:spcPct val="115000"/>
              </a:lnSpc>
              <a:spcBef>
                <a:spcPts val="0"/>
              </a:spcBef>
              <a:spcAft>
                <a:spcPts val="0"/>
              </a:spcAft>
              <a:defRPr sz="1800" b="0">
                <a:solidFill>
                  <a:srgbClr val="183443"/>
                </a:solidFill>
                <a:latin typeface="DejaVu Sans"/>
              </a:defRPr>
            </a:pPr>
            <a:r>
              <a:t>incluir ≥1 mutante.</a:t>
            </a:r>
          </a:p>
          <a:p>
            <a:pPr>
              <a:lnSpc>
                <a:spcPct val="115000"/>
              </a:lnSpc>
              <a:spcBef>
                <a:spcPts val="0"/>
              </a:spcBef>
              <a:spcAft>
                <a:spcPts val="0"/>
              </a:spcAft>
              <a:defRPr sz="1800" b="0">
                <a:solidFill>
                  <a:srgbClr val="183443"/>
                </a:solidFill>
                <a:latin typeface="DejaVu Sans"/>
              </a:defRPr>
            </a:pPr>
            <a:r>
              <a:t>No equivale al LOD</a:t>
            </a:r>
          </a:p>
          <a:p>
            <a:pPr>
              <a:lnSpc>
                <a:spcPct val="115000"/>
              </a:lnSpc>
              <a:spcBef>
                <a:spcPts val="0"/>
              </a:spcBef>
              <a:spcAft>
                <a:spcPts val="0"/>
              </a:spcAft>
              <a:defRPr sz="1800" b="0">
                <a:solidFill>
                  <a:srgbClr val="183443"/>
                </a:solidFill>
                <a:latin typeface="DejaVu Sans"/>
              </a:defRPr>
            </a:pPr>
            <a:r>
              <a:t>validado.</a:t>
            </a:r>
          </a:p>
        </p:txBody>
      </p:sp>
      <p:sp>
        <p:nvSpPr>
          <p:cNvPr id="16" name="TextBox 15"/>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ESTRATEGIAS COMBINABLES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Multiplex: varias dianas comparten un tubo</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34</a:t>
            </a:r>
          </a:p>
        </p:txBody>
      </p:sp>
      <p:sp>
        <p:nvSpPr>
          <p:cNvPr id="7" name="Rounded Rectangle 6"/>
          <p:cNvSpPr/>
          <p:nvPr/>
        </p:nvSpPr>
        <p:spPr>
          <a:xfrm>
            <a:off x="609600" y="1841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0066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425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Diana A</a:t>
            </a:r>
          </a:p>
          <a:p>
            <a:pPr>
              <a:lnSpc>
                <a:spcPct val="115000"/>
              </a:lnSpc>
              <a:spcBef>
                <a:spcPts val="0"/>
              </a:spcBef>
              <a:spcAft>
                <a:spcPts val="0"/>
              </a:spcAft>
              <a:defRPr sz="1700" b="1">
                <a:solidFill>
                  <a:srgbClr val="183443"/>
                </a:solidFill>
                <a:latin typeface="DejaVu Sans"/>
              </a:defRPr>
            </a:pPr>
            <a:r>
              <a:t>F₁ + R₁</a:t>
            </a:r>
          </a:p>
        </p:txBody>
      </p:sp>
      <p:cxnSp>
        <p:nvCxnSpPr>
          <p:cNvPr id="10" name="Connector 9"/>
          <p:cNvCxnSpPr/>
          <p:nvPr/>
        </p:nvCxnSpPr>
        <p:spPr>
          <a:xfrm>
            <a:off x="4034366" y="2540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262966" y="2476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262966" y="2540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02666" y="1841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5066" y="20066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0466" y="2425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Diana B</a:t>
            </a:r>
          </a:p>
          <a:p>
            <a:pPr>
              <a:lnSpc>
                <a:spcPct val="115000"/>
              </a:lnSpc>
              <a:spcBef>
                <a:spcPts val="0"/>
              </a:spcBef>
              <a:spcAft>
                <a:spcPts val="0"/>
              </a:spcAft>
              <a:defRPr sz="1700" b="1">
                <a:solidFill>
                  <a:srgbClr val="183443"/>
                </a:solidFill>
                <a:latin typeface="DejaVu Sans"/>
              </a:defRPr>
            </a:pPr>
            <a:r>
              <a:t>F₂ + R₂</a:t>
            </a:r>
          </a:p>
        </p:txBody>
      </p:sp>
      <p:cxnSp>
        <p:nvCxnSpPr>
          <p:cNvPr id="16" name="Connector 15"/>
          <p:cNvCxnSpPr/>
          <p:nvPr/>
        </p:nvCxnSpPr>
        <p:spPr>
          <a:xfrm>
            <a:off x="7827433" y="2540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56033" y="2476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056033" y="2540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195733" y="1841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48133" y="20066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73533" y="2425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Diana C</a:t>
            </a:r>
          </a:p>
          <a:p>
            <a:pPr>
              <a:lnSpc>
                <a:spcPct val="115000"/>
              </a:lnSpc>
              <a:spcBef>
                <a:spcPts val="0"/>
              </a:spcBef>
              <a:spcAft>
                <a:spcPts val="0"/>
              </a:spcAft>
              <a:defRPr sz="1700" b="1">
                <a:solidFill>
                  <a:srgbClr val="183443"/>
                </a:solidFill>
                <a:latin typeface="DejaVu Sans"/>
              </a:defRPr>
            </a:pPr>
            <a:r>
              <a:t>F₃ + R₃</a:t>
            </a:r>
          </a:p>
        </p:txBody>
      </p:sp>
      <p:sp>
        <p:nvSpPr>
          <p:cNvPr id="22" name="TextBox 21"/>
          <p:cNvSpPr txBox="1"/>
          <p:nvPr/>
        </p:nvSpPr>
        <p:spPr>
          <a:xfrm>
            <a:off x="762000" y="3708400"/>
            <a:ext cx="10668000" cy="763524"/>
          </a:xfrm>
          <a:prstGeom prst="rect">
            <a:avLst/>
          </a:prstGeom>
          <a:noFill/>
        </p:spPr>
        <p:txBody>
          <a:bodyPr wrap="none" lIns="0" rIns="0" tIns="0" bIns="0">
            <a:spAutoFit/>
          </a:bodyPr>
          <a:lstStyle/>
          <a:p>
            <a:pPr>
              <a:lnSpc>
                <a:spcPct val="115000"/>
              </a:lnSpc>
              <a:spcBef>
                <a:spcPts val="0"/>
              </a:spcBef>
              <a:spcAft>
                <a:spcPts val="0"/>
              </a:spcAft>
              <a:defRPr sz="2200" b="1">
                <a:solidFill>
                  <a:srgbClr val="007F86"/>
                </a:solidFill>
                <a:latin typeface="DejaVu Sans"/>
              </a:defRPr>
            </a:pPr>
            <a:r>
              <a:t>Ejemplo final de 25 µL: mix 2× 12,5 + 6 primers × 0,5 + ADN 2 +</a:t>
            </a:r>
          </a:p>
          <a:p>
            <a:pPr>
              <a:lnSpc>
                <a:spcPct val="115000"/>
              </a:lnSpc>
              <a:spcBef>
                <a:spcPts val="0"/>
              </a:spcBef>
              <a:spcAft>
                <a:spcPts val="0"/>
              </a:spcAft>
              <a:defRPr sz="2200" b="1">
                <a:solidFill>
                  <a:srgbClr val="007F86"/>
                </a:solidFill>
                <a:latin typeface="DejaVu Sans"/>
              </a:defRPr>
            </a:pPr>
            <a:r>
              <a:t>agua 7,5 = 25 µL.</a:t>
            </a:r>
          </a:p>
        </p:txBody>
      </p:sp>
      <p:sp>
        <p:nvSpPr>
          <p:cNvPr id="23" name="TextBox 22"/>
          <p:cNvSpPr txBox="1"/>
          <p:nvPr/>
        </p:nvSpPr>
        <p:spPr>
          <a:xfrm>
            <a:off x="762000" y="4711700"/>
            <a:ext cx="10668000" cy="701040"/>
          </a:xfrm>
          <a:prstGeom prst="rect">
            <a:avLst/>
          </a:prstGeom>
          <a:noFill/>
        </p:spPr>
        <p:txBody>
          <a:bodyPr wrap="none" lIns="0" rIns="0" tIns="0" bIns="0">
            <a:spAutoFit/>
          </a:bodyPr>
          <a:lstStyle/>
          <a:p>
            <a:pPr>
              <a:lnSpc>
                <a:spcPct val="115000"/>
              </a:lnSpc>
              <a:spcBef>
                <a:spcPts val="0"/>
              </a:spcBef>
              <a:spcAft>
                <a:spcPts val="0"/>
              </a:spcAft>
              <a:defRPr sz="2000" b="0">
                <a:solidFill>
                  <a:srgbClr val="183443"/>
                </a:solidFill>
                <a:latin typeface="DejaVu Sans"/>
              </a:defRPr>
            </a:pPr>
            <a:r>
              <a:t>Cada primer stock 10 µM → 0,2 µM final. La competencia puede sesgar las</a:t>
            </a:r>
          </a:p>
          <a:p>
            <a:pPr>
              <a:lnSpc>
                <a:spcPct val="115000"/>
              </a:lnSpc>
              <a:spcBef>
                <a:spcPts val="0"/>
              </a:spcBef>
              <a:spcAft>
                <a:spcPts val="0"/>
              </a:spcAft>
              <a:defRPr sz="2000" b="0">
                <a:solidFill>
                  <a:srgbClr val="183443"/>
                </a:solidFill>
                <a:latin typeface="DejaVu Sans"/>
              </a:defRPr>
            </a:pPr>
            <a:r>
              <a:t>abundancias.</a:t>
            </a:r>
          </a:p>
        </p:txBody>
      </p:sp>
      <p:sp>
        <p:nvSpPr>
          <p:cNvPr id="24" name="Rounded Rectangle 23"/>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Aplicación: paneles y secuenciación dirigida; amplificar más dianas exige balancearlas.</a:t>
            </a:r>
          </a:p>
        </p:txBody>
      </p:sp>
      <p:sp>
        <p:nvSpPr>
          <p:cNvPr id="26" name="TextBox 25"/>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ESTRATEGIAS COMBINABLES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Nested: dos rondas para mejorar especificidad</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35</a:t>
            </a:r>
          </a:p>
        </p:txBody>
      </p:sp>
      <p:sp>
        <p:nvSpPr>
          <p:cNvPr id="7" name="Rounded Rectangle 6"/>
          <p:cNvSpPr/>
          <p:nvPr/>
        </p:nvSpPr>
        <p:spPr>
          <a:xfrm>
            <a:off x="609600" y="19050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0701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4892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Ronda 1</a:t>
            </a:r>
          </a:p>
          <a:p>
            <a:pPr>
              <a:lnSpc>
                <a:spcPct val="115000"/>
              </a:lnSpc>
              <a:spcBef>
                <a:spcPts val="0"/>
              </a:spcBef>
              <a:spcAft>
                <a:spcPts val="0"/>
              </a:spcAft>
              <a:defRPr sz="1700" b="1">
                <a:solidFill>
                  <a:srgbClr val="183443"/>
                </a:solidFill>
                <a:latin typeface="DejaVu Sans"/>
              </a:defRPr>
            </a:pPr>
            <a:r>
              <a:t>primers externos</a:t>
            </a:r>
          </a:p>
        </p:txBody>
      </p:sp>
      <p:cxnSp>
        <p:nvCxnSpPr>
          <p:cNvPr id="10" name="Connector 9"/>
          <p:cNvCxnSpPr/>
          <p:nvPr/>
        </p:nvCxnSpPr>
        <p:spPr>
          <a:xfrm>
            <a:off x="4034366" y="26035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262966" y="2540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262966" y="2603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02666" y="19050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5066" y="20701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0466" y="24892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Diluir producto</a:t>
            </a:r>
          </a:p>
          <a:p>
            <a:pPr>
              <a:lnSpc>
                <a:spcPct val="115000"/>
              </a:lnSpc>
              <a:spcBef>
                <a:spcPts val="0"/>
              </a:spcBef>
              <a:spcAft>
                <a:spcPts val="0"/>
              </a:spcAft>
              <a:defRPr sz="1700" b="1">
                <a:solidFill>
                  <a:srgbClr val="183443"/>
                </a:solidFill>
                <a:latin typeface="DejaVu Sans"/>
              </a:defRPr>
            </a:pPr>
            <a:r>
              <a:t>1:100</a:t>
            </a:r>
          </a:p>
        </p:txBody>
      </p:sp>
      <p:cxnSp>
        <p:nvCxnSpPr>
          <p:cNvPr id="16" name="Connector 15"/>
          <p:cNvCxnSpPr/>
          <p:nvPr/>
        </p:nvCxnSpPr>
        <p:spPr>
          <a:xfrm>
            <a:off x="7827433" y="26035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56033" y="2540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056033" y="2603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195733" y="19050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48133" y="20701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73533" y="24892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Ronda 2</a:t>
            </a:r>
          </a:p>
          <a:p>
            <a:pPr>
              <a:lnSpc>
                <a:spcPct val="115000"/>
              </a:lnSpc>
              <a:spcBef>
                <a:spcPts val="0"/>
              </a:spcBef>
              <a:spcAft>
                <a:spcPts val="0"/>
              </a:spcAft>
              <a:defRPr sz="1700" b="1">
                <a:solidFill>
                  <a:srgbClr val="183443"/>
                </a:solidFill>
                <a:latin typeface="DejaVu Sans"/>
              </a:defRPr>
            </a:pPr>
            <a:r>
              <a:t>primers internos</a:t>
            </a:r>
          </a:p>
        </p:txBody>
      </p:sp>
      <p:cxnSp>
        <p:nvCxnSpPr>
          <p:cNvPr id="22" name="Connector 21"/>
          <p:cNvCxnSpPr/>
          <p:nvPr/>
        </p:nvCxnSpPr>
        <p:spPr>
          <a:xfrm>
            <a:off x="1206500" y="3873500"/>
            <a:ext cx="3302000" cy="0"/>
          </a:xfrm>
          <a:prstGeom prst="line">
            <a:avLst/>
          </a:prstGeom>
          <a:ln w="508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06500" y="4064000"/>
            <a:ext cx="3302000" cy="0"/>
          </a:xfrm>
          <a:prstGeom prst="line">
            <a:avLst/>
          </a:prstGeom>
          <a:ln w="508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954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4605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6256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7907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9558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1209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2860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4511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6162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7813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464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115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2766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417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068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7719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370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1021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2672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4323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20000" y="3873500"/>
            <a:ext cx="2032000" cy="0"/>
          </a:xfrm>
          <a:prstGeom prst="line">
            <a:avLst/>
          </a:prstGeom>
          <a:ln w="508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620000" y="4064000"/>
            <a:ext cx="2032000" cy="0"/>
          </a:xfrm>
          <a:prstGeom prst="line">
            <a:avLst/>
          </a:prstGeom>
          <a:ln w="50800">
            <a:solidFill>
              <a:srgbClr val="4276C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7089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8740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0391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2042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3693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344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6995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8646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0297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1948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3599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525000" y="3873500"/>
            <a:ext cx="0" cy="190500"/>
          </a:xfrm>
          <a:prstGeom prst="line">
            <a:avLst/>
          </a:prstGeom>
          <a:ln w="25400">
            <a:solidFill>
              <a:srgbClr val="DFEBEF"/>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2000" y="4508500"/>
            <a:ext cx="10668000" cy="701040"/>
          </a:xfrm>
          <a:prstGeom prst="rect">
            <a:avLst/>
          </a:prstGeom>
          <a:noFill/>
        </p:spPr>
        <p:txBody>
          <a:bodyPr wrap="none" lIns="0" rIns="0" tIns="0" bIns="0">
            <a:spAutoFit/>
          </a:bodyPr>
          <a:lstStyle/>
          <a:p>
            <a:pPr>
              <a:lnSpc>
                <a:spcPct val="115000"/>
              </a:lnSpc>
              <a:spcBef>
                <a:spcPts val="0"/>
              </a:spcBef>
              <a:spcAft>
                <a:spcPts val="0"/>
              </a:spcAft>
              <a:defRPr sz="2000" b="0">
                <a:solidFill>
                  <a:srgbClr val="183443"/>
                </a:solidFill>
                <a:latin typeface="DejaVu Sans"/>
              </a:defRPr>
            </a:pPr>
            <a:r>
              <a:t>Dilución: 2 µL de producto + 198 µL de agua. Transferir 2 µL equivale a 0,02 µL</a:t>
            </a:r>
          </a:p>
          <a:p>
            <a:pPr>
              <a:lnSpc>
                <a:spcPct val="115000"/>
              </a:lnSpc>
              <a:spcBef>
                <a:spcPts val="0"/>
              </a:spcBef>
              <a:spcAft>
                <a:spcPts val="0"/>
              </a:spcAft>
              <a:defRPr sz="2000" b="0">
                <a:solidFill>
                  <a:srgbClr val="183443"/>
                </a:solidFill>
                <a:latin typeface="DejaVu Sans"/>
              </a:defRPr>
            </a:pPr>
            <a:r>
              <a:t>del producto inicial.</a:t>
            </a:r>
          </a:p>
        </p:txBody>
      </p:sp>
      <p:sp>
        <p:nvSpPr>
          <p:cNvPr id="59" name="Rounded Rectangle 58"/>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Más manipulación y contaminación potencial; el resultado final no es cuantificación inicial.</a:t>
            </a:r>
          </a:p>
        </p:txBody>
      </p:sp>
      <p:sp>
        <p:nvSpPr>
          <p:cNvPr id="61" name="TextBox 60"/>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ESTRATEGIAS COMBINABLES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Hot-start, touchdown y alta fidelidad</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[3,5].</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36</a:t>
            </a:r>
          </a:p>
        </p:txBody>
      </p:sp>
      <p:sp>
        <p:nvSpPr>
          <p:cNvPr id="7" name="Rectangle 6"/>
          <p:cNvSpPr/>
          <p:nvPr/>
        </p:nvSpPr>
        <p:spPr>
          <a:xfrm>
            <a:off x="609600" y="1905000"/>
            <a:ext cx="2413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2184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Estrategia</a:t>
            </a:r>
          </a:p>
        </p:txBody>
      </p:sp>
      <p:sp>
        <p:nvSpPr>
          <p:cNvPr id="9" name="Rectangle 8"/>
          <p:cNvSpPr/>
          <p:nvPr/>
        </p:nvSpPr>
        <p:spPr>
          <a:xfrm>
            <a:off x="3022600" y="1905000"/>
            <a:ext cx="3429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36900" y="2006600"/>
            <a:ext cx="3200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Qué cambia</a:t>
            </a:r>
          </a:p>
        </p:txBody>
      </p:sp>
      <p:sp>
        <p:nvSpPr>
          <p:cNvPr id="11" name="Rectangle 10"/>
          <p:cNvSpPr/>
          <p:nvPr/>
        </p:nvSpPr>
        <p:spPr>
          <a:xfrm>
            <a:off x="6451600" y="1905000"/>
            <a:ext cx="5130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2006600"/>
            <a:ext cx="49022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Ejemplo de cálculo / preparación</a:t>
            </a:r>
          </a:p>
        </p:txBody>
      </p:sp>
      <p:sp>
        <p:nvSpPr>
          <p:cNvPr id="13" name="Rectangle 12"/>
          <p:cNvSpPr/>
          <p:nvPr/>
        </p:nvSpPr>
        <p:spPr>
          <a:xfrm>
            <a:off x="609600" y="2387600"/>
            <a:ext cx="24130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2184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Hot-start</a:t>
            </a:r>
          </a:p>
        </p:txBody>
      </p:sp>
      <p:sp>
        <p:nvSpPr>
          <p:cNvPr id="15" name="Rectangle 14"/>
          <p:cNvSpPr/>
          <p:nvPr/>
        </p:nvSpPr>
        <p:spPr>
          <a:xfrm>
            <a:off x="3022600" y="2387600"/>
            <a:ext cx="34290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6900" y="2476500"/>
            <a:ext cx="32004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Reduce actividad a baja</a:t>
            </a:r>
          </a:p>
          <a:p>
            <a:pPr>
              <a:lnSpc>
                <a:spcPct val="115000"/>
              </a:lnSpc>
              <a:spcBef>
                <a:spcPts val="0"/>
              </a:spcBef>
              <a:spcAft>
                <a:spcPts val="0"/>
              </a:spcAft>
              <a:defRPr sz="1600" b="0">
                <a:solidFill>
                  <a:srgbClr val="183443"/>
                </a:solidFill>
                <a:latin typeface="DejaVu Sans"/>
              </a:defRPr>
            </a:pPr>
            <a:r>
              <a:t>temperatura</a:t>
            </a:r>
          </a:p>
        </p:txBody>
      </p:sp>
      <p:sp>
        <p:nvSpPr>
          <p:cNvPr id="17" name="Rectangle 16"/>
          <p:cNvSpPr/>
          <p:nvPr/>
        </p:nvSpPr>
        <p:spPr>
          <a:xfrm>
            <a:off x="6451600" y="2387600"/>
            <a:ext cx="51308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65900" y="2476500"/>
            <a:ext cx="49022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La receta base no cambia si el mix es 2×;</a:t>
            </a:r>
          </a:p>
          <a:p>
            <a:pPr>
              <a:lnSpc>
                <a:spcPct val="115000"/>
              </a:lnSpc>
              <a:spcBef>
                <a:spcPts val="0"/>
              </a:spcBef>
              <a:spcAft>
                <a:spcPts val="0"/>
              </a:spcAft>
              <a:defRPr sz="1600" b="0">
                <a:solidFill>
                  <a:srgbClr val="183443"/>
                </a:solidFill>
                <a:latin typeface="DejaVu Sans"/>
              </a:defRPr>
            </a:pPr>
            <a:r>
              <a:t>añadir activación indicada</a:t>
            </a:r>
          </a:p>
        </p:txBody>
      </p:sp>
      <p:sp>
        <p:nvSpPr>
          <p:cNvPr id="19" name="Rectangle 18"/>
          <p:cNvSpPr/>
          <p:nvPr/>
        </p:nvSpPr>
        <p:spPr>
          <a:xfrm>
            <a:off x="609600" y="3107436"/>
            <a:ext cx="2413000" cy="71983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3196336"/>
            <a:ext cx="2184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Touchdown</a:t>
            </a:r>
          </a:p>
        </p:txBody>
      </p:sp>
      <p:sp>
        <p:nvSpPr>
          <p:cNvPr id="21" name="Rectangle 20"/>
          <p:cNvSpPr/>
          <p:nvPr/>
        </p:nvSpPr>
        <p:spPr>
          <a:xfrm>
            <a:off x="3022600" y="3107436"/>
            <a:ext cx="3429000" cy="71983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36900" y="3196336"/>
            <a:ext cx="320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Cambia el programa térmico</a:t>
            </a:r>
          </a:p>
        </p:txBody>
      </p:sp>
      <p:sp>
        <p:nvSpPr>
          <p:cNvPr id="23" name="Rectangle 22"/>
          <p:cNvSpPr/>
          <p:nvPr/>
        </p:nvSpPr>
        <p:spPr>
          <a:xfrm>
            <a:off x="6451600" y="3107436"/>
            <a:ext cx="5130800" cy="71983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65900" y="3196336"/>
            <a:ext cx="49022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68 → 60 °C en 9 ciclos, bajando 1 °C/ciclo;</a:t>
            </a:r>
          </a:p>
          <a:p>
            <a:pPr>
              <a:lnSpc>
                <a:spcPct val="115000"/>
              </a:lnSpc>
              <a:spcBef>
                <a:spcPts val="0"/>
              </a:spcBef>
              <a:spcAft>
                <a:spcPts val="0"/>
              </a:spcAft>
              <a:defRPr sz="1600" b="0">
                <a:solidFill>
                  <a:srgbClr val="183443"/>
                </a:solidFill>
                <a:latin typeface="DejaVu Sans"/>
              </a:defRPr>
            </a:pPr>
            <a:r>
              <a:t>luego ciclos a 60 °C</a:t>
            </a:r>
          </a:p>
        </p:txBody>
      </p:sp>
      <p:sp>
        <p:nvSpPr>
          <p:cNvPr id="25" name="Rectangle 24"/>
          <p:cNvSpPr/>
          <p:nvPr/>
        </p:nvSpPr>
        <p:spPr>
          <a:xfrm>
            <a:off x="609600" y="3827272"/>
            <a:ext cx="24130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916172"/>
            <a:ext cx="21844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Alta fidelidad /</a:t>
            </a:r>
          </a:p>
          <a:p>
            <a:pPr>
              <a:lnSpc>
                <a:spcPct val="115000"/>
              </a:lnSpc>
              <a:spcBef>
                <a:spcPts val="0"/>
              </a:spcBef>
              <a:spcAft>
                <a:spcPts val="0"/>
              </a:spcAft>
              <a:defRPr sz="1600" b="0">
                <a:solidFill>
                  <a:srgbClr val="183443"/>
                </a:solidFill>
                <a:latin typeface="DejaVu Sans"/>
              </a:defRPr>
            </a:pPr>
            <a:r>
              <a:t>long-range</a:t>
            </a:r>
          </a:p>
        </p:txBody>
      </p:sp>
      <p:sp>
        <p:nvSpPr>
          <p:cNvPr id="27" name="Rectangle 26"/>
          <p:cNvSpPr/>
          <p:nvPr/>
        </p:nvSpPr>
        <p:spPr>
          <a:xfrm>
            <a:off x="3022600" y="3827272"/>
            <a:ext cx="34290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36900" y="3916172"/>
            <a:ext cx="3200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Enzima, buffer y extensión</a:t>
            </a:r>
          </a:p>
        </p:txBody>
      </p:sp>
      <p:sp>
        <p:nvSpPr>
          <p:cNvPr id="29" name="Rectangle 28"/>
          <p:cNvSpPr/>
          <p:nvPr/>
        </p:nvSpPr>
        <p:spPr>
          <a:xfrm>
            <a:off x="6451600" y="3827272"/>
            <a:ext cx="5130800" cy="7198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900" y="3916172"/>
            <a:ext cx="4902200" cy="576072"/>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25 µL: mix 2× 12,5 + F/R 0,5 cada uno + ADN</a:t>
            </a:r>
          </a:p>
          <a:p>
            <a:pPr>
              <a:lnSpc>
                <a:spcPct val="115000"/>
              </a:lnSpc>
              <a:spcBef>
                <a:spcPts val="0"/>
              </a:spcBef>
              <a:spcAft>
                <a:spcPts val="0"/>
              </a:spcAft>
              <a:defRPr sz="1600" b="0">
                <a:solidFill>
                  <a:srgbClr val="183443"/>
                </a:solidFill>
                <a:latin typeface="DejaVu Sans"/>
              </a:defRPr>
            </a:pPr>
            <a:r>
              <a:t>2 + agua 9,5</a:t>
            </a:r>
          </a:p>
        </p:txBody>
      </p:sp>
      <p:sp>
        <p:nvSpPr>
          <p:cNvPr id="31" name="Rounded Rectangle 30"/>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Alta fidelidad: preferible al preparar insertos o amplicones destinados a secuenciación.</a:t>
            </a:r>
          </a:p>
        </p:txBody>
      </p:sp>
      <p:sp>
        <p:nvSpPr>
          <p:cNvPr id="33" name="TextBox 32"/>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PERSPECTIVA HISTÓRICA</a:t>
            </a:r>
          </a:p>
        </p:txBody>
      </p:sp>
      <p:sp>
        <p:nvSpPr>
          <p:cNvPr id="4" name="TextBox 3"/>
          <p:cNvSpPr txBox="1"/>
          <p:nvPr/>
        </p:nvSpPr>
        <p:spPr>
          <a:xfrm>
            <a:off x="609600" y="673100"/>
            <a:ext cx="10972800" cy="982218"/>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PCR competitiva: el puente histórico hacia</a:t>
            </a:r>
          </a:p>
          <a:p>
            <a:pPr>
              <a:lnSpc>
                <a:spcPct val="115000"/>
              </a:lnSpc>
              <a:spcBef>
                <a:spcPts val="0"/>
              </a:spcBef>
              <a:spcAft>
                <a:spcPts val="0"/>
              </a:spcAft>
              <a:defRPr sz="2900" b="1">
                <a:solidFill>
                  <a:srgbClr val="183443"/>
                </a:solidFill>
                <a:latin typeface="DejaVu Sans"/>
              </a:defRPr>
            </a:pPr>
            <a:r>
              <a:t>cuantificar</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Orlando, Pinzani y Pazzagli 1998 [1].</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37</a:t>
            </a:r>
          </a:p>
        </p:txBody>
      </p:sp>
      <p:sp>
        <p:nvSpPr>
          <p:cNvPr id="7" name="Rounded Rectangle 6"/>
          <p:cNvSpPr/>
          <p:nvPr/>
        </p:nvSpPr>
        <p:spPr>
          <a:xfrm>
            <a:off x="609600" y="1841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0066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425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Diana</a:t>
            </a:r>
          </a:p>
          <a:p>
            <a:pPr>
              <a:lnSpc>
                <a:spcPct val="115000"/>
              </a:lnSpc>
              <a:spcBef>
                <a:spcPts val="0"/>
              </a:spcBef>
              <a:spcAft>
                <a:spcPts val="0"/>
              </a:spcAft>
              <a:defRPr sz="1700" b="1">
                <a:solidFill>
                  <a:srgbClr val="183443"/>
                </a:solidFill>
                <a:latin typeface="DejaVu Sans"/>
              </a:defRPr>
            </a:pPr>
            <a:r>
              <a:t>desconocida</a:t>
            </a:r>
          </a:p>
        </p:txBody>
      </p:sp>
      <p:cxnSp>
        <p:nvCxnSpPr>
          <p:cNvPr id="10" name="Connector 9"/>
          <p:cNvCxnSpPr/>
          <p:nvPr/>
        </p:nvCxnSpPr>
        <p:spPr>
          <a:xfrm>
            <a:off x="4034366" y="2540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262966" y="2476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262966" y="2540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02666" y="1841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5066" y="20066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0466" y="2425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Competidor</a:t>
            </a:r>
          </a:p>
          <a:p>
            <a:pPr>
              <a:lnSpc>
                <a:spcPct val="115000"/>
              </a:lnSpc>
              <a:spcBef>
                <a:spcPts val="0"/>
              </a:spcBef>
              <a:spcAft>
                <a:spcPts val="0"/>
              </a:spcAft>
              <a:defRPr sz="1700" b="1">
                <a:solidFill>
                  <a:srgbClr val="183443"/>
                </a:solidFill>
                <a:latin typeface="DejaVu Sans"/>
              </a:defRPr>
            </a:pPr>
            <a:r>
              <a:t>conocido</a:t>
            </a:r>
          </a:p>
        </p:txBody>
      </p:sp>
      <p:cxnSp>
        <p:nvCxnSpPr>
          <p:cNvPr id="16" name="Connector 15"/>
          <p:cNvCxnSpPr/>
          <p:nvPr/>
        </p:nvCxnSpPr>
        <p:spPr>
          <a:xfrm>
            <a:off x="7827433" y="2540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56033" y="2476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056033" y="2540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195733" y="1841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48133" y="20066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73533" y="2425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Mismos primers</a:t>
            </a:r>
          </a:p>
          <a:p>
            <a:pPr>
              <a:lnSpc>
                <a:spcPct val="115000"/>
              </a:lnSpc>
              <a:spcBef>
                <a:spcPts val="0"/>
              </a:spcBef>
              <a:spcAft>
                <a:spcPts val="0"/>
              </a:spcAft>
              <a:defRPr sz="1700" b="1">
                <a:solidFill>
                  <a:srgbClr val="183443"/>
                </a:solidFill>
                <a:latin typeface="DejaVu Sans"/>
              </a:defRPr>
            </a:pPr>
            <a:r>
              <a:t>coamplificación</a:t>
            </a:r>
          </a:p>
        </p:txBody>
      </p:sp>
      <p:sp>
        <p:nvSpPr>
          <p:cNvPr id="22" name="TextBox 21"/>
          <p:cNvSpPr txBox="1"/>
          <p:nvPr/>
        </p:nvSpPr>
        <p:spPr>
          <a:xfrm>
            <a:off x="762000" y="3746500"/>
            <a:ext cx="10668000" cy="372999"/>
          </a:xfrm>
          <a:prstGeom prst="rect">
            <a:avLst/>
          </a:prstGeom>
          <a:noFill/>
        </p:spPr>
        <p:txBody>
          <a:bodyPr wrap="none" lIns="0" rIns="0" tIns="0" bIns="0">
            <a:spAutoFit/>
          </a:bodyPr>
          <a:lstStyle/>
          <a:p>
            <a:pPr>
              <a:lnSpc>
                <a:spcPct val="115000"/>
              </a:lnSpc>
              <a:spcBef>
                <a:spcPts val="0"/>
              </a:spcBef>
              <a:spcAft>
                <a:spcPts val="0"/>
              </a:spcAft>
              <a:defRPr sz="1900" b="0">
                <a:solidFill>
                  <a:srgbClr val="183443"/>
                </a:solidFill>
                <a:latin typeface="DejaVu Sans"/>
              </a:defRPr>
            </a:pPr>
            <a:r>
              <a:t>En 25 µL: mix 12,5 + F/R 0,5 cada uno + diana 2 + competidor 1 + agua 8 = 25 µL.</a:t>
            </a:r>
          </a:p>
        </p:txBody>
      </p:sp>
      <p:sp>
        <p:nvSpPr>
          <p:cNvPr id="23" name="TextBox 22"/>
          <p:cNvSpPr txBox="1"/>
          <p:nvPr/>
        </p:nvSpPr>
        <p:spPr>
          <a:xfrm>
            <a:off x="762000" y="4508500"/>
            <a:ext cx="10668000" cy="732282"/>
          </a:xfrm>
          <a:prstGeom prst="rect">
            <a:avLst/>
          </a:prstGeom>
          <a:noFill/>
        </p:spPr>
        <p:txBody>
          <a:bodyPr wrap="none" lIns="0" rIns="0" tIns="0" bIns="0">
            <a:spAutoFit/>
          </a:bodyPr>
          <a:lstStyle/>
          <a:p>
            <a:pPr>
              <a:lnSpc>
                <a:spcPct val="115000"/>
              </a:lnSpc>
              <a:spcBef>
                <a:spcPts val="0"/>
              </a:spcBef>
              <a:spcAft>
                <a:spcPts val="0"/>
              </a:spcAft>
              <a:defRPr sz="2100" b="1">
                <a:solidFill>
                  <a:srgbClr val="007F86"/>
                </a:solidFill>
                <a:latin typeface="DejaVu Sans"/>
              </a:defRPr>
            </a:pPr>
            <a:r>
              <a:t>Con razón molar diana/competidor = 2 y 1 000 copias de competidor</a:t>
            </a:r>
          </a:p>
          <a:p>
            <a:pPr>
              <a:lnSpc>
                <a:spcPct val="115000"/>
              </a:lnSpc>
              <a:spcBef>
                <a:spcPts val="0"/>
              </a:spcBef>
              <a:spcAft>
                <a:spcPts val="0"/>
              </a:spcAft>
              <a:defRPr sz="2100" b="1">
                <a:solidFill>
                  <a:srgbClr val="007F86"/>
                </a:solidFill>
                <a:latin typeface="DejaVu Sans"/>
              </a:defRPr>
            </a:pPr>
            <a:r>
              <a:t>→ ≈ 2 000 copias de diana.</a:t>
            </a:r>
          </a:p>
        </p:txBody>
      </p:sp>
      <p:sp>
        <p:nvSpPr>
          <p:cNvPr id="24" name="Rounded Rectangle 23"/>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Hoy tiene un papel principalmente histórico y especializado; no equivale a qPCR moderna.</a:t>
            </a:r>
          </a:p>
        </p:txBody>
      </p:sp>
      <p:sp>
        <p:nvSpPr>
          <p:cNvPr id="26" name="TextBox 25"/>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CONEXIÓN CON SECUENCIACIÓN</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PCR y secuenciación responden preguntas distintas</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[3–5]; Brown, Gene Cloning and DNA Analysis, 8.ª ed., 2020 [9].</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38</a:t>
            </a:r>
          </a:p>
        </p:txBody>
      </p:sp>
      <p:sp>
        <p:nvSpPr>
          <p:cNvPr id="7" name="Rounded Rectangle 6"/>
          <p:cNvSpPr/>
          <p:nvPr/>
        </p:nvSpPr>
        <p:spPr>
          <a:xfrm>
            <a:off x="609600" y="2222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2000" y="2387600"/>
            <a:ext cx="254000" cy="254000"/>
          </a:xfrm>
          <a:prstGeom prst="ellipse">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806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PCR</a:t>
            </a:r>
          </a:p>
          <a:p>
            <a:pPr>
              <a:lnSpc>
                <a:spcPct val="115000"/>
              </a:lnSpc>
              <a:spcBef>
                <a:spcPts val="0"/>
              </a:spcBef>
              <a:spcAft>
                <a:spcPts val="0"/>
              </a:spcAft>
              <a:defRPr sz="1700" b="1">
                <a:solidFill>
                  <a:srgbClr val="183443"/>
                </a:solidFill>
                <a:latin typeface="DejaVu Sans"/>
              </a:defRPr>
            </a:pPr>
            <a:r>
              <a:t>Enriquecer diana</a:t>
            </a:r>
          </a:p>
        </p:txBody>
      </p:sp>
      <p:cxnSp>
        <p:nvCxnSpPr>
          <p:cNvPr id="10" name="Connector 9"/>
          <p:cNvCxnSpPr/>
          <p:nvPr/>
        </p:nvCxnSpPr>
        <p:spPr>
          <a:xfrm>
            <a:off x="4034366" y="2921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262966"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4262966"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02666" y="2222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5066" y="2387600"/>
            <a:ext cx="254000" cy="254000"/>
          </a:xfrm>
          <a:prstGeom prst="ellipse">
            <a:avLst/>
          </a:prstGeom>
          <a:solidFill>
            <a:srgbClr val="4276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0466" y="2806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Secuenciación</a:t>
            </a:r>
          </a:p>
          <a:p>
            <a:pPr>
              <a:lnSpc>
                <a:spcPct val="115000"/>
              </a:lnSpc>
              <a:spcBef>
                <a:spcPts val="0"/>
              </a:spcBef>
              <a:spcAft>
                <a:spcPts val="0"/>
              </a:spcAft>
              <a:defRPr sz="1700" b="1">
                <a:solidFill>
                  <a:srgbClr val="183443"/>
                </a:solidFill>
                <a:latin typeface="DejaVu Sans"/>
              </a:defRPr>
            </a:pPr>
            <a:r>
              <a:t>Leer bases</a:t>
            </a:r>
          </a:p>
        </p:txBody>
      </p:sp>
      <p:cxnSp>
        <p:nvCxnSpPr>
          <p:cNvPr id="16" name="Connector 15"/>
          <p:cNvCxnSpPr/>
          <p:nvPr/>
        </p:nvCxnSpPr>
        <p:spPr>
          <a:xfrm>
            <a:off x="7827433" y="2921000"/>
            <a:ext cx="317500" cy="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56033" y="28575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056033" y="2921000"/>
            <a:ext cx="88900" cy="63500"/>
          </a:xfrm>
          <a:prstGeom prst="line">
            <a:avLst/>
          </a:prstGeom>
          <a:ln w="25400">
            <a:solidFill>
              <a:srgbClr val="007F86"/>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195733" y="2222500"/>
            <a:ext cx="3386666" cy="1397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48133" y="2387600"/>
            <a:ext cx="254000" cy="254000"/>
          </a:xfrm>
          <a:prstGeom prst="ellipse">
            <a:avLst/>
          </a:prstGeom>
          <a:solidFill>
            <a:srgbClr val="80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73533" y="2806700"/>
            <a:ext cx="3031066" cy="607314"/>
          </a:xfrm>
          <a:prstGeom prst="rect">
            <a:avLst/>
          </a:prstGeom>
          <a:noFill/>
        </p:spPr>
        <p:txBody>
          <a:bodyPr wrap="none" lIns="0" rIns="0" tIns="0" bIns="0">
            <a:spAutoFit/>
          </a:bodyPr>
          <a:lstStyle/>
          <a:p>
            <a:pPr>
              <a:lnSpc>
                <a:spcPct val="115000"/>
              </a:lnSpc>
              <a:spcBef>
                <a:spcPts val="0"/>
              </a:spcBef>
              <a:spcAft>
                <a:spcPts val="0"/>
              </a:spcAft>
              <a:defRPr sz="1700" b="1">
                <a:solidFill>
                  <a:srgbClr val="183443"/>
                </a:solidFill>
                <a:latin typeface="DejaVu Sans"/>
              </a:defRPr>
            </a:pPr>
            <a:r>
              <a:t>Bioinformática</a:t>
            </a:r>
          </a:p>
          <a:p>
            <a:pPr>
              <a:lnSpc>
                <a:spcPct val="115000"/>
              </a:lnSpc>
              <a:spcBef>
                <a:spcPts val="0"/>
              </a:spcBef>
              <a:spcAft>
                <a:spcPts val="0"/>
              </a:spcAft>
              <a:defRPr sz="1700" b="1">
                <a:solidFill>
                  <a:srgbClr val="183443"/>
                </a:solidFill>
                <a:latin typeface="DejaVu Sans"/>
              </a:defRPr>
            </a:pPr>
            <a:r>
              <a:t>Interpretar variantes</a:t>
            </a:r>
          </a:p>
        </p:txBody>
      </p:sp>
      <p:sp>
        <p:nvSpPr>
          <p:cNvPr id="22" name="TextBox 21"/>
          <p:cNvSpPr txBox="1"/>
          <p:nvPr/>
        </p:nvSpPr>
        <p:spPr>
          <a:xfrm>
            <a:off x="825500" y="4178300"/>
            <a:ext cx="4953000" cy="763524"/>
          </a:xfrm>
          <a:prstGeom prst="rect">
            <a:avLst/>
          </a:prstGeom>
          <a:noFill/>
        </p:spPr>
        <p:txBody>
          <a:bodyPr wrap="none" lIns="0" rIns="0" tIns="0" bIns="0">
            <a:spAutoFit/>
          </a:bodyPr>
          <a:lstStyle/>
          <a:p>
            <a:pPr>
              <a:lnSpc>
                <a:spcPct val="115000"/>
              </a:lnSpc>
              <a:spcBef>
                <a:spcPts val="0"/>
              </a:spcBef>
              <a:spcAft>
                <a:spcPts val="0"/>
              </a:spcAft>
              <a:defRPr sz="2200" b="1">
                <a:solidFill>
                  <a:srgbClr val="007F86"/>
                </a:solidFill>
                <a:latin typeface="DejaVu Sans"/>
              </a:defRPr>
            </a:pPr>
            <a:r>
              <a:t>qPCR / dPCR: ¿cuánto hay de</a:t>
            </a:r>
          </a:p>
          <a:p>
            <a:pPr>
              <a:lnSpc>
                <a:spcPct val="115000"/>
              </a:lnSpc>
              <a:spcBef>
                <a:spcPts val="0"/>
              </a:spcBef>
              <a:spcAft>
                <a:spcPts val="0"/>
              </a:spcAft>
              <a:defRPr sz="2200" b="1">
                <a:solidFill>
                  <a:srgbClr val="007F86"/>
                </a:solidFill>
                <a:latin typeface="DejaVu Sans"/>
              </a:defRPr>
            </a:pPr>
            <a:r>
              <a:t>una diana conocida?</a:t>
            </a:r>
          </a:p>
        </p:txBody>
      </p:sp>
      <p:sp>
        <p:nvSpPr>
          <p:cNvPr id="23" name="TextBox 22"/>
          <p:cNvSpPr txBox="1"/>
          <p:nvPr/>
        </p:nvSpPr>
        <p:spPr>
          <a:xfrm>
            <a:off x="6413500" y="4178300"/>
            <a:ext cx="4953000" cy="763524"/>
          </a:xfrm>
          <a:prstGeom prst="rect">
            <a:avLst/>
          </a:prstGeom>
          <a:noFill/>
        </p:spPr>
        <p:txBody>
          <a:bodyPr wrap="none" lIns="0" rIns="0" tIns="0" bIns="0">
            <a:spAutoFit/>
          </a:bodyPr>
          <a:lstStyle/>
          <a:p>
            <a:pPr>
              <a:lnSpc>
                <a:spcPct val="115000"/>
              </a:lnSpc>
              <a:spcBef>
                <a:spcPts val="0"/>
              </a:spcBef>
              <a:spcAft>
                <a:spcPts val="0"/>
              </a:spcAft>
              <a:defRPr sz="2200" b="1">
                <a:solidFill>
                  <a:srgbClr val="4276C8"/>
                </a:solidFill>
                <a:latin typeface="DejaVu Sans"/>
              </a:defRPr>
            </a:pPr>
            <a:r>
              <a:t>Secuenciación: ¿qué secuencia</a:t>
            </a:r>
          </a:p>
          <a:p>
            <a:pPr>
              <a:lnSpc>
                <a:spcPct val="115000"/>
              </a:lnSpc>
              <a:spcBef>
                <a:spcPts val="0"/>
              </a:spcBef>
              <a:spcAft>
                <a:spcPts val="0"/>
              </a:spcAft>
              <a:defRPr sz="2200" b="1">
                <a:solidFill>
                  <a:srgbClr val="4276C8"/>
                </a:solidFill>
                <a:latin typeface="DejaVu Sans"/>
              </a:defRPr>
            </a:pPr>
            <a:r>
              <a:t>y qué variantes contiene?</a:t>
            </a:r>
          </a:p>
        </p:txBody>
      </p:sp>
      <p:sp>
        <p:nvSpPr>
          <p:cNvPr id="24" name="Rounded Rectangle 23"/>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La PCR no descubre por sí sola variantes fuera de las regiones que reconoce el ensayo.</a:t>
            </a:r>
          </a:p>
        </p:txBody>
      </p:sp>
      <p:sp>
        <p:nvSpPr>
          <p:cNvPr id="26" name="TextBox 25"/>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MEZCLAS Y CÁLCULOS</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Ejemplo de PCR de índices para una biblioteca</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[5,9]; ejemplo de formulación docente, no protocolo de plataforma.</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39</a:t>
            </a:r>
          </a:p>
        </p:txBody>
      </p:sp>
      <p:sp>
        <p:nvSpPr>
          <p:cNvPr id="7" name="Rectangle 6"/>
          <p:cNvSpPr/>
          <p:nvPr/>
        </p:nvSpPr>
        <p:spPr>
          <a:xfrm>
            <a:off x="609600" y="1905000"/>
            <a:ext cx="5588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5359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PCR de índices · 25 µL</a:t>
            </a:r>
          </a:p>
        </p:txBody>
      </p:sp>
      <p:sp>
        <p:nvSpPr>
          <p:cNvPr id="9" name="Rectangle 8"/>
          <p:cNvSpPr/>
          <p:nvPr/>
        </p:nvSpPr>
        <p:spPr>
          <a:xfrm>
            <a:off x="6197600" y="1905000"/>
            <a:ext cx="2286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1900" y="2006600"/>
            <a:ext cx="20574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Volumen</a:t>
            </a:r>
          </a:p>
        </p:txBody>
      </p:sp>
      <p:sp>
        <p:nvSpPr>
          <p:cNvPr id="11" name="Rectangle 10"/>
          <p:cNvSpPr/>
          <p:nvPr/>
        </p:nvSpPr>
        <p:spPr>
          <a:xfrm>
            <a:off x="8483600" y="1905000"/>
            <a:ext cx="3098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7900" y="2006600"/>
            <a:ext cx="2870200" cy="326136"/>
          </a:xfrm>
          <a:prstGeom prst="rect">
            <a:avLst/>
          </a:prstGeom>
          <a:noFill/>
        </p:spPr>
        <p:txBody>
          <a:bodyPr wrap="none" lIns="0" rIns="0" tIns="0" bIns="0">
            <a:spAutoFit/>
          </a:bodyPr>
          <a:lstStyle/>
          <a:p>
            <a:pPr>
              <a:lnSpc>
                <a:spcPct val="115000"/>
              </a:lnSpc>
              <a:spcBef>
                <a:spcPts val="0"/>
              </a:spcBef>
              <a:spcAft>
                <a:spcPts val="0"/>
              </a:spcAft>
              <a:defRPr sz="1600" b="1">
                <a:solidFill>
                  <a:srgbClr val="FFFFFF"/>
                </a:solidFill>
                <a:latin typeface="DejaVu Sans"/>
              </a:defRPr>
            </a:pPr>
            <a:r>
              <a:t>Final</a:t>
            </a:r>
          </a:p>
        </p:txBody>
      </p:sp>
      <p:sp>
        <p:nvSpPr>
          <p:cNvPr id="13" name="Rectangle 12"/>
          <p:cNvSpPr/>
          <p:nvPr/>
        </p:nvSpPr>
        <p:spPr>
          <a:xfrm>
            <a:off x="609600" y="2387600"/>
            <a:ext cx="5588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5359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Mix de alta fidelidad 2×</a:t>
            </a:r>
          </a:p>
        </p:txBody>
      </p:sp>
      <p:sp>
        <p:nvSpPr>
          <p:cNvPr id="15" name="Rectangle 14"/>
          <p:cNvSpPr/>
          <p:nvPr/>
        </p:nvSpPr>
        <p:spPr>
          <a:xfrm>
            <a:off x="6197600" y="2387600"/>
            <a:ext cx="2286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1900" y="2476500"/>
            <a:ext cx="205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12,5 µL</a:t>
            </a:r>
          </a:p>
        </p:txBody>
      </p:sp>
      <p:sp>
        <p:nvSpPr>
          <p:cNvPr id="17" name="Rectangle 16"/>
          <p:cNvSpPr/>
          <p:nvPr/>
        </p:nvSpPr>
        <p:spPr>
          <a:xfrm>
            <a:off x="8483600" y="2387600"/>
            <a:ext cx="309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7900" y="2476500"/>
            <a:ext cx="287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a:t>
            </a:r>
          </a:p>
        </p:txBody>
      </p:sp>
      <p:sp>
        <p:nvSpPr>
          <p:cNvPr id="19" name="Rectangle 18"/>
          <p:cNvSpPr/>
          <p:nvPr/>
        </p:nvSpPr>
        <p:spPr>
          <a:xfrm>
            <a:off x="609600" y="2870200"/>
            <a:ext cx="5588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2959100"/>
            <a:ext cx="5359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Primer índice F 10 µM</a:t>
            </a:r>
          </a:p>
        </p:txBody>
      </p:sp>
      <p:sp>
        <p:nvSpPr>
          <p:cNvPr id="21" name="Rectangle 20"/>
          <p:cNvSpPr/>
          <p:nvPr/>
        </p:nvSpPr>
        <p:spPr>
          <a:xfrm>
            <a:off x="6197600" y="2870200"/>
            <a:ext cx="2286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00" y="2959100"/>
            <a:ext cx="205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1,25 µL</a:t>
            </a:r>
          </a:p>
        </p:txBody>
      </p:sp>
      <p:sp>
        <p:nvSpPr>
          <p:cNvPr id="23" name="Rectangle 22"/>
          <p:cNvSpPr/>
          <p:nvPr/>
        </p:nvSpPr>
        <p:spPr>
          <a:xfrm>
            <a:off x="8483600" y="2870200"/>
            <a:ext cx="3098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7900" y="2959100"/>
            <a:ext cx="287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0,5 µM</a:t>
            </a:r>
          </a:p>
        </p:txBody>
      </p:sp>
      <p:sp>
        <p:nvSpPr>
          <p:cNvPr id="25" name="Rectangle 24"/>
          <p:cNvSpPr/>
          <p:nvPr/>
        </p:nvSpPr>
        <p:spPr>
          <a:xfrm>
            <a:off x="609600" y="3352800"/>
            <a:ext cx="5588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441700"/>
            <a:ext cx="5359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Primer índice R 10 µM</a:t>
            </a:r>
          </a:p>
        </p:txBody>
      </p:sp>
      <p:sp>
        <p:nvSpPr>
          <p:cNvPr id="27" name="Rectangle 26"/>
          <p:cNvSpPr/>
          <p:nvPr/>
        </p:nvSpPr>
        <p:spPr>
          <a:xfrm>
            <a:off x="6197600" y="3352800"/>
            <a:ext cx="2286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11900" y="3441700"/>
            <a:ext cx="205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1,25 µL</a:t>
            </a:r>
          </a:p>
        </p:txBody>
      </p:sp>
      <p:sp>
        <p:nvSpPr>
          <p:cNvPr id="29" name="Rectangle 28"/>
          <p:cNvSpPr/>
          <p:nvPr/>
        </p:nvSpPr>
        <p:spPr>
          <a:xfrm>
            <a:off x="8483600" y="3352800"/>
            <a:ext cx="309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7900" y="3441700"/>
            <a:ext cx="287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0,5 µM</a:t>
            </a:r>
          </a:p>
        </p:txBody>
      </p:sp>
      <p:sp>
        <p:nvSpPr>
          <p:cNvPr id="31" name="Rectangle 30"/>
          <p:cNvSpPr/>
          <p:nvPr/>
        </p:nvSpPr>
        <p:spPr>
          <a:xfrm>
            <a:off x="609600" y="3835400"/>
            <a:ext cx="5588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3924300"/>
            <a:ext cx="5359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Amplicón purificado</a:t>
            </a:r>
          </a:p>
        </p:txBody>
      </p:sp>
      <p:sp>
        <p:nvSpPr>
          <p:cNvPr id="33" name="Rectangle 32"/>
          <p:cNvSpPr/>
          <p:nvPr/>
        </p:nvSpPr>
        <p:spPr>
          <a:xfrm>
            <a:off x="6197600" y="3835400"/>
            <a:ext cx="2286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11900" y="3924300"/>
            <a:ext cx="205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5,0 µL</a:t>
            </a:r>
          </a:p>
        </p:txBody>
      </p:sp>
      <p:sp>
        <p:nvSpPr>
          <p:cNvPr id="35" name="Rectangle 34"/>
          <p:cNvSpPr/>
          <p:nvPr/>
        </p:nvSpPr>
        <p:spPr>
          <a:xfrm>
            <a:off x="8483600" y="3835400"/>
            <a:ext cx="3098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97900" y="3924300"/>
            <a:ext cx="287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Cantidad validada</a:t>
            </a:r>
          </a:p>
        </p:txBody>
      </p:sp>
      <p:sp>
        <p:nvSpPr>
          <p:cNvPr id="37" name="Rectangle 36"/>
          <p:cNvSpPr/>
          <p:nvPr/>
        </p:nvSpPr>
        <p:spPr>
          <a:xfrm>
            <a:off x="609600" y="4318000"/>
            <a:ext cx="5588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3900" y="4406900"/>
            <a:ext cx="5359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Agua</a:t>
            </a:r>
          </a:p>
        </p:txBody>
      </p:sp>
      <p:sp>
        <p:nvSpPr>
          <p:cNvPr id="39" name="Rectangle 38"/>
          <p:cNvSpPr/>
          <p:nvPr/>
        </p:nvSpPr>
        <p:spPr>
          <a:xfrm>
            <a:off x="6197600" y="4318000"/>
            <a:ext cx="2286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11900" y="4406900"/>
            <a:ext cx="20574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5,0 µL</a:t>
            </a:r>
          </a:p>
        </p:txBody>
      </p:sp>
      <p:sp>
        <p:nvSpPr>
          <p:cNvPr id="41" name="Rectangle 40"/>
          <p:cNvSpPr/>
          <p:nvPr/>
        </p:nvSpPr>
        <p:spPr>
          <a:xfrm>
            <a:off x="8483600" y="4318000"/>
            <a:ext cx="309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97900" y="4406900"/>
            <a:ext cx="2870200" cy="326136"/>
          </a:xfrm>
          <a:prstGeom prst="rect">
            <a:avLst/>
          </a:prstGeom>
          <a:noFill/>
        </p:spPr>
        <p:txBody>
          <a:bodyPr wrap="none" lIns="0" rIns="0" tIns="0" bIns="0">
            <a:spAutoFit/>
          </a:bodyPr>
          <a:lstStyle/>
          <a:p>
            <a:pPr>
              <a:lnSpc>
                <a:spcPct val="115000"/>
              </a:lnSpc>
              <a:spcBef>
                <a:spcPts val="0"/>
              </a:spcBef>
              <a:spcAft>
                <a:spcPts val="0"/>
              </a:spcAft>
              <a:defRPr sz="1600" b="0">
                <a:solidFill>
                  <a:srgbClr val="183443"/>
                </a:solidFill>
                <a:latin typeface="DejaVu Sans"/>
              </a:defRPr>
            </a:pPr>
            <a:r>
              <a:t>Total: 25 µL</a:t>
            </a:r>
          </a:p>
        </p:txBody>
      </p:sp>
      <p:sp>
        <p:nvSpPr>
          <p:cNvPr id="43" name="Rounded Rectangle 42"/>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El índice identifica una muestra; no identifica automáticamente cada molécula original.</a:t>
            </a:r>
          </a:p>
        </p:txBody>
      </p:sp>
      <p:sp>
        <p:nvSpPr>
          <p:cNvPr id="45" name="TextBox 4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CÁLCULOS PARA SECUENCIACIÓN</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Normalizar bibliotecas por moléculas, no por masa</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[5,9]; ejemplo para ADN de doble hebra.</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40</a:t>
            </a:r>
          </a:p>
        </p:txBody>
      </p:sp>
      <p:sp>
        <p:nvSpPr>
          <p:cNvPr id="7" name="TextBox 6"/>
          <p:cNvSpPr txBox="1"/>
          <p:nvPr/>
        </p:nvSpPr>
        <p:spPr>
          <a:xfrm>
            <a:off x="698500" y="1816100"/>
            <a:ext cx="10795000" cy="451103"/>
          </a:xfrm>
          <a:prstGeom prst="rect">
            <a:avLst/>
          </a:prstGeom>
          <a:noFill/>
        </p:spPr>
        <p:txBody>
          <a:bodyPr wrap="none" lIns="0" rIns="0" tIns="0" bIns="0">
            <a:spAutoFit/>
          </a:bodyPr>
          <a:lstStyle/>
          <a:p>
            <a:pPr>
              <a:lnSpc>
                <a:spcPct val="115000"/>
              </a:lnSpc>
              <a:spcBef>
                <a:spcPts val="0"/>
              </a:spcBef>
              <a:spcAft>
                <a:spcPts val="0"/>
              </a:spcAft>
              <a:defRPr sz="2400" b="1">
                <a:solidFill>
                  <a:srgbClr val="007F86"/>
                </a:solidFill>
                <a:latin typeface="DejaVu Sans"/>
              </a:defRPr>
            </a:pPr>
            <a:r>
              <a:t>nM = [ng/µL × 10⁶] / [660 × longitud total en pb]</a:t>
            </a:r>
          </a:p>
        </p:txBody>
      </p:sp>
      <p:sp>
        <p:nvSpPr>
          <p:cNvPr id="8" name="Rectangle 7"/>
          <p:cNvSpPr/>
          <p:nvPr/>
        </p:nvSpPr>
        <p:spPr>
          <a:xfrm>
            <a:off x="609600" y="2730500"/>
            <a:ext cx="23495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3900" y="2832100"/>
            <a:ext cx="2120900" cy="341757"/>
          </a:xfrm>
          <a:prstGeom prst="rect">
            <a:avLst/>
          </a:prstGeom>
          <a:noFill/>
        </p:spPr>
        <p:txBody>
          <a:bodyPr wrap="none" lIns="0" rIns="0" tIns="0" bIns="0">
            <a:spAutoFit/>
          </a:bodyPr>
          <a:lstStyle/>
          <a:p>
            <a:pPr>
              <a:lnSpc>
                <a:spcPct val="115000"/>
              </a:lnSpc>
              <a:spcBef>
                <a:spcPts val="0"/>
              </a:spcBef>
              <a:spcAft>
                <a:spcPts val="0"/>
              </a:spcAft>
              <a:defRPr sz="1700" b="1">
                <a:solidFill>
                  <a:srgbClr val="FFFFFF"/>
                </a:solidFill>
                <a:latin typeface="DejaVu Sans"/>
              </a:defRPr>
            </a:pPr>
            <a:r>
              <a:t>Biblioteca</a:t>
            </a:r>
          </a:p>
        </p:txBody>
      </p:sp>
      <p:sp>
        <p:nvSpPr>
          <p:cNvPr id="10" name="Rectangle 9"/>
          <p:cNvSpPr/>
          <p:nvPr/>
        </p:nvSpPr>
        <p:spPr>
          <a:xfrm>
            <a:off x="2959100" y="2730500"/>
            <a:ext cx="31115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73400" y="2832100"/>
            <a:ext cx="2882900" cy="341757"/>
          </a:xfrm>
          <a:prstGeom prst="rect">
            <a:avLst/>
          </a:prstGeom>
          <a:noFill/>
        </p:spPr>
        <p:txBody>
          <a:bodyPr wrap="none" lIns="0" rIns="0" tIns="0" bIns="0">
            <a:spAutoFit/>
          </a:bodyPr>
          <a:lstStyle/>
          <a:p>
            <a:pPr>
              <a:lnSpc>
                <a:spcPct val="115000"/>
              </a:lnSpc>
              <a:spcBef>
                <a:spcPts val="0"/>
              </a:spcBef>
              <a:spcAft>
                <a:spcPts val="0"/>
              </a:spcAft>
              <a:defRPr sz="1700" b="1">
                <a:solidFill>
                  <a:srgbClr val="FFFFFF"/>
                </a:solidFill>
                <a:latin typeface="DejaVu Sans"/>
              </a:defRPr>
            </a:pPr>
            <a:r>
              <a:t>Concentración</a:t>
            </a:r>
          </a:p>
        </p:txBody>
      </p:sp>
      <p:sp>
        <p:nvSpPr>
          <p:cNvPr id="12" name="Rectangle 11"/>
          <p:cNvSpPr/>
          <p:nvPr/>
        </p:nvSpPr>
        <p:spPr>
          <a:xfrm>
            <a:off x="6070600" y="2730500"/>
            <a:ext cx="2921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4900" y="2832100"/>
            <a:ext cx="2692400" cy="341757"/>
          </a:xfrm>
          <a:prstGeom prst="rect">
            <a:avLst/>
          </a:prstGeom>
          <a:noFill/>
        </p:spPr>
        <p:txBody>
          <a:bodyPr wrap="none" lIns="0" rIns="0" tIns="0" bIns="0">
            <a:spAutoFit/>
          </a:bodyPr>
          <a:lstStyle/>
          <a:p>
            <a:pPr>
              <a:lnSpc>
                <a:spcPct val="115000"/>
              </a:lnSpc>
              <a:spcBef>
                <a:spcPts val="0"/>
              </a:spcBef>
              <a:spcAft>
                <a:spcPts val="0"/>
              </a:spcAft>
              <a:defRPr sz="1700" b="1">
                <a:solidFill>
                  <a:srgbClr val="FFFFFF"/>
                </a:solidFill>
                <a:latin typeface="DejaVu Sans"/>
              </a:defRPr>
            </a:pPr>
            <a:r>
              <a:t>Longitud total</a:t>
            </a:r>
          </a:p>
        </p:txBody>
      </p:sp>
      <p:sp>
        <p:nvSpPr>
          <p:cNvPr id="14" name="Rectangle 13"/>
          <p:cNvSpPr/>
          <p:nvPr/>
        </p:nvSpPr>
        <p:spPr>
          <a:xfrm>
            <a:off x="8991600" y="2730500"/>
            <a:ext cx="2590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5900" y="2832100"/>
            <a:ext cx="2362200" cy="341757"/>
          </a:xfrm>
          <a:prstGeom prst="rect">
            <a:avLst/>
          </a:prstGeom>
          <a:noFill/>
        </p:spPr>
        <p:txBody>
          <a:bodyPr wrap="none" lIns="0" rIns="0" tIns="0" bIns="0">
            <a:spAutoFit/>
          </a:bodyPr>
          <a:lstStyle/>
          <a:p>
            <a:pPr>
              <a:lnSpc>
                <a:spcPct val="115000"/>
              </a:lnSpc>
              <a:spcBef>
                <a:spcPts val="0"/>
              </a:spcBef>
              <a:spcAft>
                <a:spcPts val="0"/>
              </a:spcAft>
              <a:defRPr sz="1700" b="1">
                <a:solidFill>
                  <a:srgbClr val="FFFFFF"/>
                </a:solidFill>
                <a:latin typeface="DejaVu Sans"/>
              </a:defRPr>
            </a:pPr>
            <a:r>
              <a:t>Molaridad</a:t>
            </a:r>
          </a:p>
        </p:txBody>
      </p:sp>
      <p:sp>
        <p:nvSpPr>
          <p:cNvPr id="16" name="Rectangle 15"/>
          <p:cNvSpPr/>
          <p:nvPr/>
        </p:nvSpPr>
        <p:spPr>
          <a:xfrm>
            <a:off x="609600" y="3213100"/>
            <a:ext cx="2349500" cy="4836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900" y="3302000"/>
            <a:ext cx="21209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A</a:t>
            </a:r>
          </a:p>
        </p:txBody>
      </p:sp>
      <p:sp>
        <p:nvSpPr>
          <p:cNvPr id="18" name="Rectangle 17"/>
          <p:cNvSpPr/>
          <p:nvPr/>
        </p:nvSpPr>
        <p:spPr>
          <a:xfrm>
            <a:off x="2959100" y="3213100"/>
            <a:ext cx="3111500" cy="4836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73400" y="3302000"/>
            <a:ext cx="28829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10 ng/µL</a:t>
            </a:r>
          </a:p>
        </p:txBody>
      </p:sp>
      <p:sp>
        <p:nvSpPr>
          <p:cNvPr id="20" name="Rectangle 19"/>
          <p:cNvSpPr/>
          <p:nvPr/>
        </p:nvSpPr>
        <p:spPr>
          <a:xfrm>
            <a:off x="6070600" y="3213100"/>
            <a:ext cx="2921000" cy="4836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4900" y="3302000"/>
            <a:ext cx="26924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500 pb</a:t>
            </a:r>
          </a:p>
        </p:txBody>
      </p:sp>
      <p:sp>
        <p:nvSpPr>
          <p:cNvPr id="22" name="Rectangle 21"/>
          <p:cNvSpPr/>
          <p:nvPr/>
        </p:nvSpPr>
        <p:spPr>
          <a:xfrm>
            <a:off x="8991600" y="3213100"/>
            <a:ext cx="2590800" cy="4836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5900" y="3302000"/>
            <a:ext cx="23622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30,3 nM</a:t>
            </a:r>
          </a:p>
        </p:txBody>
      </p:sp>
      <p:sp>
        <p:nvSpPr>
          <p:cNvPr id="24" name="Rectangle 23"/>
          <p:cNvSpPr/>
          <p:nvPr/>
        </p:nvSpPr>
        <p:spPr>
          <a:xfrm>
            <a:off x="609600" y="3696716"/>
            <a:ext cx="2349500" cy="48361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900" y="3785616"/>
            <a:ext cx="21209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B</a:t>
            </a:r>
          </a:p>
        </p:txBody>
      </p:sp>
      <p:sp>
        <p:nvSpPr>
          <p:cNvPr id="26" name="Rectangle 25"/>
          <p:cNvSpPr/>
          <p:nvPr/>
        </p:nvSpPr>
        <p:spPr>
          <a:xfrm>
            <a:off x="2959100" y="3696716"/>
            <a:ext cx="3111500" cy="48361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73400" y="3785616"/>
            <a:ext cx="28829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10 ng/µL</a:t>
            </a:r>
          </a:p>
        </p:txBody>
      </p:sp>
      <p:sp>
        <p:nvSpPr>
          <p:cNvPr id="28" name="Rectangle 27"/>
          <p:cNvSpPr/>
          <p:nvPr/>
        </p:nvSpPr>
        <p:spPr>
          <a:xfrm>
            <a:off x="6070600" y="3696716"/>
            <a:ext cx="2921000" cy="48361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84900" y="3785616"/>
            <a:ext cx="26924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1 000 pb</a:t>
            </a:r>
          </a:p>
        </p:txBody>
      </p:sp>
      <p:sp>
        <p:nvSpPr>
          <p:cNvPr id="30" name="Rectangle 29"/>
          <p:cNvSpPr/>
          <p:nvPr/>
        </p:nvSpPr>
        <p:spPr>
          <a:xfrm>
            <a:off x="8991600" y="3696716"/>
            <a:ext cx="2590800" cy="483616"/>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05900" y="3785616"/>
            <a:ext cx="2362200" cy="341757"/>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15,15 nM</a:t>
            </a:r>
          </a:p>
        </p:txBody>
      </p:sp>
      <p:sp>
        <p:nvSpPr>
          <p:cNvPr id="32" name="TextBox 31"/>
          <p:cNvSpPr txBox="1"/>
          <p:nvPr/>
        </p:nvSpPr>
        <p:spPr>
          <a:xfrm>
            <a:off x="698500" y="4495800"/>
            <a:ext cx="10795000" cy="701040"/>
          </a:xfrm>
          <a:prstGeom prst="rect">
            <a:avLst/>
          </a:prstGeom>
          <a:noFill/>
        </p:spPr>
        <p:txBody>
          <a:bodyPr wrap="none" lIns="0" rIns="0" tIns="0" bIns="0">
            <a:spAutoFit/>
          </a:bodyPr>
          <a:lstStyle/>
          <a:p>
            <a:pPr>
              <a:lnSpc>
                <a:spcPct val="115000"/>
              </a:lnSpc>
              <a:spcBef>
                <a:spcPts val="0"/>
              </a:spcBef>
              <a:spcAft>
                <a:spcPts val="0"/>
              </a:spcAft>
              <a:defRPr sz="2000" b="0">
                <a:solidFill>
                  <a:srgbClr val="183443"/>
                </a:solidFill>
                <a:latin typeface="DejaVu Sans"/>
              </a:defRPr>
            </a:pPr>
            <a:r>
              <a:t>Para 20 µL de A a 4 nM: V₁ = (4 × 20) / 30,3 = 2,64 µL; añadir 17,36 µL de</a:t>
            </a:r>
          </a:p>
          <a:p>
            <a:pPr>
              <a:lnSpc>
                <a:spcPct val="115000"/>
              </a:lnSpc>
              <a:spcBef>
                <a:spcPts val="0"/>
              </a:spcBef>
              <a:spcAft>
                <a:spcPts val="0"/>
              </a:spcAft>
              <a:defRPr sz="2000" b="0">
                <a:solidFill>
                  <a:srgbClr val="183443"/>
                </a:solidFill>
                <a:latin typeface="DejaVu Sans"/>
              </a:defRPr>
            </a:pPr>
            <a:r>
              <a:t>diluyente.</a:t>
            </a:r>
          </a:p>
        </p:txBody>
      </p:sp>
      <p:sp>
        <p:nvSpPr>
          <p:cNvPr id="33" name="Rounded Rectangle 32"/>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Para aportar las mismas moléculas sin diluir: volumen B = 2 × volumen A.</a:t>
            </a:r>
          </a:p>
        </p:txBody>
      </p:sp>
      <p:sp>
        <p:nvSpPr>
          <p:cNvPr id="35" name="TextBox 3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INTERPRETACIÓN</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Errores que la secuenciación también hereda</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[3–5,9].</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41</a:t>
            </a:r>
          </a:p>
        </p:txBody>
      </p:sp>
      <p:sp>
        <p:nvSpPr>
          <p:cNvPr id="7" name="Rectangle 6"/>
          <p:cNvSpPr/>
          <p:nvPr/>
        </p:nvSpPr>
        <p:spPr>
          <a:xfrm>
            <a:off x="609600" y="1905000"/>
            <a:ext cx="2794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2565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Problema</a:t>
            </a:r>
          </a:p>
        </p:txBody>
      </p:sp>
      <p:sp>
        <p:nvSpPr>
          <p:cNvPr id="9" name="Rectangle 8"/>
          <p:cNvSpPr/>
          <p:nvPr/>
        </p:nvSpPr>
        <p:spPr>
          <a:xfrm>
            <a:off x="3403600" y="1905000"/>
            <a:ext cx="38100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17900" y="2006600"/>
            <a:ext cx="35814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Consecuencia</a:t>
            </a:r>
          </a:p>
        </p:txBody>
      </p:sp>
      <p:sp>
        <p:nvSpPr>
          <p:cNvPr id="11" name="Rectangle 10"/>
          <p:cNvSpPr/>
          <p:nvPr/>
        </p:nvSpPr>
        <p:spPr>
          <a:xfrm>
            <a:off x="7213600" y="1905000"/>
            <a:ext cx="4368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27900" y="2006600"/>
            <a:ext cx="41402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Qué revisar</a:t>
            </a:r>
          </a:p>
        </p:txBody>
      </p:sp>
      <p:sp>
        <p:nvSpPr>
          <p:cNvPr id="13" name="Rectangle 12"/>
          <p:cNvSpPr/>
          <p:nvPr/>
        </p:nvSpPr>
        <p:spPr>
          <a:xfrm>
            <a:off x="609600" y="2387600"/>
            <a:ext cx="2794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256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Desajuste de primer</a:t>
            </a:r>
          </a:p>
        </p:txBody>
      </p:sp>
      <p:sp>
        <p:nvSpPr>
          <p:cNvPr id="15" name="Rectangle 14"/>
          <p:cNvSpPr/>
          <p:nvPr/>
        </p:nvSpPr>
        <p:spPr>
          <a:xfrm>
            <a:off x="3403600" y="2387600"/>
            <a:ext cx="38100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7900" y="247650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Pérdida de alelo / taxón</a:t>
            </a:r>
          </a:p>
        </p:txBody>
      </p:sp>
      <p:sp>
        <p:nvSpPr>
          <p:cNvPr id="17" name="Rectangle 16"/>
          <p:cNvSpPr/>
          <p:nvPr/>
        </p:nvSpPr>
        <p:spPr>
          <a:xfrm>
            <a:off x="7213600" y="2387600"/>
            <a:ext cx="43688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27900" y="2476500"/>
            <a:ext cx="4140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Variantes en sitios de unión</a:t>
            </a:r>
          </a:p>
        </p:txBody>
      </p:sp>
      <p:sp>
        <p:nvSpPr>
          <p:cNvPr id="19" name="Rectangle 18"/>
          <p:cNvSpPr/>
          <p:nvPr/>
        </p:nvSpPr>
        <p:spPr>
          <a:xfrm>
            <a:off x="609600" y="2870200"/>
            <a:ext cx="27940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2959100"/>
            <a:ext cx="256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Demasiados ciclos</a:t>
            </a:r>
          </a:p>
        </p:txBody>
      </p:sp>
      <p:sp>
        <p:nvSpPr>
          <p:cNvPr id="21" name="Rectangle 20"/>
          <p:cNvSpPr/>
          <p:nvPr/>
        </p:nvSpPr>
        <p:spPr>
          <a:xfrm>
            <a:off x="3403600" y="2870200"/>
            <a:ext cx="38100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7900" y="295910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Quimeras y duplicados</a:t>
            </a:r>
          </a:p>
        </p:txBody>
      </p:sp>
      <p:sp>
        <p:nvSpPr>
          <p:cNvPr id="23" name="Rectangle 22"/>
          <p:cNvSpPr/>
          <p:nvPr/>
        </p:nvSpPr>
        <p:spPr>
          <a:xfrm>
            <a:off x="7213600" y="2870200"/>
            <a:ext cx="43688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27900" y="2959100"/>
            <a:ext cx="4140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Entrada suficiente; ciclos mínimos</a:t>
            </a:r>
          </a:p>
          <a:p>
            <a:pPr>
              <a:lnSpc>
                <a:spcPct val="115000"/>
              </a:lnSpc>
              <a:spcBef>
                <a:spcPts val="0"/>
              </a:spcBef>
              <a:spcAft>
                <a:spcPts val="0"/>
              </a:spcAft>
              <a:defRPr sz="1500" b="0">
                <a:solidFill>
                  <a:srgbClr val="183443"/>
                </a:solidFill>
                <a:latin typeface="DejaVu Sans"/>
              </a:defRPr>
            </a:pPr>
            <a:r>
              <a:t>validados</a:t>
            </a:r>
          </a:p>
        </p:txBody>
      </p:sp>
      <p:sp>
        <p:nvSpPr>
          <p:cNvPr id="25" name="Rectangle 24"/>
          <p:cNvSpPr/>
          <p:nvPr/>
        </p:nvSpPr>
        <p:spPr>
          <a:xfrm>
            <a:off x="609600" y="3558540"/>
            <a:ext cx="27940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647440"/>
            <a:ext cx="256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Error de polimerasa</a:t>
            </a:r>
          </a:p>
        </p:txBody>
      </p:sp>
      <p:sp>
        <p:nvSpPr>
          <p:cNvPr id="27" name="Rectangle 26"/>
          <p:cNvSpPr/>
          <p:nvPr/>
        </p:nvSpPr>
        <p:spPr>
          <a:xfrm>
            <a:off x="3403600" y="3558540"/>
            <a:ext cx="38100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17900" y="364744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Variantes aparentes</a:t>
            </a:r>
          </a:p>
        </p:txBody>
      </p:sp>
      <p:sp>
        <p:nvSpPr>
          <p:cNvPr id="29" name="Rectangle 28"/>
          <p:cNvSpPr/>
          <p:nvPr/>
        </p:nvSpPr>
        <p:spPr>
          <a:xfrm>
            <a:off x="7213600" y="3558540"/>
            <a:ext cx="43688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27900" y="3647440"/>
            <a:ext cx="4140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Alta fidelidad y confirmación</a:t>
            </a:r>
          </a:p>
          <a:p>
            <a:pPr>
              <a:lnSpc>
                <a:spcPct val="115000"/>
              </a:lnSpc>
              <a:spcBef>
                <a:spcPts val="0"/>
              </a:spcBef>
              <a:spcAft>
                <a:spcPts val="0"/>
              </a:spcAft>
              <a:defRPr sz="1500" b="0">
                <a:solidFill>
                  <a:srgbClr val="183443"/>
                </a:solidFill>
                <a:latin typeface="DejaVu Sans"/>
              </a:defRPr>
            </a:pPr>
            <a:r>
              <a:t>independiente</a:t>
            </a:r>
          </a:p>
        </p:txBody>
      </p:sp>
      <p:sp>
        <p:nvSpPr>
          <p:cNvPr id="31" name="Rectangle 30"/>
          <p:cNvSpPr/>
          <p:nvPr/>
        </p:nvSpPr>
        <p:spPr>
          <a:xfrm>
            <a:off x="609600" y="4246880"/>
            <a:ext cx="2794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4335780"/>
            <a:ext cx="256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Contaminación</a:t>
            </a:r>
          </a:p>
        </p:txBody>
      </p:sp>
      <p:sp>
        <p:nvSpPr>
          <p:cNvPr id="33" name="Rectangle 32"/>
          <p:cNvSpPr/>
          <p:nvPr/>
        </p:nvSpPr>
        <p:spPr>
          <a:xfrm>
            <a:off x="3403600" y="4246880"/>
            <a:ext cx="38100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17900" y="433578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Lecturas ajenas a la muestra</a:t>
            </a:r>
          </a:p>
        </p:txBody>
      </p:sp>
      <p:sp>
        <p:nvSpPr>
          <p:cNvPr id="35" name="Rectangle 34"/>
          <p:cNvSpPr/>
          <p:nvPr/>
        </p:nvSpPr>
        <p:spPr>
          <a:xfrm>
            <a:off x="7213600" y="4246880"/>
            <a:ext cx="4368800" cy="48260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27900" y="4335780"/>
            <a:ext cx="41402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Blancos y separación pre/post-PCR</a:t>
            </a:r>
          </a:p>
        </p:txBody>
      </p:sp>
      <p:sp>
        <p:nvSpPr>
          <p:cNvPr id="37" name="Rectangle 36"/>
          <p:cNvSpPr/>
          <p:nvPr/>
        </p:nvSpPr>
        <p:spPr>
          <a:xfrm>
            <a:off x="609600" y="4729480"/>
            <a:ext cx="27940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3900" y="4818380"/>
            <a:ext cx="2565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PCR desbalanceada</a:t>
            </a:r>
          </a:p>
        </p:txBody>
      </p:sp>
      <p:sp>
        <p:nvSpPr>
          <p:cNvPr id="39" name="Rectangle 38"/>
          <p:cNvSpPr/>
          <p:nvPr/>
        </p:nvSpPr>
        <p:spPr>
          <a:xfrm>
            <a:off x="3403600" y="4729480"/>
            <a:ext cx="38100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17900" y="4818380"/>
            <a:ext cx="35814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Abundancias distorsionadas</a:t>
            </a:r>
          </a:p>
        </p:txBody>
      </p:sp>
      <p:sp>
        <p:nvSpPr>
          <p:cNvPr id="41" name="Rectangle 40"/>
          <p:cNvSpPr/>
          <p:nvPr/>
        </p:nvSpPr>
        <p:spPr>
          <a:xfrm>
            <a:off x="7213600" y="4729480"/>
            <a:ext cx="43688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27900" y="4818380"/>
            <a:ext cx="4140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Validación de multiplex; controles de</a:t>
            </a:r>
          </a:p>
          <a:p>
            <a:pPr>
              <a:lnSpc>
                <a:spcPct val="115000"/>
              </a:lnSpc>
              <a:spcBef>
                <a:spcPts val="0"/>
              </a:spcBef>
              <a:spcAft>
                <a:spcPts val="0"/>
              </a:spcAft>
              <a:defRPr sz="1500" b="0">
                <a:solidFill>
                  <a:srgbClr val="183443"/>
                </a:solidFill>
                <a:latin typeface="DejaVu Sans"/>
              </a:defRPr>
            </a:pPr>
            <a:r>
              <a:t>composición</a:t>
            </a:r>
          </a:p>
        </p:txBody>
      </p:sp>
      <p:sp>
        <p:nvSpPr>
          <p:cNvPr id="43" name="Rounded Rectangle 42"/>
          <p:cNvSpPr/>
          <p:nvPr/>
        </p:nvSpPr>
        <p:spPr>
          <a:xfrm>
            <a:off x="609600" y="5689600"/>
            <a:ext cx="10972800" cy="571500"/>
          </a:xfrm>
          <a:prstGeom prst="roundRect">
            <a:avLst/>
          </a:prstGeom>
          <a:solidFill>
            <a:srgbClr val="E1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0100" y="5816600"/>
            <a:ext cx="105791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007F86"/>
                </a:solidFill>
                <a:latin typeface="DejaVu Sans"/>
              </a:defRPr>
            </a:pPr>
            <a:r>
              <a:t>Un UMI ayuda a rastrear moléculas si se incorpora antes de la amplificación relevante.</a:t>
            </a:r>
          </a:p>
        </p:txBody>
      </p:sp>
      <p:sp>
        <p:nvSpPr>
          <p:cNvPr id="45" name="TextBox 44"/>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BIBLIOGRAFÍA COMENTADA</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Lectura crítica de los cuatro artículos</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[1–4].</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42</a:t>
            </a:r>
          </a:p>
        </p:txBody>
      </p:sp>
      <p:sp>
        <p:nvSpPr>
          <p:cNvPr id="7" name="Rectangle 6"/>
          <p:cNvSpPr/>
          <p:nvPr/>
        </p:nvSpPr>
        <p:spPr>
          <a:xfrm>
            <a:off x="609600" y="1905000"/>
            <a:ext cx="28575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3900" y="2006600"/>
            <a:ext cx="26289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Fuente principal</a:t>
            </a:r>
          </a:p>
        </p:txBody>
      </p:sp>
      <p:sp>
        <p:nvSpPr>
          <p:cNvPr id="9" name="Rectangle 8"/>
          <p:cNvSpPr/>
          <p:nvPr/>
        </p:nvSpPr>
        <p:spPr>
          <a:xfrm>
            <a:off x="3467100" y="1905000"/>
            <a:ext cx="41275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81400" y="2006600"/>
            <a:ext cx="38989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Aporte a esta clase</a:t>
            </a:r>
          </a:p>
        </p:txBody>
      </p:sp>
      <p:sp>
        <p:nvSpPr>
          <p:cNvPr id="11" name="Rectangle 10"/>
          <p:cNvSpPr/>
          <p:nvPr/>
        </p:nvSpPr>
        <p:spPr>
          <a:xfrm>
            <a:off x="7594600" y="1905000"/>
            <a:ext cx="3987800" cy="4826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08900" y="2006600"/>
            <a:ext cx="3759200" cy="310515"/>
          </a:xfrm>
          <a:prstGeom prst="rect">
            <a:avLst/>
          </a:prstGeom>
          <a:noFill/>
        </p:spPr>
        <p:txBody>
          <a:bodyPr wrap="none" lIns="0" rIns="0" tIns="0" bIns="0">
            <a:spAutoFit/>
          </a:bodyPr>
          <a:lstStyle/>
          <a:p>
            <a:pPr>
              <a:lnSpc>
                <a:spcPct val="115000"/>
              </a:lnSpc>
              <a:spcBef>
                <a:spcPts val="0"/>
              </a:spcBef>
              <a:spcAft>
                <a:spcPts val="0"/>
              </a:spcAft>
              <a:defRPr sz="1500" b="1">
                <a:solidFill>
                  <a:srgbClr val="FFFFFF"/>
                </a:solidFill>
                <a:latin typeface="DejaVu Sans"/>
              </a:defRPr>
            </a:pPr>
            <a:r>
              <a:t>Cómo contextualizarla</a:t>
            </a:r>
          </a:p>
        </p:txBody>
      </p:sp>
      <p:sp>
        <p:nvSpPr>
          <p:cNvPr id="13" name="Rectangle 12"/>
          <p:cNvSpPr/>
          <p:nvPr/>
        </p:nvSpPr>
        <p:spPr>
          <a:xfrm>
            <a:off x="609600" y="2387600"/>
            <a:ext cx="28575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2476500"/>
            <a:ext cx="2628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Orlando et al., 1998</a:t>
            </a:r>
          </a:p>
        </p:txBody>
      </p:sp>
      <p:sp>
        <p:nvSpPr>
          <p:cNvPr id="15" name="Rectangle 14"/>
          <p:cNvSpPr/>
          <p:nvPr/>
        </p:nvSpPr>
        <p:spPr>
          <a:xfrm>
            <a:off x="3467100" y="2387600"/>
            <a:ext cx="41275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1400" y="2476500"/>
            <a:ext cx="38989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Competidores, calibración y primeras</a:t>
            </a:r>
          </a:p>
          <a:p>
            <a:pPr>
              <a:lnSpc>
                <a:spcPct val="115000"/>
              </a:lnSpc>
              <a:spcBef>
                <a:spcPts val="0"/>
              </a:spcBef>
              <a:spcAft>
                <a:spcPts val="0"/>
              </a:spcAft>
              <a:defRPr sz="1500" b="0">
                <a:solidFill>
                  <a:srgbClr val="183443"/>
                </a:solidFill>
                <a:latin typeface="DejaVu Sans"/>
              </a:defRPr>
            </a:pPr>
            <a:r>
              <a:t>sondas</a:t>
            </a:r>
          </a:p>
        </p:txBody>
      </p:sp>
      <p:sp>
        <p:nvSpPr>
          <p:cNvPr id="17" name="Rectangle 16"/>
          <p:cNvSpPr/>
          <p:nvPr/>
        </p:nvSpPr>
        <p:spPr>
          <a:xfrm>
            <a:off x="7594600" y="2387600"/>
            <a:ext cx="39878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900" y="2476500"/>
            <a:ext cx="3759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Perspectiva histórica; no protocolo</a:t>
            </a:r>
          </a:p>
          <a:p>
            <a:pPr>
              <a:lnSpc>
                <a:spcPct val="115000"/>
              </a:lnSpc>
              <a:spcBef>
                <a:spcPts val="0"/>
              </a:spcBef>
              <a:spcAft>
                <a:spcPts val="0"/>
              </a:spcAft>
              <a:defRPr sz="1500" b="0">
                <a:solidFill>
                  <a:srgbClr val="183443"/>
                </a:solidFill>
                <a:latin typeface="DejaVu Sans"/>
              </a:defRPr>
            </a:pPr>
            <a:r>
              <a:t>moderno universal</a:t>
            </a:r>
          </a:p>
        </p:txBody>
      </p:sp>
      <p:sp>
        <p:nvSpPr>
          <p:cNvPr id="19" name="Rectangle 18"/>
          <p:cNvSpPr/>
          <p:nvPr/>
        </p:nvSpPr>
        <p:spPr>
          <a:xfrm>
            <a:off x="609600" y="3075940"/>
            <a:ext cx="28575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900" y="3164840"/>
            <a:ext cx="2628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Bustin y Mueller, 2005</a:t>
            </a:r>
          </a:p>
        </p:txBody>
      </p:sp>
      <p:sp>
        <p:nvSpPr>
          <p:cNvPr id="21" name="Rectangle 20"/>
          <p:cNvSpPr/>
          <p:nvPr/>
        </p:nvSpPr>
        <p:spPr>
          <a:xfrm>
            <a:off x="3467100" y="3075940"/>
            <a:ext cx="41275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81400" y="3164840"/>
            <a:ext cx="38989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RT-qPCR; aplicaciones y límites</a:t>
            </a:r>
          </a:p>
          <a:p>
            <a:pPr>
              <a:lnSpc>
                <a:spcPct val="115000"/>
              </a:lnSpc>
              <a:spcBef>
                <a:spcPts val="0"/>
              </a:spcBef>
              <a:spcAft>
                <a:spcPts val="0"/>
              </a:spcAft>
              <a:defRPr sz="1500" b="0">
                <a:solidFill>
                  <a:srgbClr val="183443"/>
                </a:solidFill>
                <a:latin typeface="DejaVu Sans"/>
              </a:defRPr>
            </a:pPr>
            <a:r>
              <a:t>diagnósticos</a:t>
            </a:r>
          </a:p>
        </p:txBody>
      </p:sp>
      <p:sp>
        <p:nvSpPr>
          <p:cNvPr id="23" name="Rectangle 22"/>
          <p:cNvSpPr/>
          <p:nvPr/>
        </p:nvSpPr>
        <p:spPr>
          <a:xfrm>
            <a:off x="7594600" y="3075940"/>
            <a:ext cx="39878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08900" y="3164840"/>
            <a:ext cx="3759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Complementar con criterios de</a:t>
            </a:r>
          </a:p>
          <a:p>
            <a:pPr>
              <a:lnSpc>
                <a:spcPct val="115000"/>
              </a:lnSpc>
              <a:spcBef>
                <a:spcPts val="0"/>
              </a:spcBef>
              <a:spcAft>
                <a:spcPts val="0"/>
              </a:spcAft>
              <a:defRPr sz="1500" b="0">
                <a:solidFill>
                  <a:srgbClr val="183443"/>
                </a:solidFill>
                <a:latin typeface="DejaVu Sans"/>
              </a:defRPr>
            </a:pPr>
            <a:r>
              <a:t>validación</a:t>
            </a:r>
          </a:p>
        </p:txBody>
      </p:sp>
      <p:sp>
        <p:nvSpPr>
          <p:cNvPr id="25" name="Rectangle 24"/>
          <p:cNvSpPr/>
          <p:nvPr/>
        </p:nvSpPr>
        <p:spPr>
          <a:xfrm>
            <a:off x="609600" y="3764279"/>
            <a:ext cx="28575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900" y="3853179"/>
            <a:ext cx="2628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Zhu et al., 2020</a:t>
            </a:r>
          </a:p>
        </p:txBody>
      </p:sp>
      <p:sp>
        <p:nvSpPr>
          <p:cNvPr id="27" name="Rectangle 26"/>
          <p:cNvSpPr/>
          <p:nvPr/>
        </p:nvSpPr>
        <p:spPr>
          <a:xfrm>
            <a:off x="3467100" y="3764279"/>
            <a:ext cx="41275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81400" y="3853179"/>
            <a:ext cx="38989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Panorama PCR, multiplex, microfluídica</a:t>
            </a:r>
          </a:p>
          <a:p>
            <a:pPr>
              <a:lnSpc>
                <a:spcPct val="115000"/>
              </a:lnSpc>
              <a:spcBef>
                <a:spcPts val="0"/>
              </a:spcBef>
              <a:spcAft>
                <a:spcPts val="0"/>
              </a:spcAft>
              <a:defRPr sz="1500" b="0">
                <a:solidFill>
                  <a:srgbClr val="183443"/>
                </a:solidFill>
                <a:latin typeface="DejaVu Sans"/>
              </a:defRPr>
            </a:pPr>
            <a:r>
              <a:t>y POC</a:t>
            </a:r>
          </a:p>
        </p:txBody>
      </p:sp>
      <p:sp>
        <p:nvSpPr>
          <p:cNvPr id="29" name="Rectangle 28"/>
          <p:cNvSpPr/>
          <p:nvPr/>
        </p:nvSpPr>
        <p:spPr>
          <a:xfrm>
            <a:off x="7594600" y="3764279"/>
            <a:ext cx="3987800" cy="6883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08900" y="3853179"/>
            <a:ext cx="3759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No todas las mejoras se aplican a toda</a:t>
            </a:r>
          </a:p>
          <a:p>
            <a:pPr>
              <a:lnSpc>
                <a:spcPct val="115000"/>
              </a:lnSpc>
              <a:spcBef>
                <a:spcPts val="0"/>
              </a:spcBef>
              <a:spcAft>
                <a:spcPts val="0"/>
              </a:spcAft>
              <a:defRPr sz="1500" b="0">
                <a:solidFill>
                  <a:srgbClr val="183443"/>
                </a:solidFill>
                <a:latin typeface="DejaVu Sans"/>
              </a:defRPr>
            </a:pPr>
            <a:r>
              <a:t>muestra</a:t>
            </a:r>
          </a:p>
        </p:txBody>
      </p:sp>
      <p:sp>
        <p:nvSpPr>
          <p:cNvPr id="31" name="Rectangle 30"/>
          <p:cNvSpPr/>
          <p:nvPr/>
        </p:nvSpPr>
        <p:spPr>
          <a:xfrm>
            <a:off x="609600" y="4452620"/>
            <a:ext cx="28575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3900" y="4541520"/>
            <a:ext cx="2628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Trouchet et al., 2025</a:t>
            </a:r>
          </a:p>
        </p:txBody>
      </p:sp>
      <p:sp>
        <p:nvSpPr>
          <p:cNvPr id="33" name="Rectangle 32"/>
          <p:cNvSpPr/>
          <p:nvPr/>
        </p:nvSpPr>
        <p:spPr>
          <a:xfrm>
            <a:off x="3467100" y="4452620"/>
            <a:ext cx="41275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81400" y="4541520"/>
            <a:ext cx="38989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dPCR, clínica y relación con NGS</a:t>
            </a:r>
          </a:p>
        </p:txBody>
      </p:sp>
      <p:sp>
        <p:nvSpPr>
          <p:cNvPr id="35" name="Rectangle 34"/>
          <p:cNvSpPr/>
          <p:nvPr/>
        </p:nvSpPr>
        <p:spPr>
          <a:xfrm>
            <a:off x="7594600" y="4452620"/>
            <a:ext cx="3987800" cy="688340"/>
          </a:xfrm>
          <a:prstGeom prst="rect">
            <a:avLst/>
          </a:prstGeom>
          <a:solidFill>
            <a:srgbClr val="E8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08900" y="4541520"/>
            <a:ext cx="37592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Interpretar sensibilidad con entrada y</a:t>
            </a:r>
          </a:p>
          <a:p>
            <a:pPr>
              <a:lnSpc>
                <a:spcPct val="115000"/>
              </a:lnSpc>
              <a:spcBef>
                <a:spcPts val="0"/>
              </a:spcBef>
              <a:spcAft>
                <a:spcPts val="0"/>
              </a:spcAft>
              <a:defRPr sz="1500" b="0">
                <a:solidFill>
                  <a:srgbClr val="183443"/>
                </a:solidFill>
                <a:latin typeface="DejaVu Sans"/>
              </a:defRPr>
            </a:pPr>
            <a:r>
              <a:t>validación</a:t>
            </a:r>
          </a:p>
        </p:txBody>
      </p:sp>
      <p:sp>
        <p:nvSpPr>
          <p:cNvPr id="37" name="TextBox 36"/>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BIBLIOGRAFÍA · 1 DE 2</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Fuentes principales</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Artículos adjuntos: [1–4].</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43</a:t>
            </a:r>
          </a:p>
        </p:txBody>
      </p:sp>
      <p:sp>
        <p:nvSpPr>
          <p:cNvPr id="7" name="TextBox 6"/>
          <p:cNvSpPr txBox="1"/>
          <p:nvPr/>
        </p:nvSpPr>
        <p:spPr>
          <a:xfrm>
            <a:off x="698500" y="1841500"/>
            <a:ext cx="10795000" cy="607314"/>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[1] Orlando C, Pinzani P, Pazzagli M. Developments in Quantitative PCR. Clin Chem Lab Med.</a:t>
            </a:r>
          </a:p>
          <a:p>
            <a:pPr>
              <a:lnSpc>
                <a:spcPct val="115000"/>
              </a:lnSpc>
              <a:spcBef>
                <a:spcPts val="0"/>
              </a:spcBef>
              <a:spcAft>
                <a:spcPts val="0"/>
              </a:spcAft>
              <a:defRPr sz="1700" b="0">
                <a:solidFill>
                  <a:srgbClr val="183443"/>
                </a:solidFill>
                <a:latin typeface="DejaVu Sans"/>
              </a:defRPr>
            </a:pPr>
            <a:r>
              <a:t>1998;36(5):255–269.</a:t>
            </a:r>
          </a:p>
        </p:txBody>
      </p:sp>
      <p:sp>
        <p:nvSpPr>
          <p:cNvPr id="8" name="TextBox 7"/>
          <p:cNvSpPr txBox="1"/>
          <p:nvPr/>
        </p:nvSpPr>
        <p:spPr>
          <a:xfrm>
            <a:off x="698500" y="2626614"/>
            <a:ext cx="10795000" cy="607314"/>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[2] Bustin SA, Mueller R. Real-time reverse transcription PCR (qRT-PCR) and its potential use in</a:t>
            </a:r>
          </a:p>
          <a:p>
            <a:pPr>
              <a:lnSpc>
                <a:spcPct val="115000"/>
              </a:lnSpc>
              <a:spcBef>
                <a:spcPts val="0"/>
              </a:spcBef>
              <a:spcAft>
                <a:spcPts val="0"/>
              </a:spcAft>
              <a:defRPr sz="1700" b="0">
                <a:solidFill>
                  <a:srgbClr val="183443"/>
                </a:solidFill>
                <a:latin typeface="DejaVu Sans"/>
              </a:defRPr>
            </a:pPr>
            <a:r>
              <a:t>clinical diagnosis. Clin Sci. 2005;109:365–379. doi:10.1042/CS20050086.</a:t>
            </a:r>
          </a:p>
        </p:txBody>
      </p:sp>
      <p:sp>
        <p:nvSpPr>
          <p:cNvPr id="9" name="TextBox 8"/>
          <p:cNvSpPr txBox="1"/>
          <p:nvPr/>
        </p:nvSpPr>
        <p:spPr>
          <a:xfrm>
            <a:off x="698500" y="3411728"/>
            <a:ext cx="10795000" cy="607314"/>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[3] Zhu H et al. PCR past, present and future. BioTechniques. 2020;69(4):317–325.</a:t>
            </a:r>
          </a:p>
          <a:p>
            <a:pPr>
              <a:lnSpc>
                <a:spcPct val="115000"/>
              </a:lnSpc>
              <a:spcBef>
                <a:spcPts val="0"/>
              </a:spcBef>
              <a:spcAft>
                <a:spcPts val="0"/>
              </a:spcAft>
              <a:defRPr sz="1700" b="0">
                <a:solidFill>
                  <a:srgbClr val="183443"/>
                </a:solidFill>
                <a:latin typeface="DejaVu Sans"/>
              </a:defRPr>
            </a:pPr>
            <a:r>
              <a:t>doi:10.2144/btn-2020-0057.</a:t>
            </a:r>
          </a:p>
        </p:txBody>
      </p:sp>
      <p:sp>
        <p:nvSpPr>
          <p:cNvPr id="10" name="TextBox 9"/>
          <p:cNvSpPr txBox="1"/>
          <p:nvPr/>
        </p:nvSpPr>
        <p:spPr>
          <a:xfrm>
            <a:off x="698500" y="4196842"/>
            <a:ext cx="10795000" cy="607314"/>
          </a:xfrm>
          <a:prstGeom prst="rect">
            <a:avLst/>
          </a:prstGeom>
          <a:noFill/>
        </p:spPr>
        <p:txBody>
          <a:bodyPr wrap="none" lIns="0" rIns="0" tIns="0" bIns="0">
            <a:spAutoFit/>
          </a:bodyPr>
          <a:lstStyle/>
          <a:p>
            <a:pPr>
              <a:lnSpc>
                <a:spcPct val="115000"/>
              </a:lnSpc>
              <a:spcBef>
                <a:spcPts val="0"/>
              </a:spcBef>
              <a:spcAft>
                <a:spcPts val="0"/>
              </a:spcAft>
              <a:defRPr sz="1700" b="0">
                <a:solidFill>
                  <a:srgbClr val="183443"/>
                </a:solidFill>
                <a:latin typeface="DejaVu Sans"/>
              </a:defRPr>
            </a:pPr>
            <a:r>
              <a:t>[4] Trouchet A, Gines G, Benhaim L, Taly V. Digital PCR: from early developments to its future</a:t>
            </a:r>
          </a:p>
          <a:p>
            <a:pPr>
              <a:lnSpc>
                <a:spcPct val="115000"/>
              </a:lnSpc>
              <a:spcBef>
                <a:spcPts val="0"/>
              </a:spcBef>
              <a:spcAft>
                <a:spcPts val="0"/>
              </a:spcAft>
              <a:defRPr sz="1700" b="0">
                <a:solidFill>
                  <a:srgbClr val="183443"/>
                </a:solidFill>
                <a:latin typeface="DejaVu Sans"/>
              </a:defRPr>
            </a:pPr>
            <a:r>
              <a:t>application in clinics. Lab Chip. 2025;25:3921–3961. doi:10.1039/d5lc00055f.</a:t>
            </a:r>
          </a:p>
        </p:txBody>
      </p:sp>
      <p:sp>
        <p:nvSpPr>
          <p:cNvPr id="11" name="TextBox 10"/>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Rectangle 1"/>
          <p:cNvSpPr/>
          <p:nvPr/>
        </p:nvSpPr>
        <p:spPr>
          <a:xfrm>
            <a:off x="0" y="0"/>
            <a:ext cx="152400" cy="6858000"/>
          </a:xfrm>
          <a:prstGeom prst="rect">
            <a:avLst/>
          </a:prstGeom>
          <a:solidFill>
            <a:srgbClr val="007F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30200"/>
            <a:ext cx="10985500" cy="304800"/>
          </a:xfrm>
          <a:prstGeom prst="rect">
            <a:avLst/>
          </a:prstGeom>
          <a:noFill/>
        </p:spPr>
        <p:txBody>
          <a:bodyPr wrap="none" lIns="0" rIns="0" tIns="0" bIns="0">
            <a:spAutoFit/>
          </a:bodyPr>
          <a:lstStyle/>
          <a:p>
            <a:pPr>
              <a:lnSpc>
                <a:spcPct val="115000"/>
              </a:lnSpc>
              <a:spcBef>
                <a:spcPts val="0"/>
              </a:spcBef>
              <a:spcAft>
                <a:spcPts val="0"/>
              </a:spcAft>
              <a:defRPr sz="1200" b="1">
                <a:solidFill>
                  <a:srgbClr val="007F86"/>
                </a:solidFill>
                <a:latin typeface="DejaVu Sans"/>
              </a:defRPr>
            </a:pPr>
            <a:r>
              <a:t>BIBLIOGRAFÍA · 2 DE 2</a:t>
            </a:r>
          </a:p>
        </p:txBody>
      </p:sp>
      <p:sp>
        <p:nvSpPr>
          <p:cNvPr id="4" name="TextBox 3"/>
          <p:cNvSpPr txBox="1"/>
          <p:nvPr/>
        </p:nvSpPr>
        <p:spPr>
          <a:xfrm>
            <a:off x="609600" y="673100"/>
            <a:ext cx="10972800" cy="529209"/>
          </a:xfrm>
          <a:prstGeom prst="rect">
            <a:avLst/>
          </a:prstGeom>
          <a:noFill/>
        </p:spPr>
        <p:txBody>
          <a:bodyPr wrap="none" lIns="0" rIns="0" tIns="0" bIns="0">
            <a:spAutoFit/>
          </a:bodyPr>
          <a:lstStyle/>
          <a:p>
            <a:pPr>
              <a:lnSpc>
                <a:spcPct val="115000"/>
              </a:lnSpc>
              <a:spcBef>
                <a:spcPts val="0"/>
              </a:spcBef>
              <a:spcAft>
                <a:spcPts val="0"/>
              </a:spcAft>
              <a:defRPr sz="2900" b="1">
                <a:solidFill>
                  <a:srgbClr val="183443"/>
                </a:solidFill>
                <a:latin typeface="DejaVu Sans"/>
              </a:defRPr>
            </a:pPr>
            <a:r>
              <a:t>Libros y criterios de interpretación</a:t>
            </a:r>
          </a:p>
        </p:txBody>
      </p:sp>
      <p:sp>
        <p:nvSpPr>
          <p:cNvPr id="5" name="TextBox 4"/>
          <p:cNvSpPr txBox="1"/>
          <p:nvPr/>
        </p:nvSpPr>
        <p:spPr>
          <a:xfrm>
            <a:off x="609600" y="6502400"/>
            <a:ext cx="10223500" cy="304800"/>
          </a:xfrm>
          <a:prstGeom prst="rect">
            <a:avLst/>
          </a:prstGeom>
          <a:noFill/>
        </p:spPr>
        <p:txBody>
          <a:bodyPr wrap="none" lIns="0" rIns="0" tIns="0" bIns="0">
            <a:spAutoFit/>
          </a:bodyPr>
          <a:lstStyle/>
          <a:p>
            <a:pPr>
              <a:lnSpc>
                <a:spcPct val="115000"/>
              </a:lnSpc>
              <a:spcBef>
                <a:spcPts val="0"/>
              </a:spcBef>
              <a:spcAft>
                <a:spcPts val="0"/>
              </a:spcAft>
              <a:defRPr sz="900" b="0">
                <a:solidFill>
                  <a:srgbClr val="57717D"/>
                </a:solidFill>
                <a:latin typeface="DejaVu Sans"/>
              </a:defRPr>
            </a:pPr>
            <a:r>
              <a:t>Actualización principal: revisión de dPCR publicada en 2025 [4].</a:t>
            </a:r>
          </a:p>
        </p:txBody>
      </p:sp>
      <p:sp>
        <p:nvSpPr>
          <p:cNvPr id="6" name="TextBox 5"/>
          <p:cNvSpPr txBox="1"/>
          <p:nvPr/>
        </p:nvSpPr>
        <p:spPr>
          <a:xfrm>
            <a:off x="11112500" y="6464300"/>
            <a:ext cx="508000" cy="304800"/>
          </a:xfrm>
          <a:prstGeom prst="rect">
            <a:avLst/>
          </a:prstGeom>
          <a:noFill/>
        </p:spPr>
        <p:txBody>
          <a:bodyPr wrap="none" lIns="0" rIns="0" tIns="0" bIns="0">
            <a:spAutoFit/>
          </a:bodyPr>
          <a:lstStyle/>
          <a:p>
            <a:r>
              <a:t>44</a:t>
            </a:r>
          </a:p>
        </p:txBody>
      </p:sp>
      <p:sp>
        <p:nvSpPr>
          <p:cNvPr id="7" name="TextBox 6"/>
          <p:cNvSpPr txBox="1"/>
          <p:nvPr/>
        </p:nvSpPr>
        <p:spPr>
          <a:xfrm>
            <a:off x="698500" y="1739900"/>
            <a:ext cx="107950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[5] Green MR, Sambrook J. Molecular Cloning: A Laboratory Manual. 4.ª ed. Cold Spring Harbor Laboratory</a:t>
            </a:r>
          </a:p>
          <a:p>
            <a:pPr>
              <a:lnSpc>
                <a:spcPct val="115000"/>
              </a:lnSpc>
              <a:spcBef>
                <a:spcPts val="0"/>
              </a:spcBef>
              <a:spcAft>
                <a:spcPts val="0"/>
              </a:spcAft>
              <a:defRPr sz="1500" b="0">
                <a:solidFill>
                  <a:srgbClr val="183443"/>
                </a:solidFill>
                <a:latin typeface="DejaVu Sans"/>
              </a:defRPr>
            </a:pPr>
            <a:r>
              <a:t>Press; 2012.</a:t>
            </a:r>
          </a:p>
        </p:txBody>
      </p:sp>
      <p:sp>
        <p:nvSpPr>
          <p:cNvPr id="8" name="TextBox 7"/>
          <p:cNvSpPr txBox="1"/>
          <p:nvPr/>
        </p:nvSpPr>
        <p:spPr>
          <a:xfrm>
            <a:off x="698500" y="2399030"/>
            <a:ext cx="10795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[6] Bustin SA et al. The MIQE guidelines. Clin Chem. 2009;55:611–622. doi:10.1373/clinchem.2008.112797.</a:t>
            </a:r>
          </a:p>
        </p:txBody>
      </p:sp>
      <p:sp>
        <p:nvSpPr>
          <p:cNvPr id="9" name="TextBox 8"/>
          <p:cNvSpPr txBox="1"/>
          <p:nvPr/>
        </p:nvSpPr>
        <p:spPr>
          <a:xfrm>
            <a:off x="698500" y="2823845"/>
            <a:ext cx="107950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[7] Livak KJ, Schmittgen TD. Analysis of relative gene expression data using real-time quantitative PCR and the</a:t>
            </a:r>
          </a:p>
          <a:p>
            <a:pPr>
              <a:lnSpc>
                <a:spcPct val="115000"/>
              </a:lnSpc>
              <a:spcBef>
                <a:spcPts val="0"/>
              </a:spcBef>
              <a:spcAft>
                <a:spcPts val="0"/>
              </a:spcAft>
              <a:defRPr sz="1500" b="0">
                <a:solidFill>
                  <a:srgbClr val="183443"/>
                </a:solidFill>
                <a:latin typeface="DejaVu Sans"/>
              </a:defRPr>
            </a:pPr>
            <a:r>
              <a:t>2−ΔΔCT method. Methods. 2001;25:402–408. doi:10.1006/meth.2001.1262.</a:t>
            </a:r>
          </a:p>
        </p:txBody>
      </p:sp>
      <p:sp>
        <p:nvSpPr>
          <p:cNvPr id="10" name="TextBox 9"/>
          <p:cNvSpPr txBox="1"/>
          <p:nvPr/>
        </p:nvSpPr>
        <p:spPr>
          <a:xfrm>
            <a:off x="698500" y="3482975"/>
            <a:ext cx="10795000" cy="544830"/>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[8] Huggett JF et al. The digital MIQE guidelines. Clin Chem. 2013;59:892–902.</a:t>
            </a:r>
          </a:p>
          <a:p>
            <a:pPr>
              <a:lnSpc>
                <a:spcPct val="115000"/>
              </a:lnSpc>
              <a:spcBef>
                <a:spcPts val="0"/>
              </a:spcBef>
              <a:spcAft>
                <a:spcPts val="0"/>
              </a:spcAft>
              <a:defRPr sz="1500" b="0">
                <a:solidFill>
                  <a:srgbClr val="183443"/>
                </a:solidFill>
                <a:latin typeface="DejaVu Sans"/>
              </a:defRPr>
            </a:pPr>
            <a:r>
              <a:t>doi:10.1373/clinchem.2013.206375.</a:t>
            </a:r>
          </a:p>
        </p:txBody>
      </p:sp>
      <p:sp>
        <p:nvSpPr>
          <p:cNvPr id="11" name="TextBox 10"/>
          <p:cNvSpPr txBox="1"/>
          <p:nvPr/>
        </p:nvSpPr>
        <p:spPr>
          <a:xfrm>
            <a:off x="698500" y="4142104"/>
            <a:ext cx="10795000" cy="310515"/>
          </a:xfrm>
          <a:prstGeom prst="rect">
            <a:avLst/>
          </a:prstGeom>
          <a:noFill/>
        </p:spPr>
        <p:txBody>
          <a:bodyPr wrap="none" lIns="0" rIns="0" tIns="0" bIns="0">
            <a:spAutoFit/>
          </a:bodyPr>
          <a:lstStyle/>
          <a:p>
            <a:pPr>
              <a:lnSpc>
                <a:spcPct val="115000"/>
              </a:lnSpc>
              <a:spcBef>
                <a:spcPts val="0"/>
              </a:spcBef>
              <a:spcAft>
                <a:spcPts val="0"/>
              </a:spcAft>
              <a:defRPr sz="1500" b="0">
                <a:solidFill>
                  <a:srgbClr val="183443"/>
                </a:solidFill>
                <a:latin typeface="DejaVu Sans"/>
              </a:defRPr>
            </a:pPr>
            <a:r>
              <a:t>[9] Brown TA. Gene Cloning and DNA Analysis: An Introduction. 8.ª ed. Wiley-Blackwell; 2020.</a:t>
            </a:r>
          </a:p>
        </p:txBody>
      </p:sp>
      <p:sp>
        <p:nvSpPr>
          <p:cNvPr id="12" name="TextBox 11"/>
          <p:cNvSpPr txBox="1"/>
          <p:nvPr/>
        </p:nvSpPr>
        <p:spPr>
          <a:xfrm>
            <a:off x="9017000" y="88900"/>
            <a:ext cx="2794000" cy="228600"/>
          </a:xfrm>
          <a:prstGeom prst="rect">
            <a:avLst/>
          </a:prstGeom>
          <a:noFill/>
        </p:spPr>
        <p:txBody>
          <a:bodyPr wrap="none" lIns="0" tIns="0">
            <a:spAutoFit/>
          </a:bodyPr>
          <a:lstStyle/>
          <a:p>
            <a:pPr>
              <a:defRPr sz="900">
                <a:solidFill>
                  <a:srgbClr val="007F86"/>
                </a:solidFill>
                <a:latin typeface="DejaVu Sans"/>
              </a:defRPr>
            </a:pPr>
            <a:r>
              <a:t>ANEXO | CONSULTA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