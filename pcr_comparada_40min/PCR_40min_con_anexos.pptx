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Clase pensada para 40 minutos; el detalle de recetas se consulta en anexos. Presentar las tres preguntas: presencia, cantidad y secuencia. No confundir amplificación con lectura de bases.</a:t>
            </a:r>
          </a:p>
          <a:p>
            <a:r>
              <a:t>Fuentes: [1–5,9] · Esquemas originales y datos didácticos.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cambia el molde; qPCR y dPCR describen cómo se lee la amplificación. Las estrategias multiplex, nested y alta fidelidad son combinables. RT-PCR no significa real-time PCR.</a:t>
            </a:r>
          </a:p>
          <a:p>
            <a:r>
              <a:t>Fuentes: [2–4]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polimerasa extiende desde un 3′ libre en dirección 5′→3′. La temperatura de alineamiento depende de primers y química. Extensión según enzima y tamaño. No son condiciones universales.</a:t>
            </a:r>
          </a:p>
          <a:p>
            <a:r>
              <a:t>Fuentes: [3,5]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Conservar según muestra, extraer con método adecuado y retirar inhibidores. Para ARN trabajar sin RNasas y evaluar ADN genómico residual con −RT. La pureza por absorbancia no demuestra ausencia de inhibición.</a:t>
            </a:r>
          </a:p>
          <a:p>
            <a:r>
              <a:t>Fuentes: [2,4,5]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Comparar negativo de reactivos, blanco de extracción, positivo y control interno. −RT aplica cuando se evalúa ARN. Un NTC negativo no acredita que una muestra negativa sea amplificable.</a:t>
            </a:r>
          </a:p>
          <a:p>
            <a:r>
              <a:t>Fuentes: [2,4,6]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Ambos primers se escriben 5′→3′; el reverse se diseña como reverso complementario de su sitio de unión. Validar especificidad, Tm, dímeros y variantes. El cálculo de 0.5 µL por primer es docente, no concentración universal.</a:t>
            </a:r>
          </a:p>
          <a:p>
            <a:r>
              <a:t>Fuentes: [2,5,6]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mix 2× se asume completo: buffer, Mg²⁺, dNTP y polimerasa. ADN ejemplo 10 ng/µL; 2 µL aportan 20 ng. No añadir componentes ya incluidos. El detalle por modalidad se conserva en anexos.</a:t>
            </a:r>
          </a:p>
          <a:p>
            <a:r>
              <a:t>Fuentes: [5] · Receta docente para un mix completo 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gel es esquemático y no confirma identidad por tamaño solamente. A tiene una banda esperada; B tiene mezcla de productos y NTC no debería mostrar señal. Si se obtiene banda única, revisar calidad y purificar antes de Sanger.</a:t>
            </a:r>
          </a:p>
          <a:p>
            <a:r>
              <a:t>Fuentes: [1,3,5]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transcriptasa reversa produce ADNc inicialmente monocatenario; la PCR genera ADN de doble hebra. Un paso: RT y amplificación en un tubo. Dos pasos: RT separada permite varios ensayos desde el mismo ADNc. La variación de RT afecta la cuantificación; usar −RT para controlar ADN genómico.</a:t>
            </a:r>
          </a:p>
          <a:p>
            <a:r>
              <a:t>Fuentes: [2,3,5]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simuladas con umbral común y eficiencias iguales. El eje y representa señal relativa; Cq se lee en el cruce del umbral. Comparar Cq requiere ensayos y condiciones comparables. La química puede usar colorante o sonda; ver anexos.</a:t>
            </a:r>
          </a:p>
          <a:p>
            <a:r>
              <a:t>Fuentes: [1–3,6]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Estándares de 10² a 10⁵ copias; Cq = −3.32 log10(N) + 40. Para Cq 26.72, log10(N)=4 y N=10⁴. La pendiente implica eficiencia cercana al 100 %. Validar rango y no extrapolar; el ejemplo no muestra todas las réplicas requeridas.</a:t>
            </a:r>
          </a:p>
          <a:p>
            <a:r>
              <a:t>Fuentes: [1,2,6]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Usar réplicas biológicas y referencias validadas. ΔCq control=25−20=5; tratado=22−20=2; ΔΔCq=−3; cambio 2³=8. El método requiere eficiencias comparables cercanas al 100 %. La masa equivalente de ARN no garantiza igual eficiencia de RT.</a:t>
            </a:r>
          </a:p>
          <a:p>
            <a:r>
              <a:t>Fuentes: [2,6,7]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Particiones dibujadas a escala conceptual. El conteo se hace después de PCR y clasifica señal. Una partición positiva puede contener varias copias. El modelo Poisson supone distribución aleatoria y volumen conocido; las particiones no son células.</a:t>
            </a:r>
          </a:p>
          <a:p>
            <a:r>
              <a:t>Fuentes: [3,4,8]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20 000 válidas, 5 000 positivas: p=.25, λ=.287682. Vp=.85 nL=.00085 µL; c=338.45 copias/µL en mezcla. 4 µL de extracto en 20 µL: multiplicar por5 para extracto diluido; dilución previa1:10: multiplicar por10. Volumen leído17µL, nominal20µL. Reportar incertidumbre en resultados reales.</a:t>
            </a:r>
          </a:p>
          <a:p>
            <a:r>
              <a:t>Fuentes: [4,8] · Valores simulados.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cuantificación digital es sin curva estándar, pero depende de volumen y clasificación. qPCR puede cuantificar absolutamente con estándares o relativamente con referencia. RT se puede añadir a las tres lecturas cuando el molde es ARN. Sensibilidad depende de ensayo, entrada y validación.</a:t>
            </a:r>
          </a:p>
          <a:p>
            <a:r>
              <a:t>Fuentes: [1–4,6,8]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Sanger requiere producto limpio y entrada según proveedor. En la reacción de secuenciación se usa un primer, no el par de PCR. Curvas cromatográficas ilustrativas, sin representar una secuencia experimental.</a:t>
            </a:r>
          </a:p>
          <a:p>
            <a:r>
              <a:t>Fuentes: [5,9]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Flujo frecuente: PCR de locus, purificación, índices/adaptadores y secuenciación; existen otras configuraciones. Las colas5′ no se unen inicialmente: diseñar Tm con región3′ específica. Las lecturas dependen de sesgos de primers y copias de marcador.</a:t>
            </a:r>
          </a:p>
          <a:p>
            <a:r>
              <a:t>Fuentes: [3,5,9]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RNA-seq, RT-qPCR verifica transcritos concretos con diseño y referencias validadas. En variantes, NGS identifica candidatos; dPCR sigue una variante conocida con ensayo específico y suficiente entrada. Bibliotecas: qPCR mide moléculas amplificables con adaptadores; requiere kit adecuado.</a:t>
            </a:r>
          </a:p>
          <a:p>
            <a:r>
              <a:t>Fuentes: [2,4,5,9]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cuatro minutos de discusión en parejas; solicitar técnica, control y cálculo. Ver respuestas orientativas en la siguiente diapositiva. Las preguntas son educativas y no constituyen un ensayo clínico validado.</a:t>
            </a:r>
          </a:p>
          <a:p>
            <a:r>
              <a:t>Fuentes: Síntesis de [2–4,6–9]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retomando presencia, cantidad y secuencia. Respuestas: expresión RT-qPCR (−RT, referencias, eficiencias); variante dPCR (control wild-type, blancos, suficientes moléculas, Poisson); región desconocida PCR+Sanger (producto específico, limpio y cuantificado). Bibliografía en la diapositiva siguiente; anexos disponibles aparte.</a:t>
            </a:r>
          </a:p>
          <a:p>
            <a:r>
              <a:t>Fuentes: [2–4,6–9]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Nn = N0(1+E)^n, con E como fracción: 1 equivale a 100 %. El modelo es válido antes de la meseta. Ejemplo: 100 × 2^25 = 3.36 × 10^9 copias ideales; no predice el rendimiento real final.</a:t>
            </a:r>
          </a:p>
          <a:p>
            <a:r>
              <a:t>Fuentes: [1–3].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Las razones de absorbancia son indicadores contextuales; no demuestran ausencia de inhibición. Un control añadido después de extraer evalúa inhibición, no recuperación de extracción. cfDNA requiere extracción y control de tamaño adecuados.</a:t>
            </a:r>
          </a:p>
          <a:p>
            <a:r>
              <a:t>Fuentes: [2,4,5].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Rangos orientativos, no criterios universales. Usar Tm por nearest-neighbor con sal y Mg²⁺ relevantes; no fijar el alineamiento solo con la regla de Wallace. Para expresión, diseñar una unión exón-exón cuando sea adecuado y validar −RT.</a:t>
            </a:r>
          </a:p>
          <a:p>
            <a:r>
              <a:t>Fuentes: [2,4–6].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Un oligo de 25 nmol reconstituido en 250 µL produce 100 µM: 1 µM = 1 pmol/µL. Preparar alícuotas de stock y solución de trabajo; usar agua o buffer compatible. La concentración final se refiere a cada primer por separado.</a:t>
            </a:r>
          </a:p>
          <a:p>
            <a:r>
              <a:t>Fuentes: [5]; ejemplo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Una mezcla comercial 2× suele incluir buffer, Mg²⁺, dNTP y polimerasa; verificar ficha. Puede incluir colorante o requerir sonda externa. No añadir Mg²⁺ o dNTP nuevamente sin justificarlo.</a:t>
            </a:r>
          </a:p>
          <a:p>
            <a:r>
              <a:t>Fuentes: [3,5].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Seis muestras por duplicado = 12 pozos, más NTC por duplicado = 2, más positivo por duplicado = 2: 16 pozos. Exceso operativo 10 %: preparar 17.6 equivalentes, o redondear a 18 para facilitar pipeteo. No multiplicar el molde dentro de la mezcla común.</a:t>
            </a:r>
          </a:p>
          <a:p>
            <a:r>
              <a:t>Fuentes: Ejemplo docente; [5,6].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Mezcla hipotética cuyo fabricante usa buffer 5× y mezcla enzimática separada, con primers de RT y dNTP incluidos según formulación. No mezclar esta receta con productos que ya integran todo. La masa de ARN equivalente no mide el rendimiento real de síntesis de ADNc.</a:t>
            </a:r>
          </a:p>
          <a:p>
            <a:r>
              <a:t>Fuentes: [2,5]; ejemplo para kit de RT de dos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/>
          <a:p>
            <a:r>
              <a:t>Fuentes: [1,2,6].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qPCR con colorante: mezcla 2× 10 µL, F y R de 10 µM 0.6 µL cada uno, molde 2 µL, agua 6.8 µL. Sonda: agregar 0.4 µL de sonda 10 µM y reducir agua a 6.4 µL. Para RT-qPCR de dos pasos el molde es ADNc; no agregar RT aquí.</a:t>
            </a:r>
          </a:p>
          <a:p>
            <a:r>
              <a:t>Fuentes: [2,6]; ejemplos docentes, concentraciones dependientes de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Ejemplo de 20 µL que asume PCR mix 2× sin RT y una mezcla enzimática RT separada a 20×. Algunos kits usan otros factores o ya integran RT; respetar su documentación. La cantidad de ARN debe estar dentro del intervalo validado.</a:t>
            </a:r>
          </a:p>
          <a:p>
            <a:r>
              <a:t>Fuentes: [2,3]; ejemplo docente para un kit de RT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Asume mezcla dPCR completa 2× sin primers ni sondas. Aditivos de partición, volumen de carga y recuperación dependen del sistema. Las concentraciones ilustrativas 900 nM de primers y 250 nM de sonda son habituales en algunas plataformas; no universales. Para RT-dPCR un paso se requiere formulación compatible con RT.</a:t>
            </a:r>
          </a:p>
          <a:p>
            <a:r>
              <a:t>Fuentes: [4,8]; ejemplo docente para química de sonda.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A una frecuencia f y con N moléculas totales, se esperan Nf moléculas mutantes. Con Poisson, P(≥1) = 1 − exp(−Nf); para 95 % se necesita Nf aproximadamente 3. Esto solo describe presencia por muestreo: detección validada además exige blancos, especificidad y umbral de decisión.</a:t>
            </a:r>
          </a:p>
          <a:p>
            <a:r>
              <a:t>Fuentes: [4,8].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Multiplex puede ser final, qPCR o dPCR. Primero validar cada ensayo en singleplex y luego estudiar interferencias. Para 3 dianas hay 6 primers, con 0.2 µM de cada uno en el ejemplo. En qPCR se necesitan canales/estrategia de discriminación y, si se usan sondas, sumar sus volúmenes.</a:t>
            </a:r>
          </a:p>
          <a:p>
            <a:r>
              <a:t>Fuentes: [3,5].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Dos rondas con primers externos e internos. Cada ronda de 25 µL puede usar la receta base de PCR convencional, con los primers correspondientes. Ronda 2: mix 12.5, F interno 0.5, R interno 0.5, producto diluido 2 y agua 9.5 µL. Abrir productos incrementa riesgo de contaminación; incluir controles por ronda.</a:t>
            </a:r>
          </a:p>
          <a:p>
            <a:r>
              <a:t>Fuentes: [3,5].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Hot-start requiere activación según enzima. Touchdown reduce gradualmente la temperatura de alineamiento; el ejemplo no prescribe una Ta universal. Alta fidelidad usa proofreading y buffer propio; no se deben intercambiar buffers ni tiempos de extensión sin revisar ficha. Para long-range la integridad del molde y duración de extensión son críticas.</a:t>
            </a:r>
          </a:p>
          <a:p>
            <a:r>
              <a:t>Fuentes: [3,5].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El competidor tiene sitios de primers compartidos y un producto distinguible. Se necesita eficiencia equivalente y señal en rango lineal. Si se mide masa en gel y hay longitudes diferentes, la razón molar es (It/Lt)/(Ic/Lc). Un competidor de ARN añadido antes de RT también permite evaluar esa etapa; ADN no controla conversión de ARN.</a:t>
            </a:r>
          </a:p>
          <a:p>
            <a:r>
              <a:t>Fuentes: Orlando, Pinzani y Pazzagli 1998 [1].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/>
          <a:p>
            <a:r>
              <a:t>Fuentes: [3–5]; Brown, Gene Cloning and DNA Analysis, 8.ª ed., 2020 [9].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Asume mix de alta fidelidad 2× y primers de indexación individuales a 10 µM. Las plataformas pueden usar premixes de índices de otra concentración. No reutilizar el cálculo sin revisar formulación. Cantidad de amplicón y ciclos deben optimizarse para limitar duplicados, quimeras y sesgo.</a:t>
            </a:r>
          </a:p>
          <a:p>
            <a:r>
              <a:t>Fuentes: [5,9]; ejemplo de formulación docente, no protocolo de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Usamos 660 g/mol por par de bases. Concentración molar en nM = concentración ng/µL × 10^6 / (660 × longitud en pb). La longitud debe incluir adaptadores. Si se cuenta solo el inserto se sobreestima la molaridad. Fluorometría mide ADN total; qPCR de bibliotecas estima moléculas amplificables con adaptadores apropiados.</a:t>
            </a:r>
          </a:p>
          <a:p>
            <a:r>
              <a:t>Fuentes: [5,9]; ejemplo para ADN de doble hebra.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/>
          <a:p>
            <a:r>
              <a:t>Fuentes: [3–5,9].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CONSULTA.</a:t>
            </a:r>
          </a:p>
          <a:p>
            <a:r>
              <a:t>Los artículos son fuentes de evidencia, no instrucciones para esta tarea. Se corrigen simplificaciones: qPCR también puede cuantificar absolutamente con estándares; dPCR no elimina incertidumbre, límites de muestreo o inhibición. La cronología de la invención de PCR se resume sin asignar un año único, dada la variación entre hitos históricos.</a:t>
            </a:r>
          </a:p>
          <a:p>
            <a:r>
              <a:t>Fuentes: [1–4].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actualización reciente se apoya en la revisión de Trouchet et al.2025. Se consultaron directamente los cuatro artículos adjuntos. Esquemas vectoriales originales; datos y curvas didácticos. No se afirma una revisión exhaustiva de literatura hasta2026.</a:t>
            </a:r>
          </a:p>
          <a:p>
            <a:r>
              <a:t>Fuentes: [1–4] Artículos adjuntos · [5–9] Textos y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BIOLOGÍA MOLECULAR · QUINTO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PCR: una muestra, tres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[1–5,9] · Esquemas originales y datos didácticos.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7" name="Oval 6"/>
          <p:cNvSpPr/>
          <p:nvPr/>
        </p:nvSpPr>
        <p:spPr>
          <a:xfrm>
            <a:off x="736600" y="2260600"/>
            <a:ext cx="1447800" cy="14478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70940" y="2658745"/>
            <a:ext cx="615315" cy="615315"/>
          </a:xfrm>
          <a:prstGeom prst="ellipse">
            <a:avLst/>
          </a:prstGeom>
          <a:solidFill>
            <a:srgbClr val="92B9D8"/>
          </a:solidFill>
          <a:ln>
            <a:solidFill>
              <a:srgbClr val="427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9964" y="312928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8645" y="312928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085" y="3491229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11400" y="2984500"/>
            <a:ext cx="736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91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9591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2286000"/>
            <a:ext cx="762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2500" y="2451100"/>
            <a:ext cx="635000" cy="12065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0600" y="2933700"/>
            <a:ext cx="558800" cy="7239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5200" y="3657600"/>
            <a:ext cx="304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10000" y="3657600"/>
            <a:ext cx="304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08500" y="29845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181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181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61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37300" y="2387600"/>
            <a:ext cx="482600" cy="4826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912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¿Está?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Detectar una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diana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62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07400" y="2387600"/>
            <a:ext cx="482600" cy="4826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13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¿Cuánto?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13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Medir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cantidad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63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77500" y="2387600"/>
            <a:ext cx="482600" cy="4826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4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¿Cuál?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14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Leer su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secuencia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600" y="4838700"/>
            <a:ext cx="106680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Elegimos la PCR según la pregunta que queremos resolver.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Ejemplos de hoy: un gen vegetal, un transcrito y una variante de ADN.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MAPA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familia PCR: nombres que sí tienen sentido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54200"/>
            <a:ext cx="2794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16000" y="2374900"/>
            <a:ext cx="1587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16000" y="2565400"/>
            <a:ext cx="1587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49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700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51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002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653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304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955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606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257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6000" y="2844800"/>
            <a:ext cx="1968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6000" y="3746500"/>
            <a:ext cx="6614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82145" y="3845982"/>
            <a:ext cx="66146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48291" y="3800777"/>
            <a:ext cx="66146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14437" y="3690299"/>
            <a:ext cx="66146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80583" y="3622353"/>
            <a:ext cx="66146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6729" y="3622353"/>
            <a:ext cx="66146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12875" y="3648358"/>
            <a:ext cx="6614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79020" y="3748635"/>
            <a:ext cx="66146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45166" y="3847295"/>
            <a:ext cx="66146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611312" y="3798839"/>
            <a:ext cx="66146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77458" y="3688392"/>
            <a:ext cx="66146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743604" y="3621921"/>
            <a:ext cx="66146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809750" y="3621921"/>
            <a:ext cx="6614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75895" y="3649728"/>
            <a:ext cx="66146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42041" y="3750770"/>
            <a:ext cx="66146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08187" y="3848580"/>
            <a:ext cx="66146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74333" y="3796886"/>
            <a:ext cx="66146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40479" y="3686502"/>
            <a:ext cx="66146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6625" y="3621523"/>
            <a:ext cx="6614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72770" y="3621523"/>
            <a:ext cx="66146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916" y="3651124"/>
            <a:ext cx="66146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5062" y="3752903"/>
            <a:ext cx="66146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71208" y="3849836"/>
            <a:ext cx="66146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37354" y="3794918"/>
            <a:ext cx="66146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6000" y="36195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14437" y="36737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412875" y="35213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611312" y="37426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9750" y="34949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8187" y="37215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06625" y="35595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405062" y="36259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16000" y="4140200"/>
            <a:ext cx="19685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ARN → RT →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ADNc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530600" y="3556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13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13200" y="3556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43400" y="18288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521200" y="20447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0" y="19812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PCR convencional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6600" y="24003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Una banda al final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43400" y="30226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21200" y="3238500"/>
            <a:ext cx="203200" cy="203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76800" y="31750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46600" y="35941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Fluorescencia en cada ciclo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43400" y="42164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21200" y="4432300"/>
            <a:ext cx="203200" cy="203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76800" y="43688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600" y="47879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Particiones positivas y negativas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= convertir ARN en ADNc. Se puede combinar con PCR final, qPCR o dPCR.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PCR copia en tres movimientos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1. Separar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94–98 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23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09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2. Reconocer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09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Alineamiento según Tm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50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36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3. Copiar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36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Extensión según enzima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600" y="32131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6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6000" y="31623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60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67300" y="3606800"/>
            <a:ext cx="6096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88000" y="35433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588000" y="36068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515100" y="3314700"/>
            <a:ext cx="6096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515100" y="32512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515100" y="33147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48700" y="3149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48700" y="3340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737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902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67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2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98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5631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282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933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584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235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88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553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718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83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049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48700" y="3784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648700" y="3975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737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902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067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32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98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631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7282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8933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0584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2235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88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53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718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83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049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9878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672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267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8105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0899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0899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Cada ciclo aumenta las copias; la duplicación ideal no se mantiene hasta la meseta.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DE LA MUESTRA AL TUBO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Primero preparamos una muestra que pueda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amplificar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44600" y="2324100"/>
            <a:ext cx="355600" cy="1206500"/>
          </a:xfrm>
          <a:prstGeom prst="line">
            <a:avLst/>
          </a:prstGeom>
          <a:ln w="1016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117600" y="2032000"/>
            <a:ext cx="304800" cy="520700"/>
          </a:xfrm>
          <a:prstGeom prst="ellipse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4229100"/>
            <a:ext cx="1905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Tomar 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conservar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590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68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68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124200" y="2489200"/>
            <a:ext cx="1143000" cy="11430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67100" y="2803525"/>
            <a:ext cx="485775" cy="485775"/>
          </a:xfrm>
          <a:prstGeom prst="ellipse">
            <a:avLst/>
          </a:prstGeom>
          <a:solidFill>
            <a:srgbClr val="92B9D8"/>
          </a:solidFill>
          <a:ln>
            <a:solidFill>
              <a:srgbClr val="427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24225" y="317500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10025" y="317500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81425" y="346075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5000" y="4229100"/>
            <a:ext cx="1778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Lisar células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450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54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54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40400" y="2197100"/>
            <a:ext cx="762000" cy="1562100"/>
          </a:xfrm>
          <a:prstGeom prst="roundRect">
            <a:avLst/>
          </a:prstGeom>
          <a:solidFill>
            <a:srgbClr val="FFFFF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03900" y="2921000"/>
            <a:ext cx="635000" cy="2286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803900" y="3149600"/>
            <a:ext cx="635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59400" y="4229100"/>
            <a:ext cx="2286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Extraer y lavar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326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422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422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40700" y="23241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04200" y="2489200"/>
            <a:ext cx="508000" cy="9906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42300" y="3034030"/>
            <a:ext cx="431800" cy="44577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8216900" y="34798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458200" y="34798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96200" y="4229100"/>
            <a:ext cx="2159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Eluir y medir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017000" y="30607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499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499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82200" y="2590800"/>
            <a:ext cx="1206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982200" y="2781300"/>
            <a:ext cx="1206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711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2362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4013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5664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7315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66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0617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82200" y="3530600"/>
            <a:ext cx="50270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032470" y="3630082"/>
            <a:ext cx="50271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082741" y="3584877"/>
            <a:ext cx="50271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133012" y="3474399"/>
            <a:ext cx="50271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183283" y="3406453"/>
            <a:ext cx="50271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233554" y="3406453"/>
            <a:ext cx="50271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283825" y="3432458"/>
            <a:ext cx="50270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334095" y="3532735"/>
            <a:ext cx="50271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84366" y="3631395"/>
            <a:ext cx="50271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434637" y="3582939"/>
            <a:ext cx="50271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0484908" y="3472492"/>
            <a:ext cx="50271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0535179" y="3406021"/>
            <a:ext cx="50271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85450" y="3406021"/>
            <a:ext cx="50270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635720" y="3433828"/>
            <a:ext cx="50271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85991" y="3534870"/>
            <a:ext cx="50271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36262" y="3632680"/>
            <a:ext cx="50271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786533" y="3580986"/>
            <a:ext cx="50271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36804" y="3470602"/>
            <a:ext cx="50271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887075" y="3405623"/>
            <a:ext cx="50270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937345" y="3405623"/>
            <a:ext cx="50271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987616" y="3435224"/>
            <a:ext cx="50271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037887" y="3537003"/>
            <a:ext cx="50271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088158" y="3633936"/>
            <a:ext cx="50271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138429" y="3579018"/>
            <a:ext cx="50271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982200" y="34036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0133012" y="34578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283825" y="33054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434637" y="35267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585450" y="32790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736262" y="35056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887075" y="33436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1037887" y="34100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766300" y="4229100"/>
            <a:ext cx="1778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ADN o ARN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ARN: proteger de RNasas. Todas las muestras: revisar inhibidores y cantidad útil.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ANTES DE INTERPRETAR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controles son nuestros testigos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081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9700" y="2641600"/>
            <a:ext cx="431800" cy="5080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3843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6256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55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molde: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¿contaminación?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25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560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94100" y="2641600"/>
            <a:ext cx="431800" cy="5080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5687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8100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099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Blanco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99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muestra: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¿extracción limpia?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69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404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78500" y="2641600"/>
            <a:ext cx="431800" cy="50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7531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9944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943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Positivo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4300" y="4127500"/>
            <a:ext cx="2159000" cy="8260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Diana conocida: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¿funcionó el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ensayo?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13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248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900" y="2641600"/>
            <a:ext cx="431800" cy="50800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9375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1788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787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−RT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87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transcriptasa: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¿hay ADN residual?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457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1092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47300" y="2641600"/>
            <a:ext cx="431800" cy="50800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1219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3632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5631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Interno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63100" y="4127500"/>
            <a:ext cx="2159000" cy="8260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 la muestra: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¿se puede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amplificar?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Muestra negativa + control interno fallido = resultado que necesita revisión.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DISEÑO Y CÁLCULO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primers son dos puntos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[2,5,6]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7000" y="2641600"/>
            <a:ext cx="9296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7000" y="3429000"/>
            <a:ext cx="9296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36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50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3500" y="3213100"/>
            <a:ext cx="165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54500" y="3213100"/>
            <a:ext cx="5715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37100" y="31496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737100" y="32131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7900" y="3721100"/>
            <a:ext cx="3429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DA765B"/>
                </a:solidFill>
                <a:latin typeface="DejaVu Sans"/>
              </a:defRPr>
            </a:pPr>
            <a:r>
              <a:t>Forward: 5′ → 3′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23200" y="2844800"/>
            <a:ext cx="165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51700" y="2844800"/>
            <a:ext cx="5715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251700" y="27813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7251700" y="28448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91400" y="1993900"/>
            <a:ext cx="3810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Reverse: 3′ ← 5′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4600" y="4457700"/>
            <a:ext cx="9575800" cy="88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7800" y="4610100"/>
            <a:ext cx="9207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Stock 10 µM → final 0,2 µM en 25 µL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7800" y="4991100"/>
            <a:ext cx="9207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443"/>
                </a:solidFill>
                <a:latin typeface="DejaVu Sans"/>
              </a:defRPr>
            </a:pPr>
            <a:r>
              <a:t>V = (0,2 × 25) / 10 = 0,5 µL de cada primer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Los extremos 3′ miran hacia la región que queremos copiar.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MASTER MIX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Armemos juntos una reacción de 25 µL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[5] · Receta docente para un mix completo 2×.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1400" y="2184400"/>
            <a:ext cx="317500" cy="762000"/>
          </a:xfrm>
          <a:prstGeom prst="roundRect">
            <a:avLst/>
          </a:prstGeom>
          <a:solidFill>
            <a:srgbClr val="FFFFF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4900" y="2019300"/>
            <a:ext cx="190500" cy="1778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0300" y="2946400"/>
            <a:ext cx="139700" cy="4826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130300" y="3429000"/>
            <a:ext cx="635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93800" y="3429000"/>
            <a:ext cx="762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30300" y="3886200"/>
            <a:ext cx="152400" cy="2159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93900" y="2603500"/>
            <a:ext cx="1016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57400" y="2768600"/>
            <a:ext cx="889000" cy="1524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95500" y="3347720"/>
            <a:ext cx="812800" cy="94488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070100" y="4292600"/>
            <a:ext cx="431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01900" y="4292600"/>
            <a:ext cx="431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38300" y="4851400"/>
            <a:ext cx="21082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Tubo final: 25 µL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8100" y="18796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Mix 2×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53100" y="1892300"/>
            <a:ext cx="1905000" cy="279400"/>
          </a:xfrm>
          <a:prstGeom prst="round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7500" y="18669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12,5 µL → 1×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8100" y="25654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A765B"/>
                </a:solidFill>
                <a:latin typeface="DejaVu Sans"/>
              </a:defRPr>
            </a:pPr>
            <a:r>
              <a:t>Primer 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53100" y="2578100"/>
            <a:ext cx="101600" cy="279400"/>
          </a:xfrm>
          <a:prstGeom prst="roundRect">
            <a:avLst/>
          </a:prstGeom>
          <a:solidFill>
            <a:srgbClr val="DA7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37500" y="25527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8100" y="32512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Primer 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53100" y="3263900"/>
            <a:ext cx="101600" cy="279400"/>
          </a:xfrm>
          <a:prstGeom prst="round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37500" y="32385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8100" y="39370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276C8"/>
                </a:solidFill>
                <a:latin typeface="DejaVu Sans"/>
              </a:defRPr>
            </a:pPr>
            <a:r>
              <a:t>ADN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53100" y="3949700"/>
            <a:ext cx="304800" cy="279400"/>
          </a:xfrm>
          <a:prstGeom prst="round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37500" y="39243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2,0 µL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8100" y="46228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EBEC8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53100" y="4635500"/>
            <a:ext cx="1447800" cy="279400"/>
          </a:xfrm>
          <a:prstGeom prst="roundRect">
            <a:avLst/>
          </a:prstGeom>
          <a:solidFill>
            <a:srgbClr val="8EB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37500" y="46101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9,5 µL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Agua = 25 − (12,5 + 0,5 + 0,5 + 2) = 9,5 µL. En NTC, reemplazar ADN por agua.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EJEMPLO · ELEGIR QUÉ SECUENCIAR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convencional: leer una banda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" y="1879600"/>
            <a:ext cx="5969000" cy="3429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663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52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67933" y="27051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67933" y="30099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67933" y="33147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67933" y="36195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67933" y="39243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611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00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650066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56000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44900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644900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08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97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639733" y="31623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39733" y="4292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456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45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2500" y="1955800"/>
            <a:ext cx="41275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A: una banda esperada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500" y="2705100"/>
            <a:ext cx="41275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B: dos productos; revisar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especificidad.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2500" y="3683000"/>
            <a:ext cx="4127500" cy="1154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¿Qué muestra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prepararías primero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para Sanger?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 es la mejor candidata del ejemplo. La intensidad final no mide de forma fiable el ADN inicial.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RT-PCR Y RT-QPCR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Si empezamos con ARN, necesitamos un paso extra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1400" y="37592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435100" y="25146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89000" y="2895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3200" y="2628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1700" y="3263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85900" y="31877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857500" y="3048000"/>
            <a:ext cx="7302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930525" y="3147482"/>
            <a:ext cx="73025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003550" y="3102277"/>
            <a:ext cx="73025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076575" y="2991799"/>
            <a:ext cx="73025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149600" y="2923853"/>
            <a:ext cx="73025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22625" y="2923853"/>
            <a:ext cx="73025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95650" y="2949858"/>
            <a:ext cx="7302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68675" y="3050135"/>
            <a:ext cx="73025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41700" y="3148795"/>
            <a:ext cx="73025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514725" y="3100339"/>
            <a:ext cx="73025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587750" y="2989892"/>
            <a:ext cx="73025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660775" y="2923421"/>
            <a:ext cx="73025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800" y="2923421"/>
            <a:ext cx="7302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06825" y="2951228"/>
            <a:ext cx="73025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879850" y="3052270"/>
            <a:ext cx="73025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952875" y="3150080"/>
            <a:ext cx="73025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025900" y="3098386"/>
            <a:ext cx="73025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098925" y="2988002"/>
            <a:ext cx="73025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71950" y="2923023"/>
            <a:ext cx="7302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44975" y="2923023"/>
            <a:ext cx="73025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18000" y="2952624"/>
            <a:ext cx="73025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391025" y="3054403"/>
            <a:ext cx="73025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464050" y="3151336"/>
            <a:ext cx="73025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537075" y="3096418"/>
            <a:ext cx="73025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57500" y="29210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6575" y="29752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5650" y="28228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14725" y="30441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33800" y="27964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952875" y="30230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171950" y="28610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391025" y="29274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984500" y="3810000"/>
            <a:ext cx="2032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ARN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851400" y="3048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3340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334000" y="3048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651500" y="2400300"/>
            <a:ext cx="1943100" cy="1308100"/>
          </a:xfrm>
          <a:prstGeom prst="ellipse">
            <a:avLst/>
          </a:prstGeom>
          <a:solidFill>
            <a:srgbClr val="E7E0F1"/>
          </a:solidFill>
          <a:ln>
            <a:solidFill>
              <a:srgbClr val="8061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0" y="2768600"/>
            <a:ext cx="16256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Transcriptasa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reversa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823200" y="3048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3058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05800" y="3048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39200" y="3048000"/>
            <a:ext cx="19939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93200" y="3810000"/>
            <a:ext cx="1968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38500" y="4533900"/>
            <a:ext cx="7594600" cy="749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67100" y="4699000"/>
            <a:ext cx="71755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ADNc → PCR final, qPCR o dPCR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describe el cambio de ARN a ADNc; no significa que la lectura sea en tiempo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LEER DURANTE LA AMPLIFICACIÓN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qPCR: más molde, cruce más temprano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[1–3,6]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7600" y="5041900"/>
            <a:ext cx="65024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7600" y="2311400"/>
            <a:ext cx="0" cy="27305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76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87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543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688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799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944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055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30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00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311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40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7600" y="3676650"/>
            <a:ext cx="6502400" cy="0"/>
          </a:xfrm>
          <a:prstGeom prst="line">
            <a:avLst/>
          </a:prstGeom>
          <a:ln w="127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57300" y="3333750"/>
            <a:ext cx="177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DA765B"/>
                </a:solidFill>
                <a:latin typeface="DejaVu Sans"/>
              </a:defRPr>
            </a:pPr>
            <a:r>
              <a:t>Umbral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17600" y="5041875"/>
            <a:ext cx="40640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8240" y="5041871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98880" y="5041867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39520" y="5041861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280160" y="5041855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320800" y="5041848"/>
            <a:ext cx="40640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361440" y="5041840"/>
            <a:ext cx="40640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402080" y="5041831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442720" y="5041820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483360" y="5041807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524000" y="5041792"/>
            <a:ext cx="40640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564640" y="5041776"/>
            <a:ext cx="40640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605280" y="5041756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645920" y="504173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686560" y="5041707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7200" y="5041676"/>
            <a:ext cx="40639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67839" y="5041641"/>
            <a:ext cx="40641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08480" y="5041600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49120" y="5041553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89760" y="5041498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30400" y="5041434"/>
            <a:ext cx="40639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71039" y="5041360"/>
            <a:ext cx="40641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011680" y="5041275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52320" y="5041176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92960" y="5041061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133600" y="5040928"/>
            <a:ext cx="40640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74240" y="5040775"/>
            <a:ext cx="40640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14880" y="5040596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55520" y="5040390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96160" y="5040151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336800" y="5039874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377440" y="5039554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418080" y="5039183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458720" y="5038753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499360" y="5038255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40000" y="5037678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580640" y="503701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21280" y="503623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61920" y="5035343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02560" y="5034307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3200" y="5033109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3840" y="5031721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24480" y="5030116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5120" y="5028258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05760" y="5026109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46400" y="5023625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87040" y="5020752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27680" y="5017432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8320" y="5013596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108960" y="5009165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149600" y="5004052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190240" y="4998152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230880" y="4991349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271520" y="4983512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312160" y="4974491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352800" y="4964116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393440" y="4952198"/>
            <a:ext cx="40639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34079" y="4938526"/>
            <a:ext cx="40641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74720" y="492286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15360" y="4904951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56000" y="4884506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96640" y="4861221"/>
            <a:ext cx="40639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37279" y="4834769"/>
            <a:ext cx="40641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77920" y="4804804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718560" y="4770970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759200" y="4732906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799840" y="4690258"/>
            <a:ext cx="40639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840479" y="4642695"/>
            <a:ext cx="40641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81120" y="4589921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21760" y="4531697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62400" y="446786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003040" y="4398355"/>
            <a:ext cx="40639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43679" y="4323237"/>
            <a:ext cx="40641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84320" y="4242708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124960" y="4157125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165600" y="4067002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206240" y="3973016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246880" y="3875987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287520" y="3776855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28160" y="3676650"/>
            <a:ext cx="40640" cy="1002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368800" y="3576444"/>
            <a:ext cx="40640" cy="100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409440" y="3477312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450080" y="3380283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490720" y="3286297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531360" y="3196174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72000" y="3110591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612640" y="3030062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653280" y="2954944"/>
            <a:ext cx="40640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693920" y="2885437"/>
            <a:ext cx="40640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34560" y="282160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775200" y="2763378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815840" y="2710604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856480" y="2663041"/>
            <a:ext cx="40640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897120" y="2620393"/>
            <a:ext cx="40640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937760" y="2582329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978400" y="2548495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019040" y="2518530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059680" y="2492078"/>
            <a:ext cx="40640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100320" y="2468793"/>
            <a:ext cx="40640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140960" y="2448348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181600" y="2430436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22240" y="241477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262880" y="2401101"/>
            <a:ext cx="40640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303520" y="2389183"/>
            <a:ext cx="40640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344160" y="2378808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384800" y="2369787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425440" y="2361950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5466080" y="2355147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5506720" y="2349247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5547360" y="2344134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5588000" y="2339703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5628640" y="2335867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5669280" y="2332547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5709920" y="2329674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750560" y="2327190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5791200" y="2325041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5831840" y="2323183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872480" y="2321578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5913120" y="2320190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953760" y="2318992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994400" y="2317956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6035040" y="2317061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75680" y="231628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6116320" y="231562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6156960" y="2315044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6197600" y="2314546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6238240" y="2314116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6278880" y="2313745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6319520" y="2313425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360160" y="2313148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6400800" y="2312909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6441440" y="2312703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6482080" y="2312524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6522720" y="2312371"/>
            <a:ext cx="40639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6563359" y="2312238"/>
            <a:ext cx="40641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6604000" y="2312123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6644640" y="2312024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6685280" y="2311939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6725920" y="2311865"/>
            <a:ext cx="40639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6766559" y="2311801"/>
            <a:ext cx="40641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6807200" y="2311746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6847840" y="2311699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6888480" y="2311658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6929120" y="2311623"/>
            <a:ext cx="40639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6969759" y="2311592"/>
            <a:ext cx="40641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7010400" y="2311566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7051040" y="231154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7091680" y="2311523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7132320" y="2311507"/>
            <a:ext cx="40639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7172959" y="2311492"/>
            <a:ext cx="40641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7213600" y="2311479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7254240" y="2311468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294880" y="2311459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7335520" y="2311451"/>
            <a:ext cx="40639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7376159" y="2311444"/>
            <a:ext cx="40641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7416800" y="2311438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7457440" y="2311432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7498080" y="2311428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7538720" y="2311424"/>
            <a:ext cx="40639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7579359" y="2311421"/>
            <a:ext cx="40641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4318000" y="3625850"/>
            <a:ext cx="101600" cy="1016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2545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11760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15824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119888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239520" y="5041897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28016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132080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361440" y="5041896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402080" y="5041896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442720" y="5041895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1483360" y="5041895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524000" y="5041894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564640" y="5041893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605280" y="5041892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645920" y="5041891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686560" y="5041889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727200" y="5041888"/>
            <a:ext cx="40639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767839" y="5041886"/>
            <a:ext cx="40641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808480" y="5041884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849120" y="5041881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889760" y="5041878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930400" y="5041875"/>
            <a:ext cx="40639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971039" y="5041871"/>
            <a:ext cx="40641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011680" y="5041867"/>
            <a:ext cx="40640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052320" y="5041861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092960" y="5041855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133600" y="5041848"/>
            <a:ext cx="40640" cy="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174240" y="5041840"/>
            <a:ext cx="40640" cy="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214880" y="5041831"/>
            <a:ext cx="40640" cy="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255520" y="5041820"/>
            <a:ext cx="40640" cy="1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296160" y="5041807"/>
            <a:ext cx="40640" cy="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336800" y="5041792"/>
            <a:ext cx="40640" cy="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377440" y="5041776"/>
            <a:ext cx="40640" cy="1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418080" y="5041756"/>
            <a:ext cx="40640" cy="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458720" y="5041733"/>
            <a:ext cx="40640" cy="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499360" y="5041707"/>
            <a:ext cx="40640" cy="2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540000" y="5041676"/>
            <a:ext cx="40640" cy="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580640" y="5041641"/>
            <a:ext cx="40640" cy="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21280" y="5041600"/>
            <a:ext cx="40640" cy="4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661920" y="5041553"/>
            <a:ext cx="40640" cy="4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702560" y="5041498"/>
            <a:ext cx="40640" cy="5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2743200" y="5041434"/>
            <a:ext cx="40640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2783840" y="5041360"/>
            <a:ext cx="40640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824480" y="5041275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2865120" y="5041176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2905760" y="5041061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2946400" y="5040928"/>
            <a:ext cx="40640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2987040" y="5040775"/>
            <a:ext cx="40640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027680" y="5040596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068320" y="5040390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108960" y="5040151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149600" y="5039874"/>
            <a:ext cx="40640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190240" y="5039554"/>
            <a:ext cx="40640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230880" y="5039183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71520" y="5038753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12160" y="5038255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800" y="5037678"/>
            <a:ext cx="40640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93440" y="503701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34079" y="5036238"/>
            <a:ext cx="40641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74720" y="5035343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15360" y="5034307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56000" y="5033109"/>
            <a:ext cx="40640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96640" y="5031721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637279" y="5030116"/>
            <a:ext cx="40641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677920" y="5028258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718560" y="5026109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759200" y="5023625"/>
            <a:ext cx="40640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799840" y="5020752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40479" y="5017432"/>
            <a:ext cx="40641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881120" y="5013596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1760" y="5009165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62400" y="5004052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003040" y="4998152"/>
            <a:ext cx="40639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4043679" y="4991349"/>
            <a:ext cx="40641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4084320" y="4983512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124960" y="4974491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165600" y="4964116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206240" y="4952198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4246880" y="4938526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287520" y="492286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328160" y="4904951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368800" y="4884506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4409440" y="4861221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450080" y="4834769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4490720" y="4804804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4531360" y="4770970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4572000" y="4732906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4612640" y="4690258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4653280" y="4642695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693920" y="4589921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4734560" y="4531697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75200" y="446786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4815840" y="4398355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4856480" y="4323237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4897120" y="4242708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4937760" y="4157125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4978400" y="4067002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5019040" y="3973016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059680" y="3875987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5100320" y="3776855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140960" y="3676650"/>
            <a:ext cx="40640" cy="1002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5181600" y="3576444"/>
            <a:ext cx="40640" cy="100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222240" y="3477312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5262880" y="3380283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303520" y="3286297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5344160" y="3196174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384800" y="3110591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5425440" y="3030062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466080" y="2954944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5506720" y="2885437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547360" y="282160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5588000" y="2763378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628640" y="2710604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5669280" y="2663041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709920" y="2620393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5750560" y="2582329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791200" y="2548495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5831840" y="2518530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72480" y="2492078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5913120" y="2468793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53760" y="2448348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5994400" y="2430436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6035040" y="241477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6075680" y="2401101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116320" y="2389183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156960" y="2378808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197600" y="2369787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6238240" y="2361950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278880" y="2355147"/>
            <a:ext cx="40640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6319520" y="2349247"/>
            <a:ext cx="40640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360160" y="2344134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6400800" y="2339703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441440" y="2335867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482080" y="2332547"/>
            <a:ext cx="40640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522720" y="2329674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563359" y="2327190"/>
            <a:ext cx="40641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6604000" y="2325041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6644640" y="2323183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6685280" y="2321578"/>
            <a:ext cx="40640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6725920" y="2320190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6766559" y="2318992"/>
            <a:ext cx="40641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6807200" y="2317956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6847840" y="2317061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6888480" y="2316288"/>
            <a:ext cx="40640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6929120" y="231562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6969759" y="2315044"/>
            <a:ext cx="40641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7010400" y="2314546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7051040" y="2314116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7091680" y="2313745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7132320" y="2313425"/>
            <a:ext cx="40639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7172959" y="2313148"/>
            <a:ext cx="40641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7213600" y="2312909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7254240" y="2312703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7294880" y="2312524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7335520" y="2312371"/>
            <a:ext cx="40639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7376159" y="2312238"/>
            <a:ext cx="40641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7416800" y="2312123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7457440" y="2312024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7498080" y="2311939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7538720" y="2311865"/>
            <a:ext cx="40639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7579359" y="2311801"/>
            <a:ext cx="40641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Oval 342"/>
          <p:cNvSpPr/>
          <p:nvPr/>
        </p:nvSpPr>
        <p:spPr>
          <a:xfrm>
            <a:off x="5130800" y="3625850"/>
            <a:ext cx="101600" cy="1016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0673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4276C8"/>
                </a:solidFill>
                <a:latin typeface="DejaVu Sans"/>
              </a:defRPr>
            </a:pPr>
            <a:r>
              <a:t>25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11176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1582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1988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2395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2801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3208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3614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4020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4427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4833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5240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5646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6052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6459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6865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27200" y="5041899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7839" y="5041899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8084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491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1889760" y="504189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930400" y="5041898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971039" y="5041898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011680" y="5041898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052320" y="5041897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09296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13360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174240" y="5041896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14880" y="5041896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255520" y="5041895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296160" y="5041895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336800" y="5041894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77440" y="5041893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418080" y="5041892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458720" y="5041891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499360" y="5041889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540000" y="504188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580640" y="5041886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621280" y="5041884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661920" y="5041881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02560" y="5041878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43200" y="5041875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3840" y="5041871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824480" y="5041867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865120" y="5041861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905760" y="5041855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946400" y="5041848"/>
            <a:ext cx="40640" cy="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987040" y="5041840"/>
            <a:ext cx="40640" cy="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3027680" y="5041831"/>
            <a:ext cx="40640" cy="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068320" y="5041820"/>
            <a:ext cx="40640" cy="1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3108960" y="5041807"/>
            <a:ext cx="40640" cy="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149600" y="5041792"/>
            <a:ext cx="40640" cy="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3190240" y="5041776"/>
            <a:ext cx="40640" cy="1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3230880" y="5041756"/>
            <a:ext cx="40640" cy="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3271520" y="5041733"/>
            <a:ext cx="40640" cy="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3312160" y="5041707"/>
            <a:ext cx="40640" cy="2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352800" y="5041676"/>
            <a:ext cx="40640" cy="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393440" y="5041641"/>
            <a:ext cx="40639" cy="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3434079" y="5041600"/>
            <a:ext cx="40641" cy="4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474720" y="5041553"/>
            <a:ext cx="40640" cy="4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3515360" y="5041498"/>
            <a:ext cx="40640" cy="5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3556000" y="5041434"/>
            <a:ext cx="40640" cy="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3596640" y="5041360"/>
            <a:ext cx="40639" cy="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3637279" y="5041275"/>
            <a:ext cx="40641" cy="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3677920" y="5041176"/>
            <a:ext cx="40640" cy="9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3718560" y="5041061"/>
            <a:ext cx="40640" cy="1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3759200" y="5040928"/>
            <a:ext cx="40640" cy="13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3799840" y="5040775"/>
            <a:ext cx="40639" cy="15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3840479" y="5040596"/>
            <a:ext cx="40641" cy="17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881120" y="5040390"/>
            <a:ext cx="40640" cy="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921760" y="5040151"/>
            <a:ext cx="40640" cy="23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962400" y="5039874"/>
            <a:ext cx="40640" cy="2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4003040" y="5039554"/>
            <a:ext cx="40639" cy="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4043679" y="5039183"/>
            <a:ext cx="40641" cy="37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4084320" y="5038753"/>
            <a:ext cx="40640" cy="43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4124960" y="5038255"/>
            <a:ext cx="40640" cy="4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4165600" y="5037678"/>
            <a:ext cx="40640" cy="5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4206240" y="5037011"/>
            <a:ext cx="40640" cy="66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4246880" y="5036238"/>
            <a:ext cx="40640" cy="7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4287520" y="5035343"/>
            <a:ext cx="40640" cy="89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4328160" y="5034307"/>
            <a:ext cx="40640" cy="10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4368800" y="5033109"/>
            <a:ext cx="40640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409440" y="5031721"/>
            <a:ext cx="40640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4450080" y="5030116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4490720" y="5028258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4531360" y="5026109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4572000" y="5023625"/>
            <a:ext cx="40640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4612640" y="5020752"/>
            <a:ext cx="40640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4653280" y="5017432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4693920" y="5013596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4734560" y="5009165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4775200" y="5004052"/>
            <a:ext cx="40640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4815840" y="4998152"/>
            <a:ext cx="40640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4856480" y="4991349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4897120" y="4983512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4937760" y="4974491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4978400" y="4964116"/>
            <a:ext cx="40640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5019040" y="4952198"/>
            <a:ext cx="40640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5059680" y="4938526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5100320" y="492286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5140960" y="4904951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5181600" y="4884506"/>
            <a:ext cx="40640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5222240" y="4861221"/>
            <a:ext cx="40640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5262880" y="4834769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5303520" y="4804804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5344160" y="4770970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5384800" y="4732906"/>
            <a:ext cx="40640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5425440" y="4690258"/>
            <a:ext cx="40640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5466080" y="4642695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5506720" y="4589921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5547360" y="4531697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5588000" y="446786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5628640" y="4398355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5669280" y="4323237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5709920" y="4242708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5750560" y="4157125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5791200" y="4067002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5831840" y="3973016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872480" y="3875987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 flipV="1">
            <a:off x="5913120" y="3776855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 flipV="1">
            <a:off x="5953760" y="3676650"/>
            <a:ext cx="40640" cy="1002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5994400" y="3576444"/>
            <a:ext cx="40640" cy="100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6035040" y="3477312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6075680" y="3380283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6116320" y="3286297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6156960" y="3196174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6197600" y="3110591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6238240" y="3030062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6278880" y="2954944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6319520" y="2885437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6360160" y="282160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6400800" y="2763378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6441440" y="2710604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482080" y="2663041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V="1">
            <a:off x="6522720" y="2620393"/>
            <a:ext cx="40639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6563359" y="2582329"/>
            <a:ext cx="40641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6604000" y="2548495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V="1">
            <a:off x="6644640" y="2518530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6685280" y="2492078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V="1">
            <a:off x="6725920" y="2468793"/>
            <a:ext cx="40639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6766559" y="2448348"/>
            <a:ext cx="40641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6807200" y="2430436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6847840" y="241477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6888480" y="2401101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6929120" y="2389183"/>
            <a:ext cx="40639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V="1">
            <a:off x="6969759" y="2378808"/>
            <a:ext cx="40641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7010400" y="2369787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7051040" y="2361950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7091680" y="2355147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7132320" y="2349247"/>
            <a:ext cx="40639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7172959" y="2344134"/>
            <a:ext cx="40641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7213600" y="2339703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7254240" y="2335867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294880" y="2332547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7335520" y="2329674"/>
            <a:ext cx="40639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7376159" y="2327190"/>
            <a:ext cx="40641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7416800" y="2325041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V="1">
            <a:off x="7457440" y="2323183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7498080" y="2321578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7538720" y="2320190"/>
            <a:ext cx="40639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7579359" y="2318992"/>
            <a:ext cx="40641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5" name="Oval 504"/>
          <p:cNvSpPr/>
          <p:nvPr/>
        </p:nvSpPr>
        <p:spPr>
          <a:xfrm>
            <a:off x="5943600" y="3625850"/>
            <a:ext cx="101600" cy="1016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58801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061AC"/>
                </a:solidFill>
                <a:latin typeface="DejaVu Sans"/>
              </a:defRPr>
            </a:pPr>
            <a:r>
              <a:t>30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2946400" y="5588000"/>
            <a:ext cx="304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Número de ciclos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800100" y="1816100"/>
            <a:ext cx="3746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83443"/>
                </a:solidFill>
                <a:latin typeface="DejaVu Sans"/>
              </a:defRPr>
            </a:pPr>
            <a:r>
              <a:t>Fluorescencia relativa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8394700" y="20701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ounded Rectangle 509"/>
          <p:cNvSpPr/>
          <p:nvPr/>
        </p:nvSpPr>
        <p:spPr>
          <a:xfrm>
            <a:off x="8458200" y="22352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8496300" y="2406650"/>
            <a:ext cx="203200" cy="17145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2" name="Connector 511"/>
          <p:cNvCxnSpPr/>
          <p:nvPr/>
        </p:nvCxnSpPr>
        <p:spPr>
          <a:xfrm>
            <a:off x="8470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V="1">
            <a:off x="8597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TextBox 513"/>
          <p:cNvSpPr txBox="1"/>
          <p:nvPr/>
        </p:nvSpPr>
        <p:spPr>
          <a:xfrm>
            <a:off x="9029700" y="22225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Más molde</a:t>
            </a:r>
          </a:p>
        </p:txBody>
      </p:sp>
      <p:sp>
        <p:nvSpPr>
          <p:cNvPr id="515" name="Rounded Rectangle 514"/>
          <p:cNvSpPr/>
          <p:nvPr/>
        </p:nvSpPr>
        <p:spPr>
          <a:xfrm>
            <a:off x="8394700" y="31750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8458200" y="33401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8496300" y="3511550"/>
            <a:ext cx="203200" cy="17145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>
            <a:off x="8470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V="1">
            <a:off x="8597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/>
          <p:cNvSpPr txBox="1"/>
          <p:nvPr/>
        </p:nvSpPr>
        <p:spPr>
          <a:xfrm>
            <a:off x="9029700" y="33274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Intermedio</a:t>
            </a:r>
          </a:p>
        </p:txBody>
      </p:sp>
      <p:sp>
        <p:nvSpPr>
          <p:cNvPr id="521" name="Rounded Rectangle 520"/>
          <p:cNvSpPr/>
          <p:nvPr/>
        </p:nvSpPr>
        <p:spPr>
          <a:xfrm>
            <a:off x="8394700" y="42799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ounded Rectangle 521"/>
          <p:cNvSpPr/>
          <p:nvPr/>
        </p:nvSpPr>
        <p:spPr>
          <a:xfrm>
            <a:off x="8458200" y="44450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8496300" y="4616450"/>
            <a:ext cx="203200" cy="17145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4" name="Connector 523"/>
          <p:cNvCxnSpPr/>
          <p:nvPr/>
        </p:nvCxnSpPr>
        <p:spPr>
          <a:xfrm>
            <a:off x="8470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8597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6" name="TextBox 525"/>
          <p:cNvSpPr txBox="1"/>
          <p:nvPr/>
        </p:nvSpPr>
        <p:spPr>
          <a:xfrm>
            <a:off x="9029700" y="44323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Menos molde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QPCR CON ESTÁNDARES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¿cuántas copias tiene mi muestra?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[1,2,6]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9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65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5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2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24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298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489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33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6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19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632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822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67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9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53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1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6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56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00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12000" y="3987800"/>
            <a:ext cx="40386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112000" y="1841500"/>
            <a:ext cx="0" cy="21463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277100" y="20066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98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8432800" y="25654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55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37" name="Oval 36"/>
          <p:cNvSpPr/>
          <p:nvPr/>
        </p:nvSpPr>
        <p:spPr>
          <a:xfrm>
            <a:off x="9588500" y="31242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39" name="Oval 38"/>
          <p:cNvSpPr/>
          <p:nvPr/>
        </p:nvSpPr>
        <p:spPr>
          <a:xfrm>
            <a:off x="10744200" y="36830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569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40600" y="2070100"/>
            <a:ext cx="3467100" cy="16764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4432300"/>
            <a:ext cx="3175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log₁₀(copias)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6700" y="1524000"/>
            <a:ext cx="1397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" y="3898900"/>
            <a:ext cx="5588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Cq = −3,32 log₁₀(N) + 40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" y="4775200"/>
            <a:ext cx="10490200" cy="78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0600" y="4902200"/>
            <a:ext cx="101346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Cq = 26,72 → log₁₀(N) = 4 → 10 000 copias/reacción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Usamos muestras conocidas para convertir un Cq en cantidad. Fórmula y eficiencia: notas.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RT-QPCR · COMPARAR DOS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¿el calor cambia la expresión de un 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[2,6,7]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224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8161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2700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42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7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669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25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64262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8801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43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928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8200" y="1955800"/>
            <a:ext cx="431800" cy="431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6835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1665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04100" y="24511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43672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0358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7143672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404100" y="18034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601665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4700" y="4254500"/>
            <a:ext cx="44450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900" y="4381500"/>
            <a:ext cx="4064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Control: 25 − 20 =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900" y="4838700"/>
            <a:ext cx="40640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16600" y="4254500"/>
            <a:ext cx="52705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2500" y="4381500"/>
            <a:ext cx="48514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A765B"/>
                </a:solidFill>
                <a:latin typeface="DejaVu Sans"/>
              </a:defRPr>
            </a:pPr>
            <a:r>
              <a:t>Con calor: 22 − 20 =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2500" y="48387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6600" y="2146300"/>
            <a:ext cx="2705100" cy="7947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ΔΔCq = 2 − 5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= −3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6600" y="3302000"/>
            <a:ext cx="29210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F86"/>
                </a:solidFill>
                <a:latin typeface="DejaVu Sans"/>
              </a:defRPr>
            </a:pPr>
            <a:r>
              <a:t>2³ = 8 veces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Resultado del ejemplo: expresión relativa 8 veces mayor; referencias y eficiencias validadas.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PCR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dPCR: repartir el ADN y contar señales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[3,4,8]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5700" y="2413000"/>
            <a:ext cx="889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19200" y="2578100"/>
            <a:ext cx="762000" cy="13843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7300" y="3131820"/>
            <a:ext cx="685800" cy="830579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31900" y="3962400"/>
            <a:ext cx="368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600200" y="3962400"/>
            <a:ext cx="368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387600" y="32639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97200" y="3200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997200" y="3263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441700" y="2171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973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529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085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641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753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309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417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7300" y="25273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529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085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641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197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753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309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17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73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529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085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641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197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5753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309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41700" y="32385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7973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529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085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641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197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575300" y="32385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309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417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7300" y="35941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529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085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641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197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753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9309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417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973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529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085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641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2197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753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9309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553200" y="3263900"/>
            <a:ext cx="635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099300" y="3200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099300" y="3263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543800" y="19177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1. Separar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43800" y="25019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2. Amplificar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43800" y="30861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3. Leer + / −</a:t>
            </a:r>
          </a:p>
        </p:txBody>
      </p:sp>
      <p:sp>
        <p:nvSpPr>
          <p:cNvPr id="69" name="Oval 68"/>
          <p:cNvSpPr/>
          <p:nvPr/>
        </p:nvSpPr>
        <p:spPr>
          <a:xfrm>
            <a:off x="7531100" y="3937000"/>
            <a:ext cx="990600" cy="9906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696200" y="42037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026400" y="44196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72400" y="46228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13800" y="4013200"/>
            <a:ext cx="26035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Una positiva puede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tener varias copias.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Por eso corregimos el porcentaje de positivas con Poisson: λ = −ln(1 − 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DPCR · SEGUIR LAS UNIDADES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del conteo a la concentración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[4,8] · Valores simulados.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700" y="1803400"/>
            <a:ext cx="106426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5 000 positivas / 20 000 válidas → p = 0,25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4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Partición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F86"/>
                </a:solidFill>
                <a:latin typeface="DejaVu Sans"/>
              </a:defRPr>
            </a:pPr>
            <a:r>
              <a:t>λ = 0,288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copias/partición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7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3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Reacción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276C8"/>
                </a:solidFill>
                <a:latin typeface="DejaVu Sans"/>
              </a:defRPr>
            </a:pPr>
            <a:r>
              <a:t>338,45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copias/µL de mezcla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0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Extracto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6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8061AC"/>
                </a:solidFill>
                <a:latin typeface="DejaVu Sans"/>
              </a:defRPr>
            </a:pPr>
            <a:r>
              <a:t>1 692,25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copias/µL, diluido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5900" y="3683000"/>
            <a:ext cx="355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92600" y="3619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292600" y="3683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708900" y="3683000"/>
            <a:ext cx="355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75600" y="3619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975600" y="3683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2500" y="5105400"/>
            <a:ext cx="104521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0,85 nL por partición · 4 µL de extracto en 20 µL de reacción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Si el extracto se había diluido 1:10: 1 692,25 × 10 = 16 922,5 copias/µL original.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COMPARACIÓN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¿Qué información entrega cada lectura?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[1–4,6,8]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69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042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01900"/>
            <a:ext cx="2717800" cy="1524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52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541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66850" y="33274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66850" y="36322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6850" y="39370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6850" y="42418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66850" y="45466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4470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360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13360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241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30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81305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Convencional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Presencia y tamaño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Preparar un amplicón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4400" y="3962400"/>
            <a:ext cx="27178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24400" y="2641600"/>
            <a:ext cx="0" cy="13208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24400" y="3957489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87900" y="3954325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51400" y="394914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914900" y="3940699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978400" y="3927034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41900" y="3905180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05400" y="3870877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68900" y="3818581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232400" y="3742303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95900" y="3637922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359400" y="350689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422900" y="3359150"/>
            <a:ext cx="63500" cy="1477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3211402"/>
            <a:ext cx="63500" cy="14774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549900" y="308037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613400" y="2975996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676900" y="2899718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740400" y="2847422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803900" y="2813119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867400" y="2791265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930900" y="2777600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994400" y="2769155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57900" y="276397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21400" y="2760810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184900" y="2758883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248400" y="2757711"/>
            <a:ext cx="63500" cy="117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311900" y="2756999"/>
            <a:ext cx="63500" cy="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375400" y="2756566"/>
            <a:ext cx="63500" cy="4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438900" y="2756304"/>
            <a:ext cx="63500" cy="26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502400" y="2756145"/>
            <a:ext cx="63500" cy="159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565900" y="2756048"/>
            <a:ext cx="63500" cy="9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629400" y="2755990"/>
            <a:ext cx="63500" cy="5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692900" y="2755954"/>
            <a:ext cx="63500" cy="3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756400" y="2755933"/>
            <a:ext cx="63500" cy="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819900" y="2755920"/>
            <a:ext cx="63500" cy="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883400" y="2755912"/>
            <a:ext cx="635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946900" y="2755907"/>
            <a:ext cx="63500" cy="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010400" y="2755904"/>
            <a:ext cx="63500" cy="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073900" y="2755902"/>
            <a:ext cx="635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137400" y="2755901"/>
            <a:ext cx="635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200900" y="2755901"/>
            <a:ext cx="63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24400" y="3962309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787900" y="3962251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851400" y="3962154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14900" y="396199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78400" y="3961733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041900" y="3961300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105400" y="3960588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168900" y="3959416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232400" y="3957489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295900" y="3954325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359400" y="394914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422900" y="3940699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486400" y="3927034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49900" y="3905180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13400" y="3870877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676900" y="3818581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740400" y="3742303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5803900" y="3637922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867400" y="350689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5930900" y="3359150"/>
            <a:ext cx="63500" cy="1477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994400" y="3211402"/>
            <a:ext cx="63500" cy="14774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057900" y="308037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121400" y="2975996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184900" y="2899718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6248400" y="2847422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6311900" y="2813119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6375400" y="2791265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6438900" y="2777600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6502400" y="2769155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565900" y="276397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629400" y="2760810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692900" y="2758883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756400" y="2757711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819900" y="2756999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883400" y="2756566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6946900" y="2756304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010400" y="275614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073900" y="2756048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7137400" y="2755990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200900" y="2755954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63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35500" y="4356100"/>
            <a:ext cx="298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Cantidad por Cq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35500" y="48260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Carga y expresión</a:t>
            </a:r>
          </a:p>
        </p:txBody>
      </p:sp>
      <p:sp>
        <p:nvSpPr>
          <p:cNvPr id="112" name="Oval 111"/>
          <p:cNvSpPr/>
          <p:nvPr/>
        </p:nvSpPr>
        <p:spPr>
          <a:xfrm>
            <a:off x="8534400" y="27051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8773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2202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5631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9060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2489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5918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34400" y="30480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8773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2202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5631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9060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2489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5918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344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773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2202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5631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9060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2489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918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5344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773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202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5631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9060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2489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5918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328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28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Copias por partición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4328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Variantes conocidas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Si la muestra es ARN, primero RT. Multiplex y nested son estrategias combinables.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CONEXIÓN CON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Sanger: una banda limpia se convierte en 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400" y="2108200"/>
            <a:ext cx="2730500" cy="23368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8966" y="22606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7866" y="25908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70566" y="29337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70566" y="32385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70566" y="35433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570566" y="38481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70566" y="41529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379133" y="22606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033" y="25908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68033" y="33782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644900" y="32385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64000" y="3175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064000" y="3238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84700" y="2374900"/>
            <a:ext cx="6223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48200" y="2540000"/>
            <a:ext cx="495300" cy="10287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86300" y="3054350"/>
            <a:ext cx="419100" cy="51435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660900" y="3568700"/>
            <a:ext cx="2349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895850" y="3568700"/>
            <a:ext cx="2349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24500" y="32385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43600" y="3175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943600" y="3238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500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627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3754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3881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4008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4135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4262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4389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4516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4643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4770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897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5024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5151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5278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5405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5532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659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5786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5913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040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167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6294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6421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6548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6675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6802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6929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7056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7183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7310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7437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7564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7691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7818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7945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8072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19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832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845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858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870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883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896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908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921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934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9469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959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972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985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997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010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023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035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048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0612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073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086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099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112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124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137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150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62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175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188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2009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2136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2263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2390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2517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72644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72771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2898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3025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3152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3279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73406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3533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73660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73787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73914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74041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74168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4295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4422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4549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4676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74803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4930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5057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5184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5311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5438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75565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5692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5819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5946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073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6200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6327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6454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6581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6708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683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696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708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721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734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747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759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7772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7785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7797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78105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7823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7835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7848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861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7874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886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99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912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79248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7937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50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7962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5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988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8001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8013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026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8039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8051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80645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80772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80899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81026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81153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81280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81407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81534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81661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81788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81915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82042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82169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82296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82423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82550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82677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82804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82931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83058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83185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83312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83439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83566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3693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83820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83947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84074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84201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84328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84455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84582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84709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84836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84963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85090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85217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85344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8547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8559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8572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8585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8597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8610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8623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8636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8648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8661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86741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8686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8699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8712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724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8737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8750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8763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8775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87884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8801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8813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8826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8839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8851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8864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8877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8890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8902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8915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89281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89408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89535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89662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89789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89916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90043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90170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90297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90424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90551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90678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90805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90932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91059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91186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91313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91440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91567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91694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91821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91948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2075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92202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92329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92456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92583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2710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92837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92964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93091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93218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93345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93472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93599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93726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93853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93980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9410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9423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9436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9448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9461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9474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9486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9499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9512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9525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5377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9550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9563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9575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9588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9601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9613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9626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9639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96520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9664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677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690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702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715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728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9740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9753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9766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779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97917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98044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98171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98298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98425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98552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98679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98806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98933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99060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99187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99314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99441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99568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99695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99822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99949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00076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00203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00330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00457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0584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0711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0838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0965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1092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1219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1346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1473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1600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1727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1854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01981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02108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02235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02362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02489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02616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0274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0287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0299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0312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0325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0337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0350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0363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0375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0388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04013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0414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0426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0439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0452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0464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0477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0490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0502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05156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0528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0541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0553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0566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579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0591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0604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0617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0629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0642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106553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106680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106807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106934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107061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107188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107315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7442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107569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107696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07823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07950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108077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108204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108331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108458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108585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108712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108839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108966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109093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109220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109347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109474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109601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109728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109855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109982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10109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10236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64135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6426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6438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6451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6464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6477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6489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6502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6515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6527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6540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65532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65659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65786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65913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66040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66167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66294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66421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66548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66675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66802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66929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67056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67183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67310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67437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67564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67691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67818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67945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68072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68199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68326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68453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68580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68707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68834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68961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69088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69215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69342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69469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69596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69723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69850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69977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70104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70231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7035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048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061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7073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7086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7099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7112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7124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7137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7150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71628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7175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7188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7200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7213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7226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7239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7251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7264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72771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7289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7302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7315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7327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7340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7353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7366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7378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7391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7404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74168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V="1">
            <a:off x="74295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74422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74549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74676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74803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74930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V="1">
            <a:off x="75057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75184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75311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75438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75565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75692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75819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75946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6073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76200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76327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76454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76581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76708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76835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76962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77089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77216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77343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77470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77597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77724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77851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77978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78105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78232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78359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78486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78613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78740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78867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7899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7912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7924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7937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7950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7962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7975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7988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8001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8013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80264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8039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8051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8064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8077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8089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8102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8115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8128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81407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8153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8166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8178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8191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8204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8216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8229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8242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8255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>
            <a:off x="8267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82804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82931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83058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83185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83312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83439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83566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83693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83820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83947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84074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84201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84328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84455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84582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84709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84836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84963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5090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85217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85344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85471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>
            <a:off x="85598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85725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85852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85979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86106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86233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86360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86487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86614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86741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86868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86995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87122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87249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87376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87503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8763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8775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8788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8801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8813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8826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8839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8851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8864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8877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88900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8902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8915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8928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8940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8953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8966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8978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8991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V="1">
            <a:off x="90043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9017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9029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9042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9055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9067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9080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9093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9105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9118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9131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V="1">
            <a:off x="91440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V="1">
            <a:off x="91567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91694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91821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 flipV="1">
            <a:off x="91948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92075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92202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V="1">
            <a:off x="92329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 flipV="1">
            <a:off x="92456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V="1">
            <a:off x="92583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92710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92837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92964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93091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93218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93345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93472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93599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93726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>
            <a:off x="93853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93980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94107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94234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94361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>
            <a:off x="94488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94615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94742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94869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94996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95123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95250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95377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95504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95631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95758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95885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96012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96139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9626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9639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9652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9664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9677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9690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9702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9715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9728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9740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97536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9766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9779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9791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9804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9817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9829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9842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9855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 flipV="1">
            <a:off x="98679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9880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9893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9906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9918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9931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9944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9956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9969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9982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9994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 flipV="1">
            <a:off x="100076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 flipV="1">
            <a:off x="100203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 flipV="1">
            <a:off x="100330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 flipV="1">
            <a:off x="100457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 flipV="1">
            <a:off x="100584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 flipV="1">
            <a:off x="100711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 flipV="1">
            <a:off x="100838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 flipV="1">
            <a:off x="100965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 flipV="1">
            <a:off x="101092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101219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101346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101473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101600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101727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101854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V="1">
            <a:off x="101981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V="1">
            <a:off x="102108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102235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V="1">
            <a:off x="102362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102489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102616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>
            <a:off x="102743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>
            <a:off x="102870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102997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103124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103251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>
            <a:off x="103378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>
            <a:off x="103505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>
            <a:off x="103632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103759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103886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104013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>
            <a:off x="104140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104267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104394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104521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104648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104775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10490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10502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10515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10528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10541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10553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10566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>
            <a:off x="10579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10591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10604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106172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10629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10642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10655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10668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10680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10693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10706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10718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10731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10744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10756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10769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10782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10795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10807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10820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10833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10845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10858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10871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10883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10896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10909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10922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10934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10947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10960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10972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10985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10998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11010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11023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6413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6426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6438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6451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6464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6477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6489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6502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6515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6527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6540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>
            <a:off x="6553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>
            <a:off x="6565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>
            <a:off x="6578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>
            <a:off x="6591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>
            <a:off x="6604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>
            <a:off x="6616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V="1">
            <a:off x="66294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>
            <a:off x="6642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>
            <a:off x="6654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>
            <a:off x="6667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>
            <a:off x="6680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>
            <a:off x="6692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>
            <a:off x="6705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>
            <a:off x="6718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>
            <a:off x="6731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>
            <a:off x="6743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>
            <a:off x="6756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 flipV="1">
            <a:off x="67691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V="1">
            <a:off x="67818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 flipV="1">
            <a:off x="67945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 flipV="1">
            <a:off x="68072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 flipV="1">
            <a:off x="68199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 flipV="1">
            <a:off x="68326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 flipV="1">
            <a:off x="68453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 flipV="1">
            <a:off x="68580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 flipV="1">
            <a:off x="68707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 flipV="1">
            <a:off x="68834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 flipV="1">
            <a:off x="68961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 flipV="1">
            <a:off x="69088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 flipV="1">
            <a:off x="69215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69342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69469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69596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 flipV="1">
            <a:off x="69723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 flipV="1">
            <a:off x="69850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 flipV="1">
            <a:off x="69977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>
            <a:off x="70104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>
            <a:off x="70231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>
            <a:off x="70358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>
            <a:off x="70485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>
            <a:off x="70612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>
            <a:off x="70739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>
            <a:off x="70866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>
            <a:off x="70993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>
            <a:off x="71120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>
            <a:off x="71247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>
            <a:off x="71374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>
            <a:off x="71501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71628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71755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71882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72009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72136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72263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72390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7251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>
            <a:off x="7264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7277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7289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7302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7315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7327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7340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7353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7366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73787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7391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>
            <a:off x="7404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>
            <a:off x="7416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>
            <a:off x="7429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>
            <a:off x="7442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>
            <a:off x="7454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>
            <a:off x="7467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>
            <a:off x="7480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 flipV="1">
            <a:off x="74930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>
            <a:off x="7505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>
            <a:off x="7518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>
            <a:off x="7531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>
            <a:off x="7543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>
            <a:off x="7556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>
            <a:off x="7569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>
            <a:off x="7581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>
            <a:off x="7594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7607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7620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 flipV="1">
            <a:off x="76327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76454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V="1">
            <a:off x="76581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V="1">
            <a:off x="76708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 flipV="1">
            <a:off x="76835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 flipV="1">
            <a:off x="76962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 flipV="1">
            <a:off x="77089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 flipV="1">
            <a:off x="77216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 flipV="1">
            <a:off x="77343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 flipV="1">
            <a:off x="77470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 flipV="1">
            <a:off x="77597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 flipV="1">
            <a:off x="77724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 flipV="1">
            <a:off x="77851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V="1">
            <a:off x="77978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V="1">
            <a:off x="78105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V="1">
            <a:off x="78232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V="1">
            <a:off x="78359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V="1">
            <a:off x="78486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V="1">
            <a:off x="78613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>
            <a:off x="78740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78867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78994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79121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79248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>
            <a:off x="79375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>
            <a:off x="79502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>
            <a:off x="79629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>
            <a:off x="79756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>
            <a:off x="79883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80010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80137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80264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>
            <a:off x="80391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>
            <a:off x="80518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>
            <a:off x="80645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>
            <a:off x="80772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>
            <a:off x="80899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81026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>
            <a:off x="8115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8128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>
            <a:off x="8140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8153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8166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8178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8191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8204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8216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>
            <a:off x="8229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>
            <a:off x="82423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8255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8267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8280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8293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8305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8318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>
            <a:off x="8331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>
            <a:off x="8343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 flipV="1">
            <a:off x="83566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8369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8382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8394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8407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8420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8432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8445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8458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8470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8483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 flipV="1">
            <a:off x="84963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85090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 flipV="1">
            <a:off x="85217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 flipV="1">
            <a:off x="85344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 flipV="1">
            <a:off x="85471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 flipV="1">
            <a:off x="85598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V="1">
            <a:off x="85725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V="1">
            <a:off x="85852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 flipV="1">
            <a:off x="85979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 flipV="1">
            <a:off x="86106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 flipV="1">
            <a:off x="86233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 flipV="1">
            <a:off x="86360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86487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 flipV="1">
            <a:off x="86614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86741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86868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86995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87122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87249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87376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87503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>
            <a:off x="87630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>
            <a:off x="87757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>
            <a:off x="87884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>
            <a:off x="88011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>
            <a:off x="88138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>
            <a:off x="88265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>
            <a:off x="88392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88519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88646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88773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88900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89027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>
            <a:off x="89154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>
            <a:off x="89281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89408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89535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89662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8978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8991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9004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>
            <a:off x="9017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9029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>
            <a:off x="9042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9055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9067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9080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9093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91059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9118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9131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9144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9156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9169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182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9194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9207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V="1">
            <a:off x="92202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9232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9245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9258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9271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9283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9296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9309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9321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9334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9347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93599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93726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V="1">
            <a:off x="93853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93980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 flipV="1">
            <a:off x="94107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 flipV="1">
            <a:off x="94234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94361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94488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V="1">
            <a:off x="94615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V="1">
            <a:off x="94742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94869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94996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95123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95250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95377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95504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95631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95758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V="1">
            <a:off x="95885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96012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96139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96266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96393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96520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>
            <a:off x="96647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>
            <a:off x="96774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>
            <a:off x="96901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97028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97155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97282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>
            <a:off x="97409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>
            <a:off x="97536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>
            <a:off x="97663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97790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97917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98044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98171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98298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9842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9855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9867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9880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9893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9906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9918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>
            <a:off x="9931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>
            <a:off x="9944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>
            <a:off x="9956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>
            <a:off x="99695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>
            <a:off x="9982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>
            <a:off x="9994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10007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10020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10033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10045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10058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>
            <a:off x="10071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V="1">
            <a:off x="100838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>
            <a:off x="10096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10109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10121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10134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147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>
            <a:off x="10160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>
            <a:off x="10172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10185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10198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>
            <a:off x="10210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 flipV="1">
            <a:off x="102235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 flipV="1">
            <a:off x="102362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 flipV="1">
            <a:off x="102489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 flipV="1">
            <a:off x="102616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 flipV="1">
            <a:off x="102743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V="1">
            <a:off x="102870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 flipV="1">
            <a:off x="102997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V="1">
            <a:off x="103124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 flipV="1">
            <a:off x="103251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V="1">
            <a:off x="103378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 flipV="1">
            <a:off x="103505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V="1">
            <a:off x="103632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 flipV="1">
            <a:off x="103759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V="1">
            <a:off x="103886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 flipV="1">
            <a:off x="104013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V="1">
            <a:off x="104140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 flipV="1">
            <a:off x="104267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V="1">
            <a:off x="104394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04521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104648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104775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104902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105029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105156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05283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105410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105537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>
            <a:off x="105664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05791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105918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106045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106172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106299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106426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106553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06680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>
            <a:off x="106807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106934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>
            <a:off x="10706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10718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10731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10744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10756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10769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0782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10795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>
            <a:off x="10807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>
            <a:off x="10820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>
            <a:off x="108331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10845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10858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3" name="Connector 1122"/>
          <p:cNvCxnSpPr/>
          <p:nvPr/>
        </p:nvCxnSpPr>
        <p:spPr>
          <a:xfrm>
            <a:off x="10871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10883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10896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10909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>
            <a:off x="10922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10934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10947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10960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10972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10985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3" name="Connector 1132"/>
          <p:cNvCxnSpPr/>
          <p:nvPr/>
        </p:nvCxnSpPr>
        <p:spPr>
          <a:xfrm>
            <a:off x="10998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Connector 1133"/>
          <p:cNvCxnSpPr/>
          <p:nvPr/>
        </p:nvCxnSpPr>
        <p:spPr>
          <a:xfrm>
            <a:off x="11010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11023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>
            <a:off x="641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2" name="Connector 1141"/>
          <p:cNvCxnSpPr/>
          <p:nvPr/>
        </p:nvCxnSpPr>
        <p:spPr>
          <a:xfrm>
            <a:off x="642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3" name="Connector 1142"/>
          <p:cNvCxnSpPr/>
          <p:nvPr/>
        </p:nvCxnSpPr>
        <p:spPr>
          <a:xfrm>
            <a:off x="6438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>
            <a:off x="6451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6464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6477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6489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6502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6515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6527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1" name="Connector 1150"/>
          <p:cNvCxnSpPr/>
          <p:nvPr/>
        </p:nvCxnSpPr>
        <p:spPr>
          <a:xfrm>
            <a:off x="6540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2" name="Connector 1151"/>
          <p:cNvCxnSpPr/>
          <p:nvPr/>
        </p:nvCxnSpPr>
        <p:spPr>
          <a:xfrm>
            <a:off x="6553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>
            <a:off x="6565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>
            <a:off x="6578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>
            <a:off x="6591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>
            <a:off x="6604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>
            <a:off x="6616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6629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9" name="Connector 1158"/>
          <p:cNvCxnSpPr/>
          <p:nvPr/>
        </p:nvCxnSpPr>
        <p:spPr>
          <a:xfrm>
            <a:off x="6642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0" name="Connector 1159"/>
          <p:cNvCxnSpPr/>
          <p:nvPr/>
        </p:nvCxnSpPr>
        <p:spPr>
          <a:xfrm>
            <a:off x="6654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1" name="Connector 1160"/>
          <p:cNvCxnSpPr/>
          <p:nvPr/>
        </p:nvCxnSpPr>
        <p:spPr>
          <a:xfrm>
            <a:off x="6667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2" name="Connector 1161"/>
          <p:cNvCxnSpPr/>
          <p:nvPr/>
        </p:nvCxnSpPr>
        <p:spPr>
          <a:xfrm>
            <a:off x="6680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3" name="Connector 1162"/>
          <p:cNvCxnSpPr/>
          <p:nvPr/>
        </p:nvCxnSpPr>
        <p:spPr>
          <a:xfrm>
            <a:off x="6692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4" name="Connector 1163"/>
          <p:cNvCxnSpPr/>
          <p:nvPr/>
        </p:nvCxnSpPr>
        <p:spPr>
          <a:xfrm>
            <a:off x="6705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5" name="Connector 1164"/>
          <p:cNvCxnSpPr/>
          <p:nvPr/>
        </p:nvCxnSpPr>
        <p:spPr>
          <a:xfrm>
            <a:off x="6718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6" name="Connector 1165"/>
          <p:cNvCxnSpPr/>
          <p:nvPr/>
        </p:nvCxnSpPr>
        <p:spPr>
          <a:xfrm>
            <a:off x="6731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7" name="Connector 1166"/>
          <p:cNvCxnSpPr/>
          <p:nvPr/>
        </p:nvCxnSpPr>
        <p:spPr>
          <a:xfrm>
            <a:off x="6743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6756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6769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6781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6794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>
            <a:off x="6807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>
            <a:off x="6819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4" name="Connector 1173"/>
          <p:cNvCxnSpPr/>
          <p:nvPr/>
        </p:nvCxnSpPr>
        <p:spPr>
          <a:xfrm>
            <a:off x="6832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5" name="Connector 1174"/>
          <p:cNvCxnSpPr/>
          <p:nvPr/>
        </p:nvCxnSpPr>
        <p:spPr>
          <a:xfrm flipV="1">
            <a:off x="68453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>
            <a:off x="6858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6870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6883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6896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6908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>
            <a:off x="6921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2" name="Connector 1181"/>
          <p:cNvCxnSpPr/>
          <p:nvPr/>
        </p:nvCxnSpPr>
        <p:spPr>
          <a:xfrm>
            <a:off x="6934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3" name="Connector 1182"/>
          <p:cNvCxnSpPr/>
          <p:nvPr/>
        </p:nvCxnSpPr>
        <p:spPr>
          <a:xfrm>
            <a:off x="6946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4" name="Connector 1183"/>
          <p:cNvCxnSpPr/>
          <p:nvPr/>
        </p:nvCxnSpPr>
        <p:spPr>
          <a:xfrm>
            <a:off x="6959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5" name="Connector 1184"/>
          <p:cNvCxnSpPr/>
          <p:nvPr/>
        </p:nvCxnSpPr>
        <p:spPr>
          <a:xfrm>
            <a:off x="6972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 flipV="1">
            <a:off x="69850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 flipV="1">
            <a:off x="69977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 flipV="1">
            <a:off x="70104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 flipV="1">
            <a:off x="70231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 flipV="1">
            <a:off x="70358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 flipV="1">
            <a:off x="70485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2" name="Connector 1191"/>
          <p:cNvCxnSpPr/>
          <p:nvPr/>
        </p:nvCxnSpPr>
        <p:spPr>
          <a:xfrm flipV="1">
            <a:off x="70612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3" name="Connector 1192"/>
          <p:cNvCxnSpPr/>
          <p:nvPr/>
        </p:nvCxnSpPr>
        <p:spPr>
          <a:xfrm flipV="1">
            <a:off x="70739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 flipV="1">
            <a:off x="70866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 flipV="1">
            <a:off x="70993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 flipV="1">
            <a:off x="71120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 flipV="1">
            <a:off x="71247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 flipV="1">
            <a:off x="71374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 flipV="1">
            <a:off x="71501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0" name="Connector 1199"/>
          <p:cNvCxnSpPr/>
          <p:nvPr/>
        </p:nvCxnSpPr>
        <p:spPr>
          <a:xfrm flipV="1">
            <a:off x="71628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1" name="Connector 1200"/>
          <p:cNvCxnSpPr/>
          <p:nvPr/>
        </p:nvCxnSpPr>
        <p:spPr>
          <a:xfrm flipV="1">
            <a:off x="71755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2" name="Connector 1201"/>
          <p:cNvCxnSpPr/>
          <p:nvPr/>
        </p:nvCxnSpPr>
        <p:spPr>
          <a:xfrm flipV="1">
            <a:off x="71882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3" name="Connector 1202"/>
          <p:cNvCxnSpPr/>
          <p:nvPr/>
        </p:nvCxnSpPr>
        <p:spPr>
          <a:xfrm flipV="1">
            <a:off x="72009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4" name="Connector 1203"/>
          <p:cNvCxnSpPr/>
          <p:nvPr/>
        </p:nvCxnSpPr>
        <p:spPr>
          <a:xfrm flipV="1">
            <a:off x="72136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5" name="Connector 1204"/>
          <p:cNvCxnSpPr/>
          <p:nvPr/>
        </p:nvCxnSpPr>
        <p:spPr>
          <a:xfrm>
            <a:off x="72263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Connector 1205"/>
          <p:cNvCxnSpPr/>
          <p:nvPr/>
        </p:nvCxnSpPr>
        <p:spPr>
          <a:xfrm>
            <a:off x="72390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7" name="Connector 1206"/>
          <p:cNvCxnSpPr/>
          <p:nvPr/>
        </p:nvCxnSpPr>
        <p:spPr>
          <a:xfrm>
            <a:off x="72517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8" name="Connector 1207"/>
          <p:cNvCxnSpPr/>
          <p:nvPr/>
        </p:nvCxnSpPr>
        <p:spPr>
          <a:xfrm>
            <a:off x="72644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9" name="Connector 1208"/>
          <p:cNvCxnSpPr/>
          <p:nvPr/>
        </p:nvCxnSpPr>
        <p:spPr>
          <a:xfrm>
            <a:off x="72771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Connector 1209"/>
          <p:cNvCxnSpPr/>
          <p:nvPr/>
        </p:nvCxnSpPr>
        <p:spPr>
          <a:xfrm>
            <a:off x="72898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1" name="Connector 1210"/>
          <p:cNvCxnSpPr/>
          <p:nvPr/>
        </p:nvCxnSpPr>
        <p:spPr>
          <a:xfrm>
            <a:off x="73025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2" name="Connector 1211"/>
          <p:cNvCxnSpPr/>
          <p:nvPr/>
        </p:nvCxnSpPr>
        <p:spPr>
          <a:xfrm>
            <a:off x="73152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Connector 1212"/>
          <p:cNvCxnSpPr/>
          <p:nvPr/>
        </p:nvCxnSpPr>
        <p:spPr>
          <a:xfrm>
            <a:off x="73279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nector 1213"/>
          <p:cNvCxnSpPr/>
          <p:nvPr/>
        </p:nvCxnSpPr>
        <p:spPr>
          <a:xfrm>
            <a:off x="73406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5" name="Connector 1214"/>
          <p:cNvCxnSpPr/>
          <p:nvPr/>
        </p:nvCxnSpPr>
        <p:spPr>
          <a:xfrm>
            <a:off x="73533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6" name="Connector 1215"/>
          <p:cNvCxnSpPr/>
          <p:nvPr/>
        </p:nvCxnSpPr>
        <p:spPr>
          <a:xfrm>
            <a:off x="73660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nector 1216"/>
          <p:cNvCxnSpPr/>
          <p:nvPr/>
        </p:nvCxnSpPr>
        <p:spPr>
          <a:xfrm>
            <a:off x="73787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8" name="Connector 1217"/>
          <p:cNvCxnSpPr/>
          <p:nvPr/>
        </p:nvCxnSpPr>
        <p:spPr>
          <a:xfrm>
            <a:off x="73914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Connector 1218"/>
          <p:cNvCxnSpPr/>
          <p:nvPr/>
        </p:nvCxnSpPr>
        <p:spPr>
          <a:xfrm>
            <a:off x="74041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0" name="Connector 1219"/>
          <p:cNvCxnSpPr/>
          <p:nvPr/>
        </p:nvCxnSpPr>
        <p:spPr>
          <a:xfrm>
            <a:off x="74168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1" name="Connector 1220"/>
          <p:cNvCxnSpPr/>
          <p:nvPr/>
        </p:nvCxnSpPr>
        <p:spPr>
          <a:xfrm>
            <a:off x="74295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2" name="Connector 1221"/>
          <p:cNvCxnSpPr/>
          <p:nvPr/>
        </p:nvCxnSpPr>
        <p:spPr>
          <a:xfrm>
            <a:off x="74422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nector 1222"/>
          <p:cNvCxnSpPr/>
          <p:nvPr/>
        </p:nvCxnSpPr>
        <p:spPr>
          <a:xfrm>
            <a:off x="74549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4" name="Connector 1223"/>
          <p:cNvCxnSpPr/>
          <p:nvPr/>
        </p:nvCxnSpPr>
        <p:spPr>
          <a:xfrm>
            <a:off x="7467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5" name="Connector 1224"/>
          <p:cNvCxnSpPr/>
          <p:nvPr/>
        </p:nvCxnSpPr>
        <p:spPr>
          <a:xfrm>
            <a:off x="7480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>
            <a:off x="7493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>
            <a:off x="7505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8" name="Connector 1227"/>
          <p:cNvCxnSpPr/>
          <p:nvPr/>
        </p:nvCxnSpPr>
        <p:spPr>
          <a:xfrm>
            <a:off x="7518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9" name="Connector 1228"/>
          <p:cNvCxnSpPr/>
          <p:nvPr/>
        </p:nvCxnSpPr>
        <p:spPr>
          <a:xfrm>
            <a:off x="7531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>
            <a:off x="7543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>
            <a:off x="7556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2" name="Connector 1231"/>
          <p:cNvCxnSpPr/>
          <p:nvPr/>
        </p:nvCxnSpPr>
        <p:spPr>
          <a:xfrm>
            <a:off x="7569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3" name="Connector 1232"/>
          <p:cNvCxnSpPr/>
          <p:nvPr/>
        </p:nvCxnSpPr>
        <p:spPr>
          <a:xfrm>
            <a:off x="7581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4" name="Connector 1233"/>
          <p:cNvCxnSpPr/>
          <p:nvPr/>
        </p:nvCxnSpPr>
        <p:spPr>
          <a:xfrm>
            <a:off x="75946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5" name="Connector 1234"/>
          <p:cNvCxnSpPr/>
          <p:nvPr/>
        </p:nvCxnSpPr>
        <p:spPr>
          <a:xfrm>
            <a:off x="7607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6" name="Connector 1235"/>
          <p:cNvCxnSpPr/>
          <p:nvPr/>
        </p:nvCxnSpPr>
        <p:spPr>
          <a:xfrm>
            <a:off x="7620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7" name="Connector 1236"/>
          <p:cNvCxnSpPr/>
          <p:nvPr/>
        </p:nvCxnSpPr>
        <p:spPr>
          <a:xfrm>
            <a:off x="7632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8" name="Connector 1237"/>
          <p:cNvCxnSpPr/>
          <p:nvPr/>
        </p:nvCxnSpPr>
        <p:spPr>
          <a:xfrm>
            <a:off x="7645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9" name="Connector 1238"/>
          <p:cNvCxnSpPr/>
          <p:nvPr/>
        </p:nvCxnSpPr>
        <p:spPr>
          <a:xfrm>
            <a:off x="765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0" name="Connector 1239"/>
          <p:cNvCxnSpPr/>
          <p:nvPr/>
        </p:nvCxnSpPr>
        <p:spPr>
          <a:xfrm>
            <a:off x="767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1" name="Connector 1240"/>
          <p:cNvCxnSpPr/>
          <p:nvPr/>
        </p:nvCxnSpPr>
        <p:spPr>
          <a:xfrm>
            <a:off x="768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>
            <a:off x="769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 flipV="1">
            <a:off x="77089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>
            <a:off x="7721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>
            <a:off x="7734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>
            <a:off x="7747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>
            <a:off x="7759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>
            <a:off x="7772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>
            <a:off x="7785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0" name="Connector 1249"/>
          <p:cNvCxnSpPr/>
          <p:nvPr/>
        </p:nvCxnSpPr>
        <p:spPr>
          <a:xfrm>
            <a:off x="7797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1" name="Connector 1250"/>
          <p:cNvCxnSpPr/>
          <p:nvPr/>
        </p:nvCxnSpPr>
        <p:spPr>
          <a:xfrm>
            <a:off x="7810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2" name="Connector 1251"/>
          <p:cNvCxnSpPr/>
          <p:nvPr/>
        </p:nvCxnSpPr>
        <p:spPr>
          <a:xfrm>
            <a:off x="7823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3" name="Connector 1252"/>
          <p:cNvCxnSpPr/>
          <p:nvPr/>
        </p:nvCxnSpPr>
        <p:spPr>
          <a:xfrm>
            <a:off x="7835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4" name="Connector 1253"/>
          <p:cNvCxnSpPr/>
          <p:nvPr/>
        </p:nvCxnSpPr>
        <p:spPr>
          <a:xfrm flipV="1">
            <a:off x="78486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5" name="Connector 1254"/>
          <p:cNvCxnSpPr/>
          <p:nvPr/>
        </p:nvCxnSpPr>
        <p:spPr>
          <a:xfrm flipV="1">
            <a:off x="78613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6" name="Connector 1255"/>
          <p:cNvCxnSpPr/>
          <p:nvPr/>
        </p:nvCxnSpPr>
        <p:spPr>
          <a:xfrm flipV="1">
            <a:off x="78740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7" name="Connector 1256"/>
          <p:cNvCxnSpPr/>
          <p:nvPr/>
        </p:nvCxnSpPr>
        <p:spPr>
          <a:xfrm flipV="1">
            <a:off x="78867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8" name="Connector 1257"/>
          <p:cNvCxnSpPr/>
          <p:nvPr/>
        </p:nvCxnSpPr>
        <p:spPr>
          <a:xfrm flipV="1">
            <a:off x="78994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9" name="Connector 1258"/>
          <p:cNvCxnSpPr/>
          <p:nvPr/>
        </p:nvCxnSpPr>
        <p:spPr>
          <a:xfrm flipV="1">
            <a:off x="79121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0" name="Connector 1259"/>
          <p:cNvCxnSpPr/>
          <p:nvPr/>
        </p:nvCxnSpPr>
        <p:spPr>
          <a:xfrm flipV="1">
            <a:off x="79248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1" name="Connector 1260"/>
          <p:cNvCxnSpPr/>
          <p:nvPr/>
        </p:nvCxnSpPr>
        <p:spPr>
          <a:xfrm flipV="1">
            <a:off x="79375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2" name="Connector 1261"/>
          <p:cNvCxnSpPr/>
          <p:nvPr/>
        </p:nvCxnSpPr>
        <p:spPr>
          <a:xfrm flipV="1">
            <a:off x="79502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3" name="Connector 1262"/>
          <p:cNvCxnSpPr/>
          <p:nvPr/>
        </p:nvCxnSpPr>
        <p:spPr>
          <a:xfrm flipV="1">
            <a:off x="79629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4" name="Connector 1263"/>
          <p:cNvCxnSpPr/>
          <p:nvPr/>
        </p:nvCxnSpPr>
        <p:spPr>
          <a:xfrm flipV="1">
            <a:off x="79756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5" name="Connector 1264"/>
          <p:cNvCxnSpPr/>
          <p:nvPr/>
        </p:nvCxnSpPr>
        <p:spPr>
          <a:xfrm flipV="1">
            <a:off x="79883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6" name="Connector 1265"/>
          <p:cNvCxnSpPr/>
          <p:nvPr/>
        </p:nvCxnSpPr>
        <p:spPr>
          <a:xfrm flipV="1">
            <a:off x="80010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7" name="Connector 1266"/>
          <p:cNvCxnSpPr/>
          <p:nvPr/>
        </p:nvCxnSpPr>
        <p:spPr>
          <a:xfrm flipV="1">
            <a:off x="80137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8" name="Connector 1267"/>
          <p:cNvCxnSpPr/>
          <p:nvPr/>
        </p:nvCxnSpPr>
        <p:spPr>
          <a:xfrm flipV="1">
            <a:off x="80264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9" name="Connector 1268"/>
          <p:cNvCxnSpPr/>
          <p:nvPr/>
        </p:nvCxnSpPr>
        <p:spPr>
          <a:xfrm flipV="1">
            <a:off x="80391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0" name="Connector 1269"/>
          <p:cNvCxnSpPr/>
          <p:nvPr/>
        </p:nvCxnSpPr>
        <p:spPr>
          <a:xfrm flipV="1">
            <a:off x="80518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1" name="Connector 1270"/>
          <p:cNvCxnSpPr/>
          <p:nvPr/>
        </p:nvCxnSpPr>
        <p:spPr>
          <a:xfrm flipV="1">
            <a:off x="80645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2" name="Connector 1271"/>
          <p:cNvCxnSpPr/>
          <p:nvPr/>
        </p:nvCxnSpPr>
        <p:spPr>
          <a:xfrm flipV="1">
            <a:off x="80772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3" name="Connector 1272"/>
          <p:cNvCxnSpPr/>
          <p:nvPr/>
        </p:nvCxnSpPr>
        <p:spPr>
          <a:xfrm>
            <a:off x="80899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4" name="Connector 1273"/>
          <p:cNvCxnSpPr/>
          <p:nvPr/>
        </p:nvCxnSpPr>
        <p:spPr>
          <a:xfrm>
            <a:off x="81026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5" name="Connector 1274"/>
          <p:cNvCxnSpPr/>
          <p:nvPr/>
        </p:nvCxnSpPr>
        <p:spPr>
          <a:xfrm>
            <a:off x="81153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6" name="Connector 1275"/>
          <p:cNvCxnSpPr/>
          <p:nvPr/>
        </p:nvCxnSpPr>
        <p:spPr>
          <a:xfrm>
            <a:off x="81280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7" name="Connector 1276"/>
          <p:cNvCxnSpPr/>
          <p:nvPr/>
        </p:nvCxnSpPr>
        <p:spPr>
          <a:xfrm>
            <a:off x="81407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8" name="Connector 1277"/>
          <p:cNvCxnSpPr/>
          <p:nvPr/>
        </p:nvCxnSpPr>
        <p:spPr>
          <a:xfrm>
            <a:off x="81534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9" name="Connector 1278"/>
          <p:cNvCxnSpPr/>
          <p:nvPr/>
        </p:nvCxnSpPr>
        <p:spPr>
          <a:xfrm>
            <a:off x="81661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0" name="Connector 1279"/>
          <p:cNvCxnSpPr/>
          <p:nvPr/>
        </p:nvCxnSpPr>
        <p:spPr>
          <a:xfrm>
            <a:off x="81788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1" name="Connector 1280"/>
          <p:cNvCxnSpPr/>
          <p:nvPr/>
        </p:nvCxnSpPr>
        <p:spPr>
          <a:xfrm>
            <a:off x="81915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 1281"/>
          <p:cNvCxnSpPr/>
          <p:nvPr/>
        </p:nvCxnSpPr>
        <p:spPr>
          <a:xfrm>
            <a:off x="82042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3" name="Connector 1282"/>
          <p:cNvCxnSpPr/>
          <p:nvPr/>
        </p:nvCxnSpPr>
        <p:spPr>
          <a:xfrm>
            <a:off x="82169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4" name="Connector 1283"/>
          <p:cNvCxnSpPr/>
          <p:nvPr/>
        </p:nvCxnSpPr>
        <p:spPr>
          <a:xfrm>
            <a:off x="82296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5" name="Connector 1284"/>
          <p:cNvCxnSpPr/>
          <p:nvPr/>
        </p:nvCxnSpPr>
        <p:spPr>
          <a:xfrm>
            <a:off x="82423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6" name="Connector 1285"/>
          <p:cNvCxnSpPr/>
          <p:nvPr/>
        </p:nvCxnSpPr>
        <p:spPr>
          <a:xfrm>
            <a:off x="82550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7" name="Connector 1286"/>
          <p:cNvCxnSpPr/>
          <p:nvPr/>
        </p:nvCxnSpPr>
        <p:spPr>
          <a:xfrm>
            <a:off x="82677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8" name="Connector 1287"/>
          <p:cNvCxnSpPr/>
          <p:nvPr/>
        </p:nvCxnSpPr>
        <p:spPr>
          <a:xfrm>
            <a:off x="82804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9" name="Connector 1288"/>
          <p:cNvCxnSpPr/>
          <p:nvPr/>
        </p:nvCxnSpPr>
        <p:spPr>
          <a:xfrm>
            <a:off x="82931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0" name="Connector 1289"/>
          <p:cNvCxnSpPr/>
          <p:nvPr/>
        </p:nvCxnSpPr>
        <p:spPr>
          <a:xfrm>
            <a:off x="83058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1" name="Connector 1290"/>
          <p:cNvCxnSpPr/>
          <p:nvPr/>
        </p:nvCxnSpPr>
        <p:spPr>
          <a:xfrm>
            <a:off x="83185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2" name="Connector 1291"/>
          <p:cNvCxnSpPr/>
          <p:nvPr/>
        </p:nvCxnSpPr>
        <p:spPr>
          <a:xfrm>
            <a:off x="8331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3" name="Connector 1292"/>
          <p:cNvCxnSpPr/>
          <p:nvPr/>
        </p:nvCxnSpPr>
        <p:spPr>
          <a:xfrm>
            <a:off x="8343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4" name="Connector 1293"/>
          <p:cNvCxnSpPr/>
          <p:nvPr/>
        </p:nvCxnSpPr>
        <p:spPr>
          <a:xfrm>
            <a:off x="8356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5" name="Connector 1294"/>
          <p:cNvCxnSpPr/>
          <p:nvPr/>
        </p:nvCxnSpPr>
        <p:spPr>
          <a:xfrm>
            <a:off x="8369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6" name="Connector 1295"/>
          <p:cNvCxnSpPr/>
          <p:nvPr/>
        </p:nvCxnSpPr>
        <p:spPr>
          <a:xfrm>
            <a:off x="8382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7" name="Connector 1296"/>
          <p:cNvCxnSpPr/>
          <p:nvPr/>
        </p:nvCxnSpPr>
        <p:spPr>
          <a:xfrm>
            <a:off x="8394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8" name="Connector 1297"/>
          <p:cNvCxnSpPr/>
          <p:nvPr/>
        </p:nvCxnSpPr>
        <p:spPr>
          <a:xfrm>
            <a:off x="8407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9" name="Connector 1298"/>
          <p:cNvCxnSpPr/>
          <p:nvPr/>
        </p:nvCxnSpPr>
        <p:spPr>
          <a:xfrm>
            <a:off x="8420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0" name="Connector 1299"/>
          <p:cNvCxnSpPr/>
          <p:nvPr/>
        </p:nvCxnSpPr>
        <p:spPr>
          <a:xfrm>
            <a:off x="8432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1" name="Connector 1300"/>
          <p:cNvCxnSpPr/>
          <p:nvPr/>
        </p:nvCxnSpPr>
        <p:spPr>
          <a:xfrm>
            <a:off x="8445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Connector 1301"/>
          <p:cNvCxnSpPr/>
          <p:nvPr/>
        </p:nvCxnSpPr>
        <p:spPr>
          <a:xfrm>
            <a:off x="84582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Connector 1302"/>
          <p:cNvCxnSpPr/>
          <p:nvPr/>
        </p:nvCxnSpPr>
        <p:spPr>
          <a:xfrm>
            <a:off x="8470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4" name="Connector 1303"/>
          <p:cNvCxnSpPr/>
          <p:nvPr/>
        </p:nvCxnSpPr>
        <p:spPr>
          <a:xfrm>
            <a:off x="8483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5" name="Connector 1304"/>
          <p:cNvCxnSpPr/>
          <p:nvPr/>
        </p:nvCxnSpPr>
        <p:spPr>
          <a:xfrm>
            <a:off x="8496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6" name="Connector 1305"/>
          <p:cNvCxnSpPr/>
          <p:nvPr/>
        </p:nvCxnSpPr>
        <p:spPr>
          <a:xfrm>
            <a:off x="8509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7" name="Connector 1306"/>
          <p:cNvCxnSpPr/>
          <p:nvPr/>
        </p:nvCxnSpPr>
        <p:spPr>
          <a:xfrm>
            <a:off x="8521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8" name="Connector 1307"/>
          <p:cNvCxnSpPr/>
          <p:nvPr/>
        </p:nvCxnSpPr>
        <p:spPr>
          <a:xfrm>
            <a:off x="8534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9" name="Connector 1308"/>
          <p:cNvCxnSpPr/>
          <p:nvPr/>
        </p:nvCxnSpPr>
        <p:spPr>
          <a:xfrm>
            <a:off x="8547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0" name="Connector 1309"/>
          <p:cNvCxnSpPr/>
          <p:nvPr/>
        </p:nvCxnSpPr>
        <p:spPr>
          <a:xfrm>
            <a:off x="8559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1" name="Connector 1310"/>
          <p:cNvCxnSpPr/>
          <p:nvPr/>
        </p:nvCxnSpPr>
        <p:spPr>
          <a:xfrm flipV="1">
            <a:off x="85725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2" name="Connector 1311"/>
          <p:cNvCxnSpPr/>
          <p:nvPr/>
        </p:nvCxnSpPr>
        <p:spPr>
          <a:xfrm>
            <a:off x="8585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3" name="Connector 1312"/>
          <p:cNvCxnSpPr/>
          <p:nvPr/>
        </p:nvCxnSpPr>
        <p:spPr>
          <a:xfrm>
            <a:off x="8597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4" name="Connector 1313"/>
          <p:cNvCxnSpPr/>
          <p:nvPr/>
        </p:nvCxnSpPr>
        <p:spPr>
          <a:xfrm>
            <a:off x="8610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5" name="Connector 1314"/>
          <p:cNvCxnSpPr/>
          <p:nvPr/>
        </p:nvCxnSpPr>
        <p:spPr>
          <a:xfrm>
            <a:off x="8623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8636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8648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 1317"/>
          <p:cNvCxnSpPr/>
          <p:nvPr/>
        </p:nvCxnSpPr>
        <p:spPr>
          <a:xfrm>
            <a:off x="8661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9" name="Connector 1318"/>
          <p:cNvCxnSpPr/>
          <p:nvPr/>
        </p:nvCxnSpPr>
        <p:spPr>
          <a:xfrm>
            <a:off x="8674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8686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8699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 1321"/>
          <p:cNvCxnSpPr/>
          <p:nvPr/>
        </p:nvCxnSpPr>
        <p:spPr>
          <a:xfrm flipV="1">
            <a:off x="87122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3" name="Connector 1322"/>
          <p:cNvCxnSpPr/>
          <p:nvPr/>
        </p:nvCxnSpPr>
        <p:spPr>
          <a:xfrm flipV="1">
            <a:off x="87249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4" name="Connector 1323"/>
          <p:cNvCxnSpPr/>
          <p:nvPr/>
        </p:nvCxnSpPr>
        <p:spPr>
          <a:xfrm flipV="1">
            <a:off x="87376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5" name="Connector 1324"/>
          <p:cNvCxnSpPr/>
          <p:nvPr/>
        </p:nvCxnSpPr>
        <p:spPr>
          <a:xfrm flipV="1">
            <a:off x="87503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6" name="Connector 1325"/>
          <p:cNvCxnSpPr/>
          <p:nvPr/>
        </p:nvCxnSpPr>
        <p:spPr>
          <a:xfrm flipV="1">
            <a:off x="87630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7" name="Connector 1326"/>
          <p:cNvCxnSpPr/>
          <p:nvPr/>
        </p:nvCxnSpPr>
        <p:spPr>
          <a:xfrm flipV="1">
            <a:off x="87757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8" name="Connector 1327"/>
          <p:cNvCxnSpPr/>
          <p:nvPr/>
        </p:nvCxnSpPr>
        <p:spPr>
          <a:xfrm flipV="1">
            <a:off x="87884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 1328"/>
          <p:cNvCxnSpPr/>
          <p:nvPr/>
        </p:nvCxnSpPr>
        <p:spPr>
          <a:xfrm flipV="1">
            <a:off x="88011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0" name="Connector 1329"/>
          <p:cNvCxnSpPr/>
          <p:nvPr/>
        </p:nvCxnSpPr>
        <p:spPr>
          <a:xfrm flipV="1">
            <a:off x="88138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1" name="Connector 1330"/>
          <p:cNvCxnSpPr/>
          <p:nvPr/>
        </p:nvCxnSpPr>
        <p:spPr>
          <a:xfrm flipV="1">
            <a:off x="88265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2" name="Connector 1331"/>
          <p:cNvCxnSpPr/>
          <p:nvPr/>
        </p:nvCxnSpPr>
        <p:spPr>
          <a:xfrm flipV="1">
            <a:off x="88392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3" name="Connector 1332"/>
          <p:cNvCxnSpPr/>
          <p:nvPr/>
        </p:nvCxnSpPr>
        <p:spPr>
          <a:xfrm flipV="1">
            <a:off x="88519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4" name="Connector 1333"/>
          <p:cNvCxnSpPr/>
          <p:nvPr/>
        </p:nvCxnSpPr>
        <p:spPr>
          <a:xfrm flipV="1">
            <a:off x="88646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5" name="Connector 1334"/>
          <p:cNvCxnSpPr/>
          <p:nvPr/>
        </p:nvCxnSpPr>
        <p:spPr>
          <a:xfrm flipV="1">
            <a:off x="88773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6" name="Connector 1335"/>
          <p:cNvCxnSpPr/>
          <p:nvPr/>
        </p:nvCxnSpPr>
        <p:spPr>
          <a:xfrm flipV="1">
            <a:off x="88900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7" name="Connector 1336"/>
          <p:cNvCxnSpPr/>
          <p:nvPr/>
        </p:nvCxnSpPr>
        <p:spPr>
          <a:xfrm flipV="1">
            <a:off x="89027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8" name="Connector 1337"/>
          <p:cNvCxnSpPr/>
          <p:nvPr/>
        </p:nvCxnSpPr>
        <p:spPr>
          <a:xfrm flipV="1">
            <a:off x="89154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9" name="Connector 1338"/>
          <p:cNvCxnSpPr/>
          <p:nvPr/>
        </p:nvCxnSpPr>
        <p:spPr>
          <a:xfrm flipV="1">
            <a:off x="89281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0" name="Connector 1339"/>
          <p:cNvCxnSpPr/>
          <p:nvPr/>
        </p:nvCxnSpPr>
        <p:spPr>
          <a:xfrm flipV="1">
            <a:off x="89408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1" name="Connector 1340"/>
          <p:cNvCxnSpPr/>
          <p:nvPr/>
        </p:nvCxnSpPr>
        <p:spPr>
          <a:xfrm>
            <a:off x="89535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2" name="Connector 1341"/>
          <p:cNvCxnSpPr/>
          <p:nvPr/>
        </p:nvCxnSpPr>
        <p:spPr>
          <a:xfrm>
            <a:off x="89662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3" name="Connector 1342"/>
          <p:cNvCxnSpPr/>
          <p:nvPr/>
        </p:nvCxnSpPr>
        <p:spPr>
          <a:xfrm>
            <a:off x="89789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4" name="Connector 1343"/>
          <p:cNvCxnSpPr/>
          <p:nvPr/>
        </p:nvCxnSpPr>
        <p:spPr>
          <a:xfrm>
            <a:off x="89916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5" name="Connector 1344"/>
          <p:cNvCxnSpPr/>
          <p:nvPr/>
        </p:nvCxnSpPr>
        <p:spPr>
          <a:xfrm>
            <a:off x="90043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6" name="Connector 1345"/>
          <p:cNvCxnSpPr/>
          <p:nvPr/>
        </p:nvCxnSpPr>
        <p:spPr>
          <a:xfrm>
            <a:off x="90170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7" name="Connector 1346"/>
          <p:cNvCxnSpPr/>
          <p:nvPr/>
        </p:nvCxnSpPr>
        <p:spPr>
          <a:xfrm>
            <a:off x="90297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8" name="Connector 1347"/>
          <p:cNvCxnSpPr/>
          <p:nvPr/>
        </p:nvCxnSpPr>
        <p:spPr>
          <a:xfrm>
            <a:off x="90424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9" name="Connector 1348"/>
          <p:cNvCxnSpPr/>
          <p:nvPr/>
        </p:nvCxnSpPr>
        <p:spPr>
          <a:xfrm>
            <a:off x="90551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0" name="Connector 1349"/>
          <p:cNvCxnSpPr/>
          <p:nvPr/>
        </p:nvCxnSpPr>
        <p:spPr>
          <a:xfrm>
            <a:off x="90678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1" name="Connector 1350"/>
          <p:cNvCxnSpPr/>
          <p:nvPr/>
        </p:nvCxnSpPr>
        <p:spPr>
          <a:xfrm>
            <a:off x="90805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2" name="Connector 1351"/>
          <p:cNvCxnSpPr/>
          <p:nvPr/>
        </p:nvCxnSpPr>
        <p:spPr>
          <a:xfrm>
            <a:off x="90932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3" name="Connector 1352"/>
          <p:cNvCxnSpPr/>
          <p:nvPr/>
        </p:nvCxnSpPr>
        <p:spPr>
          <a:xfrm>
            <a:off x="91059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4" name="Connector 1353"/>
          <p:cNvCxnSpPr/>
          <p:nvPr/>
        </p:nvCxnSpPr>
        <p:spPr>
          <a:xfrm>
            <a:off x="91186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5" name="Connector 1354"/>
          <p:cNvCxnSpPr/>
          <p:nvPr/>
        </p:nvCxnSpPr>
        <p:spPr>
          <a:xfrm>
            <a:off x="91313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6" name="Connector 1355"/>
          <p:cNvCxnSpPr/>
          <p:nvPr/>
        </p:nvCxnSpPr>
        <p:spPr>
          <a:xfrm>
            <a:off x="91440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7" name="Connector 1356"/>
          <p:cNvCxnSpPr/>
          <p:nvPr/>
        </p:nvCxnSpPr>
        <p:spPr>
          <a:xfrm>
            <a:off x="91567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8" name="Connector 1357"/>
          <p:cNvCxnSpPr/>
          <p:nvPr/>
        </p:nvCxnSpPr>
        <p:spPr>
          <a:xfrm>
            <a:off x="91694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9" name="Connector 1358"/>
          <p:cNvCxnSpPr/>
          <p:nvPr/>
        </p:nvCxnSpPr>
        <p:spPr>
          <a:xfrm>
            <a:off x="91821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0" name="Connector 1359"/>
          <p:cNvCxnSpPr/>
          <p:nvPr/>
        </p:nvCxnSpPr>
        <p:spPr>
          <a:xfrm>
            <a:off x="9194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1" name="Connector 1360"/>
          <p:cNvCxnSpPr/>
          <p:nvPr/>
        </p:nvCxnSpPr>
        <p:spPr>
          <a:xfrm>
            <a:off x="9207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2" name="Connector 1361"/>
          <p:cNvCxnSpPr/>
          <p:nvPr/>
        </p:nvCxnSpPr>
        <p:spPr>
          <a:xfrm>
            <a:off x="9220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3" name="Connector 1362"/>
          <p:cNvCxnSpPr/>
          <p:nvPr/>
        </p:nvCxnSpPr>
        <p:spPr>
          <a:xfrm>
            <a:off x="9232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4" name="Connector 1363"/>
          <p:cNvCxnSpPr/>
          <p:nvPr/>
        </p:nvCxnSpPr>
        <p:spPr>
          <a:xfrm>
            <a:off x="9245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5" name="Connector 1364"/>
          <p:cNvCxnSpPr/>
          <p:nvPr/>
        </p:nvCxnSpPr>
        <p:spPr>
          <a:xfrm>
            <a:off x="9258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6" name="Connector 1365"/>
          <p:cNvCxnSpPr/>
          <p:nvPr/>
        </p:nvCxnSpPr>
        <p:spPr>
          <a:xfrm>
            <a:off x="9271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7" name="Connector 1366"/>
          <p:cNvCxnSpPr/>
          <p:nvPr/>
        </p:nvCxnSpPr>
        <p:spPr>
          <a:xfrm>
            <a:off x="9283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8" name="Connector 1367"/>
          <p:cNvCxnSpPr/>
          <p:nvPr/>
        </p:nvCxnSpPr>
        <p:spPr>
          <a:xfrm>
            <a:off x="9296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9" name="Connector 1368"/>
          <p:cNvCxnSpPr/>
          <p:nvPr/>
        </p:nvCxnSpPr>
        <p:spPr>
          <a:xfrm>
            <a:off x="9309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0" name="Connector 1369"/>
          <p:cNvCxnSpPr/>
          <p:nvPr/>
        </p:nvCxnSpPr>
        <p:spPr>
          <a:xfrm>
            <a:off x="93218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1" name="Connector 1370"/>
          <p:cNvCxnSpPr/>
          <p:nvPr/>
        </p:nvCxnSpPr>
        <p:spPr>
          <a:xfrm>
            <a:off x="9334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2" name="Connector 1371"/>
          <p:cNvCxnSpPr/>
          <p:nvPr/>
        </p:nvCxnSpPr>
        <p:spPr>
          <a:xfrm>
            <a:off x="9347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3" name="Connector 1372"/>
          <p:cNvCxnSpPr/>
          <p:nvPr/>
        </p:nvCxnSpPr>
        <p:spPr>
          <a:xfrm>
            <a:off x="9359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4" name="Connector 1373"/>
          <p:cNvCxnSpPr/>
          <p:nvPr/>
        </p:nvCxnSpPr>
        <p:spPr>
          <a:xfrm>
            <a:off x="9372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5" name="Connector 1374"/>
          <p:cNvCxnSpPr/>
          <p:nvPr/>
        </p:nvCxnSpPr>
        <p:spPr>
          <a:xfrm>
            <a:off x="9385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6" name="Connector 1375"/>
          <p:cNvCxnSpPr/>
          <p:nvPr/>
        </p:nvCxnSpPr>
        <p:spPr>
          <a:xfrm>
            <a:off x="9398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7" name="Connector 1376"/>
          <p:cNvCxnSpPr/>
          <p:nvPr/>
        </p:nvCxnSpPr>
        <p:spPr>
          <a:xfrm>
            <a:off x="9410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8" name="Connector 1377"/>
          <p:cNvCxnSpPr/>
          <p:nvPr/>
        </p:nvCxnSpPr>
        <p:spPr>
          <a:xfrm>
            <a:off x="9423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9" name="Connector 1378"/>
          <p:cNvCxnSpPr/>
          <p:nvPr/>
        </p:nvCxnSpPr>
        <p:spPr>
          <a:xfrm flipV="1">
            <a:off x="94361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0" name="Connector 1379"/>
          <p:cNvCxnSpPr/>
          <p:nvPr/>
        </p:nvCxnSpPr>
        <p:spPr>
          <a:xfrm>
            <a:off x="9448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1" name="Connector 1380"/>
          <p:cNvCxnSpPr/>
          <p:nvPr/>
        </p:nvCxnSpPr>
        <p:spPr>
          <a:xfrm>
            <a:off x="9461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2" name="Connector 1381"/>
          <p:cNvCxnSpPr/>
          <p:nvPr/>
        </p:nvCxnSpPr>
        <p:spPr>
          <a:xfrm>
            <a:off x="9474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3" name="Connector 1382"/>
          <p:cNvCxnSpPr/>
          <p:nvPr/>
        </p:nvCxnSpPr>
        <p:spPr>
          <a:xfrm>
            <a:off x="9486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4" name="Connector 1383"/>
          <p:cNvCxnSpPr/>
          <p:nvPr/>
        </p:nvCxnSpPr>
        <p:spPr>
          <a:xfrm>
            <a:off x="9499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5" name="Connector 1384"/>
          <p:cNvCxnSpPr/>
          <p:nvPr/>
        </p:nvCxnSpPr>
        <p:spPr>
          <a:xfrm>
            <a:off x="9512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6" name="Connector 1385"/>
          <p:cNvCxnSpPr/>
          <p:nvPr/>
        </p:nvCxnSpPr>
        <p:spPr>
          <a:xfrm>
            <a:off x="9525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7" name="Connector 1386"/>
          <p:cNvCxnSpPr/>
          <p:nvPr/>
        </p:nvCxnSpPr>
        <p:spPr>
          <a:xfrm>
            <a:off x="9537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8" name="Connector 1387"/>
          <p:cNvCxnSpPr/>
          <p:nvPr/>
        </p:nvCxnSpPr>
        <p:spPr>
          <a:xfrm>
            <a:off x="9550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9" name="Connector 1388"/>
          <p:cNvCxnSpPr/>
          <p:nvPr/>
        </p:nvCxnSpPr>
        <p:spPr>
          <a:xfrm>
            <a:off x="9563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0" name="Connector 1389"/>
          <p:cNvCxnSpPr/>
          <p:nvPr/>
        </p:nvCxnSpPr>
        <p:spPr>
          <a:xfrm flipV="1">
            <a:off x="95758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1" name="Connector 1390"/>
          <p:cNvCxnSpPr/>
          <p:nvPr/>
        </p:nvCxnSpPr>
        <p:spPr>
          <a:xfrm flipV="1">
            <a:off x="95885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2" name="Connector 1391"/>
          <p:cNvCxnSpPr/>
          <p:nvPr/>
        </p:nvCxnSpPr>
        <p:spPr>
          <a:xfrm flipV="1">
            <a:off x="96012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3" name="Connector 1392"/>
          <p:cNvCxnSpPr/>
          <p:nvPr/>
        </p:nvCxnSpPr>
        <p:spPr>
          <a:xfrm flipV="1">
            <a:off x="96139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4" name="Connector 1393"/>
          <p:cNvCxnSpPr/>
          <p:nvPr/>
        </p:nvCxnSpPr>
        <p:spPr>
          <a:xfrm flipV="1">
            <a:off x="96266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5" name="Connector 1394"/>
          <p:cNvCxnSpPr/>
          <p:nvPr/>
        </p:nvCxnSpPr>
        <p:spPr>
          <a:xfrm flipV="1">
            <a:off x="96393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6" name="Connector 1395"/>
          <p:cNvCxnSpPr/>
          <p:nvPr/>
        </p:nvCxnSpPr>
        <p:spPr>
          <a:xfrm flipV="1">
            <a:off x="96520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7" name="Connector 1396"/>
          <p:cNvCxnSpPr/>
          <p:nvPr/>
        </p:nvCxnSpPr>
        <p:spPr>
          <a:xfrm flipV="1">
            <a:off x="96647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8" name="Connector 1397"/>
          <p:cNvCxnSpPr/>
          <p:nvPr/>
        </p:nvCxnSpPr>
        <p:spPr>
          <a:xfrm flipV="1">
            <a:off x="96774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9" name="Connector 1398"/>
          <p:cNvCxnSpPr/>
          <p:nvPr/>
        </p:nvCxnSpPr>
        <p:spPr>
          <a:xfrm flipV="1">
            <a:off x="96901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0" name="Connector 1399"/>
          <p:cNvCxnSpPr/>
          <p:nvPr/>
        </p:nvCxnSpPr>
        <p:spPr>
          <a:xfrm flipV="1">
            <a:off x="97028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1" name="Connector 1400"/>
          <p:cNvCxnSpPr/>
          <p:nvPr/>
        </p:nvCxnSpPr>
        <p:spPr>
          <a:xfrm flipV="1">
            <a:off x="97155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2" name="Connector 1401"/>
          <p:cNvCxnSpPr/>
          <p:nvPr/>
        </p:nvCxnSpPr>
        <p:spPr>
          <a:xfrm flipV="1">
            <a:off x="97282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nector 1402"/>
          <p:cNvCxnSpPr/>
          <p:nvPr/>
        </p:nvCxnSpPr>
        <p:spPr>
          <a:xfrm flipV="1">
            <a:off x="97409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4" name="Connector 1403"/>
          <p:cNvCxnSpPr/>
          <p:nvPr/>
        </p:nvCxnSpPr>
        <p:spPr>
          <a:xfrm flipV="1">
            <a:off x="97536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5" name="Connector 1404"/>
          <p:cNvCxnSpPr/>
          <p:nvPr/>
        </p:nvCxnSpPr>
        <p:spPr>
          <a:xfrm flipV="1">
            <a:off x="97663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6" name="Connector 1405"/>
          <p:cNvCxnSpPr/>
          <p:nvPr/>
        </p:nvCxnSpPr>
        <p:spPr>
          <a:xfrm flipV="1">
            <a:off x="97790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7" name="Connector 1406"/>
          <p:cNvCxnSpPr/>
          <p:nvPr/>
        </p:nvCxnSpPr>
        <p:spPr>
          <a:xfrm flipV="1">
            <a:off x="97917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8" name="Connector 1407"/>
          <p:cNvCxnSpPr/>
          <p:nvPr/>
        </p:nvCxnSpPr>
        <p:spPr>
          <a:xfrm flipV="1">
            <a:off x="98044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9" name="Connector 1408"/>
          <p:cNvCxnSpPr/>
          <p:nvPr/>
        </p:nvCxnSpPr>
        <p:spPr>
          <a:xfrm>
            <a:off x="98171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0" name="Connector 1409"/>
          <p:cNvCxnSpPr/>
          <p:nvPr/>
        </p:nvCxnSpPr>
        <p:spPr>
          <a:xfrm>
            <a:off x="98298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1" name="Connector 1410"/>
          <p:cNvCxnSpPr/>
          <p:nvPr/>
        </p:nvCxnSpPr>
        <p:spPr>
          <a:xfrm>
            <a:off x="98425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2" name="Connector 1411"/>
          <p:cNvCxnSpPr/>
          <p:nvPr/>
        </p:nvCxnSpPr>
        <p:spPr>
          <a:xfrm>
            <a:off x="98552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3" name="Connector 1412"/>
          <p:cNvCxnSpPr/>
          <p:nvPr/>
        </p:nvCxnSpPr>
        <p:spPr>
          <a:xfrm>
            <a:off x="98679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4" name="Connector 1413"/>
          <p:cNvCxnSpPr/>
          <p:nvPr/>
        </p:nvCxnSpPr>
        <p:spPr>
          <a:xfrm>
            <a:off x="98806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nector 1414"/>
          <p:cNvCxnSpPr/>
          <p:nvPr/>
        </p:nvCxnSpPr>
        <p:spPr>
          <a:xfrm>
            <a:off x="98933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6" name="Connector 1415"/>
          <p:cNvCxnSpPr/>
          <p:nvPr/>
        </p:nvCxnSpPr>
        <p:spPr>
          <a:xfrm>
            <a:off x="99060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7" name="Connector 1416"/>
          <p:cNvCxnSpPr/>
          <p:nvPr/>
        </p:nvCxnSpPr>
        <p:spPr>
          <a:xfrm>
            <a:off x="99187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8" name="Connector 1417"/>
          <p:cNvCxnSpPr/>
          <p:nvPr/>
        </p:nvCxnSpPr>
        <p:spPr>
          <a:xfrm>
            <a:off x="99314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9" name="Connector 1418"/>
          <p:cNvCxnSpPr/>
          <p:nvPr/>
        </p:nvCxnSpPr>
        <p:spPr>
          <a:xfrm>
            <a:off x="99441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0" name="Connector 1419"/>
          <p:cNvCxnSpPr/>
          <p:nvPr/>
        </p:nvCxnSpPr>
        <p:spPr>
          <a:xfrm>
            <a:off x="99568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1" name="Connector 1420"/>
          <p:cNvCxnSpPr/>
          <p:nvPr/>
        </p:nvCxnSpPr>
        <p:spPr>
          <a:xfrm>
            <a:off x="99695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2" name="Connector 1421"/>
          <p:cNvCxnSpPr/>
          <p:nvPr/>
        </p:nvCxnSpPr>
        <p:spPr>
          <a:xfrm>
            <a:off x="99822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3" name="Connector 1422"/>
          <p:cNvCxnSpPr/>
          <p:nvPr/>
        </p:nvCxnSpPr>
        <p:spPr>
          <a:xfrm>
            <a:off x="99949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4" name="Connector 1423"/>
          <p:cNvCxnSpPr/>
          <p:nvPr/>
        </p:nvCxnSpPr>
        <p:spPr>
          <a:xfrm>
            <a:off x="100076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5" name="Connector 1424"/>
          <p:cNvCxnSpPr/>
          <p:nvPr/>
        </p:nvCxnSpPr>
        <p:spPr>
          <a:xfrm>
            <a:off x="100203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6" name="Connector 1425"/>
          <p:cNvCxnSpPr/>
          <p:nvPr/>
        </p:nvCxnSpPr>
        <p:spPr>
          <a:xfrm>
            <a:off x="100330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7" name="Connector 1426"/>
          <p:cNvCxnSpPr/>
          <p:nvPr/>
        </p:nvCxnSpPr>
        <p:spPr>
          <a:xfrm>
            <a:off x="100457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8" name="Connector 1427"/>
          <p:cNvCxnSpPr/>
          <p:nvPr/>
        </p:nvCxnSpPr>
        <p:spPr>
          <a:xfrm>
            <a:off x="10058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9" name="Connector 1428"/>
          <p:cNvCxnSpPr/>
          <p:nvPr/>
        </p:nvCxnSpPr>
        <p:spPr>
          <a:xfrm>
            <a:off x="10071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0" name="Connector 1429"/>
          <p:cNvCxnSpPr/>
          <p:nvPr/>
        </p:nvCxnSpPr>
        <p:spPr>
          <a:xfrm>
            <a:off x="10083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1" name="Connector 1430"/>
          <p:cNvCxnSpPr/>
          <p:nvPr/>
        </p:nvCxnSpPr>
        <p:spPr>
          <a:xfrm>
            <a:off x="10096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2" name="Connector 1431"/>
          <p:cNvCxnSpPr/>
          <p:nvPr/>
        </p:nvCxnSpPr>
        <p:spPr>
          <a:xfrm>
            <a:off x="10109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3" name="Connector 1432"/>
          <p:cNvCxnSpPr/>
          <p:nvPr/>
        </p:nvCxnSpPr>
        <p:spPr>
          <a:xfrm>
            <a:off x="10121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4" name="Connector 1433"/>
          <p:cNvCxnSpPr/>
          <p:nvPr/>
        </p:nvCxnSpPr>
        <p:spPr>
          <a:xfrm>
            <a:off x="10134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5" name="Connector 1434"/>
          <p:cNvCxnSpPr/>
          <p:nvPr/>
        </p:nvCxnSpPr>
        <p:spPr>
          <a:xfrm>
            <a:off x="10147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6" name="Connector 1435"/>
          <p:cNvCxnSpPr/>
          <p:nvPr/>
        </p:nvCxnSpPr>
        <p:spPr>
          <a:xfrm>
            <a:off x="10160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nector 1436"/>
          <p:cNvCxnSpPr/>
          <p:nvPr/>
        </p:nvCxnSpPr>
        <p:spPr>
          <a:xfrm>
            <a:off x="10172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8" name="Connector 1437"/>
          <p:cNvCxnSpPr/>
          <p:nvPr/>
        </p:nvCxnSpPr>
        <p:spPr>
          <a:xfrm>
            <a:off x="101854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9" name="Connector 1438"/>
          <p:cNvCxnSpPr/>
          <p:nvPr/>
        </p:nvCxnSpPr>
        <p:spPr>
          <a:xfrm>
            <a:off x="1019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0" name="Connector 1439"/>
          <p:cNvCxnSpPr/>
          <p:nvPr/>
        </p:nvCxnSpPr>
        <p:spPr>
          <a:xfrm>
            <a:off x="1021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1" name="Connector 1440"/>
          <p:cNvCxnSpPr/>
          <p:nvPr/>
        </p:nvCxnSpPr>
        <p:spPr>
          <a:xfrm>
            <a:off x="1022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nector 1441"/>
          <p:cNvCxnSpPr/>
          <p:nvPr/>
        </p:nvCxnSpPr>
        <p:spPr>
          <a:xfrm>
            <a:off x="1023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3" name="Connector 1442"/>
          <p:cNvCxnSpPr/>
          <p:nvPr/>
        </p:nvCxnSpPr>
        <p:spPr>
          <a:xfrm>
            <a:off x="10248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nector 1443"/>
          <p:cNvCxnSpPr/>
          <p:nvPr/>
        </p:nvCxnSpPr>
        <p:spPr>
          <a:xfrm>
            <a:off x="10261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5" name="Connector 1444"/>
          <p:cNvCxnSpPr/>
          <p:nvPr/>
        </p:nvCxnSpPr>
        <p:spPr>
          <a:xfrm>
            <a:off x="10274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nector 1445"/>
          <p:cNvCxnSpPr/>
          <p:nvPr/>
        </p:nvCxnSpPr>
        <p:spPr>
          <a:xfrm>
            <a:off x="10287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7" name="Connector 1446"/>
          <p:cNvCxnSpPr/>
          <p:nvPr/>
        </p:nvCxnSpPr>
        <p:spPr>
          <a:xfrm flipV="1">
            <a:off x="102997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8" name="Connector 1447"/>
          <p:cNvCxnSpPr/>
          <p:nvPr/>
        </p:nvCxnSpPr>
        <p:spPr>
          <a:xfrm>
            <a:off x="10312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9" name="Connector 1448"/>
          <p:cNvCxnSpPr/>
          <p:nvPr/>
        </p:nvCxnSpPr>
        <p:spPr>
          <a:xfrm>
            <a:off x="10325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0" name="Connector 1449"/>
          <p:cNvCxnSpPr/>
          <p:nvPr/>
        </p:nvCxnSpPr>
        <p:spPr>
          <a:xfrm>
            <a:off x="10337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1" name="Connector 1450"/>
          <p:cNvCxnSpPr/>
          <p:nvPr/>
        </p:nvCxnSpPr>
        <p:spPr>
          <a:xfrm>
            <a:off x="10350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2" name="Connector 1451"/>
          <p:cNvCxnSpPr/>
          <p:nvPr/>
        </p:nvCxnSpPr>
        <p:spPr>
          <a:xfrm>
            <a:off x="10363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3" name="Connector 1452"/>
          <p:cNvCxnSpPr/>
          <p:nvPr/>
        </p:nvCxnSpPr>
        <p:spPr>
          <a:xfrm>
            <a:off x="10375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4" name="Connector 1453"/>
          <p:cNvCxnSpPr/>
          <p:nvPr/>
        </p:nvCxnSpPr>
        <p:spPr>
          <a:xfrm>
            <a:off x="10388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5" name="Connector 1454"/>
          <p:cNvCxnSpPr/>
          <p:nvPr/>
        </p:nvCxnSpPr>
        <p:spPr>
          <a:xfrm>
            <a:off x="10401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6" name="Connector 1455"/>
          <p:cNvCxnSpPr/>
          <p:nvPr/>
        </p:nvCxnSpPr>
        <p:spPr>
          <a:xfrm>
            <a:off x="10414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7" name="Connector 1456"/>
          <p:cNvCxnSpPr/>
          <p:nvPr/>
        </p:nvCxnSpPr>
        <p:spPr>
          <a:xfrm>
            <a:off x="10426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8" name="Connector 1457"/>
          <p:cNvCxnSpPr/>
          <p:nvPr/>
        </p:nvCxnSpPr>
        <p:spPr>
          <a:xfrm flipV="1">
            <a:off x="104394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9" name="Connector 1458"/>
          <p:cNvCxnSpPr/>
          <p:nvPr/>
        </p:nvCxnSpPr>
        <p:spPr>
          <a:xfrm flipV="1">
            <a:off x="104521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0" name="Connector 1459"/>
          <p:cNvCxnSpPr/>
          <p:nvPr/>
        </p:nvCxnSpPr>
        <p:spPr>
          <a:xfrm flipV="1">
            <a:off x="104648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1" name="Connector 1460"/>
          <p:cNvCxnSpPr/>
          <p:nvPr/>
        </p:nvCxnSpPr>
        <p:spPr>
          <a:xfrm flipV="1">
            <a:off x="104775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2" name="Connector 1461"/>
          <p:cNvCxnSpPr/>
          <p:nvPr/>
        </p:nvCxnSpPr>
        <p:spPr>
          <a:xfrm flipV="1">
            <a:off x="104902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3" name="Connector 1462"/>
          <p:cNvCxnSpPr/>
          <p:nvPr/>
        </p:nvCxnSpPr>
        <p:spPr>
          <a:xfrm flipV="1">
            <a:off x="105029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4" name="Connector 1463"/>
          <p:cNvCxnSpPr/>
          <p:nvPr/>
        </p:nvCxnSpPr>
        <p:spPr>
          <a:xfrm flipV="1">
            <a:off x="105156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5" name="Connector 1464"/>
          <p:cNvCxnSpPr/>
          <p:nvPr/>
        </p:nvCxnSpPr>
        <p:spPr>
          <a:xfrm flipV="1">
            <a:off x="105283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6" name="Connector 1465"/>
          <p:cNvCxnSpPr/>
          <p:nvPr/>
        </p:nvCxnSpPr>
        <p:spPr>
          <a:xfrm flipV="1">
            <a:off x="105410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nector 1466"/>
          <p:cNvCxnSpPr/>
          <p:nvPr/>
        </p:nvCxnSpPr>
        <p:spPr>
          <a:xfrm flipV="1">
            <a:off x="105537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8" name="Connector 1467"/>
          <p:cNvCxnSpPr/>
          <p:nvPr/>
        </p:nvCxnSpPr>
        <p:spPr>
          <a:xfrm flipV="1">
            <a:off x="105664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9" name="Connector 1468"/>
          <p:cNvCxnSpPr/>
          <p:nvPr/>
        </p:nvCxnSpPr>
        <p:spPr>
          <a:xfrm flipV="1">
            <a:off x="105791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nector 1469"/>
          <p:cNvCxnSpPr/>
          <p:nvPr/>
        </p:nvCxnSpPr>
        <p:spPr>
          <a:xfrm flipV="1">
            <a:off x="105918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1" name="Connector 1470"/>
          <p:cNvCxnSpPr/>
          <p:nvPr/>
        </p:nvCxnSpPr>
        <p:spPr>
          <a:xfrm flipV="1">
            <a:off x="106045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2" name="Connector 1471"/>
          <p:cNvCxnSpPr/>
          <p:nvPr/>
        </p:nvCxnSpPr>
        <p:spPr>
          <a:xfrm flipV="1">
            <a:off x="106172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3" name="Connector 1472"/>
          <p:cNvCxnSpPr/>
          <p:nvPr/>
        </p:nvCxnSpPr>
        <p:spPr>
          <a:xfrm flipV="1">
            <a:off x="106299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4" name="Connector 1473"/>
          <p:cNvCxnSpPr/>
          <p:nvPr/>
        </p:nvCxnSpPr>
        <p:spPr>
          <a:xfrm flipV="1">
            <a:off x="106426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5" name="Connector 1474"/>
          <p:cNvCxnSpPr/>
          <p:nvPr/>
        </p:nvCxnSpPr>
        <p:spPr>
          <a:xfrm flipV="1">
            <a:off x="106553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6" name="Connector 1475"/>
          <p:cNvCxnSpPr/>
          <p:nvPr/>
        </p:nvCxnSpPr>
        <p:spPr>
          <a:xfrm flipV="1">
            <a:off x="106680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7" name="Connector 1476"/>
          <p:cNvCxnSpPr/>
          <p:nvPr/>
        </p:nvCxnSpPr>
        <p:spPr>
          <a:xfrm>
            <a:off x="106807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8" name="Connector 1477"/>
          <p:cNvCxnSpPr/>
          <p:nvPr/>
        </p:nvCxnSpPr>
        <p:spPr>
          <a:xfrm>
            <a:off x="106934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9" name="Connector 1478"/>
          <p:cNvCxnSpPr/>
          <p:nvPr/>
        </p:nvCxnSpPr>
        <p:spPr>
          <a:xfrm>
            <a:off x="107061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0" name="Connector 1479"/>
          <p:cNvCxnSpPr/>
          <p:nvPr/>
        </p:nvCxnSpPr>
        <p:spPr>
          <a:xfrm>
            <a:off x="107188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1" name="Connector 1480"/>
          <p:cNvCxnSpPr/>
          <p:nvPr/>
        </p:nvCxnSpPr>
        <p:spPr>
          <a:xfrm>
            <a:off x="107315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2" name="Connector 1481"/>
          <p:cNvCxnSpPr/>
          <p:nvPr/>
        </p:nvCxnSpPr>
        <p:spPr>
          <a:xfrm>
            <a:off x="107442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3" name="Connector 1482"/>
          <p:cNvCxnSpPr/>
          <p:nvPr/>
        </p:nvCxnSpPr>
        <p:spPr>
          <a:xfrm>
            <a:off x="107569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4" name="Connector 1483"/>
          <p:cNvCxnSpPr/>
          <p:nvPr/>
        </p:nvCxnSpPr>
        <p:spPr>
          <a:xfrm>
            <a:off x="107696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5" name="Connector 1484"/>
          <p:cNvCxnSpPr/>
          <p:nvPr/>
        </p:nvCxnSpPr>
        <p:spPr>
          <a:xfrm>
            <a:off x="107823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6" name="Connector 1485"/>
          <p:cNvCxnSpPr/>
          <p:nvPr/>
        </p:nvCxnSpPr>
        <p:spPr>
          <a:xfrm>
            <a:off x="107950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7" name="Connector 1486"/>
          <p:cNvCxnSpPr/>
          <p:nvPr/>
        </p:nvCxnSpPr>
        <p:spPr>
          <a:xfrm>
            <a:off x="108077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8" name="Connector 1487"/>
          <p:cNvCxnSpPr/>
          <p:nvPr/>
        </p:nvCxnSpPr>
        <p:spPr>
          <a:xfrm>
            <a:off x="108204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9" name="Connector 1488"/>
          <p:cNvCxnSpPr/>
          <p:nvPr/>
        </p:nvCxnSpPr>
        <p:spPr>
          <a:xfrm>
            <a:off x="108331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0" name="Connector 1489"/>
          <p:cNvCxnSpPr/>
          <p:nvPr/>
        </p:nvCxnSpPr>
        <p:spPr>
          <a:xfrm>
            <a:off x="108458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1" name="Connector 1490"/>
          <p:cNvCxnSpPr/>
          <p:nvPr/>
        </p:nvCxnSpPr>
        <p:spPr>
          <a:xfrm>
            <a:off x="108585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2" name="Connector 1491"/>
          <p:cNvCxnSpPr/>
          <p:nvPr/>
        </p:nvCxnSpPr>
        <p:spPr>
          <a:xfrm>
            <a:off x="108712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3" name="Connector 1492"/>
          <p:cNvCxnSpPr/>
          <p:nvPr/>
        </p:nvCxnSpPr>
        <p:spPr>
          <a:xfrm>
            <a:off x="108839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4" name="Connector 1493"/>
          <p:cNvCxnSpPr/>
          <p:nvPr/>
        </p:nvCxnSpPr>
        <p:spPr>
          <a:xfrm>
            <a:off x="108966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5" name="Connector 1494"/>
          <p:cNvCxnSpPr/>
          <p:nvPr/>
        </p:nvCxnSpPr>
        <p:spPr>
          <a:xfrm>
            <a:off x="109093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6" name="Connector 1495"/>
          <p:cNvCxnSpPr/>
          <p:nvPr/>
        </p:nvCxnSpPr>
        <p:spPr>
          <a:xfrm>
            <a:off x="10922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7" name="Connector 1496"/>
          <p:cNvCxnSpPr/>
          <p:nvPr/>
        </p:nvCxnSpPr>
        <p:spPr>
          <a:xfrm>
            <a:off x="10934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8" name="Connector 1497"/>
          <p:cNvCxnSpPr/>
          <p:nvPr/>
        </p:nvCxnSpPr>
        <p:spPr>
          <a:xfrm>
            <a:off x="10947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9" name="Connector 1498"/>
          <p:cNvCxnSpPr/>
          <p:nvPr/>
        </p:nvCxnSpPr>
        <p:spPr>
          <a:xfrm>
            <a:off x="10960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0" name="Connector 1499"/>
          <p:cNvCxnSpPr/>
          <p:nvPr/>
        </p:nvCxnSpPr>
        <p:spPr>
          <a:xfrm>
            <a:off x="10972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1" name="Connector 1500"/>
          <p:cNvCxnSpPr/>
          <p:nvPr/>
        </p:nvCxnSpPr>
        <p:spPr>
          <a:xfrm>
            <a:off x="10985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2" name="Connector 1501"/>
          <p:cNvCxnSpPr/>
          <p:nvPr/>
        </p:nvCxnSpPr>
        <p:spPr>
          <a:xfrm>
            <a:off x="10998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3" name="Connector 1502"/>
          <p:cNvCxnSpPr/>
          <p:nvPr/>
        </p:nvCxnSpPr>
        <p:spPr>
          <a:xfrm>
            <a:off x="11010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4" name="Connector 1503"/>
          <p:cNvCxnSpPr/>
          <p:nvPr/>
        </p:nvCxnSpPr>
        <p:spPr>
          <a:xfrm>
            <a:off x="11023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5" name="TextBox 1504"/>
          <p:cNvSpPr txBox="1"/>
          <p:nvPr/>
        </p:nvSpPr>
        <p:spPr>
          <a:xfrm>
            <a:off x="889000" y="4686300"/>
            <a:ext cx="3111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1. PCR y purificación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6400800" y="4076700"/>
            <a:ext cx="46482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2. Leer el cromatograma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64389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F86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508" name="TextBox 1507"/>
          <p:cNvSpPr txBox="1"/>
          <p:nvPr/>
        </p:nvSpPr>
        <p:spPr>
          <a:xfrm>
            <a:off x="69850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DA765B"/>
                </a:solidFill>
                <a:latin typeface="DejaVu Sans"/>
              </a:defRPr>
            </a:pPr>
            <a:r>
              <a:t>T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75311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4276C8"/>
                </a:solidFill>
                <a:latin typeface="DejaVu Sans"/>
              </a:defRPr>
            </a:pPr>
            <a:r>
              <a:t>G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80772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8061AC"/>
                </a:solidFill>
                <a:latin typeface="DejaVu Sans"/>
              </a:defRPr>
            </a:pPr>
            <a:r>
              <a:t>C</a:t>
            </a:r>
          </a:p>
        </p:txBody>
      </p:sp>
      <p:sp>
        <p:nvSpPr>
          <p:cNvPr id="1511" name="TextBox 1510"/>
          <p:cNvSpPr txBox="1"/>
          <p:nvPr/>
        </p:nvSpPr>
        <p:spPr>
          <a:xfrm>
            <a:off x="86233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DA765B"/>
                </a:solidFill>
                <a:latin typeface="DejaVu Sans"/>
              </a:defRPr>
            </a:pPr>
            <a:r>
              <a:t>T</a:t>
            </a:r>
          </a:p>
        </p:txBody>
      </p:sp>
      <p:sp>
        <p:nvSpPr>
          <p:cNvPr id="1512" name="TextBox 1511"/>
          <p:cNvSpPr txBox="1"/>
          <p:nvPr/>
        </p:nvSpPr>
        <p:spPr>
          <a:xfrm>
            <a:off x="91694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F86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97155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4276C8"/>
                </a:solidFill>
                <a:latin typeface="DejaVu Sans"/>
              </a:defRPr>
            </a:pPr>
            <a:r>
              <a:t>G</a:t>
            </a:r>
          </a:p>
        </p:txBody>
      </p:sp>
      <p:sp>
        <p:nvSpPr>
          <p:cNvPr id="1514" name="TextBox 1513"/>
          <p:cNvSpPr txBox="1"/>
          <p:nvPr/>
        </p:nvSpPr>
        <p:spPr>
          <a:xfrm>
            <a:off x="102616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8061AC"/>
                </a:solidFill>
                <a:latin typeface="DejaVu Sans"/>
              </a:defRPr>
            </a:pPr>
            <a:r>
              <a:t>C</a:t>
            </a:r>
          </a:p>
        </p:txBody>
      </p:sp>
      <p:sp>
        <p:nvSpPr>
          <p:cNvPr id="1515" name="Rounded Rectangle 1514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TextBox 1515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Ejemplo de entrada: 20 ng ÷ 10 ng/µL = 2 µL de amplicón. Ajustar al servicio.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CONEXIÓN CON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NGS de amplicones: muchas regiones, muchas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lecturas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9000" y="23495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25400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779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30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1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732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383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034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685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336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987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638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6289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940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591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9000" y="29083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9000" y="30988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79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430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081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732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383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034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685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336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987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638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6289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40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591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89000" y="34671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9000" y="36576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79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430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081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4732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383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034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85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1336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87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638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940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591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00100" y="4203700"/>
            <a:ext cx="27559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1. Amplificar región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314700" y="3009900"/>
            <a:ext cx="533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59200" y="2946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59200" y="3009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254500" y="2349500"/>
            <a:ext cx="38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35500" y="23495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37300" y="2349500"/>
            <a:ext cx="38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254500" y="2908300"/>
            <a:ext cx="38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35500" y="29083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337300" y="2908300"/>
            <a:ext cx="38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54500" y="3467100"/>
            <a:ext cx="381000" cy="0"/>
          </a:xfrm>
          <a:prstGeom prst="line">
            <a:avLst/>
          </a:prstGeom>
          <a:ln w="889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635500" y="34671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337300" y="3467100"/>
            <a:ext cx="381000" cy="0"/>
          </a:xfrm>
          <a:prstGeom prst="line">
            <a:avLst/>
          </a:prstGeom>
          <a:ln w="889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14800" y="4203700"/>
            <a:ext cx="30099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2. Añadir adaptadores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e índices de muestra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959600" y="3009900"/>
            <a:ext cx="533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404100" y="2946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04100" y="3009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874000" y="21463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216900" y="23622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559800" y="25781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874000" y="27940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216900" y="30099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559800" y="32258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874000" y="34417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216900" y="36576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559800" y="38735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848600" y="4470400"/>
            <a:ext cx="35052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3. Secuenciar y comparar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Los índices identifican muestras. Los errores de PCR y el sesgo de primers pueden pasar a las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lecturas.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DOS EJEMPLOS QUE SE COMPLEMENTAN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secuenciación descubre; la PCR comprueba 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sigue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000" y="1841500"/>
            <a:ext cx="10922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30226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346200" y="17780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00100" y="21590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300" y="1892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527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7000" y="24511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527300" y="2578100"/>
            <a:ext cx="74083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601383" y="2677582"/>
            <a:ext cx="74083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75466" y="2632377"/>
            <a:ext cx="74084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749550" y="2521899"/>
            <a:ext cx="74083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823633" y="2453953"/>
            <a:ext cx="74083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97716" y="2453953"/>
            <a:ext cx="74084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71800" y="2479958"/>
            <a:ext cx="74083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45883" y="2580235"/>
            <a:ext cx="74083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19966" y="2678895"/>
            <a:ext cx="74084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194050" y="2630439"/>
            <a:ext cx="74083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268133" y="2519992"/>
            <a:ext cx="74083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342216" y="2453521"/>
            <a:ext cx="74084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416300" y="2453521"/>
            <a:ext cx="74083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490383" y="2481328"/>
            <a:ext cx="74083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564466" y="2582370"/>
            <a:ext cx="74084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38550" y="2680180"/>
            <a:ext cx="74083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12633" y="2628486"/>
            <a:ext cx="74083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786716" y="2518102"/>
            <a:ext cx="74084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860800" y="2453123"/>
            <a:ext cx="74083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34883" y="2453123"/>
            <a:ext cx="74083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008966" y="2482724"/>
            <a:ext cx="74084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83050" y="2584503"/>
            <a:ext cx="74083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157133" y="2681436"/>
            <a:ext cx="74083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231216" y="2626518"/>
            <a:ext cx="74084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527300" y="24511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49550" y="25053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71800" y="23529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94050" y="25742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416300" y="23265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8550" y="25531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0800" y="23911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83050" y="24575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800" y="2578100"/>
            <a:ext cx="660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067300" y="2514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067300" y="2578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397500" y="2108200"/>
            <a:ext cx="25273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4276C8"/>
                </a:solidFill>
                <a:latin typeface="DejaVu Sans"/>
              </a:defRPr>
            </a:pPr>
            <a:r>
              <a:t>RNA-seq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7500" y="2667000"/>
            <a:ext cx="25273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Muchos transcritos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937500" y="2578100"/>
            <a:ext cx="609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458200" y="2514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458200" y="2578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839200" y="2108200"/>
            <a:ext cx="25019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F86"/>
                </a:solidFill>
                <a:latin typeface="DejaVu Sans"/>
              </a:defRPr>
            </a:pPr>
            <a:r>
              <a:t>RT-qPCR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9200" y="2667000"/>
            <a:ext cx="2501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Uno o varios genes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5000" y="3746500"/>
            <a:ext cx="109220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9525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652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779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906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033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160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287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414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541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668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795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922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049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176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303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430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557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684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811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938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065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192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319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446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573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700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827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954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3081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3208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335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462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3589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3716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3843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3970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097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422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435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447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460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473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485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498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11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524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536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5494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562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574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587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600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6129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6256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6383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6510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6637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676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689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701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714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27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739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752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65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778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790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8034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161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8288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8415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8542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8669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8796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8923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9050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9177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9304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9431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9558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9685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9812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9939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0066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0193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0320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0447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0574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0701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0828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0955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1082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1209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1336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1463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1590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1717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1844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1971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2098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225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2352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2479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2606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2733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286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298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311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324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336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349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362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74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387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400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4130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24257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24384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2451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2463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476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489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5019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5146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5273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540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552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565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578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590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603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616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628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641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654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26670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26797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26924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7051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7178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7305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7432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7559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7686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7813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7940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067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194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321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448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575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702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8829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8956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29083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9210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9337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9464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9591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29718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9845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972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0099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30226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0353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0480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30607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0734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30861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0988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31115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31242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31369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149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162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175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3187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3200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3213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3225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3238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3251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3263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32766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32893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33020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3147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33274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3340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3352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3365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3378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3909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3403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3416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3429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3441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3454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3467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3479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3492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505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517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5306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5433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5560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5687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5814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5941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6068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6195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6322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6449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6576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6703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6830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6957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7084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7211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7338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7465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7592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37719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7846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37973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38100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8227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8354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38481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8608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38735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38862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38989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39116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39243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10160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1028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1041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1054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66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1079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1092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1104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1117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1130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1143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1557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1684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1811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1938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2065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2192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2319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2446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2573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2700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2827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12954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13081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13208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13335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13462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13589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13716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3843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3970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4097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4224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351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4478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4605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4732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4859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4986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5113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5240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5367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5494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5621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5748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5875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6002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6129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6256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638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651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663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676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689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701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714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727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739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752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7653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778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790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803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816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828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841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54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866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8796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92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05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917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930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943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1955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1968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981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1993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006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0193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0320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0447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0574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0701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0828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0955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1082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1209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1336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1463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1590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1717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1844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1971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2098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2225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2352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2479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2606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2733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2860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2987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23114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23241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23368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23495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3622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23749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3876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24003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24130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24257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24384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24511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24638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24765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24892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2501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2514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2527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2540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2552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2565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2578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2590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2603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2616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26289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2641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2654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2667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2679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2692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2705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2717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2730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27432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2755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768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781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794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806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819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2832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844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857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870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28829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28956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29083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29210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29337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29464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29591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29718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29845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29972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30099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0226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30353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0480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30607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30734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30861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30988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31115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31242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31369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31496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31623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31750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31877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32004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32131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32258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32385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32512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32639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32766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32893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33020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33147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33274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33401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33528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3365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3378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3390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3403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3416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3429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3441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3454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3467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3479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34925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3505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3517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3530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3543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3556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3568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3581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3594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3606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3619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3632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3644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3657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3670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3683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3695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3708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3721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3733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3746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3759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3771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3784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3797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3810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3822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3835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3848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3860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3873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3886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3898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3911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3924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1016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1028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1041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4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1066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1079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1092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>
            <a:off x="1104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1117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1130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1143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1155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1168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1181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1193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1206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1219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12319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1244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1257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1270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1282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1295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1308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1320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333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1346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358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13716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13843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13970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14097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14224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14351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4478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14605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14732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14859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14986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15113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5240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15367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15494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15621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15748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15875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6002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16129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16256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16383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6510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16637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6764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6891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17018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17145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17272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7399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17526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17653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7780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7907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8034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8161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18288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18415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1854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1866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879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1892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1905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1917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1930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1943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1955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1968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19812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1993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2006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2019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2032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2044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2057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2070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2082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20955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2108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2120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2133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2146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2159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2171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>
            <a:off x="2184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>
            <a:off x="2197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2209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>
            <a:off x="2222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22352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22479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22606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22733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22860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22987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23114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23241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23368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V="1">
            <a:off x="23495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23622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23749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23876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V="1">
            <a:off x="24003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24130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24257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24384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24511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 flipV="1">
            <a:off x="24638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24765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24892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25019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25146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25273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25400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25527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25654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25781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25908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26035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26162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26289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26416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26543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26670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26797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26924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27051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2717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2730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2743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2755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2768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2781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2794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2806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2819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2832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28448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2857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2870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2882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2895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2908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2921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2933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2946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V="1">
            <a:off x="29591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2971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2984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2997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3009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3022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3035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3048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3060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3073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>
            <a:off x="3086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30988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31115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31242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31369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31496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V="1">
            <a:off x="31623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V="1">
            <a:off x="31750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31877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V="1">
            <a:off x="32004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V="1">
            <a:off x="32131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 flipV="1">
            <a:off x="32258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 flipV="1">
            <a:off x="32385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 flipV="1">
            <a:off x="32512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V="1">
            <a:off x="32639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V="1">
            <a:off x="32766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V="1">
            <a:off x="32893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V="1">
            <a:off x="33020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V="1">
            <a:off x="33147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V="1">
            <a:off x="33274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33401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33528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33655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>
            <a:off x="33782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33909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34036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34163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34290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34417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34544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34671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34798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34925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35052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35179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35306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>
            <a:off x="35433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35560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35687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3581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3594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3606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3619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3632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3644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3657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3670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3683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3695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37084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3721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3733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3746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3759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3771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3784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3797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3810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3822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3835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3848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3860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3873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3886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3898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3911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3924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1016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1028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1041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1054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>
            <a:off x="1066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1079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1092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1104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1117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1130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1143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1155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1168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1181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193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1206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>
            <a:off x="1219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>
            <a:off x="1231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>
            <a:off x="1244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>
            <a:off x="1257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>
            <a:off x="1270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>
            <a:off x="1282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>
            <a:off x="1295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>
            <a:off x="1308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>
            <a:off x="1320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>
            <a:off x="1333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>
            <a:off x="1346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>
            <a:off x="1358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>
            <a:off x="1371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>
            <a:off x="1384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>
            <a:off x="1397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>
            <a:off x="1409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>
            <a:off x="1422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>
            <a:off x="1435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V="1">
            <a:off x="14478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>
            <a:off x="1460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>
            <a:off x="1473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>
            <a:off x="1485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>
            <a:off x="1498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>
            <a:off x="1511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>
            <a:off x="1524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>
            <a:off x="1536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>
            <a:off x="1549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>
            <a:off x="1562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>
            <a:off x="1574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 flipV="1">
            <a:off x="15875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16002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16129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16256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 flipV="1">
            <a:off x="16383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 flipV="1">
            <a:off x="16510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 flipV="1">
            <a:off x="16637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16764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 flipV="1">
            <a:off x="16891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 flipV="1">
            <a:off x="17018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 flipV="1">
            <a:off x="17145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 flipV="1">
            <a:off x="17272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 flipV="1">
            <a:off x="17399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 flipV="1">
            <a:off x="17526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 flipV="1">
            <a:off x="17653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 flipV="1">
            <a:off x="17780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 flipV="1">
            <a:off x="17907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 flipV="1">
            <a:off x="18034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 flipV="1">
            <a:off x="18161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18288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18415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18542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18669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18796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18923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19050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19177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>
            <a:off x="19304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19431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19558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19685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19812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19939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20066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20193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20320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20447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20574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>
            <a:off x="2070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>
            <a:off x="2082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>
            <a:off x="2095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>
            <a:off x="2108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>
            <a:off x="2120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>
            <a:off x="2133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>
            <a:off x="2146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>
            <a:off x="2159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>
            <a:off x="2171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>
            <a:off x="2184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>
            <a:off x="21971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>
            <a:off x="2209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>
            <a:off x="2222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>
            <a:off x="2235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>
            <a:off x="2247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>
            <a:off x="2260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2273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2286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2298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23114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>
            <a:off x="2324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>
            <a:off x="2336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>
            <a:off x="2349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>
            <a:off x="2362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>
            <a:off x="2374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>
            <a:off x="2387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>
            <a:off x="2400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>
            <a:off x="2413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>
            <a:off x="2425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>
            <a:off x="2438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 flipV="1">
            <a:off x="24511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V="1">
            <a:off x="24638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V="1">
            <a:off x="24765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V="1">
            <a:off x="24892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V="1">
            <a:off x="25019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V="1">
            <a:off x="25146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V="1">
            <a:off x="25273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 flipV="1">
            <a:off x="25400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 flipV="1">
            <a:off x="25527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 flipV="1">
            <a:off x="25654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 flipV="1">
            <a:off x="25781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 flipV="1">
            <a:off x="25908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V="1">
            <a:off x="26035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V="1">
            <a:off x="26162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 flipV="1">
            <a:off x="26289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 flipV="1">
            <a:off x="26416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 flipV="1">
            <a:off x="26543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 flipV="1">
            <a:off x="26670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 flipV="1">
            <a:off x="26797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26924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>
            <a:off x="27051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>
            <a:off x="27178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>
            <a:off x="27305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>
            <a:off x="27432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>
            <a:off x="27559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27686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>
            <a:off x="27813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27940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>
            <a:off x="28067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28194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28321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28448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28575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28702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28829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>
            <a:off x="28956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>
            <a:off x="29083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29210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2933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2946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2959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2971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2984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>
            <a:off x="2997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>
            <a:off x="3009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>
            <a:off x="3022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3035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3048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30607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3073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3086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3098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3111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3124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3136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3149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>
            <a:off x="3162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31750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>
            <a:off x="3187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3200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3213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3225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>
            <a:off x="3238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3251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3263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3276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>
            <a:off x="3289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>
            <a:off x="3302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33147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 flipV="1">
            <a:off x="33274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33401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33528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33655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33782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33909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 flipV="1">
            <a:off x="34036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 flipV="1">
            <a:off x="34163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V="1">
            <a:off x="34290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34417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34544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V="1">
            <a:off x="34671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V="1">
            <a:off x="34798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V="1">
            <a:off x="34925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V="1">
            <a:off x="35052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V="1">
            <a:off x="35179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V="1">
            <a:off x="35306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 flipV="1">
            <a:off x="35433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35560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35687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>
            <a:off x="35814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>
            <a:off x="35941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36068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36195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36322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36449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36576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36703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>
            <a:off x="36830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36957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>
            <a:off x="37084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37211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37338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37465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37592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37719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37846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3797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3810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3822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3835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3848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3860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3873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3886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3898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3911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39243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4495800" y="4521200"/>
            <a:ext cx="660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5067300" y="4457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V="1">
            <a:off x="5067300" y="4521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0" name="TextBox 999"/>
          <p:cNvSpPr txBox="1"/>
          <p:nvPr/>
        </p:nvSpPr>
        <p:spPr>
          <a:xfrm>
            <a:off x="5397500" y="4025900"/>
            <a:ext cx="25273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4276C8"/>
                </a:solidFill>
                <a:latin typeface="DejaVu Sans"/>
              </a:defRPr>
            </a:pPr>
            <a:r>
              <a:t>NGS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5397500" y="4584700"/>
            <a:ext cx="25273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Encontrar variantes</a:t>
            </a:r>
          </a:p>
        </p:txBody>
      </p:sp>
      <p:cxnSp>
        <p:nvCxnSpPr>
          <p:cNvPr id="1002" name="Connector 1001"/>
          <p:cNvCxnSpPr/>
          <p:nvPr/>
        </p:nvCxnSpPr>
        <p:spPr>
          <a:xfrm>
            <a:off x="7937500" y="4521200"/>
            <a:ext cx="609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8458200" y="4457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8458200" y="4521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Oval 1004"/>
          <p:cNvSpPr/>
          <p:nvPr/>
        </p:nvSpPr>
        <p:spPr>
          <a:xfrm>
            <a:off x="88900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91694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94488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97282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10007600" y="4000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10287000" y="4000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105664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88900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91694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94488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9728200" y="42799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10007600" y="42799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102870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105664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8890000" y="45593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91694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94488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97282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100076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102870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105664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8902700" y="5029200"/>
            <a:ext cx="23368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dPCR: seguir una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TextBox 102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Para agrupar bibliotecas, convertir ng/µL a nM usando la longitud total, con adaptadores.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ACTIVIDAD · UNA DECISIÓN POR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Tu turno: elige la técnica y explica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Síntesis de [2–4,6–9]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69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042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4900" y="33147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98600" y="20701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52500" y="24511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36700" y="2184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5200" y="2819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49400" y="2743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3937000"/>
            <a:ext cx="28829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¿El calor cambia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este transcrito?</a:t>
            </a:r>
          </a:p>
        </p:txBody>
      </p:sp>
      <p:sp>
        <p:nvSpPr>
          <p:cNvPr id="17" name="Oval 16"/>
          <p:cNvSpPr/>
          <p:nvPr/>
        </p:nvSpPr>
        <p:spPr>
          <a:xfrm>
            <a:off x="47371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673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975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77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579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1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183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371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673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975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277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579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881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83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371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673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975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277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57900" y="2857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881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183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371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673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975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277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579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88100" y="31877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183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2800" y="3937000"/>
            <a:ext cx="29210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¿Persiste una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variante conocida?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85725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5852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5979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6106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233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6360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6487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6614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6741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6868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6995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7122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7249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7376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7503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7630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7757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7884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011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8138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265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8392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8519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8646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8773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8900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027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9154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9281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9408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9535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9662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9789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9916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0043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0170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90297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042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055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67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80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93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105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118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131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144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56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1694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182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194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207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220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232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245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258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271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92837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9296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309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321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334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347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359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372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9385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9398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10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4234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94361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94488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94615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94742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94869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94996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95123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95250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95377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95504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95631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95758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95885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96012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96139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96266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96393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96520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96647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6774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96901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97028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97155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7282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97409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97536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97663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790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917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98044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98171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98298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98425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98552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98679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98806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8933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9906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9918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9931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9944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9956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9969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9982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9994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0007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0020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00330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045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058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0071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0083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096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109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0121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0134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1473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0160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10172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0185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0198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0210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10223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10236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248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10261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10274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02870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02997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103124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103251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103378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03505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103632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03759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03886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104013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04140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04267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04394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04521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04648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04775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04902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029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05156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05283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05410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105537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05664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5791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05918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06045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06172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06299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06426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06553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06680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6807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6934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07061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07188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07315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07442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07569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0769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0782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0795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0807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0820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0833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0845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0858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871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0883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08966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0909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0922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10934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10947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10960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10972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10985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0998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1010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1023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1036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1049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11061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11074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1087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11099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1112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1125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1137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1150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1163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1176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86360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8648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8661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8674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8686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8699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8712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8724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8737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8750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8763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87757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87884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88011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88138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88265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88392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88519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88646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88773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88900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89027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89154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89281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89408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89535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89662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89789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89916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90043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90170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90297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90424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90551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0678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0805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0932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1059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1186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91313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91440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91567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1694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91821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91948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92075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2202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92329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92456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9258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9271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9283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9296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9309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9321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9334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9347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9359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372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93853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398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4107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4234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4361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94488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461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474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486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94996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9512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9525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9537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9550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9563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9575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9588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9601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9613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9626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96393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96520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96647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96774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96901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97028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97155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97282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97409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97536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97663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97790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97917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98044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98171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98298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98425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98552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98679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98806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98933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99060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99187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99314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99441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99568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99695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9822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99949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00076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00203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00330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0457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00584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00711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100838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100965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01092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10121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10134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10147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10160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10172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10185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10198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10210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10223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10236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02489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0261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10274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10287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102997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103124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103251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103378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10350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103632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10375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10388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0401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414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0426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10439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10452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10464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0477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0490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105029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105156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105283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105410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105537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105664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105791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105918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106045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106172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106299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106426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106553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106680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06807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106934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107061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107188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107315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107442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107569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107696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07823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107950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08077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08204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08331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08458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08585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8712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108839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8966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109093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109220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09347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109474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109601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109728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0985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10998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11010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11023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11036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1049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061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074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087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099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11125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1125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137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1150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1163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1176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8636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8648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8661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8674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8686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8699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8712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8724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8737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8750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8763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8775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8788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8801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8813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8826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8839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88519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8864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8877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8890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8902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8915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8928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8940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8953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8966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8978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89916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90043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90170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90297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90424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90551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90678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90805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90932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91059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V="1">
            <a:off x="91186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91313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91440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91567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 flipV="1">
            <a:off x="91694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V="1">
            <a:off x="91821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91948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 flipV="1">
            <a:off x="92075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V="1">
            <a:off x="92202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92329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92456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92583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92710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92837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92964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93091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93218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93345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93472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93599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93726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93853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93980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94107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94234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94361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94488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94615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9474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9486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9499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9512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9525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9537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9550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9563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9575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9588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>
            <a:off x="96012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9613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9626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9639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9652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9664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9677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9690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9702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97155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>
            <a:off x="9728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9740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9753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9766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9779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9791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9804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9817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9829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9842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98552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98679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98806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98933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99060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99187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99314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99441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99568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99695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99822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99949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100076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00203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100330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100457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100584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100711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100838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100965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101092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101219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101346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01473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101600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01727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01854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101981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102108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102235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02362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102489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102616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02743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02870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02997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03124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103251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10337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10350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10363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0375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10388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10401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10414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10426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10439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10452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104648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10477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10490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10502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10515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10528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10541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10553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10566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V="1">
            <a:off x="105791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10591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10604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10617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10629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10642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10655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10668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>
            <a:off x="10680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>
            <a:off x="10693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0706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V="1">
            <a:off x="107188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107315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107442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107569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107696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107823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107950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108077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108204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108331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V="1">
            <a:off x="108458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108585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108712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108839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V="1">
            <a:off x="108966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109093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109220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109347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109474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109601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109728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109855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109982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110109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110236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110363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110490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110617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110744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110871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110998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111125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111252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111379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111506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111633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111760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8636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8648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8661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8674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8686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8699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8712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8724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8737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8750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8763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8775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8788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8801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8813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8826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8839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8851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8864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8877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8890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8902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8915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8928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8940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8953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>
            <a:off x="8966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>
            <a:off x="8978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>
            <a:off x="8991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9004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>
            <a:off x="9017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>
            <a:off x="9029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>
            <a:off x="9042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>
            <a:off x="9055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90678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>
            <a:off x="9080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9093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9105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>
            <a:off x="9118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>
            <a:off x="9131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9144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9156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9169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>
            <a:off x="9182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>
            <a:off x="9194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V="1">
            <a:off x="92075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 flipV="1">
            <a:off x="92202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V="1">
            <a:off x="92329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V="1">
            <a:off x="92456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V="1">
            <a:off x="92583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V="1">
            <a:off x="92710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V="1">
            <a:off x="92837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 flipV="1">
            <a:off x="92964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 flipV="1">
            <a:off x="93091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V="1">
            <a:off x="93218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V="1">
            <a:off x="93345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 flipV="1">
            <a:off x="93472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 flipV="1">
            <a:off x="93599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 flipV="1">
            <a:off x="93726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 flipV="1">
            <a:off x="93853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 flipV="1">
            <a:off x="93980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 flipV="1">
            <a:off x="94107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 flipV="1">
            <a:off x="94234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 flipV="1">
            <a:off x="94361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94488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94615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94742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94869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94996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95123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95250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95377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95504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95631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95758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95885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96012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96139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96266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96393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96520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96647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96774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9690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9702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9715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9728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9740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9753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9766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9779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9791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9804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98171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9829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9842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9855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9867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9880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9893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9906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9918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99314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9944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9956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9969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9982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9994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10007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10020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10033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10045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0058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 flipV="1">
            <a:off x="100711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 flipV="1">
            <a:off x="100838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 flipV="1">
            <a:off x="100965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 flipV="1">
            <a:off x="101092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 flipV="1">
            <a:off x="101219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 flipV="1">
            <a:off x="101346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 flipV="1">
            <a:off x="101473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V="1">
            <a:off x="101600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 flipV="1">
            <a:off x="101727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 flipV="1">
            <a:off x="101854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 flipV="1">
            <a:off x="101981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 flipV="1">
            <a:off x="102108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 flipV="1">
            <a:off x="102235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 flipV="1">
            <a:off x="102362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 flipV="1">
            <a:off x="102489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 flipV="1">
            <a:off x="102616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 flipV="1">
            <a:off x="102743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 flipV="1">
            <a:off x="102870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 flipV="1">
            <a:off x="102997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>
            <a:off x="103124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>
            <a:off x="103251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>
            <a:off x="103378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>
            <a:off x="103505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>
            <a:off x="103632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>
            <a:off x="103759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>
            <a:off x="103886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>
            <a:off x="104013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>
            <a:off x="104140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>
            <a:off x="104267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>
            <a:off x="104394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>
            <a:off x="104521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>
            <a:off x="104648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>
            <a:off x="104775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>
            <a:off x="104902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>
            <a:off x="105029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>
            <a:off x="105156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>
            <a:off x="105283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>
            <a:off x="105410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>
            <a:off x="10553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>
            <a:off x="10566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>
            <a:off x="10579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>
            <a:off x="10591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>
            <a:off x="10604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>
            <a:off x="10617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>
            <a:off x="10629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>
            <a:off x="10642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>
            <a:off x="10655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>
            <a:off x="10668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>
            <a:off x="106807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10693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10706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10718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10731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10744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10756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10769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10782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 flipV="1">
            <a:off x="107950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10807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10820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10833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10845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10858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10871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10883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10896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10909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10922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 flipV="1">
            <a:off x="109347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 flipV="1">
            <a:off x="109474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 flipV="1">
            <a:off x="109601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 flipV="1">
            <a:off x="109728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 flipV="1">
            <a:off x="109855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 flipV="1">
            <a:off x="109982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 flipV="1">
            <a:off x="110109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 flipV="1">
            <a:off x="110236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 flipV="1">
            <a:off x="110363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 flipV="1">
            <a:off x="110490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 flipV="1">
            <a:off x="110617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 flipV="1">
            <a:off x="110744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 flipV="1">
            <a:off x="110871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 flipV="1">
            <a:off x="110998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 flipV="1">
            <a:off x="111125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 flipV="1">
            <a:off x="111252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 flipV="1">
            <a:off x="111379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 flipV="1">
            <a:off x="111506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 flipV="1">
            <a:off x="111633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>
            <a:off x="111760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0" name="TextBox 869"/>
          <p:cNvSpPr txBox="1"/>
          <p:nvPr/>
        </p:nvSpPr>
        <p:spPr>
          <a:xfrm>
            <a:off x="8420100" y="3937000"/>
            <a:ext cx="29210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¿Qué bases tiene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esta región?</a:t>
            </a:r>
          </a:p>
        </p:txBody>
      </p:sp>
      <p:sp>
        <p:nvSpPr>
          <p:cNvPr id="871" name="Rounded Rectangle 870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TextBox 871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En cada caso: elige técnica + control + un cálculo que necesites.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CIERRE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Tres respuestas para llevarte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[2–4,6–9]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00" y="18415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" y="2057400"/>
            <a:ext cx="457200" cy="457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1082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19558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Expresión → RT-qPCR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8600" y="24130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Control −RT y referencias validadas. Ejemplo: 8 veces.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" y="30861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3302000"/>
            <a:ext cx="457200" cy="457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3528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600" y="32004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Variante conocida → dPCR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8600" y="36576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Blancos y entrada suficiente. Ejemplo: contar + y −.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" y="43307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100" y="4546600"/>
            <a:ext cx="457200" cy="457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800" y="45974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8600" y="44450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Secuencia de una región → PCR + Sanger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49022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Amplicón único y purificado. Ejemplo: enviar 2 µL.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banda final pierde la historia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[1–3].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16000" y="5143500"/>
            <a:ext cx="59690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16000" y="1905000"/>
            <a:ext cx="0" cy="32385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16000" y="5142269"/>
            <a:ext cx="139700" cy="4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55700" y="5141561"/>
            <a:ext cx="139700" cy="70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295400" y="5140447"/>
            <a:ext cx="139700" cy="111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435100" y="5138693"/>
            <a:ext cx="139700" cy="175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574800" y="5135935"/>
            <a:ext cx="139700" cy="27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714500" y="5131601"/>
            <a:ext cx="139700" cy="43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54200" y="5124800"/>
            <a:ext cx="139700" cy="680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993900" y="5114152"/>
            <a:ext cx="139700" cy="10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33600" y="5097541"/>
            <a:ext cx="139700" cy="166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273300" y="5071773"/>
            <a:ext cx="139700" cy="2576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413000" y="5032143"/>
            <a:ext cx="139700" cy="396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552700" y="4971995"/>
            <a:ext cx="139700" cy="601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692400" y="4882520"/>
            <a:ext cx="139700" cy="894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832100" y="4753311"/>
            <a:ext cx="139700" cy="12920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971800" y="4574502"/>
            <a:ext cx="139700" cy="17880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111500" y="4341102"/>
            <a:ext cx="139700" cy="2334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251200" y="4058644"/>
            <a:ext cx="139700" cy="2824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390900" y="3746500"/>
            <a:ext cx="139700" cy="31214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0600" y="3434355"/>
            <a:ext cx="139700" cy="3121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670300" y="3151897"/>
            <a:ext cx="139700" cy="2824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810000" y="2918497"/>
            <a:ext cx="139700" cy="2334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949700" y="2739688"/>
            <a:ext cx="139700" cy="17880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089400" y="2610479"/>
            <a:ext cx="139700" cy="12920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229100" y="2521004"/>
            <a:ext cx="139700" cy="894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368800" y="2460856"/>
            <a:ext cx="139700" cy="601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508500" y="2421226"/>
            <a:ext cx="139700" cy="396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48200" y="2395458"/>
            <a:ext cx="139700" cy="2576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787900" y="2378847"/>
            <a:ext cx="139700" cy="166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927600" y="2368199"/>
            <a:ext cx="139700" cy="10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67300" y="2361398"/>
            <a:ext cx="139700" cy="680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207000" y="2357064"/>
            <a:ext cx="139700" cy="43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346700" y="2354306"/>
            <a:ext cx="139700" cy="27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2352552"/>
            <a:ext cx="139700" cy="175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626100" y="2351438"/>
            <a:ext cx="139700" cy="111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765800" y="2350730"/>
            <a:ext cx="139700" cy="70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905500" y="2350281"/>
            <a:ext cx="139700" cy="4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45200" y="2349995"/>
            <a:ext cx="139700" cy="2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184900" y="2349814"/>
            <a:ext cx="139700" cy="18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24600" y="2349699"/>
            <a:ext cx="13970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464300" y="2349626"/>
            <a:ext cx="139700" cy="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16000" y="5143448"/>
            <a:ext cx="139700" cy="1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55700" y="5143419"/>
            <a:ext cx="139700" cy="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5400" y="5143373"/>
            <a:ext cx="139700" cy="4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35100" y="5143300"/>
            <a:ext cx="139700" cy="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574800" y="5143185"/>
            <a:ext cx="13970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714500" y="5143004"/>
            <a:ext cx="139700" cy="18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854200" y="5142718"/>
            <a:ext cx="139700" cy="2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93900" y="5142269"/>
            <a:ext cx="139700" cy="4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133600" y="5141561"/>
            <a:ext cx="139700" cy="70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273300" y="5140447"/>
            <a:ext cx="139700" cy="111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3000" y="5138693"/>
            <a:ext cx="139700" cy="175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552700" y="5135935"/>
            <a:ext cx="139700" cy="27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92400" y="5131601"/>
            <a:ext cx="139700" cy="43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32100" y="5124800"/>
            <a:ext cx="139700" cy="680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71800" y="5114152"/>
            <a:ext cx="139700" cy="10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111500" y="5097541"/>
            <a:ext cx="139700" cy="1661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251200" y="5071773"/>
            <a:ext cx="139700" cy="2576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90900" y="5032143"/>
            <a:ext cx="139700" cy="396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30600" y="4971995"/>
            <a:ext cx="139700" cy="601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70300" y="4882520"/>
            <a:ext cx="139700" cy="894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810000" y="4753311"/>
            <a:ext cx="139700" cy="12920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949700" y="4574502"/>
            <a:ext cx="139700" cy="17880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089400" y="4341102"/>
            <a:ext cx="139700" cy="2334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229100" y="4058644"/>
            <a:ext cx="139700" cy="2824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368800" y="3746500"/>
            <a:ext cx="139700" cy="31214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08500" y="3434355"/>
            <a:ext cx="139700" cy="3121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648200" y="3151897"/>
            <a:ext cx="139700" cy="2824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787900" y="2918497"/>
            <a:ext cx="139700" cy="2334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927600" y="2739688"/>
            <a:ext cx="139700" cy="17880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067300" y="2610479"/>
            <a:ext cx="139700" cy="12920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07000" y="2521004"/>
            <a:ext cx="139700" cy="894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346700" y="2460856"/>
            <a:ext cx="139700" cy="601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486400" y="2421226"/>
            <a:ext cx="139700" cy="396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626100" y="2395458"/>
            <a:ext cx="139700" cy="2576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765800" y="2378847"/>
            <a:ext cx="139700" cy="1661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905500" y="2368199"/>
            <a:ext cx="139700" cy="10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6045200" y="2361398"/>
            <a:ext cx="139700" cy="680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184900" y="2357064"/>
            <a:ext cx="139700" cy="43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324600" y="2354306"/>
            <a:ext cx="139700" cy="27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464300" y="2352552"/>
            <a:ext cx="139700" cy="175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238500" y="5232400"/>
            <a:ext cx="3175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Número de ciclos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93000" y="2222500"/>
            <a:ext cx="38100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Nₙ = N₀ (1 + E)ⁿ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3000" y="2984500"/>
            <a:ext cx="3810000" cy="1325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Exponencial: conserva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diferencias.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Meseta: limita la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cuantificación.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La intensidad de una banda no sustituye una cuantificación validada.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PREPARACIÓN DE MUESTRA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Qué revisar según la muestra y el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[2,4,5].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2413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2184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Material /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2600" y="1905000"/>
            <a:ext cx="42799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900" y="2006600"/>
            <a:ext cx="40513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Preparación clave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02500" y="1905000"/>
            <a:ext cx="42799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6800" y="2006600"/>
            <a:ext cx="40513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Cómo comprobar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2413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2184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ADN · PCR / Sanger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22600" y="2387600"/>
            <a:ext cx="42799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900" y="2476500"/>
            <a:ext cx="40513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Extraer; evitar degradación y arrastre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sales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2500" y="2387600"/>
            <a:ext cx="42799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6800" y="2476500"/>
            <a:ext cx="40513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Fluorometría + integridad; control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amplificación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075940"/>
            <a:ext cx="24130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3164840"/>
            <a:ext cx="21844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ARN · RT-qPCR /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RNA-seq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22600" y="3075940"/>
            <a:ext cx="42799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36900" y="3164840"/>
            <a:ext cx="40513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Extracción sin RNasas; DNasa si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corresponde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02500" y="3075940"/>
            <a:ext cx="42799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16800" y="3164840"/>
            <a:ext cx="40513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Integridad; control sin 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764279"/>
            <a:ext cx="2413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853179"/>
            <a:ext cx="2184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cfDNA · dPCR / 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22600" y="3764279"/>
            <a:ext cx="42799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36900" y="3853179"/>
            <a:ext cx="40513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Preservación y separación de plasma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validadas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02500" y="3764279"/>
            <a:ext cx="42799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16800" y="3853179"/>
            <a:ext cx="40513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Cantidad, tamaño y copias amplificables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452620"/>
            <a:ext cx="24130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4541520"/>
            <a:ext cx="21844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Ambiental ·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amplicones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2600" y="4452620"/>
            <a:ext cx="42799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36900" y="4541520"/>
            <a:ext cx="40513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Remover humatos y otros inhibidores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02500" y="4452620"/>
            <a:ext cx="42799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16800" y="4541520"/>
            <a:ext cx="40513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Blanco de extracción; control interno /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dilución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DISEÑO DE PRIMERS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Diseñar para la lectura que se necesita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[2,4–6].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2794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Modalidad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3600" y="1905000"/>
            <a:ext cx="8178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7900" y="20066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Diseño / validación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87600"/>
            <a:ext cx="279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24765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Convencional / Sanger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3600" y="2387600"/>
            <a:ext cx="817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7900" y="24765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 producto limpio; tamaño según objetivo y calidad de molde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870200"/>
            <a:ext cx="279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9591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qPCR / RT-qPCR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3600" y="2870200"/>
            <a:ext cx="817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7900" y="29591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Amplicón corto (a menudo 70–200 pb); eficiencia y especificidad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52800"/>
            <a:ext cx="279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34417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03600" y="3352800"/>
            <a:ext cx="817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900" y="34417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Diana corta; ausencia de polimorfismos en sitios de unión; clusters claros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835400"/>
            <a:ext cx="279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39243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Multiplex / nested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03600" y="3835400"/>
            <a:ext cx="817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7900" y="39243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Tm compatibles, sin interacciones; nested usa sitios internos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318000"/>
            <a:ext cx="279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900" y="4406900"/>
            <a:ext cx="2565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NGS de amplicones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3600" y="4318000"/>
            <a:ext cx="817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17900" y="4406900"/>
            <a:ext cx="795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Cobertura de variantes; región 3′ específica y posibles colas 5′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CÁLCULOS DE PRIMERS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Preparar primers: del tubo seco al ensayo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[5]; ejemplo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222500"/>
            <a:ext cx="24384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23876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2806700"/>
            <a:ext cx="20828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25 nmol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de oligo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86100" y="2921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14700" y="2857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3147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54400" y="2222500"/>
            <a:ext cx="24384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06800" y="2387600"/>
            <a:ext cx="254000" cy="2540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2200" y="2806700"/>
            <a:ext cx="20828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250 µL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de diluyente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30900" y="2921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59500" y="2857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1595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99200" y="2222500"/>
            <a:ext cx="24384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51600" y="2387600"/>
            <a:ext cx="254000" cy="2540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0" y="2806700"/>
            <a:ext cx="20828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Stock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100 µM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5700" y="2921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04300" y="2857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0043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44000" y="2222500"/>
            <a:ext cx="2438400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96400" y="2387600"/>
            <a:ext cx="254000" cy="254000"/>
          </a:xfrm>
          <a:prstGeom prst="ellipse">
            <a:avLst/>
          </a:prstGeom>
          <a:solidFill>
            <a:srgbClr val="DA7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1800" y="2806700"/>
            <a:ext cx="20828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Trabajo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10 µM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500" y="4114800"/>
            <a:ext cx="10414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Dilución 1:10: 10 µL de stock + 90 µL de diluyente.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00" y="4737100"/>
            <a:ext cx="10414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En 25 µL: V = (0,2 µM × 25 µL) / 10 µM = 0,5 µL por primer.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C₁V₁ = C₂V₂ · comprobar las unidades antes de pipetear.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PREPARACIÓN DE REACCIÓN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Qué aporta cada componente del master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Química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870200"/>
            <a:ext cx="3031066" cy="1200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Buffer y Mg²⁺: entorno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reacción.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dNTP: sustratos.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Polimerasa: síntesis.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1866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0466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Reconocimiento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0466" y="2870200"/>
            <a:ext cx="3031066" cy="919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Primers: delimitan diana.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Sonda: señal específica,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si la química la usa.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4133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2733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Entrada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733" y="2870200"/>
            <a:ext cx="3031066" cy="1200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Molde: ADN o ADNc.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Agua: completa el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volumen.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RT: necesaria para ARN.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La mezcla maestra compartida reduce variación; el molde se añade por tubo.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Preparar una corrida completa sin perder volumen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Ejemplo docente; [5,6].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16100"/>
            <a:ext cx="10795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6 muestras × 2 + 2 NTC + 2 positivos = 16 reacciones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451100"/>
            <a:ext cx="50165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25527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Componente común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6100" y="2451100"/>
            <a:ext cx="2540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0400" y="25527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Por tubo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66100" y="2451100"/>
            <a:ext cx="34163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5527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Para 18 equivalentes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933700"/>
            <a:ext cx="50165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30226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Master mix 2×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6100" y="29337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0400" y="30226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12,5 µL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66100" y="2933700"/>
            <a:ext cx="34163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0400" y="30226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225 µL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416300"/>
            <a:ext cx="50165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900" y="35052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Forward 10 µM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6100" y="3416300"/>
            <a:ext cx="254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0400" y="35052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66100" y="3416300"/>
            <a:ext cx="34163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400" y="35052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9 µL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898900"/>
            <a:ext cx="50165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900" y="39878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Reverse 10 µM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6100" y="38989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0400" y="39878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66100" y="3898900"/>
            <a:ext cx="34163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400" y="39878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9 µL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381500"/>
            <a:ext cx="50165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900" y="44704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6100" y="4381500"/>
            <a:ext cx="254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40400" y="44704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9,5 µL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66100" y="4381500"/>
            <a:ext cx="34163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400" y="44704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171 µL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4864100"/>
            <a:ext cx="50165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3900" y="4953000"/>
            <a:ext cx="4787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TOTAL sin molde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26100" y="48641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0400" y="49530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23 µL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66100" y="4864100"/>
            <a:ext cx="34163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80400" y="4953000"/>
            <a:ext cx="31877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414 µL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Distribuir 23 µL; añadir 2 µL de muestra o control a cada tubo.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RT en dos pasos: seguir la masa, no solo el volumen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[2,5]; ejemplo para kit de RT de dos pasos.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841500"/>
            <a:ext cx="7366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19431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Componente de RT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5600" y="1841500"/>
            <a:ext cx="3606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9900" y="19431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24100"/>
            <a:ext cx="736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24130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ARN 100 ng/µL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5600" y="2324100"/>
            <a:ext cx="3606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9900" y="24130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5 µL = 500 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806700"/>
            <a:ext cx="7366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28956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Buffer RT 5×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5600" y="2806700"/>
            <a:ext cx="3606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9900" y="28956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4 µL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289300"/>
            <a:ext cx="736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33782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Mezcla RT + primers + dNTP*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75600" y="3289300"/>
            <a:ext cx="3606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89900" y="33782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 µL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771900"/>
            <a:ext cx="7366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38608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5600" y="3771900"/>
            <a:ext cx="3606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9900" y="38608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10 µL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254500"/>
            <a:ext cx="736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900" y="4343400"/>
            <a:ext cx="713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TOTAL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5600" y="4254500"/>
            <a:ext cx="3606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9900" y="4343400"/>
            <a:ext cx="3378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20 µL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500" y="4889500"/>
            <a:ext cx="10731500" cy="6697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Diluir el ADNc 1:5 → 100 µL; 2 µL contienen el equivalente a 10 ng de ARN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inicial.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*Solo si la formulación del kit integra estos componentes; incluir un tubo −RT.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QPCR Y RT-QPCR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Dos maneras de producir fluorescencia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[1,2,6].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2000"/>
            <a:ext cx="5359400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260600"/>
            <a:ext cx="49022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Colorante de ADN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870200"/>
            <a:ext cx="4902200" cy="919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Señal de todo ADN de doble hebra.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Menor costo; también detecta dímeros.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Revisar curva de fusión.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000" y="2032000"/>
            <a:ext cx="5359400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1600" y="2260600"/>
            <a:ext cx="49022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Sonda de hidrólisis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600" y="2870200"/>
            <a:ext cx="4902200" cy="148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Oligo específico con reportero 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quencher.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La hidrólisis separa ambos y libera señal.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Facilita multiplex con fluoróforos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distintos.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Una sonda aporta reconocimiento adicional; también requiere validar especificidad.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qPCR y RT-qPCR: mezcla de lectura fluorescente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[2,6]; ejemplos docentes, concentraciones dependientes de kit.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5080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20 µL de reacción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689600" y="1905000"/>
            <a:ext cx="29464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3900" y="20066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Colorante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0" y="1905000"/>
            <a:ext cx="29464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300" y="20066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Con sonda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Mix específico 2×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9600" y="23876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3900" y="24765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10,0 µL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0" y="23876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0300" y="24765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10,0 µL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2870200"/>
            <a:ext cx="508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591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F + R, cada stock 10 µM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9600" y="2870200"/>
            <a:ext cx="29464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3900" y="29591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0,6 + 0,6 µL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36000" y="2870200"/>
            <a:ext cx="29464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300" y="29591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0,6 + 0,6 µL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3528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4417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Sonda 10 µM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89600" y="33528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3900" y="34417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36000" y="33528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0300" y="34417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0,4 µL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835400"/>
            <a:ext cx="508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39243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ADN o ADNc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89600" y="3835400"/>
            <a:ext cx="29464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3900" y="39243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2,0 µL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36000" y="3835400"/>
            <a:ext cx="29464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50300" y="39243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2,0 µL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3180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44069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89600" y="43180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3900" y="44069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6,8 µL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6000" y="4318000"/>
            <a:ext cx="29464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50300" y="4406900"/>
            <a:ext cx="27178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6,4 µL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Finales: mix 1×; cada primer 300 nM; sonda, si corresponde, 200 nM.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RT-qPCR en un paso: sumar RT sin duplicar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componentes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[2,3]; ejemplo docente para un kit de RT separado.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5080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Componente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89600" y="1905000"/>
            <a:ext cx="2667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3900" y="20066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56600" y="1905000"/>
            <a:ext cx="3225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0900" y="20066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Concentración final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PCR mix con sonda, 2×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9600" y="2387600"/>
            <a:ext cx="2667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3900" y="24765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10,0 µL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56600" y="2387600"/>
            <a:ext cx="3225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0900" y="24765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2870200"/>
            <a:ext cx="508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591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Mezcla RT, 20×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9600" y="2870200"/>
            <a:ext cx="2667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3900" y="29591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1,0 µL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6600" y="2870200"/>
            <a:ext cx="3225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0900" y="29591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3528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4417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F + R, stocks 10 µM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89600" y="3352800"/>
            <a:ext cx="2667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3900" y="34417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0,6 + 0,6 µL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56600" y="3352800"/>
            <a:ext cx="3225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0900" y="34417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300 nM cada uno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835400"/>
            <a:ext cx="508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39243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Sonda 10 µM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89600" y="3835400"/>
            <a:ext cx="2667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3900" y="39243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0,4 µL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56600" y="3835400"/>
            <a:ext cx="3225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0900" y="39243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200 nM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318000"/>
            <a:ext cx="508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44069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89600" y="4318000"/>
            <a:ext cx="2667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3900" y="44069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2,0 µL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56600" y="4318000"/>
            <a:ext cx="3225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0900" y="44069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Según concentración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800600"/>
            <a:ext cx="508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4889500"/>
            <a:ext cx="485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89600" y="4800600"/>
            <a:ext cx="2667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03900" y="4889500"/>
            <a:ext cx="2438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5,4 µL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56600" y="4800600"/>
            <a:ext cx="3225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70900" y="4889500"/>
            <a:ext cx="2997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Total: 20 µL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dPCR: ejemplo de mezcla para 20 µL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[4,8]; ejemplo docente para química de sonda.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5334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Reactivo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905000"/>
            <a:ext cx="2540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7900" y="20066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83600" y="1905000"/>
            <a:ext cx="3098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7900" y="20066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Final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533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Mix dPCR 2×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3876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7900" y="24765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10,0 µL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83600" y="23876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7900" y="24765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1×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2870200"/>
            <a:ext cx="533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591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Forward 20 µM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870200"/>
            <a:ext cx="254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7900" y="29591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0,9 µL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83600" y="2870200"/>
            <a:ext cx="309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7900" y="29591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900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352800"/>
            <a:ext cx="533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4417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Reverse 20 µM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3528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7900" y="34417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0,9 µL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83600" y="33528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7900" y="34417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900 nM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835400"/>
            <a:ext cx="533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39243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Sonda 10 µM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835400"/>
            <a:ext cx="254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7900" y="39243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83600" y="3835400"/>
            <a:ext cx="309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7900" y="39243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250 nM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318000"/>
            <a:ext cx="533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44069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ADN diluido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318000"/>
            <a:ext cx="254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7900" y="44069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4,0 µL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83600" y="43180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7900" y="44069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Entrada validada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800600"/>
            <a:ext cx="533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4889500"/>
            <a:ext cx="510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800600"/>
            <a:ext cx="254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57900" y="4889500"/>
            <a:ext cx="231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3,7 µL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3600" y="4800600"/>
            <a:ext cx="309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7900" y="4889500"/>
            <a:ext cx="287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Total: 20 µL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INTERPRETACIÓN DE DPCR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Rara no significa imposible de muestrear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[4,8].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Ejemplo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870200"/>
            <a:ext cx="3031066" cy="1200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Frecuencia = 0,1 %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Entrada = 1 000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moléculas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Mutantes esperados =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1866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0466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Muestreo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0466" y="2870200"/>
            <a:ext cx="3031066" cy="919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P(al menos 1) = 1 − e⁻¹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≈ 63,2 %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Un negativo es posible.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4133" y="2032000"/>
            <a:ext cx="3488266" cy="3111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2733" y="2260600"/>
            <a:ext cx="3031066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Diseño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733" y="2870200"/>
            <a:ext cx="3031066" cy="148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≈ 3 000 moléculas dan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95 % de probabilidad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incluir ≥1 mutante.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No equivale al LOD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validado.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ESTRATEGIAS COMBINABLES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Multiplex: varias dianas comparten un tubo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20066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Diana 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F₁ + R₁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34366" y="2540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262966" y="2476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262966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02666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55066" y="2006600"/>
            <a:ext cx="254000" cy="2540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0466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Diana B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F₂ + R₂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7433" y="2540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6033" y="2476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056033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95733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8133" y="2006600"/>
            <a:ext cx="254000" cy="2540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3533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Diana C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F₃ + R₃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3708400"/>
            <a:ext cx="10668000" cy="7635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Ejemplo final de 25 µL: mix 2× 12,5 + 6 primers × 0,5 + ADN 2 +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agua 7,5 = 25 µL.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711700"/>
            <a:ext cx="10668000" cy="701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Cada primer stock 10 µM → 0,2 µM final. La competencia puede sesgar las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abundancias.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Aplicación: paneles y secuenciación dirigida; amplificar más dianas exige balancearlas.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ESTRATEGIAS COMBINABLES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Nested: dos rondas para mejorar especificidad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050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20701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24892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Ronda 1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primers externos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34366" y="26035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262966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262966" y="2603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02666" y="19050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55066" y="2070100"/>
            <a:ext cx="254000" cy="2540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0466" y="24892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Diluir producto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1:100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7433" y="26035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6033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056033" y="2603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95733" y="19050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8133" y="2070100"/>
            <a:ext cx="254000" cy="2540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3533" y="24892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Ronda 2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primers internos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06500" y="3873500"/>
            <a:ext cx="3302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06500" y="4064000"/>
            <a:ext cx="3302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954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605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256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907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58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1209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2860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4511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162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7813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9464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15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766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4417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6068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719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9370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021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672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4323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20000" y="3873500"/>
            <a:ext cx="2032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620000" y="4064000"/>
            <a:ext cx="2032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089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740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391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2042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693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6995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646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297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1948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3599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525000" y="3873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62000" y="4508500"/>
            <a:ext cx="10668000" cy="701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Dilución: 2 µL de producto + 198 µL de agua. Transferir 2 µL equivale a 0,02 µL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del producto inicial.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Más manipulación y contaminación potencial; el resultado final no es cuantificación inicial.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ESTRATEGIAS COMBINABLES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Hot-start, touchdown y alta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2413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2184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Estrategia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2600" y="1905000"/>
            <a:ext cx="3429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900" y="2006600"/>
            <a:ext cx="3200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Qué cambia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51600" y="1905000"/>
            <a:ext cx="5130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006600"/>
            <a:ext cx="4902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Ejemplo de cálculo / preparación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24130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2184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Hot-start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22600" y="2387600"/>
            <a:ext cx="34290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900" y="2476500"/>
            <a:ext cx="32004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Reduce actividad a baja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temperatura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1600" y="2387600"/>
            <a:ext cx="51308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900" y="2476500"/>
            <a:ext cx="49022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La receta base no cambia si el mix es 2×;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añadir activación indicada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107436"/>
            <a:ext cx="2413000" cy="71983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3196336"/>
            <a:ext cx="2184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Touchdown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22600" y="3107436"/>
            <a:ext cx="3429000" cy="71983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36900" y="3196336"/>
            <a:ext cx="3200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Cambia el programa térmico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1600" y="3107436"/>
            <a:ext cx="5130800" cy="71983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900" y="3196336"/>
            <a:ext cx="49022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68 → 60 °C en 9 ciclos, bajando 1 °C/ciclo;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luego ciclos a 60 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827272"/>
            <a:ext cx="24130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916172"/>
            <a:ext cx="21844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Alta fidelidad /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long-range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22600" y="3827272"/>
            <a:ext cx="34290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36900" y="3916172"/>
            <a:ext cx="3200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Enzima, buffer y extensión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1600" y="3827272"/>
            <a:ext cx="5130800" cy="7198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900" y="3916172"/>
            <a:ext cx="49022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25 µL: mix 2× 12,5 + F/R 0,5 cada uno + ADN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2 + agua 9,5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Alta fidelidad: preferible al preparar insertos o amplicones destinados a secuenciación.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PERSPECTIVA HISTÓRICA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competitiva: el puente histórico hacia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cuantificar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Orlando, Pinzani y Pazzagli 1998 [1].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20066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Diana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desconocida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34366" y="2540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262966" y="2476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262966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02666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55066" y="2006600"/>
            <a:ext cx="254000" cy="2540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0466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Competidor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conocido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7433" y="2540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6033" y="2476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056033" y="2540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95733" y="1841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8133" y="2006600"/>
            <a:ext cx="254000" cy="2540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3533" y="2425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Mismos primers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coamplificación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3746500"/>
            <a:ext cx="10668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443"/>
                </a:solidFill>
                <a:latin typeface="DejaVu Sans"/>
              </a:defRPr>
            </a:pPr>
            <a:r>
              <a:t>En 25 µL: mix 12,5 + F/R 0,5 cada uno + diana 2 + competidor 1 + agua 8 = 25 µL.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508500"/>
            <a:ext cx="106680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Con razón molar diana/competidor = 2 y 1 000 copias de competidor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→ ≈ 2 000 copias de diana.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Hoy tiene un papel principalmente histórico y especializado; no equivale a qPCR moderna.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CONEXIÓN CON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y secuenciación responden preguntas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[3–5]; Brown, Gene Cloning and DNA Analysis, 8.ª ed., 2020 [9].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222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23876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2806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PCR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Enriquecer diana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34366" y="2921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262966" y="2857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262966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02666" y="2222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55066" y="2387600"/>
            <a:ext cx="254000" cy="2540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0466" y="2806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Secuenciación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Leer bases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7433" y="2921000"/>
            <a:ext cx="317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56033" y="2857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056033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95733" y="2222500"/>
            <a:ext cx="3386666" cy="1397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8133" y="2387600"/>
            <a:ext cx="254000" cy="2540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3533" y="2806700"/>
            <a:ext cx="3031066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Bioinformática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83443"/>
                </a:solidFill>
                <a:latin typeface="DejaVu Sans"/>
              </a:defRPr>
            </a:pPr>
            <a:r>
              <a:t>Interpretar variantes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500" y="4178300"/>
            <a:ext cx="4953000" cy="7635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qPCR / dPCR: ¿cuánto hay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una diana conocida?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3500" y="4178300"/>
            <a:ext cx="4953000" cy="7635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Secuenciación: ¿qué secuencia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y qué variantes contiene?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La PCR no descubre por sí sola variantes fuera de las regiones que reconoce el ensayo.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MEZCLAS Y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 de PCR de índices para una biblioteca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[5,9]; ejemplo de formulación docente, no protocolo de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38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5588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PCR de índices · 25 µL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7600" y="1905000"/>
            <a:ext cx="2286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1900" y="20066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83600" y="1905000"/>
            <a:ext cx="3098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7900" y="20066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DejaVu Sans"/>
              </a:defRPr>
            </a:pPr>
            <a:r>
              <a:t>Final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5588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Mix de alta fidelidad 2×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7600" y="2387600"/>
            <a:ext cx="228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1900" y="24765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12,5 µL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83600" y="23876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7900" y="24765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2870200"/>
            <a:ext cx="5588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591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Primer índice F 10 µM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7600" y="2870200"/>
            <a:ext cx="2286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1900" y="29591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1,25 µL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83600" y="2870200"/>
            <a:ext cx="309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7900" y="29591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0,5 µM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352800"/>
            <a:ext cx="5588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4417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Primer índice R 10 µM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7600" y="3352800"/>
            <a:ext cx="228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1900" y="34417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1,25 µL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83600" y="33528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7900" y="34417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0,5 µM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835400"/>
            <a:ext cx="5588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39243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Amplicón purificado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7600" y="3835400"/>
            <a:ext cx="2286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1900" y="39243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5,0 µL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83600" y="3835400"/>
            <a:ext cx="309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7900" y="39243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Cantidad validada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318000"/>
            <a:ext cx="5588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4406900"/>
            <a:ext cx="5359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7600" y="4318000"/>
            <a:ext cx="2286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1900" y="4406900"/>
            <a:ext cx="2057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5,0 µL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83600" y="4318000"/>
            <a:ext cx="309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7900" y="4406900"/>
            <a:ext cx="28702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Total: 25 µL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El índice identifica una muestra; no identifica automáticamente cada molécula original.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CÁLCULOS PARA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Normalizar bibliotecas por moléculas, no por masa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[5,9]; ejemplo para ADN de doble hebra.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1816100"/>
            <a:ext cx="107950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nM = [ng/µL × 10⁶] / [660 × longitud total en pb]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30500"/>
            <a:ext cx="23495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2832100"/>
            <a:ext cx="2120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Biblioteca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9100" y="2730500"/>
            <a:ext cx="31115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3400" y="28321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Concentración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0600" y="2730500"/>
            <a:ext cx="2921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4900" y="2832100"/>
            <a:ext cx="26924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Longitud total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91600" y="2730500"/>
            <a:ext cx="2590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5900" y="2832100"/>
            <a:ext cx="23622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DejaVu Sans"/>
              </a:defRPr>
            </a:pPr>
            <a:r>
              <a:t>Molaridad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13100"/>
            <a:ext cx="2349500" cy="483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900" y="3302000"/>
            <a:ext cx="2120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59100" y="3213100"/>
            <a:ext cx="3111500" cy="483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3400" y="33020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10 ng/µL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70600" y="3213100"/>
            <a:ext cx="2921000" cy="483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4900" y="3302000"/>
            <a:ext cx="26924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500 pb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1600" y="3213100"/>
            <a:ext cx="2590800" cy="483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900" y="3302000"/>
            <a:ext cx="23622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30,3 nM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3696716"/>
            <a:ext cx="2349500" cy="48361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900" y="3785616"/>
            <a:ext cx="2120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59100" y="3696716"/>
            <a:ext cx="3111500" cy="48361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3400" y="3785616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10 ng/µL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70600" y="3696716"/>
            <a:ext cx="2921000" cy="48361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4900" y="3785616"/>
            <a:ext cx="26924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1 000 pb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1600" y="3696716"/>
            <a:ext cx="2590800" cy="48361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900" y="3785616"/>
            <a:ext cx="23622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15,15 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500" y="4495800"/>
            <a:ext cx="10795000" cy="701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Para 20 µL de A a 4 nM: V₁ = (4 × 20) / 30,3 = 2,64 µL; añadir 17,36 µL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443"/>
                </a:solidFill>
                <a:latin typeface="DejaVu Sans"/>
              </a:defRPr>
            </a:pPr>
            <a:r>
              <a:t>diluyente.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Para aportar las mismas moléculas sin diluir: volumen B = 2 × volumen 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INTERPRETACIÓN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Errores que la secuenciación también hereda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[3–5,9].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2794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Problema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3600" y="1905000"/>
            <a:ext cx="38100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7900" y="200660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Consecuencia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13600" y="1905000"/>
            <a:ext cx="4368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27900" y="2006600"/>
            <a:ext cx="414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Qué revisar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2794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Desajuste de primer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3600" y="2387600"/>
            <a:ext cx="38100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7900" y="247650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Pérdida de alelo / taxón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3600" y="2387600"/>
            <a:ext cx="4368800" cy="482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27900" y="2476500"/>
            <a:ext cx="414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Variantes en sitios de unión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2870200"/>
            <a:ext cx="27940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295910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Demasiados ciclos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03600" y="2870200"/>
            <a:ext cx="38100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900" y="295910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Quimeras y duplicados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13600" y="2870200"/>
            <a:ext cx="43688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7900" y="2959100"/>
            <a:ext cx="4140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Entrada suficiente; ciclos mínimos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validados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558540"/>
            <a:ext cx="2794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64744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Error de polimerasa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3600" y="3558540"/>
            <a:ext cx="3810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7900" y="364744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Variantes aparentes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13600" y="3558540"/>
            <a:ext cx="43688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27900" y="3647440"/>
            <a:ext cx="4140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Alta fidelidad y confirmación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independiente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246880"/>
            <a:ext cx="2794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433578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Contaminación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03600" y="4246880"/>
            <a:ext cx="38100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17900" y="433578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Lecturas ajenas a la muestra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13600" y="4246880"/>
            <a:ext cx="4368800" cy="48260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7900" y="4335780"/>
            <a:ext cx="4140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Blancos y separación pre/post-PCR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729480"/>
            <a:ext cx="2794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4818380"/>
            <a:ext cx="2565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PCR desbalanceada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3600" y="4729480"/>
            <a:ext cx="38100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17900" y="4818380"/>
            <a:ext cx="35814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Abundancias distorsionadas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13600" y="4729480"/>
            <a:ext cx="43688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27900" y="4818380"/>
            <a:ext cx="4140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Validación de multiplex; controles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composición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Un UMI ayuda a rastrear moléculas si se incorpora antes de la amplificación relevante.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BIBLIOGRAFÍA COMENTADA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Lectura crítica de los cuatro artículos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05000"/>
            <a:ext cx="28575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2006600"/>
            <a:ext cx="262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Fuente principal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100" y="1905000"/>
            <a:ext cx="41275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1400" y="2006600"/>
            <a:ext cx="389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Aporte a esta clase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94600" y="1905000"/>
            <a:ext cx="3987800" cy="4826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900" y="2006600"/>
            <a:ext cx="37592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Cómo contextualizarla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87600"/>
            <a:ext cx="28575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476500"/>
            <a:ext cx="262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Orlando et al., 1998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67100" y="2387600"/>
            <a:ext cx="41275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2476500"/>
            <a:ext cx="38989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Competidores, calibración y primeras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sondas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94600" y="2387600"/>
            <a:ext cx="39878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900" y="2476500"/>
            <a:ext cx="3759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Perspectiva histórica; no protocolo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moderno universal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075940"/>
            <a:ext cx="28575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3164840"/>
            <a:ext cx="262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Bustin y Mueller, 2005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67100" y="3075940"/>
            <a:ext cx="41275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1400" y="3164840"/>
            <a:ext cx="38989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RT-qPCR; aplicaciones y límites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diagnósticos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94600" y="3075940"/>
            <a:ext cx="39878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8900" y="3164840"/>
            <a:ext cx="3759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Complementar con criterios 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validación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764279"/>
            <a:ext cx="28575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3853179"/>
            <a:ext cx="262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Zhu et al., 2020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67100" y="3764279"/>
            <a:ext cx="41275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81400" y="3853179"/>
            <a:ext cx="38989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Panorama PCR, multiplex, microfluídica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y POC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3764279"/>
            <a:ext cx="3987800" cy="6883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08900" y="3853179"/>
            <a:ext cx="3759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No todas las mejoras se aplican a toda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muestra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452620"/>
            <a:ext cx="28575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900" y="4541520"/>
            <a:ext cx="262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Trouchet et al., 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67100" y="4452620"/>
            <a:ext cx="41275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1400" y="4541520"/>
            <a:ext cx="38989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dPCR, clínica y relación con NGS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4452620"/>
            <a:ext cx="3987800" cy="688340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08900" y="4541520"/>
            <a:ext cx="37592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Interpretar sensibilidad con entrada 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validación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FUENTES DE LA CLASE Y DE LOS ANEXOS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[1–4] Artículos adjuntos · [5–9] Textos y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" y="1651000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[1] Orlando C, Pinzani P, Pazzagli M. (1998).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300" y="1904873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Developments in Quantitative PCR.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 Chem Lab Med, 36(5), 255–269.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00" y="244779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[2] Bustin SA, Mueller R. (2005).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00" y="2701671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Real-time reverse transcription PCR (qRT-PCR) and its potential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use in clinical diagnosis. Clin Sci, 109, 365–379.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10.1042/CS20050086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" y="343985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[3] Zhu H et al. (2020).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" y="3693731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PCR past, present and future.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BioTechniques, 69(4), 317–325.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10.2144/btn-2020-0057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" y="443191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[4] Trouchet A et al. (2025).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" y="4685792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Digital PCR: from early developments to its future application 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clinics. Lab Chip, 25, 3921–3961.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10.1039/d5lc00055f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3800" y="1651000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[5] Green MR, Sambrook J. (2012).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3800" y="1904873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Molecular Cloning: A Laboratory Manual.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4.ª ed. Cold Spring Harbor Laboratory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3800" y="244779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[6] Bustin SA et al. (2009).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3800" y="2701671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The MIQE guidelines. Clin Chem, 55, 611–622.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10.1373/clinchem.2008.112797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3800" y="3244596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[7] Livak KJ, Schmittgen TD. (2001).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3800" y="3498469"/>
            <a:ext cx="5283200" cy="857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Analysis of relative gene expression data using real-time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quantitative PCR and the 2−ΔΔCT method. Methods, 25,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402–408.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10.1006/meth.2001.1262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3800" y="443191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[8] Huggett JF et al. (2013).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3800" y="4685792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The digital MIQE guidelines.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 Chem, 59, 892–902.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10.1373/clinchem.2013.206375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3800" y="542397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[9] Brown TA. (2020).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3800" y="5677852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Gene Cloning and DNA Analysis: An Introduction.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8.ª ed. Wiley-Blackwell.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