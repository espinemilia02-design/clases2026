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10"/>
    <p:sldId id="259" r:id="rId11"/>
    <p:sldId id="261" r:id="rId13"/>
    <p:sldId id="263" r:id="rId15"/>
    <p:sldId id="264" r:id="rId16"/>
    <p:sldId id="268" r:id="rId20"/>
    <p:sldId id="270" r:id="rId22"/>
    <p:sldId id="271" r:id="rId23"/>
    <p:sldId id="273" r:id="rId25"/>
    <p:sldId id="277" r:id="rId29"/>
    <p:sldId id="278" r:id="rId30"/>
    <p:sldId id="279" r:id="rId31"/>
    <p:sldId id="281" r:id="rId33"/>
    <p:sldId id="287" r:id="rId39"/>
    <p:sldId id="289" r:id="rId41"/>
    <p:sldId id="290" r:id="rId42"/>
    <p:sldId id="293" r:id="rId45"/>
    <p:sldId id="295" r:id="rId47"/>
    <p:sldId id="296" r:id="rId4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10" Type="http://schemas.openxmlformats.org/officeDocument/2006/relationships/slide" Target="slides/slide2.xml"/><Relationship Id="rId11" Type="http://schemas.openxmlformats.org/officeDocument/2006/relationships/slide" Target="slides/slide3.xml"/><Relationship Id="rId13"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20"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5"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3" Type="http://schemas.openxmlformats.org/officeDocument/2006/relationships/slide" Target="slides/slide14.xml"/><Relationship Id="rId39"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5" Type="http://schemas.openxmlformats.org/officeDocument/2006/relationships/slide" Target="slides/slide18.xml"/><Relationship Id="rId47" Type="http://schemas.openxmlformats.org/officeDocument/2006/relationships/slide" Target="slides/slide19.xml"/><Relationship Id="rId48"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1 min · Clase de 40 minutos.</a:t>
            </a:r>
          </a:p>
          <a:p>
            <a:r>
              <a:t>Ruta de 40 minutos con anexos para lectura y práctica fuera de clase. Esquemas originales, no elaborados en BioRender. Todas las curvas y datos numéricos son didácticos, no resultados experimentales.</a:t>
            </a:r>
          </a:p>
          <a:p>
            <a:r>
              <a:t>Fuentes: Base: Orlando 1998 [1]; Bustin y Mueller 2005 [2]; Zhu et al. 2020 [3]; Trouchet et al. 2025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RT-PCR = PCR con transcripción reversa; no significa real-time. En esta presentación usamos RT-qPCR para ARN cuantificado en tiempo real. Nested, multiplex y hot-start pueden combinarse con otros formatos.</a:t>
            </a:r>
          </a:p>
          <a:p>
            <a:r>
              <a:t>Fuentes: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1 min · Clase de 40 minutos.</a:t>
            </a:r>
          </a:p>
          <a:p>
            <a:r>
              <a:t>Temperaturas ilustrativas: desnaturalización 94–98 °C, alineamiento según Tm y química, extensión según polimerasa. Alta fidelidad puede usar condiciones diferentes. La polimerasa alarga un extremo 3′ libre en dirección 5′→3′.</a:t>
            </a:r>
          </a:p>
          <a:p>
            <a:r>
              <a:t>Fuentes: [3,5].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p>
            <a:r>
              <a:t>Fuentes: [2,4,5].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p>
            <a:r>
              <a:t>Fuentes: [2,4]; MIQE 2009 [6].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Los primers forward y reverse se escriben ambos 5′→3′. El reverse es el reverso complementario de la región de unión de la otra hebra. Validar especificidad in silico, variantes, dímeros y después experimentalmente.</a:t>
            </a:r>
          </a:p>
          <a:p>
            <a:r>
              <a:t>Fuentes: [2,5,6].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3 min · Clase de 40 minutos.</a:t>
            </a:r>
          </a:p>
          <a:p>
            <a:r>
              <a:t>El ejemplo asume una mezcla comercial completa 2× y ADN a 10 ng/µL; 2 µL aportan 20 ng, una entrada ilustrativa que debe ajustarse al ensayo. Mantener separación física de preparación y post-PCR.</a:t>
            </a:r>
          </a:p>
          <a:p>
            <a:r>
              <a:t>Fuentes: [5]; ejemplo docente, ajustar a la ficha del kit.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1 min · Clase de 40 minutos.</a:t>
            </a:r>
          </a:p>
          <a:p>
            <a:r>
              <a:t>La identidad no queda demostrada solo por tamaño. Los dibujos son esquemáticos. La PCR es una amplificación previa a Sanger; Sanger utiliza una reacción de secuenciación diferente, con un primer por reacción.</a:t>
            </a:r>
          </a:p>
          <a:p>
            <a:r>
              <a:t>Fuentes: [1,3,5].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p>
            <a:r>
              <a:t>Fuentes: [2,3,5].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El umbral se sitúa en una región apropiada de amplificación exponencial; Cq menor indica mayor cantidad inicial únicamente bajo condiciones y eficiencias comparables. No comparar Cq crudos de ensayos diferentes como cantidades absolutas.</a:t>
            </a:r>
          </a:p>
          <a:p>
            <a:r>
              <a:t>Fuentes: [1–3,6].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Cq = m log10(N) + b. La pendiente ilustrativa −3.32 corresponde aproximadamente a E = 1.001, es decir 100.1 %. El intervalo frecuentemente utilizado de 90–110 % es orientativo y no sustituye validar rango, repetibilidad, LOD y LOQ.</a:t>
            </a:r>
          </a:p>
          <a:p>
            <a:r>
              <a:t>Fuentes: [1,2,6].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Se requiere expresión estable de referencias validadas y eficiencias similares a 100 % y comparables entre referencia y diana. Con eficiencias diferentes, usar un modelo corregido. Preferir varias referencias validadas. Promediar réplicas técnicas tras control de calidad; la inferencia biológica requiere réplicas biológicas.</a:t>
            </a:r>
          </a:p>
          <a:p>
            <a:r>
              <a:t>Fuentes: [2,6]; Livak y Schmittgen 2001 [7].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La cuantificación sin curva estándar depende del volumen efectivo de partición, del muestreo y de la clasificación. Puede haber más de una copia por partición; Poisson corrige esa coincidencia bajo los supuestos del modelo. Las particiones dibujadas son ilustrativas, no el conjunto del ejemplo numérico.</a:t>
            </a:r>
          </a:p>
          <a:p>
            <a:r>
              <a:t>Fuentes: [3,4]; dMIQE 2013 [8].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3 min · Clase de 40 minutos.</a:t>
            </a:r>
          </a:p>
          <a:p>
            <a:r>
              <a:t>Supuestos: particiones de volumen homogéneo 0.85 nL, ocupación aleatoria y 20 000 particiones válidas. El volumen nominal de mezcla es 20 µL, pero aquí el volumen leído es 17 µL. No confundir moléculas detectadas en ese volumen con copias estimadas en los 20 µL nominales. Se requiere intervalo de confianza e incertidumbre del volumen en un reporte real.</a:t>
            </a:r>
          </a:p>
          <a:p>
            <a:r>
              <a:t>Fuentes: [4,8]; datos simulados.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p>
            <a:r>
              <a:t>Fuentes: [1–4,6,8].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La cantidad de entrada depende de longitud y servicio. Ejemplo hipotético: el proveedor pide 20 ng de un amplicón de 500 pb. Se dispone de 10 ng/µL, por lo que se toman 2 µL y se completa según especificación del servicio. La reacción Sanger usa un solo primer, polimerasa, dNTP y ddNTP; no es una PCR con dos primers.</a:t>
            </a:r>
          </a:p>
          <a:p>
            <a:r>
              <a:t>Fuentes: [5,9].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r>
              <a:t>Flujo frecuente de dos PCR: una de locus y otra de índices; otras plataformas usan adaptadores por ligación o una sola PCR. Colas 5′ no complementarias se incorporan en ciclos posteriores. El cálculo de Tm inicial usa la región 3′ complementaria, no toda la cola. Preparar blancos de extracción y biblioteca.</a:t>
            </a:r>
          </a:p>
          <a:p>
            <a:r>
              <a:t>Fuentes: [3,5,9].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2 min · Clase de 40 minutos.</a:t>
            </a:r>
          </a:p>
          <a:p/>
          <a:p>
            <a:r>
              <a:t>Fuentes: [2,4,5,9].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4 min · Clase de 40 minutos.</a:t>
            </a:r>
          </a:p>
          <a:p>
            <a:r>
              <a:t>Dar 3–4 minutos en parejas. Proponer las técnicas, controles y un cálculo necesario por pregunta antes de ver las respuestas. Escenario educativo; las decisiones clínicas exigen ensayos validados.</a:t>
            </a:r>
          </a:p>
          <a:p>
            <a:r>
              <a:t>Fuentes: Síntesis didáctica de [2–4,9].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TRAMO PRINCIPAL · 1 min · Clase de 40 minutos.</a:t>
            </a:r>
          </a:p>
          <a:p/>
          <a:p>
            <a:r>
              <a:t>Fuentes: [2–4,6–9].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BIOLOGÍA MOLECULAR · QUINTO SEMESTRE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PCR: de una muestra a una decisión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Base: Orlando 1998 [1]; Bustin y Mueller 2005 [2]; Zhu et al. 2020 [3]; Trouchet et al. 2025 [4].</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01</a:t>
            </a:r>
          </a:p>
        </p:txBody>
      </p:sp>
      <p:sp>
        <p:nvSpPr>
          <p:cNvPr id="7" name="Rounded Rectangle 6"/>
          <p:cNvSpPr/>
          <p:nvPr/>
        </p:nvSpPr>
        <p:spPr>
          <a:xfrm>
            <a:off x="609600" y="2476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6416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3060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Preparar</a:t>
            </a:r>
          </a:p>
          <a:p>
            <a:pPr>
              <a:lnSpc>
                <a:spcPct val="115000"/>
              </a:lnSpc>
              <a:spcBef>
                <a:spcPts val="0"/>
              </a:spcBef>
              <a:spcAft>
                <a:spcPts val="0"/>
              </a:spcAft>
              <a:defRPr sz="1700" b="1">
                <a:solidFill>
                  <a:srgbClr val="183443"/>
                </a:solidFill>
                <a:latin typeface="DejaVu Sans"/>
              </a:defRPr>
            </a:pPr>
            <a:r>
              <a:t>la muestra</a:t>
            </a:r>
          </a:p>
        </p:txBody>
      </p:sp>
      <p:cxnSp>
        <p:nvCxnSpPr>
          <p:cNvPr id="10" name="Connector 9"/>
          <p:cNvCxnSpPr/>
          <p:nvPr/>
        </p:nvCxnSpPr>
        <p:spPr>
          <a:xfrm>
            <a:off x="3086100" y="3175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3111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3175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2476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6416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3060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Amplificar</a:t>
            </a:r>
          </a:p>
          <a:p>
            <a:pPr>
              <a:lnSpc>
                <a:spcPct val="115000"/>
              </a:lnSpc>
              <a:spcBef>
                <a:spcPts val="0"/>
              </a:spcBef>
              <a:spcAft>
                <a:spcPts val="0"/>
              </a:spcAft>
              <a:defRPr sz="1700" b="1">
                <a:solidFill>
                  <a:srgbClr val="183443"/>
                </a:solidFill>
                <a:latin typeface="DejaVu Sans"/>
              </a:defRPr>
            </a:pPr>
            <a:r>
              <a:t>una región</a:t>
            </a:r>
          </a:p>
        </p:txBody>
      </p:sp>
      <p:cxnSp>
        <p:nvCxnSpPr>
          <p:cNvPr id="16" name="Connector 15"/>
          <p:cNvCxnSpPr/>
          <p:nvPr/>
        </p:nvCxnSpPr>
        <p:spPr>
          <a:xfrm>
            <a:off x="5930900" y="3175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3111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3175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2476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6416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3060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Detectar</a:t>
            </a:r>
          </a:p>
          <a:p>
            <a:pPr>
              <a:lnSpc>
                <a:spcPct val="115000"/>
              </a:lnSpc>
              <a:spcBef>
                <a:spcPts val="0"/>
              </a:spcBef>
              <a:spcAft>
                <a:spcPts val="0"/>
              </a:spcAft>
              <a:defRPr sz="1700" b="1">
                <a:solidFill>
                  <a:srgbClr val="183443"/>
                </a:solidFill>
                <a:latin typeface="DejaVu Sans"/>
              </a:defRPr>
            </a:pPr>
            <a:r>
              <a:t>y cuantificar</a:t>
            </a:r>
          </a:p>
        </p:txBody>
      </p:sp>
      <p:cxnSp>
        <p:nvCxnSpPr>
          <p:cNvPr id="22" name="Connector 21"/>
          <p:cNvCxnSpPr/>
          <p:nvPr/>
        </p:nvCxnSpPr>
        <p:spPr>
          <a:xfrm>
            <a:off x="8775700" y="3175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3111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3175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2476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6416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3060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Secuenciar</a:t>
            </a:r>
          </a:p>
          <a:p>
            <a:pPr>
              <a:lnSpc>
                <a:spcPct val="115000"/>
              </a:lnSpc>
              <a:spcBef>
                <a:spcPts val="0"/>
              </a:spcBef>
              <a:spcAft>
                <a:spcPts val="0"/>
              </a:spcAft>
              <a:defRPr sz="1700" b="1">
                <a:solidFill>
                  <a:srgbClr val="183443"/>
                </a:solidFill>
                <a:latin typeface="DejaVu Sans"/>
              </a:defRPr>
            </a:pPr>
            <a:r>
              <a:t>e interpretar</a:t>
            </a:r>
          </a:p>
        </p:txBody>
      </p:sp>
      <p:sp>
        <p:nvSpPr>
          <p:cNvPr id="28" name="TextBox 27"/>
          <p:cNvSpPr txBox="1"/>
          <p:nvPr/>
        </p:nvSpPr>
        <p:spPr>
          <a:xfrm>
            <a:off x="635000" y="4445000"/>
            <a:ext cx="10795000" cy="794766"/>
          </a:xfrm>
          <a:prstGeom prst="rect">
            <a:avLst/>
          </a:prstGeom>
          <a:noFill/>
        </p:spPr>
        <p:txBody>
          <a:bodyPr wrap="none" lIns="0" rIns="0" tIns="0" bIns="0">
            <a:spAutoFit/>
          </a:bodyPr>
          <a:lstStyle/>
          <a:p>
            <a:pPr>
              <a:lnSpc>
                <a:spcPct val="115000"/>
              </a:lnSpc>
              <a:spcBef>
                <a:spcPts val="0"/>
              </a:spcBef>
              <a:spcAft>
                <a:spcPts val="0"/>
              </a:spcAft>
              <a:defRPr sz="2300" b="1">
                <a:solidFill>
                  <a:srgbClr val="183443"/>
                </a:solidFill>
                <a:latin typeface="DejaVu Sans"/>
              </a:defRPr>
            </a:pPr>
            <a:r>
              <a:t>Una misma pregunta biológica puede necesitar más de una</a:t>
            </a:r>
          </a:p>
          <a:p>
            <a:pPr>
              <a:lnSpc>
                <a:spcPct val="115000"/>
              </a:lnSpc>
              <a:spcBef>
                <a:spcPts val="0"/>
              </a:spcBef>
              <a:spcAft>
                <a:spcPts val="0"/>
              </a:spcAft>
              <a:defRPr sz="2300" b="1">
                <a:solidFill>
                  <a:srgbClr val="183443"/>
                </a:solidFill>
                <a:latin typeface="DejaVu Sans"/>
              </a:defRPr>
            </a:pPr>
            <a:r>
              <a:t>técnica.</a:t>
            </a:r>
          </a:p>
        </p:txBody>
      </p:sp>
      <p:sp>
        <p:nvSpPr>
          <p:cNvPr id="29" name="TextBox 28"/>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1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MAPA CONCEPTUAL</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Los nombres describen ejes diferentes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[2–4].</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02</a:t>
            </a:r>
          </a:p>
        </p:txBody>
      </p:sp>
      <p:sp>
        <p:nvSpPr>
          <p:cNvPr id="7" name="Rounded Rectangle 6"/>
          <p:cNvSpPr/>
          <p:nvPr/>
        </p:nvSpPr>
        <p:spPr>
          <a:xfrm>
            <a:off x="609600"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Molde</a:t>
            </a:r>
          </a:p>
        </p:txBody>
      </p:sp>
      <p:sp>
        <p:nvSpPr>
          <p:cNvPr id="9" name="TextBox 8"/>
          <p:cNvSpPr txBox="1"/>
          <p:nvPr/>
        </p:nvSpPr>
        <p:spPr>
          <a:xfrm>
            <a:off x="838200" y="2870200"/>
            <a:ext cx="3031066" cy="1200912"/>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ADN → PCR</a:t>
            </a:r>
          </a:p>
          <a:p>
            <a:pPr>
              <a:lnSpc>
                <a:spcPct val="115000"/>
              </a:lnSpc>
              <a:spcBef>
                <a:spcPts val="0"/>
              </a:spcBef>
              <a:spcAft>
                <a:spcPts val="0"/>
              </a:spcAft>
              <a:defRPr sz="1800" b="0">
                <a:solidFill>
                  <a:srgbClr val="183443"/>
                </a:solidFill>
                <a:latin typeface="DejaVu Sans"/>
              </a:defRPr>
            </a:pPr>
            <a:r>
              <a:t>ARN → RT → ADNc</a:t>
            </a:r>
          </a:p>
          <a:p>
            <a:pPr>
              <a:lnSpc>
                <a:spcPct val="115000"/>
              </a:lnSpc>
              <a:spcBef>
                <a:spcPts val="0"/>
              </a:spcBef>
              <a:spcAft>
                <a:spcPts val="0"/>
              </a:spcAft>
              <a:defRPr sz="1800" b="0">
                <a:solidFill>
                  <a:srgbClr val="183443"/>
                </a:solidFill>
                <a:latin typeface="DejaVu Sans"/>
              </a:defRPr>
            </a:pPr>
            <a:r>
              <a:t>RT-PCR / RT-qPCR /</a:t>
            </a:r>
          </a:p>
          <a:p>
            <a:pPr>
              <a:lnSpc>
                <a:spcPct val="115000"/>
              </a:lnSpc>
              <a:spcBef>
                <a:spcPts val="0"/>
              </a:spcBef>
              <a:spcAft>
                <a:spcPts val="0"/>
              </a:spcAft>
              <a:defRPr sz="1800" b="0">
                <a:solidFill>
                  <a:srgbClr val="183443"/>
                </a:solidFill>
                <a:latin typeface="DejaVu Sans"/>
              </a:defRPr>
            </a:pPr>
            <a:r>
              <a:t>RT-dPCR</a:t>
            </a:r>
          </a:p>
        </p:txBody>
      </p:sp>
      <p:sp>
        <p:nvSpPr>
          <p:cNvPr id="10" name="Rounded Rectangle 9"/>
          <p:cNvSpPr/>
          <p:nvPr/>
        </p:nvSpPr>
        <p:spPr>
          <a:xfrm>
            <a:off x="4351866"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0466"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Lectura</a:t>
            </a:r>
          </a:p>
        </p:txBody>
      </p:sp>
      <p:sp>
        <p:nvSpPr>
          <p:cNvPr id="12" name="TextBox 11"/>
          <p:cNvSpPr txBox="1"/>
          <p:nvPr/>
        </p:nvSpPr>
        <p:spPr>
          <a:xfrm>
            <a:off x="4580466" y="2870200"/>
            <a:ext cx="3031066" cy="919734"/>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Final → convencional</a:t>
            </a:r>
          </a:p>
          <a:p>
            <a:pPr>
              <a:lnSpc>
                <a:spcPct val="115000"/>
              </a:lnSpc>
              <a:spcBef>
                <a:spcPts val="0"/>
              </a:spcBef>
              <a:spcAft>
                <a:spcPts val="0"/>
              </a:spcAft>
              <a:defRPr sz="1800" b="0">
                <a:solidFill>
                  <a:srgbClr val="183443"/>
                </a:solidFill>
                <a:latin typeface="DejaVu Sans"/>
              </a:defRPr>
            </a:pPr>
            <a:r>
              <a:t>Cada ciclo → qPCR</a:t>
            </a:r>
          </a:p>
          <a:p>
            <a:pPr>
              <a:lnSpc>
                <a:spcPct val="115000"/>
              </a:lnSpc>
              <a:spcBef>
                <a:spcPts val="0"/>
              </a:spcBef>
              <a:spcAft>
                <a:spcPts val="0"/>
              </a:spcAft>
              <a:defRPr sz="1800" b="0">
                <a:solidFill>
                  <a:srgbClr val="183443"/>
                </a:solidFill>
                <a:latin typeface="DejaVu Sans"/>
              </a:defRPr>
            </a:pPr>
            <a:r>
              <a:t>Particiones → dPCR</a:t>
            </a:r>
          </a:p>
        </p:txBody>
      </p:sp>
      <p:sp>
        <p:nvSpPr>
          <p:cNvPr id="13" name="Rounded Rectangle 12"/>
          <p:cNvSpPr/>
          <p:nvPr/>
        </p:nvSpPr>
        <p:spPr>
          <a:xfrm>
            <a:off x="8094133"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2733"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Estrategia</a:t>
            </a:r>
          </a:p>
        </p:txBody>
      </p:sp>
      <p:sp>
        <p:nvSpPr>
          <p:cNvPr id="15" name="TextBox 14"/>
          <p:cNvSpPr txBox="1"/>
          <p:nvPr/>
        </p:nvSpPr>
        <p:spPr>
          <a:xfrm>
            <a:off x="8322733" y="2870200"/>
            <a:ext cx="3031066" cy="1200912"/>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Multiplex: varias dianas</a:t>
            </a:r>
          </a:p>
          <a:p>
            <a:pPr>
              <a:lnSpc>
                <a:spcPct val="115000"/>
              </a:lnSpc>
              <a:spcBef>
                <a:spcPts val="0"/>
              </a:spcBef>
              <a:spcAft>
                <a:spcPts val="0"/>
              </a:spcAft>
              <a:defRPr sz="1800" b="0">
                <a:solidFill>
                  <a:srgbClr val="183443"/>
                </a:solidFill>
                <a:latin typeface="DejaVu Sans"/>
              </a:defRPr>
            </a:pPr>
            <a:r>
              <a:t>Nested: dos rondas</a:t>
            </a:r>
          </a:p>
          <a:p>
            <a:pPr>
              <a:lnSpc>
                <a:spcPct val="115000"/>
              </a:lnSpc>
              <a:spcBef>
                <a:spcPts val="0"/>
              </a:spcBef>
              <a:spcAft>
                <a:spcPts val="0"/>
              </a:spcAft>
              <a:defRPr sz="1800" b="0">
                <a:solidFill>
                  <a:srgbClr val="183443"/>
                </a:solidFill>
                <a:latin typeface="DejaVu Sans"/>
              </a:defRPr>
            </a:pPr>
            <a:r>
              <a:t>Alta fidelidad: menos</a:t>
            </a:r>
          </a:p>
          <a:p>
            <a:pPr>
              <a:lnSpc>
                <a:spcPct val="115000"/>
              </a:lnSpc>
              <a:spcBef>
                <a:spcPts val="0"/>
              </a:spcBef>
              <a:spcAft>
                <a:spcPts val="0"/>
              </a:spcAft>
              <a:defRPr sz="1800" b="0">
                <a:solidFill>
                  <a:srgbClr val="183443"/>
                </a:solidFill>
                <a:latin typeface="DejaVu Sans"/>
              </a:defRPr>
            </a:pPr>
            <a:r>
              <a:t>errores</a:t>
            </a:r>
          </a:p>
        </p:txBody>
      </p:sp>
      <p:sp>
        <p:nvSpPr>
          <p:cNvPr id="16" name="TextBox 15"/>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FUNDAMENTOS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Un ciclo: separar, reconocer, copiar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[3,5].</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03</a:t>
            </a:r>
          </a:p>
        </p:txBody>
      </p:sp>
      <p:sp>
        <p:nvSpPr>
          <p:cNvPr id="7" name="Rounded Rectangle 6"/>
          <p:cNvSpPr/>
          <p:nvPr/>
        </p:nvSpPr>
        <p:spPr>
          <a:xfrm>
            <a:off x="609600" y="2159000"/>
            <a:ext cx="3386666"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3241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743200"/>
            <a:ext cx="3031066"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Desnaturalizar</a:t>
            </a:r>
          </a:p>
          <a:p>
            <a:pPr>
              <a:lnSpc>
                <a:spcPct val="115000"/>
              </a:lnSpc>
              <a:spcBef>
                <a:spcPts val="0"/>
              </a:spcBef>
              <a:spcAft>
                <a:spcPts val="0"/>
              </a:spcAft>
              <a:defRPr sz="1700" b="1">
                <a:solidFill>
                  <a:srgbClr val="183443"/>
                </a:solidFill>
                <a:latin typeface="DejaVu Sans"/>
              </a:defRPr>
            </a:pPr>
            <a:r>
              <a:t>94–98 °C</a:t>
            </a:r>
          </a:p>
        </p:txBody>
      </p:sp>
      <p:cxnSp>
        <p:nvCxnSpPr>
          <p:cNvPr id="10" name="Connector 9"/>
          <p:cNvCxnSpPr/>
          <p:nvPr/>
        </p:nvCxnSpPr>
        <p:spPr>
          <a:xfrm>
            <a:off x="4034366" y="28575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2966" y="2794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262966" y="2857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02666" y="2159000"/>
            <a:ext cx="3386666"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5066" y="23241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0466" y="2743200"/>
            <a:ext cx="3031066"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Alinear primers</a:t>
            </a:r>
          </a:p>
          <a:p>
            <a:pPr>
              <a:lnSpc>
                <a:spcPct val="115000"/>
              </a:lnSpc>
              <a:spcBef>
                <a:spcPts val="0"/>
              </a:spcBef>
              <a:spcAft>
                <a:spcPts val="0"/>
              </a:spcAft>
              <a:defRPr sz="1700" b="1">
                <a:solidFill>
                  <a:srgbClr val="183443"/>
                </a:solidFill>
                <a:latin typeface="DejaVu Sans"/>
              </a:defRPr>
            </a:pPr>
            <a:r>
              <a:t>según Tm</a:t>
            </a:r>
          </a:p>
        </p:txBody>
      </p:sp>
      <p:cxnSp>
        <p:nvCxnSpPr>
          <p:cNvPr id="16" name="Connector 15"/>
          <p:cNvCxnSpPr/>
          <p:nvPr/>
        </p:nvCxnSpPr>
        <p:spPr>
          <a:xfrm>
            <a:off x="7827433" y="28575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056033" y="2794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56033" y="2857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195733" y="2159000"/>
            <a:ext cx="3386666"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48133" y="23241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73533" y="2743200"/>
            <a:ext cx="3031066"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Extender</a:t>
            </a:r>
          </a:p>
          <a:p>
            <a:pPr>
              <a:lnSpc>
                <a:spcPct val="115000"/>
              </a:lnSpc>
              <a:spcBef>
                <a:spcPts val="0"/>
              </a:spcBef>
              <a:spcAft>
                <a:spcPts val="0"/>
              </a:spcAft>
              <a:defRPr sz="1700" b="1">
                <a:solidFill>
                  <a:srgbClr val="183443"/>
                </a:solidFill>
                <a:latin typeface="DejaVu Sans"/>
              </a:defRPr>
            </a:pPr>
            <a:r>
              <a:t>según enzima</a:t>
            </a:r>
          </a:p>
        </p:txBody>
      </p:sp>
      <p:cxnSp>
        <p:nvCxnSpPr>
          <p:cNvPr id="22" name="Connector 21"/>
          <p:cNvCxnSpPr/>
          <p:nvPr/>
        </p:nvCxnSpPr>
        <p:spPr>
          <a:xfrm>
            <a:off x="1143000" y="4191000"/>
            <a:ext cx="23495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43000" y="4381500"/>
            <a:ext cx="23495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319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970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5621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272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8923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574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225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3876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527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178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8829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0480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2131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3782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889500" y="4191000"/>
            <a:ext cx="24130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89500" y="4508500"/>
            <a:ext cx="2413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08600" y="4394200"/>
            <a:ext cx="8255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45200" y="4330700"/>
            <a:ext cx="88900" cy="6350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045200" y="4394200"/>
            <a:ext cx="88900" cy="6350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763000" y="4191000"/>
            <a:ext cx="21590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763000" y="4381500"/>
            <a:ext cx="2159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8519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0170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821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3472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5123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6774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8425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0076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1727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3378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029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6680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833100" y="41910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temperatura y duración exactas dependen del amplicón y de la polimerasa.</a:t>
            </a:r>
          </a:p>
        </p:txBody>
      </p:sp>
      <p:sp>
        <p:nvSpPr>
          <p:cNvPr id="60" name="TextBox 59"/>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1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PREPARACIÓN DE MUESTRA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La calidad empieza antes del termociclador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[2,4,5].</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04</a:t>
            </a:r>
          </a:p>
        </p:txBody>
      </p:sp>
      <p:sp>
        <p:nvSpPr>
          <p:cNvPr id="7" name="Rounded Rectangle 6"/>
          <p:cNvSpPr/>
          <p:nvPr/>
        </p:nvSpPr>
        <p:spPr>
          <a:xfrm>
            <a:off x="609600" y="22860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4511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8702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Tomar y</a:t>
            </a:r>
          </a:p>
          <a:p>
            <a:pPr>
              <a:lnSpc>
                <a:spcPct val="115000"/>
              </a:lnSpc>
              <a:spcBef>
                <a:spcPts val="0"/>
              </a:spcBef>
              <a:spcAft>
                <a:spcPts val="0"/>
              </a:spcAft>
              <a:defRPr sz="1700" b="1">
                <a:solidFill>
                  <a:srgbClr val="183443"/>
                </a:solidFill>
                <a:latin typeface="DejaVu Sans"/>
              </a:defRPr>
            </a:pPr>
            <a:r>
              <a:t>preservar</a:t>
            </a:r>
          </a:p>
        </p:txBody>
      </p:sp>
      <p:cxnSp>
        <p:nvCxnSpPr>
          <p:cNvPr id="10" name="Connector 9"/>
          <p:cNvCxnSpPr/>
          <p:nvPr/>
        </p:nvCxnSpPr>
        <p:spPr>
          <a:xfrm>
            <a:off x="3086100" y="29845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2921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22860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4511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28702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Lisar y</a:t>
            </a:r>
          </a:p>
          <a:p>
            <a:pPr>
              <a:lnSpc>
                <a:spcPct val="115000"/>
              </a:lnSpc>
              <a:spcBef>
                <a:spcPts val="0"/>
              </a:spcBef>
              <a:spcAft>
                <a:spcPts val="0"/>
              </a:spcAft>
              <a:defRPr sz="1700" b="1">
                <a:solidFill>
                  <a:srgbClr val="183443"/>
                </a:solidFill>
                <a:latin typeface="DejaVu Sans"/>
              </a:defRPr>
            </a:pPr>
            <a:r>
              <a:t>extraer</a:t>
            </a:r>
          </a:p>
        </p:txBody>
      </p:sp>
      <p:cxnSp>
        <p:nvCxnSpPr>
          <p:cNvPr id="16" name="Connector 15"/>
          <p:cNvCxnSpPr/>
          <p:nvPr/>
        </p:nvCxnSpPr>
        <p:spPr>
          <a:xfrm>
            <a:off x="5930900" y="29845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2921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22860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4511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8702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Eliminar</a:t>
            </a:r>
          </a:p>
          <a:p>
            <a:pPr>
              <a:lnSpc>
                <a:spcPct val="115000"/>
              </a:lnSpc>
              <a:spcBef>
                <a:spcPts val="0"/>
              </a:spcBef>
              <a:spcAft>
                <a:spcPts val="0"/>
              </a:spcAft>
              <a:defRPr sz="1700" b="1">
                <a:solidFill>
                  <a:srgbClr val="183443"/>
                </a:solidFill>
                <a:latin typeface="DejaVu Sans"/>
              </a:defRPr>
            </a:pPr>
            <a:r>
              <a:t>inhibidores</a:t>
            </a:r>
          </a:p>
        </p:txBody>
      </p:sp>
      <p:cxnSp>
        <p:nvCxnSpPr>
          <p:cNvPr id="22" name="Connector 21"/>
          <p:cNvCxnSpPr/>
          <p:nvPr/>
        </p:nvCxnSpPr>
        <p:spPr>
          <a:xfrm>
            <a:off x="8775700" y="29845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2921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22860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4511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28702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Medir calidad</a:t>
            </a:r>
          </a:p>
          <a:p>
            <a:pPr>
              <a:lnSpc>
                <a:spcPct val="115000"/>
              </a:lnSpc>
              <a:spcBef>
                <a:spcPts val="0"/>
              </a:spcBef>
              <a:spcAft>
                <a:spcPts val="0"/>
              </a:spcAft>
              <a:defRPr sz="1700" b="1">
                <a:solidFill>
                  <a:srgbClr val="183443"/>
                </a:solidFill>
                <a:latin typeface="DejaVu Sans"/>
              </a:defRPr>
            </a:pPr>
            <a:r>
              <a:t>y cantidad</a:t>
            </a:r>
          </a:p>
        </p:txBody>
      </p:sp>
      <p:sp>
        <p:nvSpPr>
          <p:cNvPr id="28" name="TextBox 27"/>
          <p:cNvSpPr txBox="1"/>
          <p:nvPr/>
        </p:nvSpPr>
        <p:spPr>
          <a:xfrm>
            <a:off x="825500" y="4191000"/>
            <a:ext cx="4953000" cy="669798"/>
          </a:xfrm>
          <a:prstGeom prst="rect">
            <a:avLst/>
          </a:prstGeom>
          <a:noFill/>
        </p:spPr>
        <p:txBody>
          <a:bodyPr wrap="none" lIns="0" rIns="0" tIns="0" bIns="0">
            <a:spAutoFit/>
          </a:bodyPr>
          <a:lstStyle/>
          <a:p>
            <a:pPr>
              <a:lnSpc>
                <a:spcPct val="115000"/>
              </a:lnSpc>
              <a:spcBef>
                <a:spcPts val="0"/>
              </a:spcBef>
              <a:spcAft>
                <a:spcPts val="0"/>
              </a:spcAft>
              <a:defRPr sz="1900" b="0">
                <a:solidFill>
                  <a:srgbClr val="183443"/>
                </a:solidFill>
                <a:latin typeface="DejaVu Sans"/>
              </a:defRPr>
            </a:pPr>
            <a:r>
              <a:t>ADN: integridad y pureza compatibles</a:t>
            </a:r>
          </a:p>
          <a:p>
            <a:pPr>
              <a:lnSpc>
                <a:spcPct val="115000"/>
              </a:lnSpc>
              <a:spcBef>
                <a:spcPts val="0"/>
              </a:spcBef>
              <a:spcAft>
                <a:spcPts val="0"/>
              </a:spcAft>
              <a:defRPr sz="1900" b="0">
                <a:solidFill>
                  <a:srgbClr val="183443"/>
                </a:solidFill>
                <a:latin typeface="DejaVu Sans"/>
              </a:defRPr>
            </a:pPr>
            <a:r>
              <a:t>con el tamaño de la diana.</a:t>
            </a:r>
          </a:p>
        </p:txBody>
      </p:sp>
      <p:sp>
        <p:nvSpPr>
          <p:cNvPr id="29" name="TextBox 28"/>
          <p:cNvSpPr txBox="1"/>
          <p:nvPr/>
        </p:nvSpPr>
        <p:spPr>
          <a:xfrm>
            <a:off x="6413500" y="4191000"/>
            <a:ext cx="4953000" cy="669798"/>
          </a:xfrm>
          <a:prstGeom prst="rect">
            <a:avLst/>
          </a:prstGeom>
          <a:noFill/>
        </p:spPr>
        <p:txBody>
          <a:bodyPr wrap="none" lIns="0" rIns="0" tIns="0" bIns="0">
            <a:spAutoFit/>
          </a:bodyPr>
          <a:lstStyle/>
          <a:p>
            <a:pPr>
              <a:lnSpc>
                <a:spcPct val="115000"/>
              </a:lnSpc>
              <a:spcBef>
                <a:spcPts val="0"/>
              </a:spcBef>
              <a:spcAft>
                <a:spcPts val="0"/>
              </a:spcAft>
              <a:defRPr sz="1900" b="0">
                <a:solidFill>
                  <a:srgbClr val="183443"/>
                </a:solidFill>
                <a:latin typeface="DejaVu Sans"/>
              </a:defRPr>
            </a:pPr>
            <a:r>
              <a:t>ARN: proteger de RNasas, conservar</a:t>
            </a:r>
          </a:p>
          <a:p>
            <a:pPr>
              <a:lnSpc>
                <a:spcPct val="115000"/>
              </a:lnSpc>
              <a:spcBef>
                <a:spcPts val="0"/>
              </a:spcBef>
              <a:spcAft>
                <a:spcPts val="0"/>
              </a:spcAft>
              <a:defRPr sz="1900" b="0">
                <a:solidFill>
                  <a:srgbClr val="183443"/>
                </a:solidFill>
                <a:latin typeface="DejaVu Sans"/>
              </a:defRPr>
            </a:pPr>
            <a:r>
              <a:t>integridad y controlar ADN genómico.</a:t>
            </a:r>
          </a:p>
        </p:txBody>
      </p:sp>
      <p:sp>
        <p:nvSpPr>
          <p:cNvPr id="30" name="Rounded Rectangle 29"/>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Registrar origen, conservación, extracción, elución y diluciones.</a:t>
            </a:r>
          </a:p>
        </p:txBody>
      </p:sp>
      <p:sp>
        <p:nvSpPr>
          <p:cNvPr id="32" name="TextBox 31"/>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CONTROLES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Los controles explican un resultado negativo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[2,4]; MIQE 2009 [6].</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05</a:t>
            </a:r>
          </a:p>
        </p:txBody>
      </p:sp>
      <p:sp>
        <p:nvSpPr>
          <p:cNvPr id="7" name="Rectangle 6"/>
          <p:cNvSpPr/>
          <p:nvPr/>
        </p:nvSpPr>
        <p:spPr>
          <a:xfrm>
            <a:off x="609600" y="1905000"/>
            <a:ext cx="22225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19939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Control</a:t>
            </a:r>
          </a:p>
        </p:txBody>
      </p:sp>
      <p:sp>
        <p:nvSpPr>
          <p:cNvPr id="9" name="Rectangle 8"/>
          <p:cNvSpPr/>
          <p:nvPr/>
        </p:nvSpPr>
        <p:spPr>
          <a:xfrm>
            <a:off x="2832100" y="1905000"/>
            <a:ext cx="3810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6400" y="2006600"/>
            <a:ext cx="35814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Qué contiene</a:t>
            </a:r>
          </a:p>
        </p:txBody>
      </p:sp>
      <p:sp>
        <p:nvSpPr>
          <p:cNvPr id="11" name="Rectangle 10"/>
          <p:cNvSpPr/>
          <p:nvPr/>
        </p:nvSpPr>
        <p:spPr>
          <a:xfrm>
            <a:off x="6642100" y="1905000"/>
            <a:ext cx="49403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0" y="2006600"/>
            <a:ext cx="47117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Qué permite detectar</a:t>
            </a:r>
          </a:p>
        </p:txBody>
      </p:sp>
      <p:sp>
        <p:nvSpPr>
          <p:cNvPr id="13" name="Rectangle 12"/>
          <p:cNvSpPr/>
          <p:nvPr/>
        </p:nvSpPr>
        <p:spPr>
          <a:xfrm>
            <a:off x="609600" y="2387600"/>
            <a:ext cx="2222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47650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NTC</a:t>
            </a:r>
          </a:p>
        </p:txBody>
      </p:sp>
      <p:sp>
        <p:nvSpPr>
          <p:cNvPr id="15" name="Rectangle 14"/>
          <p:cNvSpPr/>
          <p:nvPr/>
        </p:nvSpPr>
        <p:spPr>
          <a:xfrm>
            <a:off x="2832100" y="2387600"/>
            <a:ext cx="3810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46400" y="2476500"/>
            <a:ext cx="3581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Agua en lugar de molde</a:t>
            </a:r>
          </a:p>
        </p:txBody>
      </p:sp>
      <p:sp>
        <p:nvSpPr>
          <p:cNvPr id="17" name="Rectangle 16"/>
          <p:cNvSpPr/>
          <p:nvPr/>
        </p:nvSpPr>
        <p:spPr>
          <a:xfrm>
            <a:off x="6642100" y="2387600"/>
            <a:ext cx="49403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56400" y="2476500"/>
            <a:ext cx="4711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Contaminación de reactivos o dímeros</a:t>
            </a:r>
          </a:p>
        </p:txBody>
      </p:sp>
      <p:sp>
        <p:nvSpPr>
          <p:cNvPr id="19" name="Rectangle 18"/>
          <p:cNvSpPr/>
          <p:nvPr/>
        </p:nvSpPr>
        <p:spPr>
          <a:xfrm>
            <a:off x="609600" y="2870200"/>
            <a:ext cx="2222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2959100"/>
            <a:ext cx="19939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Blanco de</a:t>
            </a:r>
          </a:p>
          <a:p>
            <a:pPr>
              <a:lnSpc>
                <a:spcPct val="115000"/>
              </a:lnSpc>
              <a:spcBef>
                <a:spcPts val="0"/>
              </a:spcBef>
              <a:spcAft>
                <a:spcPts val="0"/>
              </a:spcAft>
              <a:defRPr sz="1500" b="0">
                <a:solidFill>
                  <a:srgbClr val="183443"/>
                </a:solidFill>
                <a:latin typeface="DejaVu Sans"/>
              </a:defRPr>
            </a:pPr>
            <a:r>
              <a:t>extracción</a:t>
            </a:r>
          </a:p>
        </p:txBody>
      </p:sp>
      <p:sp>
        <p:nvSpPr>
          <p:cNvPr id="21" name="Rectangle 20"/>
          <p:cNvSpPr/>
          <p:nvPr/>
        </p:nvSpPr>
        <p:spPr>
          <a:xfrm>
            <a:off x="2832100" y="2870200"/>
            <a:ext cx="38100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46400" y="2959100"/>
            <a:ext cx="3581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Procesado sin muestra</a:t>
            </a:r>
          </a:p>
        </p:txBody>
      </p:sp>
      <p:sp>
        <p:nvSpPr>
          <p:cNvPr id="23" name="Rectangle 22"/>
          <p:cNvSpPr/>
          <p:nvPr/>
        </p:nvSpPr>
        <p:spPr>
          <a:xfrm>
            <a:off x="6642100" y="2870200"/>
            <a:ext cx="49403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6400" y="2959100"/>
            <a:ext cx="4711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Contaminación durante extracción</a:t>
            </a:r>
          </a:p>
        </p:txBody>
      </p:sp>
      <p:sp>
        <p:nvSpPr>
          <p:cNvPr id="25" name="Rectangle 24"/>
          <p:cNvSpPr/>
          <p:nvPr/>
        </p:nvSpPr>
        <p:spPr>
          <a:xfrm>
            <a:off x="609600" y="3558540"/>
            <a:ext cx="2222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364744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Positivo</a:t>
            </a:r>
          </a:p>
        </p:txBody>
      </p:sp>
      <p:sp>
        <p:nvSpPr>
          <p:cNvPr id="27" name="Rectangle 26"/>
          <p:cNvSpPr/>
          <p:nvPr/>
        </p:nvSpPr>
        <p:spPr>
          <a:xfrm>
            <a:off x="2832100" y="3558540"/>
            <a:ext cx="3810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46400" y="3647440"/>
            <a:ext cx="3581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Diana conocida</a:t>
            </a:r>
          </a:p>
        </p:txBody>
      </p:sp>
      <p:sp>
        <p:nvSpPr>
          <p:cNvPr id="29" name="Rectangle 28"/>
          <p:cNvSpPr/>
          <p:nvPr/>
        </p:nvSpPr>
        <p:spPr>
          <a:xfrm>
            <a:off x="6642100" y="3558540"/>
            <a:ext cx="49403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56400" y="3647440"/>
            <a:ext cx="4711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Fallo de mezcla, primers o programa</a:t>
            </a:r>
          </a:p>
        </p:txBody>
      </p:sp>
      <p:sp>
        <p:nvSpPr>
          <p:cNvPr id="31" name="Rectangle 30"/>
          <p:cNvSpPr/>
          <p:nvPr/>
        </p:nvSpPr>
        <p:spPr>
          <a:xfrm>
            <a:off x="609600" y="4041140"/>
            <a:ext cx="22225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413004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Sin RT (−RT)</a:t>
            </a:r>
          </a:p>
        </p:txBody>
      </p:sp>
      <p:sp>
        <p:nvSpPr>
          <p:cNvPr id="33" name="Rectangle 32"/>
          <p:cNvSpPr/>
          <p:nvPr/>
        </p:nvSpPr>
        <p:spPr>
          <a:xfrm>
            <a:off x="2832100" y="4041140"/>
            <a:ext cx="3810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46400" y="4130040"/>
            <a:ext cx="3581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ARN procesado sin transcriptasa</a:t>
            </a:r>
          </a:p>
        </p:txBody>
      </p:sp>
      <p:sp>
        <p:nvSpPr>
          <p:cNvPr id="35" name="Rectangle 34"/>
          <p:cNvSpPr/>
          <p:nvPr/>
        </p:nvSpPr>
        <p:spPr>
          <a:xfrm>
            <a:off x="6642100" y="4041140"/>
            <a:ext cx="49403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56400" y="4130040"/>
            <a:ext cx="4711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ADN genómico residual</a:t>
            </a:r>
          </a:p>
        </p:txBody>
      </p:sp>
      <p:sp>
        <p:nvSpPr>
          <p:cNvPr id="37" name="Rectangle 36"/>
          <p:cNvSpPr/>
          <p:nvPr/>
        </p:nvSpPr>
        <p:spPr>
          <a:xfrm>
            <a:off x="609600" y="4523740"/>
            <a:ext cx="2222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3900" y="461264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Control interno</a:t>
            </a:r>
          </a:p>
        </p:txBody>
      </p:sp>
      <p:sp>
        <p:nvSpPr>
          <p:cNvPr id="39" name="Rectangle 38"/>
          <p:cNvSpPr/>
          <p:nvPr/>
        </p:nvSpPr>
        <p:spPr>
          <a:xfrm>
            <a:off x="2832100" y="4523740"/>
            <a:ext cx="3810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46400" y="4612640"/>
            <a:ext cx="3581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Diana endógena o añadida, validada</a:t>
            </a:r>
          </a:p>
        </p:txBody>
      </p:sp>
      <p:sp>
        <p:nvSpPr>
          <p:cNvPr id="41" name="Rectangle 40"/>
          <p:cNvSpPr/>
          <p:nvPr/>
        </p:nvSpPr>
        <p:spPr>
          <a:xfrm>
            <a:off x="6642100" y="4523740"/>
            <a:ext cx="49403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56400" y="4612640"/>
            <a:ext cx="4711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Inhibición o calidad insuficiente</a:t>
            </a:r>
          </a:p>
        </p:txBody>
      </p:sp>
      <p:sp>
        <p:nvSpPr>
          <p:cNvPr id="43" name="Rounded Rectangle 4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Un NTC limpio no demuestra que una muestra negativa sea amplificable.</a:t>
            </a:r>
          </a:p>
        </p:txBody>
      </p:sp>
      <p:sp>
        <p:nvSpPr>
          <p:cNvPr id="45" name="TextBox 44"/>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DE PRIMERS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Los primers delimitan lo que podrás observar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[2,5,6].</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06</a:t>
            </a:r>
          </a:p>
        </p:txBody>
      </p:sp>
      <p:cxnSp>
        <p:nvCxnSpPr>
          <p:cNvPr id="7" name="Connector 6"/>
          <p:cNvCxnSpPr/>
          <p:nvPr/>
        </p:nvCxnSpPr>
        <p:spPr>
          <a:xfrm>
            <a:off x="1270000" y="2984500"/>
            <a:ext cx="95250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270000" y="3746500"/>
            <a:ext cx="9525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89000" y="2603500"/>
            <a:ext cx="8890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5′</a:t>
            </a:r>
          </a:p>
        </p:txBody>
      </p:sp>
      <p:sp>
        <p:nvSpPr>
          <p:cNvPr id="10" name="TextBox 9"/>
          <p:cNvSpPr txBox="1"/>
          <p:nvPr/>
        </p:nvSpPr>
        <p:spPr>
          <a:xfrm>
            <a:off x="10795000" y="2603500"/>
            <a:ext cx="8890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3′</a:t>
            </a:r>
          </a:p>
        </p:txBody>
      </p:sp>
      <p:sp>
        <p:nvSpPr>
          <p:cNvPr id="11" name="TextBox 10"/>
          <p:cNvSpPr txBox="1"/>
          <p:nvPr/>
        </p:nvSpPr>
        <p:spPr>
          <a:xfrm>
            <a:off x="889000" y="3822700"/>
            <a:ext cx="8890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3′</a:t>
            </a:r>
          </a:p>
        </p:txBody>
      </p:sp>
      <p:sp>
        <p:nvSpPr>
          <p:cNvPr id="12" name="TextBox 11"/>
          <p:cNvSpPr txBox="1"/>
          <p:nvPr/>
        </p:nvSpPr>
        <p:spPr>
          <a:xfrm>
            <a:off x="10795000" y="3822700"/>
            <a:ext cx="8890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5′</a:t>
            </a:r>
          </a:p>
        </p:txBody>
      </p:sp>
      <p:cxnSp>
        <p:nvCxnSpPr>
          <p:cNvPr id="13" name="Connector 12"/>
          <p:cNvCxnSpPr/>
          <p:nvPr/>
        </p:nvCxnSpPr>
        <p:spPr>
          <a:xfrm>
            <a:off x="2667000" y="3556000"/>
            <a:ext cx="15240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27500" y="3556000"/>
            <a:ext cx="6350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673600" y="3492500"/>
            <a:ext cx="88900" cy="6350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673600" y="3556000"/>
            <a:ext cx="88900" cy="6350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13000" y="4191000"/>
            <a:ext cx="29845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DA765B"/>
                </a:solidFill>
                <a:latin typeface="DejaVu Sans"/>
              </a:defRPr>
            </a:pPr>
            <a:r>
              <a:t>Forward 5′ → 3′</a:t>
            </a:r>
          </a:p>
        </p:txBody>
      </p:sp>
      <p:cxnSp>
        <p:nvCxnSpPr>
          <p:cNvPr id="18" name="Connector 17"/>
          <p:cNvCxnSpPr/>
          <p:nvPr/>
        </p:nvCxnSpPr>
        <p:spPr>
          <a:xfrm>
            <a:off x="7937500" y="3187700"/>
            <a:ext cx="15240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302500" y="3187700"/>
            <a:ext cx="6350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302500" y="3124200"/>
            <a:ext cx="88900" cy="6350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7302500" y="3187700"/>
            <a:ext cx="88900" cy="6350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493000" y="2095500"/>
            <a:ext cx="33020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8061AC"/>
                </a:solidFill>
                <a:latin typeface="DejaVu Sans"/>
              </a:defRPr>
            </a:pPr>
            <a:r>
              <a:t>Reverse 3′ ← 5′</a:t>
            </a:r>
          </a:p>
        </p:txBody>
      </p:sp>
      <p:sp>
        <p:nvSpPr>
          <p:cNvPr id="23" name="TextBox 22"/>
          <p:cNvSpPr txBox="1"/>
          <p:nvPr/>
        </p:nvSpPr>
        <p:spPr>
          <a:xfrm>
            <a:off x="4572000" y="4508500"/>
            <a:ext cx="355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Región amplificada</a:t>
            </a:r>
          </a:p>
        </p:txBody>
      </p:sp>
      <p:sp>
        <p:nvSpPr>
          <p:cNvPr id="24" name="Rounded Rectangle 2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Los extremos 3′ se orientan hacia el interior de la región que se copiará.</a:t>
            </a:r>
          </a:p>
        </p:txBody>
      </p:sp>
      <p:sp>
        <p:nvSpPr>
          <p:cNvPr id="26" name="TextBox 25"/>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MEZCLAS Y CÁLCULOS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Receta base: PCR convencional en 25 µL</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[5]; ejemplo docente, ajustar a la ficha del kit.</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07</a:t>
            </a:r>
          </a:p>
        </p:txBody>
      </p:sp>
      <p:sp>
        <p:nvSpPr>
          <p:cNvPr id="7" name="Rectangle 6"/>
          <p:cNvSpPr/>
          <p:nvPr/>
        </p:nvSpPr>
        <p:spPr>
          <a:xfrm>
            <a:off x="609600" y="1905000"/>
            <a:ext cx="3683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34544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Reactivo</a:t>
            </a:r>
          </a:p>
        </p:txBody>
      </p:sp>
      <p:sp>
        <p:nvSpPr>
          <p:cNvPr id="9" name="Rectangle 8"/>
          <p:cNvSpPr/>
          <p:nvPr/>
        </p:nvSpPr>
        <p:spPr>
          <a:xfrm>
            <a:off x="4292600" y="1905000"/>
            <a:ext cx="1905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6900" y="2006600"/>
            <a:ext cx="16764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Stock</a:t>
            </a:r>
          </a:p>
        </p:txBody>
      </p:sp>
      <p:sp>
        <p:nvSpPr>
          <p:cNvPr id="11" name="Rectangle 10"/>
          <p:cNvSpPr/>
          <p:nvPr/>
        </p:nvSpPr>
        <p:spPr>
          <a:xfrm>
            <a:off x="6197600" y="1905000"/>
            <a:ext cx="2159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1900" y="2006600"/>
            <a:ext cx="19304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Volumen</a:t>
            </a:r>
          </a:p>
        </p:txBody>
      </p:sp>
      <p:sp>
        <p:nvSpPr>
          <p:cNvPr id="13" name="Rectangle 12"/>
          <p:cNvSpPr/>
          <p:nvPr/>
        </p:nvSpPr>
        <p:spPr>
          <a:xfrm>
            <a:off x="8356600" y="1905000"/>
            <a:ext cx="32258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0900" y="2006600"/>
            <a:ext cx="29972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Final / aporte</a:t>
            </a:r>
          </a:p>
        </p:txBody>
      </p:sp>
      <p:sp>
        <p:nvSpPr>
          <p:cNvPr id="15" name="Rectangle 14"/>
          <p:cNvSpPr/>
          <p:nvPr/>
        </p:nvSpPr>
        <p:spPr>
          <a:xfrm>
            <a:off x="609600" y="2387600"/>
            <a:ext cx="3683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2476500"/>
            <a:ext cx="3454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Master mix completo</a:t>
            </a:r>
          </a:p>
        </p:txBody>
      </p:sp>
      <p:sp>
        <p:nvSpPr>
          <p:cNvPr id="17" name="Rectangle 16"/>
          <p:cNvSpPr/>
          <p:nvPr/>
        </p:nvSpPr>
        <p:spPr>
          <a:xfrm>
            <a:off x="4292600" y="2387600"/>
            <a:ext cx="1905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6900" y="2476500"/>
            <a:ext cx="1676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2×</a:t>
            </a:r>
          </a:p>
        </p:txBody>
      </p:sp>
      <p:sp>
        <p:nvSpPr>
          <p:cNvPr id="19" name="Rectangle 18"/>
          <p:cNvSpPr/>
          <p:nvPr/>
        </p:nvSpPr>
        <p:spPr>
          <a:xfrm>
            <a:off x="6197600" y="2387600"/>
            <a:ext cx="2159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1900" y="2476500"/>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12,5 µL</a:t>
            </a:r>
          </a:p>
        </p:txBody>
      </p:sp>
      <p:sp>
        <p:nvSpPr>
          <p:cNvPr id="21" name="Rectangle 20"/>
          <p:cNvSpPr/>
          <p:nvPr/>
        </p:nvSpPr>
        <p:spPr>
          <a:xfrm>
            <a:off x="8356600" y="2387600"/>
            <a:ext cx="3225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70900" y="2476500"/>
            <a:ext cx="2997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1×</a:t>
            </a:r>
          </a:p>
        </p:txBody>
      </p:sp>
      <p:sp>
        <p:nvSpPr>
          <p:cNvPr id="23" name="Rectangle 22"/>
          <p:cNvSpPr/>
          <p:nvPr/>
        </p:nvSpPr>
        <p:spPr>
          <a:xfrm>
            <a:off x="609600" y="2870200"/>
            <a:ext cx="3683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2959100"/>
            <a:ext cx="3454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Primer forward</a:t>
            </a:r>
          </a:p>
        </p:txBody>
      </p:sp>
      <p:sp>
        <p:nvSpPr>
          <p:cNvPr id="25" name="Rectangle 24"/>
          <p:cNvSpPr/>
          <p:nvPr/>
        </p:nvSpPr>
        <p:spPr>
          <a:xfrm>
            <a:off x="4292600" y="2870200"/>
            <a:ext cx="1905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06900" y="2959100"/>
            <a:ext cx="1676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10 µM</a:t>
            </a:r>
          </a:p>
        </p:txBody>
      </p:sp>
      <p:sp>
        <p:nvSpPr>
          <p:cNvPr id="27" name="Rectangle 26"/>
          <p:cNvSpPr/>
          <p:nvPr/>
        </p:nvSpPr>
        <p:spPr>
          <a:xfrm>
            <a:off x="6197600" y="2870200"/>
            <a:ext cx="2159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1900" y="2959100"/>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0,5 µL</a:t>
            </a:r>
          </a:p>
        </p:txBody>
      </p:sp>
      <p:sp>
        <p:nvSpPr>
          <p:cNvPr id="29" name="Rectangle 28"/>
          <p:cNvSpPr/>
          <p:nvPr/>
        </p:nvSpPr>
        <p:spPr>
          <a:xfrm>
            <a:off x="8356600" y="2870200"/>
            <a:ext cx="32258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70900" y="2959100"/>
            <a:ext cx="2997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0,2 µM</a:t>
            </a:r>
          </a:p>
        </p:txBody>
      </p:sp>
      <p:sp>
        <p:nvSpPr>
          <p:cNvPr id="31" name="Rectangle 30"/>
          <p:cNvSpPr/>
          <p:nvPr/>
        </p:nvSpPr>
        <p:spPr>
          <a:xfrm>
            <a:off x="609600" y="3352800"/>
            <a:ext cx="3683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3441700"/>
            <a:ext cx="3454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Primer reverse</a:t>
            </a:r>
          </a:p>
        </p:txBody>
      </p:sp>
      <p:sp>
        <p:nvSpPr>
          <p:cNvPr id="33" name="Rectangle 32"/>
          <p:cNvSpPr/>
          <p:nvPr/>
        </p:nvSpPr>
        <p:spPr>
          <a:xfrm>
            <a:off x="4292600" y="3352800"/>
            <a:ext cx="1905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06900" y="3441700"/>
            <a:ext cx="1676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10 µM</a:t>
            </a:r>
          </a:p>
        </p:txBody>
      </p:sp>
      <p:sp>
        <p:nvSpPr>
          <p:cNvPr id="35" name="Rectangle 34"/>
          <p:cNvSpPr/>
          <p:nvPr/>
        </p:nvSpPr>
        <p:spPr>
          <a:xfrm>
            <a:off x="6197600" y="3352800"/>
            <a:ext cx="2159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11900" y="3441700"/>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0,5 µL</a:t>
            </a:r>
          </a:p>
        </p:txBody>
      </p:sp>
      <p:sp>
        <p:nvSpPr>
          <p:cNvPr id="37" name="Rectangle 36"/>
          <p:cNvSpPr/>
          <p:nvPr/>
        </p:nvSpPr>
        <p:spPr>
          <a:xfrm>
            <a:off x="8356600" y="3352800"/>
            <a:ext cx="3225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70900" y="3441700"/>
            <a:ext cx="2997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0,2 µM</a:t>
            </a:r>
          </a:p>
        </p:txBody>
      </p:sp>
      <p:sp>
        <p:nvSpPr>
          <p:cNvPr id="39" name="Rectangle 38"/>
          <p:cNvSpPr/>
          <p:nvPr/>
        </p:nvSpPr>
        <p:spPr>
          <a:xfrm>
            <a:off x="609600" y="3835400"/>
            <a:ext cx="3683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 y="3924300"/>
            <a:ext cx="3454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ADN molde</a:t>
            </a:r>
          </a:p>
        </p:txBody>
      </p:sp>
      <p:sp>
        <p:nvSpPr>
          <p:cNvPr id="41" name="Rectangle 40"/>
          <p:cNvSpPr/>
          <p:nvPr/>
        </p:nvSpPr>
        <p:spPr>
          <a:xfrm>
            <a:off x="4292600" y="3835400"/>
            <a:ext cx="1905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06900" y="3924300"/>
            <a:ext cx="1676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10 ng/µL</a:t>
            </a:r>
          </a:p>
        </p:txBody>
      </p:sp>
      <p:sp>
        <p:nvSpPr>
          <p:cNvPr id="43" name="Rectangle 42"/>
          <p:cNvSpPr/>
          <p:nvPr/>
        </p:nvSpPr>
        <p:spPr>
          <a:xfrm>
            <a:off x="6197600" y="3835400"/>
            <a:ext cx="2159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11900" y="3924300"/>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2,0 µL</a:t>
            </a:r>
          </a:p>
        </p:txBody>
      </p:sp>
      <p:sp>
        <p:nvSpPr>
          <p:cNvPr id="45" name="Rectangle 44"/>
          <p:cNvSpPr/>
          <p:nvPr/>
        </p:nvSpPr>
        <p:spPr>
          <a:xfrm>
            <a:off x="8356600" y="3835400"/>
            <a:ext cx="32258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70900" y="3924300"/>
            <a:ext cx="2997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20 ng</a:t>
            </a:r>
          </a:p>
        </p:txBody>
      </p:sp>
      <p:sp>
        <p:nvSpPr>
          <p:cNvPr id="47" name="Rectangle 46"/>
          <p:cNvSpPr/>
          <p:nvPr/>
        </p:nvSpPr>
        <p:spPr>
          <a:xfrm>
            <a:off x="609600" y="4318000"/>
            <a:ext cx="3683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3900" y="4406900"/>
            <a:ext cx="3454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Agua</a:t>
            </a:r>
          </a:p>
        </p:txBody>
      </p:sp>
      <p:sp>
        <p:nvSpPr>
          <p:cNvPr id="49" name="Rectangle 48"/>
          <p:cNvSpPr/>
          <p:nvPr/>
        </p:nvSpPr>
        <p:spPr>
          <a:xfrm>
            <a:off x="4292600" y="4318000"/>
            <a:ext cx="1905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06900" y="4406900"/>
            <a:ext cx="1676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t>
            </a:r>
          </a:p>
        </p:txBody>
      </p:sp>
      <p:sp>
        <p:nvSpPr>
          <p:cNvPr id="51" name="Rectangle 50"/>
          <p:cNvSpPr/>
          <p:nvPr/>
        </p:nvSpPr>
        <p:spPr>
          <a:xfrm>
            <a:off x="6197600" y="4318000"/>
            <a:ext cx="2159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11900" y="4406900"/>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9,5 µL</a:t>
            </a:r>
          </a:p>
        </p:txBody>
      </p:sp>
      <p:sp>
        <p:nvSpPr>
          <p:cNvPr id="53" name="Rectangle 52"/>
          <p:cNvSpPr/>
          <p:nvPr/>
        </p:nvSpPr>
        <p:spPr>
          <a:xfrm>
            <a:off x="8356600" y="4318000"/>
            <a:ext cx="3225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70900" y="4406900"/>
            <a:ext cx="2997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Hasta 25 µL</a:t>
            </a:r>
          </a:p>
        </p:txBody>
      </p:sp>
      <p:sp>
        <p:nvSpPr>
          <p:cNvPr id="55" name="Rounded Rectangle 5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12,5 + 0,5 + 0,5 + 2,0 + 9,5 = 25,0 µL. En NTC, sustituir el ADN por agua.</a:t>
            </a:r>
          </a:p>
        </p:txBody>
      </p:sp>
      <p:sp>
        <p:nvSpPr>
          <p:cNvPr id="57" name="TextBox 56"/>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3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COMPARACIÓN DE MÉTODOS</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PCR convencional: ¿hay un producto del tamaño</a:t>
            </a:r>
          </a:p>
          <a:p>
            <a:pPr>
              <a:lnSpc>
                <a:spcPct val="115000"/>
              </a:lnSpc>
              <a:spcBef>
                <a:spcPts val="0"/>
              </a:spcBef>
              <a:spcAft>
                <a:spcPts val="0"/>
              </a:spcAft>
              <a:defRPr sz="2900" b="1">
                <a:solidFill>
                  <a:srgbClr val="183443"/>
                </a:solidFill>
                <a:latin typeface="DejaVu Sans"/>
              </a:defRPr>
            </a:pPr>
            <a:r>
              <a:t>esperado?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[1,3,5].</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08</a:t>
            </a:r>
          </a:p>
        </p:txBody>
      </p:sp>
      <p:sp>
        <p:nvSpPr>
          <p:cNvPr id="7" name="Rounded Rectangle 6"/>
          <p:cNvSpPr/>
          <p:nvPr/>
        </p:nvSpPr>
        <p:spPr>
          <a:xfrm>
            <a:off x="825500" y="1968500"/>
            <a:ext cx="5588000" cy="3302000"/>
          </a:xfrm>
          <a:prstGeom prst="roundRect">
            <a:avLst/>
          </a:prstGeom>
          <a:solidFill>
            <a:srgbClr val="203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6500" y="2108200"/>
            <a:ext cx="1206500" cy="304800"/>
          </a:xfrm>
          <a:prstGeom prst="rect">
            <a:avLst/>
          </a:prstGeom>
          <a:noFill/>
        </p:spPr>
        <p:txBody>
          <a:bodyPr wrap="none" lIns="0" rIns="0" tIns="0" bIns="0">
            <a:spAutoFit/>
          </a:bodyPr>
          <a:lstStyle/>
          <a:p>
            <a:pPr>
              <a:lnSpc>
                <a:spcPct val="115000"/>
              </a:lnSpc>
              <a:spcBef>
                <a:spcPts val="0"/>
              </a:spcBef>
              <a:spcAft>
                <a:spcPts val="0"/>
              </a:spcAft>
              <a:defRPr sz="1400" b="1">
                <a:solidFill>
                  <a:srgbClr val="FFFFFF"/>
                </a:solidFill>
                <a:latin typeface="DejaVu Sans"/>
              </a:defRPr>
            </a:pPr>
            <a:r>
              <a:t>M</a:t>
            </a:r>
          </a:p>
        </p:txBody>
      </p:sp>
      <p:sp>
        <p:nvSpPr>
          <p:cNvPr id="9" name="TextBox 8"/>
          <p:cNvSpPr txBox="1"/>
          <p:nvPr/>
        </p:nvSpPr>
        <p:spPr>
          <a:xfrm>
            <a:off x="2476500" y="2108200"/>
            <a:ext cx="1206500" cy="304800"/>
          </a:xfrm>
          <a:prstGeom prst="rect">
            <a:avLst/>
          </a:prstGeom>
          <a:noFill/>
        </p:spPr>
        <p:txBody>
          <a:bodyPr wrap="none" lIns="0" rIns="0" tIns="0" bIns="0">
            <a:spAutoFit/>
          </a:bodyPr>
          <a:lstStyle/>
          <a:p>
            <a:pPr>
              <a:lnSpc>
                <a:spcPct val="115000"/>
              </a:lnSpc>
              <a:spcBef>
                <a:spcPts val="0"/>
              </a:spcBef>
              <a:spcAft>
                <a:spcPts val="0"/>
              </a:spcAft>
              <a:defRPr sz="1400" b="1">
                <a:solidFill>
                  <a:srgbClr val="FFFFFF"/>
                </a:solidFill>
                <a:latin typeface="DejaVu Sans"/>
              </a:defRPr>
            </a:pPr>
            <a:r>
              <a:t>+</a:t>
            </a:r>
          </a:p>
        </p:txBody>
      </p:sp>
      <p:sp>
        <p:nvSpPr>
          <p:cNvPr id="10" name="TextBox 9"/>
          <p:cNvSpPr txBox="1"/>
          <p:nvPr/>
        </p:nvSpPr>
        <p:spPr>
          <a:xfrm>
            <a:off x="3746500" y="2108200"/>
            <a:ext cx="1206500" cy="304800"/>
          </a:xfrm>
          <a:prstGeom prst="rect">
            <a:avLst/>
          </a:prstGeom>
          <a:noFill/>
        </p:spPr>
        <p:txBody>
          <a:bodyPr wrap="none" lIns="0" rIns="0" tIns="0" bIns="0">
            <a:spAutoFit/>
          </a:bodyPr>
          <a:lstStyle/>
          <a:p>
            <a:pPr>
              <a:lnSpc>
                <a:spcPct val="115000"/>
              </a:lnSpc>
              <a:spcBef>
                <a:spcPts val="0"/>
              </a:spcBef>
              <a:spcAft>
                <a:spcPts val="0"/>
              </a:spcAft>
              <a:defRPr sz="1400" b="1">
                <a:solidFill>
                  <a:srgbClr val="FFFFFF"/>
                </a:solidFill>
                <a:latin typeface="DejaVu Sans"/>
              </a:defRPr>
            </a:pPr>
            <a:r>
              <a:t>Muestra</a:t>
            </a:r>
          </a:p>
        </p:txBody>
      </p:sp>
      <p:sp>
        <p:nvSpPr>
          <p:cNvPr id="11" name="TextBox 10"/>
          <p:cNvSpPr txBox="1"/>
          <p:nvPr/>
        </p:nvSpPr>
        <p:spPr>
          <a:xfrm>
            <a:off x="5143500" y="2108200"/>
            <a:ext cx="1206500" cy="304800"/>
          </a:xfrm>
          <a:prstGeom prst="rect">
            <a:avLst/>
          </a:prstGeom>
          <a:noFill/>
        </p:spPr>
        <p:txBody>
          <a:bodyPr wrap="none" lIns="0" rIns="0" tIns="0" bIns="0">
            <a:spAutoFit/>
          </a:bodyPr>
          <a:lstStyle/>
          <a:p>
            <a:pPr>
              <a:lnSpc>
                <a:spcPct val="115000"/>
              </a:lnSpc>
              <a:spcBef>
                <a:spcPts val="0"/>
              </a:spcBef>
              <a:spcAft>
                <a:spcPts val="0"/>
              </a:spcAft>
              <a:defRPr sz="1400" b="1">
                <a:solidFill>
                  <a:srgbClr val="FFFFFF"/>
                </a:solidFill>
                <a:latin typeface="DejaVu Sans"/>
              </a:defRPr>
            </a:pPr>
            <a:r>
              <a:t>NTC</a:t>
            </a:r>
          </a:p>
        </p:txBody>
      </p:sp>
      <p:cxnSp>
        <p:nvCxnSpPr>
          <p:cNvPr id="12" name="Connector 11"/>
          <p:cNvCxnSpPr/>
          <p:nvPr/>
        </p:nvCxnSpPr>
        <p:spPr>
          <a:xfrm>
            <a:off x="1206500" y="2667000"/>
            <a:ext cx="444500" cy="0"/>
          </a:xfrm>
          <a:prstGeom prst="line">
            <a:avLst/>
          </a:prstGeom>
          <a:ln w="63500">
            <a:solidFill>
              <a:srgbClr val="D5E8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06500" y="3048000"/>
            <a:ext cx="444500" cy="0"/>
          </a:xfrm>
          <a:prstGeom prst="line">
            <a:avLst/>
          </a:prstGeom>
          <a:ln w="63500">
            <a:solidFill>
              <a:srgbClr val="D5E8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06500" y="3556000"/>
            <a:ext cx="444500" cy="0"/>
          </a:xfrm>
          <a:prstGeom prst="line">
            <a:avLst/>
          </a:prstGeom>
          <a:ln w="63500">
            <a:solidFill>
              <a:srgbClr val="D5E8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206500" y="4064000"/>
            <a:ext cx="444500" cy="0"/>
          </a:xfrm>
          <a:prstGeom prst="line">
            <a:avLst/>
          </a:prstGeom>
          <a:ln w="63500">
            <a:solidFill>
              <a:srgbClr val="D5E8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06500" y="4572000"/>
            <a:ext cx="444500" cy="0"/>
          </a:xfrm>
          <a:prstGeom prst="line">
            <a:avLst/>
          </a:prstGeom>
          <a:ln w="63500">
            <a:solidFill>
              <a:srgbClr val="D5E8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38400" y="3556000"/>
            <a:ext cx="457200" cy="0"/>
          </a:xfrm>
          <a:prstGeom prst="line">
            <a:avLst/>
          </a:prstGeom>
          <a:ln w="88900">
            <a:solidFill>
              <a:srgbClr val="66D9C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08400" y="3556000"/>
            <a:ext cx="457200" cy="0"/>
          </a:xfrm>
          <a:prstGeom prst="line">
            <a:avLst/>
          </a:prstGeom>
          <a:ln w="88900">
            <a:solidFill>
              <a:srgbClr val="66D9C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8500" y="2159000"/>
            <a:ext cx="41910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Lectura final en gel</a:t>
            </a:r>
          </a:p>
        </p:txBody>
      </p:sp>
      <p:sp>
        <p:nvSpPr>
          <p:cNvPr id="20" name="TextBox 19"/>
          <p:cNvSpPr txBox="1"/>
          <p:nvPr/>
        </p:nvSpPr>
        <p:spPr>
          <a:xfrm>
            <a:off x="7048500" y="2819400"/>
            <a:ext cx="4191000" cy="1560195"/>
          </a:xfrm>
          <a:prstGeom prst="rect">
            <a:avLst/>
          </a:prstGeom>
          <a:noFill/>
        </p:spPr>
        <p:txBody>
          <a:bodyPr wrap="none" lIns="0" rIns="0" tIns="0" bIns="0">
            <a:spAutoFit/>
          </a:bodyPr>
          <a:lstStyle/>
          <a:p>
            <a:pPr>
              <a:lnSpc>
                <a:spcPct val="115000"/>
              </a:lnSpc>
              <a:spcBef>
                <a:spcPts val="0"/>
              </a:spcBef>
              <a:spcAft>
                <a:spcPts val="0"/>
              </a:spcAft>
              <a:defRPr sz="1900" b="0">
                <a:solidFill>
                  <a:srgbClr val="183443"/>
                </a:solidFill>
                <a:latin typeface="DejaVu Sans"/>
              </a:defRPr>
            </a:pPr>
            <a:r>
              <a:t>Aplicaciones: genotipado,</a:t>
            </a:r>
          </a:p>
          <a:p>
            <a:pPr>
              <a:lnSpc>
                <a:spcPct val="115000"/>
              </a:lnSpc>
              <a:spcBef>
                <a:spcPts val="0"/>
              </a:spcBef>
              <a:spcAft>
                <a:spcPts val="0"/>
              </a:spcAft>
              <a:defRPr sz="1900" b="0">
                <a:solidFill>
                  <a:srgbClr val="183443"/>
                </a:solidFill>
                <a:latin typeface="DejaVu Sans"/>
              </a:defRPr>
            </a:pPr>
            <a:r>
              <a:t>clonación y preparación de un</a:t>
            </a:r>
          </a:p>
          <a:p>
            <a:pPr>
              <a:lnSpc>
                <a:spcPct val="115000"/>
              </a:lnSpc>
              <a:spcBef>
                <a:spcPts val="0"/>
              </a:spcBef>
              <a:spcAft>
                <a:spcPts val="0"/>
              </a:spcAft>
              <a:defRPr sz="1900" b="0">
                <a:solidFill>
                  <a:srgbClr val="183443"/>
                </a:solidFill>
                <a:latin typeface="DejaVu Sans"/>
              </a:defRPr>
            </a:pPr>
            <a:r>
              <a:t>amplicón para Sanger.</a:t>
            </a:r>
          </a:p>
          <a:p>
            <a:pPr>
              <a:lnSpc>
                <a:spcPct val="115000"/>
              </a:lnSpc>
              <a:spcBef>
                <a:spcPts val="0"/>
              </a:spcBef>
              <a:spcAft>
                <a:spcPts val="0"/>
              </a:spcAft>
              <a:defRPr sz="1900" b="0">
                <a:solidFill>
                  <a:srgbClr val="183443"/>
                </a:solidFill>
                <a:latin typeface="DejaVu Sans"/>
              </a:defRPr>
            </a:pPr>
            <a:r>
              <a:t>No cuantifica de forma robusta la</a:t>
            </a:r>
          </a:p>
          <a:p>
            <a:pPr>
              <a:lnSpc>
                <a:spcPct val="115000"/>
              </a:lnSpc>
              <a:spcBef>
                <a:spcPts val="0"/>
              </a:spcBef>
              <a:spcAft>
                <a:spcPts val="0"/>
              </a:spcAft>
              <a:defRPr sz="1900" b="0">
                <a:solidFill>
                  <a:srgbClr val="183443"/>
                </a:solidFill>
                <a:latin typeface="DejaVu Sans"/>
              </a:defRPr>
            </a:pPr>
            <a:r>
              <a:t>cantidad inicial.</a:t>
            </a:r>
          </a:p>
        </p:txBody>
      </p:sp>
      <p:sp>
        <p:nvSpPr>
          <p:cNvPr id="21" name="Rounded Rectangle 20"/>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Una banda extra o un NTC positivo exige investigar antes de secuenciar.</a:t>
            </a:r>
          </a:p>
        </p:txBody>
      </p:sp>
      <p:sp>
        <p:nvSpPr>
          <p:cNvPr id="23" name="TextBox 22"/>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1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COMPARACIÓN DE MÉTODOS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RT-PCR: convertir ARN en un molde amplificable</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[2,3,5].</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09</a:t>
            </a:r>
          </a:p>
        </p:txBody>
      </p:sp>
      <p:sp>
        <p:nvSpPr>
          <p:cNvPr id="7" name="Rounded Rectangle 6"/>
          <p:cNvSpPr/>
          <p:nvPr/>
        </p:nvSpPr>
        <p:spPr>
          <a:xfrm>
            <a:off x="609600" y="2222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3876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806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ARN</a:t>
            </a:r>
          </a:p>
          <a:p>
            <a:pPr>
              <a:lnSpc>
                <a:spcPct val="115000"/>
              </a:lnSpc>
              <a:spcBef>
                <a:spcPts val="0"/>
              </a:spcBef>
              <a:spcAft>
                <a:spcPts val="0"/>
              </a:spcAft>
              <a:defRPr sz="1700" b="1">
                <a:solidFill>
                  <a:srgbClr val="183443"/>
                </a:solidFill>
                <a:latin typeface="DejaVu Sans"/>
              </a:defRPr>
            </a:pPr>
            <a:r>
              <a:t>control de ADN</a:t>
            </a:r>
          </a:p>
        </p:txBody>
      </p:sp>
      <p:cxnSp>
        <p:nvCxnSpPr>
          <p:cNvPr id="10" name="Connector 9"/>
          <p:cNvCxnSpPr/>
          <p:nvPr/>
        </p:nvCxnSpPr>
        <p:spPr>
          <a:xfrm>
            <a:off x="3086100" y="2921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2857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2921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2222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3876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2806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Transcripción</a:t>
            </a:r>
          </a:p>
          <a:p>
            <a:pPr>
              <a:lnSpc>
                <a:spcPct val="115000"/>
              </a:lnSpc>
              <a:spcBef>
                <a:spcPts val="0"/>
              </a:spcBef>
              <a:spcAft>
                <a:spcPts val="0"/>
              </a:spcAft>
              <a:defRPr sz="1700" b="1">
                <a:solidFill>
                  <a:srgbClr val="183443"/>
                </a:solidFill>
                <a:latin typeface="DejaVu Sans"/>
              </a:defRPr>
            </a:pPr>
            <a:r>
              <a:t>reversa</a:t>
            </a:r>
          </a:p>
        </p:txBody>
      </p:sp>
      <p:cxnSp>
        <p:nvCxnSpPr>
          <p:cNvPr id="16" name="Connector 15"/>
          <p:cNvCxnSpPr/>
          <p:nvPr/>
        </p:nvCxnSpPr>
        <p:spPr>
          <a:xfrm>
            <a:off x="5930900" y="2921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2857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2921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2222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3876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806700"/>
            <a:ext cx="2082800" cy="341757"/>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ADNc</a:t>
            </a:r>
          </a:p>
        </p:txBody>
      </p:sp>
      <p:cxnSp>
        <p:nvCxnSpPr>
          <p:cNvPr id="22" name="Connector 21"/>
          <p:cNvCxnSpPr/>
          <p:nvPr/>
        </p:nvCxnSpPr>
        <p:spPr>
          <a:xfrm>
            <a:off x="8775700" y="2921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2857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2921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2222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3876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2806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PCR final</a:t>
            </a:r>
          </a:p>
          <a:p>
            <a:pPr>
              <a:lnSpc>
                <a:spcPct val="115000"/>
              </a:lnSpc>
              <a:spcBef>
                <a:spcPts val="0"/>
              </a:spcBef>
              <a:spcAft>
                <a:spcPts val="0"/>
              </a:spcAft>
              <a:defRPr sz="1700" b="1">
                <a:solidFill>
                  <a:srgbClr val="183443"/>
                </a:solidFill>
                <a:latin typeface="DejaVu Sans"/>
              </a:defRPr>
            </a:pPr>
            <a:r>
              <a:t>o qPCR</a:t>
            </a:r>
          </a:p>
        </p:txBody>
      </p:sp>
      <p:sp>
        <p:nvSpPr>
          <p:cNvPr id="28" name="TextBox 27"/>
          <p:cNvSpPr txBox="1"/>
          <p:nvPr/>
        </p:nvSpPr>
        <p:spPr>
          <a:xfrm>
            <a:off x="825500" y="4127500"/>
            <a:ext cx="4953000" cy="669798"/>
          </a:xfrm>
          <a:prstGeom prst="rect">
            <a:avLst/>
          </a:prstGeom>
          <a:noFill/>
        </p:spPr>
        <p:txBody>
          <a:bodyPr wrap="none" lIns="0" rIns="0" tIns="0" bIns="0">
            <a:spAutoFit/>
          </a:bodyPr>
          <a:lstStyle/>
          <a:p>
            <a:pPr>
              <a:lnSpc>
                <a:spcPct val="115000"/>
              </a:lnSpc>
              <a:spcBef>
                <a:spcPts val="0"/>
              </a:spcBef>
              <a:spcAft>
                <a:spcPts val="0"/>
              </a:spcAft>
              <a:defRPr sz="1900" b="0">
                <a:solidFill>
                  <a:srgbClr val="183443"/>
                </a:solidFill>
                <a:latin typeface="DejaVu Sans"/>
              </a:defRPr>
            </a:pPr>
            <a:r>
              <a:t>Un paso: RT + PCR en el mismo tubo.</a:t>
            </a:r>
          </a:p>
          <a:p>
            <a:pPr>
              <a:lnSpc>
                <a:spcPct val="115000"/>
              </a:lnSpc>
              <a:spcBef>
                <a:spcPts val="0"/>
              </a:spcBef>
              <a:spcAft>
                <a:spcPts val="0"/>
              </a:spcAft>
              <a:defRPr sz="1900" b="0">
                <a:solidFill>
                  <a:srgbClr val="183443"/>
                </a:solidFill>
                <a:latin typeface="DejaVu Sans"/>
              </a:defRPr>
            </a:pPr>
            <a:r>
              <a:t>Menos manipulación; menor flexibilidad.</a:t>
            </a:r>
          </a:p>
        </p:txBody>
      </p:sp>
      <p:sp>
        <p:nvSpPr>
          <p:cNvPr id="29" name="TextBox 28"/>
          <p:cNvSpPr txBox="1"/>
          <p:nvPr/>
        </p:nvSpPr>
        <p:spPr>
          <a:xfrm>
            <a:off x="6413500" y="4127500"/>
            <a:ext cx="4953000" cy="669798"/>
          </a:xfrm>
          <a:prstGeom prst="rect">
            <a:avLst/>
          </a:prstGeom>
          <a:noFill/>
        </p:spPr>
        <p:txBody>
          <a:bodyPr wrap="none" lIns="0" rIns="0" tIns="0" bIns="0">
            <a:spAutoFit/>
          </a:bodyPr>
          <a:lstStyle/>
          <a:p>
            <a:pPr>
              <a:lnSpc>
                <a:spcPct val="115000"/>
              </a:lnSpc>
              <a:spcBef>
                <a:spcPts val="0"/>
              </a:spcBef>
              <a:spcAft>
                <a:spcPts val="0"/>
              </a:spcAft>
              <a:defRPr sz="1900" b="0">
                <a:solidFill>
                  <a:srgbClr val="183443"/>
                </a:solidFill>
                <a:latin typeface="DejaVu Sans"/>
              </a:defRPr>
            </a:pPr>
            <a:r>
              <a:t>Dos pasos: RT separada. Un ADNc</a:t>
            </a:r>
          </a:p>
          <a:p>
            <a:pPr>
              <a:lnSpc>
                <a:spcPct val="115000"/>
              </a:lnSpc>
              <a:spcBef>
                <a:spcPts val="0"/>
              </a:spcBef>
              <a:spcAft>
                <a:spcPts val="0"/>
              </a:spcAft>
              <a:defRPr sz="1900" b="0">
                <a:solidFill>
                  <a:srgbClr val="183443"/>
                </a:solidFill>
                <a:latin typeface="DejaVu Sans"/>
              </a:defRPr>
            </a:pPr>
            <a:r>
              <a:t>puede servir para varias dianas.</a:t>
            </a:r>
          </a:p>
        </p:txBody>
      </p:sp>
      <p:sp>
        <p:nvSpPr>
          <p:cNvPr id="30" name="Rounded Rectangle 29"/>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−RT controla ADN residual. RT-PCR por sí sola no significa tiempo real.</a:t>
            </a:r>
          </a:p>
        </p:txBody>
      </p:sp>
      <p:sp>
        <p:nvSpPr>
          <p:cNvPr id="32" name="TextBox 31"/>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COMPARACIÓN DE MÉTODOS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qPCR: leer la amplificación mientras ocurre</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[1–3,6].</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10</a:t>
            </a:r>
          </a:p>
        </p:txBody>
      </p:sp>
      <p:cxnSp>
        <p:nvCxnSpPr>
          <p:cNvPr id="7" name="Connector 6"/>
          <p:cNvCxnSpPr/>
          <p:nvPr/>
        </p:nvCxnSpPr>
        <p:spPr>
          <a:xfrm>
            <a:off x="1079500" y="5092700"/>
            <a:ext cx="6159500" cy="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79500" y="1905000"/>
            <a:ext cx="0" cy="318770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79500" y="5077454"/>
            <a:ext cx="139700" cy="1001"/>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219200" y="5075805"/>
            <a:ext cx="139700" cy="1649"/>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358900" y="5073091"/>
            <a:ext cx="139700" cy="2714"/>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498600" y="5068628"/>
            <a:ext cx="139700" cy="4463"/>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8300" y="5061300"/>
            <a:ext cx="139700" cy="732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78000" y="5049302"/>
            <a:ext cx="139700" cy="1199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17700" y="5029746"/>
            <a:ext cx="139700" cy="19556"/>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57400" y="4998101"/>
            <a:ext cx="139700" cy="31645"/>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97100" y="4947492"/>
            <a:ext cx="139700" cy="50609"/>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336800" y="4868052"/>
            <a:ext cx="139700" cy="79440"/>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476500" y="4746947"/>
            <a:ext cx="139700" cy="121105"/>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616200" y="4570303"/>
            <a:ext cx="139700" cy="176644"/>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55900" y="4328577"/>
            <a:ext cx="139700" cy="241726"/>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895600" y="4025151"/>
            <a:ext cx="139700" cy="303426"/>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035300" y="3683000"/>
            <a:ext cx="139700" cy="342151"/>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175000" y="3340848"/>
            <a:ext cx="139700" cy="342152"/>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314700" y="3037422"/>
            <a:ext cx="139700" cy="303426"/>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454400" y="2795696"/>
            <a:ext cx="139700" cy="241726"/>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594100" y="2619052"/>
            <a:ext cx="139700" cy="176644"/>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33800" y="2497947"/>
            <a:ext cx="139700" cy="121105"/>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873500" y="2418507"/>
            <a:ext cx="139700" cy="79440"/>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013200" y="2367898"/>
            <a:ext cx="139700" cy="50609"/>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152900" y="2336253"/>
            <a:ext cx="139700" cy="31645"/>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292600" y="2316697"/>
            <a:ext cx="139700" cy="19556"/>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432300" y="2304699"/>
            <a:ext cx="139700" cy="1199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572000" y="2297371"/>
            <a:ext cx="139700" cy="732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711700" y="2292908"/>
            <a:ext cx="139700" cy="4463"/>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851400" y="2290194"/>
            <a:ext cx="139700" cy="2714"/>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991100" y="2288545"/>
            <a:ext cx="139700" cy="1649"/>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130800" y="2287544"/>
            <a:ext cx="139700" cy="1001"/>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270500" y="2286936"/>
            <a:ext cx="139700" cy="60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10200" y="2286568"/>
            <a:ext cx="139700" cy="36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549900" y="2286344"/>
            <a:ext cx="139700" cy="224"/>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689600" y="2286209"/>
            <a:ext cx="139700" cy="135"/>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829300" y="2286126"/>
            <a:ext cx="139700" cy="83"/>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69000" y="2286076"/>
            <a:ext cx="139700" cy="50"/>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108700" y="2286046"/>
            <a:ext cx="139700" cy="30"/>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248400" y="2286028"/>
            <a:ext cx="139700" cy="18"/>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388100" y="2286017"/>
            <a:ext cx="139700" cy="11"/>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527800" y="2286010"/>
            <a:ext cx="139700" cy="7"/>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667500" y="2286006"/>
            <a:ext cx="139700" cy="4"/>
          </a:xfrm>
          <a:prstGeom prst="line">
            <a:avLst/>
          </a:prstGeom>
          <a:ln w="381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79500" y="5079953"/>
            <a:ext cx="139700" cy="1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219200" y="5079923"/>
            <a:ext cx="139700" cy="3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358900" y="5079873"/>
            <a:ext cx="139700" cy="5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498600" y="5079790"/>
            <a:ext cx="139700" cy="83"/>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638300" y="5079655"/>
            <a:ext cx="139700" cy="135"/>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778000" y="5079431"/>
            <a:ext cx="139700" cy="224"/>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917700" y="5079063"/>
            <a:ext cx="139700" cy="36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057400" y="5078455"/>
            <a:ext cx="139700" cy="60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197100" y="5077454"/>
            <a:ext cx="139700" cy="1001"/>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336800" y="5075805"/>
            <a:ext cx="139700" cy="1649"/>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476500" y="5073091"/>
            <a:ext cx="139700" cy="2714"/>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616200" y="5068628"/>
            <a:ext cx="139700" cy="4463"/>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755900" y="5061300"/>
            <a:ext cx="139700" cy="732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895600" y="5049302"/>
            <a:ext cx="139700" cy="1199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035300" y="5029746"/>
            <a:ext cx="139700" cy="19556"/>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175000" y="4998101"/>
            <a:ext cx="139700" cy="31645"/>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3314700" y="4947492"/>
            <a:ext cx="139700" cy="50609"/>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454400" y="4868052"/>
            <a:ext cx="139700" cy="7944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594100" y="4746947"/>
            <a:ext cx="139700" cy="121105"/>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3733800" y="4570303"/>
            <a:ext cx="139700" cy="176644"/>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3873500" y="4328577"/>
            <a:ext cx="139700" cy="241726"/>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013200" y="4025151"/>
            <a:ext cx="139700" cy="303426"/>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152900" y="3683000"/>
            <a:ext cx="139700" cy="342151"/>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292600" y="3340848"/>
            <a:ext cx="139700" cy="342152"/>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432300" y="3037422"/>
            <a:ext cx="139700" cy="303426"/>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572000" y="2795696"/>
            <a:ext cx="139700" cy="241726"/>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11700" y="2619052"/>
            <a:ext cx="139700" cy="176644"/>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851400" y="2497947"/>
            <a:ext cx="139700" cy="121105"/>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991100" y="2418507"/>
            <a:ext cx="139700" cy="7944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130800" y="2367898"/>
            <a:ext cx="139700" cy="50609"/>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270500" y="2336253"/>
            <a:ext cx="139700" cy="31645"/>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410200" y="2316697"/>
            <a:ext cx="139700" cy="19556"/>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549900" y="2304699"/>
            <a:ext cx="139700" cy="1199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689600" y="2297371"/>
            <a:ext cx="139700" cy="732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829300" y="2292908"/>
            <a:ext cx="139700" cy="4463"/>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969000" y="2290194"/>
            <a:ext cx="139700" cy="2714"/>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108700" y="2288545"/>
            <a:ext cx="139700" cy="1649"/>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248400" y="2287544"/>
            <a:ext cx="139700" cy="1001"/>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388100" y="2286936"/>
            <a:ext cx="139700" cy="60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527800" y="2286568"/>
            <a:ext cx="139700" cy="368"/>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667500" y="2286344"/>
            <a:ext cx="139700" cy="224"/>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79500" y="5079998"/>
            <a:ext cx="139700" cy="1"/>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219200" y="5079997"/>
            <a:ext cx="139700" cy="1"/>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358900" y="5079996"/>
            <a:ext cx="139700" cy="1"/>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498600" y="5079993"/>
            <a:ext cx="139700" cy="3"/>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638300" y="5079989"/>
            <a:ext cx="139700" cy="4"/>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778000" y="5079982"/>
            <a:ext cx="139700" cy="7"/>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917700" y="5079971"/>
            <a:ext cx="139700" cy="11"/>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057400" y="5079953"/>
            <a:ext cx="139700" cy="1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197100" y="5079923"/>
            <a:ext cx="139700" cy="30"/>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336800" y="5079873"/>
            <a:ext cx="139700" cy="50"/>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476500" y="5079790"/>
            <a:ext cx="139700" cy="83"/>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616200" y="5079655"/>
            <a:ext cx="139700" cy="135"/>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755900" y="5079431"/>
            <a:ext cx="139700" cy="224"/>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895600" y="5079063"/>
            <a:ext cx="139700" cy="36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035300" y="5078455"/>
            <a:ext cx="139700" cy="60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175000" y="5077454"/>
            <a:ext cx="139700" cy="1001"/>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314700" y="5075805"/>
            <a:ext cx="139700" cy="1649"/>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454400" y="5073091"/>
            <a:ext cx="139700" cy="2714"/>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594100" y="5068628"/>
            <a:ext cx="139700" cy="4463"/>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33800" y="5061300"/>
            <a:ext cx="139700" cy="732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873500" y="5049302"/>
            <a:ext cx="139700" cy="1199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013200" y="5029746"/>
            <a:ext cx="139700" cy="19556"/>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4152900" y="4998101"/>
            <a:ext cx="139700" cy="31645"/>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4292600" y="4947492"/>
            <a:ext cx="139700" cy="50609"/>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432300" y="4868052"/>
            <a:ext cx="139700" cy="79440"/>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4572000" y="4746947"/>
            <a:ext cx="139700" cy="121105"/>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4711700" y="4570303"/>
            <a:ext cx="139700" cy="176644"/>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4851400" y="4328577"/>
            <a:ext cx="139700" cy="241726"/>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4991100" y="4025151"/>
            <a:ext cx="139700" cy="303426"/>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5130800" y="3683000"/>
            <a:ext cx="139700" cy="342151"/>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5270500" y="3340848"/>
            <a:ext cx="139700" cy="342152"/>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5410200" y="3037422"/>
            <a:ext cx="139700" cy="303426"/>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5549900" y="2795696"/>
            <a:ext cx="139700" cy="241726"/>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5689600" y="2619052"/>
            <a:ext cx="139700" cy="176644"/>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5829300" y="2497947"/>
            <a:ext cx="139700" cy="121105"/>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5969000" y="2418507"/>
            <a:ext cx="139700" cy="79440"/>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08700" y="2367898"/>
            <a:ext cx="139700" cy="50609"/>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48400" y="2336253"/>
            <a:ext cx="139700" cy="31645"/>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388100" y="2316697"/>
            <a:ext cx="139700" cy="19556"/>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527800" y="2304699"/>
            <a:ext cx="139700" cy="1199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667500" y="2297371"/>
            <a:ext cx="139700" cy="7328"/>
          </a:xfrm>
          <a:prstGeom prst="line">
            <a:avLst/>
          </a:prstGeom>
          <a:ln w="381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079500" y="3937000"/>
            <a:ext cx="6032500" cy="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1206500" y="3568700"/>
            <a:ext cx="2032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DA765B"/>
                </a:solidFill>
                <a:latin typeface="DejaVu Sans"/>
              </a:defRPr>
            </a:pPr>
            <a:r>
              <a:t>Umbral</a:t>
            </a:r>
          </a:p>
        </p:txBody>
      </p:sp>
      <p:sp>
        <p:nvSpPr>
          <p:cNvPr id="134" name="TextBox 133"/>
          <p:cNvSpPr txBox="1"/>
          <p:nvPr/>
        </p:nvSpPr>
        <p:spPr>
          <a:xfrm>
            <a:off x="3302000" y="5219700"/>
            <a:ext cx="3175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Ciclos →</a:t>
            </a:r>
          </a:p>
        </p:txBody>
      </p:sp>
      <p:sp>
        <p:nvSpPr>
          <p:cNvPr id="135" name="TextBox 134"/>
          <p:cNvSpPr txBox="1"/>
          <p:nvPr/>
        </p:nvSpPr>
        <p:spPr>
          <a:xfrm>
            <a:off x="7747000" y="2095500"/>
            <a:ext cx="35560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Cq: ciclo de cruce</a:t>
            </a:r>
          </a:p>
        </p:txBody>
      </p:sp>
      <p:sp>
        <p:nvSpPr>
          <p:cNvPr id="136" name="TextBox 135"/>
          <p:cNvSpPr txBox="1"/>
          <p:nvPr/>
        </p:nvSpPr>
        <p:spPr>
          <a:xfrm>
            <a:off x="7747000" y="2895600"/>
            <a:ext cx="3556000" cy="1263396"/>
          </a:xfrm>
          <a:prstGeom prst="rect">
            <a:avLst/>
          </a:prstGeom>
          <a:noFill/>
        </p:spPr>
        <p:txBody>
          <a:bodyPr wrap="none" lIns="0" rIns="0" tIns="0" bIns="0">
            <a:spAutoFit/>
          </a:bodyPr>
          <a:lstStyle/>
          <a:p>
            <a:pPr>
              <a:lnSpc>
                <a:spcPct val="115000"/>
              </a:lnSpc>
              <a:spcBef>
                <a:spcPts val="0"/>
              </a:spcBef>
              <a:spcAft>
                <a:spcPts val="0"/>
              </a:spcAft>
              <a:defRPr sz="1900" b="0">
                <a:solidFill>
                  <a:srgbClr val="183443"/>
                </a:solidFill>
                <a:latin typeface="DejaVu Sans"/>
              </a:defRPr>
            </a:pPr>
            <a:r>
              <a:t>Más molde inicial → cruce</a:t>
            </a:r>
          </a:p>
          <a:p>
            <a:pPr>
              <a:lnSpc>
                <a:spcPct val="115000"/>
              </a:lnSpc>
              <a:spcBef>
                <a:spcPts val="0"/>
              </a:spcBef>
              <a:spcAft>
                <a:spcPts val="0"/>
              </a:spcAft>
              <a:defRPr sz="1900" b="0">
                <a:solidFill>
                  <a:srgbClr val="183443"/>
                </a:solidFill>
                <a:latin typeface="DejaVu Sans"/>
              </a:defRPr>
            </a:pPr>
            <a:r>
              <a:t>temprano.</a:t>
            </a:r>
          </a:p>
          <a:p>
            <a:pPr>
              <a:lnSpc>
                <a:spcPct val="115000"/>
              </a:lnSpc>
              <a:spcBef>
                <a:spcPts val="0"/>
              </a:spcBef>
              <a:spcAft>
                <a:spcPts val="0"/>
              </a:spcAft>
              <a:defRPr sz="1900" b="0">
                <a:solidFill>
                  <a:srgbClr val="183443"/>
                </a:solidFill>
                <a:latin typeface="DejaVu Sans"/>
              </a:defRPr>
            </a:pPr>
            <a:r>
              <a:t>Resultado cuantitativo:</a:t>
            </a:r>
          </a:p>
          <a:p>
            <a:pPr>
              <a:lnSpc>
                <a:spcPct val="115000"/>
              </a:lnSpc>
              <a:spcBef>
                <a:spcPts val="0"/>
              </a:spcBef>
              <a:spcAft>
                <a:spcPts val="0"/>
              </a:spcAft>
              <a:defRPr sz="1900" b="0">
                <a:solidFill>
                  <a:srgbClr val="183443"/>
                </a:solidFill>
                <a:latin typeface="DejaVu Sans"/>
              </a:defRPr>
            </a:pPr>
            <a:r>
              <a:t>exige validación y controles.</a:t>
            </a:r>
          </a:p>
        </p:txBody>
      </p:sp>
      <p:sp>
        <p:nvSpPr>
          <p:cNvPr id="137" name="Rounded Rectangle 13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Cq también se denomina Ct. Las curvas mostradas son simuladas.</a:t>
            </a:r>
          </a:p>
        </p:txBody>
      </p:sp>
      <p:sp>
        <p:nvSpPr>
          <p:cNvPr id="139" name="TextBox 138"/>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CÁLCULOS DE QPCR</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Cuantificar con una curva estándar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[1,2,6].</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11</a:t>
            </a:r>
          </a:p>
        </p:txBody>
      </p:sp>
      <p:cxnSp>
        <p:nvCxnSpPr>
          <p:cNvPr id="7" name="Connector 6"/>
          <p:cNvCxnSpPr/>
          <p:nvPr/>
        </p:nvCxnSpPr>
        <p:spPr>
          <a:xfrm>
            <a:off x="1079500" y="5041900"/>
            <a:ext cx="5524500" cy="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79500" y="1905000"/>
            <a:ext cx="0" cy="313690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651000" y="22860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03500" y="28067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56000" y="33274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08500" y="38481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61000" y="43688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714500" y="2349500"/>
            <a:ext cx="3810000" cy="20828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349500" y="5194300"/>
            <a:ext cx="4191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log₁₀(copias/reacción)</a:t>
            </a:r>
          </a:p>
        </p:txBody>
      </p:sp>
      <p:sp>
        <p:nvSpPr>
          <p:cNvPr id="16" name="TextBox 15"/>
          <p:cNvSpPr txBox="1"/>
          <p:nvPr/>
        </p:nvSpPr>
        <p:spPr>
          <a:xfrm>
            <a:off x="7175500" y="2006600"/>
            <a:ext cx="419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Cq = −3,32 log₁₀(N) + 40</a:t>
            </a:r>
          </a:p>
        </p:txBody>
      </p:sp>
      <p:sp>
        <p:nvSpPr>
          <p:cNvPr id="17" name="TextBox 16"/>
          <p:cNvSpPr txBox="1"/>
          <p:nvPr/>
        </p:nvSpPr>
        <p:spPr>
          <a:xfrm>
            <a:off x="7175500" y="2794000"/>
            <a:ext cx="4254500" cy="1013460"/>
          </a:xfrm>
          <a:prstGeom prst="rect">
            <a:avLst/>
          </a:prstGeom>
          <a:noFill/>
        </p:spPr>
        <p:txBody>
          <a:bodyPr wrap="none" lIns="0" rIns="0" tIns="0" bIns="0">
            <a:spAutoFit/>
          </a:bodyPr>
          <a:lstStyle/>
          <a:p>
            <a:pPr>
              <a:lnSpc>
                <a:spcPct val="115000"/>
              </a:lnSpc>
              <a:spcBef>
                <a:spcPts val="0"/>
              </a:spcBef>
              <a:spcAft>
                <a:spcPts val="0"/>
              </a:spcAft>
              <a:defRPr sz="2000" b="0">
                <a:solidFill>
                  <a:srgbClr val="183443"/>
                </a:solidFill>
                <a:latin typeface="DejaVu Sans"/>
              </a:defRPr>
            </a:pPr>
            <a:r>
              <a:t>Si Cq = 26,72:</a:t>
            </a:r>
          </a:p>
          <a:p>
            <a:pPr>
              <a:lnSpc>
                <a:spcPct val="115000"/>
              </a:lnSpc>
              <a:spcBef>
                <a:spcPts val="0"/>
              </a:spcBef>
              <a:spcAft>
                <a:spcPts val="0"/>
              </a:spcAft>
              <a:defRPr sz="2000" b="0">
                <a:solidFill>
                  <a:srgbClr val="183443"/>
                </a:solidFill>
                <a:latin typeface="DejaVu Sans"/>
              </a:defRPr>
            </a:pPr>
            <a:r>
              <a:t>log₁₀(N) = 4</a:t>
            </a:r>
          </a:p>
          <a:p>
            <a:pPr>
              <a:lnSpc>
                <a:spcPct val="115000"/>
              </a:lnSpc>
              <a:spcBef>
                <a:spcPts val="0"/>
              </a:spcBef>
              <a:spcAft>
                <a:spcPts val="0"/>
              </a:spcAft>
              <a:defRPr sz="2000" b="0">
                <a:solidFill>
                  <a:srgbClr val="183443"/>
                </a:solidFill>
                <a:latin typeface="DejaVu Sans"/>
              </a:defRPr>
            </a:pPr>
            <a:r>
              <a:t>N = 10 000 copias/reacción</a:t>
            </a:r>
          </a:p>
        </p:txBody>
      </p:sp>
      <p:sp>
        <p:nvSpPr>
          <p:cNvPr id="18" name="TextBox 17"/>
          <p:cNvSpPr txBox="1"/>
          <p:nvPr/>
        </p:nvSpPr>
        <p:spPr>
          <a:xfrm>
            <a:off x="7175500" y="4318000"/>
            <a:ext cx="42545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E = 10^(−1/m) − 1</a:t>
            </a:r>
          </a:p>
        </p:txBody>
      </p:sp>
      <p:sp>
        <p:nvSpPr>
          <p:cNvPr id="19" name="Rounded Rectangle 18"/>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No extrapolar fuera del rango de estándares; R² alto por sí solo no valida el ensayo.</a:t>
            </a:r>
          </a:p>
        </p:txBody>
      </p:sp>
      <p:sp>
        <p:nvSpPr>
          <p:cNvPr id="21" name="TextBox 20"/>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CÁLCULOS DE RT-QPCR</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Expresión relativa: comparar contra una referencia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[2,6]; Livak y Schmittgen 2001 [7].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12</a:t>
            </a:r>
          </a:p>
        </p:txBody>
      </p:sp>
      <p:sp>
        <p:nvSpPr>
          <p:cNvPr id="7" name="Rectangle 6"/>
          <p:cNvSpPr/>
          <p:nvPr/>
        </p:nvSpPr>
        <p:spPr>
          <a:xfrm>
            <a:off x="609600" y="1968500"/>
            <a:ext cx="3302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70100"/>
            <a:ext cx="30734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Condición</a:t>
            </a:r>
          </a:p>
        </p:txBody>
      </p:sp>
      <p:sp>
        <p:nvSpPr>
          <p:cNvPr id="9" name="Rectangle 8"/>
          <p:cNvSpPr/>
          <p:nvPr/>
        </p:nvSpPr>
        <p:spPr>
          <a:xfrm>
            <a:off x="3911600" y="1968500"/>
            <a:ext cx="2413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5900" y="2070100"/>
            <a:ext cx="21844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Cq diana</a:t>
            </a:r>
          </a:p>
        </p:txBody>
      </p:sp>
      <p:sp>
        <p:nvSpPr>
          <p:cNvPr id="11" name="Rectangle 10"/>
          <p:cNvSpPr/>
          <p:nvPr/>
        </p:nvSpPr>
        <p:spPr>
          <a:xfrm>
            <a:off x="6324600" y="1968500"/>
            <a:ext cx="28448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8900" y="2070100"/>
            <a:ext cx="26162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Cq referencia</a:t>
            </a:r>
          </a:p>
        </p:txBody>
      </p:sp>
      <p:sp>
        <p:nvSpPr>
          <p:cNvPr id="13" name="Rectangle 12"/>
          <p:cNvSpPr/>
          <p:nvPr/>
        </p:nvSpPr>
        <p:spPr>
          <a:xfrm>
            <a:off x="9169400" y="1968500"/>
            <a:ext cx="2413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3700" y="2070100"/>
            <a:ext cx="21844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ΔCq</a:t>
            </a:r>
          </a:p>
        </p:txBody>
      </p:sp>
      <p:sp>
        <p:nvSpPr>
          <p:cNvPr id="15" name="Rectangle 14"/>
          <p:cNvSpPr/>
          <p:nvPr/>
        </p:nvSpPr>
        <p:spPr>
          <a:xfrm>
            <a:off x="609600" y="2451100"/>
            <a:ext cx="3302000" cy="4993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2540000"/>
            <a:ext cx="30734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Control</a:t>
            </a:r>
          </a:p>
        </p:txBody>
      </p:sp>
      <p:sp>
        <p:nvSpPr>
          <p:cNvPr id="17" name="Rectangle 16"/>
          <p:cNvSpPr/>
          <p:nvPr/>
        </p:nvSpPr>
        <p:spPr>
          <a:xfrm>
            <a:off x="3911600" y="2451100"/>
            <a:ext cx="2413000" cy="4993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5900" y="2540000"/>
            <a:ext cx="21844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25</a:t>
            </a:r>
          </a:p>
        </p:txBody>
      </p:sp>
      <p:sp>
        <p:nvSpPr>
          <p:cNvPr id="19" name="Rectangle 18"/>
          <p:cNvSpPr/>
          <p:nvPr/>
        </p:nvSpPr>
        <p:spPr>
          <a:xfrm>
            <a:off x="6324600" y="2451100"/>
            <a:ext cx="2844800" cy="4993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8900" y="2540000"/>
            <a:ext cx="26162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20</a:t>
            </a:r>
          </a:p>
        </p:txBody>
      </p:sp>
      <p:sp>
        <p:nvSpPr>
          <p:cNvPr id="21" name="Rectangle 20"/>
          <p:cNvSpPr/>
          <p:nvPr/>
        </p:nvSpPr>
        <p:spPr>
          <a:xfrm>
            <a:off x="9169400" y="2451100"/>
            <a:ext cx="2413000" cy="4993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3700" y="2540000"/>
            <a:ext cx="21844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5</a:t>
            </a:r>
          </a:p>
        </p:txBody>
      </p:sp>
      <p:sp>
        <p:nvSpPr>
          <p:cNvPr id="23" name="Rectangle 22"/>
          <p:cNvSpPr/>
          <p:nvPr/>
        </p:nvSpPr>
        <p:spPr>
          <a:xfrm>
            <a:off x="609600" y="2950464"/>
            <a:ext cx="3302000" cy="499364"/>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3039364"/>
            <a:ext cx="30734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Tratada</a:t>
            </a:r>
          </a:p>
        </p:txBody>
      </p:sp>
      <p:sp>
        <p:nvSpPr>
          <p:cNvPr id="25" name="Rectangle 24"/>
          <p:cNvSpPr/>
          <p:nvPr/>
        </p:nvSpPr>
        <p:spPr>
          <a:xfrm>
            <a:off x="3911600" y="2950464"/>
            <a:ext cx="2413000" cy="499364"/>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25900" y="3039364"/>
            <a:ext cx="21844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22</a:t>
            </a:r>
          </a:p>
        </p:txBody>
      </p:sp>
      <p:sp>
        <p:nvSpPr>
          <p:cNvPr id="27" name="Rectangle 26"/>
          <p:cNvSpPr/>
          <p:nvPr/>
        </p:nvSpPr>
        <p:spPr>
          <a:xfrm>
            <a:off x="6324600" y="2950464"/>
            <a:ext cx="2844800" cy="499364"/>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8900" y="3039364"/>
            <a:ext cx="26162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20</a:t>
            </a:r>
          </a:p>
        </p:txBody>
      </p:sp>
      <p:sp>
        <p:nvSpPr>
          <p:cNvPr id="29" name="Rectangle 28"/>
          <p:cNvSpPr/>
          <p:nvPr/>
        </p:nvSpPr>
        <p:spPr>
          <a:xfrm>
            <a:off x="9169400" y="2950464"/>
            <a:ext cx="2413000" cy="499364"/>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3700" y="3039364"/>
            <a:ext cx="21844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2</a:t>
            </a:r>
          </a:p>
        </p:txBody>
      </p:sp>
      <p:sp>
        <p:nvSpPr>
          <p:cNvPr id="31" name="TextBox 30"/>
          <p:cNvSpPr txBox="1"/>
          <p:nvPr/>
        </p:nvSpPr>
        <p:spPr>
          <a:xfrm>
            <a:off x="825500" y="3962400"/>
            <a:ext cx="10414000" cy="466725"/>
          </a:xfrm>
          <a:prstGeom prst="rect">
            <a:avLst/>
          </a:prstGeom>
          <a:noFill/>
        </p:spPr>
        <p:txBody>
          <a:bodyPr wrap="none" lIns="0" rIns="0" tIns="0" bIns="0">
            <a:spAutoFit/>
          </a:bodyPr>
          <a:lstStyle/>
          <a:p>
            <a:pPr>
              <a:lnSpc>
                <a:spcPct val="115000"/>
              </a:lnSpc>
              <a:spcBef>
                <a:spcPts val="0"/>
              </a:spcBef>
              <a:spcAft>
                <a:spcPts val="0"/>
              </a:spcAft>
              <a:defRPr sz="2500" b="1">
                <a:solidFill>
                  <a:srgbClr val="007F86"/>
                </a:solidFill>
                <a:latin typeface="DejaVu Sans"/>
              </a:defRPr>
            </a:pPr>
            <a:r>
              <a:t>ΔΔCq = 2 − 5 = −3</a:t>
            </a:r>
          </a:p>
        </p:txBody>
      </p:sp>
      <p:sp>
        <p:nvSpPr>
          <p:cNvPr id="32" name="TextBox 31"/>
          <p:cNvSpPr txBox="1"/>
          <p:nvPr/>
        </p:nvSpPr>
        <p:spPr>
          <a:xfrm>
            <a:off x="825500" y="4635500"/>
            <a:ext cx="10414000" cy="466725"/>
          </a:xfrm>
          <a:prstGeom prst="rect">
            <a:avLst/>
          </a:prstGeom>
          <a:noFill/>
        </p:spPr>
        <p:txBody>
          <a:bodyPr wrap="none" lIns="0" rIns="0" tIns="0" bIns="0">
            <a:spAutoFit/>
          </a:bodyPr>
          <a:lstStyle/>
          <a:p>
            <a:pPr>
              <a:lnSpc>
                <a:spcPct val="115000"/>
              </a:lnSpc>
              <a:spcBef>
                <a:spcPts val="0"/>
              </a:spcBef>
              <a:spcAft>
                <a:spcPts val="0"/>
              </a:spcAft>
              <a:defRPr sz="2500" b="1">
                <a:solidFill>
                  <a:srgbClr val="007F86"/>
                </a:solidFill>
                <a:latin typeface="DejaVu Sans"/>
              </a:defRPr>
            </a:pPr>
            <a:r>
              <a:t>Cambio relativo = 2^(−ΔΔCq) = 2³ = 8 veces</a:t>
            </a:r>
          </a:p>
        </p:txBody>
      </p:sp>
      <p:sp>
        <p:nvSpPr>
          <p:cNvPr id="33" name="Rounded Rectangle 3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GAPDH o ACTB no son referencias estables por definición: deben validarse.</a:t>
            </a:r>
          </a:p>
        </p:txBody>
      </p:sp>
      <p:sp>
        <p:nvSpPr>
          <p:cNvPr id="35" name="TextBox 34"/>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COMPARACIÓN DE MÉTODOS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PCR digital: contar particiones y corregir ocupación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[3,4]; dMIQE 2013 [8].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13</a:t>
            </a:r>
          </a:p>
        </p:txBody>
      </p:sp>
      <p:sp>
        <p:nvSpPr>
          <p:cNvPr id="7" name="Oval 6"/>
          <p:cNvSpPr/>
          <p:nvPr/>
        </p:nvSpPr>
        <p:spPr>
          <a:xfrm>
            <a:off x="939800" y="2095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97000" y="2095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54200" y="2095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311400" y="2095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768600" y="2095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225800" y="2095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83000" y="2095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140200" y="2095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97400" y="2095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54600" y="2095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9800" y="25273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97000" y="25273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854200" y="25273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311400" y="25273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768600" y="25273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225800" y="25273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83000" y="25273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40200" y="25273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97400" y="25273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54600" y="25273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39800" y="29591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97000" y="29591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854200" y="29591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311400" y="29591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768600" y="29591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225800" y="29591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83000" y="29591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40200" y="29591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97400" y="29591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054600" y="29591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39800" y="33909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97000" y="33909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854200" y="33909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311400" y="33909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768600" y="33909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25800" y="33909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83000" y="33909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140200" y="33909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597400" y="33909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054600" y="33909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39800" y="38227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397000" y="38227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854200" y="38227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311400" y="38227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768600" y="38227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225800" y="38227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83000" y="38227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140200" y="38227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597400" y="38227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054600" y="38227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39800" y="4254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397000" y="4254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854200" y="4254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11400" y="4254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768600" y="4254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225800" y="4254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683000" y="4254500"/>
            <a:ext cx="279400" cy="279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140200" y="4254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97400" y="4254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5054600" y="4254500"/>
            <a:ext cx="279400" cy="279400"/>
          </a:xfrm>
          <a:prstGeom prst="ellipse">
            <a:avLst/>
          </a:prstGeom>
          <a:solidFill>
            <a:srgbClr val="CD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98500" y="5016500"/>
            <a:ext cx="50800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Positiva = señal; negativa = sin señal</a:t>
            </a:r>
          </a:p>
        </p:txBody>
      </p:sp>
      <p:cxnSp>
        <p:nvCxnSpPr>
          <p:cNvPr id="68" name="Connector 67"/>
          <p:cNvCxnSpPr/>
          <p:nvPr/>
        </p:nvCxnSpPr>
        <p:spPr>
          <a:xfrm>
            <a:off x="5778500" y="3365500"/>
            <a:ext cx="825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15100" y="3302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515100" y="3365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048500" y="2070100"/>
            <a:ext cx="43180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p = positivas / válidas</a:t>
            </a:r>
          </a:p>
        </p:txBody>
      </p:sp>
      <p:sp>
        <p:nvSpPr>
          <p:cNvPr id="72" name="TextBox 71"/>
          <p:cNvSpPr txBox="1"/>
          <p:nvPr/>
        </p:nvSpPr>
        <p:spPr>
          <a:xfrm>
            <a:off x="7048500" y="2857500"/>
            <a:ext cx="4318000" cy="497967"/>
          </a:xfrm>
          <a:prstGeom prst="rect">
            <a:avLst/>
          </a:prstGeom>
          <a:noFill/>
        </p:spPr>
        <p:txBody>
          <a:bodyPr wrap="none" lIns="0" rIns="0" tIns="0" bIns="0">
            <a:spAutoFit/>
          </a:bodyPr>
          <a:lstStyle/>
          <a:p>
            <a:pPr>
              <a:lnSpc>
                <a:spcPct val="115000"/>
              </a:lnSpc>
              <a:spcBef>
                <a:spcPts val="0"/>
              </a:spcBef>
              <a:spcAft>
                <a:spcPts val="0"/>
              </a:spcAft>
              <a:defRPr sz="2700" b="1">
                <a:solidFill>
                  <a:srgbClr val="007F86"/>
                </a:solidFill>
                <a:latin typeface="DejaVu Sans"/>
              </a:defRPr>
            </a:pPr>
            <a:r>
              <a:t>λ = −ln(1 − p)</a:t>
            </a:r>
          </a:p>
        </p:txBody>
      </p:sp>
      <p:sp>
        <p:nvSpPr>
          <p:cNvPr id="73" name="TextBox 72"/>
          <p:cNvSpPr txBox="1"/>
          <p:nvPr/>
        </p:nvSpPr>
        <p:spPr>
          <a:xfrm>
            <a:off x="7048500" y="3695700"/>
            <a:ext cx="4318000" cy="404241"/>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c = λ / volumen de partición</a:t>
            </a:r>
          </a:p>
        </p:txBody>
      </p:sp>
      <p:sp>
        <p:nvSpPr>
          <p:cNvPr id="74" name="TextBox 73"/>
          <p:cNvSpPr txBox="1"/>
          <p:nvPr/>
        </p:nvSpPr>
        <p:spPr>
          <a:xfrm>
            <a:off x="7048500" y="4381500"/>
            <a:ext cx="43180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λ: copias medias por partición</a:t>
            </a:r>
          </a:p>
        </p:txBody>
      </p:sp>
      <p:sp>
        <p:nvSpPr>
          <p:cNvPr id="75" name="Rounded Rectangle 7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dPCR puede usar gotas o cámaras; la lectura suele hacerse al final.</a:t>
            </a:r>
          </a:p>
        </p:txBody>
      </p:sp>
      <p:sp>
        <p:nvSpPr>
          <p:cNvPr id="77" name="TextBox 76"/>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CÁLCULOS DE DPCR</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De particiones positivas a copias en el extracto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[4,8]; datos simulados.</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14</a:t>
            </a:r>
          </a:p>
        </p:txBody>
      </p:sp>
      <p:sp>
        <p:nvSpPr>
          <p:cNvPr id="7" name="TextBox 6"/>
          <p:cNvSpPr txBox="1"/>
          <p:nvPr/>
        </p:nvSpPr>
        <p:spPr>
          <a:xfrm>
            <a:off x="698500" y="1841500"/>
            <a:ext cx="10795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20 000 válidas · 5 000 positivas · partición = 0,85 nL</a:t>
            </a:r>
          </a:p>
        </p:txBody>
      </p:sp>
      <p:sp>
        <p:nvSpPr>
          <p:cNvPr id="8" name="Rectangle 7"/>
          <p:cNvSpPr/>
          <p:nvPr/>
        </p:nvSpPr>
        <p:spPr>
          <a:xfrm>
            <a:off x="609600" y="2476500"/>
            <a:ext cx="56896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2578100"/>
            <a:ext cx="54610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Paso</a:t>
            </a:r>
          </a:p>
        </p:txBody>
      </p:sp>
      <p:sp>
        <p:nvSpPr>
          <p:cNvPr id="10" name="Rectangle 9"/>
          <p:cNvSpPr/>
          <p:nvPr/>
        </p:nvSpPr>
        <p:spPr>
          <a:xfrm>
            <a:off x="6299200" y="2476500"/>
            <a:ext cx="52832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3500" y="2578100"/>
            <a:ext cx="50546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Resultado</a:t>
            </a:r>
          </a:p>
        </p:txBody>
      </p:sp>
      <p:sp>
        <p:nvSpPr>
          <p:cNvPr id="12" name="Rectangle 11"/>
          <p:cNvSpPr/>
          <p:nvPr/>
        </p:nvSpPr>
        <p:spPr>
          <a:xfrm>
            <a:off x="609600" y="2959100"/>
            <a:ext cx="56896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900" y="3048000"/>
            <a:ext cx="5461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 = 5 000 / 20 000</a:t>
            </a:r>
          </a:p>
        </p:txBody>
      </p:sp>
      <p:sp>
        <p:nvSpPr>
          <p:cNvPr id="14" name="Rectangle 13"/>
          <p:cNvSpPr/>
          <p:nvPr/>
        </p:nvSpPr>
        <p:spPr>
          <a:xfrm>
            <a:off x="6299200" y="2959100"/>
            <a:ext cx="5283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3500" y="3048000"/>
            <a:ext cx="50546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0,25</a:t>
            </a:r>
          </a:p>
        </p:txBody>
      </p:sp>
      <p:sp>
        <p:nvSpPr>
          <p:cNvPr id="16" name="Rectangle 15"/>
          <p:cNvSpPr/>
          <p:nvPr/>
        </p:nvSpPr>
        <p:spPr>
          <a:xfrm>
            <a:off x="609600" y="3441700"/>
            <a:ext cx="56896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900" y="3530600"/>
            <a:ext cx="5461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λ = −ln(0,75)</a:t>
            </a:r>
          </a:p>
        </p:txBody>
      </p:sp>
      <p:sp>
        <p:nvSpPr>
          <p:cNvPr id="18" name="Rectangle 17"/>
          <p:cNvSpPr/>
          <p:nvPr/>
        </p:nvSpPr>
        <p:spPr>
          <a:xfrm>
            <a:off x="6299200" y="3441700"/>
            <a:ext cx="52832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3500" y="3530600"/>
            <a:ext cx="50546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0,28768 copias/partición</a:t>
            </a:r>
          </a:p>
        </p:txBody>
      </p:sp>
      <p:sp>
        <p:nvSpPr>
          <p:cNvPr id="20" name="Rectangle 19"/>
          <p:cNvSpPr/>
          <p:nvPr/>
        </p:nvSpPr>
        <p:spPr>
          <a:xfrm>
            <a:off x="609600" y="3924300"/>
            <a:ext cx="56896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 y="4013200"/>
            <a:ext cx="5461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 = 0,28768 / 0,00085 µL</a:t>
            </a:r>
          </a:p>
        </p:txBody>
      </p:sp>
      <p:sp>
        <p:nvSpPr>
          <p:cNvPr id="22" name="Rectangle 21"/>
          <p:cNvSpPr/>
          <p:nvPr/>
        </p:nvSpPr>
        <p:spPr>
          <a:xfrm>
            <a:off x="6299200" y="3924300"/>
            <a:ext cx="5283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3500" y="4013200"/>
            <a:ext cx="50546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338,45 copias/µL de reacción</a:t>
            </a:r>
          </a:p>
        </p:txBody>
      </p:sp>
      <p:sp>
        <p:nvSpPr>
          <p:cNvPr id="24" name="Rectangle 23"/>
          <p:cNvSpPr/>
          <p:nvPr/>
        </p:nvSpPr>
        <p:spPr>
          <a:xfrm>
            <a:off x="609600" y="4406900"/>
            <a:ext cx="56896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 y="4495800"/>
            <a:ext cx="5461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Extracto: 4 µL en 20 µL (×5)</a:t>
            </a:r>
          </a:p>
        </p:txBody>
      </p:sp>
      <p:sp>
        <p:nvSpPr>
          <p:cNvPr id="26" name="Rectangle 25"/>
          <p:cNvSpPr/>
          <p:nvPr/>
        </p:nvSpPr>
        <p:spPr>
          <a:xfrm>
            <a:off x="6299200" y="4406900"/>
            <a:ext cx="52832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3500" y="4495800"/>
            <a:ext cx="50546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1 692,25 copias/µL del extracto diluido</a:t>
            </a:r>
          </a:p>
        </p:txBody>
      </p:sp>
      <p:sp>
        <p:nvSpPr>
          <p:cNvPr id="28" name="Rectangle 27"/>
          <p:cNvSpPr/>
          <p:nvPr/>
        </p:nvSpPr>
        <p:spPr>
          <a:xfrm>
            <a:off x="609600" y="4889500"/>
            <a:ext cx="56896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 y="4978400"/>
            <a:ext cx="5461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Dilución previa del extracto 1:10 (×10)</a:t>
            </a:r>
          </a:p>
        </p:txBody>
      </p:sp>
      <p:sp>
        <p:nvSpPr>
          <p:cNvPr id="30" name="Rectangle 29"/>
          <p:cNvSpPr/>
          <p:nvPr/>
        </p:nvSpPr>
        <p:spPr>
          <a:xfrm>
            <a:off x="6299200" y="4889500"/>
            <a:ext cx="5283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3500" y="4978400"/>
            <a:ext cx="50546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16 922,5 copias/µL del extracto original</a:t>
            </a:r>
          </a:p>
        </p:txBody>
      </p:sp>
      <p:sp>
        <p:nvSpPr>
          <p:cNvPr id="32" name="Rounded Rectangle 3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Contar 5 000 positivas como 5 000 moléculas subestima las copias: hay coincidencias.</a:t>
            </a:r>
          </a:p>
        </p:txBody>
      </p:sp>
      <p:sp>
        <p:nvSpPr>
          <p:cNvPr id="34" name="TextBox 33"/>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3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SÍNTESIS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Comparación central: elegir por la pregunta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[1–4,6,8].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15</a:t>
            </a:r>
          </a:p>
        </p:txBody>
      </p:sp>
      <p:sp>
        <p:nvSpPr>
          <p:cNvPr id="7" name="Rectangle 6"/>
          <p:cNvSpPr/>
          <p:nvPr/>
        </p:nvSpPr>
        <p:spPr>
          <a:xfrm>
            <a:off x="609600" y="1905000"/>
            <a:ext cx="22479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20193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Método</a:t>
            </a:r>
          </a:p>
        </p:txBody>
      </p:sp>
      <p:sp>
        <p:nvSpPr>
          <p:cNvPr id="9" name="Rectangle 8"/>
          <p:cNvSpPr/>
          <p:nvPr/>
        </p:nvSpPr>
        <p:spPr>
          <a:xfrm>
            <a:off x="2857500" y="1905000"/>
            <a:ext cx="30226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2006600"/>
            <a:ext cx="27940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Lectura / resultado</a:t>
            </a:r>
          </a:p>
        </p:txBody>
      </p:sp>
      <p:sp>
        <p:nvSpPr>
          <p:cNvPr id="11" name="Rectangle 10"/>
          <p:cNvSpPr/>
          <p:nvPr/>
        </p:nvSpPr>
        <p:spPr>
          <a:xfrm>
            <a:off x="5880100" y="1905000"/>
            <a:ext cx="27305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94400" y="2006600"/>
            <a:ext cx="25019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Aplicación</a:t>
            </a:r>
          </a:p>
        </p:txBody>
      </p:sp>
      <p:sp>
        <p:nvSpPr>
          <p:cNvPr id="13" name="Rectangle 12"/>
          <p:cNvSpPr/>
          <p:nvPr/>
        </p:nvSpPr>
        <p:spPr>
          <a:xfrm>
            <a:off x="8610600" y="1905000"/>
            <a:ext cx="29718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24900" y="2006600"/>
            <a:ext cx="27432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Límite principal</a:t>
            </a:r>
          </a:p>
        </p:txBody>
      </p:sp>
      <p:sp>
        <p:nvSpPr>
          <p:cNvPr id="15" name="Rectangle 14"/>
          <p:cNvSpPr/>
          <p:nvPr/>
        </p:nvSpPr>
        <p:spPr>
          <a:xfrm>
            <a:off x="609600" y="2387600"/>
            <a:ext cx="22479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2476500"/>
            <a:ext cx="20193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Convencional</a:t>
            </a:r>
          </a:p>
        </p:txBody>
      </p:sp>
      <p:sp>
        <p:nvSpPr>
          <p:cNvPr id="17" name="Rectangle 16"/>
          <p:cNvSpPr/>
          <p:nvPr/>
        </p:nvSpPr>
        <p:spPr>
          <a:xfrm>
            <a:off x="2857500" y="2387600"/>
            <a:ext cx="30226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2476500"/>
            <a:ext cx="2794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Banda final; tamaño</a:t>
            </a:r>
          </a:p>
        </p:txBody>
      </p:sp>
      <p:sp>
        <p:nvSpPr>
          <p:cNvPr id="19" name="Rectangle 18"/>
          <p:cNvSpPr/>
          <p:nvPr/>
        </p:nvSpPr>
        <p:spPr>
          <a:xfrm>
            <a:off x="5880100" y="2387600"/>
            <a:ext cx="2730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94400" y="2476500"/>
            <a:ext cx="25019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Presencia; amplicón</a:t>
            </a:r>
          </a:p>
          <a:p>
            <a:pPr>
              <a:lnSpc>
                <a:spcPct val="115000"/>
              </a:lnSpc>
              <a:spcBef>
                <a:spcPts val="0"/>
              </a:spcBef>
              <a:spcAft>
                <a:spcPts val="0"/>
              </a:spcAft>
              <a:defRPr sz="1500" b="0">
                <a:solidFill>
                  <a:srgbClr val="183443"/>
                </a:solidFill>
                <a:latin typeface="DejaVu Sans"/>
              </a:defRPr>
            </a:pPr>
            <a:r>
              <a:t>Sanger</a:t>
            </a:r>
          </a:p>
        </p:txBody>
      </p:sp>
      <p:sp>
        <p:nvSpPr>
          <p:cNvPr id="21" name="Rectangle 20"/>
          <p:cNvSpPr/>
          <p:nvPr/>
        </p:nvSpPr>
        <p:spPr>
          <a:xfrm>
            <a:off x="8610600" y="2387600"/>
            <a:ext cx="29718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24900" y="2476500"/>
            <a:ext cx="2743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Poca capacidad cuantitativa</a:t>
            </a:r>
          </a:p>
        </p:txBody>
      </p:sp>
      <p:sp>
        <p:nvSpPr>
          <p:cNvPr id="23" name="Rectangle 22"/>
          <p:cNvSpPr/>
          <p:nvPr/>
        </p:nvSpPr>
        <p:spPr>
          <a:xfrm>
            <a:off x="609600" y="3075940"/>
            <a:ext cx="22479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3164840"/>
            <a:ext cx="20193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RT-PCR final</a:t>
            </a:r>
          </a:p>
        </p:txBody>
      </p:sp>
      <p:sp>
        <p:nvSpPr>
          <p:cNvPr id="25" name="Rectangle 24"/>
          <p:cNvSpPr/>
          <p:nvPr/>
        </p:nvSpPr>
        <p:spPr>
          <a:xfrm>
            <a:off x="2857500" y="3075940"/>
            <a:ext cx="30226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3164840"/>
            <a:ext cx="2794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ARN → ADNc → banda</a:t>
            </a:r>
          </a:p>
        </p:txBody>
      </p:sp>
      <p:sp>
        <p:nvSpPr>
          <p:cNvPr id="27" name="Rectangle 26"/>
          <p:cNvSpPr/>
          <p:nvPr/>
        </p:nvSpPr>
        <p:spPr>
          <a:xfrm>
            <a:off x="5880100" y="3075940"/>
            <a:ext cx="27305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4400" y="3164840"/>
            <a:ext cx="2501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Detectar transcritos</a:t>
            </a:r>
          </a:p>
        </p:txBody>
      </p:sp>
      <p:sp>
        <p:nvSpPr>
          <p:cNvPr id="29" name="Rectangle 28"/>
          <p:cNvSpPr/>
          <p:nvPr/>
        </p:nvSpPr>
        <p:spPr>
          <a:xfrm>
            <a:off x="8610600" y="3075940"/>
            <a:ext cx="29718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24900" y="3164840"/>
            <a:ext cx="2743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Variación de RT</a:t>
            </a:r>
          </a:p>
        </p:txBody>
      </p:sp>
      <p:sp>
        <p:nvSpPr>
          <p:cNvPr id="31" name="Rectangle 30"/>
          <p:cNvSpPr/>
          <p:nvPr/>
        </p:nvSpPr>
        <p:spPr>
          <a:xfrm>
            <a:off x="609600" y="3558540"/>
            <a:ext cx="22479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3647440"/>
            <a:ext cx="20193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qPCR / RT-qPCR</a:t>
            </a:r>
          </a:p>
        </p:txBody>
      </p:sp>
      <p:sp>
        <p:nvSpPr>
          <p:cNvPr id="33" name="Rectangle 32"/>
          <p:cNvSpPr/>
          <p:nvPr/>
        </p:nvSpPr>
        <p:spPr>
          <a:xfrm>
            <a:off x="2857500" y="3558540"/>
            <a:ext cx="30226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71800" y="3647440"/>
            <a:ext cx="2794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Cq; calibración / referencia</a:t>
            </a:r>
          </a:p>
        </p:txBody>
      </p:sp>
      <p:sp>
        <p:nvSpPr>
          <p:cNvPr id="35" name="Rectangle 34"/>
          <p:cNvSpPr/>
          <p:nvPr/>
        </p:nvSpPr>
        <p:spPr>
          <a:xfrm>
            <a:off x="5880100" y="3558540"/>
            <a:ext cx="2730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94400" y="3647440"/>
            <a:ext cx="2501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Carga; expresión</a:t>
            </a:r>
          </a:p>
        </p:txBody>
      </p:sp>
      <p:sp>
        <p:nvSpPr>
          <p:cNvPr id="37" name="Rectangle 36"/>
          <p:cNvSpPr/>
          <p:nvPr/>
        </p:nvSpPr>
        <p:spPr>
          <a:xfrm>
            <a:off x="8610600" y="3558540"/>
            <a:ext cx="29718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24900" y="3647440"/>
            <a:ext cx="27432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Eficiencia, inhibición y</a:t>
            </a:r>
          </a:p>
          <a:p>
            <a:pPr>
              <a:lnSpc>
                <a:spcPct val="115000"/>
              </a:lnSpc>
              <a:spcBef>
                <a:spcPts val="0"/>
              </a:spcBef>
              <a:spcAft>
                <a:spcPts val="0"/>
              </a:spcAft>
              <a:defRPr sz="1500" b="0">
                <a:solidFill>
                  <a:srgbClr val="183443"/>
                </a:solidFill>
                <a:latin typeface="DejaVu Sans"/>
              </a:defRPr>
            </a:pPr>
            <a:r>
              <a:t>calibración</a:t>
            </a:r>
          </a:p>
        </p:txBody>
      </p:sp>
      <p:sp>
        <p:nvSpPr>
          <p:cNvPr id="39" name="Rectangle 38"/>
          <p:cNvSpPr/>
          <p:nvPr/>
        </p:nvSpPr>
        <p:spPr>
          <a:xfrm>
            <a:off x="609600" y="4246880"/>
            <a:ext cx="22479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 y="4335780"/>
            <a:ext cx="20193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dPCR / RT-dPCR</a:t>
            </a:r>
          </a:p>
        </p:txBody>
      </p:sp>
      <p:sp>
        <p:nvSpPr>
          <p:cNvPr id="41" name="Rectangle 40"/>
          <p:cNvSpPr/>
          <p:nvPr/>
        </p:nvSpPr>
        <p:spPr>
          <a:xfrm>
            <a:off x="2857500" y="4246880"/>
            <a:ext cx="30226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71800" y="4335780"/>
            <a:ext cx="2794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Positivos + Poisson</a:t>
            </a:r>
          </a:p>
        </p:txBody>
      </p:sp>
      <p:sp>
        <p:nvSpPr>
          <p:cNvPr id="43" name="Rectangle 42"/>
          <p:cNvSpPr/>
          <p:nvPr/>
        </p:nvSpPr>
        <p:spPr>
          <a:xfrm>
            <a:off x="5880100" y="4246880"/>
            <a:ext cx="2730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94400" y="4335780"/>
            <a:ext cx="25019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Copias; variantes</a:t>
            </a:r>
          </a:p>
          <a:p>
            <a:pPr>
              <a:lnSpc>
                <a:spcPct val="115000"/>
              </a:lnSpc>
              <a:spcBef>
                <a:spcPts val="0"/>
              </a:spcBef>
              <a:spcAft>
                <a:spcPts val="0"/>
              </a:spcAft>
              <a:defRPr sz="1500" b="0">
                <a:solidFill>
                  <a:srgbClr val="183443"/>
                </a:solidFill>
                <a:latin typeface="DejaVu Sans"/>
              </a:defRPr>
            </a:pPr>
            <a:r>
              <a:t>conocidas</a:t>
            </a:r>
          </a:p>
        </p:txBody>
      </p:sp>
      <p:sp>
        <p:nvSpPr>
          <p:cNvPr id="45" name="Rectangle 44"/>
          <p:cNvSpPr/>
          <p:nvPr/>
        </p:nvSpPr>
        <p:spPr>
          <a:xfrm>
            <a:off x="8610600" y="4246880"/>
            <a:ext cx="29718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24900" y="4335780"/>
            <a:ext cx="2743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Entrada, volumen y rango</a:t>
            </a:r>
          </a:p>
        </p:txBody>
      </p:sp>
      <p:sp>
        <p:nvSpPr>
          <p:cNvPr id="47" name="Rectangle 46"/>
          <p:cNvSpPr/>
          <p:nvPr/>
        </p:nvSpPr>
        <p:spPr>
          <a:xfrm>
            <a:off x="609600" y="4935220"/>
            <a:ext cx="22479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3900" y="5024120"/>
            <a:ext cx="20193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Multiplex / nested</a:t>
            </a:r>
          </a:p>
        </p:txBody>
      </p:sp>
      <p:sp>
        <p:nvSpPr>
          <p:cNvPr id="49" name="Rectangle 48"/>
          <p:cNvSpPr/>
          <p:nvPr/>
        </p:nvSpPr>
        <p:spPr>
          <a:xfrm>
            <a:off x="2857500" y="4935220"/>
            <a:ext cx="30226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71800" y="5024120"/>
            <a:ext cx="2794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Depende de la lectura</a:t>
            </a:r>
          </a:p>
        </p:txBody>
      </p:sp>
      <p:sp>
        <p:nvSpPr>
          <p:cNvPr id="51" name="Rectangle 50"/>
          <p:cNvSpPr/>
          <p:nvPr/>
        </p:nvSpPr>
        <p:spPr>
          <a:xfrm>
            <a:off x="5880100" y="4935220"/>
            <a:ext cx="2730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94400" y="5024120"/>
            <a:ext cx="2501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Paneles / especificidad</a:t>
            </a:r>
          </a:p>
        </p:txBody>
      </p:sp>
      <p:sp>
        <p:nvSpPr>
          <p:cNvPr id="53" name="Rectangle 52"/>
          <p:cNvSpPr/>
          <p:nvPr/>
        </p:nvSpPr>
        <p:spPr>
          <a:xfrm>
            <a:off x="8610600" y="4935220"/>
            <a:ext cx="29718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24900" y="5024120"/>
            <a:ext cx="27432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Competencia /</a:t>
            </a:r>
          </a:p>
          <a:p>
            <a:pPr>
              <a:lnSpc>
                <a:spcPct val="115000"/>
              </a:lnSpc>
              <a:spcBef>
                <a:spcPts val="0"/>
              </a:spcBef>
              <a:spcAft>
                <a:spcPts val="0"/>
              </a:spcAft>
              <a:defRPr sz="1500" b="0">
                <a:solidFill>
                  <a:srgbClr val="183443"/>
                </a:solidFill>
                <a:latin typeface="DejaVu Sans"/>
              </a:defRPr>
            </a:pPr>
            <a:r>
              <a:t>contaminación</a:t>
            </a:r>
          </a:p>
        </p:txBody>
      </p:sp>
      <p:sp>
        <p:nvSpPr>
          <p:cNvPr id="55" name="TextBox 54"/>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CONEXIÓN CON SECUENCIACIÓN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Sanger: partir de un amplicón único y limpio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[5,9].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16</a:t>
            </a:r>
          </a:p>
        </p:txBody>
      </p:sp>
      <p:sp>
        <p:nvSpPr>
          <p:cNvPr id="7" name="Rounded Rectangle 6"/>
          <p:cNvSpPr/>
          <p:nvPr/>
        </p:nvSpPr>
        <p:spPr>
          <a:xfrm>
            <a:off x="609600" y="2095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2606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679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PCR preferible</a:t>
            </a:r>
          </a:p>
          <a:p>
            <a:pPr>
              <a:lnSpc>
                <a:spcPct val="115000"/>
              </a:lnSpc>
              <a:spcBef>
                <a:spcPts val="0"/>
              </a:spcBef>
              <a:spcAft>
                <a:spcPts val="0"/>
              </a:spcAft>
              <a:defRPr sz="1700" b="1">
                <a:solidFill>
                  <a:srgbClr val="183443"/>
                </a:solidFill>
                <a:latin typeface="DejaVu Sans"/>
              </a:defRPr>
            </a:pPr>
            <a:r>
              <a:t>de alta fidelidad</a:t>
            </a:r>
          </a:p>
        </p:txBody>
      </p:sp>
      <p:cxnSp>
        <p:nvCxnSpPr>
          <p:cNvPr id="10" name="Connector 9"/>
          <p:cNvCxnSpPr/>
          <p:nvPr/>
        </p:nvCxnSpPr>
        <p:spPr>
          <a:xfrm>
            <a:off x="3086100" y="2794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2730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2794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2095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2606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2679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Revisar gel</a:t>
            </a:r>
          </a:p>
          <a:p>
            <a:pPr>
              <a:lnSpc>
                <a:spcPct val="115000"/>
              </a:lnSpc>
              <a:spcBef>
                <a:spcPts val="0"/>
              </a:spcBef>
              <a:spcAft>
                <a:spcPts val="0"/>
              </a:spcAft>
              <a:defRPr sz="1700" b="1">
                <a:solidFill>
                  <a:srgbClr val="183443"/>
                </a:solidFill>
                <a:latin typeface="DejaVu Sans"/>
              </a:defRPr>
            </a:pPr>
            <a:r>
              <a:t>y purificar</a:t>
            </a:r>
          </a:p>
        </p:txBody>
      </p:sp>
      <p:cxnSp>
        <p:nvCxnSpPr>
          <p:cNvPr id="16" name="Connector 15"/>
          <p:cNvCxnSpPr/>
          <p:nvPr/>
        </p:nvCxnSpPr>
        <p:spPr>
          <a:xfrm>
            <a:off x="5930900" y="2794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2730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2794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2095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2606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679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Cuantificar</a:t>
            </a:r>
          </a:p>
          <a:p>
            <a:pPr>
              <a:lnSpc>
                <a:spcPct val="115000"/>
              </a:lnSpc>
              <a:spcBef>
                <a:spcPts val="0"/>
              </a:spcBef>
              <a:spcAft>
                <a:spcPts val="0"/>
              </a:spcAft>
              <a:defRPr sz="1700" b="1">
                <a:solidFill>
                  <a:srgbClr val="183443"/>
                </a:solidFill>
                <a:latin typeface="DejaVu Sans"/>
              </a:defRPr>
            </a:pPr>
            <a:r>
              <a:t>y enviar</a:t>
            </a:r>
          </a:p>
        </p:txBody>
      </p:sp>
      <p:cxnSp>
        <p:nvCxnSpPr>
          <p:cNvPr id="22" name="Connector 21"/>
          <p:cNvCxnSpPr/>
          <p:nvPr/>
        </p:nvCxnSpPr>
        <p:spPr>
          <a:xfrm>
            <a:off x="8775700" y="2794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2730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2794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2095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2606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2679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Sanger</a:t>
            </a:r>
          </a:p>
          <a:p>
            <a:pPr>
              <a:lnSpc>
                <a:spcPct val="115000"/>
              </a:lnSpc>
              <a:spcBef>
                <a:spcPts val="0"/>
              </a:spcBef>
              <a:spcAft>
                <a:spcPts val="0"/>
              </a:spcAft>
              <a:defRPr sz="1700" b="1">
                <a:solidFill>
                  <a:srgbClr val="183443"/>
                </a:solidFill>
                <a:latin typeface="DejaVu Sans"/>
              </a:defRPr>
            </a:pPr>
            <a:r>
              <a:t>y cromatograma</a:t>
            </a:r>
          </a:p>
        </p:txBody>
      </p:sp>
      <p:sp>
        <p:nvSpPr>
          <p:cNvPr id="28" name="TextBox 27"/>
          <p:cNvSpPr txBox="1"/>
          <p:nvPr/>
        </p:nvSpPr>
        <p:spPr>
          <a:xfrm>
            <a:off x="825500" y="4127500"/>
            <a:ext cx="10414000" cy="419862"/>
          </a:xfrm>
          <a:prstGeom prst="rect">
            <a:avLst/>
          </a:prstGeom>
          <a:noFill/>
        </p:spPr>
        <p:txBody>
          <a:bodyPr wrap="none" lIns="0" rIns="0" tIns="0" bIns="0">
            <a:spAutoFit/>
          </a:bodyPr>
          <a:lstStyle/>
          <a:p>
            <a:pPr>
              <a:lnSpc>
                <a:spcPct val="115000"/>
              </a:lnSpc>
              <a:spcBef>
                <a:spcPts val="0"/>
              </a:spcBef>
              <a:spcAft>
                <a:spcPts val="0"/>
              </a:spcAft>
              <a:defRPr sz="2200" b="0">
                <a:solidFill>
                  <a:srgbClr val="183443"/>
                </a:solidFill>
                <a:latin typeface="DejaVu Sans"/>
              </a:defRPr>
            </a:pPr>
            <a:r>
              <a:t>Si se requieren 20 ng y el producto tiene 10 ng/µL:</a:t>
            </a:r>
          </a:p>
        </p:txBody>
      </p:sp>
      <p:sp>
        <p:nvSpPr>
          <p:cNvPr id="29" name="TextBox 28"/>
          <p:cNvSpPr txBox="1"/>
          <p:nvPr/>
        </p:nvSpPr>
        <p:spPr>
          <a:xfrm>
            <a:off x="825500" y="4737100"/>
            <a:ext cx="10414000" cy="466725"/>
          </a:xfrm>
          <a:prstGeom prst="rect">
            <a:avLst/>
          </a:prstGeom>
          <a:noFill/>
        </p:spPr>
        <p:txBody>
          <a:bodyPr wrap="none" lIns="0" rIns="0" tIns="0" bIns="0">
            <a:spAutoFit/>
          </a:bodyPr>
          <a:lstStyle/>
          <a:p>
            <a:pPr>
              <a:lnSpc>
                <a:spcPct val="115000"/>
              </a:lnSpc>
              <a:spcBef>
                <a:spcPts val="0"/>
              </a:spcBef>
              <a:spcAft>
                <a:spcPts val="0"/>
              </a:spcAft>
              <a:defRPr sz="2500" b="1">
                <a:solidFill>
                  <a:srgbClr val="007F86"/>
                </a:solidFill>
                <a:latin typeface="DejaVu Sans"/>
              </a:defRPr>
            </a:pPr>
            <a:r>
              <a:t>V = masa / concentración = 20 ng ÷ 10 ng/µL = 2 µL</a:t>
            </a:r>
          </a:p>
        </p:txBody>
      </p:sp>
      <p:sp>
        <p:nvSpPr>
          <p:cNvPr id="30" name="Rounded Rectangle 29"/>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Productos mezclados producen cromatogramas superpuestos; revisar identidad y pureza.</a:t>
            </a:r>
          </a:p>
        </p:txBody>
      </p:sp>
      <p:sp>
        <p:nvSpPr>
          <p:cNvPr id="32" name="TextBox 31"/>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CONEXIÓN CON SECUENCIACIÓN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NGS de amplicones: enriquecer, indexar, agrupar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[3,5,9].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17</a:t>
            </a:r>
          </a:p>
        </p:txBody>
      </p:sp>
      <p:sp>
        <p:nvSpPr>
          <p:cNvPr id="7" name="Rounded Rectangle 6"/>
          <p:cNvSpPr/>
          <p:nvPr/>
        </p:nvSpPr>
        <p:spPr>
          <a:xfrm>
            <a:off x="609600" y="1968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1336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552700"/>
            <a:ext cx="2082800" cy="872870"/>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PCR de locus</a:t>
            </a:r>
          </a:p>
          <a:p>
            <a:pPr>
              <a:lnSpc>
                <a:spcPct val="115000"/>
              </a:lnSpc>
              <a:spcBef>
                <a:spcPts val="0"/>
              </a:spcBef>
              <a:spcAft>
                <a:spcPts val="0"/>
              </a:spcAft>
              <a:defRPr sz="1700" b="1">
                <a:solidFill>
                  <a:srgbClr val="183443"/>
                </a:solidFill>
                <a:latin typeface="DejaVu Sans"/>
              </a:defRPr>
            </a:pPr>
            <a:r>
              <a:t>región 3′</a:t>
            </a:r>
          </a:p>
          <a:p>
            <a:pPr>
              <a:lnSpc>
                <a:spcPct val="115000"/>
              </a:lnSpc>
              <a:spcBef>
                <a:spcPts val="0"/>
              </a:spcBef>
              <a:spcAft>
                <a:spcPts val="0"/>
              </a:spcAft>
              <a:defRPr sz="1700" b="1">
                <a:solidFill>
                  <a:srgbClr val="183443"/>
                </a:solidFill>
                <a:latin typeface="DejaVu Sans"/>
              </a:defRPr>
            </a:pPr>
            <a:r>
              <a:t>específica</a:t>
            </a:r>
          </a:p>
        </p:txBody>
      </p:sp>
      <p:cxnSp>
        <p:nvCxnSpPr>
          <p:cNvPr id="10" name="Connector 9"/>
          <p:cNvCxnSpPr/>
          <p:nvPr/>
        </p:nvCxnSpPr>
        <p:spPr>
          <a:xfrm>
            <a:off x="3086100" y="2667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2603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2667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1968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1336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2552700"/>
            <a:ext cx="2082800" cy="872870"/>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Purificar</a:t>
            </a:r>
          </a:p>
          <a:p>
            <a:pPr>
              <a:lnSpc>
                <a:spcPct val="115000"/>
              </a:lnSpc>
              <a:spcBef>
                <a:spcPts val="0"/>
              </a:spcBef>
              <a:spcAft>
                <a:spcPts val="0"/>
              </a:spcAft>
              <a:defRPr sz="1700" b="1">
                <a:solidFill>
                  <a:srgbClr val="183443"/>
                </a:solidFill>
                <a:latin typeface="DejaVu Sans"/>
              </a:defRPr>
            </a:pPr>
            <a:r>
              <a:t>y revisar</a:t>
            </a:r>
          </a:p>
          <a:p>
            <a:pPr>
              <a:lnSpc>
                <a:spcPct val="115000"/>
              </a:lnSpc>
              <a:spcBef>
                <a:spcPts val="0"/>
              </a:spcBef>
              <a:spcAft>
                <a:spcPts val="0"/>
              </a:spcAft>
              <a:defRPr sz="1700" b="1">
                <a:solidFill>
                  <a:srgbClr val="183443"/>
                </a:solidFill>
                <a:latin typeface="DejaVu Sans"/>
              </a:defRPr>
            </a:pPr>
            <a:r>
              <a:t>tamaño</a:t>
            </a:r>
          </a:p>
        </p:txBody>
      </p:sp>
      <p:cxnSp>
        <p:nvCxnSpPr>
          <p:cNvPr id="16" name="Connector 15"/>
          <p:cNvCxnSpPr/>
          <p:nvPr/>
        </p:nvCxnSpPr>
        <p:spPr>
          <a:xfrm>
            <a:off x="5930900" y="2667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2603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2667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1968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1336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552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PCR de índices</a:t>
            </a:r>
          </a:p>
          <a:p>
            <a:pPr>
              <a:lnSpc>
                <a:spcPct val="115000"/>
              </a:lnSpc>
              <a:spcBef>
                <a:spcPts val="0"/>
              </a:spcBef>
              <a:spcAft>
                <a:spcPts val="0"/>
              </a:spcAft>
              <a:defRPr sz="1700" b="1">
                <a:solidFill>
                  <a:srgbClr val="183443"/>
                </a:solidFill>
                <a:latin typeface="DejaVu Sans"/>
              </a:defRPr>
            </a:pPr>
            <a:r>
              <a:t>si aplica</a:t>
            </a:r>
          </a:p>
        </p:txBody>
      </p:sp>
      <p:cxnSp>
        <p:nvCxnSpPr>
          <p:cNvPr id="22" name="Connector 21"/>
          <p:cNvCxnSpPr/>
          <p:nvPr/>
        </p:nvCxnSpPr>
        <p:spPr>
          <a:xfrm>
            <a:off x="8775700" y="26670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2603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2667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19685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1336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25527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Normalizar</a:t>
            </a:r>
          </a:p>
          <a:p>
            <a:pPr>
              <a:lnSpc>
                <a:spcPct val="115000"/>
              </a:lnSpc>
              <a:spcBef>
                <a:spcPts val="0"/>
              </a:spcBef>
              <a:spcAft>
                <a:spcPts val="0"/>
              </a:spcAft>
              <a:defRPr sz="1700" b="1">
                <a:solidFill>
                  <a:srgbClr val="183443"/>
                </a:solidFill>
                <a:latin typeface="DejaVu Sans"/>
              </a:defRPr>
            </a:pPr>
            <a:r>
              <a:t>y secuenciar</a:t>
            </a:r>
          </a:p>
        </p:txBody>
      </p:sp>
      <p:cxnSp>
        <p:nvCxnSpPr>
          <p:cNvPr id="28" name="Connector 27"/>
          <p:cNvCxnSpPr/>
          <p:nvPr/>
        </p:nvCxnSpPr>
        <p:spPr>
          <a:xfrm>
            <a:off x="1397000" y="4279900"/>
            <a:ext cx="3175000" cy="0"/>
          </a:xfrm>
          <a:prstGeom prst="line">
            <a:avLst/>
          </a:prstGeom>
          <a:ln w="889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2500" y="4279900"/>
            <a:ext cx="444500" cy="0"/>
          </a:xfrm>
          <a:prstGeom prst="line">
            <a:avLst/>
          </a:prstGeom>
          <a:ln w="889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72000" y="4279900"/>
            <a:ext cx="444500" cy="0"/>
          </a:xfrm>
          <a:prstGeom prst="line">
            <a:avLst/>
          </a:prstGeom>
          <a:ln w="88900">
            <a:solidFill>
              <a:srgbClr val="8061A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89000" y="4597400"/>
            <a:ext cx="46355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Cola 5′ · inserto · cola 5′</a:t>
            </a:r>
          </a:p>
        </p:txBody>
      </p:sp>
      <p:sp>
        <p:nvSpPr>
          <p:cNvPr id="32" name="TextBox 31"/>
          <p:cNvSpPr txBox="1"/>
          <p:nvPr/>
        </p:nvSpPr>
        <p:spPr>
          <a:xfrm>
            <a:off x="6540500" y="4140200"/>
            <a:ext cx="4699000" cy="1013460"/>
          </a:xfrm>
          <a:prstGeom prst="rect">
            <a:avLst/>
          </a:prstGeom>
          <a:noFill/>
        </p:spPr>
        <p:txBody>
          <a:bodyPr wrap="none" lIns="0" rIns="0" tIns="0" bIns="0">
            <a:spAutoFit/>
          </a:bodyPr>
          <a:lstStyle/>
          <a:p>
            <a:pPr>
              <a:lnSpc>
                <a:spcPct val="115000"/>
              </a:lnSpc>
              <a:spcBef>
                <a:spcPts val="0"/>
              </a:spcBef>
              <a:spcAft>
                <a:spcPts val="0"/>
              </a:spcAft>
              <a:defRPr sz="2000" b="0">
                <a:solidFill>
                  <a:srgbClr val="183443"/>
                </a:solidFill>
                <a:latin typeface="DejaVu Sans"/>
              </a:defRPr>
            </a:pPr>
            <a:r>
              <a:t>La composición de lecturas también</a:t>
            </a:r>
          </a:p>
          <a:p>
            <a:pPr>
              <a:lnSpc>
                <a:spcPct val="115000"/>
              </a:lnSpc>
              <a:spcBef>
                <a:spcPts val="0"/>
              </a:spcBef>
              <a:spcAft>
                <a:spcPts val="0"/>
              </a:spcAft>
              <a:defRPr sz="2000" b="0">
                <a:solidFill>
                  <a:srgbClr val="183443"/>
                </a:solidFill>
                <a:latin typeface="DejaVu Sans"/>
              </a:defRPr>
            </a:pPr>
            <a:r>
              <a:t>depende de afinidad de primers y</a:t>
            </a:r>
          </a:p>
          <a:p>
            <a:pPr>
              <a:lnSpc>
                <a:spcPct val="115000"/>
              </a:lnSpc>
              <a:spcBef>
                <a:spcPts val="0"/>
              </a:spcBef>
              <a:spcAft>
                <a:spcPts val="0"/>
              </a:spcAft>
              <a:defRPr sz="2000" b="0">
                <a:solidFill>
                  <a:srgbClr val="183443"/>
                </a:solidFill>
                <a:latin typeface="DejaVu Sans"/>
              </a:defRPr>
            </a:pPr>
            <a:r>
              <a:t>número de copias del marcador.</a:t>
            </a:r>
          </a:p>
        </p:txBody>
      </p:sp>
      <p:sp>
        <p:nvSpPr>
          <p:cNvPr id="33" name="Rounded Rectangle 3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Las lecturas de un marcador no equivalen directamente a número de células.</a:t>
            </a:r>
          </a:p>
        </p:txBody>
      </p:sp>
      <p:sp>
        <p:nvSpPr>
          <p:cNvPr id="35" name="TextBox 34"/>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CONEXIÓN CON SECUENCIACIÓN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RNA-seq y variantes: dónde encaja cada PCR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[2,4,5,9].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18</a:t>
            </a:r>
          </a:p>
        </p:txBody>
      </p:sp>
      <p:sp>
        <p:nvSpPr>
          <p:cNvPr id="7" name="Rounded Rectangle 6"/>
          <p:cNvSpPr/>
          <p:nvPr/>
        </p:nvSpPr>
        <p:spPr>
          <a:xfrm>
            <a:off x="609600"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RNA-seq</a:t>
            </a:r>
          </a:p>
        </p:txBody>
      </p:sp>
      <p:sp>
        <p:nvSpPr>
          <p:cNvPr id="9" name="TextBox 8"/>
          <p:cNvSpPr txBox="1"/>
          <p:nvPr/>
        </p:nvSpPr>
        <p:spPr>
          <a:xfrm>
            <a:off x="838200" y="2870200"/>
            <a:ext cx="3031066" cy="176326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ARN → biblioteca de</a:t>
            </a:r>
          </a:p>
          <a:p>
            <a:pPr>
              <a:lnSpc>
                <a:spcPct val="115000"/>
              </a:lnSpc>
              <a:spcBef>
                <a:spcPts val="0"/>
              </a:spcBef>
              <a:spcAft>
                <a:spcPts val="0"/>
              </a:spcAft>
              <a:defRPr sz="1800" b="0">
                <a:solidFill>
                  <a:srgbClr val="183443"/>
                </a:solidFill>
                <a:latin typeface="DejaVu Sans"/>
              </a:defRPr>
            </a:pPr>
            <a:r>
              <a:t>ADNc → secuenciar.</a:t>
            </a:r>
          </a:p>
          <a:p>
            <a:pPr>
              <a:lnSpc>
                <a:spcPct val="115000"/>
              </a:lnSpc>
              <a:spcBef>
                <a:spcPts val="0"/>
              </a:spcBef>
              <a:spcAft>
                <a:spcPts val="0"/>
              </a:spcAft>
              <a:defRPr sz="1800" b="0">
                <a:solidFill>
                  <a:srgbClr val="183443"/>
                </a:solidFill>
                <a:latin typeface="DejaVu Sans"/>
              </a:defRPr>
            </a:pPr>
            <a:r>
              <a:t>RT-qPCR verifica</a:t>
            </a:r>
          </a:p>
          <a:p>
            <a:pPr>
              <a:lnSpc>
                <a:spcPct val="115000"/>
              </a:lnSpc>
              <a:spcBef>
                <a:spcPts val="0"/>
              </a:spcBef>
              <a:spcAft>
                <a:spcPts val="0"/>
              </a:spcAft>
              <a:defRPr sz="1800" b="0">
                <a:solidFill>
                  <a:srgbClr val="183443"/>
                </a:solidFill>
                <a:latin typeface="DejaVu Sans"/>
              </a:defRPr>
            </a:pPr>
            <a:r>
              <a:t>transcritos seleccionados</a:t>
            </a:r>
          </a:p>
          <a:p>
            <a:pPr>
              <a:lnSpc>
                <a:spcPct val="115000"/>
              </a:lnSpc>
              <a:spcBef>
                <a:spcPts val="0"/>
              </a:spcBef>
              <a:spcAft>
                <a:spcPts val="0"/>
              </a:spcAft>
              <a:defRPr sz="1800" b="0">
                <a:solidFill>
                  <a:srgbClr val="183443"/>
                </a:solidFill>
                <a:latin typeface="DejaVu Sans"/>
              </a:defRPr>
            </a:pPr>
            <a:r>
              <a:t>con nuevas muestras y</a:t>
            </a:r>
          </a:p>
          <a:p>
            <a:pPr>
              <a:lnSpc>
                <a:spcPct val="115000"/>
              </a:lnSpc>
              <a:spcBef>
                <a:spcPts val="0"/>
              </a:spcBef>
              <a:spcAft>
                <a:spcPts val="0"/>
              </a:spcAft>
              <a:defRPr sz="1800" b="0">
                <a:solidFill>
                  <a:srgbClr val="183443"/>
                </a:solidFill>
                <a:latin typeface="DejaVu Sans"/>
              </a:defRPr>
            </a:pPr>
            <a:r>
              <a:t>referencias validadas.</a:t>
            </a:r>
          </a:p>
        </p:txBody>
      </p:sp>
      <p:sp>
        <p:nvSpPr>
          <p:cNvPr id="10" name="Rounded Rectangle 9"/>
          <p:cNvSpPr/>
          <p:nvPr/>
        </p:nvSpPr>
        <p:spPr>
          <a:xfrm>
            <a:off x="4351866"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0466"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Variantes</a:t>
            </a:r>
          </a:p>
        </p:txBody>
      </p:sp>
      <p:sp>
        <p:nvSpPr>
          <p:cNvPr id="12" name="TextBox 11"/>
          <p:cNvSpPr txBox="1"/>
          <p:nvPr/>
        </p:nvSpPr>
        <p:spPr>
          <a:xfrm>
            <a:off x="4580466" y="2870200"/>
            <a:ext cx="3031066" cy="1482090"/>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NGS identifica variantes.</a:t>
            </a:r>
          </a:p>
          <a:p>
            <a:pPr>
              <a:lnSpc>
                <a:spcPct val="115000"/>
              </a:lnSpc>
              <a:spcBef>
                <a:spcPts val="0"/>
              </a:spcBef>
              <a:spcAft>
                <a:spcPts val="0"/>
              </a:spcAft>
              <a:defRPr sz="1800" b="0">
                <a:solidFill>
                  <a:srgbClr val="183443"/>
                </a:solidFill>
                <a:latin typeface="DejaVu Sans"/>
              </a:defRPr>
            </a:pPr>
            <a:r>
              <a:t>dPCR puede seguir una</a:t>
            </a:r>
          </a:p>
          <a:p>
            <a:pPr>
              <a:lnSpc>
                <a:spcPct val="115000"/>
              </a:lnSpc>
              <a:spcBef>
                <a:spcPts val="0"/>
              </a:spcBef>
              <a:spcAft>
                <a:spcPts val="0"/>
              </a:spcAft>
              <a:defRPr sz="1800" b="0">
                <a:solidFill>
                  <a:srgbClr val="183443"/>
                </a:solidFill>
                <a:latin typeface="DejaVu Sans"/>
              </a:defRPr>
            </a:pPr>
            <a:r>
              <a:t>variante conocida de baja</a:t>
            </a:r>
          </a:p>
          <a:p>
            <a:pPr>
              <a:lnSpc>
                <a:spcPct val="115000"/>
              </a:lnSpc>
              <a:spcBef>
                <a:spcPts val="0"/>
              </a:spcBef>
              <a:spcAft>
                <a:spcPts val="0"/>
              </a:spcAft>
              <a:defRPr sz="1800" b="0">
                <a:solidFill>
                  <a:srgbClr val="183443"/>
                </a:solidFill>
                <a:latin typeface="DejaVu Sans"/>
              </a:defRPr>
            </a:pPr>
            <a:r>
              <a:t>frecuencia con un ensayo</a:t>
            </a:r>
          </a:p>
          <a:p>
            <a:pPr>
              <a:lnSpc>
                <a:spcPct val="115000"/>
              </a:lnSpc>
              <a:spcBef>
                <a:spcPts val="0"/>
              </a:spcBef>
              <a:spcAft>
                <a:spcPts val="0"/>
              </a:spcAft>
              <a:defRPr sz="1800" b="0">
                <a:solidFill>
                  <a:srgbClr val="183443"/>
                </a:solidFill>
                <a:latin typeface="DejaVu Sans"/>
              </a:defRPr>
            </a:pPr>
            <a:r>
              <a:t>específico.</a:t>
            </a:r>
          </a:p>
        </p:txBody>
      </p:sp>
      <p:sp>
        <p:nvSpPr>
          <p:cNvPr id="13" name="Rounded Rectangle 12"/>
          <p:cNvSpPr/>
          <p:nvPr/>
        </p:nvSpPr>
        <p:spPr>
          <a:xfrm>
            <a:off x="8094133"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2733"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Bibliotecas</a:t>
            </a:r>
          </a:p>
        </p:txBody>
      </p:sp>
      <p:sp>
        <p:nvSpPr>
          <p:cNvPr id="15" name="TextBox 14"/>
          <p:cNvSpPr txBox="1"/>
          <p:nvPr/>
        </p:nvSpPr>
        <p:spPr>
          <a:xfrm>
            <a:off x="8322733" y="2870200"/>
            <a:ext cx="3031066" cy="2044445"/>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qPCR cuantifica</a:t>
            </a:r>
          </a:p>
          <a:p>
            <a:pPr>
              <a:lnSpc>
                <a:spcPct val="115000"/>
              </a:lnSpc>
              <a:spcBef>
                <a:spcPts val="0"/>
              </a:spcBef>
              <a:spcAft>
                <a:spcPts val="0"/>
              </a:spcAft>
              <a:defRPr sz="1800" b="0">
                <a:solidFill>
                  <a:srgbClr val="183443"/>
                </a:solidFill>
                <a:latin typeface="DejaVu Sans"/>
              </a:defRPr>
            </a:pPr>
            <a:r>
              <a:t>bibliotecas amplificables.</a:t>
            </a:r>
          </a:p>
          <a:p>
            <a:pPr>
              <a:lnSpc>
                <a:spcPct val="115000"/>
              </a:lnSpc>
              <a:spcBef>
                <a:spcPts val="0"/>
              </a:spcBef>
              <a:spcAft>
                <a:spcPts val="0"/>
              </a:spcAft>
              <a:defRPr sz="1800" b="0">
                <a:solidFill>
                  <a:srgbClr val="183443"/>
                </a:solidFill>
                <a:latin typeface="DejaVu Sans"/>
              </a:defRPr>
            </a:pPr>
            <a:r>
              <a:t>Preparaciones PCR-free</a:t>
            </a:r>
          </a:p>
          <a:p>
            <a:pPr>
              <a:lnSpc>
                <a:spcPct val="115000"/>
              </a:lnSpc>
              <a:spcBef>
                <a:spcPts val="0"/>
              </a:spcBef>
              <a:spcAft>
                <a:spcPts val="0"/>
              </a:spcAft>
              <a:defRPr sz="1800" b="0">
                <a:solidFill>
                  <a:srgbClr val="183443"/>
                </a:solidFill>
                <a:latin typeface="DejaVu Sans"/>
              </a:defRPr>
            </a:pPr>
            <a:r>
              <a:t>reducen sesgo de</a:t>
            </a:r>
          </a:p>
          <a:p>
            <a:pPr>
              <a:lnSpc>
                <a:spcPct val="115000"/>
              </a:lnSpc>
              <a:spcBef>
                <a:spcPts val="0"/>
              </a:spcBef>
              <a:spcAft>
                <a:spcPts val="0"/>
              </a:spcAft>
              <a:defRPr sz="1800" b="0">
                <a:solidFill>
                  <a:srgbClr val="183443"/>
                </a:solidFill>
                <a:latin typeface="DejaVu Sans"/>
              </a:defRPr>
            </a:pPr>
            <a:r>
              <a:t>amplificación si la</a:t>
            </a:r>
          </a:p>
          <a:p>
            <a:pPr>
              <a:lnSpc>
                <a:spcPct val="115000"/>
              </a:lnSpc>
              <a:spcBef>
                <a:spcPts val="0"/>
              </a:spcBef>
              <a:spcAft>
                <a:spcPts val="0"/>
              </a:spcAft>
              <a:defRPr sz="1800" b="0">
                <a:solidFill>
                  <a:srgbClr val="183443"/>
                </a:solidFill>
                <a:latin typeface="DejaVu Sans"/>
              </a:defRPr>
            </a:pPr>
            <a:r>
              <a:t>entrada y el método lo</a:t>
            </a:r>
          </a:p>
          <a:p>
            <a:pPr>
              <a:lnSpc>
                <a:spcPct val="115000"/>
              </a:lnSpc>
              <a:spcBef>
                <a:spcPts val="0"/>
              </a:spcBef>
              <a:spcAft>
                <a:spcPts val="0"/>
              </a:spcAft>
              <a:defRPr sz="1800" b="0">
                <a:solidFill>
                  <a:srgbClr val="183443"/>
                </a:solidFill>
                <a:latin typeface="DejaVu Sans"/>
              </a:defRPr>
            </a:pPr>
            <a:r>
              <a:t>permiten.</a:t>
            </a:r>
          </a:p>
        </p:txBody>
      </p:sp>
      <p:sp>
        <p:nvSpPr>
          <p:cNvPr id="16" name="TextBox 15"/>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2 min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ACTIVIDAD EN CLASE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Caso integrador: una muestra, tres preguntas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Síntesis didáctica de [2–4,9].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19</a:t>
            </a:r>
          </a:p>
        </p:txBody>
      </p:sp>
      <p:sp>
        <p:nvSpPr>
          <p:cNvPr id="7" name="Rounded Rectangle 6"/>
          <p:cNvSpPr/>
          <p:nvPr/>
        </p:nvSpPr>
        <p:spPr>
          <a:xfrm>
            <a:off x="609600"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Presencia</a:t>
            </a:r>
          </a:p>
        </p:txBody>
      </p:sp>
      <p:sp>
        <p:nvSpPr>
          <p:cNvPr id="9" name="TextBox 8"/>
          <p:cNvSpPr txBox="1"/>
          <p:nvPr/>
        </p:nvSpPr>
        <p:spPr>
          <a:xfrm>
            <a:off x="838200" y="2870200"/>
            <a:ext cx="3031066" cy="1200912"/>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¿El extracto contiene la</a:t>
            </a:r>
          </a:p>
          <a:p>
            <a:pPr>
              <a:lnSpc>
                <a:spcPct val="115000"/>
              </a:lnSpc>
              <a:spcBef>
                <a:spcPts val="0"/>
              </a:spcBef>
              <a:spcAft>
                <a:spcPts val="0"/>
              </a:spcAft>
              <a:defRPr sz="1800" b="0">
                <a:solidFill>
                  <a:srgbClr val="183443"/>
                </a:solidFill>
                <a:latin typeface="DejaVu Sans"/>
              </a:defRPr>
            </a:pPr>
            <a:r>
              <a:t>región diana?</a:t>
            </a:r>
          </a:p>
          <a:p>
            <a:pPr>
              <a:lnSpc>
                <a:spcPct val="115000"/>
              </a:lnSpc>
              <a:spcBef>
                <a:spcPts val="0"/>
              </a:spcBef>
              <a:spcAft>
                <a:spcPts val="0"/>
              </a:spcAft>
              <a:defRPr sz="1800" b="0">
                <a:solidFill>
                  <a:srgbClr val="183443"/>
                </a:solidFill>
                <a:latin typeface="DejaVu Sans"/>
              </a:defRPr>
            </a:pPr>
            <a:r>
              <a:t>Elegir técnica y dos</a:t>
            </a:r>
          </a:p>
          <a:p>
            <a:pPr>
              <a:lnSpc>
                <a:spcPct val="115000"/>
              </a:lnSpc>
              <a:spcBef>
                <a:spcPts val="0"/>
              </a:spcBef>
              <a:spcAft>
                <a:spcPts val="0"/>
              </a:spcAft>
              <a:defRPr sz="1800" b="0">
                <a:solidFill>
                  <a:srgbClr val="183443"/>
                </a:solidFill>
                <a:latin typeface="DejaVu Sans"/>
              </a:defRPr>
            </a:pPr>
            <a:r>
              <a:t>controles.</a:t>
            </a:r>
          </a:p>
        </p:txBody>
      </p:sp>
      <p:sp>
        <p:nvSpPr>
          <p:cNvPr id="10" name="Rounded Rectangle 9"/>
          <p:cNvSpPr/>
          <p:nvPr/>
        </p:nvSpPr>
        <p:spPr>
          <a:xfrm>
            <a:off x="4351866"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0466"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Expresión</a:t>
            </a:r>
          </a:p>
        </p:txBody>
      </p:sp>
      <p:sp>
        <p:nvSpPr>
          <p:cNvPr id="12" name="TextBox 11"/>
          <p:cNvSpPr txBox="1"/>
          <p:nvPr/>
        </p:nvSpPr>
        <p:spPr>
          <a:xfrm>
            <a:off x="4580466" y="2870200"/>
            <a:ext cx="3031066" cy="1200912"/>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¿Un tratamiento cambia</a:t>
            </a:r>
          </a:p>
          <a:p>
            <a:pPr>
              <a:lnSpc>
                <a:spcPct val="115000"/>
              </a:lnSpc>
              <a:spcBef>
                <a:spcPts val="0"/>
              </a:spcBef>
              <a:spcAft>
                <a:spcPts val="0"/>
              </a:spcAft>
              <a:defRPr sz="1800" b="0">
                <a:solidFill>
                  <a:srgbClr val="183443"/>
                </a:solidFill>
                <a:latin typeface="DejaVu Sans"/>
              </a:defRPr>
            </a:pPr>
            <a:r>
              <a:t>un transcrito?</a:t>
            </a:r>
          </a:p>
          <a:p>
            <a:pPr>
              <a:lnSpc>
                <a:spcPct val="115000"/>
              </a:lnSpc>
              <a:spcBef>
                <a:spcPts val="0"/>
              </a:spcBef>
              <a:spcAft>
                <a:spcPts val="0"/>
              </a:spcAft>
              <a:defRPr sz="1800" b="0">
                <a:solidFill>
                  <a:srgbClr val="183443"/>
                </a:solidFill>
                <a:latin typeface="DejaVu Sans"/>
              </a:defRPr>
            </a:pPr>
            <a:r>
              <a:t>Elegir preparación y</a:t>
            </a:r>
          </a:p>
          <a:p>
            <a:pPr>
              <a:lnSpc>
                <a:spcPct val="115000"/>
              </a:lnSpc>
              <a:spcBef>
                <a:spcPts val="0"/>
              </a:spcBef>
              <a:spcAft>
                <a:spcPts val="0"/>
              </a:spcAft>
              <a:defRPr sz="1800" b="0">
                <a:solidFill>
                  <a:srgbClr val="183443"/>
                </a:solidFill>
                <a:latin typeface="DejaVu Sans"/>
              </a:defRPr>
            </a:pPr>
            <a:r>
              <a:t>cálculo.</a:t>
            </a:r>
          </a:p>
        </p:txBody>
      </p:sp>
      <p:sp>
        <p:nvSpPr>
          <p:cNvPr id="13" name="Rounded Rectangle 12"/>
          <p:cNvSpPr/>
          <p:nvPr/>
        </p:nvSpPr>
        <p:spPr>
          <a:xfrm>
            <a:off x="8094133" y="2032000"/>
            <a:ext cx="3488266" cy="3111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2733" y="2260600"/>
            <a:ext cx="3031066"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Variante</a:t>
            </a:r>
          </a:p>
        </p:txBody>
      </p:sp>
      <p:sp>
        <p:nvSpPr>
          <p:cNvPr id="15" name="TextBox 14"/>
          <p:cNvSpPr txBox="1"/>
          <p:nvPr/>
        </p:nvSpPr>
        <p:spPr>
          <a:xfrm>
            <a:off x="8322733" y="2870200"/>
            <a:ext cx="3031066" cy="1482090"/>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¿Qué variantes hay y</a:t>
            </a:r>
          </a:p>
          <a:p>
            <a:pPr>
              <a:lnSpc>
                <a:spcPct val="115000"/>
              </a:lnSpc>
              <a:spcBef>
                <a:spcPts val="0"/>
              </a:spcBef>
              <a:spcAft>
                <a:spcPts val="0"/>
              </a:spcAft>
              <a:defRPr sz="1800" b="0">
                <a:solidFill>
                  <a:srgbClr val="183443"/>
                </a:solidFill>
                <a:latin typeface="DejaVu Sans"/>
              </a:defRPr>
            </a:pPr>
            <a:r>
              <a:t>cómo seguir una de</a:t>
            </a:r>
          </a:p>
          <a:p>
            <a:pPr>
              <a:lnSpc>
                <a:spcPct val="115000"/>
              </a:lnSpc>
              <a:spcBef>
                <a:spcPts val="0"/>
              </a:spcBef>
              <a:spcAft>
                <a:spcPts val="0"/>
              </a:spcAft>
              <a:defRPr sz="1800" b="0">
                <a:solidFill>
                  <a:srgbClr val="183443"/>
                </a:solidFill>
                <a:latin typeface="DejaVu Sans"/>
              </a:defRPr>
            </a:pPr>
            <a:r>
              <a:t>ellas?</a:t>
            </a:r>
          </a:p>
          <a:p>
            <a:pPr>
              <a:lnSpc>
                <a:spcPct val="115000"/>
              </a:lnSpc>
              <a:spcBef>
                <a:spcPts val="0"/>
              </a:spcBef>
              <a:spcAft>
                <a:spcPts val="0"/>
              </a:spcAft>
              <a:defRPr sz="1800" b="0">
                <a:solidFill>
                  <a:srgbClr val="183443"/>
                </a:solidFill>
                <a:latin typeface="DejaVu Sans"/>
              </a:defRPr>
            </a:pPr>
            <a:r>
              <a:t>Conectar secuenciación y</a:t>
            </a:r>
          </a:p>
          <a:p>
            <a:pPr>
              <a:lnSpc>
                <a:spcPct val="115000"/>
              </a:lnSpc>
              <a:spcBef>
                <a:spcPts val="0"/>
              </a:spcBef>
              <a:spcAft>
                <a:spcPts val="0"/>
              </a:spcAft>
              <a:defRPr sz="1800" b="0">
                <a:solidFill>
                  <a:srgbClr val="183443"/>
                </a:solidFill>
                <a:latin typeface="DejaVu Sans"/>
              </a:defRPr>
            </a:pPr>
            <a:r>
              <a:t>PCR.</a:t>
            </a:r>
          </a:p>
        </p:txBody>
      </p:sp>
      <p:sp>
        <p:nvSpPr>
          <p:cNvPr id="16" name="Rounded Rectangle 15"/>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Justificar la elección por la información obtenida y por las limitaciones.</a:t>
            </a:r>
          </a:p>
        </p:txBody>
      </p:sp>
      <p:sp>
        <p:nvSpPr>
          <p:cNvPr id="18" name="TextBox 17"/>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4 min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ACTIVIDAD EN CLASE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Respuestas y comprobación de aprendizaje</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[2–4,6–9].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r>
              <a:t>20</a:t>
            </a:r>
          </a:p>
        </p:txBody>
      </p:sp>
      <p:sp>
        <p:nvSpPr>
          <p:cNvPr id="7" name="Rectangle 6"/>
          <p:cNvSpPr/>
          <p:nvPr/>
        </p:nvSpPr>
        <p:spPr>
          <a:xfrm>
            <a:off x="609600" y="1905000"/>
            <a:ext cx="2159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19304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Pregunta</a:t>
            </a:r>
          </a:p>
        </p:txBody>
      </p:sp>
      <p:sp>
        <p:nvSpPr>
          <p:cNvPr id="9" name="Rectangle 8"/>
          <p:cNvSpPr/>
          <p:nvPr/>
        </p:nvSpPr>
        <p:spPr>
          <a:xfrm>
            <a:off x="2768600" y="1905000"/>
            <a:ext cx="5461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2900" y="2006600"/>
            <a:ext cx="52324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Propuesta razonada</a:t>
            </a:r>
          </a:p>
        </p:txBody>
      </p:sp>
      <p:sp>
        <p:nvSpPr>
          <p:cNvPr id="11" name="Rectangle 10"/>
          <p:cNvSpPr/>
          <p:nvPr/>
        </p:nvSpPr>
        <p:spPr>
          <a:xfrm>
            <a:off x="8229600" y="1905000"/>
            <a:ext cx="33528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3900" y="2006600"/>
            <a:ext cx="31242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Cálculo asociado</a:t>
            </a:r>
          </a:p>
        </p:txBody>
      </p:sp>
      <p:sp>
        <p:nvSpPr>
          <p:cNvPr id="13" name="Rectangle 12"/>
          <p:cNvSpPr/>
          <p:nvPr/>
        </p:nvSpPr>
        <p:spPr>
          <a:xfrm>
            <a:off x="609600" y="2387600"/>
            <a:ext cx="2159000" cy="7198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476500"/>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Presencia</a:t>
            </a:r>
          </a:p>
        </p:txBody>
      </p:sp>
      <p:sp>
        <p:nvSpPr>
          <p:cNvPr id="15" name="Rectangle 14"/>
          <p:cNvSpPr/>
          <p:nvPr/>
        </p:nvSpPr>
        <p:spPr>
          <a:xfrm>
            <a:off x="2768600" y="2387600"/>
            <a:ext cx="5461000" cy="7198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2900" y="2476500"/>
            <a:ext cx="5232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PCR final; NTC + positivo + control de muestra</a:t>
            </a:r>
          </a:p>
        </p:txBody>
      </p:sp>
      <p:sp>
        <p:nvSpPr>
          <p:cNvPr id="17" name="Rectangle 16"/>
          <p:cNvSpPr/>
          <p:nvPr/>
        </p:nvSpPr>
        <p:spPr>
          <a:xfrm>
            <a:off x="8229600" y="2387600"/>
            <a:ext cx="3352800" cy="7198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3900" y="2476500"/>
            <a:ext cx="31242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Dilución del ADN; volumen de</a:t>
            </a:r>
          </a:p>
          <a:p>
            <a:pPr>
              <a:lnSpc>
                <a:spcPct val="115000"/>
              </a:lnSpc>
              <a:spcBef>
                <a:spcPts val="0"/>
              </a:spcBef>
              <a:spcAft>
                <a:spcPts val="0"/>
              </a:spcAft>
              <a:defRPr sz="1600" b="0">
                <a:solidFill>
                  <a:srgbClr val="183443"/>
                </a:solidFill>
                <a:latin typeface="DejaVu Sans"/>
              </a:defRPr>
            </a:pPr>
            <a:r>
              <a:t>mezcla</a:t>
            </a:r>
          </a:p>
        </p:txBody>
      </p:sp>
      <p:sp>
        <p:nvSpPr>
          <p:cNvPr id="19" name="Rectangle 18"/>
          <p:cNvSpPr/>
          <p:nvPr/>
        </p:nvSpPr>
        <p:spPr>
          <a:xfrm>
            <a:off x="609600" y="3107436"/>
            <a:ext cx="2159000" cy="719836"/>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3196336"/>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Expresión</a:t>
            </a:r>
          </a:p>
        </p:txBody>
      </p:sp>
      <p:sp>
        <p:nvSpPr>
          <p:cNvPr id="21" name="Rectangle 20"/>
          <p:cNvSpPr/>
          <p:nvPr/>
        </p:nvSpPr>
        <p:spPr>
          <a:xfrm>
            <a:off x="2768600" y="3107436"/>
            <a:ext cx="5461000" cy="719836"/>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82900" y="3196336"/>
            <a:ext cx="5232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RT-qPCR; −RT + referencias validadas + réplicas</a:t>
            </a:r>
          </a:p>
        </p:txBody>
      </p:sp>
      <p:sp>
        <p:nvSpPr>
          <p:cNvPr id="23" name="Rectangle 22"/>
          <p:cNvSpPr/>
          <p:nvPr/>
        </p:nvSpPr>
        <p:spPr>
          <a:xfrm>
            <a:off x="8229600" y="3107436"/>
            <a:ext cx="3352800" cy="719836"/>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3196336"/>
            <a:ext cx="31242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ΔCq y ΔΔCq; comprobar</a:t>
            </a:r>
          </a:p>
          <a:p>
            <a:pPr>
              <a:lnSpc>
                <a:spcPct val="115000"/>
              </a:lnSpc>
              <a:spcBef>
                <a:spcPts val="0"/>
              </a:spcBef>
              <a:spcAft>
                <a:spcPts val="0"/>
              </a:spcAft>
              <a:defRPr sz="1600" b="0">
                <a:solidFill>
                  <a:srgbClr val="183443"/>
                </a:solidFill>
                <a:latin typeface="DejaVu Sans"/>
              </a:defRPr>
            </a:pPr>
            <a:r>
              <a:t>eficiencias</a:t>
            </a:r>
          </a:p>
        </p:txBody>
      </p:sp>
      <p:sp>
        <p:nvSpPr>
          <p:cNvPr id="25" name="Rectangle 24"/>
          <p:cNvSpPr/>
          <p:nvPr/>
        </p:nvSpPr>
        <p:spPr>
          <a:xfrm>
            <a:off x="609600" y="3827272"/>
            <a:ext cx="2159000" cy="7198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3916172"/>
            <a:ext cx="1930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Variantes</a:t>
            </a:r>
          </a:p>
        </p:txBody>
      </p:sp>
      <p:sp>
        <p:nvSpPr>
          <p:cNvPr id="27" name="Rectangle 26"/>
          <p:cNvSpPr/>
          <p:nvPr/>
        </p:nvSpPr>
        <p:spPr>
          <a:xfrm>
            <a:off x="2768600" y="3827272"/>
            <a:ext cx="5461000" cy="7198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2900" y="3916172"/>
            <a:ext cx="52324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NGS para explorar; dPCR para una variante</a:t>
            </a:r>
          </a:p>
          <a:p>
            <a:pPr>
              <a:lnSpc>
                <a:spcPct val="115000"/>
              </a:lnSpc>
              <a:spcBef>
                <a:spcPts val="0"/>
              </a:spcBef>
              <a:spcAft>
                <a:spcPts val="0"/>
              </a:spcAft>
              <a:defRPr sz="1600" b="0">
                <a:solidFill>
                  <a:srgbClr val="183443"/>
                </a:solidFill>
                <a:latin typeface="DejaVu Sans"/>
              </a:defRPr>
            </a:pPr>
            <a:r>
              <a:t>conocida</a:t>
            </a:r>
          </a:p>
        </p:txBody>
      </p:sp>
      <p:sp>
        <p:nvSpPr>
          <p:cNvPr id="29" name="Rectangle 28"/>
          <p:cNvSpPr/>
          <p:nvPr/>
        </p:nvSpPr>
        <p:spPr>
          <a:xfrm>
            <a:off x="8229600" y="3827272"/>
            <a:ext cx="3352800" cy="7198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3900" y="3916172"/>
            <a:ext cx="31242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Molaridad de biblioteca;</a:t>
            </a:r>
          </a:p>
          <a:p>
            <a:pPr>
              <a:lnSpc>
                <a:spcPct val="115000"/>
              </a:lnSpc>
              <a:spcBef>
                <a:spcPts val="0"/>
              </a:spcBef>
              <a:spcAft>
                <a:spcPts val="0"/>
              </a:spcAft>
              <a:defRPr sz="1600" b="0">
                <a:solidFill>
                  <a:srgbClr val="183443"/>
                </a:solidFill>
                <a:latin typeface="DejaVu Sans"/>
              </a:defRPr>
            </a:pPr>
            <a:r>
              <a:t>Poisson y diluciones</a:t>
            </a:r>
          </a:p>
        </p:txBody>
      </p:sp>
      <p:sp>
        <p:nvSpPr>
          <p:cNvPr id="31" name="Rounded Rectangle 30"/>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¿Por qué un Cq menor o una banda más intensa no bastan para comparar cualquier muestra?</a:t>
            </a:r>
          </a:p>
        </p:txBody>
      </p:sp>
      <p:sp>
        <p:nvSpPr>
          <p:cNvPr id="33" name="TextBox 32"/>
          <p:cNvSpPr txBox="1"/>
          <p:nvPr/>
        </p:nvSpPr>
        <p:spPr>
          <a:xfrm>
            <a:off x="9017000" y="88900"/>
            <a:ext cx="2794000" cy="228600"/>
          </a:xfrm>
          <a:prstGeom prst="rect">
            <a:avLst/>
          </a:prstGeom>
          <a:noFill/>
        </p:spPr>
        <p:txBody>
          <a:bodyPr wrap="none" lIns="0" tIns="0">
            <a:spAutoFit/>
          </a:bodyPr>
          <a:lstStyle/>
          <a:p>
            <a:pPr>
              <a:defRPr sz="900">
                <a:solidFill>
                  <a:srgbClr val="007F86"/>
                </a:solidFill>
                <a:latin typeface="DejaVu Sans"/>
              </a:defRPr>
            </a:pPr>
            <a:r>
              <a:t>CLASE 40 MIN | 1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