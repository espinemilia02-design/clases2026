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conductor: estudiar dos plantas, control y bajo calor. El gen X es hipotético; no se suministran secuencias de oligos ni resultados reales. Distinguir tres preguntas y asociar cada una con el tipo de dato necesario. La clase se organiza para cuarenta minutos; tiempos solo en la guía.</a:t>
            </a:r>
          </a:p>
          <a:p>
            <a:r>
              <a:t>Fuentes: [1–5,10–11] · Caso y datos simulados.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cambia el molde; qPCR y dPCR describen cómo se lee la amplificación. Las estrategias multiplex, nested y alta fidelidad son combinables. RT-PCR no significa real-time PCR.</a:t>
            </a:r>
          </a:p>
          <a:p>
            <a:r>
              <a:t>Fuentes: [2–4,10–11]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polimerasa extiende desde un 3′ libre en dirección 5′→3′. La temperatura de alineamiento depende de primers y química. Extensión según enzima y tamaño. No son condiciones universales.</a:t>
            </a:r>
          </a:p>
          <a:p>
            <a:r>
              <a:t>Fuentes: [3,5]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Tomar muestras biológicas independientes y conservarlas según objetivo. ADN: extracción, integridad e inhibidores. ARN: RNasas, integridad, DNasa cuando corresponda y control sin RT. Mantener registro de masa, elución y diluciones. Comparar muestras de ambas condiciones balanceando extracción y corrida; medir más tubos de una muestra no añade réplicas biológicas.</a:t>
            </a:r>
          </a:p>
          <a:p>
            <a:r>
              <a:t>Fuentes: [2,4–5,10–11]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Ambos primers se escriben 5′→3′; el reverse se diseña como reverso complementario de su sitio de unión. Validar especificidad, Tm, dímeros y variantes. El cálculo de 0.5 µL por primer es docente, no concentración universal.</a:t>
            </a:r>
          </a:p>
          <a:p>
            <a:r>
              <a:t>Fuentes: [2,5,6]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de reacción de 25 µL: mix completo 2× 12,5 µL, forward 10 µM 0,5 µL, reverse 10 µM 0,5 µL, ADN 2 µL y agua 9,5 µL. Se asume que el mix ya incluye buffer, Mg²⁺, dNTP y polimerasa. Mezclar los componentes comunes, sin molde: 23 µL por tubo. Ocho muestras más NTC y positivo son diez tubos. Con 10 % extra se preparan once equivalentes: 137,5 µL de mix, 5,5 µL de cada primer y 104,5 µL de agua; total 253 µL. Distribuir 23 µL y añadir 2 µL de muestra o control. Adaptar a la composición real del kit.</a:t>
            </a:r>
          </a:p>
          <a:p>
            <a:r>
              <a:t>Fuentes: [5,10] · Ejemplo docente con mix completo 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NTC detecta contaminación de reactivos y productos no específicos según química; blanco evalúa contaminación de extracción. Positivo verifica que el ensayo funciona. Sin RT detecta ADN genómico residual en estudios de ARN. El control interno requiere validación para inhibición/calidad. No existe un Cq universal que distinga positivo y negativo en todo ensayo.</a:t>
            </a:r>
          </a:p>
          <a:p>
            <a:r>
              <a:t>Fuentes: [2,4–6,10–11]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gel es esquemático y no confirma identidad por tamaño solamente. A tiene una banda esperada; B tiene mezcla de productos y NTC no debería mostrar señal. Si se obtiene banda única, revisar calidad y purificar antes de Sanger.</a:t>
            </a:r>
          </a:p>
          <a:p>
            <a:r>
              <a:t>Fuentes: [1,3,5]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RT produce ADNc inicialmente monocatenario. En un paso, RT y amplificación ocurren en un tubo con química compatible; en dos pasos, una misma preparación de ADNc puede usarse en varios ensayos. Ejemplo de anexo: 500 ng de ARN se procesan en 20 µL; tras diluir 1:5, el volumen es 100 µL y 2 µL corresponden a 10 ng equivalentes de ARN inicial. Ese valor no mide el rendimiento real de ADNc. Incluir control sin RT y evaluar integridad e inhibidores.</a:t>
            </a:r>
          </a:p>
          <a:p>
            <a:r>
              <a:t>Fuentes: [2–3,5,10]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colorante fluoresce al unirse al ADN de doble hebra y también puede detectar dímeros. La sonda de hidrólisis lleva un reportero y quencher; la extensión y actividad nucleasa separan ambos, aumentando señal. La sonda no sustituye validar el ensayo. Para colorantes, estudiar fusión ayuda a investigar productos: un pico único no demuestra por sí solo identidad.</a:t>
            </a:r>
          </a:p>
          <a:p>
            <a:r>
              <a:t>Fuentes: [1–2,6,10]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simuladas con umbral común y eficiencias iguales. El eje y representa señal relativa; Cq se lee en el cruce del umbral. Comparar Cq requiere ensayos y condiciones comparables. La química puede usar colorante o sonda; ver anexos.</a:t>
            </a:r>
          </a:p>
          <a:p>
            <a:r>
              <a:t>Fuentes: [1–3,6,10]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Usar réplicas biológicas y referencias validadas. ΔCq control=25−20=5; tratado=22−20=2; ΔΔCq=−3; cambio 2³=8. El método requiere eficiencias comparables cercanas al 100 %. La masa equivalente de ARN no garantiza igual eficiencia de RT.</a:t>
            </a:r>
          </a:p>
          <a:p>
            <a:r>
              <a:t>Fuentes: [2,6,7,10]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Estándares de 10² a 10⁵ copias; Cq = −3.32 log10(N) + 40. Para Cq 26.72, log10(N)=4 y N=10⁴. La pendiente implica eficiencia cercana al 100 %. Validar rango y no extrapolar; el ejemplo no muestra todas las réplicas requeridas.</a:t>
            </a:r>
          </a:p>
          <a:p>
            <a:r>
              <a:t>Fuentes: [1,2,6,10]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cuarenta particiones del dibujo contienen diez positivas, 25 %. Son una representación pequeña, no las veinte mil del ejemplo siguiente. Cada positiva puede contener una o más copias. Poisson corrige coincidencias bajo supuestos de distribución aleatoria y volumen conocido. Registrar umbral de clasificación, particiones válidas, volumen efectivo, diluciones e incertidumbre; la técnica no elimina problemas de inhibición o muestreo.</a:t>
            </a:r>
          </a:p>
          <a:p>
            <a:r>
              <a:t>Fuentes: [3–4,8,11]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Veinte mil particiones válidas y cinco mil positivas dan p=0,25. λ=−ln(0,75)=0,287682 copias medias por partición. Con un volumen ilustrativo de 0,85 nL=0,00085 µL, la mezcla contiene 338,4495 copias/µL. Al poner 4 µL de extracto en 20 µL de reacción, multiplicar por 5: aproximadamente 1 692,25 copias/µL del extracto diluido. Si había una dilución previa 1:10, multiplicar de nuevo por 10: aproximadamente 16 922,5 copias/µL originales. Se muestran valores redondeados. El volumen leído es 17 µL y no debe confundirse con los 20 µL nominales. En un resultado real reportar intervalo e incertidumbre.</a:t>
            </a:r>
          </a:p>
          <a:p>
            <a:r>
              <a:t>Fuentes: [4,8,11] · Ejemplo simulado, volumen no universal.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cuantificación digital es sin curva estándar, pero depende de volumen y clasificación. qPCR puede cuantificar absolutamente con estándares o relativamente con referencia. RT se puede añadir a las tres lecturas cuando el molde es ARN. Sensibilidad depende de ensayo, entrada y validación.</a:t>
            </a:r>
          </a:p>
          <a:p>
            <a:r>
              <a:t>Fuentes: [1–4,6,8]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Multiplex emplea varios pares de primers y requiere validar interacciones y competencia; puede usar lectura final, qPCR o dPCR. Nested usa primers externos en la primera ronda e internos en la segunda; transferir producto aumenta la posibilidad de contaminación. Estas estrategias no constituyen una lectura nueva ni miden de forma fiable cantidad inicial por una banda final. Hot-start, touchdown y alta fidelidad se desarrollan en los anexos.</a:t>
            </a:r>
          </a:p>
          <a:p>
            <a:r>
              <a:t>Fuentes: [3,5]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PCR amplifica; la secuenciación lee bases. Para Sanger, preparar un amplicón único, limpio y cuantificado, y recordar que la reacción de secuenciación usa un primer. Illumina y Nanopore pueden leer amplicones con bibliotecas compatibles, y algunos flujos shotgun son PCR-free. Amplificar introduce sesgos y copias y pierde modificaciones nativas del ADN. Los índices identifican muestras; no son automáticamente identificadores moleculares únicos. RNA-seq se puede complementar con RT-qPCR de transcritos seleccionados y referencias validadas.</a:t>
            </a:r>
          </a:p>
          <a:p>
            <a:r>
              <a:t>Fuentes: [3–5,9–11]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Actividad en parejas. 1) Ocho muestras + NTC + positivo = diez tubos. 2) Diez por 1,10 = once equivalentes. 3) Veintitrés µL de mezcla común por once = 253 µL. 4) Distribuir 23 µL y agregar los 2 µL específicos. 5) Para expresión se propone RT-qPCR, control sin RT, referencias validadas, eficiencia y réplicas biológicas. Si interesara conocer las bases, preparar un amplicón para Sanger o diseñar otro flujo de secuenciación. La cantidad de muestras es ilustrativa, no un cálculo de potencia.</a:t>
            </a:r>
          </a:p>
          <a:p>
            <a:r>
              <a:t>Fuentes: Síntesis didáctica de [2–5,10–11].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verificando muestra y controles, lectura elegida y cálculo con sus unidades. Un Cq menor no significa automáticamente mayor expresión entre ensayos o condiciones no comparables; una banda no prueba por sí sola identidad; una partición positiva no equivale siempre a una copia. Las recetas de los anexos son ejemplos de cálculo y deben adaptarse al fabricante y a una validación del ensayo.</a:t>
            </a:r>
          </a:p>
          <a:p>
            <a:r>
              <a:t>Fuentes: [4–6,10–11]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Referencias de la clase y de los anexos. Se consultaron los cuatro artículos subidos; MIQE2.0 y dMIQE2020 se contrastaron con fuentes bibliográficas originales. Datos, esquemas y ejemplos docentes propios.</a:t>
            </a:r>
          </a:p>
          <a:p>
            <a:r>
              <a:t>Fuentes: [1–4] Artículos adjuntos · [10–11] Actualizaciones metodológicas.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Referencias de la clase y de los anexos. Se consultaron los cuatro artículos subidos; MIQE2.0 y dMIQE2020 se contrastaron con fuentes bibliográficas originales. Datos, esquemas y ejemplos docentes propios.</a:t>
            </a:r>
          </a:p>
          <a:p>
            <a:r>
              <a:t>Fuentes: [1–4] Artículos adjuntos · [10–11] Actualizaciones metodológicas.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doi.org/10.1042/CS20050086" TargetMode="External"/><Relationship Id="rId4" Type="http://schemas.openxmlformats.org/officeDocument/2006/relationships/hyperlink" Target="https://doi.org/10.2144/btn-2020-0057" TargetMode="External"/><Relationship Id="rId5" Type="http://schemas.openxmlformats.org/officeDocument/2006/relationships/hyperlink" Target="https://doi.org/10.1039/d5lc00055f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i.org/10.1373/clinchem.2008.112797" TargetMode="External"/><Relationship Id="rId4" Type="http://schemas.openxmlformats.org/officeDocument/2006/relationships/hyperlink" Target="https://doi.org/10.1006/meth.2001.1262" TargetMode="External"/><Relationship Id="rId5" Type="http://schemas.openxmlformats.org/officeDocument/2006/relationships/hyperlink" Target="https://doi.org/10.1373/clinchem.2013.206375" TargetMode="External"/><Relationship Id="rId6" Type="http://schemas.openxmlformats.org/officeDocument/2006/relationships/hyperlink" Target="https://doi.org/10.1093/clinchem/hvaf043" TargetMode="External"/><Relationship Id="rId7" Type="http://schemas.openxmlformats.org/officeDocument/2006/relationships/hyperlink" Target="https://doi.org/10.1093/clinchem/hvaa12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BIOLOGÍA MOLECULAR · QUINTO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PCR: elegir, preparar e interpretar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[1–5,10–11] · Caso y datos simulados.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800" y="35179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460500" y="22733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14400" y="2654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98600" y="2387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7100" y="3022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11300" y="2946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22700" y="35179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4216400" y="22733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670300" y="2654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54500" y="2387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83000" y="3022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67200" y="2946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78400" y="1993900"/>
            <a:ext cx="431800" cy="431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473700" y="22098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91865" y="24073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94300" y="24892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933872" y="24073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826000" y="22098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4933872" y="19493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94300" y="18415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91865" y="19493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64300" y="1866900"/>
            <a:ext cx="4991100" cy="1054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2100" y="2006600"/>
            <a:ext cx="46355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¿Está el gen?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2100" y="2451100"/>
            <a:ext cx="463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Detectar ADN de la diana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300" y="3073400"/>
            <a:ext cx="4991100" cy="1054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2100" y="3213100"/>
            <a:ext cx="46355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¿Cambia su expresión?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2100" y="3657600"/>
            <a:ext cx="463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Convertir ARN y cuantificar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64300" y="4279900"/>
            <a:ext cx="4991100" cy="1054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2100" y="4419600"/>
            <a:ext cx="46355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¿Qué bases contiene?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2100" y="4864100"/>
            <a:ext cx="463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Preparar un amplicón y secuenciar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00600"/>
            <a:ext cx="49784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Dos plantas. Tres preguntas.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MAPA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familia PCR: nombres que sí tienen sentido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[2–4,10–11]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54200"/>
            <a:ext cx="2794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16000" y="2374900"/>
            <a:ext cx="1587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16000" y="2565400"/>
            <a:ext cx="1587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49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700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51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002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653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304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955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606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257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6000" y="2844800"/>
            <a:ext cx="1968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6000" y="3746500"/>
            <a:ext cx="6614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82145" y="3845982"/>
            <a:ext cx="66146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48291" y="3800777"/>
            <a:ext cx="66146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14437" y="3690299"/>
            <a:ext cx="66146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80583" y="3622353"/>
            <a:ext cx="66146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6729" y="3622353"/>
            <a:ext cx="66146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12875" y="3648358"/>
            <a:ext cx="6614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79020" y="3748635"/>
            <a:ext cx="66146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45166" y="3847295"/>
            <a:ext cx="66146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611312" y="3798839"/>
            <a:ext cx="66146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77458" y="3688392"/>
            <a:ext cx="66146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743604" y="3621921"/>
            <a:ext cx="66146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809750" y="3621921"/>
            <a:ext cx="6614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75895" y="3649728"/>
            <a:ext cx="66146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42041" y="3750770"/>
            <a:ext cx="66146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08187" y="3848580"/>
            <a:ext cx="66146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74333" y="3796886"/>
            <a:ext cx="66146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40479" y="3686502"/>
            <a:ext cx="66146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6625" y="3621523"/>
            <a:ext cx="6614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72770" y="3621523"/>
            <a:ext cx="66146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916" y="3651124"/>
            <a:ext cx="66146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5062" y="3752903"/>
            <a:ext cx="66146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71208" y="3849836"/>
            <a:ext cx="66146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37354" y="3794918"/>
            <a:ext cx="66146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6000" y="36195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14437" y="36737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412875" y="35213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611312" y="37426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9750" y="34949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8187" y="37215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06625" y="35595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405062" y="36259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16000" y="4140200"/>
            <a:ext cx="19685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ARN → RT →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ADNc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530600" y="3556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13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13200" y="3556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43400" y="18288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521200" y="20447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0" y="19812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PCR convencional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6600" y="24003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Una banda al final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43400" y="30226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21200" y="3238500"/>
            <a:ext cx="203200" cy="203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76800" y="31750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46600" y="35941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Fluorescencia en cada ciclo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43400" y="42164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21200" y="4432300"/>
            <a:ext cx="203200" cy="203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76800" y="43688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600" y="47879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Particiones positivas y negativas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= convertir ARN en ADNc. Se puede combinar con PCR final, qPCR o dPCR.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PCR copia en tres movimientos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1. Separar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94–98 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23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09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2. Reconocer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09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Alineamiento según Tm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50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36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3. Copiar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36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Extensión según enzima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600" y="32131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6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6000" y="31623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60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67300" y="3606800"/>
            <a:ext cx="6096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88000" y="35433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588000" y="36068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515100" y="3314700"/>
            <a:ext cx="6096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515100" y="32512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515100" y="33147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48700" y="3149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48700" y="3340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737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902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67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2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98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5631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282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933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584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235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88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553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718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83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049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48700" y="3784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648700" y="3975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737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902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067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32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98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631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7282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8933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0584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2235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88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53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718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83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049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9878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672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267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8105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0899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0899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Cada ciclo aumenta las copias; la duplicación ideal no se mantiene hasta la meseta.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DE LA HOJA AL TUBO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preparación depende de lo que queremos 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[2,4–5,10–11]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9800" y="36322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333500" y="23876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87400" y="2768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2501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3136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4300" y="30607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095500" y="3086100"/>
            <a:ext cx="495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01900" y="3022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01900" y="3086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743200" y="2540000"/>
            <a:ext cx="1092200" cy="10922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70860" y="2840355"/>
            <a:ext cx="464184" cy="464184"/>
          </a:xfrm>
          <a:prstGeom prst="ellipse">
            <a:avLst/>
          </a:prstGeom>
          <a:solidFill>
            <a:srgbClr val="92B9D8"/>
          </a:solidFill>
          <a:ln>
            <a:solidFill>
              <a:srgbClr val="427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4335" y="319532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89654" y="319532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71215" y="346837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3962400" y="2476500"/>
            <a:ext cx="965200" cy="6096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877114" y="2476500"/>
            <a:ext cx="50486" cy="10254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813310" y="2476500"/>
            <a:ext cx="114290" cy="152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62400" y="3086100"/>
            <a:ext cx="965200" cy="12192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20275" y="4265982"/>
            <a:ext cx="107325" cy="3931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913957" y="4191817"/>
            <a:ext cx="13643" cy="11348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3200" y="2413000"/>
            <a:ext cx="18923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83200" y="2603500"/>
            <a:ext cx="18923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3721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5372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7023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8674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325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976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3627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5278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929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80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023100" y="24130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3200" y="4305300"/>
            <a:ext cx="7884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62045" y="4404782"/>
            <a:ext cx="78846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440891" y="4359577"/>
            <a:ext cx="78846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519737" y="4249099"/>
            <a:ext cx="78846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598583" y="4181153"/>
            <a:ext cx="78846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677429" y="4181153"/>
            <a:ext cx="78846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756275" y="4207158"/>
            <a:ext cx="7884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835120" y="4307435"/>
            <a:ext cx="78846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913966" y="4406095"/>
            <a:ext cx="78846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992812" y="4357639"/>
            <a:ext cx="78846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71658" y="4247192"/>
            <a:ext cx="78846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50504" y="4180721"/>
            <a:ext cx="78846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229350" y="4180721"/>
            <a:ext cx="7884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308195" y="4208528"/>
            <a:ext cx="78846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387041" y="4309570"/>
            <a:ext cx="78846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465887" y="4407380"/>
            <a:ext cx="78846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544733" y="4355686"/>
            <a:ext cx="78846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623579" y="4245302"/>
            <a:ext cx="78846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702425" y="4180323"/>
            <a:ext cx="7884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781270" y="4180323"/>
            <a:ext cx="78846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860116" y="4209924"/>
            <a:ext cx="78846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938962" y="4311703"/>
            <a:ext cx="78846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017808" y="4408636"/>
            <a:ext cx="78846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096654" y="4353718"/>
            <a:ext cx="78846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283200" y="41783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519737" y="42325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756275" y="40801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992812" y="43014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229350" y="40537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465887" y="42803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702425" y="41183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938962" y="41847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823200" y="1930400"/>
            <a:ext cx="3632200" cy="1295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01000" y="2070100"/>
            <a:ext cx="32766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ADN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01000" y="2514600"/>
            <a:ext cx="32766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Integridad + pureza +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inhibición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23200" y="3632200"/>
            <a:ext cx="3632200" cy="1485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01000" y="3771900"/>
            <a:ext cx="32766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ARN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01000" y="4216400"/>
            <a:ext cx="32766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Proteger de RNasas y controlar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ADN residual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83200" y="2895600"/>
            <a:ext cx="2032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¿Está el gen?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83200" y="4737100"/>
            <a:ext cx="21844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¿Se expresa?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Registrar la muestra y sus diluciones. La absorbancia sola no demuestra ausencia de inhibidores.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DISEÑO Y CÁLCULO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primers son dos puntos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[2,5,6]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7000" y="2641600"/>
            <a:ext cx="9296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7000" y="3429000"/>
            <a:ext cx="9296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36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50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3500" y="3213100"/>
            <a:ext cx="165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54500" y="3213100"/>
            <a:ext cx="5715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37100" y="31496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737100" y="32131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7900" y="3721100"/>
            <a:ext cx="3429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DA765B"/>
                </a:solidFill>
                <a:latin typeface="DejaVu Sans"/>
              </a:defRPr>
            </a:pPr>
            <a:r>
              <a:t>Forward: 5′ → 3′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23200" y="2844800"/>
            <a:ext cx="165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51700" y="2844800"/>
            <a:ext cx="5715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251700" y="27813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7251700" y="28448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91400" y="1993900"/>
            <a:ext cx="3810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Reverse: 3′ ← 5′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4600" y="4457700"/>
            <a:ext cx="9575800" cy="88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7800" y="4610100"/>
            <a:ext cx="9207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Stock 10 µM → final 0,2 µM en 25 µL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7800" y="4991100"/>
            <a:ext cx="9207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443"/>
                </a:solidFill>
                <a:latin typeface="DejaVu Sans"/>
              </a:defRPr>
            </a:pPr>
            <a:r>
              <a:t>V = (0,2 × 25) / 10 = 0,5 µL de cada primer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Los extremos 3′ miran hacia la región que queremos copiar.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MASTER MIX · PREPARAR SIN PERDER VOLUMEN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Una receta se convierte en una mezcla para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[5,10] · Ejemplo docente con mix completo 2×.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9000" y="2209800"/>
            <a:ext cx="317500" cy="762000"/>
          </a:xfrm>
          <a:prstGeom prst="roundRect">
            <a:avLst/>
          </a:prstGeom>
          <a:solidFill>
            <a:srgbClr val="FFFFF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2500" y="2044700"/>
            <a:ext cx="190500" cy="1778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7900" y="2971800"/>
            <a:ext cx="139700" cy="4826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77900" y="3454400"/>
            <a:ext cx="635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41400" y="3454400"/>
            <a:ext cx="762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77900" y="3911600"/>
            <a:ext cx="152400" cy="2159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6900" y="2743200"/>
            <a:ext cx="9652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30400" y="2908300"/>
            <a:ext cx="838200" cy="1358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8500" y="3451860"/>
            <a:ext cx="762000" cy="8153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943100" y="4267200"/>
            <a:ext cx="4064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349500" y="4267200"/>
            <a:ext cx="4064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30600" y="1892300"/>
            <a:ext cx="3441700" cy="774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8400" y="2032000"/>
            <a:ext cx="30861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Mix 2×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8400" y="2476500"/>
            <a:ext cx="30861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12,5 µL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0600" y="2755900"/>
            <a:ext cx="3441700" cy="774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8400" y="2895600"/>
            <a:ext cx="30861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Primer F + 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340100"/>
            <a:ext cx="30861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0,5 + 0,5 µL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30600" y="3619500"/>
            <a:ext cx="3441700" cy="774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8400" y="3759200"/>
            <a:ext cx="30861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8400" y="4203700"/>
            <a:ext cx="30861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9,5 µL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39000" y="3225800"/>
            <a:ext cx="482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32700" y="31623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632700" y="32258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51800" y="1892300"/>
            <a:ext cx="331470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032000"/>
            <a:ext cx="29591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Por tubo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476500"/>
            <a:ext cx="29591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23 µL comunes + 2 µL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ADN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1800" y="3657600"/>
            <a:ext cx="3314700" cy="157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797300"/>
            <a:ext cx="29591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10 tubos + 10 %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241800"/>
            <a:ext cx="29591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Preparar 11 equivalentes: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23 × 11 = 253 µL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Cada reacción termina en 25 µL. En el NTC, sustituir el molde por 2 µL de agua.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QUÉ SEÑAL ESPERAMOS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controles permiten creer el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[2,4–6,10–11]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5700" y="2006600"/>
            <a:ext cx="5969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19200" y="2171700"/>
            <a:ext cx="469900" cy="812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7300" y="2578100"/>
            <a:ext cx="393700" cy="4064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3190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45415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530600"/>
            <a:ext cx="2095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4051300"/>
            <a:ext cx="20955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276C8"/>
                </a:solidFill>
                <a:latin typeface="DejaVu Sans"/>
              </a:defRPr>
            </a:pPr>
            <a:r>
              <a:t>Sin producto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635500"/>
            <a:ext cx="209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Reactivos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100" y="2006600"/>
            <a:ext cx="5969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03600" y="2171700"/>
            <a:ext cx="469900" cy="812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41700" y="2578100"/>
            <a:ext cx="393700" cy="4064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41630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63855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84500" y="3530600"/>
            <a:ext cx="2095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Blanco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84500" y="4051300"/>
            <a:ext cx="20955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276C8"/>
                </a:solidFill>
                <a:latin typeface="DejaVu Sans"/>
              </a:defRPr>
            </a:pPr>
            <a:r>
              <a:t>Sin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4500" y="4635500"/>
            <a:ext cx="209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Extracción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24500" y="2006600"/>
            <a:ext cx="5969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588000" y="2171700"/>
            <a:ext cx="469900" cy="812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26100" y="2578100"/>
            <a:ext cx="393700" cy="4064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60070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82295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68900" y="3530600"/>
            <a:ext cx="2095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Positivo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8900" y="4051300"/>
            <a:ext cx="20955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276C8"/>
                </a:solidFill>
                <a:latin typeface="DejaVu Sans"/>
              </a:defRPr>
            </a:pPr>
            <a:r>
              <a:t>Con producto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635500"/>
            <a:ext cx="209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Funcionamiento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8900" y="2006600"/>
            <a:ext cx="5969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0" y="2171700"/>
            <a:ext cx="469900" cy="812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10500" y="2578100"/>
            <a:ext cx="393700" cy="40640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78510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00735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53300" y="3530600"/>
            <a:ext cx="2095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−RT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3300" y="4051300"/>
            <a:ext cx="20955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276C8"/>
                </a:solidFill>
                <a:latin typeface="DejaVu Sans"/>
              </a:defRPr>
            </a:pPr>
            <a:r>
              <a:t>Sin producto*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3300" y="4635500"/>
            <a:ext cx="209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ADN residual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93300" y="2006600"/>
            <a:ext cx="5969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6800" y="2171700"/>
            <a:ext cx="469900" cy="812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994900" y="2578100"/>
            <a:ext cx="393700" cy="40640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996950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191750" y="2984500"/>
            <a:ext cx="2222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537700" y="3530600"/>
            <a:ext cx="2095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Interno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37700" y="4051300"/>
            <a:ext cx="20955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276C8"/>
                </a:solidFill>
                <a:latin typeface="DejaVu Sans"/>
              </a:defRPr>
            </a:pPr>
            <a:r>
              <a:t>Señal válida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7700" y="4635500"/>
            <a:ext cx="2095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Inhibición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*En un ensayo de ARN. Negativo de muestra + control interno fallido = resultado que debe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revisarse.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EJEMPLO · ELEGIR QUÉ SECUENCIAR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convencional: leer una banda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" y="1879600"/>
            <a:ext cx="5969000" cy="3429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663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52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67933" y="27051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67933" y="30099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67933" y="33147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67933" y="36195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67933" y="39243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611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00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650066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56000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44900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644900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08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97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639733" y="31623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39733" y="4292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456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45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2500" y="1955800"/>
            <a:ext cx="41275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A: una banda esperada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500" y="2705100"/>
            <a:ext cx="41275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B: dos productos; revisar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especificidad.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2500" y="3683000"/>
            <a:ext cx="4127500" cy="1154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¿Qué muestra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prepararías primero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para Sanger?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 es la mejor candidata del ejemplo. La intensidad final no mide de forma fiable el ADN inicial.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UNA ETAPA EXTRA · DOS FORMAS DE ORGANIZARLA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RT-PCR: el ARN se transforma antes de amplificar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[2–3,5,10]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09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5500" y="2463800"/>
            <a:ext cx="88900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14400" y="2563282"/>
            <a:ext cx="88900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03300" y="2518077"/>
            <a:ext cx="88900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92200" y="2407599"/>
            <a:ext cx="88900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81100" y="2339653"/>
            <a:ext cx="88900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70000" y="2339653"/>
            <a:ext cx="88900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58900" y="2365658"/>
            <a:ext cx="88900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47800" y="2465935"/>
            <a:ext cx="88900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36700" y="2564595"/>
            <a:ext cx="88900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625600" y="2516139"/>
            <a:ext cx="88900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14500" y="2405692"/>
            <a:ext cx="88900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803400" y="2339221"/>
            <a:ext cx="88900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92300" y="2339221"/>
            <a:ext cx="88900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81200" y="2367028"/>
            <a:ext cx="88900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70100" y="2468070"/>
            <a:ext cx="88900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59000" y="2565880"/>
            <a:ext cx="88900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247900" y="2514186"/>
            <a:ext cx="88900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336800" y="2403802"/>
            <a:ext cx="88900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425700" y="2338823"/>
            <a:ext cx="88900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14600" y="2338823"/>
            <a:ext cx="88900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603500" y="2368424"/>
            <a:ext cx="88900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92400" y="2470203"/>
            <a:ext cx="88900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81300" y="2567136"/>
            <a:ext cx="88900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870200" y="2512218"/>
            <a:ext cx="88900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5500" y="23368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92200" y="23910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58900" y="22386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625600" y="24599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892300" y="22122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59000" y="24388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25700" y="22768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2400" y="23432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13100" y="2463800"/>
            <a:ext cx="520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44900" y="24003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644900" y="24638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051300" y="1917700"/>
            <a:ext cx="2413000" cy="1155700"/>
          </a:xfrm>
          <a:prstGeom prst="ellipse">
            <a:avLst/>
          </a:prstGeom>
          <a:solidFill>
            <a:srgbClr val="E7E0F1"/>
          </a:solidFill>
          <a:ln>
            <a:solidFill>
              <a:srgbClr val="8061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05300" y="2235200"/>
            <a:ext cx="19558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Transcriptasa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reversa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705600" y="24638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124700" y="24003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124700" y="24638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556500" y="2463800"/>
            <a:ext cx="20066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64540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846059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04672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24738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44804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64870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84936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5002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5068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451340" y="2349500"/>
            <a:ext cx="0" cy="1143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89000" y="3073400"/>
            <a:ext cx="2222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ARN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70800" y="3073400"/>
            <a:ext cx="2349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ADNc → PCR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6600" y="4025900"/>
            <a:ext cx="5143500" cy="1308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165600"/>
            <a:ext cx="47879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Un paso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610100"/>
            <a:ext cx="4787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RT y PCR en el mismo tubo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99200" y="4025900"/>
            <a:ext cx="5143500" cy="1308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7000" y="4165600"/>
            <a:ext cx="47879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Dos pasos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7000" y="4610100"/>
            <a:ext cx="4787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RT separada: ADNc para varios ensayos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no significa tiempo real. ADNc puede analizarse por PCR final, qPCR o dPCR.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QPCR · DEL PRODUCTO A LA LUZ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Dos maneras de producir una señal fluorescente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[1–2,6,10]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79600"/>
            <a:ext cx="5181600" cy="3505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5181600" cy="3505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095500"/>
            <a:ext cx="47371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Colorante de ADN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1100" y="3225800"/>
            <a:ext cx="3454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1100" y="3416300"/>
            <a:ext cx="3454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700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351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002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653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304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955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2606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257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5908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559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210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861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512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163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5814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465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9116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767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2418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06900" y="3225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3589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034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2479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924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369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814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25900" y="3238500"/>
            <a:ext cx="177800" cy="177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" y="4102100"/>
            <a:ext cx="4686300" cy="701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Señal de ADN de doble hebra.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También ve productos no deseados.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9700" y="2095500"/>
            <a:ext cx="46863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Sonda de hidrólisis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43700" y="3314700"/>
            <a:ext cx="2921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8326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1247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4168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7089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0010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2931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5852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773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694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461500" y="3200400"/>
            <a:ext cx="0" cy="1143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15200" y="2895600"/>
            <a:ext cx="14351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7188200" y="2781300"/>
            <a:ext cx="228600" cy="2286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648700" y="2781300"/>
            <a:ext cx="228600" cy="228600"/>
          </a:xfrm>
          <a:prstGeom prst="ellipse">
            <a:avLst/>
          </a:prstGeom>
          <a:solidFill>
            <a:srgbClr val="577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978900" y="2895600"/>
            <a:ext cx="5461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36100" y="28321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436100" y="28956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9880600" y="2781300"/>
            <a:ext cx="228600" cy="2286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89700" y="4102100"/>
            <a:ext cx="4686300" cy="701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Reportero separado del quencher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durante la amplificación.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Colorante: revisar fusión y especificidad. Sonda: reconocimiento adicional y posibilidad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multiplex.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LEER DURANTE LA AMPLIFICACIÓN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qPCR: más molde, cruce más temprano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[1–3,6,10]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7600" y="5041900"/>
            <a:ext cx="65024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7600" y="2311400"/>
            <a:ext cx="0" cy="27305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76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87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543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688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799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944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055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30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00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311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40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7600" y="3676650"/>
            <a:ext cx="6502400" cy="0"/>
          </a:xfrm>
          <a:prstGeom prst="line">
            <a:avLst/>
          </a:prstGeom>
          <a:ln w="127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57300" y="3333750"/>
            <a:ext cx="177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DA765B"/>
                </a:solidFill>
                <a:latin typeface="DejaVu Sans"/>
              </a:defRPr>
            </a:pPr>
            <a:r>
              <a:t>Umbral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17600" y="5041875"/>
            <a:ext cx="40640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8240" y="5041871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98880" y="5041867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39520" y="5041861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280160" y="5041855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320800" y="5041848"/>
            <a:ext cx="40640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361440" y="5041840"/>
            <a:ext cx="40640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402080" y="5041831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442720" y="5041820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483360" y="5041807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524000" y="5041792"/>
            <a:ext cx="40640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564640" y="5041776"/>
            <a:ext cx="40640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605280" y="5041756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645920" y="504173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686560" y="5041707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7200" y="5041676"/>
            <a:ext cx="40639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67839" y="5041641"/>
            <a:ext cx="40641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08480" y="5041600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49120" y="5041553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89760" y="5041498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30400" y="5041434"/>
            <a:ext cx="40639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71039" y="5041360"/>
            <a:ext cx="40641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011680" y="5041275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52320" y="5041176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92960" y="5041061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133600" y="5040928"/>
            <a:ext cx="40640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74240" y="5040775"/>
            <a:ext cx="40640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14880" y="5040596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55520" y="5040390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96160" y="5040151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336800" y="5039874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377440" y="5039554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418080" y="5039183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458720" y="5038753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499360" y="5038255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40000" y="5037678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580640" y="503701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21280" y="503623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61920" y="5035343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02560" y="5034307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3200" y="5033109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3840" y="5031721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24480" y="5030116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5120" y="5028258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05760" y="5026109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46400" y="5023625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87040" y="5020752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27680" y="5017432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8320" y="5013596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108960" y="5009165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149600" y="5004052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190240" y="4998152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230880" y="4991349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271520" y="4983512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312160" y="4974491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352800" y="4964116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393440" y="4952198"/>
            <a:ext cx="40639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34079" y="4938526"/>
            <a:ext cx="40641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74720" y="492286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15360" y="4904951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56000" y="4884506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96640" y="4861221"/>
            <a:ext cx="40639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37279" y="4834769"/>
            <a:ext cx="40641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77920" y="4804804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718560" y="4770970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759200" y="4732906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799840" y="4690258"/>
            <a:ext cx="40639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840479" y="4642695"/>
            <a:ext cx="40641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81120" y="4589921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21760" y="4531697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62400" y="446786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003040" y="4398355"/>
            <a:ext cx="40639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43679" y="4323237"/>
            <a:ext cx="40641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84320" y="4242708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124960" y="4157125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165600" y="4067002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206240" y="3973016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246880" y="3875987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287520" y="3776855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28160" y="3676650"/>
            <a:ext cx="40640" cy="1002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368800" y="3576444"/>
            <a:ext cx="40640" cy="100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409440" y="3477312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450080" y="3380283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490720" y="3286297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531360" y="3196174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72000" y="3110591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612640" y="3030062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653280" y="2954944"/>
            <a:ext cx="40640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693920" y="2885437"/>
            <a:ext cx="40640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34560" y="282160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775200" y="2763378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815840" y="2710604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856480" y="2663041"/>
            <a:ext cx="40640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897120" y="2620393"/>
            <a:ext cx="40640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937760" y="2582329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978400" y="2548495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019040" y="2518530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059680" y="2492078"/>
            <a:ext cx="40640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100320" y="2468793"/>
            <a:ext cx="40640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140960" y="2448348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181600" y="2430436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22240" y="241477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262880" y="2401101"/>
            <a:ext cx="40640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303520" y="2389183"/>
            <a:ext cx="40640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344160" y="2378808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384800" y="2369787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425440" y="2361950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5466080" y="2355147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5506720" y="2349247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5547360" y="2344134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5588000" y="2339703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5628640" y="2335867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5669280" y="2332547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5709920" y="2329674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750560" y="2327190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5791200" y="2325041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5831840" y="2323183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872480" y="2321578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5913120" y="2320190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953760" y="2318992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994400" y="2317956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6035040" y="2317061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75680" y="231628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6116320" y="231562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6156960" y="2315044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6197600" y="2314546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6238240" y="2314116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6278880" y="2313745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6319520" y="2313425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360160" y="2313148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6400800" y="2312909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6441440" y="2312703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6482080" y="2312524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6522720" y="2312371"/>
            <a:ext cx="40639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6563359" y="2312238"/>
            <a:ext cx="40641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6604000" y="2312123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6644640" y="2312024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6685280" y="2311939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6725920" y="2311865"/>
            <a:ext cx="40639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6766559" y="2311801"/>
            <a:ext cx="40641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6807200" y="2311746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6847840" y="2311699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6888480" y="2311658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6929120" y="2311623"/>
            <a:ext cx="40639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6969759" y="2311592"/>
            <a:ext cx="40641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7010400" y="2311566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7051040" y="231154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7091680" y="2311523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7132320" y="2311507"/>
            <a:ext cx="40639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7172959" y="2311492"/>
            <a:ext cx="40641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7213600" y="2311479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7254240" y="2311468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294880" y="2311459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7335520" y="2311451"/>
            <a:ext cx="40639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7376159" y="2311444"/>
            <a:ext cx="40641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7416800" y="2311438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7457440" y="2311432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7498080" y="2311428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7538720" y="2311424"/>
            <a:ext cx="40639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7579359" y="2311421"/>
            <a:ext cx="40641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4318000" y="3625850"/>
            <a:ext cx="101600" cy="1016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2545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11760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15824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119888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239520" y="5041897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28016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132080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361440" y="5041896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402080" y="5041896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442720" y="5041895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1483360" y="5041895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524000" y="5041894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564640" y="5041893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605280" y="5041892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645920" y="5041891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686560" y="5041889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727200" y="5041888"/>
            <a:ext cx="40639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767839" y="5041886"/>
            <a:ext cx="40641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808480" y="5041884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849120" y="5041881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889760" y="5041878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930400" y="5041875"/>
            <a:ext cx="40639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971039" y="5041871"/>
            <a:ext cx="40641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011680" y="5041867"/>
            <a:ext cx="40640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052320" y="5041861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092960" y="5041855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133600" y="5041848"/>
            <a:ext cx="40640" cy="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174240" y="5041840"/>
            <a:ext cx="40640" cy="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214880" y="5041831"/>
            <a:ext cx="40640" cy="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255520" y="5041820"/>
            <a:ext cx="40640" cy="1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296160" y="5041807"/>
            <a:ext cx="40640" cy="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336800" y="5041792"/>
            <a:ext cx="40640" cy="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377440" y="5041776"/>
            <a:ext cx="40640" cy="1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418080" y="5041756"/>
            <a:ext cx="40640" cy="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458720" y="5041733"/>
            <a:ext cx="40640" cy="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499360" y="5041707"/>
            <a:ext cx="40640" cy="2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540000" y="5041676"/>
            <a:ext cx="40640" cy="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580640" y="5041641"/>
            <a:ext cx="40640" cy="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21280" y="5041600"/>
            <a:ext cx="40640" cy="4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661920" y="5041553"/>
            <a:ext cx="40640" cy="4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702560" y="5041498"/>
            <a:ext cx="40640" cy="5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2743200" y="5041434"/>
            <a:ext cx="40640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2783840" y="5041360"/>
            <a:ext cx="40640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824480" y="5041275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2865120" y="5041176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2905760" y="5041061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2946400" y="5040928"/>
            <a:ext cx="40640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2987040" y="5040775"/>
            <a:ext cx="40640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027680" y="5040596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068320" y="5040390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108960" y="5040151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149600" y="5039874"/>
            <a:ext cx="40640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190240" y="5039554"/>
            <a:ext cx="40640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230880" y="5039183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71520" y="5038753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12160" y="5038255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800" y="5037678"/>
            <a:ext cx="40640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93440" y="503701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34079" y="5036238"/>
            <a:ext cx="40641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74720" y="5035343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15360" y="5034307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56000" y="5033109"/>
            <a:ext cx="40640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96640" y="5031721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637279" y="5030116"/>
            <a:ext cx="40641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677920" y="5028258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718560" y="5026109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759200" y="5023625"/>
            <a:ext cx="40640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799840" y="5020752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40479" y="5017432"/>
            <a:ext cx="40641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881120" y="5013596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1760" y="5009165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62400" y="5004052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003040" y="4998152"/>
            <a:ext cx="40639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4043679" y="4991349"/>
            <a:ext cx="40641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4084320" y="4983512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124960" y="4974491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165600" y="4964116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206240" y="4952198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4246880" y="4938526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287520" y="492286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328160" y="4904951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368800" y="4884506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4409440" y="4861221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450080" y="4834769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4490720" y="4804804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4531360" y="4770970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4572000" y="4732906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4612640" y="4690258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4653280" y="4642695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693920" y="4589921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4734560" y="4531697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75200" y="446786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4815840" y="4398355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4856480" y="4323237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4897120" y="4242708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4937760" y="4157125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4978400" y="4067002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5019040" y="3973016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059680" y="3875987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5100320" y="3776855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140960" y="3676650"/>
            <a:ext cx="40640" cy="1002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5181600" y="3576444"/>
            <a:ext cx="40640" cy="100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222240" y="3477312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5262880" y="3380283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303520" y="3286297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5344160" y="3196174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384800" y="3110591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5425440" y="3030062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466080" y="2954944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5506720" y="2885437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547360" y="282160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5588000" y="2763378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628640" y="2710604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5669280" y="2663041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709920" y="2620393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5750560" y="2582329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791200" y="2548495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5831840" y="2518530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72480" y="2492078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5913120" y="2468793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53760" y="2448348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5994400" y="2430436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6035040" y="241477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6075680" y="2401101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116320" y="2389183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156960" y="2378808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197600" y="2369787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6238240" y="2361950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278880" y="2355147"/>
            <a:ext cx="40640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6319520" y="2349247"/>
            <a:ext cx="40640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360160" y="2344134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6400800" y="2339703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441440" y="2335867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482080" y="2332547"/>
            <a:ext cx="40640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522720" y="2329674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563359" y="2327190"/>
            <a:ext cx="40641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6604000" y="2325041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6644640" y="2323183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6685280" y="2321578"/>
            <a:ext cx="40640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6725920" y="2320190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6766559" y="2318992"/>
            <a:ext cx="40641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6807200" y="2317956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6847840" y="2317061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6888480" y="2316288"/>
            <a:ext cx="40640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6929120" y="231562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6969759" y="2315044"/>
            <a:ext cx="40641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7010400" y="2314546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7051040" y="2314116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7091680" y="2313745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7132320" y="2313425"/>
            <a:ext cx="40639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7172959" y="2313148"/>
            <a:ext cx="40641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7213600" y="2312909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7254240" y="2312703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7294880" y="2312524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7335520" y="2312371"/>
            <a:ext cx="40639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7376159" y="2312238"/>
            <a:ext cx="40641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7416800" y="2312123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7457440" y="2312024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7498080" y="2311939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7538720" y="2311865"/>
            <a:ext cx="40639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7579359" y="2311801"/>
            <a:ext cx="40641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Oval 342"/>
          <p:cNvSpPr/>
          <p:nvPr/>
        </p:nvSpPr>
        <p:spPr>
          <a:xfrm>
            <a:off x="5130800" y="3625850"/>
            <a:ext cx="101600" cy="1016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0673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4276C8"/>
                </a:solidFill>
                <a:latin typeface="DejaVu Sans"/>
              </a:defRPr>
            </a:pPr>
            <a:r>
              <a:t>25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11176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1582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1988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2395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2801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3208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3614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4020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4427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4833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5240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5646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6052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6459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6865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27200" y="5041899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7839" y="5041899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8084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491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1889760" y="504189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930400" y="5041898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971039" y="5041898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011680" y="5041898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052320" y="5041897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09296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13360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174240" y="5041896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14880" y="5041896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255520" y="5041895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296160" y="5041895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336800" y="5041894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77440" y="5041893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418080" y="5041892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458720" y="5041891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499360" y="5041889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540000" y="504188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580640" y="5041886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621280" y="5041884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661920" y="5041881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02560" y="5041878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43200" y="5041875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3840" y="5041871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824480" y="5041867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865120" y="5041861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905760" y="5041855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946400" y="5041848"/>
            <a:ext cx="40640" cy="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987040" y="5041840"/>
            <a:ext cx="40640" cy="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3027680" y="5041831"/>
            <a:ext cx="40640" cy="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068320" y="5041820"/>
            <a:ext cx="40640" cy="1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3108960" y="5041807"/>
            <a:ext cx="40640" cy="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149600" y="5041792"/>
            <a:ext cx="40640" cy="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3190240" y="5041776"/>
            <a:ext cx="40640" cy="1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3230880" y="5041756"/>
            <a:ext cx="40640" cy="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3271520" y="5041733"/>
            <a:ext cx="40640" cy="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3312160" y="5041707"/>
            <a:ext cx="40640" cy="2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352800" y="5041676"/>
            <a:ext cx="40640" cy="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393440" y="5041641"/>
            <a:ext cx="40639" cy="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3434079" y="5041600"/>
            <a:ext cx="40641" cy="4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474720" y="5041553"/>
            <a:ext cx="40640" cy="4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3515360" y="5041498"/>
            <a:ext cx="40640" cy="5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3556000" y="5041434"/>
            <a:ext cx="40640" cy="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3596640" y="5041360"/>
            <a:ext cx="40639" cy="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3637279" y="5041275"/>
            <a:ext cx="40641" cy="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3677920" y="5041176"/>
            <a:ext cx="40640" cy="9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3718560" y="5041061"/>
            <a:ext cx="40640" cy="1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3759200" y="5040928"/>
            <a:ext cx="40640" cy="13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3799840" y="5040775"/>
            <a:ext cx="40639" cy="15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3840479" y="5040596"/>
            <a:ext cx="40641" cy="17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881120" y="5040390"/>
            <a:ext cx="40640" cy="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921760" y="5040151"/>
            <a:ext cx="40640" cy="23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962400" y="5039874"/>
            <a:ext cx="40640" cy="2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4003040" y="5039554"/>
            <a:ext cx="40639" cy="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4043679" y="5039183"/>
            <a:ext cx="40641" cy="37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4084320" y="5038753"/>
            <a:ext cx="40640" cy="43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4124960" y="5038255"/>
            <a:ext cx="40640" cy="4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4165600" y="5037678"/>
            <a:ext cx="40640" cy="5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4206240" y="5037011"/>
            <a:ext cx="40640" cy="66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4246880" y="5036238"/>
            <a:ext cx="40640" cy="7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4287520" y="5035343"/>
            <a:ext cx="40640" cy="89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4328160" y="5034307"/>
            <a:ext cx="40640" cy="10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4368800" y="5033109"/>
            <a:ext cx="40640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409440" y="5031721"/>
            <a:ext cx="40640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4450080" y="5030116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4490720" y="5028258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4531360" y="5026109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4572000" y="5023625"/>
            <a:ext cx="40640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4612640" y="5020752"/>
            <a:ext cx="40640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4653280" y="5017432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4693920" y="5013596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4734560" y="5009165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4775200" y="5004052"/>
            <a:ext cx="40640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4815840" y="4998152"/>
            <a:ext cx="40640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4856480" y="4991349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4897120" y="4983512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4937760" y="4974491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4978400" y="4964116"/>
            <a:ext cx="40640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5019040" y="4952198"/>
            <a:ext cx="40640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5059680" y="4938526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5100320" y="492286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5140960" y="4904951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5181600" y="4884506"/>
            <a:ext cx="40640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5222240" y="4861221"/>
            <a:ext cx="40640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5262880" y="4834769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5303520" y="4804804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5344160" y="4770970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5384800" y="4732906"/>
            <a:ext cx="40640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5425440" y="4690258"/>
            <a:ext cx="40640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5466080" y="4642695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5506720" y="4589921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5547360" y="4531697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5588000" y="446786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5628640" y="4398355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5669280" y="4323237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5709920" y="4242708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5750560" y="4157125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5791200" y="4067002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5831840" y="3973016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872480" y="3875987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 flipV="1">
            <a:off x="5913120" y="3776855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 flipV="1">
            <a:off x="5953760" y="3676650"/>
            <a:ext cx="40640" cy="1002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5994400" y="3576444"/>
            <a:ext cx="40640" cy="100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6035040" y="3477312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6075680" y="3380283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6116320" y="3286297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6156960" y="3196174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6197600" y="3110591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6238240" y="3030062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6278880" y="2954944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6319520" y="2885437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6360160" y="282160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6400800" y="2763378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6441440" y="2710604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482080" y="2663041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V="1">
            <a:off x="6522720" y="2620393"/>
            <a:ext cx="40639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6563359" y="2582329"/>
            <a:ext cx="40641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6604000" y="2548495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V="1">
            <a:off x="6644640" y="2518530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6685280" y="2492078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V="1">
            <a:off x="6725920" y="2468793"/>
            <a:ext cx="40639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6766559" y="2448348"/>
            <a:ext cx="40641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6807200" y="2430436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6847840" y="241477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6888480" y="2401101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6929120" y="2389183"/>
            <a:ext cx="40639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V="1">
            <a:off x="6969759" y="2378808"/>
            <a:ext cx="40641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7010400" y="2369787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7051040" y="2361950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7091680" y="2355147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7132320" y="2349247"/>
            <a:ext cx="40639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7172959" y="2344134"/>
            <a:ext cx="40641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7213600" y="2339703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7254240" y="2335867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294880" y="2332547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7335520" y="2329674"/>
            <a:ext cx="40639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7376159" y="2327190"/>
            <a:ext cx="40641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7416800" y="2325041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V="1">
            <a:off x="7457440" y="2323183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7498080" y="2321578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7538720" y="2320190"/>
            <a:ext cx="40639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7579359" y="2318992"/>
            <a:ext cx="40641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5" name="Oval 504"/>
          <p:cNvSpPr/>
          <p:nvPr/>
        </p:nvSpPr>
        <p:spPr>
          <a:xfrm>
            <a:off x="5943600" y="3625850"/>
            <a:ext cx="101600" cy="1016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58801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061AC"/>
                </a:solidFill>
                <a:latin typeface="DejaVu Sans"/>
              </a:defRPr>
            </a:pPr>
            <a:r>
              <a:t>30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2946400" y="5588000"/>
            <a:ext cx="304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Número de ciclos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800100" y="1816100"/>
            <a:ext cx="3746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83443"/>
                </a:solidFill>
                <a:latin typeface="DejaVu Sans"/>
              </a:defRPr>
            </a:pPr>
            <a:r>
              <a:t>Fluorescencia relativa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8394700" y="20701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ounded Rectangle 509"/>
          <p:cNvSpPr/>
          <p:nvPr/>
        </p:nvSpPr>
        <p:spPr>
          <a:xfrm>
            <a:off x="8458200" y="22352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8496300" y="2406650"/>
            <a:ext cx="203200" cy="17145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2" name="Connector 511"/>
          <p:cNvCxnSpPr/>
          <p:nvPr/>
        </p:nvCxnSpPr>
        <p:spPr>
          <a:xfrm>
            <a:off x="8470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V="1">
            <a:off x="8597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TextBox 513"/>
          <p:cNvSpPr txBox="1"/>
          <p:nvPr/>
        </p:nvSpPr>
        <p:spPr>
          <a:xfrm>
            <a:off x="9029700" y="22225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Más molde</a:t>
            </a:r>
          </a:p>
        </p:txBody>
      </p:sp>
      <p:sp>
        <p:nvSpPr>
          <p:cNvPr id="515" name="Rounded Rectangle 514"/>
          <p:cNvSpPr/>
          <p:nvPr/>
        </p:nvSpPr>
        <p:spPr>
          <a:xfrm>
            <a:off x="8394700" y="31750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8458200" y="33401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8496300" y="3511550"/>
            <a:ext cx="203200" cy="17145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>
            <a:off x="8470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V="1">
            <a:off x="8597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/>
          <p:cNvSpPr txBox="1"/>
          <p:nvPr/>
        </p:nvSpPr>
        <p:spPr>
          <a:xfrm>
            <a:off x="9029700" y="33274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Intermedio</a:t>
            </a:r>
          </a:p>
        </p:txBody>
      </p:sp>
      <p:sp>
        <p:nvSpPr>
          <p:cNvPr id="521" name="Rounded Rectangle 520"/>
          <p:cNvSpPr/>
          <p:nvPr/>
        </p:nvSpPr>
        <p:spPr>
          <a:xfrm>
            <a:off x="8394700" y="42799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ounded Rectangle 521"/>
          <p:cNvSpPr/>
          <p:nvPr/>
        </p:nvSpPr>
        <p:spPr>
          <a:xfrm>
            <a:off x="8458200" y="44450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8496300" y="4616450"/>
            <a:ext cx="203200" cy="17145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4" name="Connector 523"/>
          <p:cNvCxnSpPr/>
          <p:nvPr/>
        </p:nvCxnSpPr>
        <p:spPr>
          <a:xfrm>
            <a:off x="8470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8597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6" name="TextBox 525"/>
          <p:cNvSpPr txBox="1"/>
          <p:nvPr/>
        </p:nvSpPr>
        <p:spPr>
          <a:xfrm>
            <a:off x="9029700" y="44323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Menos molde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RT-QPCR · COMPARAR DOS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¿el calor cambia la expresión de un 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[2,6,7,10]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224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8161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2700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42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7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669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25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64262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8801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43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928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8200" y="1955800"/>
            <a:ext cx="431800" cy="431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6835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1665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04100" y="24511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43672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0358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7143672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404100" y="18034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601665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4700" y="4254500"/>
            <a:ext cx="44450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900" y="4381500"/>
            <a:ext cx="4064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Control: 25 − 20 =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900" y="4838700"/>
            <a:ext cx="40640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16600" y="4254500"/>
            <a:ext cx="52705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2500" y="4381500"/>
            <a:ext cx="48514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A765B"/>
                </a:solidFill>
                <a:latin typeface="DejaVu Sans"/>
              </a:defRPr>
            </a:pPr>
            <a:r>
              <a:t>Con calor: 22 − 20 =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2500" y="48387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6600" y="2146300"/>
            <a:ext cx="2705100" cy="7947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ΔΔCq = 2 − 5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= −3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6600" y="3302000"/>
            <a:ext cx="29210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F86"/>
                </a:solidFill>
                <a:latin typeface="DejaVu Sans"/>
              </a:defRPr>
            </a:pPr>
            <a:r>
              <a:t>2³ = 8 veces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Resultado del ejemplo: expresión relativa 8 veces mayor; referencias y eficiencias validadas.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QPCR CON ESTÁNDARES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¿cuántas copias tiene mi muestra?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[1,2,6,10]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9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65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5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2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24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298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489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33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6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19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632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822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67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9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53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1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6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56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00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12000" y="3987800"/>
            <a:ext cx="40386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112000" y="1841500"/>
            <a:ext cx="0" cy="21463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277100" y="20066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98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8432800" y="25654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55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37" name="Oval 36"/>
          <p:cNvSpPr/>
          <p:nvPr/>
        </p:nvSpPr>
        <p:spPr>
          <a:xfrm>
            <a:off x="9588500" y="31242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39" name="Oval 38"/>
          <p:cNvSpPr/>
          <p:nvPr/>
        </p:nvSpPr>
        <p:spPr>
          <a:xfrm>
            <a:off x="10744200" y="36830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569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40600" y="2070100"/>
            <a:ext cx="3467100" cy="16764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4432300"/>
            <a:ext cx="3175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log₁₀(copias)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6700" y="1524000"/>
            <a:ext cx="1397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" y="3898900"/>
            <a:ext cx="5588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Cq = −3,32 log₁₀(N) + 40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" y="4775200"/>
            <a:ext cx="10490200" cy="78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0600" y="4902200"/>
            <a:ext cx="101346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Cq = 26,72 → log₁₀(N) = 4 → 10 000 copias/reacción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Usamos muestras conocidas para convertir un Cq en cantidad. Fórmula y eficiencia: notas.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DE UNA MEZCLA A MUCHAS PARTICIONES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dPCR: dividir, amplificar y contar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[3–4,8,11]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200" y="2501900"/>
            <a:ext cx="9017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55700" y="2667000"/>
            <a:ext cx="774700" cy="13208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3800" y="3195320"/>
            <a:ext cx="698500" cy="79248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168400" y="3987800"/>
            <a:ext cx="3746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543050" y="3987800"/>
            <a:ext cx="3746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311400" y="3340100"/>
            <a:ext cx="5842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806700" y="3276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806700" y="3340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263900" y="21209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576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0513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450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7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24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261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21209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263900" y="25146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57600" y="25146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0513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450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7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324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261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019800" y="25146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63900" y="29083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57600" y="29083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51300" y="29083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45000" y="29083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38700" y="29083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32400" y="29083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26100" y="29083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19800" y="29083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63900" y="33020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0513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4450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387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324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26100" y="33020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19800" y="33020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2639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36957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0513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450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387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324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626100" y="3695700"/>
            <a:ext cx="279400" cy="2794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19800" y="3695700"/>
            <a:ext cx="279400" cy="2794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629400" y="3340100"/>
            <a:ext cx="5969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137400" y="3276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137400" y="3340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7620000" y="1943100"/>
            <a:ext cx="3771900" cy="1282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7800" y="2082800"/>
            <a:ext cx="34163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 / 40 positivas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97800" y="2527300"/>
            <a:ext cx="34163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 = 0,25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20000" y="3644900"/>
            <a:ext cx="3771900" cy="1536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97800" y="3784600"/>
            <a:ext cx="34163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¿Solo una copia?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97800" y="4229100"/>
            <a:ext cx="34163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Puede haber varias: se corrige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con Poisson.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λ = −ln(1 − p) estima las copias medias por partición; dPCR suele leerse al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CÁLCULO CON UNIDADES VISIBLES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 digital: llevar las copias de vuelta 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extracto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[4,8,11] · Ejemplo simulado, volumen no universal.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816100"/>
            <a:ext cx="10668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5 000 positivas / 20 000 válidas → p = 0,25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200" y="2641600"/>
            <a:ext cx="50419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2781300"/>
            <a:ext cx="46863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1. Ocupación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225800"/>
            <a:ext cx="46863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λ = −ln(0,75) = 0,28768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copias/partición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000" y="2641600"/>
            <a:ext cx="51689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781300"/>
            <a:ext cx="48133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2. Concentración en mezcla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25800"/>
            <a:ext cx="48133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0,28768 / 0,00085 µL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= 338,45 copias/µL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1200" y="4368800"/>
            <a:ext cx="10680700" cy="10541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1700" y="4533900"/>
            <a:ext cx="103124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3. Extracto: 338,45 × (20 / 4) ≈ 1 692,25 copias/µL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700" y="5029200"/>
            <a:ext cx="103124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4 µL de extracto en 20 µL de reacción → factor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Volumen de partición = 0,85 nL. Dilución previa 1:10 → ≈16 922,5 copias/µL original.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COMPARACIÓN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¿Qué información entrega cada lectura?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[1–4,6,8]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69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042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01900"/>
            <a:ext cx="2717800" cy="1524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52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541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66850" y="33274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66850" y="36322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6850" y="39370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6850" y="42418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66850" y="45466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4470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360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13360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241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30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81305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Convencional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Presencia y tamaño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Preparar un amplicón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4400" y="3962400"/>
            <a:ext cx="27178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24400" y="2641600"/>
            <a:ext cx="0" cy="13208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24400" y="3957489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87900" y="3954325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51400" y="394914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914900" y="3940699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978400" y="3927034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41900" y="3905180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05400" y="3870877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68900" y="3818581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232400" y="3742303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95900" y="3637922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359400" y="350689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422900" y="3359150"/>
            <a:ext cx="63500" cy="1477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3211402"/>
            <a:ext cx="63500" cy="14774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549900" y="308037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613400" y="2975996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676900" y="2899718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740400" y="2847422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803900" y="2813119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867400" y="2791265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930900" y="2777600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994400" y="2769155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57900" y="276397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21400" y="2760810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184900" y="2758883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248400" y="2757711"/>
            <a:ext cx="63500" cy="117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311900" y="2756999"/>
            <a:ext cx="63500" cy="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375400" y="2756566"/>
            <a:ext cx="63500" cy="4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438900" y="2756304"/>
            <a:ext cx="63500" cy="26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502400" y="2756145"/>
            <a:ext cx="63500" cy="159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565900" y="2756048"/>
            <a:ext cx="63500" cy="9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629400" y="2755990"/>
            <a:ext cx="63500" cy="5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692900" y="2755954"/>
            <a:ext cx="63500" cy="3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756400" y="2755933"/>
            <a:ext cx="63500" cy="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819900" y="2755920"/>
            <a:ext cx="63500" cy="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883400" y="2755912"/>
            <a:ext cx="635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946900" y="2755907"/>
            <a:ext cx="63500" cy="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010400" y="2755904"/>
            <a:ext cx="63500" cy="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073900" y="2755902"/>
            <a:ext cx="635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137400" y="2755901"/>
            <a:ext cx="635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200900" y="2755901"/>
            <a:ext cx="63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24400" y="3962309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787900" y="3962251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851400" y="3962154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14900" y="396199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78400" y="3961733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041900" y="3961300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105400" y="3960588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168900" y="3959416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232400" y="3957489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295900" y="3954325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359400" y="394914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422900" y="3940699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486400" y="3927034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49900" y="3905180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13400" y="3870877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676900" y="3818581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740400" y="3742303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5803900" y="3637922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867400" y="350689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5930900" y="3359150"/>
            <a:ext cx="63500" cy="1477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994400" y="3211402"/>
            <a:ext cx="63500" cy="14774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057900" y="308037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121400" y="2975996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184900" y="2899718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6248400" y="2847422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6311900" y="2813119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6375400" y="2791265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6438900" y="2777600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6502400" y="2769155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565900" y="276397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629400" y="2760810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692900" y="2758883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756400" y="2757711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819900" y="2756999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883400" y="2756566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6946900" y="2756304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010400" y="275614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073900" y="2756048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7137400" y="2755990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200900" y="2755954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63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35500" y="4356100"/>
            <a:ext cx="298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Cantidad por Cq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35500" y="48260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Carga y expresión</a:t>
            </a:r>
          </a:p>
        </p:txBody>
      </p:sp>
      <p:sp>
        <p:nvSpPr>
          <p:cNvPr id="112" name="Oval 111"/>
          <p:cNvSpPr/>
          <p:nvPr/>
        </p:nvSpPr>
        <p:spPr>
          <a:xfrm>
            <a:off x="8534400" y="27051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8773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2202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5631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9060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2489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5918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34400" y="30480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8773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2202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5631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9060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2489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5918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344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773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2202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5631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9060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2489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918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5344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773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202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5631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9060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2489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5918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328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28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Copias por partición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4328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Variantes conocidas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Si la muestra es ARN, primero RT. Multiplex y nested son estrategias combinables.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FORMATOS QUE SE PUEDEN COMBINAR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Multiplex y nested: cambiar la estrategia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amplificación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0400" y="1854200"/>
            <a:ext cx="51562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48400" y="1854200"/>
            <a:ext cx="51562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2057400"/>
            <a:ext cx="46482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Multiplex: varias dianas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5700" y="2984500"/>
            <a:ext cx="30607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57300" y="2832100"/>
            <a:ext cx="5461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714500" y="2768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500" y="2832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556000" y="3136900"/>
            <a:ext cx="5461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556000" y="3073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556000" y="3136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21200" y="2806700"/>
            <a:ext cx="8382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5700" y="3568700"/>
            <a:ext cx="30607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57300" y="3416300"/>
            <a:ext cx="5461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14500" y="33528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500" y="34163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556000" y="3721100"/>
            <a:ext cx="5461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556000" y="36576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3556000" y="37211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21200" y="3390900"/>
            <a:ext cx="8382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55700" y="4152900"/>
            <a:ext cx="30607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57300" y="4000500"/>
            <a:ext cx="5461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714500" y="39370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714500" y="40005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556000" y="4305300"/>
            <a:ext cx="5461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556000" y="42418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3556000" y="43053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21200" y="3975100"/>
            <a:ext cx="8382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000" y="4800600"/>
            <a:ext cx="46482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Un tubo · varios pares de primers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9700" y="2057400"/>
            <a:ext cx="46736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Nested: dos rondas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43700" y="2971800"/>
            <a:ext cx="41656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819900" y="2743200"/>
            <a:ext cx="6985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29500" y="26797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7429500" y="27432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134600" y="3187700"/>
            <a:ext cx="6985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0134600" y="31242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0134600" y="31877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763000" y="3378200"/>
            <a:ext cx="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3256" y="3598256"/>
            <a:ext cx="59744" cy="974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763000" y="3598256"/>
            <a:ext cx="59743" cy="974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96200" y="4127500"/>
            <a:ext cx="21971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734300" y="3924300"/>
            <a:ext cx="5461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191500" y="38608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191500" y="39243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9334500" y="4343400"/>
            <a:ext cx="5461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9334500" y="42799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9334500" y="4343400"/>
            <a:ext cx="88900" cy="6350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27800" y="4800600"/>
            <a:ext cx="46228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Primers externos → internos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Alta fidelidad ayuda al preparar insertos y amplicones para secuenciar; no elimina todos los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errores.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PUENTE CON LA CLASE DE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y secuenciación: enriquecer no es leer 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[3–5,9–11]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5500" y="2209800"/>
            <a:ext cx="2184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25500" y="2400300"/>
            <a:ext cx="2184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795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446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097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5748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399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050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701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52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003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654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305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95600" y="2209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5500" y="2679700"/>
            <a:ext cx="2184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5500" y="2870200"/>
            <a:ext cx="2184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44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95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097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748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7399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050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701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352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003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654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305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95600" y="26797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5500" y="3149600"/>
            <a:ext cx="2184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5500" y="3340100"/>
            <a:ext cx="2184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44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795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244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409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74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9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05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701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52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003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5654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305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895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352800" y="28448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71900" y="27813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71900" y="28448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4267200" y="1905000"/>
            <a:ext cx="3289300" cy="1358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45000" y="2044700"/>
            <a:ext cx="29337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Sanger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45000" y="2489200"/>
            <a:ext cx="29337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 amplicón limpio → bases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de esa región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7200" y="3670300"/>
            <a:ext cx="3289300" cy="1485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45000" y="3810000"/>
            <a:ext cx="29337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Illumina / Nanopore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5000" y="4254500"/>
            <a:ext cx="29337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Amplicones con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preparación compatible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0" y="2603500"/>
            <a:ext cx="673100" cy="4572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331324" y="3055368"/>
            <a:ext cx="114176" cy="533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398461" y="2956527"/>
            <a:ext cx="47039" cy="1041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772400" y="3556000"/>
            <a:ext cx="673100" cy="7874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427595" y="3556000"/>
            <a:ext cx="17905" cy="11288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8336770" y="3556000"/>
            <a:ext cx="108730" cy="3524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712200" y="2514600"/>
            <a:ext cx="26797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A T G C T A 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12200" y="3302000"/>
            <a:ext cx="26797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A T G C A A 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99500" y="4089400"/>
            <a:ext cx="26797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Lecturas de bases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2800" y="4572000"/>
            <a:ext cx="29083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PCR: más copias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de una región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También existen bibliotecas PCR-free. La PCR puede sesgar abundancias y no conserva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modificaciones nativas.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ACTIVIDAD RESUELTA AL COMENTAR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Tu turno: completa la mezcla y elige la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Síntesis didáctica de [2–5,10–11].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800" y="36449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460500" y="24003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14400" y="2781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98600" y="2514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7100" y="3149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11300" y="3073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98900" y="36449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4292600" y="24003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746500" y="2781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30700" y="2514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59200" y="3149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3073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54600" y="2120900"/>
            <a:ext cx="431800" cy="431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549900" y="23368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68065" y="25343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270500" y="26162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010072" y="25343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902200" y="23368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010072" y="20763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270500" y="19685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468065" y="20763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540500" y="1892300"/>
            <a:ext cx="4902200" cy="1130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8300" y="2032000"/>
            <a:ext cx="45466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Tenemos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8300" y="2476500"/>
            <a:ext cx="45466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8 muestras + NTC + positivo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40500" y="3276600"/>
            <a:ext cx="4902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8300" y="3416300"/>
            <a:ext cx="45466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276C8"/>
                </a:solidFill>
                <a:latin typeface="DejaVu Sans"/>
              </a:defRPr>
            </a:pPr>
            <a:r>
              <a:t>Calcula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8300" y="3860800"/>
            <a:ext cx="45466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23 µL comunes por tubo; 10 % extra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0500" y="4686300"/>
            <a:ext cx="49022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8300" y="4826000"/>
            <a:ext cx="45466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061AC"/>
                </a:solidFill>
                <a:latin typeface="DejaVu Sans"/>
              </a:defRPr>
            </a:pPr>
            <a:r>
              <a:t>Decide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8300" y="5270500"/>
            <a:ext cx="45466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¿Qué usarías para medir expresión?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Solución: 10 tubos → 11 equivalentes → 253 µL comunes. Expresión: RT-qPCR validada.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CIERRE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Antes de interpretar, revisa estas tres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[4–6,10–11]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7700" y="1866900"/>
            <a:ext cx="10795000" cy="106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" y="2082800"/>
            <a:ext cx="457200" cy="457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108200"/>
            <a:ext cx="39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1981200"/>
            <a:ext cx="96647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¿La muestra y los controles son válidos?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8600" y="2438400"/>
            <a:ext cx="96647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Sin buena entrada y controles, la cifra no basta.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" y="3111500"/>
            <a:ext cx="10795000" cy="106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3327400"/>
            <a:ext cx="457200" cy="457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352800"/>
            <a:ext cx="39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600" y="3225800"/>
            <a:ext cx="96647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¿La lectura responde a la pregunta?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8600" y="3683000"/>
            <a:ext cx="96647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Banda, Cq, particiones o secuencia aportan datos distintos.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700" y="4356100"/>
            <a:ext cx="10795000" cy="106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100" y="4572000"/>
            <a:ext cx="457200" cy="457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800" y="4597400"/>
            <a:ext cx="39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8600" y="4470400"/>
            <a:ext cx="96647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¿El cálculo vuelve a la muestra original?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4927600"/>
            <a:ext cx="96647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Revisa unidades, referencias, eficiencia y diluciones.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ARTÍCULOS DE BASE Y LIBRO DE CONSULTA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[1–4] Artículos adjuntos · [10–11] Actualizaciones metodológicas.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" y="176530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[1] Orlando C, Pinzani P, Pazzagli M (1998).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" y="2047494"/>
            <a:ext cx="52197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Developments in Quantitative PCR. Clin Chem Lab Med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36:255–269.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100" y="274574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3"/>
              </a:rPr>
              <a:t>[2] Bustin SA, Mueller R (2005).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100" y="3027934"/>
            <a:ext cx="52197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3"/>
              </a:rPr>
              <a:t>Real-time reverse transcription PCR (qRT-PCR) and its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3"/>
              </a:rPr>
              <a:t>potential use in clinical diagnosis. Clin Sci 109:365–379.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100" y="3497579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3"/>
              </a:rPr>
              <a:t>DOI: 10.1042/CS20050086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100" y="3921442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4"/>
              </a:rPr>
              <a:t>[3] Zhu H et al. (2020).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" y="4203636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4"/>
              </a:rPr>
              <a:t>PCR past, present and future. BioTechniques 69:317–325.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100" y="4470209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4"/>
              </a:rPr>
              <a:t>DOI: 10.2144/btn-2020-0057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176530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5"/>
              </a:rPr>
              <a:t>[4] Trouchet A et al. (2025).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2047494"/>
            <a:ext cx="52197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5"/>
              </a:rPr>
              <a:t>Digital PCR: from early developments to its future application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5"/>
              </a:rPr>
              <a:t>in clinics. Lab Chip 25:3921–3961.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1714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5"/>
              </a:rPr>
              <a:t>DOI: 10.1039/d5lc00055f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2941002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[5] Green MR, Sambrook J (2012).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3223196"/>
            <a:ext cx="52197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Molecular Cloning: A Laboratory Manual. 4.ª ed. Cold Spring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Harbor Laboratory Press.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CUANTIFICACIÓN, VALIDACIÓN Y ACTUALIZACIÓN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[1–4] Artículos adjuntos · [10–11] Actualizaciones metodológicas.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" y="176530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3"/>
              </a:rPr>
              <a:t>[6] Bustin SA et al. (2009).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" y="2047494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3"/>
              </a:rPr>
              <a:t>The MIQE guidelines. Clin Chem 55:611–622.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100" y="2314067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3"/>
              </a:rPr>
              <a:t>DOI: 10.1373/clinchem.2008.112797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100" y="2737929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4"/>
              </a:rPr>
              <a:t>[7] Livak KJ, Schmittgen TD (2001).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100" y="3020123"/>
            <a:ext cx="5219700" cy="6854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4"/>
              </a:rPr>
              <a:t>Analysis of relative gene expression data using real-time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4"/>
              </a:rPr>
              <a:t>quantitative PCR and the 2−ΔΔCT method. Methods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4"/>
              </a:rPr>
              <a:t>25:402–408.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100" y="3692842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4"/>
              </a:rPr>
              <a:t>DOI: 10.1006/meth.2001.1262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" y="4116704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5"/>
              </a:rPr>
              <a:t>[8] Huggett JF et al. (2013).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100" y="4398899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5"/>
              </a:rPr>
              <a:t>The digital MIQE guidelines. Clin Chem 59:892–902.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100" y="4665472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5"/>
              </a:rPr>
              <a:t>DOI: 10.1373/clinchem.2013.206375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76530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[9] Brown TA (2020).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047494"/>
            <a:ext cx="52197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Gene Cloning and DNA Analysis: An Introduction. 8.ª 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Wiley-Blackwell.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2745740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6"/>
              </a:rPr>
              <a:t>[10] Bustin SA et al. (2025).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3027934"/>
            <a:ext cx="5219700" cy="6854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6"/>
              </a:rPr>
              <a:t>MIQE 2.0: Revision of the Minimum Information for Publication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6"/>
              </a:rPr>
              <a:t>of Quantitative Real-Time PCR Experiments Guidelines. Clin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6"/>
              </a:rPr>
              <a:t>Chem 71:634–651.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0" y="3700653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6"/>
              </a:rPr>
              <a:t>DOI: 10.1093/clinchem/hvaf043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4124515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rPr>
                <a:hlinkClick r:id="rId7"/>
              </a:rPr>
              <a:t>[11] The dMIQE Group, Huggett JF (2020).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4406709"/>
            <a:ext cx="5219700" cy="6854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7"/>
              </a:rPr>
              <a:t>The Digital MIQE Guidelines Update: Minimum Information for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7"/>
              </a:rPr>
              <a:t>Publication of Quantitative Digital PCR Experiments for 2020.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rPr>
                <a:hlinkClick r:id="rId7"/>
              </a:rPr>
              <a:t>Clin Chem 66:1012–1029.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0" y="5079428"/>
            <a:ext cx="52197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7717D"/>
                </a:solidFill>
                <a:latin typeface="DejaVu Sans"/>
              </a:defRPr>
            </a:pPr>
            <a:r>
              <a:rPr>
                <a:hlinkClick r:id="rId7"/>
              </a:rPr>
              <a:t>DOI: 10.1093/clinchem/hvaa125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