
<file path=[Content_Types].xml><?xml version="1.0" encoding="utf-8"?>
<Types xmlns="http://schemas.openxmlformats.org/package/2006/content-types">
  <Default Extension="bin" ContentType="application/vnd.openxmlformats-officedocument.presentationml.printerSettings"/>
  <Default Extension="gif" ContentType="image/gi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Lst>
  <p:sldSz cx="1219196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GWP100</c:v>
                </c:pt>
              </c:strCache>
            </c:strRef>
          </c:tx>
          <c:dPt>
            <c:idx val="0"/>
            <c:spPr>
              <a:solidFill>
                <a:srgbClr val="137F7D"/>
              </a:solidFill>
              <a:ln>
                <a:noFill/>
              </a:ln>
            </c:spPr>
          </c:dPt>
          <c:dPt>
            <c:idx val="1"/>
            <c:spPr>
              <a:solidFill>
                <a:srgbClr val="8060BA"/>
              </a:solidFill>
              <a:ln>
                <a:noFill/>
              </a:ln>
            </c:spPr>
          </c:dPt>
          <c:cat>
            <c:strRef>
              <c:f>Sheet1!$A$2:$A$3</c:f>
              <c:strCache>
                <c:ptCount val="2"/>
                <c:pt idx="0">
                  <c:v>Avena</c:v>
                </c:pt>
                <c:pt idx="1">
                  <c:v>Leche</c:v>
                </c:pt>
              </c:strCache>
            </c:strRef>
          </c:cat>
          <c:val>
            <c:numRef>
              <c:f>Sheet1!$B$2:$B$3</c:f>
              <c:numCache>
                <c:formatCode>General</c:formatCode>
                <c:ptCount val="2"/>
                <c:pt idx="0">
                  <c:v>0.24370855</c:v>
                </c:pt>
                <c:pt idx="1">
                  <c:v>1.89628875</c:v>
                </c:pt>
              </c:numCache>
            </c:numRef>
          </c:val>
        </c:ser>
        <c:dLbls>
          <c:numFmt formatCode="0.00000000" sourceLinked="0"/>
          <c:txPr>
            <a:bodyPr/>
            <a:lstStyle/>
            <a:p>
              <a:pPr>
                <a:defRPr sz="1200" b="1"/>
              </a:pPr>
            </a:p>
          </c:txPr>
          <c:dLblPos val="outEnd"/>
          <c:showLegendKey val="0"/>
          <c:showVal val="1"/>
          <c:showCatName val="0"/>
          <c:showSerName val="0"/>
          <c:showPercent val="0"/>
          <c:showBubbleSize val="0"/>
          <c:showLeaderLines val="1"/>
        </c:dLbls>
        <c:gapWidth val="90"/>
        <c:axId val="-2068027336"/>
        <c:axId val="-2113994440"/>
      </c:barChart>
      <c:catAx>
        <c:axId val="-2068027336"/>
        <c:scaling>
          <c:orientation val="maxMin"/>
        </c:scaling>
        <c:delete val="0"/>
        <c:axPos val="l"/>
        <c:majorTickMark val="none"/>
        <c:minorTickMark val="none"/>
        <c:tickLblPos val="nextTo"/>
        <c:spPr>
          <a:ln>
            <a:noFill/>
          </a:ln>
        </c:spPr>
        <c:txPr>
          <a:bodyPr/>
          <a:lstStyle/>
          <a:p>
            <a:pPr>
              <a:defRPr sz="1600"/>
            </a:pPr>
          </a:p>
        </c:txPr>
        <c:crossAx val="-2113994440"/>
        <c:crosses val="autoZero"/>
        <c:auto val="1"/>
        <c:lblAlgn val="ctr"/>
        <c:lblOffset val="100"/>
        <c:noMultiLvlLbl val="0"/>
      </c:catAx>
      <c:valAx>
        <c:axId val="-2113994440"/>
        <c:scaling>
          <c:max val="2.2"/>
          <c:min val="0.0"/>
        </c:scaling>
        <c:delete val="0"/>
        <c:axPos val="b"/>
        <c:majorGridlines>
          <c:spPr>
            <a:ln>
              <a:solidFill>
                <a:srgbClr val="E0E8F1"/>
              </a:solidFill>
            </a:ln>
          </c:spPr>
        </c:majorGridlines>
        <c:majorTickMark val="none"/>
        <c:minorTickMark val="none"/>
        <c:tickLblPos val="nextTo"/>
        <c:txPr>
          <a:bodyPr/>
          <a:lstStyle/>
          <a:p>
            <a:pPr>
              <a:defRPr sz="1000"/>
            </a:pPr>
          </a:p>
        </c:txPr>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PRINCIPAL 1/22 | 01:00 | Tramo 00:00–01:00</a:t>
            </a:r>
          </a:p>
          <a:p/>
          <a:p>
            <a:r>
              <a:t>Presenta el propósito: aprender a importar un modelo, calcularlo y comprobar lo que devuelve el software. El caso alimentario procede del tema del manual oficial de openLCA 2, pero esta práctica utiliza una minibase propia y datos simulados, sin AGRIBALYSE ni ecoinvent. El resultado no sirve para decidir qué bebida real es mejor. La instalación de Windows se prepara antes de la clase; los cincuenta minutos se dedican a la práctica.</a:t>
            </a:r>
          </a:p>
          <a:p/>
          <a:p>
            <a:r>
              <a:t>Caso oficial del manual openLCA 2 · adaptación didáctica gratuita</a:t>
            </a:r>
          </a:p>
          <a:p>
            <a:r>
              <a:t>Datos simulados. La instalación es preparación previa.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PRINCIPAL 2/22 | 01:30 | Tramo 01:00–02:30</a:t>
            </a:r>
          </a:p>
          <a:p/>
          <a:p>
            <a:r>
              <a:t>Define ACV como un enfoque para estudiar los impactos ambientales potenciales asociados a un sistema de producto y su función. Un proceso no es toda la cadena: electricidad, cultivo, leche cruda y envase contribuyen al modelo. La clase selecciona una frontera reducida para poder verificarla. Distingue el software, que calcula, de los datos y supuestos que se introducen. Un gráfico atractivo no sustituye una buena definición del problema.</a:t>
            </a:r>
          </a:p>
          <a:p/>
          <a:p>
            <a:r>
              <a:t>Introducción conceptual · manual openLCA 2</a:t>
            </a:r>
          </a:p>
          <a:p>
            <a:r>
              <a:t>Datos simulados. La instalación es preparación previa.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PRINCIPAL 3/22 | 02:00 | Tramo 02:30–04:30</a:t>
            </a:r>
          </a:p>
          <a:p/>
          <a:p>
            <a:r>
              <a:t>Recorre los seis procesos del modelo. Se incluyen electricidad, cultivo de avena, leche cruda, envase y preparación de ambas bebidas. Se excluyen distribución, refrigeración en el hogar y fin de vida del envase. La base contiene solo cuatro flujos elementales y no representa un inventario exhaustivo. Pregunta qué cambiaría si se agregara refrigeración o si se comparara una función nutricional. La simplificación es explícita: sirve para aprender el procedimiento y la verificación.</a:t>
            </a:r>
          </a:p>
          <a:p/>
          <a:p>
            <a:r>
              <a:t>Alcance de la minibase docente · todos los inventarios son simulados</a:t>
            </a:r>
          </a:p>
          <a:p>
            <a:r>
              <a:t>Datos simulados. La instalación es preparación previa.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PRINCIPAL 4/22 | 02:00 | Tramo 04:30–06:30</a:t>
            </a:r>
          </a:p>
          <a:p/>
          <a:p>
            <a:r>
              <a:t>Pide una votación y una justificación antes de revelar A. La unidad funcional organiza la comparación; para esta práctica se adopta un litro de bebida lista dentro de la misma frontera. Es una elección didáctica y no implica igual aporte de proteína, energía o nutrientes. También se necesitan supuestos y un alcance comparables. Evita usar el resultado del ejercicio para hacer recomendaciones alimentarias.</a:t>
            </a:r>
          </a:p>
          <a:p/>
          <a:p>
            <a:r>
              <a:t>Unidad funcional adoptada para esta práctica</a:t>
            </a:r>
          </a:p>
          <a:p>
            <a:r>
              <a:t>Datos simulados. La instalación es preparación previa.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PRINCIPAL 5/22 | 01:30 | Tramo 06:30–08:00</a:t>
            </a:r>
          </a:p>
          <a:p/>
          <a:p>
            <a:r>
              <a:t>Explica los cuatro elementos que conviene distinguir: openLCA es el programa; la base guarda unidades, flujos y procesos; el caso contiene los sistemas de bebida; el método transforma inventario en un indicador. El manual oficial utiliza un contexto alimentario y una base con condiciones de licencia. La adaptación conserva el tema y el flujo de trabajo, pero reduce la frontera y usa valores ficticios documentados. Todo lo necesario para el ejercicio se descarga desde GitHub.</a:t>
            </a:r>
          </a:p>
          <a:p/>
          <a:p>
            <a:r>
              <a:t>GreenDelta, openLCA 2 manual, LCA case study; adaptación y datos propios</a:t>
            </a:r>
          </a:p>
          <a:p>
            <a:r>
              <a:t>Datos simulados. La instalación es preparación previa.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PRINCIPAL 6/22 | 01:00 | Tramo 08:00–09:00</a:t>
            </a:r>
          </a:p>
          <a:p/>
          <a:p>
            <a:r>
              <a:t>Confirma que el grupo tiene openLCA abierto y que descargó el paquete del curso. Si alguien aún no instaló el programa, remite al anexo Windows y organiza trabajo en pareja para conservar el tiempo de práctica. El ZIP grande del curso se extrae; los dos ZIP JSON-LD que contiene no se extraen. El software se obtiene en la web oficial y no viene incluido en el paquete de la clase. Anota la versión utilizada.</a:t>
            </a:r>
          </a:p>
          <a:p/>
          <a:p>
            <a:r>
              <a:t>Manual oficial: Download and installation · ruta principal Windows ZIP</a:t>
            </a:r>
          </a:p>
          <a:p>
            <a:r>
              <a:t>Datos simulados. La instalación es preparación previa.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PRINCIPAL 7/22 | 03:00 | Tramo 09:00–12:00</a:t>
            </a:r>
          </a:p>
          <a:p/>
          <a:p>
            <a:r>
              <a:t>Pide crear una base nueva llamada LAB_Bebidas_Grupo01 y seleccionar Empty database. La minibase ya incluye sus unidades y propiedades, por lo que no se necesita la plantilla de referencia completa. Activa la base con doble clic. Abre File → Import; si aparece una opción Other para acceder al selector, ábrela. Elige Data formats of openLCA → JSON package (*.zip), denominado JSON-LD en algunas versiones, y selecciona 01_BASE_DOCENTE_JSONLD.zip. Importa una sola vez. Al terminar deben aparecer cuatro procesos de base y diez flujos.</a:t>
            </a:r>
          </a:p>
          <a:p/>
          <a:p>
            <a:r>
              <a:t>Manual: creación e importación de bases · archivo 01 del curso</a:t>
            </a:r>
          </a:p>
          <a:p>
            <a:r>
              <a:t>Datos simulados. La instalación es preparación previa.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PRINCIPAL 8/22 | 02:00 | Tramo 12:00–14:00</a:t>
            </a:r>
          </a:p>
          <a:p/>
          <a:p>
            <a:r>
              <a:t>Repite el importador JSON package con 02_CASO_BEBIDAS_JSONLD.zip, manteniendo activa la misma base. Los identificadores conectan el caso con la base. No crees una segunda base para el archivo 02. Comprueba seis procesos totales, diez flujos, dos sistemas de producto y un método de impacto. Abre Product systems y localiza DOC_PS_AVENA_1L y DOC_PS_LECHE_1L. Si faltan referencias, revisa el orden de importación y la base activa.</a:t>
            </a:r>
          </a:p>
          <a:p/>
          <a:p>
            <a:r>
              <a:t>Caso docente: dos sistemas preparados para calcular</a:t>
            </a:r>
          </a:p>
          <a:p>
            <a:r>
              <a:t>Datos simulados. La instalación es preparación previa.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PRINCIPAL 9/22 | 02:00 | Tramo 14:00–16:00</a:t>
            </a:r>
          </a:p>
          <a:p/>
          <a:p>
            <a:r>
              <a:t>Abre DOC_PS_LECHE_1L y su Model graph. Identifica la bebida final, leche cruda, envase y electricidad. La electricidad abastece tres procesos, por lo que la red tiene cinco enlaces aunque solo cuatro nodos. Repite la observación con avena: sustituye leche cruda por cultivo de avena. Las entradas tecnológicas deben enlazarse a proveedores; los flujos elementales conectan con el ambiente. Un proveedor sin enlazar puede dejar parte de la cadena fuera del cálculo.</a:t>
            </a:r>
          </a:p>
          <a:p/>
          <a:p>
            <a:r>
              <a:t>Modelo de red incluido en la minibase · proveedores explícitos</a:t>
            </a:r>
          </a:p>
          <a:p>
            <a:r>
              <a:t>Datos simulados. La instalación es preparación previa.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PRINCIPAL 10/22 | 02:00 | Tramo 16:00–18:00</a:t>
            </a:r>
          </a:p>
          <a:p/>
          <a:p>
            <a:r>
              <a:t>Abre un proceso y revisa Inputs/Outputs. La salida de referencia es una unidad del producto indicado por el proceso. El valor de metano de la leche cruda es 0,05 kg por litro; equivale a 50 g. Pide al grupo explicar por qué escribir 50 en una celda con unidad kg sería un error. La base contiene conversiones explícitas de kg a g, L a mL y kWh a MJ. Los inventarios se documentan también en el CSV descargable para verificar cantidades y proveedores.</a:t>
            </a:r>
          </a:p>
          <a:p/>
          <a:p>
            <a:r>
              <a:t>Inventario_docente_por_proceso.csv · conversiones incluidas en la base</a:t>
            </a:r>
          </a:p>
          <a:p>
            <a:r>
              <a:t>Datos simulados. La instalación es preparación previa.</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PRINCIPAL 11/22 | 03:00 | Tramo 18:00–21:00</a:t>
            </a:r>
          </a:p>
          <a:p/>
          <a:p>
            <a:r>
              <a:t>Calcula primero DOC_PS_AVENA_1L. Confirma cantidad 1 y unidad L. Selecciona DOC_GWP100_AR5_3gases como método, sin normalización ni ponderación. El modelo no tiene coproductos, por lo que no se requiere repartir cargas mediante asignación. Repite con DOC_PS_LECHE_1L. Los sistemas ya están creados para que el tiempo se concentre en comprenderlos y revisarlos. Si no aparece el método, confirma que se importó el archivo 01 y que la base correcta está activa.</a:t>
            </a:r>
          </a:p>
          <a:p/>
          <a:p>
            <a:r>
              <a:t>Manual: Calculating a product system · método docente de tres gases</a:t>
            </a:r>
          </a:p>
          <a:p>
            <a:r>
              <a:t>Datos simulados. La instalación es preparación previa.</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PRINCIPAL 12/22 | 03:00 | Tramo 21:00–24:00</a:t>
            </a:r>
          </a:p>
          <a:p/>
          <a:p>
            <a:r>
              <a:t>Localiza CO2, CH4, N2O y agua extraída en Inventory results. Revisa nombres, dirección de entrada o salida y unidades. El inventario incluye las contribuciones de los proveedores, no solo lo que aparece directamente en la bebida final. Copia los valores en la guía y compáralos con la tabla de control. El agua se expresa en litros de recurso extraído en esta simulación, no como huella hídrica. El resultado esperado por litro se incluye para verificar la importación y la red.</a:t>
            </a:r>
          </a:p>
          <a:p/>
          <a:p>
            <a:r>
              <a:t>Valores de control del caso simulado; comprobar en el motor de openLCA</a:t>
            </a:r>
          </a:p>
          <a:p>
            <a:r>
              <a:t>Datos simulados. La instalación es preparación previa.</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PRINCIPAL 13/22 | 03:00 | Tramo 24:00–27:00</a:t>
            </a:r>
          </a:p>
          <a:p/>
          <a:p>
            <a:r>
              <a:t>Muestra cómo se aplican factores a los flujos elementales. La categoría seleccionada utiliza tres factores de GWP100 del contexto AR5, sin retroalimentación clima-carbono. Es una implementación limitada para clase y no el paquete IPCC completo. El resultado esperado es 0,24370855 para avena y 1,89628875 para leche, en kg CO2 equivalente por litro. Estos son resultados del inventario ficticio. No conviertas el orden de las barras en una conclusión sobre alimentos reales o sobre todos los impactos.</a:t>
            </a:r>
          </a:p>
          <a:p/>
          <a:p>
            <a:r>
              <a:t>IPCC (2013), AR5 WGI, cap. 8 · implementación docente limitada</a:t>
            </a:r>
          </a:p>
          <a:p>
            <a:r>
              <a:t>Datos simulados. La instalación es preparación previa.</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PRINCIPAL 14/22 | 04:00 | Tramo 27:00–31:00</a:t>
            </a:r>
          </a:p>
          <a:p/>
          <a:p>
            <a:r>
              <a:t>Pide multiplicar 0,39 kg de CO2 por 1; 0,050007 kg de CH4 por 28; y 0,00040035 kg de N2O por 265. La suma es 1,89628875 kg CO2 equivalente. Dedica dos minutos al trabajo y el resto al contraste. Explica que esto comprueba la caracterización del inventario importado, pero no demuestra que los inventarios sean representativos de un producto real. La guía también incluye una cuenta ascendente para comprobar la contribución eléctrica y la red.</a:t>
            </a:r>
          </a:p>
          <a:p/>
          <a:p>
            <a:r>
              <a:t>Comprobación independiente del método de tres gases</a:t>
            </a:r>
          </a:p>
          <a:p>
            <a:r>
              <a:t>Datos simulados. La instalación es preparación previa.</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PRINCIPAL 15/22 | 03:00 | Tramo 31:00–34:00</a:t>
            </a:r>
          </a:p>
          <a:p/>
          <a:p>
            <a:r>
              <a:t>Revisa cuatro capas. Primero, integridad del archivo y origen. Segundo, unidades, referencias y proveedores. Tercero, consistencia numérica de inventario y método. Cuarto, procedencia, fecha, tecnología, geografía y alcance. Ejecuta Database → Validate y revisa Check linking properties. Cero errores estructurales no significa que el inventario sea real, completo o adecuado para otra pregunta. En esta práctica la representatividad está deliberadamente limitada: los valores son simulados y las exclusiones están documentadas.</a:t>
            </a:r>
          </a:p>
          <a:p/>
          <a:p>
            <a:r>
              <a:t>Manual: Validation; Database → Validate; Check linking properties</a:t>
            </a:r>
          </a:p>
          <a:p>
            <a:r>
              <a:t>Datos simulados. La instalación es preparación previa.</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PRINCIPAL 16/22 | 02:00 | Tramo 34:00–36:00</a:t>
            </a:r>
          </a:p>
          <a:p/>
          <a:p>
            <a:r>
              <a:t>Abre LCIA checks. Los tres gases tienen factor en el método docente; el agua extraída no. Eso no demuestra que extraer agua no produzca impactos, sino que esta categoría de cambio climático no evalúa ese aspecto. En modelos reales, también puede haber flujos sin evaluar por incompatibilidad de identificadores o compartimentos. No añadas factores arbitrarios para hacer desaparecer una lista de avisos. Interpreta cada flujo según la categoría y la documentación.</a:t>
            </a:r>
          </a:p>
          <a:p/>
          <a:p>
            <a:r>
              <a:t>Manual: LCIA checks · cobertura intencional de la categoría docente</a:t>
            </a:r>
          </a:p>
          <a:p>
            <a:r>
              <a:t>Datos simulados. La instalación es preparación previa.</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PRINCIPAL 17/22 | 02:00 | Tramo 36:00–38:00</a:t>
            </a:r>
          </a:p>
          <a:p/>
          <a:p>
            <a:r>
              <a:t>Haz calcular uno de los sistemas a 2 L. En este modelo lineal, todos los flujos y el indicador se duplican. Para leche se esperan 3,79257750 kg CO2 equivalente; para avena, 0,48741710. Si no sucede, verifica cantidad, unidad y que se comparan el mismo sistema y la misma configuración. Vuelve a 1 L al terminar. Esta prueba revisa el escalado del modelo; no representa economías de escala ni un cambio tecnológico.</a:t>
            </a:r>
          </a:p>
          <a:p/>
          <a:p>
            <a:r>
              <a:t>Prueba de consistencia lineal del caso docente</a:t>
            </a:r>
          </a:p>
          <a:p>
            <a:r>
              <a:t>Datos simulados. La instalación es preparación previa.</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PRINCIPAL 18/22 | 04:00 | Tramo 38:00–42:00</a:t>
            </a:r>
          </a:p>
          <a:p/>
          <a:p>
            <a:r>
              <a:t>Guarda primero el resultado base. Abre el proceso de leche cruda, localiza el parámetro ch4_ent, cambia 0,05 a 0,04 y guarda. Recalcula DOC_PS_LECHE_1L a 1 L. El nuevo indicador debe ser 1,61628875; la diferencia absoluta es menos 0,28 kg CO2 equivalente. La reducción porcentual del indicador total no es 20 % porque también hay otras contribuciones. Es un cambio hipotético para estudiar sensibilidad y no una intervención zootécnica demostrada. Restaura ch4_ent a 0,05 y comprueba el resultado base.</a:t>
            </a:r>
          </a:p>
          <a:p/>
          <a:p>
            <a:r>
              <a:t>Sensibilidad de un parámetro simulado; conservar y restaurar la línea base</a:t>
            </a:r>
          </a:p>
          <a:p>
            <a:r>
              <a:t>Datos simulados. La instalación es preparación previa.</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PRINCIPAL 19/22 | 02:00 | Tramo 42:00–44:00</a:t>
            </a:r>
          </a:p>
          <a:p/>
          <a:p>
            <a:r>
              <a:t>Pide una conclusión con alcance: la importación, los enlaces y el cálculo son coherentes bajo los supuestos docentes. Para una comparación real se requieren inventarios representativos, una función apropiada, categorías relevantes, revisión del alcance y tratamiento de incertidumbre. El litro no establece equivalencia nutricional. La simulación tampoco describe biodiversidad, eutrofización o uso del suelo. Vincula el ejemplo con ciencias biológicas: producción primaria, metano, nitrógeno y la necesidad de datos bien documentados.</a:t>
            </a:r>
          </a:p>
          <a:p/>
          <a:p>
            <a:r>
              <a:t>Límites explícitos del inventario, la frontera y el método docente</a:t>
            </a:r>
          </a:p>
          <a:p>
            <a:r>
              <a:t>Datos simulados. La instalación es preparación previa.</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PRINCIPAL 20/22 | 03:00 | Tramo 44:00–47:00</a:t>
            </a:r>
          </a:p>
          <a:p/>
          <a:p>
            <a:r>
              <a:t>Solicita una captura del modelo, la tabla de inventario de 1 L, el indicador base y el resultado de sensibilidad. Adjunta una explicación del flujo agua sin factor y una conclusión limitada al ejercicio. La guía Word contiene campos para completar y una rúbrica breve. Al exportar resultados, conserva los nombres y unidades de las columnas. Registra la versión del programa, los nombres de los ZIP y el método. Comprueba que la base quedó restaurada al valor inicial.</a:t>
            </a:r>
          </a:p>
          <a:p/>
          <a:p>
            <a:r>
              <a:t>Registro reproducible y evidencia solicitada en la guía</a:t>
            </a:r>
          </a:p>
          <a:p>
            <a:r>
              <a:t>Datos simulados. La instalación es preparación previa.</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PRINCIPAL 21/22 | 02:00 | Tramo 47:00–49:00</a:t>
            </a:r>
          </a:p>
          <a:p/>
          <a:p>
            <a:r>
              <a:t>Haz votar antes de revelar B. Pide una frase que distinga ausencia de un factor y ausencia de impacto. Usa las otras opciones para reconocer errores frecuentes: suponer impacto nulo o incorporar un factor sin fuente y sin correspondencia. Esta pregunta conecta cálculo y criterio científico. Si queda tiempo, pide otro control que hayan usado: unidades, proveedor, cuenta manual, escalado o restauración del parámetro.</a:t>
            </a:r>
          </a:p>
          <a:p/>
          <a:p>
            <a:r>
              <a:t>Evaluación de salida · LCIA checks e interpretación de resultados</a:t>
            </a:r>
          </a:p>
          <a:p>
            <a:r>
              <a:t>Datos simulados. La instalación es preparación previa.</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PRINCIPAL 22/22 | 01:00 | Tramo 49:00–50:00</a:t>
            </a:r>
          </a:p>
          <a:p/>
          <a:p>
            <a:r>
              <a:t>Resume lo realizado: importar una base y un caso, revisar el sistema, calcular inventario e impacto, contrastar la cuenta y explorar sensibilidad. Destaca que saber usar el programa incluye saber reconocer qué no responde. Remite a la guía, los resultados de control y las fuentes oficiales para continuar. El siguiente nivel sería trabajar con datos representativos y métodos apropiados para una pregunta biológica definida.</a:t>
            </a:r>
          </a:p>
          <a:p/>
          <a:p>
            <a:r>
              <a:t>Emilia Espín Loza · práctica docente de openLCA</a:t>
            </a:r>
          </a:p>
          <a:p>
            <a:r>
              <a:t>Datos simulados. La instalación es preparación previa.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6.xml"/><Relationship Id="rId3" Type="http://schemas.openxmlformats.org/officeDocument/2006/relationships/slide" Target="slide7.xml"/><Relationship Id="rId4" Type="http://schemas.openxmlformats.org/officeDocument/2006/relationships/slide" Target="slide11.xml"/><Relationship Id="rId5" Type="http://schemas.openxmlformats.org/officeDocument/2006/relationships/slide" Target="slide14.xml"/><Relationship Id="rId6" Type="http://schemas.openxmlformats.org/officeDocument/2006/relationships/slide" Target="slide23.xml"/><Relationship Id="rId7" Type="http://schemas.openxmlformats.org/officeDocument/2006/relationships/notesSlide" Target="../notesSlides/notesSlide1.xml"/><Relationship Id="rId8"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6.xml"/><Relationship Id="rId3" Type="http://schemas.openxmlformats.org/officeDocument/2006/relationships/slide" Target="slide7.xml"/><Relationship Id="rId4" Type="http://schemas.openxmlformats.org/officeDocument/2006/relationships/slide" Target="slide11.xml"/><Relationship Id="rId5" Type="http://schemas.openxmlformats.org/officeDocument/2006/relationships/slide" Target="slide14.xml"/><Relationship Id="rId6" Type="http://schemas.openxmlformats.org/officeDocument/2006/relationships/slide" Target="slide23.xml"/><Relationship Id="rId7" Type="http://schemas.openxmlformats.org/officeDocument/2006/relationships/notesSlide" Target="../notesSlides/notesSlide2.xml"/><Relationship Id="rId8"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6.xml"/><Relationship Id="rId3" Type="http://schemas.openxmlformats.org/officeDocument/2006/relationships/slide" Target="slide7.xml"/><Relationship Id="rId4" Type="http://schemas.openxmlformats.org/officeDocument/2006/relationships/slide" Target="slide11.xml"/><Relationship Id="rId5" Type="http://schemas.openxmlformats.org/officeDocument/2006/relationships/slide" Target="slide14.xml"/><Relationship Id="rId6" Type="http://schemas.openxmlformats.org/officeDocument/2006/relationships/slide" Target="slide23.xml"/><Relationship Id="rId7" Type="http://schemas.openxmlformats.org/officeDocument/2006/relationships/notesSlide" Target="../notesSlides/notesSlide3.xml"/><Relationship Id="rId8"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6.xml"/><Relationship Id="rId3" Type="http://schemas.openxmlformats.org/officeDocument/2006/relationships/slide" Target="slide7.xml"/><Relationship Id="rId4" Type="http://schemas.openxmlformats.org/officeDocument/2006/relationships/slide" Target="slide11.xml"/><Relationship Id="rId5" Type="http://schemas.openxmlformats.org/officeDocument/2006/relationships/slide" Target="slide14.xml"/><Relationship Id="rId6" Type="http://schemas.openxmlformats.org/officeDocument/2006/relationships/slide" Target="slide23.xml"/><Relationship Id="rId7" Type="http://schemas.openxmlformats.org/officeDocument/2006/relationships/notesSlide" Target="../notesSlides/notesSlide4.xml"/><Relationship Id="rId8" Type="http://schemas.openxmlformats.org/officeDocument/2006/relationships/image" Target="../media/image3.png"/><Relationship Id="rId9" Type="http://schemas.openxmlformats.org/officeDocument/2006/relationships/slide" Target="slide2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6.xml"/><Relationship Id="rId3" Type="http://schemas.openxmlformats.org/officeDocument/2006/relationships/slide" Target="slide7.xml"/><Relationship Id="rId4" Type="http://schemas.openxmlformats.org/officeDocument/2006/relationships/slide" Target="slide11.xml"/><Relationship Id="rId5" Type="http://schemas.openxmlformats.org/officeDocument/2006/relationships/slide" Target="slide14.xml"/><Relationship Id="rId6" Type="http://schemas.openxmlformats.org/officeDocument/2006/relationships/slide" Target="slide23.xml"/><Relationship Id="rId7" Type="http://schemas.openxmlformats.org/officeDocument/2006/relationships/notesSlide" Target="../notesSlides/notesSlide5.xml"/><Relationship Id="rId8" Type="http://schemas.openxmlformats.org/officeDocument/2006/relationships/image" Target="../media/image4.png"/><Relationship Id="rId9" Type="http://schemas.openxmlformats.org/officeDocument/2006/relationships/hyperlink" Target="https://github.com/GreenDelta/openLCA2-manual/blob/ae0588e4c013cca18ec1bf136cc144457d032541/src/conceptual_guideline.md"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6.xml"/><Relationship Id="rId3" Type="http://schemas.openxmlformats.org/officeDocument/2006/relationships/slide" Target="slide7.xml"/><Relationship Id="rId4" Type="http://schemas.openxmlformats.org/officeDocument/2006/relationships/slide" Target="slide11.xml"/><Relationship Id="rId5" Type="http://schemas.openxmlformats.org/officeDocument/2006/relationships/slide" Target="slide14.xml"/><Relationship Id="rId6" Type="http://schemas.openxmlformats.org/officeDocument/2006/relationships/slide" Target="slide23.xml"/><Relationship Id="rId7" Type="http://schemas.openxmlformats.org/officeDocument/2006/relationships/notesSlide" Target="../notesSlides/notesSlide6.xml"/><Relationship Id="rId8" Type="http://schemas.openxmlformats.org/officeDocument/2006/relationships/image" Target="../media/image5.png"/><Relationship Id="rId9" Type="http://schemas.openxmlformats.org/officeDocument/2006/relationships/hyperlink" Target="https://www.openlca.org/download/" TargetMode="External"/><Relationship Id="rId10" Type="http://schemas.openxmlformats.org/officeDocument/2006/relationships/hyperlink" Target="https://github.com/espinemilia02-design/Clases2026/raw/refs/heads/main/clase_openlca_50min/01_BASE_DOCENTE_JSONLD.zip" TargetMode="External"/><Relationship Id="rId11" Type="http://schemas.openxmlformats.org/officeDocument/2006/relationships/hyperlink" Target="https://github.com/espinemilia02-design/Clases2026/raw/refs/heads/main/clase_openlca_50min/02_CASO_BEBIDAS_JSONLD.zip" TargetMode="External"/><Relationship Id="rId12" Type="http://schemas.openxmlformats.org/officeDocument/2006/relationships/slide" Target="slide2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6.xml"/><Relationship Id="rId3" Type="http://schemas.openxmlformats.org/officeDocument/2006/relationships/slide" Target="slide7.xml"/><Relationship Id="rId4" Type="http://schemas.openxmlformats.org/officeDocument/2006/relationships/slide" Target="slide11.xml"/><Relationship Id="rId5" Type="http://schemas.openxmlformats.org/officeDocument/2006/relationships/slide" Target="slide14.xml"/><Relationship Id="rId6" Type="http://schemas.openxmlformats.org/officeDocument/2006/relationships/slide" Target="slide23.xml"/><Relationship Id="rId7" Type="http://schemas.openxmlformats.org/officeDocument/2006/relationships/notesSlide" Target="../notesSlides/notesSlide7.xml"/><Relationship Id="rId8"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6.xml"/><Relationship Id="rId3" Type="http://schemas.openxmlformats.org/officeDocument/2006/relationships/slide" Target="slide7.xml"/><Relationship Id="rId4" Type="http://schemas.openxmlformats.org/officeDocument/2006/relationships/slide" Target="slide11.xml"/><Relationship Id="rId5" Type="http://schemas.openxmlformats.org/officeDocument/2006/relationships/slide" Target="slide14.xml"/><Relationship Id="rId6" Type="http://schemas.openxmlformats.org/officeDocument/2006/relationships/slide" Target="slide23.xml"/><Relationship Id="rId7" Type="http://schemas.openxmlformats.org/officeDocument/2006/relationships/notesSlide" Target="../notesSlides/notesSlide8.xml"/><Relationship Id="rId8"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6.xml"/><Relationship Id="rId3" Type="http://schemas.openxmlformats.org/officeDocument/2006/relationships/slide" Target="slide7.xml"/><Relationship Id="rId4" Type="http://schemas.openxmlformats.org/officeDocument/2006/relationships/slide" Target="slide11.xml"/><Relationship Id="rId5" Type="http://schemas.openxmlformats.org/officeDocument/2006/relationships/slide" Target="slide14.xml"/><Relationship Id="rId6" Type="http://schemas.openxmlformats.org/officeDocument/2006/relationships/slide" Target="slide23.xml"/><Relationship Id="rId7" Type="http://schemas.openxmlformats.org/officeDocument/2006/relationships/notesSlide" Target="../notesSlides/notesSlide9.xml"/><Relationship Id="rId8" Type="http://schemas.openxmlformats.org/officeDocument/2006/relationships/image" Target="../media/image8.gi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6.xml"/><Relationship Id="rId3" Type="http://schemas.openxmlformats.org/officeDocument/2006/relationships/slide" Target="slide7.xml"/><Relationship Id="rId4" Type="http://schemas.openxmlformats.org/officeDocument/2006/relationships/slide" Target="slide11.xml"/><Relationship Id="rId5" Type="http://schemas.openxmlformats.org/officeDocument/2006/relationships/slide" Target="slide14.xml"/><Relationship Id="rId6" Type="http://schemas.openxmlformats.org/officeDocument/2006/relationships/slide" Target="slide23.xml"/><Relationship Id="rId7" Type="http://schemas.openxmlformats.org/officeDocument/2006/relationships/notesSlide" Target="../notesSlides/notesSlide10.xml"/><Relationship Id="rId8"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6.xml"/><Relationship Id="rId3" Type="http://schemas.openxmlformats.org/officeDocument/2006/relationships/slide" Target="slide7.xml"/><Relationship Id="rId4" Type="http://schemas.openxmlformats.org/officeDocument/2006/relationships/slide" Target="slide11.xml"/><Relationship Id="rId5" Type="http://schemas.openxmlformats.org/officeDocument/2006/relationships/slide" Target="slide14.xml"/><Relationship Id="rId6" Type="http://schemas.openxmlformats.org/officeDocument/2006/relationships/slide" Target="slide23.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6.xml"/><Relationship Id="rId3" Type="http://schemas.openxmlformats.org/officeDocument/2006/relationships/slide" Target="slide7.xml"/><Relationship Id="rId4" Type="http://schemas.openxmlformats.org/officeDocument/2006/relationships/slide" Target="slide11.xml"/><Relationship Id="rId5" Type="http://schemas.openxmlformats.org/officeDocument/2006/relationships/slide" Target="slide14.xml"/><Relationship Id="rId6" Type="http://schemas.openxmlformats.org/officeDocument/2006/relationships/slide" Target="slide23.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6.xml"/><Relationship Id="rId3" Type="http://schemas.openxmlformats.org/officeDocument/2006/relationships/slide" Target="slide7.xml"/><Relationship Id="rId4" Type="http://schemas.openxmlformats.org/officeDocument/2006/relationships/slide" Target="slide11.xml"/><Relationship Id="rId5" Type="http://schemas.openxmlformats.org/officeDocument/2006/relationships/slide" Target="slide14.xml"/><Relationship Id="rId6" Type="http://schemas.openxmlformats.org/officeDocument/2006/relationships/slide" Target="slide23.xml"/><Relationship Id="rId7" Type="http://schemas.openxmlformats.org/officeDocument/2006/relationships/notesSlide" Target="../notesSlides/notesSlide13.xml"/><Relationship Id="rId8" Type="http://schemas.openxmlformats.org/officeDocument/2006/relationships/chart" Target="../charts/chart1.xml"/><Relationship Id="rId9"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6.xml"/><Relationship Id="rId3" Type="http://schemas.openxmlformats.org/officeDocument/2006/relationships/slide" Target="slide7.xml"/><Relationship Id="rId4" Type="http://schemas.openxmlformats.org/officeDocument/2006/relationships/slide" Target="slide11.xml"/><Relationship Id="rId5" Type="http://schemas.openxmlformats.org/officeDocument/2006/relationships/slide" Target="slide14.xml"/><Relationship Id="rId6" Type="http://schemas.openxmlformats.org/officeDocument/2006/relationships/slide" Target="slide23.xml"/><Relationship Id="rId7" Type="http://schemas.openxmlformats.org/officeDocument/2006/relationships/notesSlide" Target="../notesSlides/notesSlide14.xml"/><Relationship Id="rId8" Type="http://schemas.openxmlformats.org/officeDocument/2006/relationships/slide" Target="slide2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6.xml"/><Relationship Id="rId3" Type="http://schemas.openxmlformats.org/officeDocument/2006/relationships/slide" Target="slide7.xml"/><Relationship Id="rId4" Type="http://schemas.openxmlformats.org/officeDocument/2006/relationships/slide" Target="slide11.xml"/><Relationship Id="rId5" Type="http://schemas.openxmlformats.org/officeDocument/2006/relationships/slide" Target="slide14.xml"/><Relationship Id="rId6" Type="http://schemas.openxmlformats.org/officeDocument/2006/relationships/slide" Target="slide23.xml"/><Relationship Id="rId7" Type="http://schemas.openxmlformats.org/officeDocument/2006/relationships/notesSlide" Target="../notesSlides/notesSlide15.xml"/><Relationship Id="rId8"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6.xml"/><Relationship Id="rId3" Type="http://schemas.openxmlformats.org/officeDocument/2006/relationships/slide" Target="slide7.xml"/><Relationship Id="rId4" Type="http://schemas.openxmlformats.org/officeDocument/2006/relationships/slide" Target="slide11.xml"/><Relationship Id="rId5" Type="http://schemas.openxmlformats.org/officeDocument/2006/relationships/slide" Target="slide14.xml"/><Relationship Id="rId6" Type="http://schemas.openxmlformats.org/officeDocument/2006/relationships/slide" Target="slide23.xml"/><Relationship Id="rId7" Type="http://schemas.openxmlformats.org/officeDocument/2006/relationships/notesSlide" Target="../notesSlides/notesSlide16.xml"/><Relationship Id="rId8"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6.xml"/><Relationship Id="rId3" Type="http://schemas.openxmlformats.org/officeDocument/2006/relationships/slide" Target="slide7.xml"/><Relationship Id="rId4" Type="http://schemas.openxmlformats.org/officeDocument/2006/relationships/slide" Target="slide11.xml"/><Relationship Id="rId5" Type="http://schemas.openxmlformats.org/officeDocument/2006/relationships/slide" Target="slide14.xml"/><Relationship Id="rId6" Type="http://schemas.openxmlformats.org/officeDocument/2006/relationships/slide" Target="slide23.xml"/><Relationship Id="rId7" Type="http://schemas.openxmlformats.org/officeDocument/2006/relationships/notesSlide" Target="../notesSlides/notesSlide17.xml"/><Relationship Id="rId8" Type="http://schemas.openxmlformats.org/officeDocument/2006/relationships/slide" Target="slide2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6.xml"/><Relationship Id="rId3" Type="http://schemas.openxmlformats.org/officeDocument/2006/relationships/slide" Target="slide7.xml"/><Relationship Id="rId4" Type="http://schemas.openxmlformats.org/officeDocument/2006/relationships/slide" Target="slide11.xml"/><Relationship Id="rId5" Type="http://schemas.openxmlformats.org/officeDocument/2006/relationships/slide" Target="slide14.xml"/><Relationship Id="rId6" Type="http://schemas.openxmlformats.org/officeDocument/2006/relationships/slide" Target="slide23.xml"/><Relationship Id="rId7" Type="http://schemas.openxmlformats.org/officeDocument/2006/relationships/notesSlide" Target="../notesSlides/notesSlide18.xml"/><Relationship Id="rId8" Type="http://schemas.openxmlformats.org/officeDocument/2006/relationships/slide" Target="slide2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6.xml"/><Relationship Id="rId3" Type="http://schemas.openxmlformats.org/officeDocument/2006/relationships/slide" Target="slide7.xml"/><Relationship Id="rId4" Type="http://schemas.openxmlformats.org/officeDocument/2006/relationships/slide" Target="slide11.xml"/><Relationship Id="rId5" Type="http://schemas.openxmlformats.org/officeDocument/2006/relationships/slide" Target="slide14.xml"/><Relationship Id="rId6" Type="http://schemas.openxmlformats.org/officeDocument/2006/relationships/slide" Target="slide23.xml"/><Relationship Id="rId7" Type="http://schemas.openxmlformats.org/officeDocument/2006/relationships/notesSlide" Target="../notesSlides/notesSlide19.xml"/><Relationship Id="rId8" Type="http://schemas.openxmlformats.org/officeDocument/2006/relationships/image" Target="../media/image13.png"/><Relationship Id="rId9" Type="http://schemas.openxmlformats.org/officeDocument/2006/relationships/image" Target="../media/image14.png"/><Relationship Id="rId10" Type="http://schemas.openxmlformats.org/officeDocument/2006/relationships/image" Target="../media/image1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6.xml"/><Relationship Id="rId3" Type="http://schemas.openxmlformats.org/officeDocument/2006/relationships/slide" Target="slide7.xml"/><Relationship Id="rId4" Type="http://schemas.openxmlformats.org/officeDocument/2006/relationships/slide" Target="slide11.xml"/><Relationship Id="rId5" Type="http://schemas.openxmlformats.org/officeDocument/2006/relationships/slide" Target="slide14.xml"/><Relationship Id="rId6" Type="http://schemas.openxmlformats.org/officeDocument/2006/relationships/slide" Target="slide23.xml"/><Relationship Id="rId7" Type="http://schemas.openxmlformats.org/officeDocument/2006/relationships/notesSlide" Target="../notesSlides/notesSlide20.xml"/><Relationship Id="rId8" Type="http://schemas.openxmlformats.org/officeDocument/2006/relationships/image" Target="../media/image1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6.xml"/><Relationship Id="rId3" Type="http://schemas.openxmlformats.org/officeDocument/2006/relationships/slide" Target="slide7.xml"/><Relationship Id="rId4" Type="http://schemas.openxmlformats.org/officeDocument/2006/relationships/slide" Target="slide11.xml"/><Relationship Id="rId5" Type="http://schemas.openxmlformats.org/officeDocument/2006/relationships/slide" Target="slide14.xml"/><Relationship Id="rId6" Type="http://schemas.openxmlformats.org/officeDocument/2006/relationships/slide" Target="slide23.xml"/><Relationship Id="rId7" Type="http://schemas.openxmlformats.org/officeDocument/2006/relationships/notesSlide" Target="../notesSlides/notesSlide21.xml"/><Relationship Id="rId8" Type="http://schemas.openxmlformats.org/officeDocument/2006/relationships/image" Target="../media/image3.png"/><Relationship Id="rId9" Type="http://schemas.openxmlformats.org/officeDocument/2006/relationships/slide" Target="slide2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6.xml"/><Relationship Id="rId3" Type="http://schemas.openxmlformats.org/officeDocument/2006/relationships/slide" Target="slide7.xml"/><Relationship Id="rId4" Type="http://schemas.openxmlformats.org/officeDocument/2006/relationships/slide" Target="slide11.xml"/><Relationship Id="rId5" Type="http://schemas.openxmlformats.org/officeDocument/2006/relationships/slide" Target="slide14.xml"/><Relationship Id="rId6" Type="http://schemas.openxmlformats.org/officeDocument/2006/relationships/slide" Target="slide23.xml"/><Relationship Id="rId7" Type="http://schemas.openxmlformats.org/officeDocument/2006/relationships/notesSlide" Target="../notesSlides/notesSlide22.xml"/><Relationship Id="rId8" Type="http://schemas.openxmlformats.org/officeDocument/2006/relationships/image" Target="../media/image11.png"/><Relationship Id="rId9" Type="http://schemas.openxmlformats.org/officeDocument/2006/relationships/hyperlink" Target="https://github.com/espinemilia02-design/Clases2026/raw/refs/heads/main/clase_openlca_50min/Guia_laboratorio_openLCA_50min.docx" TargetMode="External"/><Relationship Id="rId10" Type="http://schemas.openxmlformats.org/officeDocument/2006/relationships/hyperlink" Target="https://github.com/espinemilia02-design/Clases2026/raw/refs/heads/main/clase_openlca_50min/Verificacion_motor_openLCA_2_6_2.json"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6.xml"/><Relationship Id="rId3" Type="http://schemas.openxmlformats.org/officeDocument/2006/relationships/slide" Target="slide7.xml"/><Relationship Id="rId4" Type="http://schemas.openxmlformats.org/officeDocument/2006/relationships/slide" Target="slide11.xml"/><Relationship Id="rId5" Type="http://schemas.openxmlformats.org/officeDocument/2006/relationships/slide" Target="slide14.xml"/><Relationship Id="rId6" Type="http://schemas.openxmlformats.org/officeDocument/2006/relationships/slide" Target="slide23.xml"/><Relationship Id="rId7" Type="http://schemas.openxmlformats.org/officeDocument/2006/relationships/slide" Target="slide1.xml"/><Relationship Id="rId8" Type="http://schemas.openxmlformats.org/officeDocument/2006/relationships/slide" Target="slide2.xml"/><Relationship Id="rId9" Type="http://schemas.openxmlformats.org/officeDocument/2006/relationships/slide" Target="slide3.xml"/><Relationship Id="rId10" Type="http://schemas.openxmlformats.org/officeDocument/2006/relationships/slide" Target="slide4.xml"/><Relationship Id="rId11" Type="http://schemas.openxmlformats.org/officeDocument/2006/relationships/slide" Target="slide5.xml"/><Relationship Id="rId12" Type="http://schemas.openxmlformats.org/officeDocument/2006/relationships/slide" Target="slide8.xml"/><Relationship Id="rId13" Type="http://schemas.openxmlformats.org/officeDocument/2006/relationships/slide" Target="slide9.xml"/><Relationship Id="rId14" Type="http://schemas.openxmlformats.org/officeDocument/2006/relationships/slide" Target="slide10.xml"/><Relationship Id="rId15" Type="http://schemas.openxmlformats.org/officeDocument/2006/relationships/slide" Target="slide12.xml"/><Relationship Id="rId16" Type="http://schemas.openxmlformats.org/officeDocument/2006/relationships/slide" Target="slide13.xml"/><Relationship Id="rId17" Type="http://schemas.openxmlformats.org/officeDocument/2006/relationships/slide" Target="slide15.xml"/><Relationship Id="rId18" Type="http://schemas.openxmlformats.org/officeDocument/2006/relationships/slide" Target="slide16.xml"/><Relationship Id="rId19" Type="http://schemas.openxmlformats.org/officeDocument/2006/relationships/slide" Target="slide17.xml"/><Relationship Id="rId20" Type="http://schemas.openxmlformats.org/officeDocument/2006/relationships/slide" Target="slide18.xml"/><Relationship Id="rId21" Type="http://schemas.openxmlformats.org/officeDocument/2006/relationships/slide" Target="slide19.xml"/><Relationship Id="rId22" Type="http://schemas.openxmlformats.org/officeDocument/2006/relationships/slide" Target="slide20.xml"/><Relationship Id="rId23" Type="http://schemas.openxmlformats.org/officeDocument/2006/relationships/slide" Target="slide21.xml"/><Relationship Id="rId24" Type="http://schemas.openxmlformats.org/officeDocument/2006/relationships/slide" Target="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6.xml"/><Relationship Id="rId3" Type="http://schemas.openxmlformats.org/officeDocument/2006/relationships/slide" Target="slide7.xml"/><Relationship Id="rId4" Type="http://schemas.openxmlformats.org/officeDocument/2006/relationships/slide" Target="slide11.xml"/><Relationship Id="rId5" Type="http://schemas.openxmlformats.org/officeDocument/2006/relationships/slide" Target="slide14.xml"/><Relationship Id="rId6" Type="http://schemas.openxmlformats.org/officeDocument/2006/relationships/slide" Target="slide23.xml"/><Relationship Id="rId7" Type="http://schemas.openxmlformats.org/officeDocument/2006/relationships/slide" Target="slide4.xml"/><Relationship Id="rId8" Type="http://schemas.openxmlformats.org/officeDocument/2006/relationships/slide" Target="slide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6.xml"/><Relationship Id="rId3" Type="http://schemas.openxmlformats.org/officeDocument/2006/relationships/slide" Target="slide7.xml"/><Relationship Id="rId4" Type="http://schemas.openxmlformats.org/officeDocument/2006/relationships/slide" Target="slide11.xml"/><Relationship Id="rId5" Type="http://schemas.openxmlformats.org/officeDocument/2006/relationships/slide" Target="slide14.xml"/><Relationship Id="rId6" Type="http://schemas.openxmlformats.org/officeDocument/2006/relationships/slide" Target="slide23.xml"/><Relationship Id="rId7" Type="http://schemas.openxmlformats.org/officeDocument/2006/relationships/slide" Target="slide21.xml"/><Relationship Id="rId8" Type="http://schemas.openxmlformats.org/officeDocument/2006/relationships/slide" Target="slide2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6.xml"/><Relationship Id="rId3" Type="http://schemas.openxmlformats.org/officeDocument/2006/relationships/slide" Target="slide7.xml"/><Relationship Id="rId4" Type="http://schemas.openxmlformats.org/officeDocument/2006/relationships/slide" Target="slide11.xml"/><Relationship Id="rId5" Type="http://schemas.openxmlformats.org/officeDocument/2006/relationships/slide" Target="slide14.xml"/><Relationship Id="rId6" Type="http://schemas.openxmlformats.org/officeDocument/2006/relationships/slide" Target="slide23.xml"/><Relationship Id="rId7" Type="http://schemas.openxmlformats.org/officeDocument/2006/relationships/slide" Target="slide1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6.xml"/><Relationship Id="rId3" Type="http://schemas.openxmlformats.org/officeDocument/2006/relationships/slide" Target="slide7.xml"/><Relationship Id="rId4" Type="http://schemas.openxmlformats.org/officeDocument/2006/relationships/slide" Target="slide11.xml"/><Relationship Id="rId5" Type="http://schemas.openxmlformats.org/officeDocument/2006/relationships/slide" Target="slide14.xml"/><Relationship Id="rId6" Type="http://schemas.openxmlformats.org/officeDocument/2006/relationships/slide" Target="slide23.xml"/><Relationship Id="rId7" Type="http://schemas.openxmlformats.org/officeDocument/2006/relationships/slide" Target="slide17.xml"/><Relationship Id="rId8" Type="http://schemas.openxmlformats.org/officeDocument/2006/relationships/slide" Target="slide1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6.xml"/><Relationship Id="rId3" Type="http://schemas.openxmlformats.org/officeDocument/2006/relationships/slide" Target="slide7.xml"/><Relationship Id="rId4" Type="http://schemas.openxmlformats.org/officeDocument/2006/relationships/slide" Target="slide11.xml"/><Relationship Id="rId5" Type="http://schemas.openxmlformats.org/officeDocument/2006/relationships/slide" Target="slide14.xml"/><Relationship Id="rId6" Type="http://schemas.openxmlformats.org/officeDocument/2006/relationships/slide" Target="slide23.xml"/><Relationship Id="rId7" Type="http://schemas.openxmlformats.org/officeDocument/2006/relationships/slide" Target="slide18.xml"/><Relationship Id="rId8" Type="http://schemas.openxmlformats.org/officeDocument/2006/relationships/slide" Target="slide1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6.xml"/><Relationship Id="rId3" Type="http://schemas.openxmlformats.org/officeDocument/2006/relationships/slide" Target="slide7.xml"/><Relationship Id="rId4" Type="http://schemas.openxmlformats.org/officeDocument/2006/relationships/slide" Target="slide11.xml"/><Relationship Id="rId5" Type="http://schemas.openxmlformats.org/officeDocument/2006/relationships/slide" Target="slide14.xml"/><Relationship Id="rId6" Type="http://schemas.openxmlformats.org/officeDocument/2006/relationships/slide" Target="slide23.xml"/><Relationship Id="rId7" Type="http://schemas.openxmlformats.org/officeDocument/2006/relationships/hyperlink" Target="https://www.openlca.org/download/"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6.xml"/><Relationship Id="rId3" Type="http://schemas.openxmlformats.org/officeDocument/2006/relationships/slide" Target="slide7.xml"/><Relationship Id="rId4" Type="http://schemas.openxmlformats.org/officeDocument/2006/relationships/slide" Target="slide11.xml"/><Relationship Id="rId5" Type="http://schemas.openxmlformats.org/officeDocument/2006/relationships/slide" Target="slide14.xml"/><Relationship Id="rId6" Type="http://schemas.openxmlformats.org/officeDocument/2006/relationships/slide" Target="slide23.xml"/><Relationship Id="rId7" Type="http://schemas.openxmlformats.org/officeDocument/2006/relationships/hyperlink" Target="https://github.com/GreenDelta/openLCA2-manual/blob/ae0588e4c013cca18ec1bf136cc144457d032541/src/conceptual_guideline.md" TargetMode="External"/><Relationship Id="rId8" Type="http://schemas.openxmlformats.org/officeDocument/2006/relationships/hyperlink" Target="https://www.openlca.org/download/" TargetMode="External"/><Relationship Id="rId9" Type="http://schemas.openxmlformats.org/officeDocument/2006/relationships/hyperlink" Target="https://github.com/GreenDelta/openLCA2-manual/blob/ae0588e4c013cca18ec1bf136cc144457d032541/src/installation/download_installation.md" TargetMode="External"/><Relationship Id="rId10" Type="http://schemas.openxmlformats.org/officeDocument/2006/relationships/hyperlink" Target="https://github.com/GreenDelta/openLCA2-manual/blob/ae0588e4c013cca18ec1bf136cc144457d032541/src/databases/importing_and_combining_databases.md" TargetMode="External"/><Relationship Id="rId11" Type="http://schemas.openxmlformats.org/officeDocument/2006/relationships/hyperlink" Target="https://github.com/GreenDelta/openLCA2-manual/blob/ae0588e4c013cca18ec1bf136cc144457d032541/src/validation.md" TargetMode="External"/><Relationship Id="rId12" Type="http://schemas.openxmlformats.org/officeDocument/2006/relationships/hyperlink" Target="https://www.ipcc.ch/report/ar5/wg1/" TargetMode="External"/><Relationship Id="rId13" Type="http://schemas.openxmlformats.org/officeDocument/2006/relationships/hyperlink" Target="https://repo.maven.apache.org/maven2/org/openlca/olca-core/2.6.2/"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BFF"/>
        </a:solidFill>
        <a:effectLst/>
      </p:bgPr>
    </p:bg>
    <p:spTree>
      <p:nvGrpSpPr>
        <p:cNvPr id="1" name=""/>
        <p:cNvGrpSpPr/>
        <p:nvPr/>
      </p:nvGrpSpPr>
      <p:grpSpPr/>
      <p:sp>
        <p:nvSpPr>
          <p:cNvPr id="2" name="TextBox 1"/>
          <p:cNvSpPr txBox="1"/>
          <p:nvPr/>
        </p:nvSpPr>
        <p:spPr>
          <a:xfrm>
            <a:off x="548640" y="365760"/>
            <a:ext cx="7223760" cy="228600"/>
          </a:xfrm>
          <a:prstGeom prst="rect">
            <a:avLst/>
          </a:prstGeom>
          <a:noFill/>
        </p:spPr>
        <p:txBody>
          <a:bodyPr wrap="square" lIns="0" rIns="0" tIns="0" bIns="0">
            <a:spAutoFit/>
          </a:bodyPr>
          <a:lstStyle/>
          <a:p>
            <a:pPr algn="l">
              <a:lnSpc>
                <a:spcPct val="101000"/>
              </a:lnSpc>
              <a:spcAft>
                <a:spcPts val="300"/>
              </a:spcAft>
              <a:defRPr sz="930" b="1">
                <a:solidFill>
                  <a:srgbClr val="137F7D"/>
                </a:solidFill>
                <a:latin typeface="DejaVu Sans"/>
              </a:defRPr>
            </a:pPr>
            <a:r>
              <a:t>LABORATORIO · OPENLCA · WINDOWS</a:t>
            </a:r>
          </a:p>
        </p:txBody>
      </p:sp>
      <p:sp>
        <p:nvSpPr>
          <p:cNvPr id="3" name="Rounded Rectangle 2">
            <a:hlinkClick action="ppaction://hlinksldjump" r:id="rId2"/>
          </p:cNvPr>
          <p:cNvSpPr/>
          <p:nvPr/>
        </p:nvSpPr>
        <p:spPr>
          <a:xfrm>
            <a:off x="8165592" y="301752"/>
            <a:ext cx="813816" cy="310896"/>
          </a:xfrm>
          <a:prstGeom prst="roundRect">
            <a:avLst>
              <a:gd name="adj" fmla="val 8000"/>
            </a:avLst>
          </a:prstGeom>
          <a:solidFill>
            <a:srgbClr val="E0F7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2"/>
          </p:cNvPr>
          <p:cNvSpPr txBox="1"/>
          <p:nvPr/>
        </p:nvSpPr>
        <p:spPr>
          <a:xfrm>
            <a:off x="8275319" y="384048"/>
            <a:ext cx="594360" cy="219456"/>
          </a:xfrm>
          <a:prstGeom prst="rect">
            <a:avLst/>
          </a:prstGeom>
          <a:noFill/>
        </p:spPr>
        <p:txBody>
          <a:bodyPr wrap="square" lIns="0" rIns="0" tIns="0" bIns="0">
            <a:spAutoFit/>
          </a:bodyPr>
          <a:lstStyle/>
          <a:p>
            <a:pPr algn="l">
              <a:lnSpc>
                <a:spcPct val="101000"/>
              </a:lnSpc>
              <a:spcAft>
                <a:spcPts val="300"/>
              </a:spcAft>
              <a:defRPr sz="800" b="1">
                <a:solidFill>
                  <a:srgbClr val="203350"/>
                </a:solidFill>
                <a:latin typeface="DejaVu Sans"/>
              </a:defRPr>
            </a:pPr>
            <a:r>
              <a:t>Preparar</a:t>
            </a:r>
          </a:p>
        </p:txBody>
      </p:sp>
      <p:sp>
        <p:nvSpPr>
          <p:cNvPr id="5" name="Rounded Rectangle 4">
            <a:hlinkClick action="ppaction://hlinksldjump" r:id="rId3"/>
          </p:cNvPr>
          <p:cNvSpPr/>
          <p:nvPr/>
        </p:nvSpPr>
        <p:spPr>
          <a:xfrm>
            <a:off x="9043416" y="301752"/>
            <a:ext cx="813816" cy="310896"/>
          </a:xfrm>
          <a:prstGeom prst="roundRect">
            <a:avLst>
              <a:gd name="adj" fmla="val 8000"/>
            </a:avLst>
          </a:prstGeom>
          <a:solidFill>
            <a:srgbClr val="E2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3"/>
          </p:cNvPr>
          <p:cNvSpPr txBox="1"/>
          <p:nvPr/>
        </p:nvSpPr>
        <p:spPr>
          <a:xfrm>
            <a:off x="9153144" y="384048"/>
            <a:ext cx="594360" cy="219456"/>
          </a:xfrm>
          <a:prstGeom prst="rect">
            <a:avLst/>
          </a:prstGeom>
          <a:noFill/>
        </p:spPr>
        <p:txBody>
          <a:bodyPr wrap="square" lIns="0" rIns="0" tIns="0" bIns="0">
            <a:spAutoFit/>
          </a:bodyPr>
          <a:lstStyle/>
          <a:p>
            <a:pPr algn="l">
              <a:lnSpc>
                <a:spcPct val="101000"/>
              </a:lnSpc>
              <a:spcAft>
                <a:spcPts val="300"/>
              </a:spcAft>
              <a:defRPr sz="800" b="1">
                <a:solidFill>
                  <a:srgbClr val="203350"/>
                </a:solidFill>
                <a:latin typeface="DejaVu Sans"/>
              </a:defRPr>
            </a:pPr>
            <a:r>
              <a:t>Importar</a:t>
            </a:r>
          </a:p>
        </p:txBody>
      </p:sp>
      <p:sp>
        <p:nvSpPr>
          <p:cNvPr id="7" name="Rounded Rectangle 6">
            <a:hlinkClick action="ppaction://hlinksldjump" r:id="rId4"/>
          </p:cNvPr>
          <p:cNvSpPr/>
          <p:nvPr/>
        </p:nvSpPr>
        <p:spPr>
          <a:xfrm>
            <a:off x="9921240" y="301752"/>
            <a:ext cx="813816" cy="310896"/>
          </a:xfrm>
          <a:prstGeom prst="roundRect">
            <a:avLst>
              <a:gd name="adj" fmla="val 8000"/>
            </a:avLst>
          </a:prstGeom>
          <a:solidFill>
            <a:srgbClr val="EEE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4"/>
          </p:cNvPr>
          <p:cNvSpPr txBox="1"/>
          <p:nvPr/>
        </p:nvSpPr>
        <p:spPr>
          <a:xfrm>
            <a:off x="10030967" y="384048"/>
            <a:ext cx="594360" cy="219456"/>
          </a:xfrm>
          <a:prstGeom prst="rect">
            <a:avLst/>
          </a:prstGeom>
          <a:noFill/>
        </p:spPr>
        <p:txBody>
          <a:bodyPr wrap="square" lIns="0" rIns="0" tIns="0" bIns="0">
            <a:spAutoFit/>
          </a:bodyPr>
          <a:lstStyle/>
          <a:p>
            <a:pPr algn="l">
              <a:lnSpc>
                <a:spcPct val="101000"/>
              </a:lnSpc>
              <a:spcAft>
                <a:spcPts val="300"/>
              </a:spcAft>
              <a:defRPr sz="800" b="1">
                <a:solidFill>
                  <a:srgbClr val="203350"/>
                </a:solidFill>
                <a:latin typeface="DejaVu Sans"/>
              </a:defRPr>
            </a:pPr>
            <a:r>
              <a:t>Calcular</a:t>
            </a:r>
          </a:p>
        </p:txBody>
      </p:sp>
      <p:sp>
        <p:nvSpPr>
          <p:cNvPr id="9" name="Rounded Rectangle 8">
            <a:hlinkClick action="ppaction://hlinksldjump" r:id="rId5"/>
          </p:cNvPr>
          <p:cNvSpPr/>
          <p:nvPr/>
        </p:nvSpPr>
        <p:spPr>
          <a:xfrm>
            <a:off x="10799063" y="301752"/>
            <a:ext cx="813816" cy="310896"/>
          </a:xfrm>
          <a:prstGeom prst="roundRect">
            <a:avLst>
              <a:gd name="adj" fmla="val 8000"/>
            </a:avLst>
          </a:prstGeom>
          <a:solidFill>
            <a:srgbClr val="FFF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5"/>
          </p:cNvPr>
          <p:cNvSpPr txBox="1"/>
          <p:nvPr/>
        </p:nvSpPr>
        <p:spPr>
          <a:xfrm>
            <a:off x="10908791" y="384048"/>
            <a:ext cx="594360" cy="219456"/>
          </a:xfrm>
          <a:prstGeom prst="rect">
            <a:avLst/>
          </a:prstGeom>
          <a:noFill/>
        </p:spPr>
        <p:txBody>
          <a:bodyPr wrap="square" lIns="0" rIns="0" tIns="0" bIns="0">
            <a:spAutoFit/>
          </a:bodyPr>
          <a:lstStyle/>
          <a:p>
            <a:pPr algn="l">
              <a:lnSpc>
                <a:spcPct val="101000"/>
              </a:lnSpc>
              <a:spcAft>
                <a:spcPts val="300"/>
              </a:spcAft>
              <a:defRPr sz="749" b="1">
                <a:solidFill>
                  <a:srgbClr val="203350"/>
                </a:solidFill>
                <a:latin typeface="DejaVu Sans"/>
              </a:defRPr>
            </a:pPr>
            <a:r>
              <a:t>Comprobar</a:t>
            </a:r>
          </a:p>
        </p:txBody>
      </p:sp>
      <p:sp>
        <p:nvSpPr>
          <p:cNvPr id="11" name="TextBox 10"/>
          <p:cNvSpPr txBox="1"/>
          <p:nvPr/>
        </p:nvSpPr>
        <p:spPr>
          <a:xfrm>
            <a:off x="548640" y="886968"/>
            <a:ext cx="11064240" cy="1234440"/>
          </a:xfrm>
          <a:prstGeom prst="rect">
            <a:avLst/>
          </a:prstGeom>
          <a:noFill/>
        </p:spPr>
        <p:txBody>
          <a:bodyPr wrap="square" lIns="0" rIns="0" tIns="0" bIns="0">
            <a:spAutoFit/>
          </a:bodyPr>
          <a:lstStyle/>
          <a:p>
            <a:pPr algn="l">
              <a:lnSpc>
                <a:spcPct val="101000"/>
              </a:lnSpc>
              <a:spcAft>
                <a:spcPts val="300"/>
              </a:spcAft>
              <a:defRPr sz="3900" b="1">
                <a:solidFill>
                  <a:srgbClr val="203350"/>
                </a:solidFill>
                <a:latin typeface="DejaVu Sans"/>
              </a:defRPr>
            </a:pPr>
            <a:r>
              <a:t>De los flujos</a:t>
            </a:r>
          </a:p>
          <a:p>
            <a:pPr algn="l">
              <a:lnSpc>
                <a:spcPct val="101000"/>
              </a:lnSpc>
              <a:spcAft>
                <a:spcPts val="300"/>
              </a:spcAft>
              <a:defRPr sz="3900" b="1">
                <a:solidFill>
                  <a:srgbClr val="203350"/>
                </a:solidFill>
                <a:latin typeface="DejaVu Sans"/>
              </a:defRPr>
            </a:pPr>
            <a:r>
              <a:t>al impacto ambiental</a:t>
            </a:r>
          </a:p>
        </p:txBody>
      </p:sp>
      <p:sp>
        <p:nvSpPr>
          <p:cNvPr id="12" name="TextBox 11"/>
          <p:cNvSpPr txBox="1"/>
          <p:nvPr/>
        </p:nvSpPr>
        <p:spPr>
          <a:xfrm>
            <a:off x="566928" y="2121408"/>
            <a:ext cx="10972800" cy="338328"/>
          </a:xfrm>
          <a:prstGeom prst="rect">
            <a:avLst/>
          </a:prstGeom>
          <a:noFill/>
        </p:spPr>
        <p:txBody>
          <a:bodyPr wrap="square" lIns="0" rIns="0" tIns="0" bIns="0">
            <a:spAutoFit/>
          </a:bodyPr>
          <a:lstStyle/>
          <a:p>
            <a:pPr algn="l">
              <a:lnSpc>
                <a:spcPct val="101000"/>
              </a:lnSpc>
              <a:spcAft>
                <a:spcPts val="300"/>
              </a:spcAft>
              <a:defRPr sz="1450" b="0">
                <a:solidFill>
                  <a:srgbClr val="5C6E83"/>
                </a:solidFill>
                <a:latin typeface="DejaVu Sans"/>
              </a:defRPr>
            </a:pPr>
            <a:r>
              <a:t>Bebida de avena y leche · adaptación del caso oficial · datos simulados</a:t>
            </a:r>
          </a:p>
        </p:txBody>
      </p:sp>
      <p:sp>
        <p:nvSpPr>
          <p:cNvPr id="13" name="TextBox 12"/>
          <p:cNvSpPr txBox="1"/>
          <p:nvPr/>
        </p:nvSpPr>
        <p:spPr>
          <a:xfrm>
            <a:off x="548640" y="6446520"/>
            <a:ext cx="9784080" cy="219456"/>
          </a:xfrm>
          <a:prstGeom prst="rect">
            <a:avLst/>
          </a:prstGeom>
          <a:noFill/>
        </p:spPr>
        <p:txBody>
          <a:bodyPr wrap="square" lIns="0" rIns="0" tIns="0" bIns="0">
            <a:spAutoFit/>
          </a:bodyPr>
          <a:lstStyle/>
          <a:p>
            <a:pPr algn="l">
              <a:lnSpc>
                <a:spcPct val="101000"/>
              </a:lnSpc>
              <a:spcAft>
                <a:spcPts val="300"/>
              </a:spcAft>
              <a:defRPr sz="810" b="0">
                <a:solidFill>
                  <a:srgbClr val="5C6E83"/>
                </a:solidFill>
                <a:latin typeface="DejaVu Sans"/>
              </a:defRPr>
            </a:pPr>
            <a:r>
              <a:t>Caso oficial del manual openLCA 2 · adaptación didáctica gratuita</a:t>
            </a:r>
          </a:p>
        </p:txBody>
      </p:sp>
      <p:sp>
        <p:nvSpPr>
          <p:cNvPr id="14" name="Rounded Rectangle 13">
            <a:hlinkClick action="ppaction://hlinksldjump" r:id="rId6"/>
          </p:cNvPr>
          <p:cNvSpPr/>
          <p:nvPr/>
        </p:nvSpPr>
        <p:spPr>
          <a:xfrm>
            <a:off x="10442448" y="6400800"/>
            <a:ext cx="640080" cy="265176"/>
          </a:xfrm>
          <a:prstGeom prst="roundRect">
            <a:avLst>
              <a:gd name="adj" fmla="val 8000"/>
            </a:avLst>
          </a:prstGeom>
          <a:solidFill>
            <a:srgbClr val="EEE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a:hlinkClick action="ppaction://hlinksldjump" r:id="rId6"/>
          </p:cNvPr>
          <p:cNvSpPr txBox="1"/>
          <p:nvPr/>
        </p:nvSpPr>
        <p:spPr>
          <a:xfrm>
            <a:off x="10552176" y="6483096"/>
            <a:ext cx="420623" cy="173735"/>
          </a:xfrm>
          <a:prstGeom prst="rect">
            <a:avLst/>
          </a:prstGeom>
          <a:noFill/>
        </p:spPr>
        <p:txBody>
          <a:bodyPr wrap="square" lIns="0" rIns="0" tIns="0" bIns="0">
            <a:spAutoFit/>
          </a:bodyPr>
          <a:lstStyle/>
          <a:p>
            <a:pPr algn="l">
              <a:lnSpc>
                <a:spcPct val="101000"/>
              </a:lnSpc>
              <a:spcAft>
                <a:spcPts val="300"/>
              </a:spcAft>
              <a:defRPr sz="800" b="1">
                <a:solidFill>
                  <a:srgbClr val="8060BA"/>
                </a:solidFill>
                <a:latin typeface="DejaVu Sans"/>
              </a:defRPr>
            </a:pPr>
            <a:r>
              <a:t>Ruta</a:t>
            </a:r>
          </a:p>
        </p:txBody>
      </p:sp>
      <p:sp>
        <p:nvSpPr>
          <p:cNvPr id="16" name="TextBox 15"/>
          <p:cNvSpPr txBox="1"/>
          <p:nvPr/>
        </p:nvSpPr>
        <p:spPr>
          <a:xfrm>
            <a:off x="11228832" y="6400800"/>
            <a:ext cx="457200" cy="274320"/>
          </a:xfrm>
          <a:prstGeom prst="rect">
            <a:avLst/>
          </a:prstGeom>
          <a:noFill/>
        </p:spPr>
        <p:txBody>
          <a:bodyPr wrap="square" lIns="0" rIns="0" tIns="0" bIns="0">
            <a:spAutoFit/>
          </a:bodyPr>
          <a:lstStyle/>
          <a:p>
            <a:pPr algn="r">
              <a:lnSpc>
                <a:spcPct val="101000"/>
              </a:lnSpc>
              <a:spcAft>
                <a:spcPts val="300"/>
              </a:spcAft>
              <a:defRPr sz="1300" b="1">
                <a:solidFill>
                  <a:srgbClr val="203350"/>
                </a:solidFill>
                <a:latin typeface="DejaVu Sans"/>
              </a:defRPr>
            </a:pPr>
            <a:r>
              <a:t>01</a:t>
            </a:r>
          </a:p>
        </p:txBody>
      </p:sp>
      <p:pic>
        <p:nvPicPr>
          <p:cNvPr id="17" name="Picture 16" descr="hero.png"/>
          <p:cNvPicPr>
            <a:picLocks noChangeAspect="1"/>
          </p:cNvPicPr>
          <p:nvPr/>
        </p:nvPicPr>
        <p:blipFill>
          <a:blip r:embed="rId8"/>
          <a:stretch>
            <a:fillRect/>
          </a:stretch>
        </p:blipFill>
        <p:spPr>
          <a:xfrm>
            <a:off x="594360" y="2633472"/>
            <a:ext cx="10972800" cy="3154680"/>
          </a:xfrm>
          <a:prstGeom prst="rect">
            <a:avLst/>
          </a:prstGeom>
        </p:spPr>
      </p:pic>
      <p:sp>
        <p:nvSpPr>
          <p:cNvPr id="18" name="TextBox 17"/>
          <p:cNvSpPr txBox="1"/>
          <p:nvPr/>
        </p:nvSpPr>
        <p:spPr>
          <a:xfrm>
            <a:off x="731520" y="5952744"/>
            <a:ext cx="10789920" cy="274320"/>
          </a:xfrm>
          <a:prstGeom prst="rect">
            <a:avLst/>
          </a:prstGeom>
          <a:noFill/>
        </p:spPr>
        <p:txBody>
          <a:bodyPr wrap="square" lIns="0" rIns="0" tIns="0" bIns="0">
            <a:spAutoFit/>
          </a:bodyPr>
          <a:lstStyle/>
          <a:p>
            <a:pPr algn="ctr">
              <a:lnSpc>
                <a:spcPct val="101000"/>
              </a:lnSpc>
              <a:spcAft>
                <a:spcPts val="300"/>
              </a:spcAft>
              <a:defRPr sz="1600" b="1">
                <a:solidFill>
                  <a:srgbClr val="805619"/>
                </a:solidFill>
                <a:latin typeface="DejaVu Sans"/>
              </a:defRPr>
            </a:pPr>
            <a:r>
              <a:t>CASO DOCENTE · INVENTARIOS SIMULADOS</a:t>
            </a:r>
          </a:p>
        </p:txBody>
      </p:sp>
    </p:spTree>
  </p:cSld>
  <p:clrMapOvr>
    <a:masterClrMapping/>
  </p:clrMapOvr>
  <p:transition advClick="1">
    <p:fade/>
  </p:transition>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BFF"/>
        </a:solidFill>
        <a:effectLst/>
      </p:bgPr>
    </p:bg>
    <p:spTree>
      <p:nvGrpSpPr>
        <p:cNvPr id="1" name=""/>
        <p:cNvGrpSpPr/>
        <p:nvPr/>
      </p:nvGrpSpPr>
      <p:grpSpPr/>
      <p:sp>
        <p:nvSpPr>
          <p:cNvPr id="2" name="TextBox 1"/>
          <p:cNvSpPr txBox="1"/>
          <p:nvPr/>
        </p:nvSpPr>
        <p:spPr>
          <a:xfrm>
            <a:off x="548640" y="365760"/>
            <a:ext cx="7223760" cy="228600"/>
          </a:xfrm>
          <a:prstGeom prst="rect">
            <a:avLst/>
          </a:prstGeom>
          <a:noFill/>
        </p:spPr>
        <p:txBody>
          <a:bodyPr wrap="square" lIns="0" rIns="0" tIns="0" bIns="0">
            <a:spAutoFit/>
          </a:bodyPr>
          <a:lstStyle/>
          <a:p>
            <a:pPr algn="l">
              <a:lnSpc>
                <a:spcPct val="101000"/>
              </a:lnSpc>
              <a:spcAft>
                <a:spcPts val="300"/>
              </a:spcAft>
              <a:defRPr sz="930" b="1">
                <a:solidFill>
                  <a:srgbClr val="137F7D"/>
                </a:solidFill>
                <a:latin typeface="DejaVu Sans"/>
              </a:defRPr>
            </a:pPr>
            <a:r>
              <a:t>INTRODUCCIÓN AL ACV</a:t>
            </a:r>
          </a:p>
        </p:txBody>
      </p:sp>
      <p:sp>
        <p:nvSpPr>
          <p:cNvPr id="3" name="Rounded Rectangle 2">
            <a:hlinkClick action="ppaction://hlinksldjump" r:id="rId2"/>
          </p:cNvPr>
          <p:cNvSpPr/>
          <p:nvPr/>
        </p:nvSpPr>
        <p:spPr>
          <a:xfrm>
            <a:off x="8165592" y="301752"/>
            <a:ext cx="813816" cy="310896"/>
          </a:xfrm>
          <a:prstGeom prst="roundRect">
            <a:avLst>
              <a:gd name="adj" fmla="val 8000"/>
            </a:avLst>
          </a:prstGeom>
          <a:solidFill>
            <a:srgbClr val="E0F7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2"/>
          </p:cNvPr>
          <p:cNvSpPr txBox="1"/>
          <p:nvPr/>
        </p:nvSpPr>
        <p:spPr>
          <a:xfrm>
            <a:off x="8275319" y="384048"/>
            <a:ext cx="594360" cy="219456"/>
          </a:xfrm>
          <a:prstGeom prst="rect">
            <a:avLst/>
          </a:prstGeom>
          <a:noFill/>
        </p:spPr>
        <p:txBody>
          <a:bodyPr wrap="square" lIns="0" rIns="0" tIns="0" bIns="0">
            <a:spAutoFit/>
          </a:bodyPr>
          <a:lstStyle/>
          <a:p>
            <a:pPr algn="l">
              <a:lnSpc>
                <a:spcPct val="101000"/>
              </a:lnSpc>
              <a:spcAft>
                <a:spcPts val="300"/>
              </a:spcAft>
              <a:defRPr sz="800" b="1">
                <a:solidFill>
                  <a:srgbClr val="203350"/>
                </a:solidFill>
                <a:latin typeface="DejaVu Sans"/>
              </a:defRPr>
            </a:pPr>
            <a:r>
              <a:t>Preparar</a:t>
            </a:r>
          </a:p>
        </p:txBody>
      </p:sp>
      <p:sp>
        <p:nvSpPr>
          <p:cNvPr id="5" name="Rounded Rectangle 4">
            <a:hlinkClick action="ppaction://hlinksldjump" r:id="rId3"/>
          </p:cNvPr>
          <p:cNvSpPr/>
          <p:nvPr/>
        </p:nvSpPr>
        <p:spPr>
          <a:xfrm>
            <a:off x="9043416" y="301752"/>
            <a:ext cx="813816" cy="310896"/>
          </a:xfrm>
          <a:prstGeom prst="roundRect">
            <a:avLst>
              <a:gd name="adj" fmla="val 8000"/>
            </a:avLst>
          </a:prstGeom>
          <a:solidFill>
            <a:srgbClr val="E2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3"/>
          </p:cNvPr>
          <p:cNvSpPr txBox="1"/>
          <p:nvPr/>
        </p:nvSpPr>
        <p:spPr>
          <a:xfrm>
            <a:off x="9153144" y="384048"/>
            <a:ext cx="594360" cy="219456"/>
          </a:xfrm>
          <a:prstGeom prst="rect">
            <a:avLst/>
          </a:prstGeom>
          <a:noFill/>
        </p:spPr>
        <p:txBody>
          <a:bodyPr wrap="square" lIns="0" rIns="0" tIns="0" bIns="0">
            <a:spAutoFit/>
          </a:bodyPr>
          <a:lstStyle/>
          <a:p>
            <a:pPr algn="l">
              <a:lnSpc>
                <a:spcPct val="101000"/>
              </a:lnSpc>
              <a:spcAft>
                <a:spcPts val="300"/>
              </a:spcAft>
              <a:defRPr sz="800" b="1">
                <a:solidFill>
                  <a:srgbClr val="203350"/>
                </a:solidFill>
                <a:latin typeface="DejaVu Sans"/>
              </a:defRPr>
            </a:pPr>
            <a:r>
              <a:t>Importar</a:t>
            </a:r>
          </a:p>
        </p:txBody>
      </p:sp>
      <p:sp>
        <p:nvSpPr>
          <p:cNvPr id="7" name="Rounded Rectangle 6">
            <a:hlinkClick action="ppaction://hlinksldjump" r:id="rId4"/>
          </p:cNvPr>
          <p:cNvSpPr/>
          <p:nvPr/>
        </p:nvSpPr>
        <p:spPr>
          <a:xfrm>
            <a:off x="9921240" y="301752"/>
            <a:ext cx="813816" cy="310896"/>
          </a:xfrm>
          <a:prstGeom prst="roundRect">
            <a:avLst>
              <a:gd name="adj" fmla="val 8000"/>
            </a:avLst>
          </a:prstGeom>
          <a:solidFill>
            <a:srgbClr val="EEE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4"/>
          </p:cNvPr>
          <p:cNvSpPr txBox="1"/>
          <p:nvPr/>
        </p:nvSpPr>
        <p:spPr>
          <a:xfrm>
            <a:off x="10030967" y="384048"/>
            <a:ext cx="594360" cy="219456"/>
          </a:xfrm>
          <a:prstGeom prst="rect">
            <a:avLst/>
          </a:prstGeom>
          <a:noFill/>
        </p:spPr>
        <p:txBody>
          <a:bodyPr wrap="square" lIns="0" rIns="0" tIns="0" bIns="0">
            <a:spAutoFit/>
          </a:bodyPr>
          <a:lstStyle/>
          <a:p>
            <a:pPr algn="l">
              <a:lnSpc>
                <a:spcPct val="101000"/>
              </a:lnSpc>
              <a:spcAft>
                <a:spcPts val="300"/>
              </a:spcAft>
              <a:defRPr sz="800" b="1">
                <a:solidFill>
                  <a:srgbClr val="203350"/>
                </a:solidFill>
                <a:latin typeface="DejaVu Sans"/>
              </a:defRPr>
            </a:pPr>
            <a:r>
              <a:t>Calcular</a:t>
            </a:r>
          </a:p>
        </p:txBody>
      </p:sp>
      <p:sp>
        <p:nvSpPr>
          <p:cNvPr id="9" name="Rounded Rectangle 8">
            <a:hlinkClick action="ppaction://hlinksldjump" r:id="rId5"/>
          </p:cNvPr>
          <p:cNvSpPr/>
          <p:nvPr/>
        </p:nvSpPr>
        <p:spPr>
          <a:xfrm>
            <a:off x="10799063" y="301752"/>
            <a:ext cx="813816" cy="310896"/>
          </a:xfrm>
          <a:prstGeom prst="roundRect">
            <a:avLst>
              <a:gd name="adj" fmla="val 8000"/>
            </a:avLst>
          </a:prstGeom>
          <a:solidFill>
            <a:srgbClr val="FFF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5"/>
          </p:cNvPr>
          <p:cNvSpPr txBox="1"/>
          <p:nvPr/>
        </p:nvSpPr>
        <p:spPr>
          <a:xfrm>
            <a:off x="10908791" y="384048"/>
            <a:ext cx="594360" cy="219456"/>
          </a:xfrm>
          <a:prstGeom prst="rect">
            <a:avLst/>
          </a:prstGeom>
          <a:noFill/>
        </p:spPr>
        <p:txBody>
          <a:bodyPr wrap="square" lIns="0" rIns="0" tIns="0" bIns="0">
            <a:spAutoFit/>
          </a:bodyPr>
          <a:lstStyle/>
          <a:p>
            <a:pPr algn="l">
              <a:lnSpc>
                <a:spcPct val="101000"/>
              </a:lnSpc>
              <a:spcAft>
                <a:spcPts val="300"/>
              </a:spcAft>
              <a:defRPr sz="749" b="1">
                <a:solidFill>
                  <a:srgbClr val="203350"/>
                </a:solidFill>
                <a:latin typeface="DejaVu Sans"/>
              </a:defRPr>
            </a:pPr>
            <a:r>
              <a:t>Comprobar</a:t>
            </a:r>
          </a:p>
        </p:txBody>
      </p:sp>
      <p:sp>
        <p:nvSpPr>
          <p:cNvPr id="11" name="TextBox 10"/>
          <p:cNvSpPr txBox="1"/>
          <p:nvPr/>
        </p:nvSpPr>
        <p:spPr>
          <a:xfrm>
            <a:off x="548640" y="886968"/>
            <a:ext cx="11064240" cy="1234440"/>
          </a:xfrm>
          <a:prstGeom prst="rect">
            <a:avLst/>
          </a:prstGeom>
          <a:noFill/>
        </p:spPr>
        <p:txBody>
          <a:bodyPr wrap="square" lIns="0" rIns="0" tIns="0" bIns="0">
            <a:spAutoFit/>
          </a:bodyPr>
          <a:lstStyle/>
          <a:p>
            <a:pPr algn="l">
              <a:lnSpc>
                <a:spcPct val="101000"/>
              </a:lnSpc>
              <a:spcAft>
                <a:spcPts val="300"/>
              </a:spcAft>
              <a:defRPr sz="3900" b="1">
                <a:solidFill>
                  <a:srgbClr val="203350"/>
                </a:solidFill>
                <a:latin typeface="DejaVu Sans"/>
              </a:defRPr>
            </a:pPr>
            <a:r>
              <a:t>Una bebida conecta</a:t>
            </a:r>
          </a:p>
          <a:p>
            <a:pPr algn="l">
              <a:lnSpc>
                <a:spcPct val="101000"/>
              </a:lnSpc>
              <a:spcAft>
                <a:spcPts val="300"/>
              </a:spcAft>
              <a:defRPr sz="3900" b="1">
                <a:solidFill>
                  <a:srgbClr val="203350"/>
                </a:solidFill>
                <a:latin typeface="DejaVu Sans"/>
              </a:defRPr>
            </a:pPr>
            <a:r>
              <a:t>varios procesos</a:t>
            </a:r>
          </a:p>
        </p:txBody>
      </p:sp>
      <p:sp>
        <p:nvSpPr>
          <p:cNvPr id="12" name="TextBox 11"/>
          <p:cNvSpPr txBox="1"/>
          <p:nvPr/>
        </p:nvSpPr>
        <p:spPr>
          <a:xfrm>
            <a:off x="566928" y="2121408"/>
            <a:ext cx="10972800" cy="338328"/>
          </a:xfrm>
          <a:prstGeom prst="rect">
            <a:avLst/>
          </a:prstGeom>
          <a:noFill/>
        </p:spPr>
        <p:txBody>
          <a:bodyPr wrap="square" lIns="0" rIns="0" tIns="0" bIns="0">
            <a:spAutoFit/>
          </a:bodyPr>
          <a:lstStyle/>
          <a:p>
            <a:pPr algn="l">
              <a:lnSpc>
                <a:spcPct val="101000"/>
              </a:lnSpc>
              <a:spcAft>
                <a:spcPts val="300"/>
              </a:spcAft>
              <a:defRPr sz="1450" b="0">
                <a:solidFill>
                  <a:srgbClr val="5C6E83"/>
                </a:solidFill>
                <a:latin typeface="DejaVu Sans"/>
              </a:defRPr>
            </a:pPr>
            <a:r>
              <a:t>El análisis de ciclo de vida relaciona una función con sus entradas y salidas.</a:t>
            </a:r>
          </a:p>
        </p:txBody>
      </p:sp>
      <p:sp>
        <p:nvSpPr>
          <p:cNvPr id="13" name="TextBox 12"/>
          <p:cNvSpPr txBox="1"/>
          <p:nvPr/>
        </p:nvSpPr>
        <p:spPr>
          <a:xfrm>
            <a:off x="548640" y="6446520"/>
            <a:ext cx="9784080" cy="219456"/>
          </a:xfrm>
          <a:prstGeom prst="rect">
            <a:avLst/>
          </a:prstGeom>
          <a:noFill/>
        </p:spPr>
        <p:txBody>
          <a:bodyPr wrap="square" lIns="0" rIns="0" tIns="0" bIns="0">
            <a:spAutoFit/>
          </a:bodyPr>
          <a:lstStyle/>
          <a:p>
            <a:pPr algn="l">
              <a:lnSpc>
                <a:spcPct val="101000"/>
              </a:lnSpc>
              <a:spcAft>
                <a:spcPts val="300"/>
              </a:spcAft>
              <a:defRPr sz="810" b="0">
                <a:solidFill>
                  <a:srgbClr val="5C6E83"/>
                </a:solidFill>
                <a:latin typeface="DejaVu Sans"/>
              </a:defRPr>
            </a:pPr>
            <a:r>
              <a:t>Introducción conceptual · manual openLCA 2</a:t>
            </a:r>
          </a:p>
        </p:txBody>
      </p:sp>
      <p:sp>
        <p:nvSpPr>
          <p:cNvPr id="14" name="Rounded Rectangle 13">
            <a:hlinkClick action="ppaction://hlinksldjump" r:id="rId6"/>
          </p:cNvPr>
          <p:cNvSpPr/>
          <p:nvPr/>
        </p:nvSpPr>
        <p:spPr>
          <a:xfrm>
            <a:off x="10442448" y="6400800"/>
            <a:ext cx="640080" cy="265176"/>
          </a:xfrm>
          <a:prstGeom prst="roundRect">
            <a:avLst>
              <a:gd name="adj" fmla="val 8000"/>
            </a:avLst>
          </a:prstGeom>
          <a:solidFill>
            <a:srgbClr val="EEE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a:hlinkClick action="ppaction://hlinksldjump" r:id="rId6"/>
          </p:cNvPr>
          <p:cNvSpPr txBox="1"/>
          <p:nvPr/>
        </p:nvSpPr>
        <p:spPr>
          <a:xfrm>
            <a:off x="10552176" y="6483096"/>
            <a:ext cx="420623" cy="173735"/>
          </a:xfrm>
          <a:prstGeom prst="rect">
            <a:avLst/>
          </a:prstGeom>
          <a:noFill/>
        </p:spPr>
        <p:txBody>
          <a:bodyPr wrap="square" lIns="0" rIns="0" tIns="0" bIns="0">
            <a:spAutoFit/>
          </a:bodyPr>
          <a:lstStyle/>
          <a:p>
            <a:pPr algn="l">
              <a:lnSpc>
                <a:spcPct val="101000"/>
              </a:lnSpc>
              <a:spcAft>
                <a:spcPts val="300"/>
              </a:spcAft>
              <a:defRPr sz="800" b="1">
                <a:solidFill>
                  <a:srgbClr val="8060BA"/>
                </a:solidFill>
                <a:latin typeface="DejaVu Sans"/>
              </a:defRPr>
            </a:pPr>
            <a:r>
              <a:t>Ruta</a:t>
            </a:r>
          </a:p>
        </p:txBody>
      </p:sp>
      <p:sp>
        <p:nvSpPr>
          <p:cNvPr id="16" name="TextBox 15"/>
          <p:cNvSpPr txBox="1"/>
          <p:nvPr/>
        </p:nvSpPr>
        <p:spPr>
          <a:xfrm>
            <a:off x="11228832" y="6400800"/>
            <a:ext cx="457200" cy="274320"/>
          </a:xfrm>
          <a:prstGeom prst="rect">
            <a:avLst/>
          </a:prstGeom>
          <a:noFill/>
        </p:spPr>
        <p:txBody>
          <a:bodyPr wrap="square" lIns="0" rIns="0" tIns="0" bIns="0">
            <a:spAutoFit/>
          </a:bodyPr>
          <a:lstStyle/>
          <a:p>
            <a:pPr algn="r">
              <a:lnSpc>
                <a:spcPct val="101000"/>
              </a:lnSpc>
              <a:spcAft>
                <a:spcPts val="300"/>
              </a:spcAft>
              <a:defRPr sz="1300" b="1">
                <a:solidFill>
                  <a:srgbClr val="203350"/>
                </a:solidFill>
                <a:latin typeface="DejaVu Sans"/>
              </a:defRPr>
            </a:pPr>
            <a:r>
              <a:t>02</a:t>
            </a:r>
          </a:p>
        </p:txBody>
      </p:sp>
      <p:pic>
        <p:nvPicPr>
          <p:cNvPr id="17" name="Picture 16" descr="hero.png"/>
          <p:cNvPicPr>
            <a:picLocks noChangeAspect="1"/>
          </p:cNvPicPr>
          <p:nvPr/>
        </p:nvPicPr>
        <p:blipFill>
          <a:blip r:embed="rId8"/>
          <a:stretch>
            <a:fillRect/>
          </a:stretch>
        </p:blipFill>
        <p:spPr>
          <a:xfrm>
            <a:off x="594360" y="2633472"/>
            <a:ext cx="10972800" cy="3438144"/>
          </a:xfrm>
          <a:prstGeom prst="rect">
            <a:avLst/>
          </a:prstGeom>
        </p:spPr>
      </p:pic>
    </p:spTree>
  </p:cSld>
  <p:clrMapOvr>
    <a:masterClrMapping/>
  </p:clrMapOvr>
  <p:transition advClick="1">
    <p:fade/>
  </p:transition>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BFF"/>
        </a:solidFill>
        <a:effectLst/>
      </p:bgPr>
    </p:bg>
    <p:spTree>
      <p:nvGrpSpPr>
        <p:cNvPr id="1" name=""/>
        <p:cNvGrpSpPr/>
        <p:nvPr/>
      </p:nvGrpSpPr>
      <p:grpSpPr/>
      <p:sp>
        <p:nvSpPr>
          <p:cNvPr id="2" name="TextBox 1"/>
          <p:cNvSpPr txBox="1"/>
          <p:nvPr/>
        </p:nvSpPr>
        <p:spPr>
          <a:xfrm>
            <a:off x="548640" y="365760"/>
            <a:ext cx="7223760" cy="228600"/>
          </a:xfrm>
          <a:prstGeom prst="rect">
            <a:avLst/>
          </a:prstGeom>
          <a:noFill/>
        </p:spPr>
        <p:txBody>
          <a:bodyPr wrap="square" lIns="0" rIns="0" tIns="0" bIns="0">
            <a:spAutoFit/>
          </a:bodyPr>
          <a:lstStyle/>
          <a:p>
            <a:pPr algn="l">
              <a:lnSpc>
                <a:spcPct val="101000"/>
              </a:lnSpc>
              <a:spcAft>
                <a:spcPts val="300"/>
              </a:spcAft>
              <a:defRPr sz="930" b="1">
                <a:solidFill>
                  <a:srgbClr val="137F7D"/>
                </a:solidFill>
                <a:latin typeface="DejaVu Sans"/>
              </a:defRPr>
            </a:pPr>
            <a:r>
              <a:t>OBJETIVO Y ALCANCE</a:t>
            </a:r>
          </a:p>
        </p:txBody>
      </p:sp>
      <p:sp>
        <p:nvSpPr>
          <p:cNvPr id="3" name="Rounded Rectangle 2">
            <a:hlinkClick action="ppaction://hlinksldjump" r:id="rId2"/>
          </p:cNvPr>
          <p:cNvSpPr/>
          <p:nvPr/>
        </p:nvSpPr>
        <p:spPr>
          <a:xfrm>
            <a:off x="8165592" y="301752"/>
            <a:ext cx="813816" cy="310896"/>
          </a:xfrm>
          <a:prstGeom prst="roundRect">
            <a:avLst>
              <a:gd name="adj" fmla="val 8000"/>
            </a:avLst>
          </a:prstGeom>
          <a:solidFill>
            <a:srgbClr val="E0F7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2"/>
          </p:cNvPr>
          <p:cNvSpPr txBox="1"/>
          <p:nvPr/>
        </p:nvSpPr>
        <p:spPr>
          <a:xfrm>
            <a:off x="8275319" y="384048"/>
            <a:ext cx="594360" cy="219456"/>
          </a:xfrm>
          <a:prstGeom prst="rect">
            <a:avLst/>
          </a:prstGeom>
          <a:noFill/>
        </p:spPr>
        <p:txBody>
          <a:bodyPr wrap="square" lIns="0" rIns="0" tIns="0" bIns="0">
            <a:spAutoFit/>
          </a:bodyPr>
          <a:lstStyle/>
          <a:p>
            <a:pPr algn="l">
              <a:lnSpc>
                <a:spcPct val="101000"/>
              </a:lnSpc>
              <a:spcAft>
                <a:spcPts val="300"/>
              </a:spcAft>
              <a:defRPr sz="800" b="1">
                <a:solidFill>
                  <a:srgbClr val="203350"/>
                </a:solidFill>
                <a:latin typeface="DejaVu Sans"/>
              </a:defRPr>
            </a:pPr>
            <a:r>
              <a:t>Preparar</a:t>
            </a:r>
          </a:p>
        </p:txBody>
      </p:sp>
      <p:sp>
        <p:nvSpPr>
          <p:cNvPr id="5" name="Rounded Rectangle 4">
            <a:hlinkClick action="ppaction://hlinksldjump" r:id="rId3"/>
          </p:cNvPr>
          <p:cNvSpPr/>
          <p:nvPr/>
        </p:nvSpPr>
        <p:spPr>
          <a:xfrm>
            <a:off x="9043416" y="301752"/>
            <a:ext cx="813816" cy="310896"/>
          </a:xfrm>
          <a:prstGeom prst="roundRect">
            <a:avLst>
              <a:gd name="adj" fmla="val 8000"/>
            </a:avLst>
          </a:prstGeom>
          <a:solidFill>
            <a:srgbClr val="E2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3"/>
          </p:cNvPr>
          <p:cNvSpPr txBox="1"/>
          <p:nvPr/>
        </p:nvSpPr>
        <p:spPr>
          <a:xfrm>
            <a:off x="9153144" y="384048"/>
            <a:ext cx="594360" cy="219456"/>
          </a:xfrm>
          <a:prstGeom prst="rect">
            <a:avLst/>
          </a:prstGeom>
          <a:noFill/>
        </p:spPr>
        <p:txBody>
          <a:bodyPr wrap="square" lIns="0" rIns="0" tIns="0" bIns="0">
            <a:spAutoFit/>
          </a:bodyPr>
          <a:lstStyle/>
          <a:p>
            <a:pPr algn="l">
              <a:lnSpc>
                <a:spcPct val="101000"/>
              </a:lnSpc>
              <a:spcAft>
                <a:spcPts val="300"/>
              </a:spcAft>
              <a:defRPr sz="800" b="1">
                <a:solidFill>
                  <a:srgbClr val="203350"/>
                </a:solidFill>
                <a:latin typeface="DejaVu Sans"/>
              </a:defRPr>
            </a:pPr>
            <a:r>
              <a:t>Importar</a:t>
            </a:r>
          </a:p>
        </p:txBody>
      </p:sp>
      <p:sp>
        <p:nvSpPr>
          <p:cNvPr id="7" name="Rounded Rectangle 6">
            <a:hlinkClick action="ppaction://hlinksldjump" r:id="rId4"/>
          </p:cNvPr>
          <p:cNvSpPr/>
          <p:nvPr/>
        </p:nvSpPr>
        <p:spPr>
          <a:xfrm>
            <a:off x="9921240" y="301752"/>
            <a:ext cx="813816" cy="310896"/>
          </a:xfrm>
          <a:prstGeom prst="roundRect">
            <a:avLst>
              <a:gd name="adj" fmla="val 8000"/>
            </a:avLst>
          </a:prstGeom>
          <a:solidFill>
            <a:srgbClr val="EEE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4"/>
          </p:cNvPr>
          <p:cNvSpPr txBox="1"/>
          <p:nvPr/>
        </p:nvSpPr>
        <p:spPr>
          <a:xfrm>
            <a:off x="10030967" y="384048"/>
            <a:ext cx="594360" cy="219456"/>
          </a:xfrm>
          <a:prstGeom prst="rect">
            <a:avLst/>
          </a:prstGeom>
          <a:noFill/>
        </p:spPr>
        <p:txBody>
          <a:bodyPr wrap="square" lIns="0" rIns="0" tIns="0" bIns="0">
            <a:spAutoFit/>
          </a:bodyPr>
          <a:lstStyle/>
          <a:p>
            <a:pPr algn="l">
              <a:lnSpc>
                <a:spcPct val="101000"/>
              </a:lnSpc>
              <a:spcAft>
                <a:spcPts val="300"/>
              </a:spcAft>
              <a:defRPr sz="800" b="1">
                <a:solidFill>
                  <a:srgbClr val="203350"/>
                </a:solidFill>
                <a:latin typeface="DejaVu Sans"/>
              </a:defRPr>
            </a:pPr>
            <a:r>
              <a:t>Calcular</a:t>
            </a:r>
          </a:p>
        </p:txBody>
      </p:sp>
      <p:sp>
        <p:nvSpPr>
          <p:cNvPr id="9" name="Rounded Rectangle 8">
            <a:hlinkClick action="ppaction://hlinksldjump" r:id="rId5"/>
          </p:cNvPr>
          <p:cNvSpPr/>
          <p:nvPr/>
        </p:nvSpPr>
        <p:spPr>
          <a:xfrm>
            <a:off x="10799063" y="301752"/>
            <a:ext cx="813816" cy="310896"/>
          </a:xfrm>
          <a:prstGeom prst="roundRect">
            <a:avLst>
              <a:gd name="adj" fmla="val 8000"/>
            </a:avLst>
          </a:prstGeom>
          <a:solidFill>
            <a:srgbClr val="FFF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5"/>
          </p:cNvPr>
          <p:cNvSpPr txBox="1"/>
          <p:nvPr/>
        </p:nvSpPr>
        <p:spPr>
          <a:xfrm>
            <a:off x="10908791" y="384048"/>
            <a:ext cx="594360" cy="219456"/>
          </a:xfrm>
          <a:prstGeom prst="rect">
            <a:avLst/>
          </a:prstGeom>
          <a:noFill/>
        </p:spPr>
        <p:txBody>
          <a:bodyPr wrap="square" lIns="0" rIns="0" tIns="0" bIns="0">
            <a:spAutoFit/>
          </a:bodyPr>
          <a:lstStyle/>
          <a:p>
            <a:pPr algn="l">
              <a:lnSpc>
                <a:spcPct val="101000"/>
              </a:lnSpc>
              <a:spcAft>
                <a:spcPts val="300"/>
              </a:spcAft>
              <a:defRPr sz="749" b="1">
                <a:solidFill>
                  <a:srgbClr val="203350"/>
                </a:solidFill>
                <a:latin typeface="DejaVu Sans"/>
              </a:defRPr>
            </a:pPr>
            <a:r>
              <a:t>Comprobar</a:t>
            </a:r>
          </a:p>
        </p:txBody>
      </p:sp>
      <p:sp>
        <p:nvSpPr>
          <p:cNvPr id="11" name="TextBox 10"/>
          <p:cNvSpPr txBox="1"/>
          <p:nvPr/>
        </p:nvSpPr>
        <p:spPr>
          <a:xfrm>
            <a:off x="548640" y="886968"/>
            <a:ext cx="11064240" cy="1234440"/>
          </a:xfrm>
          <a:prstGeom prst="rect">
            <a:avLst/>
          </a:prstGeom>
          <a:noFill/>
        </p:spPr>
        <p:txBody>
          <a:bodyPr wrap="square" lIns="0" rIns="0" tIns="0" bIns="0">
            <a:spAutoFit/>
          </a:bodyPr>
          <a:lstStyle/>
          <a:p>
            <a:pPr algn="l">
              <a:lnSpc>
                <a:spcPct val="101000"/>
              </a:lnSpc>
              <a:spcAft>
                <a:spcPts val="300"/>
              </a:spcAft>
              <a:defRPr sz="3900" b="1">
                <a:solidFill>
                  <a:srgbClr val="203350"/>
                </a:solidFill>
                <a:latin typeface="DejaVu Sans"/>
              </a:defRPr>
            </a:pPr>
            <a:r>
              <a:t>Antes de calcular:</a:t>
            </a:r>
          </a:p>
          <a:p>
            <a:pPr algn="l">
              <a:lnSpc>
                <a:spcPct val="101000"/>
              </a:lnSpc>
              <a:spcAft>
                <a:spcPts val="300"/>
              </a:spcAft>
              <a:defRPr sz="3900" b="1">
                <a:solidFill>
                  <a:srgbClr val="203350"/>
                </a:solidFill>
                <a:latin typeface="DejaVu Sans"/>
              </a:defRPr>
            </a:pPr>
            <a:r>
              <a:t>¿qué entra en nuestro sistema?</a:t>
            </a:r>
          </a:p>
        </p:txBody>
      </p:sp>
      <p:sp>
        <p:nvSpPr>
          <p:cNvPr id="12" name="TextBox 11"/>
          <p:cNvSpPr txBox="1"/>
          <p:nvPr/>
        </p:nvSpPr>
        <p:spPr>
          <a:xfrm>
            <a:off x="566928" y="2121408"/>
            <a:ext cx="10972800" cy="338328"/>
          </a:xfrm>
          <a:prstGeom prst="rect">
            <a:avLst/>
          </a:prstGeom>
          <a:noFill/>
        </p:spPr>
        <p:txBody>
          <a:bodyPr wrap="square" lIns="0" rIns="0" tIns="0" bIns="0">
            <a:spAutoFit/>
          </a:bodyPr>
          <a:lstStyle/>
          <a:p>
            <a:pPr algn="l">
              <a:lnSpc>
                <a:spcPct val="101000"/>
              </a:lnSpc>
              <a:spcAft>
                <a:spcPts val="300"/>
              </a:spcAft>
              <a:defRPr sz="1450" b="0">
                <a:solidFill>
                  <a:srgbClr val="5C6E83"/>
                </a:solidFill>
                <a:latin typeface="DejaVu Sans"/>
              </a:defRPr>
            </a:pPr>
            <a:r>
              <a:t>Frontera docente: producción, envase y preparación de la bebida.</a:t>
            </a:r>
          </a:p>
        </p:txBody>
      </p:sp>
      <p:sp>
        <p:nvSpPr>
          <p:cNvPr id="13" name="TextBox 12"/>
          <p:cNvSpPr txBox="1"/>
          <p:nvPr/>
        </p:nvSpPr>
        <p:spPr>
          <a:xfrm>
            <a:off x="548640" y="6446520"/>
            <a:ext cx="9784080" cy="219456"/>
          </a:xfrm>
          <a:prstGeom prst="rect">
            <a:avLst/>
          </a:prstGeom>
          <a:noFill/>
        </p:spPr>
        <p:txBody>
          <a:bodyPr wrap="square" lIns="0" rIns="0" tIns="0" bIns="0">
            <a:spAutoFit/>
          </a:bodyPr>
          <a:lstStyle/>
          <a:p>
            <a:pPr algn="l">
              <a:lnSpc>
                <a:spcPct val="101000"/>
              </a:lnSpc>
              <a:spcAft>
                <a:spcPts val="300"/>
              </a:spcAft>
              <a:defRPr sz="810" b="0">
                <a:solidFill>
                  <a:srgbClr val="5C6E83"/>
                </a:solidFill>
                <a:latin typeface="DejaVu Sans"/>
              </a:defRPr>
            </a:pPr>
            <a:r>
              <a:t>Alcance de la minibase docente · todos los inventarios son simulados</a:t>
            </a:r>
          </a:p>
        </p:txBody>
      </p:sp>
      <p:sp>
        <p:nvSpPr>
          <p:cNvPr id="14" name="Rounded Rectangle 13">
            <a:hlinkClick action="ppaction://hlinksldjump" r:id="rId6"/>
          </p:cNvPr>
          <p:cNvSpPr/>
          <p:nvPr/>
        </p:nvSpPr>
        <p:spPr>
          <a:xfrm>
            <a:off x="10442448" y="6400800"/>
            <a:ext cx="640080" cy="265176"/>
          </a:xfrm>
          <a:prstGeom prst="roundRect">
            <a:avLst>
              <a:gd name="adj" fmla="val 8000"/>
            </a:avLst>
          </a:prstGeom>
          <a:solidFill>
            <a:srgbClr val="EEE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a:hlinkClick action="ppaction://hlinksldjump" r:id="rId6"/>
          </p:cNvPr>
          <p:cNvSpPr txBox="1"/>
          <p:nvPr/>
        </p:nvSpPr>
        <p:spPr>
          <a:xfrm>
            <a:off x="10552176" y="6483096"/>
            <a:ext cx="420623" cy="173735"/>
          </a:xfrm>
          <a:prstGeom prst="rect">
            <a:avLst/>
          </a:prstGeom>
          <a:noFill/>
        </p:spPr>
        <p:txBody>
          <a:bodyPr wrap="square" lIns="0" rIns="0" tIns="0" bIns="0">
            <a:spAutoFit/>
          </a:bodyPr>
          <a:lstStyle/>
          <a:p>
            <a:pPr algn="l">
              <a:lnSpc>
                <a:spcPct val="101000"/>
              </a:lnSpc>
              <a:spcAft>
                <a:spcPts val="300"/>
              </a:spcAft>
              <a:defRPr sz="800" b="1">
                <a:solidFill>
                  <a:srgbClr val="8060BA"/>
                </a:solidFill>
                <a:latin typeface="DejaVu Sans"/>
              </a:defRPr>
            </a:pPr>
            <a:r>
              <a:t>Ruta</a:t>
            </a:r>
          </a:p>
        </p:txBody>
      </p:sp>
      <p:sp>
        <p:nvSpPr>
          <p:cNvPr id="16" name="TextBox 15"/>
          <p:cNvSpPr txBox="1"/>
          <p:nvPr/>
        </p:nvSpPr>
        <p:spPr>
          <a:xfrm>
            <a:off x="11228832" y="6400800"/>
            <a:ext cx="457200" cy="274320"/>
          </a:xfrm>
          <a:prstGeom prst="rect">
            <a:avLst/>
          </a:prstGeom>
          <a:noFill/>
        </p:spPr>
        <p:txBody>
          <a:bodyPr wrap="square" lIns="0" rIns="0" tIns="0" bIns="0">
            <a:spAutoFit/>
          </a:bodyPr>
          <a:lstStyle/>
          <a:p>
            <a:pPr algn="r">
              <a:lnSpc>
                <a:spcPct val="101000"/>
              </a:lnSpc>
              <a:spcAft>
                <a:spcPts val="300"/>
              </a:spcAft>
              <a:defRPr sz="1300" b="1">
                <a:solidFill>
                  <a:srgbClr val="203350"/>
                </a:solidFill>
                <a:latin typeface="DejaVu Sans"/>
              </a:defRPr>
            </a:pPr>
            <a:r>
              <a:t>03</a:t>
            </a:r>
          </a:p>
        </p:txBody>
      </p:sp>
      <p:pic>
        <p:nvPicPr>
          <p:cNvPr id="17" name="Picture 16" descr="boundary.png"/>
          <p:cNvPicPr>
            <a:picLocks noChangeAspect="1"/>
          </p:cNvPicPr>
          <p:nvPr/>
        </p:nvPicPr>
        <p:blipFill>
          <a:blip r:embed="rId8"/>
          <a:stretch>
            <a:fillRect/>
          </a:stretch>
        </p:blipFill>
        <p:spPr>
          <a:xfrm>
            <a:off x="594360" y="2633472"/>
            <a:ext cx="10972800" cy="3438144"/>
          </a:xfrm>
          <a:prstGeom prst="rect">
            <a:avLst/>
          </a:prstGeom>
        </p:spPr>
      </p:pic>
    </p:spTree>
  </p:cSld>
  <p:clrMapOvr>
    <a:masterClrMapping/>
  </p:clrMapOvr>
  <p:transition advClick="1">
    <p:fade/>
  </p:transition>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BFF"/>
        </a:solidFill>
        <a:effectLst/>
      </p:bgPr>
    </p:bg>
    <p:spTree>
      <p:nvGrpSpPr>
        <p:cNvPr id="1" name=""/>
        <p:cNvGrpSpPr/>
        <p:nvPr/>
      </p:nvGrpSpPr>
      <p:grpSpPr/>
      <p:sp>
        <p:nvSpPr>
          <p:cNvPr id="2" name="TextBox 1"/>
          <p:cNvSpPr txBox="1"/>
          <p:nvPr/>
        </p:nvSpPr>
        <p:spPr>
          <a:xfrm>
            <a:off x="548640" y="365760"/>
            <a:ext cx="7223760" cy="228600"/>
          </a:xfrm>
          <a:prstGeom prst="rect">
            <a:avLst/>
          </a:prstGeom>
          <a:noFill/>
        </p:spPr>
        <p:txBody>
          <a:bodyPr wrap="square" lIns="0" rIns="0" tIns="0" bIns="0">
            <a:spAutoFit/>
          </a:bodyPr>
          <a:lstStyle/>
          <a:p>
            <a:pPr algn="l">
              <a:lnSpc>
                <a:spcPct val="101000"/>
              </a:lnSpc>
              <a:spcAft>
                <a:spcPts val="300"/>
              </a:spcAft>
              <a:defRPr sz="930" b="1">
                <a:solidFill>
                  <a:srgbClr val="137F7D"/>
                </a:solidFill>
                <a:latin typeface="DejaVu Sans"/>
              </a:defRPr>
            </a:pPr>
            <a:r>
              <a:t>ACTIVA TU CRITERIO</a:t>
            </a:r>
          </a:p>
        </p:txBody>
      </p:sp>
      <p:sp>
        <p:nvSpPr>
          <p:cNvPr id="3" name="Rounded Rectangle 2">
            <a:hlinkClick action="ppaction://hlinksldjump" r:id="rId2"/>
          </p:cNvPr>
          <p:cNvSpPr/>
          <p:nvPr/>
        </p:nvSpPr>
        <p:spPr>
          <a:xfrm>
            <a:off x="8165592" y="301752"/>
            <a:ext cx="813816" cy="310896"/>
          </a:xfrm>
          <a:prstGeom prst="roundRect">
            <a:avLst>
              <a:gd name="adj" fmla="val 8000"/>
            </a:avLst>
          </a:prstGeom>
          <a:solidFill>
            <a:srgbClr val="E0F7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2"/>
          </p:cNvPr>
          <p:cNvSpPr txBox="1"/>
          <p:nvPr/>
        </p:nvSpPr>
        <p:spPr>
          <a:xfrm>
            <a:off x="8275319" y="384048"/>
            <a:ext cx="594360" cy="219456"/>
          </a:xfrm>
          <a:prstGeom prst="rect">
            <a:avLst/>
          </a:prstGeom>
          <a:noFill/>
        </p:spPr>
        <p:txBody>
          <a:bodyPr wrap="square" lIns="0" rIns="0" tIns="0" bIns="0">
            <a:spAutoFit/>
          </a:bodyPr>
          <a:lstStyle/>
          <a:p>
            <a:pPr algn="l">
              <a:lnSpc>
                <a:spcPct val="101000"/>
              </a:lnSpc>
              <a:spcAft>
                <a:spcPts val="300"/>
              </a:spcAft>
              <a:defRPr sz="800" b="1">
                <a:solidFill>
                  <a:srgbClr val="203350"/>
                </a:solidFill>
                <a:latin typeface="DejaVu Sans"/>
              </a:defRPr>
            </a:pPr>
            <a:r>
              <a:t>Preparar</a:t>
            </a:r>
          </a:p>
        </p:txBody>
      </p:sp>
      <p:sp>
        <p:nvSpPr>
          <p:cNvPr id="5" name="Rounded Rectangle 4">
            <a:hlinkClick action="ppaction://hlinksldjump" r:id="rId3"/>
          </p:cNvPr>
          <p:cNvSpPr/>
          <p:nvPr/>
        </p:nvSpPr>
        <p:spPr>
          <a:xfrm>
            <a:off x="9043416" y="301752"/>
            <a:ext cx="813816" cy="310896"/>
          </a:xfrm>
          <a:prstGeom prst="roundRect">
            <a:avLst>
              <a:gd name="adj" fmla="val 8000"/>
            </a:avLst>
          </a:prstGeom>
          <a:solidFill>
            <a:srgbClr val="E2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3"/>
          </p:cNvPr>
          <p:cNvSpPr txBox="1"/>
          <p:nvPr/>
        </p:nvSpPr>
        <p:spPr>
          <a:xfrm>
            <a:off x="9153144" y="384048"/>
            <a:ext cx="594360" cy="219456"/>
          </a:xfrm>
          <a:prstGeom prst="rect">
            <a:avLst/>
          </a:prstGeom>
          <a:noFill/>
        </p:spPr>
        <p:txBody>
          <a:bodyPr wrap="square" lIns="0" rIns="0" tIns="0" bIns="0">
            <a:spAutoFit/>
          </a:bodyPr>
          <a:lstStyle/>
          <a:p>
            <a:pPr algn="l">
              <a:lnSpc>
                <a:spcPct val="101000"/>
              </a:lnSpc>
              <a:spcAft>
                <a:spcPts val="300"/>
              </a:spcAft>
              <a:defRPr sz="800" b="1">
                <a:solidFill>
                  <a:srgbClr val="203350"/>
                </a:solidFill>
                <a:latin typeface="DejaVu Sans"/>
              </a:defRPr>
            </a:pPr>
            <a:r>
              <a:t>Importar</a:t>
            </a:r>
          </a:p>
        </p:txBody>
      </p:sp>
      <p:sp>
        <p:nvSpPr>
          <p:cNvPr id="7" name="Rounded Rectangle 6">
            <a:hlinkClick action="ppaction://hlinksldjump" r:id="rId4"/>
          </p:cNvPr>
          <p:cNvSpPr/>
          <p:nvPr/>
        </p:nvSpPr>
        <p:spPr>
          <a:xfrm>
            <a:off x="9921240" y="301752"/>
            <a:ext cx="813816" cy="310896"/>
          </a:xfrm>
          <a:prstGeom prst="roundRect">
            <a:avLst>
              <a:gd name="adj" fmla="val 8000"/>
            </a:avLst>
          </a:prstGeom>
          <a:solidFill>
            <a:srgbClr val="EEE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4"/>
          </p:cNvPr>
          <p:cNvSpPr txBox="1"/>
          <p:nvPr/>
        </p:nvSpPr>
        <p:spPr>
          <a:xfrm>
            <a:off x="10030967" y="384048"/>
            <a:ext cx="594360" cy="219456"/>
          </a:xfrm>
          <a:prstGeom prst="rect">
            <a:avLst/>
          </a:prstGeom>
          <a:noFill/>
        </p:spPr>
        <p:txBody>
          <a:bodyPr wrap="square" lIns="0" rIns="0" tIns="0" bIns="0">
            <a:spAutoFit/>
          </a:bodyPr>
          <a:lstStyle/>
          <a:p>
            <a:pPr algn="l">
              <a:lnSpc>
                <a:spcPct val="101000"/>
              </a:lnSpc>
              <a:spcAft>
                <a:spcPts val="300"/>
              </a:spcAft>
              <a:defRPr sz="800" b="1">
                <a:solidFill>
                  <a:srgbClr val="203350"/>
                </a:solidFill>
                <a:latin typeface="DejaVu Sans"/>
              </a:defRPr>
            </a:pPr>
            <a:r>
              <a:t>Calcular</a:t>
            </a:r>
          </a:p>
        </p:txBody>
      </p:sp>
      <p:sp>
        <p:nvSpPr>
          <p:cNvPr id="9" name="Rounded Rectangle 8">
            <a:hlinkClick action="ppaction://hlinksldjump" r:id="rId5"/>
          </p:cNvPr>
          <p:cNvSpPr/>
          <p:nvPr/>
        </p:nvSpPr>
        <p:spPr>
          <a:xfrm>
            <a:off x="10799063" y="301752"/>
            <a:ext cx="813816" cy="310896"/>
          </a:xfrm>
          <a:prstGeom prst="roundRect">
            <a:avLst>
              <a:gd name="adj" fmla="val 8000"/>
            </a:avLst>
          </a:prstGeom>
          <a:solidFill>
            <a:srgbClr val="FFF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5"/>
          </p:cNvPr>
          <p:cNvSpPr txBox="1"/>
          <p:nvPr/>
        </p:nvSpPr>
        <p:spPr>
          <a:xfrm>
            <a:off x="10908791" y="384048"/>
            <a:ext cx="594360" cy="219456"/>
          </a:xfrm>
          <a:prstGeom prst="rect">
            <a:avLst/>
          </a:prstGeom>
          <a:noFill/>
        </p:spPr>
        <p:txBody>
          <a:bodyPr wrap="square" lIns="0" rIns="0" tIns="0" bIns="0">
            <a:spAutoFit/>
          </a:bodyPr>
          <a:lstStyle/>
          <a:p>
            <a:pPr algn="l">
              <a:lnSpc>
                <a:spcPct val="101000"/>
              </a:lnSpc>
              <a:spcAft>
                <a:spcPts val="300"/>
              </a:spcAft>
              <a:defRPr sz="749" b="1">
                <a:solidFill>
                  <a:srgbClr val="203350"/>
                </a:solidFill>
                <a:latin typeface="DejaVu Sans"/>
              </a:defRPr>
            </a:pPr>
            <a:r>
              <a:t>Comprobar</a:t>
            </a:r>
          </a:p>
        </p:txBody>
      </p:sp>
      <p:sp>
        <p:nvSpPr>
          <p:cNvPr id="11" name="TextBox 10"/>
          <p:cNvSpPr txBox="1"/>
          <p:nvPr/>
        </p:nvSpPr>
        <p:spPr>
          <a:xfrm>
            <a:off x="548640" y="886968"/>
            <a:ext cx="11064240" cy="1234440"/>
          </a:xfrm>
          <a:prstGeom prst="rect">
            <a:avLst/>
          </a:prstGeom>
          <a:noFill/>
        </p:spPr>
        <p:txBody>
          <a:bodyPr wrap="square" lIns="0" rIns="0" tIns="0" bIns="0">
            <a:spAutoFit/>
          </a:bodyPr>
          <a:lstStyle/>
          <a:p>
            <a:pPr algn="l">
              <a:lnSpc>
                <a:spcPct val="101000"/>
              </a:lnSpc>
              <a:spcAft>
                <a:spcPts val="300"/>
              </a:spcAft>
              <a:defRPr sz="3900" b="1">
                <a:solidFill>
                  <a:srgbClr val="203350"/>
                </a:solidFill>
                <a:latin typeface="DejaVu Sans"/>
              </a:defRPr>
            </a:pPr>
            <a:r>
              <a:t>¿Qué debemos</a:t>
            </a:r>
          </a:p>
          <a:p>
            <a:pPr algn="l">
              <a:lnSpc>
                <a:spcPct val="101000"/>
              </a:lnSpc>
              <a:spcAft>
                <a:spcPts val="300"/>
              </a:spcAft>
              <a:defRPr sz="3900" b="1">
                <a:solidFill>
                  <a:srgbClr val="203350"/>
                </a:solidFill>
                <a:latin typeface="DejaVu Sans"/>
              </a:defRPr>
            </a:pPr>
            <a:r>
              <a:t>comparar en las dos alternativas?</a:t>
            </a:r>
          </a:p>
        </p:txBody>
      </p:sp>
      <p:sp>
        <p:nvSpPr>
          <p:cNvPr id="12" name="TextBox 11"/>
          <p:cNvSpPr txBox="1"/>
          <p:nvPr/>
        </p:nvSpPr>
        <p:spPr>
          <a:xfrm>
            <a:off x="566928" y="2121408"/>
            <a:ext cx="10972800" cy="338328"/>
          </a:xfrm>
          <a:prstGeom prst="rect">
            <a:avLst/>
          </a:prstGeom>
          <a:noFill/>
        </p:spPr>
        <p:txBody>
          <a:bodyPr wrap="square" lIns="0" rIns="0" tIns="0" bIns="0">
            <a:spAutoFit/>
          </a:bodyPr>
          <a:lstStyle/>
          <a:p>
            <a:pPr algn="l">
              <a:lnSpc>
                <a:spcPct val="101000"/>
              </a:lnSpc>
              <a:spcAft>
                <a:spcPts val="300"/>
              </a:spcAft>
              <a:defRPr sz="1450" b="0">
                <a:solidFill>
                  <a:srgbClr val="5C6E83"/>
                </a:solidFill>
                <a:latin typeface="DejaVu Sans"/>
              </a:defRPr>
            </a:pPr>
            <a:r>
              <a:t>Elige una referencia de cálculo que pueda aplicarse a ambos sistemas.</a:t>
            </a:r>
          </a:p>
        </p:txBody>
      </p:sp>
      <p:sp>
        <p:nvSpPr>
          <p:cNvPr id="13" name="TextBox 12"/>
          <p:cNvSpPr txBox="1"/>
          <p:nvPr/>
        </p:nvSpPr>
        <p:spPr>
          <a:xfrm>
            <a:off x="548640" y="6446520"/>
            <a:ext cx="9784080" cy="219456"/>
          </a:xfrm>
          <a:prstGeom prst="rect">
            <a:avLst/>
          </a:prstGeom>
          <a:noFill/>
        </p:spPr>
        <p:txBody>
          <a:bodyPr wrap="square" lIns="0" rIns="0" tIns="0" bIns="0">
            <a:spAutoFit/>
          </a:bodyPr>
          <a:lstStyle/>
          <a:p>
            <a:pPr algn="l">
              <a:lnSpc>
                <a:spcPct val="101000"/>
              </a:lnSpc>
              <a:spcAft>
                <a:spcPts val="300"/>
              </a:spcAft>
              <a:defRPr sz="810" b="0">
                <a:solidFill>
                  <a:srgbClr val="5C6E83"/>
                </a:solidFill>
                <a:latin typeface="DejaVu Sans"/>
              </a:defRPr>
            </a:pPr>
            <a:r>
              <a:t>Unidad funcional adoptada para esta práctica</a:t>
            </a:r>
          </a:p>
        </p:txBody>
      </p:sp>
      <p:sp>
        <p:nvSpPr>
          <p:cNvPr id="14" name="Rounded Rectangle 13">
            <a:hlinkClick action="ppaction://hlinksldjump" r:id="rId6"/>
          </p:cNvPr>
          <p:cNvSpPr/>
          <p:nvPr/>
        </p:nvSpPr>
        <p:spPr>
          <a:xfrm>
            <a:off x="10442448" y="6400800"/>
            <a:ext cx="640080" cy="265176"/>
          </a:xfrm>
          <a:prstGeom prst="roundRect">
            <a:avLst>
              <a:gd name="adj" fmla="val 8000"/>
            </a:avLst>
          </a:prstGeom>
          <a:solidFill>
            <a:srgbClr val="EEE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a:hlinkClick action="ppaction://hlinksldjump" r:id="rId6"/>
          </p:cNvPr>
          <p:cNvSpPr txBox="1"/>
          <p:nvPr/>
        </p:nvSpPr>
        <p:spPr>
          <a:xfrm>
            <a:off x="10552176" y="6483096"/>
            <a:ext cx="420623" cy="173735"/>
          </a:xfrm>
          <a:prstGeom prst="rect">
            <a:avLst/>
          </a:prstGeom>
          <a:noFill/>
        </p:spPr>
        <p:txBody>
          <a:bodyPr wrap="square" lIns="0" rIns="0" tIns="0" bIns="0">
            <a:spAutoFit/>
          </a:bodyPr>
          <a:lstStyle/>
          <a:p>
            <a:pPr algn="l">
              <a:lnSpc>
                <a:spcPct val="101000"/>
              </a:lnSpc>
              <a:spcAft>
                <a:spcPts val="300"/>
              </a:spcAft>
              <a:defRPr sz="800" b="1">
                <a:solidFill>
                  <a:srgbClr val="8060BA"/>
                </a:solidFill>
                <a:latin typeface="DejaVu Sans"/>
              </a:defRPr>
            </a:pPr>
            <a:r>
              <a:t>Ruta</a:t>
            </a:r>
          </a:p>
        </p:txBody>
      </p:sp>
      <p:sp>
        <p:nvSpPr>
          <p:cNvPr id="16" name="TextBox 15"/>
          <p:cNvSpPr txBox="1"/>
          <p:nvPr/>
        </p:nvSpPr>
        <p:spPr>
          <a:xfrm>
            <a:off x="11228832" y="6400800"/>
            <a:ext cx="457200" cy="274320"/>
          </a:xfrm>
          <a:prstGeom prst="rect">
            <a:avLst/>
          </a:prstGeom>
          <a:noFill/>
        </p:spPr>
        <p:txBody>
          <a:bodyPr wrap="square" lIns="0" rIns="0" tIns="0" bIns="0">
            <a:spAutoFit/>
          </a:bodyPr>
          <a:lstStyle/>
          <a:p>
            <a:pPr algn="r">
              <a:lnSpc>
                <a:spcPct val="101000"/>
              </a:lnSpc>
              <a:spcAft>
                <a:spcPts val="300"/>
              </a:spcAft>
              <a:defRPr sz="1300" b="1">
                <a:solidFill>
                  <a:srgbClr val="203350"/>
                </a:solidFill>
                <a:latin typeface="DejaVu Sans"/>
              </a:defRPr>
            </a:pPr>
            <a:r>
              <a:t>04</a:t>
            </a:r>
          </a:p>
        </p:txBody>
      </p:sp>
      <p:sp>
        <p:nvSpPr>
          <p:cNvPr id="17" name="Rounded Rectangle 16"/>
          <p:cNvSpPr/>
          <p:nvPr/>
        </p:nvSpPr>
        <p:spPr>
          <a:xfrm>
            <a:off x="594360" y="2761488"/>
            <a:ext cx="2880360" cy="3099816"/>
          </a:xfrm>
          <a:prstGeom prst="roundRect">
            <a:avLst>
              <a:gd name="adj" fmla="val 8000"/>
            </a:avLst>
          </a:prstGeom>
          <a:solidFill>
            <a:srgbClr val="EEE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co_target.png"/>
          <p:cNvPicPr>
            <a:picLocks noChangeAspect="1"/>
          </p:cNvPicPr>
          <p:nvPr/>
        </p:nvPicPr>
        <p:blipFill>
          <a:blip r:embed="rId8"/>
          <a:stretch>
            <a:fillRect/>
          </a:stretch>
        </p:blipFill>
        <p:spPr>
          <a:xfrm>
            <a:off x="1225296" y="3108960"/>
            <a:ext cx="1463040" cy="1463040"/>
          </a:xfrm>
          <a:prstGeom prst="rect">
            <a:avLst/>
          </a:prstGeom>
        </p:spPr>
      </p:pic>
      <p:sp>
        <p:nvSpPr>
          <p:cNvPr id="19" name="TextBox 18"/>
          <p:cNvSpPr txBox="1"/>
          <p:nvPr/>
        </p:nvSpPr>
        <p:spPr>
          <a:xfrm>
            <a:off x="932688" y="4809744"/>
            <a:ext cx="2194560" cy="777240"/>
          </a:xfrm>
          <a:prstGeom prst="rect">
            <a:avLst/>
          </a:prstGeom>
          <a:noFill/>
        </p:spPr>
        <p:txBody>
          <a:bodyPr wrap="square" lIns="0" rIns="0" tIns="0" bIns="0">
            <a:spAutoFit/>
          </a:bodyPr>
          <a:lstStyle/>
          <a:p>
            <a:pPr algn="ctr">
              <a:lnSpc>
                <a:spcPct val="101000"/>
              </a:lnSpc>
              <a:spcAft>
                <a:spcPts val="300"/>
              </a:spcAft>
              <a:defRPr sz="2400" b="1">
                <a:solidFill>
                  <a:srgbClr val="203350"/>
                </a:solidFill>
                <a:latin typeface="DejaVu Sans"/>
              </a:defRPr>
            </a:pPr>
            <a:r>
              <a:t>Función</a:t>
            </a:r>
          </a:p>
          <a:p>
            <a:pPr algn="ctr">
              <a:lnSpc>
                <a:spcPct val="101000"/>
              </a:lnSpc>
              <a:spcAft>
                <a:spcPts val="300"/>
              </a:spcAft>
              <a:defRPr sz="2400" b="1">
                <a:solidFill>
                  <a:srgbClr val="203350"/>
                </a:solidFill>
                <a:latin typeface="DejaVu Sans"/>
              </a:defRPr>
            </a:pPr>
            <a:r>
              <a:t>y alcance</a:t>
            </a:r>
          </a:p>
        </p:txBody>
      </p:sp>
      <p:sp>
        <p:nvSpPr>
          <p:cNvPr id="20" name="Rounded Rectangle 19">
            <a:hlinkClick action="ppaction://hlinksldjump" r:id="rId9"/>
          </p:cNvPr>
          <p:cNvSpPr/>
          <p:nvPr/>
        </p:nvSpPr>
        <p:spPr>
          <a:xfrm>
            <a:off x="3767328" y="2770632"/>
            <a:ext cx="7845552" cy="795528"/>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a:hlinkClick action="ppaction://hlinksldjump" r:id="rId9"/>
          </p:cNvPr>
          <p:cNvSpPr txBox="1"/>
          <p:nvPr/>
        </p:nvSpPr>
        <p:spPr>
          <a:xfrm>
            <a:off x="3877056" y="2852927"/>
            <a:ext cx="7626096" cy="704088"/>
          </a:xfrm>
          <a:prstGeom prst="rect">
            <a:avLst/>
          </a:prstGeom>
          <a:noFill/>
        </p:spPr>
        <p:txBody>
          <a:bodyPr wrap="square" lIns="0" rIns="0" tIns="0" bIns="0">
            <a:spAutoFit/>
          </a:bodyPr>
          <a:lstStyle/>
          <a:p>
            <a:pPr algn="l">
              <a:lnSpc>
                <a:spcPct val="101000"/>
              </a:lnSpc>
              <a:spcAft>
                <a:spcPts val="300"/>
              </a:spcAft>
              <a:defRPr sz="1600" b="1">
                <a:solidFill>
                  <a:srgbClr val="203350"/>
                </a:solidFill>
                <a:latin typeface="DejaVu Sans"/>
              </a:defRPr>
            </a:pPr>
            <a:r>
              <a:t>A   1 L de bebida lista, dentro de la misma frontera</a:t>
            </a:r>
          </a:p>
        </p:txBody>
      </p:sp>
      <p:sp>
        <p:nvSpPr>
          <p:cNvPr id="22" name="Rounded Rectangle 21">
            <a:hlinkClick action="ppaction://hlinksldjump" r:id="rId9"/>
          </p:cNvPr>
          <p:cNvSpPr/>
          <p:nvPr/>
        </p:nvSpPr>
        <p:spPr>
          <a:xfrm>
            <a:off x="3767328" y="3703320"/>
            <a:ext cx="7845552" cy="795528"/>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a:hlinkClick action="ppaction://hlinksldjump" r:id="rId9"/>
          </p:cNvPr>
          <p:cNvSpPr txBox="1"/>
          <p:nvPr/>
        </p:nvSpPr>
        <p:spPr>
          <a:xfrm>
            <a:off x="3877056" y="3785615"/>
            <a:ext cx="7626096" cy="704088"/>
          </a:xfrm>
          <a:prstGeom prst="rect">
            <a:avLst/>
          </a:prstGeom>
          <a:noFill/>
        </p:spPr>
        <p:txBody>
          <a:bodyPr wrap="square" lIns="0" rIns="0" tIns="0" bIns="0">
            <a:spAutoFit/>
          </a:bodyPr>
          <a:lstStyle/>
          <a:p>
            <a:pPr algn="l">
              <a:lnSpc>
                <a:spcPct val="101000"/>
              </a:lnSpc>
              <a:spcAft>
                <a:spcPts val="300"/>
              </a:spcAft>
              <a:defRPr sz="1600" b="1">
                <a:solidFill>
                  <a:srgbClr val="203350"/>
                </a:solidFill>
                <a:latin typeface="DejaVu Sans"/>
              </a:defRPr>
            </a:pPr>
            <a:r>
              <a:t>B   Una vaca frente a una hectárea de avena</a:t>
            </a:r>
          </a:p>
        </p:txBody>
      </p:sp>
      <p:sp>
        <p:nvSpPr>
          <p:cNvPr id="24" name="Rounded Rectangle 23">
            <a:hlinkClick action="ppaction://hlinksldjump" r:id="rId9"/>
          </p:cNvPr>
          <p:cNvSpPr/>
          <p:nvPr/>
        </p:nvSpPr>
        <p:spPr>
          <a:xfrm>
            <a:off x="3767328" y="4636008"/>
            <a:ext cx="7845552" cy="795528"/>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a:hlinkClick action="ppaction://hlinksldjump" r:id="rId9"/>
          </p:cNvPr>
          <p:cNvSpPr txBox="1"/>
          <p:nvPr/>
        </p:nvSpPr>
        <p:spPr>
          <a:xfrm>
            <a:off x="3877056" y="4718304"/>
            <a:ext cx="7626096" cy="704088"/>
          </a:xfrm>
          <a:prstGeom prst="rect">
            <a:avLst/>
          </a:prstGeom>
          <a:noFill/>
        </p:spPr>
        <p:txBody>
          <a:bodyPr wrap="square" lIns="0" rIns="0" tIns="0" bIns="0">
            <a:spAutoFit/>
          </a:bodyPr>
          <a:lstStyle/>
          <a:p>
            <a:pPr algn="l">
              <a:lnSpc>
                <a:spcPct val="101000"/>
              </a:lnSpc>
              <a:spcAft>
                <a:spcPts val="300"/>
              </a:spcAft>
              <a:defRPr sz="1600" b="1">
                <a:solidFill>
                  <a:srgbClr val="203350"/>
                </a:solidFill>
                <a:latin typeface="DejaVu Sans"/>
              </a:defRPr>
            </a:pPr>
            <a:r>
              <a:t>C   El envase que cueste menos</a:t>
            </a:r>
          </a:p>
        </p:txBody>
      </p:sp>
    </p:spTree>
  </p:cSld>
  <p:clrMapOvr>
    <a:masterClrMapping/>
  </p:clrMapOvr>
  <p:transition advClick="1">
    <p:fade/>
  </p:transition>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BFF"/>
        </a:solidFill>
        <a:effectLst/>
      </p:bgPr>
    </p:bg>
    <p:spTree>
      <p:nvGrpSpPr>
        <p:cNvPr id="1" name=""/>
        <p:cNvGrpSpPr/>
        <p:nvPr/>
      </p:nvGrpSpPr>
      <p:grpSpPr/>
      <p:sp>
        <p:nvSpPr>
          <p:cNvPr id="2" name="TextBox 1"/>
          <p:cNvSpPr txBox="1"/>
          <p:nvPr/>
        </p:nvSpPr>
        <p:spPr>
          <a:xfrm>
            <a:off x="548640" y="365760"/>
            <a:ext cx="7223760" cy="228600"/>
          </a:xfrm>
          <a:prstGeom prst="rect">
            <a:avLst/>
          </a:prstGeom>
          <a:noFill/>
        </p:spPr>
        <p:txBody>
          <a:bodyPr wrap="square" lIns="0" rIns="0" tIns="0" bIns="0">
            <a:spAutoFit/>
          </a:bodyPr>
          <a:lstStyle/>
          <a:p>
            <a:pPr algn="l">
              <a:lnSpc>
                <a:spcPct val="101000"/>
              </a:lnSpc>
              <a:spcAft>
                <a:spcPts val="300"/>
              </a:spcAft>
              <a:defRPr sz="930" b="1">
                <a:solidFill>
                  <a:srgbClr val="137F7D"/>
                </a:solidFill>
                <a:latin typeface="DejaVu Sans"/>
              </a:defRPr>
            </a:pPr>
            <a:r>
              <a:t>SOFTWARE, DATOS Y CASO</a:t>
            </a:r>
          </a:p>
        </p:txBody>
      </p:sp>
      <p:sp>
        <p:nvSpPr>
          <p:cNvPr id="3" name="Rounded Rectangle 2">
            <a:hlinkClick action="ppaction://hlinksldjump" r:id="rId2"/>
          </p:cNvPr>
          <p:cNvSpPr/>
          <p:nvPr/>
        </p:nvSpPr>
        <p:spPr>
          <a:xfrm>
            <a:off x="8165592" y="301752"/>
            <a:ext cx="813816" cy="310896"/>
          </a:xfrm>
          <a:prstGeom prst="roundRect">
            <a:avLst>
              <a:gd name="adj" fmla="val 8000"/>
            </a:avLst>
          </a:prstGeom>
          <a:solidFill>
            <a:srgbClr val="E0F7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2"/>
          </p:cNvPr>
          <p:cNvSpPr txBox="1"/>
          <p:nvPr/>
        </p:nvSpPr>
        <p:spPr>
          <a:xfrm>
            <a:off x="8275319" y="384048"/>
            <a:ext cx="594360" cy="219456"/>
          </a:xfrm>
          <a:prstGeom prst="rect">
            <a:avLst/>
          </a:prstGeom>
          <a:noFill/>
        </p:spPr>
        <p:txBody>
          <a:bodyPr wrap="square" lIns="0" rIns="0" tIns="0" bIns="0">
            <a:spAutoFit/>
          </a:bodyPr>
          <a:lstStyle/>
          <a:p>
            <a:pPr algn="l">
              <a:lnSpc>
                <a:spcPct val="101000"/>
              </a:lnSpc>
              <a:spcAft>
                <a:spcPts val="300"/>
              </a:spcAft>
              <a:defRPr sz="800" b="1">
                <a:solidFill>
                  <a:srgbClr val="203350"/>
                </a:solidFill>
                <a:latin typeface="DejaVu Sans"/>
              </a:defRPr>
            </a:pPr>
            <a:r>
              <a:t>Preparar</a:t>
            </a:r>
          </a:p>
        </p:txBody>
      </p:sp>
      <p:sp>
        <p:nvSpPr>
          <p:cNvPr id="5" name="Rounded Rectangle 4">
            <a:hlinkClick action="ppaction://hlinksldjump" r:id="rId3"/>
          </p:cNvPr>
          <p:cNvSpPr/>
          <p:nvPr/>
        </p:nvSpPr>
        <p:spPr>
          <a:xfrm>
            <a:off x="9043416" y="301752"/>
            <a:ext cx="813816" cy="310896"/>
          </a:xfrm>
          <a:prstGeom prst="roundRect">
            <a:avLst>
              <a:gd name="adj" fmla="val 8000"/>
            </a:avLst>
          </a:prstGeom>
          <a:solidFill>
            <a:srgbClr val="E2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3"/>
          </p:cNvPr>
          <p:cNvSpPr txBox="1"/>
          <p:nvPr/>
        </p:nvSpPr>
        <p:spPr>
          <a:xfrm>
            <a:off x="9153144" y="384048"/>
            <a:ext cx="594360" cy="219456"/>
          </a:xfrm>
          <a:prstGeom prst="rect">
            <a:avLst/>
          </a:prstGeom>
          <a:noFill/>
        </p:spPr>
        <p:txBody>
          <a:bodyPr wrap="square" lIns="0" rIns="0" tIns="0" bIns="0">
            <a:spAutoFit/>
          </a:bodyPr>
          <a:lstStyle/>
          <a:p>
            <a:pPr algn="l">
              <a:lnSpc>
                <a:spcPct val="101000"/>
              </a:lnSpc>
              <a:spcAft>
                <a:spcPts val="300"/>
              </a:spcAft>
              <a:defRPr sz="800" b="1">
                <a:solidFill>
                  <a:srgbClr val="203350"/>
                </a:solidFill>
                <a:latin typeface="DejaVu Sans"/>
              </a:defRPr>
            </a:pPr>
            <a:r>
              <a:t>Importar</a:t>
            </a:r>
          </a:p>
        </p:txBody>
      </p:sp>
      <p:sp>
        <p:nvSpPr>
          <p:cNvPr id="7" name="Rounded Rectangle 6">
            <a:hlinkClick action="ppaction://hlinksldjump" r:id="rId4"/>
          </p:cNvPr>
          <p:cNvSpPr/>
          <p:nvPr/>
        </p:nvSpPr>
        <p:spPr>
          <a:xfrm>
            <a:off x="9921240" y="301752"/>
            <a:ext cx="813816" cy="310896"/>
          </a:xfrm>
          <a:prstGeom prst="roundRect">
            <a:avLst>
              <a:gd name="adj" fmla="val 8000"/>
            </a:avLst>
          </a:prstGeom>
          <a:solidFill>
            <a:srgbClr val="EEE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4"/>
          </p:cNvPr>
          <p:cNvSpPr txBox="1"/>
          <p:nvPr/>
        </p:nvSpPr>
        <p:spPr>
          <a:xfrm>
            <a:off x="10030967" y="384048"/>
            <a:ext cx="594360" cy="219456"/>
          </a:xfrm>
          <a:prstGeom prst="rect">
            <a:avLst/>
          </a:prstGeom>
          <a:noFill/>
        </p:spPr>
        <p:txBody>
          <a:bodyPr wrap="square" lIns="0" rIns="0" tIns="0" bIns="0">
            <a:spAutoFit/>
          </a:bodyPr>
          <a:lstStyle/>
          <a:p>
            <a:pPr algn="l">
              <a:lnSpc>
                <a:spcPct val="101000"/>
              </a:lnSpc>
              <a:spcAft>
                <a:spcPts val="300"/>
              </a:spcAft>
              <a:defRPr sz="800" b="1">
                <a:solidFill>
                  <a:srgbClr val="203350"/>
                </a:solidFill>
                <a:latin typeface="DejaVu Sans"/>
              </a:defRPr>
            </a:pPr>
            <a:r>
              <a:t>Calcular</a:t>
            </a:r>
          </a:p>
        </p:txBody>
      </p:sp>
      <p:sp>
        <p:nvSpPr>
          <p:cNvPr id="9" name="Rounded Rectangle 8">
            <a:hlinkClick action="ppaction://hlinksldjump" r:id="rId5"/>
          </p:cNvPr>
          <p:cNvSpPr/>
          <p:nvPr/>
        </p:nvSpPr>
        <p:spPr>
          <a:xfrm>
            <a:off x="10799063" y="301752"/>
            <a:ext cx="813816" cy="310896"/>
          </a:xfrm>
          <a:prstGeom prst="roundRect">
            <a:avLst>
              <a:gd name="adj" fmla="val 8000"/>
            </a:avLst>
          </a:prstGeom>
          <a:solidFill>
            <a:srgbClr val="FFF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5"/>
          </p:cNvPr>
          <p:cNvSpPr txBox="1"/>
          <p:nvPr/>
        </p:nvSpPr>
        <p:spPr>
          <a:xfrm>
            <a:off x="10908791" y="384048"/>
            <a:ext cx="594360" cy="219456"/>
          </a:xfrm>
          <a:prstGeom prst="rect">
            <a:avLst/>
          </a:prstGeom>
          <a:noFill/>
        </p:spPr>
        <p:txBody>
          <a:bodyPr wrap="square" lIns="0" rIns="0" tIns="0" bIns="0">
            <a:spAutoFit/>
          </a:bodyPr>
          <a:lstStyle/>
          <a:p>
            <a:pPr algn="l">
              <a:lnSpc>
                <a:spcPct val="101000"/>
              </a:lnSpc>
              <a:spcAft>
                <a:spcPts val="300"/>
              </a:spcAft>
              <a:defRPr sz="749" b="1">
                <a:solidFill>
                  <a:srgbClr val="203350"/>
                </a:solidFill>
                <a:latin typeface="DejaVu Sans"/>
              </a:defRPr>
            </a:pPr>
            <a:r>
              <a:t>Comprobar</a:t>
            </a:r>
          </a:p>
        </p:txBody>
      </p:sp>
      <p:sp>
        <p:nvSpPr>
          <p:cNvPr id="11" name="TextBox 10"/>
          <p:cNvSpPr txBox="1"/>
          <p:nvPr/>
        </p:nvSpPr>
        <p:spPr>
          <a:xfrm>
            <a:off x="548640" y="886968"/>
            <a:ext cx="11064240" cy="1234440"/>
          </a:xfrm>
          <a:prstGeom prst="rect">
            <a:avLst/>
          </a:prstGeom>
          <a:noFill/>
        </p:spPr>
        <p:txBody>
          <a:bodyPr wrap="square" lIns="0" rIns="0" tIns="0" bIns="0">
            <a:spAutoFit/>
          </a:bodyPr>
          <a:lstStyle/>
          <a:p>
            <a:pPr algn="l">
              <a:lnSpc>
                <a:spcPct val="101000"/>
              </a:lnSpc>
              <a:spcAft>
                <a:spcPts val="300"/>
              </a:spcAft>
              <a:defRPr sz="3900" b="1">
                <a:solidFill>
                  <a:srgbClr val="203350"/>
                </a:solidFill>
                <a:latin typeface="DejaVu Sans"/>
              </a:defRPr>
            </a:pPr>
            <a:r>
              <a:t>Mismo tema oficial,</a:t>
            </a:r>
          </a:p>
          <a:p>
            <a:pPr algn="l">
              <a:lnSpc>
                <a:spcPct val="101000"/>
              </a:lnSpc>
              <a:spcAft>
                <a:spcPts val="300"/>
              </a:spcAft>
              <a:defRPr sz="3900" b="1">
                <a:solidFill>
                  <a:srgbClr val="203350"/>
                </a:solidFill>
                <a:latin typeface="DejaVu Sans"/>
              </a:defRPr>
            </a:pPr>
            <a:r>
              <a:t>un modelo docente transparente</a:t>
            </a:r>
          </a:p>
        </p:txBody>
      </p:sp>
      <p:sp>
        <p:nvSpPr>
          <p:cNvPr id="12" name="TextBox 11"/>
          <p:cNvSpPr txBox="1"/>
          <p:nvPr/>
        </p:nvSpPr>
        <p:spPr>
          <a:xfrm>
            <a:off x="566928" y="2121408"/>
            <a:ext cx="10972800" cy="338328"/>
          </a:xfrm>
          <a:prstGeom prst="rect">
            <a:avLst/>
          </a:prstGeom>
          <a:noFill/>
        </p:spPr>
        <p:txBody>
          <a:bodyPr wrap="square" lIns="0" rIns="0" tIns="0" bIns="0">
            <a:spAutoFit/>
          </a:bodyPr>
          <a:lstStyle/>
          <a:p>
            <a:pPr algn="l">
              <a:lnSpc>
                <a:spcPct val="101000"/>
              </a:lnSpc>
              <a:spcAft>
                <a:spcPts val="300"/>
              </a:spcAft>
              <a:defRPr sz="1450" b="0">
                <a:solidFill>
                  <a:srgbClr val="5C6E83"/>
                </a:solidFill>
                <a:latin typeface="DejaVu Sans"/>
              </a:defRPr>
            </a:pPr>
            <a:r>
              <a:t>La minibase gratuita se construyó para esta clase; no es AGRIBALYSE.</a:t>
            </a:r>
          </a:p>
        </p:txBody>
      </p:sp>
      <p:sp>
        <p:nvSpPr>
          <p:cNvPr id="13" name="TextBox 12"/>
          <p:cNvSpPr txBox="1"/>
          <p:nvPr/>
        </p:nvSpPr>
        <p:spPr>
          <a:xfrm>
            <a:off x="548640" y="6446520"/>
            <a:ext cx="9784080" cy="219456"/>
          </a:xfrm>
          <a:prstGeom prst="rect">
            <a:avLst/>
          </a:prstGeom>
          <a:noFill/>
        </p:spPr>
        <p:txBody>
          <a:bodyPr wrap="square" lIns="0" rIns="0" tIns="0" bIns="0">
            <a:spAutoFit/>
          </a:bodyPr>
          <a:lstStyle/>
          <a:p>
            <a:pPr algn="l">
              <a:lnSpc>
                <a:spcPct val="101000"/>
              </a:lnSpc>
              <a:spcAft>
                <a:spcPts val="300"/>
              </a:spcAft>
              <a:defRPr sz="810" b="0">
                <a:solidFill>
                  <a:srgbClr val="5C6E83"/>
                </a:solidFill>
                <a:latin typeface="DejaVu Sans"/>
              </a:defRPr>
            </a:pPr>
            <a:r>
              <a:t>GreenDelta, openLCA 2 manual, LCA case study; adaptación y datos propios</a:t>
            </a:r>
          </a:p>
        </p:txBody>
      </p:sp>
      <p:sp>
        <p:nvSpPr>
          <p:cNvPr id="14" name="Rounded Rectangle 13">
            <a:hlinkClick action="ppaction://hlinksldjump" r:id="rId6"/>
          </p:cNvPr>
          <p:cNvSpPr/>
          <p:nvPr/>
        </p:nvSpPr>
        <p:spPr>
          <a:xfrm>
            <a:off x="10442448" y="6400800"/>
            <a:ext cx="640080" cy="265176"/>
          </a:xfrm>
          <a:prstGeom prst="roundRect">
            <a:avLst>
              <a:gd name="adj" fmla="val 8000"/>
            </a:avLst>
          </a:prstGeom>
          <a:solidFill>
            <a:srgbClr val="EEE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a:hlinkClick action="ppaction://hlinksldjump" r:id="rId6"/>
          </p:cNvPr>
          <p:cNvSpPr txBox="1"/>
          <p:nvPr/>
        </p:nvSpPr>
        <p:spPr>
          <a:xfrm>
            <a:off x="10552176" y="6483096"/>
            <a:ext cx="420623" cy="173735"/>
          </a:xfrm>
          <a:prstGeom prst="rect">
            <a:avLst/>
          </a:prstGeom>
          <a:noFill/>
        </p:spPr>
        <p:txBody>
          <a:bodyPr wrap="square" lIns="0" rIns="0" tIns="0" bIns="0">
            <a:spAutoFit/>
          </a:bodyPr>
          <a:lstStyle/>
          <a:p>
            <a:pPr algn="l">
              <a:lnSpc>
                <a:spcPct val="101000"/>
              </a:lnSpc>
              <a:spcAft>
                <a:spcPts val="300"/>
              </a:spcAft>
              <a:defRPr sz="800" b="1">
                <a:solidFill>
                  <a:srgbClr val="8060BA"/>
                </a:solidFill>
                <a:latin typeface="DejaVu Sans"/>
              </a:defRPr>
            </a:pPr>
            <a:r>
              <a:t>Ruta</a:t>
            </a:r>
          </a:p>
        </p:txBody>
      </p:sp>
      <p:sp>
        <p:nvSpPr>
          <p:cNvPr id="16" name="TextBox 15"/>
          <p:cNvSpPr txBox="1"/>
          <p:nvPr/>
        </p:nvSpPr>
        <p:spPr>
          <a:xfrm>
            <a:off x="11228832" y="6400800"/>
            <a:ext cx="457200" cy="274320"/>
          </a:xfrm>
          <a:prstGeom prst="rect">
            <a:avLst/>
          </a:prstGeom>
          <a:noFill/>
        </p:spPr>
        <p:txBody>
          <a:bodyPr wrap="square" lIns="0" rIns="0" tIns="0" bIns="0">
            <a:spAutoFit/>
          </a:bodyPr>
          <a:lstStyle/>
          <a:p>
            <a:pPr algn="r">
              <a:lnSpc>
                <a:spcPct val="101000"/>
              </a:lnSpc>
              <a:spcAft>
                <a:spcPts val="300"/>
              </a:spcAft>
              <a:defRPr sz="1300" b="1">
                <a:solidFill>
                  <a:srgbClr val="203350"/>
                </a:solidFill>
                <a:latin typeface="DejaVu Sans"/>
              </a:defRPr>
            </a:pPr>
            <a:r>
              <a:t>05</a:t>
            </a:r>
          </a:p>
        </p:txBody>
      </p:sp>
      <p:pic>
        <p:nvPicPr>
          <p:cNvPr id="17" name="Picture 16" descr="workflow.png"/>
          <p:cNvPicPr>
            <a:picLocks noChangeAspect="1"/>
          </p:cNvPicPr>
          <p:nvPr/>
        </p:nvPicPr>
        <p:blipFill>
          <a:blip r:embed="rId8"/>
          <a:stretch>
            <a:fillRect/>
          </a:stretch>
        </p:blipFill>
        <p:spPr>
          <a:xfrm>
            <a:off x="594360" y="2633472"/>
            <a:ext cx="10972800" cy="3154680"/>
          </a:xfrm>
          <a:prstGeom prst="rect">
            <a:avLst/>
          </a:prstGeom>
        </p:spPr>
      </p:pic>
      <p:sp>
        <p:nvSpPr>
          <p:cNvPr id="18" name="Rounded Rectangle 17">
            <a:hlinkClick r:id="rId9"/>
          </p:cNvPr>
          <p:cNvSpPr/>
          <p:nvPr/>
        </p:nvSpPr>
        <p:spPr>
          <a:xfrm>
            <a:off x="777240" y="5925312"/>
            <a:ext cx="4389120" cy="320040"/>
          </a:xfrm>
          <a:prstGeom prst="roundRect">
            <a:avLst>
              <a:gd name="adj" fmla="val 8000"/>
            </a:avLst>
          </a:prstGeom>
          <a:solidFill>
            <a:srgbClr val="EEE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a:hlinkClick r:id="rId9"/>
          </p:cNvPr>
          <p:cNvSpPr txBox="1"/>
          <p:nvPr/>
        </p:nvSpPr>
        <p:spPr>
          <a:xfrm>
            <a:off x="886968" y="6007608"/>
            <a:ext cx="4169663" cy="228599"/>
          </a:xfrm>
          <a:prstGeom prst="rect">
            <a:avLst/>
          </a:prstGeom>
          <a:noFill/>
        </p:spPr>
        <p:txBody>
          <a:bodyPr wrap="square" lIns="0" rIns="0" tIns="0" bIns="0">
            <a:spAutoFit/>
          </a:bodyPr>
          <a:lstStyle/>
          <a:p>
            <a:pPr algn="l">
              <a:lnSpc>
                <a:spcPct val="101000"/>
              </a:lnSpc>
              <a:spcAft>
                <a:spcPts val="300"/>
              </a:spcAft>
              <a:defRPr sz="1000" b="1">
                <a:solidFill>
                  <a:srgbClr val="8060BA"/>
                </a:solidFill>
                <a:latin typeface="DejaVu Sans"/>
              </a:defRPr>
            </a:pPr>
            <a:r>
              <a:t>Abrir caso oficial de referencia</a:t>
            </a:r>
          </a:p>
        </p:txBody>
      </p:sp>
    </p:spTree>
  </p:cSld>
  <p:clrMapOvr>
    <a:masterClrMapping/>
  </p:clrMapOvr>
  <p:transition advClick="1">
    <p:fade/>
  </p:transition>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BFF"/>
        </a:solidFill>
        <a:effectLst/>
      </p:bgPr>
    </p:bg>
    <p:spTree>
      <p:nvGrpSpPr>
        <p:cNvPr id="1" name=""/>
        <p:cNvGrpSpPr/>
        <p:nvPr/>
      </p:nvGrpSpPr>
      <p:grpSpPr/>
      <p:sp>
        <p:nvSpPr>
          <p:cNvPr id="2" name="TextBox 1"/>
          <p:cNvSpPr txBox="1"/>
          <p:nvPr/>
        </p:nvSpPr>
        <p:spPr>
          <a:xfrm>
            <a:off x="548640" y="365760"/>
            <a:ext cx="7223760" cy="228600"/>
          </a:xfrm>
          <a:prstGeom prst="rect">
            <a:avLst/>
          </a:prstGeom>
          <a:noFill/>
        </p:spPr>
        <p:txBody>
          <a:bodyPr wrap="square" lIns="0" rIns="0" tIns="0" bIns="0">
            <a:spAutoFit/>
          </a:bodyPr>
          <a:lstStyle/>
          <a:p>
            <a:pPr algn="l">
              <a:lnSpc>
                <a:spcPct val="101000"/>
              </a:lnSpc>
              <a:spcAft>
                <a:spcPts val="300"/>
              </a:spcAft>
              <a:defRPr sz="930" b="1">
                <a:solidFill>
                  <a:srgbClr val="137F7D"/>
                </a:solidFill>
                <a:latin typeface="DejaVu Sans"/>
              </a:defRPr>
            </a:pPr>
            <a:r>
              <a:t>PREPARACIÓN PREVIA</a:t>
            </a:r>
          </a:p>
        </p:txBody>
      </p:sp>
      <p:sp>
        <p:nvSpPr>
          <p:cNvPr id="3" name="Rounded Rectangle 2">
            <a:hlinkClick action="ppaction://hlinksldjump" r:id="rId2"/>
          </p:cNvPr>
          <p:cNvSpPr/>
          <p:nvPr/>
        </p:nvSpPr>
        <p:spPr>
          <a:xfrm>
            <a:off x="8165592" y="301752"/>
            <a:ext cx="813816" cy="310896"/>
          </a:xfrm>
          <a:prstGeom prst="roundRect">
            <a:avLst>
              <a:gd name="adj" fmla="val 8000"/>
            </a:avLst>
          </a:prstGeom>
          <a:solidFill>
            <a:srgbClr val="E0F7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2"/>
          </p:cNvPr>
          <p:cNvSpPr txBox="1"/>
          <p:nvPr/>
        </p:nvSpPr>
        <p:spPr>
          <a:xfrm>
            <a:off x="8275319" y="384048"/>
            <a:ext cx="594360" cy="219456"/>
          </a:xfrm>
          <a:prstGeom prst="rect">
            <a:avLst/>
          </a:prstGeom>
          <a:noFill/>
        </p:spPr>
        <p:txBody>
          <a:bodyPr wrap="square" lIns="0" rIns="0" tIns="0" bIns="0">
            <a:spAutoFit/>
          </a:bodyPr>
          <a:lstStyle/>
          <a:p>
            <a:pPr algn="l">
              <a:lnSpc>
                <a:spcPct val="101000"/>
              </a:lnSpc>
              <a:spcAft>
                <a:spcPts val="300"/>
              </a:spcAft>
              <a:defRPr sz="800" b="1">
                <a:solidFill>
                  <a:srgbClr val="203350"/>
                </a:solidFill>
                <a:latin typeface="DejaVu Sans"/>
              </a:defRPr>
            </a:pPr>
            <a:r>
              <a:t>Preparar</a:t>
            </a:r>
          </a:p>
        </p:txBody>
      </p:sp>
      <p:sp>
        <p:nvSpPr>
          <p:cNvPr id="5" name="Rounded Rectangle 4">
            <a:hlinkClick action="ppaction://hlinksldjump" r:id="rId3"/>
          </p:cNvPr>
          <p:cNvSpPr/>
          <p:nvPr/>
        </p:nvSpPr>
        <p:spPr>
          <a:xfrm>
            <a:off x="9043416" y="301752"/>
            <a:ext cx="813816" cy="310896"/>
          </a:xfrm>
          <a:prstGeom prst="roundRect">
            <a:avLst>
              <a:gd name="adj" fmla="val 8000"/>
            </a:avLst>
          </a:prstGeom>
          <a:solidFill>
            <a:srgbClr val="E2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3"/>
          </p:cNvPr>
          <p:cNvSpPr txBox="1"/>
          <p:nvPr/>
        </p:nvSpPr>
        <p:spPr>
          <a:xfrm>
            <a:off x="9153144" y="384048"/>
            <a:ext cx="594360" cy="219456"/>
          </a:xfrm>
          <a:prstGeom prst="rect">
            <a:avLst/>
          </a:prstGeom>
          <a:noFill/>
        </p:spPr>
        <p:txBody>
          <a:bodyPr wrap="square" lIns="0" rIns="0" tIns="0" bIns="0">
            <a:spAutoFit/>
          </a:bodyPr>
          <a:lstStyle/>
          <a:p>
            <a:pPr algn="l">
              <a:lnSpc>
                <a:spcPct val="101000"/>
              </a:lnSpc>
              <a:spcAft>
                <a:spcPts val="300"/>
              </a:spcAft>
              <a:defRPr sz="800" b="1">
                <a:solidFill>
                  <a:srgbClr val="203350"/>
                </a:solidFill>
                <a:latin typeface="DejaVu Sans"/>
              </a:defRPr>
            </a:pPr>
            <a:r>
              <a:t>Importar</a:t>
            </a:r>
          </a:p>
        </p:txBody>
      </p:sp>
      <p:sp>
        <p:nvSpPr>
          <p:cNvPr id="7" name="Rounded Rectangle 6">
            <a:hlinkClick action="ppaction://hlinksldjump" r:id="rId4"/>
          </p:cNvPr>
          <p:cNvSpPr/>
          <p:nvPr/>
        </p:nvSpPr>
        <p:spPr>
          <a:xfrm>
            <a:off x="9921240" y="301752"/>
            <a:ext cx="813816" cy="310896"/>
          </a:xfrm>
          <a:prstGeom prst="roundRect">
            <a:avLst>
              <a:gd name="adj" fmla="val 8000"/>
            </a:avLst>
          </a:prstGeom>
          <a:solidFill>
            <a:srgbClr val="EEE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4"/>
          </p:cNvPr>
          <p:cNvSpPr txBox="1"/>
          <p:nvPr/>
        </p:nvSpPr>
        <p:spPr>
          <a:xfrm>
            <a:off x="10030967" y="384048"/>
            <a:ext cx="594360" cy="219456"/>
          </a:xfrm>
          <a:prstGeom prst="rect">
            <a:avLst/>
          </a:prstGeom>
          <a:noFill/>
        </p:spPr>
        <p:txBody>
          <a:bodyPr wrap="square" lIns="0" rIns="0" tIns="0" bIns="0">
            <a:spAutoFit/>
          </a:bodyPr>
          <a:lstStyle/>
          <a:p>
            <a:pPr algn="l">
              <a:lnSpc>
                <a:spcPct val="101000"/>
              </a:lnSpc>
              <a:spcAft>
                <a:spcPts val="300"/>
              </a:spcAft>
              <a:defRPr sz="800" b="1">
                <a:solidFill>
                  <a:srgbClr val="203350"/>
                </a:solidFill>
                <a:latin typeface="DejaVu Sans"/>
              </a:defRPr>
            </a:pPr>
            <a:r>
              <a:t>Calcular</a:t>
            </a:r>
          </a:p>
        </p:txBody>
      </p:sp>
      <p:sp>
        <p:nvSpPr>
          <p:cNvPr id="9" name="Rounded Rectangle 8">
            <a:hlinkClick action="ppaction://hlinksldjump" r:id="rId5"/>
          </p:cNvPr>
          <p:cNvSpPr/>
          <p:nvPr/>
        </p:nvSpPr>
        <p:spPr>
          <a:xfrm>
            <a:off x="10799063" y="301752"/>
            <a:ext cx="813816" cy="310896"/>
          </a:xfrm>
          <a:prstGeom prst="roundRect">
            <a:avLst>
              <a:gd name="adj" fmla="val 8000"/>
            </a:avLst>
          </a:prstGeom>
          <a:solidFill>
            <a:srgbClr val="FFF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5"/>
          </p:cNvPr>
          <p:cNvSpPr txBox="1"/>
          <p:nvPr/>
        </p:nvSpPr>
        <p:spPr>
          <a:xfrm>
            <a:off x="10908791" y="384048"/>
            <a:ext cx="594360" cy="219456"/>
          </a:xfrm>
          <a:prstGeom prst="rect">
            <a:avLst/>
          </a:prstGeom>
          <a:noFill/>
        </p:spPr>
        <p:txBody>
          <a:bodyPr wrap="square" lIns="0" rIns="0" tIns="0" bIns="0">
            <a:spAutoFit/>
          </a:bodyPr>
          <a:lstStyle/>
          <a:p>
            <a:pPr algn="l">
              <a:lnSpc>
                <a:spcPct val="101000"/>
              </a:lnSpc>
              <a:spcAft>
                <a:spcPts val="300"/>
              </a:spcAft>
              <a:defRPr sz="749" b="1">
                <a:solidFill>
                  <a:srgbClr val="203350"/>
                </a:solidFill>
                <a:latin typeface="DejaVu Sans"/>
              </a:defRPr>
            </a:pPr>
            <a:r>
              <a:t>Comprobar</a:t>
            </a:r>
          </a:p>
        </p:txBody>
      </p:sp>
      <p:sp>
        <p:nvSpPr>
          <p:cNvPr id="11" name="TextBox 10"/>
          <p:cNvSpPr txBox="1"/>
          <p:nvPr/>
        </p:nvSpPr>
        <p:spPr>
          <a:xfrm>
            <a:off x="548640" y="886968"/>
            <a:ext cx="11064240" cy="1234440"/>
          </a:xfrm>
          <a:prstGeom prst="rect">
            <a:avLst/>
          </a:prstGeom>
          <a:noFill/>
        </p:spPr>
        <p:txBody>
          <a:bodyPr wrap="square" lIns="0" rIns="0" tIns="0" bIns="0">
            <a:spAutoFit/>
          </a:bodyPr>
          <a:lstStyle/>
          <a:p>
            <a:pPr algn="l">
              <a:lnSpc>
                <a:spcPct val="101000"/>
              </a:lnSpc>
              <a:spcAft>
                <a:spcPts val="300"/>
              </a:spcAft>
              <a:defRPr sz="3900" b="1">
                <a:solidFill>
                  <a:srgbClr val="203350"/>
                </a:solidFill>
                <a:latin typeface="DejaVu Sans"/>
              </a:defRPr>
            </a:pPr>
            <a:r>
              <a:t>Llegamos con el programa</a:t>
            </a:r>
          </a:p>
          <a:p>
            <a:pPr algn="l">
              <a:lnSpc>
                <a:spcPct val="101000"/>
              </a:lnSpc>
              <a:spcAft>
                <a:spcPts val="300"/>
              </a:spcAft>
              <a:defRPr sz="3900" b="1">
                <a:solidFill>
                  <a:srgbClr val="203350"/>
                </a:solidFill>
                <a:latin typeface="DejaVu Sans"/>
              </a:defRPr>
            </a:pPr>
            <a:r>
              <a:t>listo para trabajar</a:t>
            </a:r>
          </a:p>
        </p:txBody>
      </p:sp>
      <p:sp>
        <p:nvSpPr>
          <p:cNvPr id="12" name="TextBox 11"/>
          <p:cNvSpPr txBox="1"/>
          <p:nvPr/>
        </p:nvSpPr>
        <p:spPr>
          <a:xfrm>
            <a:off x="566928" y="2121408"/>
            <a:ext cx="10972800" cy="338328"/>
          </a:xfrm>
          <a:prstGeom prst="rect">
            <a:avLst/>
          </a:prstGeom>
          <a:noFill/>
        </p:spPr>
        <p:txBody>
          <a:bodyPr wrap="square" lIns="0" rIns="0" tIns="0" bIns="0">
            <a:spAutoFit/>
          </a:bodyPr>
          <a:lstStyle/>
          <a:p>
            <a:pPr algn="l">
              <a:lnSpc>
                <a:spcPct val="101000"/>
              </a:lnSpc>
              <a:spcAft>
                <a:spcPts val="300"/>
              </a:spcAft>
              <a:defRPr sz="1450" b="0">
                <a:solidFill>
                  <a:srgbClr val="5C6E83"/>
                </a:solidFill>
                <a:latin typeface="DejaVu Sans"/>
              </a:defRPr>
            </a:pPr>
            <a:r>
              <a:t>La guía Word contiene la descarga e instalación paso a paso en Windows.</a:t>
            </a:r>
          </a:p>
        </p:txBody>
      </p:sp>
      <p:sp>
        <p:nvSpPr>
          <p:cNvPr id="13" name="TextBox 12"/>
          <p:cNvSpPr txBox="1"/>
          <p:nvPr/>
        </p:nvSpPr>
        <p:spPr>
          <a:xfrm>
            <a:off x="548640" y="6446520"/>
            <a:ext cx="9784080" cy="219456"/>
          </a:xfrm>
          <a:prstGeom prst="rect">
            <a:avLst/>
          </a:prstGeom>
          <a:noFill/>
        </p:spPr>
        <p:txBody>
          <a:bodyPr wrap="square" lIns="0" rIns="0" tIns="0" bIns="0">
            <a:spAutoFit/>
          </a:bodyPr>
          <a:lstStyle/>
          <a:p>
            <a:pPr algn="l">
              <a:lnSpc>
                <a:spcPct val="101000"/>
              </a:lnSpc>
              <a:spcAft>
                <a:spcPts val="300"/>
              </a:spcAft>
              <a:defRPr sz="810" b="0">
                <a:solidFill>
                  <a:srgbClr val="5C6E83"/>
                </a:solidFill>
                <a:latin typeface="DejaVu Sans"/>
              </a:defRPr>
            </a:pPr>
            <a:r>
              <a:t>Manual oficial: Download and installation · ruta principal Windows ZIP</a:t>
            </a:r>
          </a:p>
        </p:txBody>
      </p:sp>
      <p:sp>
        <p:nvSpPr>
          <p:cNvPr id="14" name="Rounded Rectangle 13">
            <a:hlinkClick action="ppaction://hlinksldjump" r:id="rId6"/>
          </p:cNvPr>
          <p:cNvSpPr/>
          <p:nvPr/>
        </p:nvSpPr>
        <p:spPr>
          <a:xfrm>
            <a:off x="10442448" y="6400800"/>
            <a:ext cx="640080" cy="265176"/>
          </a:xfrm>
          <a:prstGeom prst="roundRect">
            <a:avLst>
              <a:gd name="adj" fmla="val 8000"/>
            </a:avLst>
          </a:prstGeom>
          <a:solidFill>
            <a:srgbClr val="EEE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a:hlinkClick action="ppaction://hlinksldjump" r:id="rId6"/>
          </p:cNvPr>
          <p:cNvSpPr txBox="1"/>
          <p:nvPr/>
        </p:nvSpPr>
        <p:spPr>
          <a:xfrm>
            <a:off x="10552176" y="6483096"/>
            <a:ext cx="420623" cy="173735"/>
          </a:xfrm>
          <a:prstGeom prst="rect">
            <a:avLst/>
          </a:prstGeom>
          <a:noFill/>
        </p:spPr>
        <p:txBody>
          <a:bodyPr wrap="square" lIns="0" rIns="0" tIns="0" bIns="0">
            <a:spAutoFit/>
          </a:bodyPr>
          <a:lstStyle/>
          <a:p>
            <a:pPr algn="l">
              <a:lnSpc>
                <a:spcPct val="101000"/>
              </a:lnSpc>
              <a:spcAft>
                <a:spcPts val="300"/>
              </a:spcAft>
              <a:defRPr sz="800" b="1">
                <a:solidFill>
                  <a:srgbClr val="8060BA"/>
                </a:solidFill>
                <a:latin typeface="DejaVu Sans"/>
              </a:defRPr>
            </a:pPr>
            <a:r>
              <a:t>Ruta</a:t>
            </a:r>
          </a:p>
        </p:txBody>
      </p:sp>
      <p:sp>
        <p:nvSpPr>
          <p:cNvPr id="16" name="TextBox 15"/>
          <p:cNvSpPr txBox="1"/>
          <p:nvPr/>
        </p:nvSpPr>
        <p:spPr>
          <a:xfrm>
            <a:off x="11228832" y="6400800"/>
            <a:ext cx="457200" cy="274320"/>
          </a:xfrm>
          <a:prstGeom prst="rect">
            <a:avLst/>
          </a:prstGeom>
          <a:noFill/>
        </p:spPr>
        <p:txBody>
          <a:bodyPr wrap="square" lIns="0" rIns="0" tIns="0" bIns="0">
            <a:spAutoFit/>
          </a:bodyPr>
          <a:lstStyle/>
          <a:p>
            <a:pPr algn="r">
              <a:lnSpc>
                <a:spcPct val="101000"/>
              </a:lnSpc>
              <a:spcAft>
                <a:spcPts val="300"/>
              </a:spcAft>
              <a:defRPr sz="1300" b="1">
                <a:solidFill>
                  <a:srgbClr val="203350"/>
                </a:solidFill>
                <a:latin typeface="DejaVu Sans"/>
              </a:defRPr>
            </a:pPr>
            <a:r>
              <a:t>06</a:t>
            </a:r>
          </a:p>
        </p:txBody>
      </p:sp>
      <p:pic>
        <p:nvPicPr>
          <p:cNvPr id="17" name="Picture 16" descr="files.png"/>
          <p:cNvPicPr>
            <a:picLocks noChangeAspect="1"/>
          </p:cNvPicPr>
          <p:nvPr/>
        </p:nvPicPr>
        <p:blipFill>
          <a:blip r:embed="rId8"/>
          <a:stretch>
            <a:fillRect/>
          </a:stretch>
        </p:blipFill>
        <p:spPr>
          <a:xfrm>
            <a:off x="594360" y="2633472"/>
            <a:ext cx="10972800" cy="2971800"/>
          </a:xfrm>
          <a:prstGeom prst="rect">
            <a:avLst/>
          </a:prstGeom>
        </p:spPr>
      </p:pic>
      <p:sp>
        <p:nvSpPr>
          <p:cNvPr id="18" name="Rounded Rectangle 17">
            <a:hlinkClick r:id="rId9"/>
          </p:cNvPr>
          <p:cNvSpPr/>
          <p:nvPr/>
        </p:nvSpPr>
        <p:spPr>
          <a:xfrm>
            <a:off x="658368" y="5806440"/>
            <a:ext cx="2679192" cy="393192"/>
          </a:xfrm>
          <a:prstGeom prst="roundRect">
            <a:avLst>
              <a:gd name="adj" fmla="val 8000"/>
            </a:avLst>
          </a:prstGeom>
          <a:solidFill>
            <a:srgbClr val="E0F7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a:hlinkClick r:id="rId9"/>
          </p:cNvPr>
          <p:cNvSpPr txBox="1"/>
          <p:nvPr/>
        </p:nvSpPr>
        <p:spPr>
          <a:xfrm>
            <a:off x="768096" y="5888736"/>
            <a:ext cx="2459736" cy="301751"/>
          </a:xfrm>
          <a:prstGeom prst="rect">
            <a:avLst/>
          </a:prstGeom>
          <a:noFill/>
        </p:spPr>
        <p:txBody>
          <a:bodyPr wrap="square" lIns="0" rIns="0" tIns="0" bIns="0">
            <a:spAutoFit/>
          </a:bodyPr>
          <a:lstStyle/>
          <a:p>
            <a:pPr algn="l">
              <a:lnSpc>
                <a:spcPct val="101000"/>
              </a:lnSpc>
              <a:spcAft>
                <a:spcPts val="300"/>
              </a:spcAft>
              <a:defRPr sz="1100" b="1">
                <a:solidFill>
                  <a:srgbClr val="203350"/>
                </a:solidFill>
                <a:latin typeface="DejaVu Sans"/>
              </a:defRPr>
            </a:pPr>
            <a:r>
              <a:t>Software Windows</a:t>
            </a:r>
          </a:p>
        </p:txBody>
      </p:sp>
      <p:sp>
        <p:nvSpPr>
          <p:cNvPr id="20" name="Rounded Rectangle 19">
            <a:hlinkClick r:id="rId10"/>
          </p:cNvPr>
          <p:cNvSpPr/>
          <p:nvPr/>
        </p:nvSpPr>
        <p:spPr>
          <a:xfrm>
            <a:off x="3520439" y="5806440"/>
            <a:ext cx="2679192" cy="393192"/>
          </a:xfrm>
          <a:prstGeom prst="roundRect">
            <a:avLst>
              <a:gd name="adj" fmla="val 8000"/>
            </a:avLst>
          </a:prstGeom>
          <a:solidFill>
            <a:srgbClr val="E2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a:hlinkClick r:id="rId10"/>
          </p:cNvPr>
          <p:cNvSpPr txBox="1"/>
          <p:nvPr/>
        </p:nvSpPr>
        <p:spPr>
          <a:xfrm>
            <a:off x="3630168" y="5888736"/>
            <a:ext cx="2459736" cy="301751"/>
          </a:xfrm>
          <a:prstGeom prst="rect">
            <a:avLst/>
          </a:prstGeom>
          <a:noFill/>
        </p:spPr>
        <p:txBody>
          <a:bodyPr wrap="square" lIns="0" rIns="0" tIns="0" bIns="0">
            <a:spAutoFit/>
          </a:bodyPr>
          <a:lstStyle/>
          <a:p>
            <a:pPr algn="l">
              <a:lnSpc>
                <a:spcPct val="101000"/>
              </a:lnSpc>
              <a:spcAft>
                <a:spcPts val="300"/>
              </a:spcAft>
              <a:defRPr sz="1100" b="1">
                <a:solidFill>
                  <a:srgbClr val="203350"/>
                </a:solidFill>
                <a:latin typeface="DejaVu Sans"/>
              </a:defRPr>
            </a:pPr>
            <a:r>
              <a:t>01 · Base docente</a:t>
            </a:r>
          </a:p>
        </p:txBody>
      </p:sp>
      <p:sp>
        <p:nvSpPr>
          <p:cNvPr id="22" name="Rounded Rectangle 21">
            <a:hlinkClick r:id="rId11"/>
          </p:cNvPr>
          <p:cNvSpPr/>
          <p:nvPr/>
        </p:nvSpPr>
        <p:spPr>
          <a:xfrm>
            <a:off x="6382512" y="5806440"/>
            <a:ext cx="2679192" cy="393192"/>
          </a:xfrm>
          <a:prstGeom prst="roundRect">
            <a:avLst>
              <a:gd name="adj" fmla="val 8000"/>
            </a:avLst>
          </a:prstGeom>
          <a:solidFill>
            <a:srgbClr val="EEE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a:hlinkClick r:id="rId11"/>
          </p:cNvPr>
          <p:cNvSpPr txBox="1"/>
          <p:nvPr/>
        </p:nvSpPr>
        <p:spPr>
          <a:xfrm>
            <a:off x="6492240" y="5888736"/>
            <a:ext cx="2459736" cy="301751"/>
          </a:xfrm>
          <a:prstGeom prst="rect">
            <a:avLst/>
          </a:prstGeom>
          <a:noFill/>
        </p:spPr>
        <p:txBody>
          <a:bodyPr wrap="square" lIns="0" rIns="0" tIns="0" bIns="0">
            <a:spAutoFit/>
          </a:bodyPr>
          <a:lstStyle/>
          <a:p>
            <a:pPr algn="l">
              <a:lnSpc>
                <a:spcPct val="101000"/>
              </a:lnSpc>
              <a:spcAft>
                <a:spcPts val="300"/>
              </a:spcAft>
              <a:defRPr sz="1100" b="1">
                <a:solidFill>
                  <a:srgbClr val="203350"/>
                </a:solidFill>
                <a:latin typeface="DejaVu Sans"/>
              </a:defRPr>
            </a:pPr>
            <a:r>
              <a:t>02 · Caso</a:t>
            </a:r>
          </a:p>
        </p:txBody>
      </p:sp>
      <p:sp>
        <p:nvSpPr>
          <p:cNvPr id="24" name="Rounded Rectangle 23">
            <a:hlinkClick action="ppaction://hlinksldjump" r:id="rId12"/>
          </p:cNvPr>
          <p:cNvSpPr/>
          <p:nvPr/>
        </p:nvSpPr>
        <p:spPr>
          <a:xfrm>
            <a:off x="9244584" y="5806440"/>
            <a:ext cx="2679192" cy="393192"/>
          </a:xfrm>
          <a:prstGeom prst="roundRect">
            <a:avLst>
              <a:gd name="adj" fmla="val 8000"/>
            </a:avLst>
          </a:prstGeom>
          <a:solidFill>
            <a:srgbClr val="FFF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a:hlinkClick action="ppaction://hlinksldjump" r:id="rId12"/>
          </p:cNvPr>
          <p:cNvSpPr txBox="1"/>
          <p:nvPr/>
        </p:nvSpPr>
        <p:spPr>
          <a:xfrm>
            <a:off x="9354312" y="5888736"/>
            <a:ext cx="2459736" cy="301751"/>
          </a:xfrm>
          <a:prstGeom prst="rect">
            <a:avLst/>
          </a:prstGeom>
          <a:noFill/>
        </p:spPr>
        <p:txBody>
          <a:bodyPr wrap="square" lIns="0" rIns="0" tIns="0" bIns="0">
            <a:spAutoFit/>
          </a:bodyPr>
          <a:lstStyle/>
          <a:p>
            <a:pPr algn="l">
              <a:lnSpc>
                <a:spcPct val="101000"/>
              </a:lnSpc>
              <a:spcAft>
                <a:spcPts val="300"/>
              </a:spcAft>
              <a:defRPr sz="1100" b="1">
                <a:solidFill>
                  <a:srgbClr val="203350"/>
                </a:solidFill>
                <a:latin typeface="DejaVu Sans"/>
              </a:defRPr>
            </a:pPr>
            <a:r>
              <a:t>Ver instalación</a:t>
            </a:r>
          </a:p>
        </p:txBody>
      </p:sp>
    </p:spTree>
  </p:cSld>
  <p:clrMapOvr>
    <a:masterClrMapping/>
  </p:clrMapOvr>
  <p:transition advClick="1">
    <p:fade/>
  </p:transition>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BFF"/>
        </a:solidFill>
        <a:effectLst/>
      </p:bgPr>
    </p:bg>
    <p:spTree>
      <p:nvGrpSpPr>
        <p:cNvPr id="1" name=""/>
        <p:cNvGrpSpPr/>
        <p:nvPr/>
      </p:nvGrpSpPr>
      <p:grpSpPr/>
      <p:sp>
        <p:nvSpPr>
          <p:cNvPr id="2" name="TextBox 1"/>
          <p:cNvSpPr txBox="1"/>
          <p:nvPr/>
        </p:nvSpPr>
        <p:spPr>
          <a:xfrm>
            <a:off x="548640" y="365760"/>
            <a:ext cx="7223760" cy="228600"/>
          </a:xfrm>
          <a:prstGeom prst="rect">
            <a:avLst/>
          </a:prstGeom>
          <a:noFill/>
        </p:spPr>
        <p:txBody>
          <a:bodyPr wrap="square" lIns="0" rIns="0" tIns="0" bIns="0">
            <a:spAutoFit/>
          </a:bodyPr>
          <a:lstStyle/>
          <a:p>
            <a:pPr algn="l">
              <a:lnSpc>
                <a:spcPct val="101000"/>
              </a:lnSpc>
              <a:spcAft>
                <a:spcPts val="300"/>
              </a:spcAft>
              <a:defRPr sz="930" b="1">
                <a:solidFill>
                  <a:srgbClr val="237DC2"/>
                </a:solidFill>
                <a:latin typeface="DejaVu Sans"/>
              </a:defRPr>
            </a:pPr>
            <a:r>
              <a:t>PRÁCTICA · IMPORTAR LA BASE</a:t>
            </a:r>
          </a:p>
        </p:txBody>
      </p:sp>
      <p:sp>
        <p:nvSpPr>
          <p:cNvPr id="3" name="Rounded Rectangle 2">
            <a:hlinkClick action="ppaction://hlinksldjump" r:id="rId2"/>
          </p:cNvPr>
          <p:cNvSpPr/>
          <p:nvPr/>
        </p:nvSpPr>
        <p:spPr>
          <a:xfrm>
            <a:off x="8165592" y="301752"/>
            <a:ext cx="813816" cy="310896"/>
          </a:xfrm>
          <a:prstGeom prst="roundRect">
            <a:avLst>
              <a:gd name="adj" fmla="val 8000"/>
            </a:avLst>
          </a:prstGeom>
          <a:solidFill>
            <a:srgbClr val="E0F7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2"/>
          </p:cNvPr>
          <p:cNvSpPr txBox="1"/>
          <p:nvPr/>
        </p:nvSpPr>
        <p:spPr>
          <a:xfrm>
            <a:off x="8275319" y="384048"/>
            <a:ext cx="594360" cy="219456"/>
          </a:xfrm>
          <a:prstGeom prst="rect">
            <a:avLst/>
          </a:prstGeom>
          <a:noFill/>
        </p:spPr>
        <p:txBody>
          <a:bodyPr wrap="square" lIns="0" rIns="0" tIns="0" bIns="0">
            <a:spAutoFit/>
          </a:bodyPr>
          <a:lstStyle/>
          <a:p>
            <a:pPr algn="l">
              <a:lnSpc>
                <a:spcPct val="101000"/>
              </a:lnSpc>
              <a:spcAft>
                <a:spcPts val="300"/>
              </a:spcAft>
              <a:defRPr sz="800" b="1">
                <a:solidFill>
                  <a:srgbClr val="203350"/>
                </a:solidFill>
                <a:latin typeface="DejaVu Sans"/>
              </a:defRPr>
            </a:pPr>
            <a:r>
              <a:t>Preparar</a:t>
            </a:r>
          </a:p>
        </p:txBody>
      </p:sp>
      <p:sp>
        <p:nvSpPr>
          <p:cNvPr id="5" name="Rounded Rectangle 4">
            <a:hlinkClick action="ppaction://hlinksldjump" r:id="rId3"/>
          </p:cNvPr>
          <p:cNvSpPr/>
          <p:nvPr/>
        </p:nvSpPr>
        <p:spPr>
          <a:xfrm>
            <a:off x="9043416" y="301752"/>
            <a:ext cx="813816" cy="310896"/>
          </a:xfrm>
          <a:prstGeom prst="roundRect">
            <a:avLst>
              <a:gd name="adj" fmla="val 8000"/>
            </a:avLst>
          </a:prstGeom>
          <a:solidFill>
            <a:srgbClr val="E2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3"/>
          </p:cNvPr>
          <p:cNvSpPr txBox="1"/>
          <p:nvPr/>
        </p:nvSpPr>
        <p:spPr>
          <a:xfrm>
            <a:off x="9153144" y="384048"/>
            <a:ext cx="594360" cy="219456"/>
          </a:xfrm>
          <a:prstGeom prst="rect">
            <a:avLst/>
          </a:prstGeom>
          <a:noFill/>
        </p:spPr>
        <p:txBody>
          <a:bodyPr wrap="square" lIns="0" rIns="0" tIns="0" bIns="0">
            <a:spAutoFit/>
          </a:bodyPr>
          <a:lstStyle/>
          <a:p>
            <a:pPr algn="l">
              <a:lnSpc>
                <a:spcPct val="101000"/>
              </a:lnSpc>
              <a:spcAft>
                <a:spcPts val="300"/>
              </a:spcAft>
              <a:defRPr sz="800" b="1">
                <a:solidFill>
                  <a:srgbClr val="203350"/>
                </a:solidFill>
                <a:latin typeface="DejaVu Sans"/>
              </a:defRPr>
            </a:pPr>
            <a:r>
              <a:t>Importar</a:t>
            </a:r>
          </a:p>
        </p:txBody>
      </p:sp>
      <p:sp>
        <p:nvSpPr>
          <p:cNvPr id="7" name="Rounded Rectangle 6">
            <a:hlinkClick action="ppaction://hlinksldjump" r:id="rId4"/>
          </p:cNvPr>
          <p:cNvSpPr/>
          <p:nvPr/>
        </p:nvSpPr>
        <p:spPr>
          <a:xfrm>
            <a:off x="9921240" y="301752"/>
            <a:ext cx="813816" cy="310896"/>
          </a:xfrm>
          <a:prstGeom prst="roundRect">
            <a:avLst>
              <a:gd name="adj" fmla="val 8000"/>
            </a:avLst>
          </a:prstGeom>
          <a:solidFill>
            <a:srgbClr val="EEE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4"/>
          </p:cNvPr>
          <p:cNvSpPr txBox="1"/>
          <p:nvPr/>
        </p:nvSpPr>
        <p:spPr>
          <a:xfrm>
            <a:off x="10030967" y="384048"/>
            <a:ext cx="594360" cy="219456"/>
          </a:xfrm>
          <a:prstGeom prst="rect">
            <a:avLst/>
          </a:prstGeom>
          <a:noFill/>
        </p:spPr>
        <p:txBody>
          <a:bodyPr wrap="square" lIns="0" rIns="0" tIns="0" bIns="0">
            <a:spAutoFit/>
          </a:bodyPr>
          <a:lstStyle/>
          <a:p>
            <a:pPr algn="l">
              <a:lnSpc>
                <a:spcPct val="101000"/>
              </a:lnSpc>
              <a:spcAft>
                <a:spcPts val="300"/>
              </a:spcAft>
              <a:defRPr sz="800" b="1">
                <a:solidFill>
                  <a:srgbClr val="203350"/>
                </a:solidFill>
                <a:latin typeface="DejaVu Sans"/>
              </a:defRPr>
            </a:pPr>
            <a:r>
              <a:t>Calcular</a:t>
            </a:r>
          </a:p>
        </p:txBody>
      </p:sp>
      <p:sp>
        <p:nvSpPr>
          <p:cNvPr id="9" name="Rounded Rectangle 8">
            <a:hlinkClick action="ppaction://hlinksldjump" r:id="rId5"/>
          </p:cNvPr>
          <p:cNvSpPr/>
          <p:nvPr/>
        </p:nvSpPr>
        <p:spPr>
          <a:xfrm>
            <a:off x="10799063" y="301752"/>
            <a:ext cx="813816" cy="310896"/>
          </a:xfrm>
          <a:prstGeom prst="roundRect">
            <a:avLst>
              <a:gd name="adj" fmla="val 8000"/>
            </a:avLst>
          </a:prstGeom>
          <a:solidFill>
            <a:srgbClr val="FFF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5"/>
          </p:cNvPr>
          <p:cNvSpPr txBox="1"/>
          <p:nvPr/>
        </p:nvSpPr>
        <p:spPr>
          <a:xfrm>
            <a:off x="10908791" y="384048"/>
            <a:ext cx="594360" cy="219456"/>
          </a:xfrm>
          <a:prstGeom prst="rect">
            <a:avLst/>
          </a:prstGeom>
          <a:noFill/>
        </p:spPr>
        <p:txBody>
          <a:bodyPr wrap="square" lIns="0" rIns="0" tIns="0" bIns="0">
            <a:spAutoFit/>
          </a:bodyPr>
          <a:lstStyle/>
          <a:p>
            <a:pPr algn="l">
              <a:lnSpc>
                <a:spcPct val="101000"/>
              </a:lnSpc>
              <a:spcAft>
                <a:spcPts val="300"/>
              </a:spcAft>
              <a:defRPr sz="749" b="1">
                <a:solidFill>
                  <a:srgbClr val="203350"/>
                </a:solidFill>
                <a:latin typeface="DejaVu Sans"/>
              </a:defRPr>
            </a:pPr>
            <a:r>
              <a:t>Comprobar</a:t>
            </a:r>
          </a:p>
        </p:txBody>
      </p:sp>
      <p:sp>
        <p:nvSpPr>
          <p:cNvPr id="11" name="TextBox 10"/>
          <p:cNvSpPr txBox="1"/>
          <p:nvPr/>
        </p:nvSpPr>
        <p:spPr>
          <a:xfrm>
            <a:off x="548640" y="886968"/>
            <a:ext cx="11064240" cy="1234440"/>
          </a:xfrm>
          <a:prstGeom prst="rect">
            <a:avLst/>
          </a:prstGeom>
          <a:noFill/>
        </p:spPr>
        <p:txBody>
          <a:bodyPr wrap="square" lIns="0" rIns="0" tIns="0" bIns="0">
            <a:spAutoFit/>
          </a:bodyPr>
          <a:lstStyle/>
          <a:p>
            <a:pPr algn="l">
              <a:lnSpc>
                <a:spcPct val="101000"/>
              </a:lnSpc>
              <a:spcAft>
                <a:spcPts val="300"/>
              </a:spcAft>
              <a:defRPr sz="3900" b="1">
                <a:solidFill>
                  <a:srgbClr val="203350"/>
                </a:solidFill>
                <a:latin typeface="DejaVu Sans"/>
              </a:defRPr>
            </a:pPr>
            <a:r>
              <a:t>1. Crea una base vacía</a:t>
            </a:r>
          </a:p>
          <a:p>
            <a:pPr algn="l">
              <a:lnSpc>
                <a:spcPct val="101000"/>
              </a:lnSpc>
              <a:spcAft>
                <a:spcPts val="300"/>
              </a:spcAft>
              <a:defRPr sz="3900" b="1">
                <a:solidFill>
                  <a:srgbClr val="203350"/>
                </a:solidFill>
                <a:latin typeface="DejaVu Sans"/>
              </a:defRPr>
            </a:pPr>
            <a:r>
              <a:t>e importa el archivo 01</a:t>
            </a:r>
          </a:p>
        </p:txBody>
      </p:sp>
      <p:sp>
        <p:nvSpPr>
          <p:cNvPr id="12" name="TextBox 11"/>
          <p:cNvSpPr txBox="1"/>
          <p:nvPr/>
        </p:nvSpPr>
        <p:spPr>
          <a:xfrm>
            <a:off x="566928" y="2121408"/>
            <a:ext cx="10972800" cy="338328"/>
          </a:xfrm>
          <a:prstGeom prst="rect">
            <a:avLst/>
          </a:prstGeom>
          <a:noFill/>
        </p:spPr>
        <p:txBody>
          <a:bodyPr wrap="square" lIns="0" rIns="0" tIns="0" bIns="0">
            <a:spAutoFit/>
          </a:bodyPr>
          <a:lstStyle/>
          <a:p>
            <a:pPr algn="l">
              <a:lnSpc>
                <a:spcPct val="101000"/>
              </a:lnSpc>
              <a:spcAft>
                <a:spcPts val="300"/>
              </a:spcAft>
              <a:defRPr sz="1450" b="0">
                <a:solidFill>
                  <a:srgbClr val="5C6E83"/>
                </a:solidFill>
                <a:latin typeface="DejaVu Sans"/>
              </a:defRPr>
            </a:pPr>
            <a:r>
              <a:t>New database → From scratch… → Empty database</a:t>
            </a:r>
          </a:p>
        </p:txBody>
      </p:sp>
      <p:sp>
        <p:nvSpPr>
          <p:cNvPr id="13" name="TextBox 12"/>
          <p:cNvSpPr txBox="1"/>
          <p:nvPr/>
        </p:nvSpPr>
        <p:spPr>
          <a:xfrm>
            <a:off x="548640" y="6446520"/>
            <a:ext cx="9784080" cy="219456"/>
          </a:xfrm>
          <a:prstGeom prst="rect">
            <a:avLst/>
          </a:prstGeom>
          <a:noFill/>
        </p:spPr>
        <p:txBody>
          <a:bodyPr wrap="square" lIns="0" rIns="0" tIns="0" bIns="0">
            <a:spAutoFit/>
          </a:bodyPr>
          <a:lstStyle/>
          <a:p>
            <a:pPr algn="l">
              <a:lnSpc>
                <a:spcPct val="101000"/>
              </a:lnSpc>
              <a:spcAft>
                <a:spcPts val="300"/>
              </a:spcAft>
              <a:defRPr sz="810" b="0">
                <a:solidFill>
                  <a:srgbClr val="5C6E83"/>
                </a:solidFill>
                <a:latin typeface="DejaVu Sans"/>
              </a:defRPr>
            </a:pPr>
            <a:r>
              <a:t>Manual: creación e importación de bases · archivo 01 del curso</a:t>
            </a:r>
          </a:p>
        </p:txBody>
      </p:sp>
      <p:sp>
        <p:nvSpPr>
          <p:cNvPr id="14" name="Rounded Rectangle 13">
            <a:hlinkClick action="ppaction://hlinksldjump" r:id="rId6"/>
          </p:cNvPr>
          <p:cNvSpPr/>
          <p:nvPr/>
        </p:nvSpPr>
        <p:spPr>
          <a:xfrm>
            <a:off x="10442448" y="6400800"/>
            <a:ext cx="640080" cy="265176"/>
          </a:xfrm>
          <a:prstGeom prst="roundRect">
            <a:avLst>
              <a:gd name="adj" fmla="val 8000"/>
            </a:avLst>
          </a:prstGeom>
          <a:solidFill>
            <a:srgbClr val="EEE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a:hlinkClick action="ppaction://hlinksldjump" r:id="rId6"/>
          </p:cNvPr>
          <p:cNvSpPr txBox="1"/>
          <p:nvPr/>
        </p:nvSpPr>
        <p:spPr>
          <a:xfrm>
            <a:off x="10552176" y="6483096"/>
            <a:ext cx="420623" cy="173735"/>
          </a:xfrm>
          <a:prstGeom prst="rect">
            <a:avLst/>
          </a:prstGeom>
          <a:noFill/>
        </p:spPr>
        <p:txBody>
          <a:bodyPr wrap="square" lIns="0" rIns="0" tIns="0" bIns="0">
            <a:spAutoFit/>
          </a:bodyPr>
          <a:lstStyle/>
          <a:p>
            <a:pPr algn="l">
              <a:lnSpc>
                <a:spcPct val="101000"/>
              </a:lnSpc>
              <a:spcAft>
                <a:spcPts val="300"/>
              </a:spcAft>
              <a:defRPr sz="800" b="1">
                <a:solidFill>
                  <a:srgbClr val="8060BA"/>
                </a:solidFill>
                <a:latin typeface="DejaVu Sans"/>
              </a:defRPr>
            </a:pPr>
            <a:r>
              <a:t>Ruta</a:t>
            </a:r>
          </a:p>
        </p:txBody>
      </p:sp>
      <p:sp>
        <p:nvSpPr>
          <p:cNvPr id="16" name="TextBox 15"/>
          <p:cNvSpPr txBox="1"/>
          <p:nvPr/>
        </p:nvSpPr>
        <p:spPr>
          <a:xfrm>
            <a:off x="11228832" y="6400800"/>
            <a:ext cx="457200" cy="274320"/>
          </a:xfrm>
          <a:prstGeom prst="rect">
            <a:avLst/>
          </a:prstGeom>
          <a:noFill/>
        </p:spPr>
        <p:txBody>
          <a:bodyPr wrap="square" lIns="0" rIns="0" tIns="0" bIns="0">
            <a:spAutoFit/>
          </a:bodyPr>
          <a:lstStyle/>
          <a:p>
            <a:pPr algn="r">
              <a:lnSpc>
                <a:spcPct val="101000"/>
              </a:lnSpc>
              <a:spcAft>
                <a:spcPts val="300"/>
              </a:spcAft>
              <a:defRPr sz="1300" b="1">
                <a:solidFill>
                  <a:srgbClr val="203350"/>
                </a:solidFill>
                <a:latin typeface="DejaVu Sans"/>
              </a:defRPr>
            </a:pPr>
            <a:r>
              <a:t>07</a:t>
            </a:r>
          </a:p>
        </p:txBody>
      </p:sp>
      <p:sp>
        <p:nvSpPr>
          <p:cNvPr id="17" name="Rounded Rectangle 16"/>
          <p:cNvSpPr/>
          <p:nvPr/>
        </p:nvSpPr>
        <p:spPr>
          <a:xfrm>
            <a:off x="603504" y="2743200"/>
            <a:ext cx="3749039" cy="3291840"/>
          </a:xfrm>
          <a:prstGeom prst="roundRect">
            <a:avLst>
              <a:gd name="adj" fmla="val 8000"/>
            </a:avLst>
          </a:prstGeom>
          <a:solidFill>
            <a:srgbClr val="FFFFFF"/>
          </a:solidFill>
          <a:ln>
            <a:solidFill>
              <a:srgbClr val="D6E1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new_database_step1.png"/>
          <p:cNvPicPr>
            <a:picLocks noChangeAspect="1"/>
          </p:cNvPicPr>
          <p:nvPr/>
        </p:nvPicPr>
        <p:blipFill>
          <a:blip r:embed="rId8"/>
          <a:stretch>
            <a:fillRect/>
          </a:stretch>
        </p:blipFill>
        <p:spPr>
          <a:xfrm>
            <a:off x="804672" y="3675887"/>
            <a:ext cx="3337560" cy="838950"/>
          </a:xfrm>
          <a:prstGeom prst="rect">
            <a:avLst/>
          </a:prstGeom>
        </p:spPr>
      </p:pic>
      <p:sp>
        <p:nvSpPr>
          <p:cNvPr id="19" name="TextBox 18"/>
          <p:cNvSpPr txBox="1"/>
          <p:nvPr/>
        </p:nvSpPr>
        <p:spPr>
          <a:xfrm>
            <a:off x="822960" y="4773168"/>
            <a:ext cx="3200400" cy="822960"/>
          </a:xfrm>
          <a:prstGeom prst="rect">
            <a:avLst/>
          </a:prstGeom>
          <a:noFill/>
        </p:spPr>
        <p:txBody>
          <a:bodyPr wrap="square" lIns="0" rIns="0" tIns="0" bIns="0">
            <a:spAutoFit/>
          </a:bodyPr>
          <a:lstStyle/>
          <a:p>
            <a:pPr algn="ctr">
              <a:lnSpc>
                <a:spcPct val="101000"/>
              </a:lnSpc>
              <a:spcAft>
                <a:spcPts val="300"/>
              </a:spcAft>
              <a:defRPr sz="1300" b="0">
                <a:solidFill>
                  <a:srgbClr val="5C6E83"/>
                </a:solidFill>
                <a:latin typeface="DejaVu Sans"/>
              </a:defRPr>
            </a:pPr>
            <a:r>
              <a:t>Captura orientativa</a:t>
            </a:r>
          </a:p>
          <a:p>
            <a:pPr algn="ctr">
              <a:lnSpc>
                <a:spcPct val="101000"/>
              </a:lnSpc>
              <a:spcAft>
                <a:spcPts val="300"/>
              </a:spcAft>
              <a:defRPr sz="1300" b="0">
                <a:solidFill>
                  <a:srgbClr val="5C6E83"/>
                </a:solidFill>
                <a:latin typeface="DejaVu Sans"/>
              </a:defRPr>
            </a:pPr>
            <a:r>
              <a:t>del manual oficial</a:t>
            </a:r>
          </a:p>
        </p:txBody>
      </p:sp>
      <p:sp>
        <p:nvSpPr>
          <p:cNvPr id="20" name="Rounded Rectangle 19"/>
          <p:cNvSpPr/>
          <p:nvPr/>
        </p:nvSpPr>
        <p:spPr>
          <a:xfrm>
            <a:off x="4645152" y="2743200"/>
            <a:ext cx="6949440" cy="1042415"/>
          </a:xfrm>
          <a:prstGeom prst="roundRect">
            <a:avLst>
              <a:gd name="adj" fmla="val 8000"/>
            </a:avLst>
          </a:prstGeom>
          <a:solidFill>
            <a:srgbClr val="E0F7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855464" y="2871216"/>
            <a:ext cx="6492240" cy="320040"/>
          </a:xfrm>
          <a:prstGeom prst="rect">
            <a:avLst/>
          </a:prstGeom>
          <a:noFill/>
        </p:spPr>
        <p:txBody>
          <a:bodyPr wrap="square" lIns="0" rIns="0" tIns="0" bIns="0">
            <a:spAutoFit/>
          </a:bodyPr>
          <a:lstStyle/>
          <a:p>
            <a:pPr algn="l">
              <a:lnSpc>
                <a:spcPct val="101000"/>
              </a:lnSpc>
              <a:spcAft>
                <a:spcPts val="300"/>
              </a:spcAft>
              <a:defRPr sz="1900" b="1">
                <a:solidFill>
                  <a:srgbClr val="203350"/>
                </a:solidFill>
                <a:latin typeface="DejaVu Sans"/>
              </a:defRPr>
            </a:pPr>
            <a:r>
              <a:t>1 · Base VACÍA</a:t>
            </a:r>
          </a:p>
        </p:txBody>
      </p:sp>
      <p:sp>
        <p:nvSpPr>
          <p:cNvPr id="22" name="TextBox 21"/>
          <p:cNvSpPr txBox="1"/>
          <p:nvPr/>
        </p:nvSpPr>
        <p:spPr>
          <a:xfrm>
            <a:off x="4855464" y="3273552"/>
            <a:ext cx="6492240" cy="502920"/>
          </a:xfrm>
          <a:prstGeom prst="rect">
            <a:avLst/>
          </a:prstGeom>
          <a:noFill/>
        </p:spPr>
        <p:txBody>
          <a:bodyPr wrap="square" lIns="0" rIns="0" tIns="0" bIns="0">
            <a:spAutoFit/>
          </a:bodyPr>
          <a:lstStyle/>
          <a:p>
            <a:pPr algn="l">
              <a:lnSpc>
                <a:spcPct val="101000"/>
              </a:lnSpc>
              <a:spcAft>
                <a:spcPts val="300"/>
              </a:spcAft>
              <a:defRPr sz="1400" b="0">
                <a:solidFill>
                  <a:srgbClr val="203350"/>
                </a:solidFill>
                <a:latin typeface="DejaVu Sans"/>
              </a:defRPr>
            </a:pPr>
            <a:r>
              <a:t>New database → From scratch…</a:t>
            </a:r>
          </a:p>
          <a:p>
            <a:pPr algn="l">
              <a:lnSpc>
                <a:spcPct val="101000"/>
              </a:lnSpc>
              <a:spcAft>
                <a:spcPts val="300"/>
              </a:spcAft>
              <a:defRPr sz="1400" b="0">
                <a:solidFill>
                  <a:srgbClr val="203350"/>
                </a:solidFill>
                <a:latin typeface="DejaVu Sans"/>
              </a:defRPr>
            </a:pPr>
            <a:r>
              <a:t>Empty database</a:t>
            </a:r>
          </a:p>
        </p:txBody>
      </p:sp>
      <p:sp>
        <p:nvSpPr>
          <p:cNvPr id="23" name="Rounded Rectangle 22"/>
          <p:cNvSpPr/>
          <p:nvPr/>
        </p:nvSpPr>
        <p:spPr>
          <a:xfrm>
            <a:off x="4645152" y="3840480"/>
            <a:ext cx="6949440" cy="1042415"/>
          </a:xfrm>
          <a:prstGeom prst="roundRect">
            <a:avLst>
              <a:gd name="adj" fmla="val 8000"/>
            </a:avLst>
          </a:prstGeom>
          <a:solidFill>
            <a:srgbClr val="E2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55464" y="3968496"/>
            <a:ext cx="6492240" cy="320040"/>
          </a:xfrm>
          <a:prstGeom prst="rect">
            <a:avLst/>
          </a:prstGeom>
          <a:noFill/>
        </p:spPr>
        <p:txBody>
          <a:bodyPr wrap="square" lIns="0" rIns="0" tIns="0" bIns="0">
            <a:spAutoFit/>
          </a:bodyPr>
          <a:lstStyle/>
          <a:p>
            <a:pPr algn="l">
              <a:lnSpc>
                <a:spcPct val="101000"/>
              </a:lnSpc>
              <a:spcAft>
                <a:spcPts val="300"/>
              </a:spcAft>
              <a:defRPr sz="1900" b="1">
                <a:solidFill>
                  <a:srgbClr val="203350"/>
                </a:solidFill>
                <a:latin typeface="DejaVu Sans"/>
              </a:defRPr>
            </a:pPr>
            <a:r>
              <a:t>2 · JSON package (*.zip)</a:t>
            </a:r>
          </a:p>
        </p:txBody>
      </p:sp>
      <p:sp>
        <p:nvSpPr>
          <p:cNvPr id="25" name="TextBox 24"/>
          <p:cNvSpPr txBox="1"/>
          <p:nvPr/>
        </p:nvSpPr>
        <p:spPr>
          <a:xfrm>
            <a:off x="4855464" y="4370832"/>
            <a:ext cx="6492240" cy="502920"/>
          </a:xfrm>
          <a:prstGeom prst="rect">
            <a:avLst/>
          </a:prstGeom>
          <a:noFill/>
        </p:spPr>
        <p:txBody>
          <a:bodyPr wrap="square" lIns="0" rIns="0" tIns="0" bIns="0">
            <a:spAutoFit/>
          </a:bodyPr>
          <a:lstStyle/>
          <a:p>
            <a:pPr algn="l">
              <a:lnSpc>
                <a:spcPct val="101000"/>
              </a:lnSpc>
              <a:spcAft>
                <a:spcPts val="300"/>
              </a:spcAft>
              <a:defRPr sz="1400" b="0">
                <a:solidFill>
                  <a:srgbClr val="203350"/>
                </a:solidFill>
                <a:latin typeface="DejaVu Sans"/>
              </a:defRPr>
            </a:pPr>
            <a:r>
              <a:t>File → Import → selector JSON-LD</a:t>
            </a:r>
          </a:p>
        </p:txBody>
      </p:sp>
      <p:sp>
        <p:nvSpPr>
          <p:cNvPr id="26" name="Rounded Rectangle 25"/>
          <p:cNvSpPr/>
          <p:nvPr/>
        </p:nvSpPr>
        <p:spPr>
          <a:xfrm>
            <a:off x="4645152" y="4937760"/>
            <a:ext cx="6949440" cy="1042415"/>
          </a:xfrm>
          <a:prstGeom prst="roundRect">
            <a:avLst>
              <a:gd name="adj" fmla="val 8000"/>
            </a:avLst>
          </a:prstGeom>
          <a:solidFill>
            <a:srgbClr val="EEE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855464" y="5065776"/>
            <a:ext cx="6492240" cy="320040"/>
          </a:xfrm>
          <a:prstGeom prst="rect">
            <a:avLst/>
          </a:prstGeom>
          <a:noFill/>
        </p:spPr>
        <p:txBody>
          <a:bodyPr wrap="square" lIns="0" rIns="0" tIns="0" bIns="0">
            <a:spAutoFit/>
          </a:bodyPr>
          <a:lstStyle/>
          <a:p>
            <a:pPr algn="l">
              <a:lnSpc>
                <a:spcPct val="101000"/>
              </a:lnSpc>
              <a:spcAft>
                <a:spcPts val="300"/>
              </a:spcAft>
              <a:defRPr sz="1900" b="1">
                <a:solidFill>
                  <a:srgbClr val="203350"/>
                </a:solidFill>
                <a:latin typeface="DejaVu Sans"/>
              </a:defRPr>
            </a:pPr>
            <a:r>
              <a:t>3 · Archivo 01</a:t>
            </a:r>
          </a:p>
        </p:txBody>
      </p:sp>
      <p:sp>
        <p:nvSpPr>
          <p:cNvPr id="28" name="TextBox 27"/>
          <p:cNvSpPr txBox="1"/>
          <p:nvPr/>
        </p:nvSpPr>
        <p:spPr>
          <a:xfrm>
            <a:off x="4855464" y="5468112"/>
            <a:ext cx="6492240" cy="502920"/>
          </a:xfrm>
          <a:prstGeom prst="rect">
            <a:avLst/>
          </a:prstGeom>
          <a:noFill/>
        </p:spPr>
        <p:txBody>
          <a:bodyPr wrap="square" lIns="0" rIns="0" tIns="0" bIns="0">
            <a:spAutoFit/>
          </a:bodyPr>
          <a:lstStyle/>
          <a:p>
            <a:pPr algn="l">
              <a:lnSpc>
                <a:spcPct val="101000"/>
              </a:lnSpc>
              <a:spcAft>
                <a:spcPts val="300"/>
              </a:spcAft>
              <a:defRPr sz="1400" b="0">
                <a:solidFill>
                  <a:srgbClr val="203350"/>
                </a:solidFill>
                <a:latin typeface="DejaVu Sans"/>
              </a:defRPr>
            </a:pPr>
            <a:r>
              <a:t>01_BASE_DOCENTE_JSONLD.zip</a:t>
            </a:r>
          </a:p>
          <a:p>
            <a:pPr algn="l">
              <a:lnSpc>
                <a:spcPct val="101000"/>
              </a:lnSpc>
              <a:spcAft>
                <a:spcPts val="300"/>
              </a:spcAft>
              <a:defRPr sz="1400" b="0">
                <a:solidFill>
                  <a:srgbClr val="203350"/>
                </a:solidFill>
                <a:latin typeface="DejaVu Sans"/>
              </a:defRPr>
            </a:pPr>
            <a:r>
              <a:t>Importar sin extraer el ZIP</a:t>
            </a:r>
          </a:p>
        </p:txBody>
      </p:sp>
    </p:spTree>
  </p:cSld>
  <p:clrMapOvr>
    <a:masterClrMapping/>
  </p:clrMapOvr>
  <p:transition advClick="1">
    <p:fade/>
  </p:transition>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BFF"/>
        </a:solidFill>
        <a:effectLst/>
      </p:bgPr>
    </p:bg>
    <p:spTree>
      <p:nvGrpSpPr>
        <p:cNvPr id="1" name=""/>
        <p:cNvGrpSpPr/>
        <p:nvPr/>
      </p:nvGrpSpPr>
      <p:grpSpPr/>
      <p:sp>
        <p:nvSpPr>
          <p:cNvPr id="2" name="TextBox 1"/>
          <p:cNvSpPr txBox="1"/>
          <p:nvPr/>
        </p:nvSpPr>
        <p:spPr>
          <a:xfrm>
            <a:off x="548640" y="365760"/>
            <a:ext cx="7223760" cy="228600"/>
          </a:xfrm>
          <a:prstGeom prst="rect">
            <a:avLst/>
          </a:prstGeom>
          <a:noFill/>
        </p:spPr>
        <p:txBody>
          <a:bodyPr wrap="square" lIns="0" rIns="0" tIns="0" bIns="0">
            <a:spAutoFit/>
          </a:bodyPr>
          <a:lstStyle/>
          <a:p>
            <a:pPr algn="l">
              <a:lnSpc>
                <a:spcPct val="101000"/>
              </a:lnSpc>
              <a:spcAft>
                <a:spcPts val="300"/>
              </a:spcAft>
              <a:defRPr sz="930" b="1">
                <a:solidFill>
                  <a:srgbClr val="237DC2"/>
                </a:solidFill>
                <a:latin typeface="DejaVu Sans"/>
              </a:defRPr>
            </a:pPr>
            <a:r>
              <a:t>PRÁCTICA · IMPORTAR EL CASO</a:t>
            </a:r>
          </a:p>
        </p:txBody>
      </p:sp>
      <p:sp>
        <p:nvSpPr>
          <p:cNvPr id="3" name="Rounded Rectangle 2">
            <a:hlinkClick action="ppaction://hlinksldjump" r:id="rId2"/>
          </p:cNvPr>
          <p:cNvSpPr/>
          <p:nvPr/>
        </p:nvSpPr>
        <p:spPr>
          <a:xfrm>
            <a:off x="8165592" y="301752"/>
            <a:ext cx="813816" cy="310896"/>
          </a:xfrm>
          <a:prstGeom prst="roundRect">
            <a:avLst>
              <a:gd name="adj" fmla="val 8000"/>
            </a:avLst>
          </a:prstGeom>
          <a:solidFill>
            <a:srgbClr val="E0F7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2"/>
          </p:cNvPr>
          <p:cNvSpPr txBox="1"/>
          <p:nvPr/>
        </p:nvSpPr>
        <p:spPr>
          <a:xfrm>
            <a:off x="8275319" y="384048"/>
            <a:ext cx="594360" cy="219456"/>
          </a:xfrm>
          <a:prstGeom prst="rect">
            <a:avLst/>
          </a:prstGeom>
          <a:noFill/>
        </p:spPr>
        <p:txBody>
          <a:bodyPr wrap="square" lIns="0" rIns="0" tIns="0" bIns="0">
            <a:spAutoFit/>
          </a:bodyPr>
          <a:lstStyle/>
          <a:p>
            <a:pPr algn="l">
              <a:lnSpc>
                <a:spcPct val="101000"/>
              </a:lnSpc>
              <a:spcAft>
                <a:spcPts val="300"/>
              </a:spcAft>
              <a:defRPr sz="800" b="1">
                <a:solidFill>
                  <a:srgbClr val="203350"/>
                </a:solidFill>
                <a:latin typeface="DejaVu Sans"/>
              </a:defRPr>
            </a:pPr>
            <a:r>
              <a:t>Preparar</a:t>
            </a:r>
          </a:p>
        </p:txBody>
      </p:sp>
      <p:sp>
        <p:nvSpPr>
          <p:cNvPr id="5" name="Rounded Rectangle 4">
            <a:hlinkClick action="ppaction://hlinksldjump" r:id="rId3"/>
          </p:cNvPr>
          <p:cNvSpPr/>
          <p:nvPr/>
        </p:nvSpPr>
        <p:spPr>
          <a:xfrm>
            <a:off x="9043416" y="301752"/>
            <a:ext cx="813816" cy="310896"/>
          </a:xfrm>
          <a:prstGeom prst="roundRect">
            <a:avLst>
              <a:gd name="adj" fmla="val 8000"/>
            </a:avLst>
          </a:prstGeom>
          <a:solidFill>
            <a:srgbClr val="E2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3"/>
          </p:cNvPr>
          <p:cNvSpPr txBox="1"/>
          <p:nvPr/>
        </p:nvSpPr>
        <p:spPr>
          <a:xfrm>
            <a:off x="9153144" y="384048"/>
            <a:ext cx="594360" cy="219456"/>
          </a:xfrm>
          <a:prstGeom prst="rect">
            <a:avLst/>
          </a:prstGeom>
          <a:noFill/>
        </p:spPr>
        <p:txBody>
          <a:bodyPr wrap="square" lIns="0" rIns="0" tIns="0" bIns="0">
            <a:spAutoFit/>
          </a:bodyPr>
          <a:lstStyle/>
          <a:p>
            <a:pPr algn="l">
              <a:lnSpc>
                <a:spcPct val="101000"/>
              </a:lnSpc>
              <a:spcAft>
                <a:spcPts val="300"/>
              </a:spcAft>
              <a:defRPr sz="800" b="1">
                <a:solidFill>
                  <a:srgbClr val="203350"/>
                </a:solidFill>
                <a:latin typeface="DejaVu Sans"/>
              </a:defRPr>
            </a:pPr>
            <a:r>
              <a:t>Importar</a:t>
            </a:r>
          </a:p>
        </p:txBody>
      </p:sp>
      <p:sp>
        <p:nvSpPr>
          <p:cNvPr id="7" name="Rounded Rectangle 6">
            <a:hlinkClick action="ppaction://hlinksldjump" r:id="rId4"/>
          </p:cNvPr>
          <p:cNvSpPr/>
          <p:nvPr/>
        </p:nvSpPr>
        <p:spPr>
          <a:xfrm>
            <a:off x="9921240" y="301752"/>
            <a:ext cx="813816" cy="310896"/>
          </a:xfrm>
          <a:prstGeom prst="roundRect">
            <a:avLst>
              <a:gd name="adj" fmla="val 8000"/>
            </a:avLst>
          </a:prstGeom>
          <a:solidFill>
            <a:srgbClr val="EEE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4"/>
          </p:cNvPr>
          <p:cNvSpPr txBox="1"/>
          <p:nvPr/>
        </p:nvSpPr>
        <p:spPr>
          <a:xfrm>
            <a:off x="10030967" y="384048"/>
            <a:ext cx="594360" cy="219456"/>
          </a:xfrm>
          <a:prstGeom prst="rect">
            <a:avLst/>
          </a:prstGeom>
          <a:noFill/>
        </p:spPr>
        <p:txBody>
          <a:bodyPr wrap="square" lIns="0" rIns="0" tIns="0" bIns="0">
            <a:spAutoFit/>
          </a:bodyPr>
          <a:lstStyle/>
          <a:p>
            <a:pPr algn="l">
              <a:lnSpc>
                <a:spcPct val="101000"/>
              </a:lnSpc>
              <a:spcAft>
                <a:spcPts val="300"/>
              </a:spcAft>
              <a:defRPr sz="800" b="1">
                <a:solidFill>
                  <a:srgbClr val="203350"/>
                </a:solidFill>
                <a:latin typeface="DejaVu Sans"/>
              </a:defRPr>
            </a:pPr>
            <a:r>
              <a:t>Calcular</a:t>
            </a:r>
          </a:p>
        </p:txBody>
      </p:sp>
      <p:sp>
        <p:nvSpPr>
          <p:cNvPr id="9" name="Rounded Rectangle 8">
            <a:hlinkClick action="ppaction://hlinksldjump" r:id="rId5"/>
          </p:cNvPr>
          <p:cNvSpPr/>
          <p:nvPr/>
        </p:nvSpPr>
        <p:spPr>
          <a:xfrm>
            <a:off x="10799063" y="301752"/>
            <a:ext cx="813816" cy="310896"/>
          </a:xfrm>
          <a:prstGeom prst="roundRect">
            <a:avLst>
              <a:gd name="adj" fmla="val 8000"/>
            </a:avLst>
          </a:prstGeom>
          <a:solidFill>
            <a:srgbClr val="FFF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5"/>
          </p:cNvPr>
          <p:cNvSpPr txBox="1"/>
          <p:nvPr/>
        </p:nvSpPr>
        <p:spPr>
          <a:xfrm>
            <a:off x="10908791" y="384048"/>
            <a:ext cx="594360" cy="219456"/>
          </a:xfrm>
          <a:prstGeom prst="rect">
            <a:avLst/>
          </a:prstGeom>
          <a:noFill/>
        </p:spPr>
        <p:txBody>
          <a:bodyPr wrap="square" lIns="0" rIns="0" tIns="0" bIns="0">
            <a:spAutoFit/>
          </a:bodyPr>
          <a:lstStyle/>
          <a:p>
            <a:pPr algn="l">
              <a:lnSpc>
                <a:spcPct val="101000"/>
              </a:lnSpc>
              <a:spcAft>
                <a:spcPts val="300"/>
              </a:spcAft>
              <a:defRPr sz="749" b="1">
                <a:solidFill>
                  <a:srgbClr val="203350"/>
                </a:solidFill>
                <a:latin typeface="DejaVu Sans"/>
              </a:defRPr>
            </a:pPr>
            <a:r>
              <a:t>Comprobar</a:t>
            </a:r>
          </a:p>
        </p:txBody>
      </p:sp>
      <p:sp>
        <p:nvSpPr>
          <p:cNvPr id="11" name="TextBox 10"/>
          <p:cNvSpPr txBox="1"/>
          <p:nvPr/>
        </p:nvSpPr>
        <p:spPr>
          <a:xfrm>
            <a:off x="548640" y="886968"/>
            <a:ext cx="11064240" cy="1234440"/>
          </a:xfrm>
          <a:prstGeom prst="rect">
            <a:avLst/>
          </a:prstGeom>
          <a:noFill/>
        </p:spPr>
        <p:txBody>
          <a:bodyPr wrap="square" lIns="0" rIns="0" tIns="0" bIns="0">
            <a:spAutoFit/>
          </a:bodyPr>
          <a:lstStyle/>
          <a:p>
            <a:pPr algn="l">
              <a:lnSpc>
                <a:spcPct val="101000"/>
              </a:lnSpc>
              <a:spcAft>
                <a:spcPts val="300"/>
              </a:spcAft>
              <a:defRPr sz="3900" b="1">
                <a:solidFill>
                  <a:srgbClr val="203350"/>
                </a:solidFill>
                <a:latin typeface="DejaVu Sans"/>
              </a:defRPr>
            </a:pPr>
            <a:r>
              <a:t>2. Importa el archivo 02</a:t>
            </a:r>
          </a:p>
          <a:p>
            <a:pPr algn="l">
              <a:lnSpc>
                <a:spcPct val="101000"/>
              </a:lnSpc>
              <a:spcAft>
                <a:spcPts val="300"/>
              </a:spcAft>
              <a:defRPr sz="3900" b="1">
                <a:solidFill>
                  <a:srgbClr val="203350"/>
                </a:solidFill>
                <a:latin typeface="DejaVu Sans"/>
              </a:defRPr>
            </a:pPr>
            <a:r>
              <a:t>en la misma base activa</a:t>
            </a:r>
          </a:p>
        </p:txBody>
      </p:sp>
      <p:sp>
        <p:nvSpPr>
          <p:cNvPr id="12" name="TextBox 11"/>
          <p:cNvSpPr txBox="1"/>
          <p:nvPr/>
        </p:nvSpPr>
        <p:spPr>
          <a:xfrm>
            <a:off x="566928" y="2121408"/>
            <a:ext cx="10972800" cy="338328"/>
          </a:xfrm>
          <a:prstGeom prst="rect">
            <a:avLst/>
          </a:prstGeom>
          <a:noFill/>
        </p:spPr>
        <p:txBody>
          <a:bodyPr wrap="square" lIns="0" rIns="0" tIns="0" bIns="0">
            <a:spAutoFit/>
          </a:bodyPr>
          <a:lstStyle/>
          <a:p>
            <a:pPr algn="l">
              <a:lnSpc>
                <a:spcPct val="101000"/>
              </a:lnSpc>
              <a:spcAft>
                <a:spcPts val="300"/>
              </a:spcAft>
              <a:defRPr sz="1450" b="0">
                <a:solidFill>
                  <a:srgbClr val="5C6E83"/>
                </a:solidFill>
                <a:latin typeface="DejaVu Sans"/>
              </a:defRPr>
            </a:pPr>
            <a:r>
              <a:t>Conserva los ZIP internos sin descomprimir.</a:t>
            </a:r>
          </a:p>
        </p:txBody>
      </p:sp>
      <p:sp>
        <p:nvSpPr>
          <p:cNvPr id="13" name="TextBox 12"/>
          <p:cNvSpPr txBox="1"/>
          <p:nvPr/>
        </p:nvSpPr>
        <p:spPr>
          <a:xfrm>
            <a:off x="548640" y="6446520"/>
            <a:ext cx="9784080" cy="219456"/>
          </a:xfrm>
          <a:prstGeom prst="rect">
            <a:avLst/>
          </a:prstGeom>
          <a:noFill/>
        </p:spPr>
        <p:txBody>
          <a:bodyPr wrap="square" lIns="0" rIns="0" tIns="0" bIns="0">
            <a:spAutoFit/>
          </a:bodyPr>
          <a:lstStyle/>
          <a:p>
            <a:pPr algn="l">
              <a:lnSpc>
                <a:spcPct val="101000"/>
              </a:lnSpc>
              <a:spcAft>
                <a:spcPts val="300"/>
              </a:spcAft>
              <a:defRPr sz="810" b="0">
                <a:solidFill>
                  <a:srgbClr val="5C6E83"/>
                </a:solidFill>
                <a:latin typeface="DejaVu Sans"/>
              </a:defRPr>
            </a:pPr>
            <a:r>
              <a:t>Caso docente: dos sistemas preparados para calcular</a:t>
            </a:r>
          </a:p>
        </p:txBody>
      </p:sp>
      <p:sp>
        <p:nvSpPr>
          <p:cNvPr id="14" name="Rounded Rectangle 13">
            <a:hlinkClick action="ppaction://hlinksldjump" r:id="rId6"/>
          </p:cNvPr>
          <p:cNvSpPr/>
          <p:nvPr/>
        </p:nvSpPr>
        <p:spPr>
          <a:xfrm>
            <a:off x="10442448" y="6400800"/>
            <a:ext cx="640080" cy="265176"/>
          </a:xfrm>
          <a:prstGeom prst="roundRect">
            <a:avLst>
              <a:gd name="adj" fmla="val 8000"/>
            </a:avLst>
          </a:prstGeom>
          <a:solidFill>
            <a:srgbClr val="EEE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a:hlinkClick action="ppaction://hlinksldjump" r:id="rId6"/>
          </p:cNvPr>
          <p:cNvSpPr txBox="1"/>
          <p:nvPr/>
        </p:nvSpPr>
        <p:spPr>
          <a:xfrm>
            <a:off x="10552176" y="6483096"/>
            <a:ext cx="420623" cy="173735"/>
          </a:xfrm>
          <a:prstGeom prst="rect">
            <a:avLst/>
          </a:prstGeom>
          <a:noFill/>
        </p:spPr>
        <p:txBody>
          <a:bodyPr wrap="square" lIns="0" rIns="0" tIns="0" bIns="0">
            <a:spAutoFit/>
          </a:bodyPr>
          <a:lstStyle/>
          <a:p>
            <a:pPr algn="l">
              <a:lnSpc>
                <a:spcPct val="101000"/>
              </a:lnSpc>
              <a:spcAft>
                <a:spcPts val="300"/>
              </a:spcAft>
              <a:defRPr sz="800" b="1">
                <a:solidFill>
                  <a:srgbClr val="8060BA"/>
                </a:solidFill>
                <a:latin typeface="DejaVu Sans"/>
              </a:defRPr>
            </a:pPr>
            <a:r>
              <a:t>Ruta</a:t>
            </a:r>
          </a:p>
        </p:txBody>
      </p:sp>
      <p:sp>
        <p:nvSpPr>
          <p:cNvPr id="16" name="TextBox 15"/>
          <p:cNvSpPr txBox="1"/>
          <p:nvPr/>
        </p:nvSpPr>
        <p:spPr>
          <a:xfrm>
            <a:off x="11228832" y="6400800"/>
            <a:ext cx="457200" cy="274320"/>
          </a:xfrm>
          <a:prstGeom prst="rect">
            <a:avLst/>
          </a:prstGeom>
          <a:noFill/>
        </p:spPr>
        <p:txBody>
          <a:bodyPr wrap="square" lIns="0" rIns="0" tIns="0" bIns="0">
            <a:spAutoFit/>
          </a:bodyPr>
          <a:lstStyle/>
          <a:p>
            <a:pPr algn="r">
              <a:lnSpc>
                <a:spcPct val="101000"/>
              </a:lnSpc>
              <a:spcAft>
                <a:spcPts val="300"/>
              </a:spcAft>
              <a:defRPr sz="1300" b="1">
                <a:solidFill>
                  <a:srgbClr val="203350"/>
                </a:solidFill>
                <a:latin typeface="DejaVu Sans"/>
              </a:defRPr>
            </a:pPr>
            <a:r>
              <a:t>08</a:t>
            </a:r>
          </a:p>
        </p:txBody>
      </p:sp>
      <p:sp>
        <p:nvSpPr>
          <p:cNvPr id="17" name="Rounded Rectangle 16"/>
          <p:cNvSpPr/>
          <p:nvPr/>
        </p:nvSpPr>
        <p:spPr>
          <a:xfrm>
            <a:off x="603504" y="2743200"/>
            <a:ext cx="3749039" cy="3291840"/>
          </a:xfrm>
          <a:prstGeom prst="roundRect">
            <a:avLst>
              <a:gd name="adj" fmla="val 8000"/>
            </a:avLst>
          </a:prstGeom>
          <a:solidFill>
            <a:srgbClr val="FFFFFF"/>
          </a:solidFill>
          <a:ln>
            <a:solidFill>
              <a:srgbClr val="D6E1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mport_wizard.png"/>
          <p:cNvPicPr>
            <a:picLocks noChangeAspect="1"/>
          </p:cNvPicPr>
          <p:nvPr/>
        </p:nvPicPr>
        <p:blipFill>
          <a:blip r:embed="rId8"/>
          <a:stretch>
            <a:fillRect/>
          </a:stretch>
        </p:blipFill>
        <p:spPr>
          <a:xfrm>
            <a:off x="804672" y="2852928"/>
            <a:ext cx="3337560" cy="3200400"/>
          </a:xfrm>
          <a:prstGeom prst="rect">
            <a:avLst/>
          </a:prstGeom>
        </p:spPr>
      </p:pic>
      <p:sp>
        <p:nvSpPr>
          <p:cNvPr id="19" name="Rounded Rectangle 18"/>
          <p:cNvSpPr/>
          <p:nvPr/>
        </p:nvSpPr>
        <p:spPr>
          <a:xfrm>
            <a:off x="4645152" y="2743200"/>
            <a:ext cx="6949440" cy="1042415"/>
          </a:xfrm>
          <a:prstGeom prst="roundRect">
            <a:avLst>
              <a:gd name="adj" fmla="val 8000"/>
            </a:avLst>
          </a:prstGeom>
          <a:solidFill>
            <a:srgbClr val="E0F7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855464" y="2871216"/>
            <a:ext cx="6492240" cy="320040"/>
          </a:xfrm>
          <a:prstGeom prst="rect">
            <a:avLst/>
          </a:prstGeom>
          <a:noFill/>
        </p:spPr>
        <p:txBody>
          <a:bodyPr wrap="square" lIns="0" rIns="0" tIns="0" bIns="0">
            <a:spAutoFit/>
          </a:bodyPr>
          <a:lstStyle/>
          <a:p>
            <a:pPr algn="l">
              <a:lnSpc>
                <a:spcPct val="101000"/>
              </a:lnSpc>
              <a:spcAft>
                <a:spcPts val="300"/>
              </a:spcAft>
              <a:defRPr sz="1900" b="1">
                <a:solidFill>
                  <a:srgbClr val="203350"/>
                </a:solidFill>
                <a:latin typeface="DejaVu Sans"/>
              </a:defRPr>
            </a:pPr>
            <a:r>
              <a:t>1 · Misma base activa</a:t>
            </a:r>
          </a:p>
        </p:txBody>
      </p:sp>
      <p:sp>
        <p:nvSpPr>
          <p:cNvPr id="21" name="TextBox 20"/>
          <p:cNvSpPr txBox="1"/>
          <p:nvPr/>
        </p:nvSpPr>
        <p:spPr>
          <a:xfrm>
            <a:off x="4855464" y="3273552"/>
            <a:ext cx="6492240" cy="502920"/>
          </a:xfrm>
          <a:prstGeom prst="rect">
            <a:avLst/>
          </a:prstGeom>
          <a:noFill/>
        </p:spPr>
        <p:txBody>
          <a:bodyPr wrap="square" lIns="0" rIns="0" tIns="0" bIns="0">
            <a:spAutoFit/>
          </a:bodyPr>
          <a:lstStyle/>
          <a:p>
            <a:pPr algn="l">
              <a:lnSpc>
                <a:spcPct val="101000"/>
              </a:lnSpc>
              <a:spcAft>
                <a:spcPts val="300"/>
              </a:spcAft>
              <a:defRPr sz="1400" b="0">
                <a:solidFill>
                  <a:srgbClr val="203350"/>
                </a:solidFill>
                <a:latin typeface="DejaVu Sans"/>
              </a:defRPr>
            </a:pPr>
            <a:r>
              <a:t>LAB_Bebidas_Grupo01</a:t>
            </a:r>
          </a:p>
        </p:txBody>
      </p:sp>
      <p:sp>
        <p:nvSpPr>
          <p:cNvPr id="22" name="Rounded Rectangle 21"/>
          <p:cNvSpPr/>
          <p:nvPr/>
        </p:nvSpPr>
        <p:spPr>
          <a:xfrm>
            <a:off x="4645152" y="3840480"/>
            <a:ext cx="6949440" cy="1042415"/>
          </a:xfrm>
          <a:prstGeom prst="roundRect">
            <a:avLst>
              <a:gd name="adj" fmla="val 8000"/>
            </a:avLst>
          </a:prstGeom>
          <a:solidFill>
            <a:srgbClr val="E2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855464" y="3968496"/>
            <a:ext cx="6492240" cy="320040"/>
          </a:xfrm>
          <a:prstGeom prst="rect">
            <a:avLst/>
          </a:prstGeom>
          <a:noFill/>
        </p:spPr>
        <p:txBody>
          <a:bodyPr wrap="square" lIns="0" rIns="0" tIns="0" bIns="0">
            <a:spAutoFit/>
          </a:bodyPr>
          <a:lstStyle/>
          <a:p>
            <a:pPr algn="l">
              <a:lnSpc>
                <a:spcPct val="101000"/>
              </a:lnSpc>
              <a:spcAft>
                <a:spcPts val="300"/>
              </a:spcAft>
              <a:defRPr sz="1900" b="1">
                <a:solidFill>
                  <a:srgbClr val="203350"/>
                </a:solidFill>
                <a:latin typeface="DejaVu Sans"/>
              </a:defRPr>
            </a:pPr>
            <a:r>
              <a:t>2 · JSON package (*.zip)</a:t>
            </a:r>
          </a:p>
        </p:txBody>
      </p:sp>
      <p:sp>
        <p:nvSpPr>
          <p:cNvPr id="24" name="TextBox 23"/>
          <p:cNvSpPr txBox="1"/>
          <p:nvPr/>
        </p:nvSpPr>
        <p:spPr>
          <a:xfrm>
            <a:off x="4855464" y="4370832"/>
            <a:ext cx="6492240" cy="502920"/>
          </a:xfrm>
          <a:prstGeom prst="rect">
            <a:avLst/>
          </a:prstGeom>
          <a:noFill/>
        </p:spPr>
        <p:txBody>
          <a:bodyPr wrap="square" lIns="0" rIns="0" tIns="0" bIns="0">
            <a:spAutoFit/>
          </a:bodyPr>
          <a:lstStyle/>
          <a:p>
            <a:pPr algn="l">
              <a:lnSpc>
                <a:spcPct val="101000"/>
              </a:lnSpc>
              <a:spcAft>
                <a:spcPts val="300"/>
              </a:spcAft>
              <a:defRPr sz="1400" b="0">
                <a:solidFill>
                  <a:srgbClr val="203350"/>
                </a:solidFill>
                <a:latin typeface="DejaVu Sans"/>
              </a:defRPr>
            </a:pPr>
            <a:r>
              <a:t>02_CASO_BEBIDAS_JSONLD.zip</a:t>
            </a:r>
          </a:p>
        </p:txBody>
      </p:sp>
      <p:sp>
        <p:nvSpPr>
          <p:cNvPr id="25" name="Rounded Rectangle 24"/>
          <p:cNvSpPr/>
          <p:nvPr/>
        </p:nvSpPr>
        <p:spPr>
          <a:xfrm>
            <a:off x="4645152" y="4937760"/>
            <a:ext cx="6949440" cy="1042415"/>
          </a:xfrm>
          <a:prstGeom prst="roundRect">
            <a:avLst>
              <a:gd name="adj" fmla="val 8000"/>
            </a:avLst>
          </a:prstGeom>
          <a:solidFill>
            <a:srgbClr val="EEE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55464" y="5065776"/>
            <a:ext cx="6492240" cy="320040"/>
          </a:xfrm>
          <a:prstGeom prst="rect">
            <a:avLst/>
          </a:prstGeom>
          <a:noFill/>
        </p:spPr>
        <p:txBody>
          <a:bodyPr wrap="square" lIns="0" rIns="0" tIns="0" bIns="0">
            <a:spAutoFit/>
          </a:bodyPr>
          <a:lstStyle/>
          <a:p>
            <a:pPr algn="l">
              <a:lnSpc>
                <a:spcPct val="101000"/>
              </a:lnSpc>
              <a:spcAft>
                <a:spcPts val="300"/>
              </a:spcAft>
              <a:defRPr sz="1900" b="1">
                <a:solidFill>
                  <a:srgbClr val="203350"/>
                </a:solidFill>
                <a:latin typeface="DejaVu Sans"/>
              </a:defRPr>
            </a:pPr>
            <a:r>
              <a:t>3 · Control final</a:t>
            </a:r>
          </a:p>
        </p:txBody>
      </p:sp>
      <p:sp>
        <p:nvSpPr>
          <p:cNvPr id="27" name="TextBox 26"/>
          <p:cNvSpPr txBox="1"/>
          <p:nvPr/>
        </p:nvSpPr>
        <p:spPr>
          <a:xfrm>
            <a:off x="4855464" y="5468112"/>
            <a:ext cx="6492240" cy="502920"/>
          </a:xfrm>
          <a:prstGeom prst="rect">
            <a:avLst/>
          </a:prstGeom>
          <a:noFill/>
        </p:spPr>
        <p:txBody>
          <a:bodyPr wrap="square" lIns="0" rIns="0" tIns="0" bIns="0">
            <a:spAutoFit/>
          </a:bodyPr>
          <a:lstStyle/>
          <a:p>
            <a:pPr algn="l">
              <a:lnSpc>
                <a:spcPct val="101000"/>
              </a:lnSpc>
              <a:spcAft>
                <a:spcPts val="300"/>
              </a:spcAft>
              <a:defRPr sz="1400" b="0">
                <a:solidFill>
                  <a:srgbClr val="203350"/>
                </a:solidFill>
                <a:latin typeface="DejaVu Sans"/>
              </a:defRPr>
            </a:pPr>
            <a:r>
              <a:t>6 procesos · 10 flujos</a:t>
            </a:r>
          </a:p>
          <a:p>
            <a:pPr algn="l">
              <a:lnSpc>
                <a:spcPct val="101000"/>
              </a:lnSpc>
              <a:spcAft>
                <a:spcPts val="300"/>
              </a:spcAft>
              <a:defRPr sz="1400" b="0">
                <a:solidFill>
                  <a:srgbClr val="203350"/>
                </a:solidFill>
                <a:latin typeface="DejaVu Sans"/>
              </a:defRPr>
            </a:pPr>
            <a:r>
              <a:t>2 sistemas · 1 método</a:t>
            </a:r>
          </a:p>
        </p:txBody>
      </p:sp>
    </p:spTree>
  </p:cSld>
  <p:clrMapOvr>
    <a:masterClrMapping/>
  </p:clrMapOvr>
  <p:transition advClick="1">
    <p:fade/>
  </p:transition>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9FBFF"/>
        </a:solidFill>
        <a:effectLst/>
      </p:bgPr>
    </p:bg>
    <p:spTree>
      <p:nvGrpSpPr>
        <p:cNvPr id="1" name=""/>
        <p:cNvGrpSpPr/>
        <p:nvPr/>
      </p:nvGrpSpPr>
      <p:grpSpPr/>
      <p:sp>
        <p:nvSpPr>
          <p:cNvPr id="2" name="TextBox 1"/>
          <p:cNvSpPr txBox="1"/>
          <p:nvPr/>
        </p:nvSpPr>
        <p:spPr>
          <a:xfrm>
            <a:off x="548640" y="365760"/>
            <a:ext cx="7223760" cy="228600"/>
          </a:xfrm>
          <a:prstGeom prst="rect">
            <a:avLst/>
          </a:prstGeom>
          <a:noFill/>
        </p:spPr>
        <p:txBody>
          <a:bodyPr wrap="square" lIns="0" rIns="0" tIns="0" bIns="0">
            <a:spAutoFit/>
          </a:bodyPr>
          <a:lstStyle/>
          <a:p>
            <a:pPr algn="l">
              <a:lnSpc>
                <a:spcPct val="101000"/>
              </a:lnSpc>
              <a:spcAft>
                <a:spcPts val="300"/>
              </a:spcAft>
              <a:defRPr sz="930" b="1">
                <a:solidFill>
                  <a:srgbClr val="237DC2"/>
                </a:solidFill>
                <a:latin typeface="DejaVu Sans"/>
              </a:defRPr>
            </a:pPr>
            <a:r>
              <a:t>PRÁCTICA · MIRAR LAS CONEXIONES</a:t>
            </a:r>
          </a:p>
        </p:txBody>
      </p:sp>
      <p:sp>
        <p:nvSpPr>
          <p:cNvPr id="3" name="Rounded Rectangle 2">
            <a:hlinkClick action="ppaction://hlinksldjump" r:id="rId2"/>
          </p:cNvPr>
          <p:cNvSpPr/>
          <p:nvPr/>
        </p:nvSpPr>
        <p:spPr>
          <a:xfrm>
            <a:off x="8165592" y="301752"/>
            <a:ext cx="813816" cy="310896"/>
          </a:xfrm>
          <a:prstGeom prst="roundRect">
            <a:avLst>
              <a:gd name="adj" fmla="val 8000"/>
            </a:avLst>
          </a:prstGeom>
          <a:solidFill>
            <a:srgbClr val="E0F7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2"/>
          </p:cNvPr>
          <p:cNvSpPr txBox="1"/>
          <p:nvPr/>
        </p:nvSpPr>
        <p:spPr>
          <a:xfrm>
            <a:off x="8275319" y="384048"/>
            <a:ext cx="594360" cy="219456"/>
          </a:xfrm>
          <a:prstGeom prst="rect">
            <a:avLst/>
          </a:prstGeom>
          <a:noFill/>
        </p:spPr>
        <p:txBody>
          <a:bodyPr wrap="square" lIns="0" rIns="0" tIns="0" bIns="0">
            <a:spAutoFit/>
          </a:bodyPr>
          <a:lstStyle/>
          <a:p>
            <a:pPr algn="l">
              <a:lnSpc>
                <a:spcPct val="101000"/>
              </a:lnSpc>
              <a:spcAft>
                <a:spcPts val="300"/>
              </a:spcAft>
              <a:defRPr sz="800" b="1">
                <a:solidFill>
                  <a:srgbClr val="203350"/>
                </a:solidFill>
                <a:latin typeface="DejaVu Sans"/>
              </a:defRPr>
            </a:pPr>
            <a:r>
              <a:t>Preparar</a:t>
            </a:r>
          </a:p>
        </p:txBody>
      </p:sp>
      <p:sp>
        <p:nvSpPr>
          <p:cNvPr id="5" name="Rounded Rectangle 4">
            <a:hlinkClick action="ppaction://hlinksldjump" r:id="rId3"/>
          </p:cNvPr>
          <p:cNvSpPr/>
          <p:nvPr/>
        </p:nvSpPr>
        <p:spPr>
          <a:xfrm>
            <a:off x="9043416" y="301752"/>
            <a:ext cx="813816" cy="310896"/>
          </a:xfrm>
          <a:prstGeom prst="roundRect">
            <a:avLst>
              <a:gd name="adj" fmla="val 8000"/>
            </a:avLst>
          </a:prstGeom>
          <a:solidFill>
            <a:srgbClr val="E2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3"/>
          </p:cNvPr>
          <p:cNvSpPr txBox="1"/>
          <p:nvPr/>
        </p:nvSpPr>
        <p:spPr>
          <a:xfrm>
            <a:off x="9153144" y="384048"/>
            <a:ext cx="594360" cy="219456"/>
          </a:xfrm>
          <a:prstGeom prst="rect">
            <a:avLst/>
          </a:prstGeom>
          <a:noFill/>
        </p:spPr>
        <p:txBody>
          <a:bodyPr wrap="square" lIns="0" rIns="0" tIns="0" bIns="0">
            <a:spAutoFit/>
          </a:bodyPr>
          <a:lstStyle/>
          <a:p>
            <a:pPr algn="l">
              <a:lnSpc>
                <a:spcPct val="101000"/>
              </a:lnSpc>
              <a:spcAft>
                <a:spcPts val="300"/>
              </a:spcAft>
              <a:defRPr sz="800" b="1">
                <a:solidFill>
                  <a:srgbClr val="203350"/>
                </a:solidFill>
                <a:latin typeface="DejaVu Sans"/>
              </a:defRPr>
            </a:pPr>
            <a:r>
              <a:t>Importar</a:t>
            </a:r>
          </a:p>
        </p:txBody>
      </p:sp>
      <p:sp>
        <p:nvSpPr>
          <p:cNvPr id="7" name="Rounded Rectangle 6">
            <a:hlinkClick action="ppaction://hlinksldjump" r:id="rId4"/>
          </p:cNvPr>
          <p:cNvSpPr/>
          <p:nvPr/>
        </p:nvSpPr>
        <p:spPr>
          <a:xfrm>
            <a:off x="9921240" y="301752"/>
            <a:ext cx="813816" cy="310896"/>
          </a:xfrm>
          <a:prstGeom prst="roundRect">
            <a:avLst>
              <a:gd name="adj" fmla="val 8000"/>
            </a:avLst>
          </a:prstGeom>
          <a:solidFill>
            <a:srgbClr val="EEE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4"/>
          </p:cNvPr>
          <p:cNvSpPr txBox="1"/>
          <p:nvPr/>
        </p:nvSpPr>
        <p:spPr>
          <a:xfrm>
            <a:off x="10030967" y="384048"/>
            <a:ext cx="594360" cy="219456"/>
          </a:xfrm>
          <a:prstGeom prst="rect">
            <a:avLst/>
          </a:prstGeom>
          <a:noFill/>
        </p:spPr>
        <p:txBody>
          <a:bodyPr wrap="square" lIns="0" rIns="0" tIns="0" bIns="0">
            <a:spAutoFit/>
          </a:bodyPr>
          <a:lstStyle/>
          <a:p>
            <a:pPr algn="l">
              <a:lnSpc>
                <a:spcPct val="101000"/>
              </a:lnSpc>
              <a:spcAft>
                <a:spcPts val="300"/>
              </a:spcAft>
              <a:defRPr sz="800" b="1">
                <a:solidFill>
                  <a:srgbClr val="203350"/>
                </a:solidFill>
                <a:latin typeface="DejaVu Sans"/>
              </a:defRPr>
            </a:pPr>
            <a:r>
              <a:t>Calcular</a:t>
            </a:r>
          </a:p>
        </p:txBody>
      </p:sp>
      <p:sp>
        <p:nvSpPr>
          <p:cNvPr id="9" name="Rounded Rectangle 8">
            <a:hlinkClick action="ppaction://hlinksldjump" r:id="rId5"/>
          </p:cNvPr>
          <p:cNvSpPr/>
          <p:nvPr/>
        </p:nvSpPr>
        <p:spPr>
          <a:xfrm>
            <a:off x="10799063" y="301752"/>
            <a:ext cx="813816" cy="310896"/>
          </a:xfrm>
          <a:prstGeom prst="roundRect">
            <a:avLst>
              <a:gd name="adj" fmla="val 8000"/>
            </a:avLst>
          </a:prstGeom>
          <a:solidFill>
            <a:srgbClr val="FFF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5"/>
          </p:cNvPr>
          <p:cNvSpPr txBox="1"/>
          <p:nvPr/>
        </p:nvSpPr>
        <p:spPr>
          <a:xfrm>
            <a:off x="10908791" y="384048"/>
            <a:ext cx="594360" cy="219456"/>
          </a:xfrm>
          <a:prstGeom prst="rect">
            <a:avLst/>
          </a:prstGeom>
          <a:noFill/>
        </p:spPr>
        <p:txBody>
          <a:bodyPr wrap="square" lIns="0" rIns="0" tIns="0" bIns="0">
            <a:spAutoFit/>
          </a:bodyPr>
          <a:lstStyle/>
          <a:p>
            <a:pPr algn="l">
              <a:lnSpc>
                <a:spcPct val="101000"/>
              </a:lnSpc>
              <a:spcAft>
                <a:spcPts val="300"/>
              </a:spcAft>
              <a:defRPr sz="749" b="1">
                <a:solidFill>
                  <a:srgbClr val="203350"/>
                </a:solidFill>
                <a:latin typeface="DejaVu Sans"/>
              </a:defRPr>
            </a:pPr>
            <a:r>
              <a:t>Comprobar</a:t>
            </a:r>
          </a:p>
        </p:txBody>
      </p:sp>
      <p:sp>
        <p:nvSpPr>
          <p:cNvPr id="11" name="TextBox 10"/>
          <p:cNvSpPr txBox="1"/>
          <p:nvPr/>
        </p:nvSpPr>
        <p:spPr>
          <a:xfrm>
            <a:off x="548640" y="886968"/>
            <a:ext cx="11064240" cy="1234440"/>
          </a:xfrm>
          <a:prstGeom prst="rect">
            <a:avLst/>
          </a:prstGeom>
          <a:noFill/>
        </p:spPr>
        <p:txBody>
          <a:bodyPr wrap="square" lIns="0" rIns="0" tIns="0" bIns="0">
            <a:spAutoFit/>
          </a:bodyPr>
          <a:lstStyle/>
          <a:p>
            <a:pPr algn="l">
              <a:lnSpc>
                <a:spcPct val="101000"/>
              </a:lnSpc>
              <a:spcAft>
                <a:spcPts val="300"/>
              </a:spcAft>
              <a:defRPr sz="3900" b="1">
                <a:solidFill>
                  <a:srgbClr val="203350"/>
                </a:solidFill>
                <a:latin typeface="DejaVu Sans"/>
              </a:defRPr>
            </a:pPr>
            <a:r>
              <a:t>3. Sigue una entrada</a:t>
            </a:r>
          </a:p>
          <a:p>
            <a:pPr algn="l">
              <a:lnSpc>
                <a:spcPct val="101000"/>
              </a:lnSpc>
              <a:spcAft>
                <a:spcPts val="300"/>
              </a:spcAft>
              <a:defRPr sz="3900" b="1">
                <a:solidFill>
                  <a:srgbClr val="203350"/>
                </a:solidFill>
                <a:latin typeface="DejaVu Sans"/>
              </a:defRPr>
            </a:pPr>
            <a:r>
              <a:t>hasta su proveedor</a:t>
            </a:r>
          </a:p>
        </p:txBody>
      </p:sp>
      <p:sp>
        <p:nvSpPr>
          <p:cNvPr id="12" name="TextBox 11"/>
          <p:cNvSpPr txBox="1"/>
          <p:nvPr/>
        </p:nvSpPr>
        <p:spPr>
          <a:xfrm>
            <a:off x="566928" y="2121408"/>
            <a:ext cx="10972800" cy="338328"/>
          </a:xfrm>
          <a:prstGeom prst="rect">
            <a:avLst/>
          </a:prstGeom>
          <a:noFill/>
        </p:spPr>
        <p:txBody>
          <a:bodyPr wrap="square" lIns="0" rIns="0" tIns="0" bIns="0">
            <a:spAutoFit/>
          </a:bodyPr>
          <a:lstStyle/>
          <a:p>
            <a:pPr algn="l">
              <a:lnSpc>
                <a:spcPct val="101000"/>
              </a:lnSpc>
              <a:spcAft>
                <a:spcPts val="300"/>
              </a:spcAft>
              <a:defRPr sz="1450" b="0">
                <a:solidFill>
                  <a:srgbClr val="5C6E83"/>
                </a:solidFill>
                <a:latin typeface="DejaVu Sans"/>
              </a:defRPr>
            </a:pPr>
            <a:r>
              <a:t>En Model graph, el sistema de leche contiene cuatro procesos y cinco enlaces.</a:t>
            </a:r>
          </a:p>
        </p:txBody>
      </p:sp>
      <p:sp>
        <p:nvSpPr>
          <p:cNvPr id="13" name="TextBox 12"/>
          <p:cNvSpPr txBox="1"/>
          <p:nvPr/>
        </p:nvSpPr>
        <p:spPr>
          <a:xfrm>
            <a:off x="548640" y="6446520"/>
            <a:ext cx="9784080" cy="219456"/>
          </a:xfrm>
          <a:prstGeom prst="rect">
            <a:avLst/>
          </a:prstGeom>
          <a:noFill/>
        </p:spPr>
        <p:txBody>
          <a:bodyPr wrap="square" lIns="0" rIns="0" tIns="0" bIns="0">
            <a:spAutoFit/>
          </a:bodyPr>
          <a:lstStyle/>
          <a:p>
            <a:pPr algn="l">
              <a:lnSpc>
                <a:spcPct val="101000"/>
              </a:lnSpc>
              <a:spcAft>
                <a:spcPts val="300"/>
              </a:spcAft>
              <a:defRPr sz="810" b="0">
                <a:solidFill>
                  <a:srgbClr val="5C6E83"/>
                </a:solidFill>
                <a:latin typeface="DejaVu Sans"/>
              </a:defRPr>
            </a:pPr>
            <a:r>
              <a:t>Modelo de red incluido en la minibase · proveedores explícitos</a:t>
            </a:r>
          </a:p>
        </p:txBody>
      </p:sp>
      <p:sp>
        <p:nvSpPr>
          <p:cNvPr id="14" name="Rounded Rectangle 13">
            <a:hlinkClick action="ppaction://hlinksldjump" r:id="rId6"/>
          </p:cNvPr>
          <p:cNvSpPr/>
          <p:nvPr/>
        </p:nvSpPr>
        <p:spPr>
          <a:xfrm>
            <a:off x="10442448" y="6400800"/>
            <a:ext cx="640080" cy="265176"/>
          </a:xfrm>
          <a:prstGeom prst="roundRect">
            <a:avLst>
              <a:gd name="adj" fmla="val 8000"/>
            </a:avLst>
          </a:prstGeom>
          <a:solidFill>
            <a:srgbClr val="EEE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a:hlinkClick action="ppaction://hlinksldjump" r:id="rId6"/>
          </p:cNvPr>
          <p:cNvSpPr txBox="1"/>
          <p:nvPr/>
        </p:nvSpPr>
        <p:spPr>
          <a:xfrm>
            <a:off x="10552176" y="6483096"/>
            <a:ext cx="420623" cy="173735"/>
          </a:xfrm>
          <a:prstGeom prst="rect">
            <a:avLst/>
          </a:prstGeom>
          <a:noFill/>
        </p:spPr>
        <p:txBody>
          <a:bodyPr wrap="square" lIns="0" rIns="0" tIns="0" bIns="0">
            <a:spAutoFit/>
          </a:bodyPr>
          <a:lstStyle/>
          <a:p>
            <a:pPr algn="l">
              <a:lnSpc>
                <a:spcPct val="101000"/>
              </a:lnSpc>
              <a:spcAft>
                <a:spcPts val="300"/>
              </a:spcAft>
              <a:defRPr sz="800" b="1">
                <a:solidFill>
                  <a:srgbClr val="8060BA"/>
                </a:solidFill>
                <a:latin typeface="DejaVu Sans"/>
              </a:defRPr>
            </a:pPr>
            <a:r>
              <a:t>Ruta</a:t>
            </a:r>
          </a:p>
        </p:txBody>
      </p:sp>
      <p:sp>
        <p:nvSpPr>
          <p:cNvPr id="16" name="TextBox 15"/>
          <p:cNvSpPr txBox="1"/>
          <p:nvPr/>
        </p:nvSpPr>
        <p:spPr>
          <a:xfrm>
            <a:off x="11228832" y="6400800"/>
            <a:ext cx="457200" cy="274320"/>
          </a:xfrm>
          <a:prstGeom prst="rect">
            <a:avLst/>
          </a:prstGeom>
          <a:noFill/>
        </p:spPr>
        <p:txBody>
          <a:bodyPr wrap="square" lIns="0" rIns="0" tIns="0" bIns="0">
            <a:spAutoFit/>
          </a:bodyPr>
          <a:lstStyle/>
          <a:p>
            <a:pPr algn="r">
              <a:lnSpc>
                <a:spcPct val="101000"/>
              </a:lnSpc>
              <a:spcAft>
                <a:spcPts val="300"/>
              </a:spcAft>
              <a:defRPr sz="1300" b="1">
                <a:solidFill>
                  <a:srgbClr val="203350"/>
                </a:solidFill>
                <a:latin typeface="DejaVu Sans"/>
              </a:defRPr>
            </a:pPr>
            <a:r>
              <a:t>09</a:t>
            </a:r>
          </a:p>
        </p:txBody>
      </p:sp>
      <p:pic>
        <p:nvPicPr>
          <p:cNvPr id="17" name="Picture 16" descr="network.gif"/>
          <p:cNvPicPr>
            <a:picLocks noChangeAspect="1"/>
          </p:cNvPicPr>
          <p:nvPr/>
        </p:nvPicPr>
        <p:blipFill>
          <a:blip r:embed="rId8"/>
          <a:stretch>
            <a:fillRect/>
          </a:stretch>
        </p:blipFill>
        <p:spPr>
          <a:xfrm>
            <a:off x="594360" y="2633472"/>
            <a:ext cx="10972800" cy="3154680"/>
          </a:xfrm>
          <a:prstGeom prst="rect">
            <a:avLst/>
          </a:prstGeom>
        </p:spPr>
      </p:pic>
      <p:sp>
        <p:nvSpPr>
          <p:cNvPr id="18" name="TextBox 17"/>
          <p:cNvSpPr txBox="1"/>
          <p:nvPr/>
        </p:nvSpPr>
        <p:spPr>
          <a:xfrm>
            <a:off x="731520" y="5943600"/>
            <a:ext cx="10789920" cy="274320"/>
          </a:xfrm>
          <a:prstGeom prst="rect">
            <a:avLst/>
          </a:prstGeom>
          <a:noFill/>
        </p:spPr>
        <p:txBody>
          <a:bodyPr wrap="square" lIns="0" rIns="0" tIns="0" bIns="0">
            <a:spAutoFit/>
          </a:bodyPr>
          <a:lstStyle/>
          <a:p>
            <a:pPr algn="l">
              <a:lnSpc>
                <a:spcPct val="101000"/>
              </a:lnSpc>
              <a:spcAft>
                <a:spcPts val="300"/>
              </a:spcAft>
              <a:defRPr sz="1100" b="0">
                <a:solidFill>
                  <a:srgbClr val="5C6E83"/>
                </a:solidFill>
                <a:latin typeface="DejaVu Sans"/>
              </a:defRPr>
            </a:pPr>
            <a:r>
              <a:t>Esquema del caso docente · 4 procesos y 5 enlaces · no es una captura de la interfaz.</a:t>
            </a:r>
          </a:p>
        </p:txBody>
      </p:sp>
    </p:spTree>
  </p:cSld>
  <p:clrMapOvr>
    <a:masterClrMapping/>
  </p:clrMapOvr>
  <p:transition advClick="1">
    <p:fade/>
  </p:transition>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9FBFF"/>
        </a:solidFill>
        <a:effectLst/>
      </p:bgPr>
    </p:bg>
    <p:spTree>
      <p:nvGrpSpPr>
        <p:cNvPr id="1" name=""/>
        <p:cNvGrpSpPr/>
        <p:nvPr/>
      </p:nvGrpSpPr>
      <p:grpSpPr/>
      <p:sp>
        <p:nvSpPr>
          <p:cNvPr id="2" name="TextBox 1"/>
          <p:cNvSpPr txBox="1"/>
          <p:nvPr/>
        </p:nvSpPr>
        <p:spPr>
          <a:xfrm>
            <a:off x="548640" y="365760"/>
            <a:ext cx="7223760" cy="228600"/>
          </a:xfrm>
          <a:prstGeom prst="rect">
            <a:avLst/>
          </a:prstGeom>
          <a:noFill/>
        </p:spPr>
        <p:txBody>
          <a:bodyPr wrap="square" lIns="0" rIns="0" tIns="0" bIns="0">
            <a:spAutoFit/>
          </a:bodyPr>
          <a:lstStyle/>
          <a:p>
            <a:pPr algn="l">
              <a:lnSpc>
                <a:spcPct val="101000"/>
              </a:lnSpc>
              <a:spcAft>
                <a:spcPts val="300"/>
              </a:spcAft>
              <a:defRPr sz="930" b="1">
                <a:solidFill>
                  <a:srgbClr val="237DC2"/>
                </a:solidFill>
                <a:latin typeface="DejaVu Sans"/>
              </a:defRPr>
            </a:pPr>
            <a:r>
              <a:t>PRÁCTICA · REVISAR LOS DATOS</a:t>
            </a:r>
          </a:p>
        </p:txBody>
      </p:sp>
      <p:sp>
        <p:nvSpPr>
          <p:cNvPr id="3" name="Rounded Rectangle 2">
            <a:hlinkClick action="ppaction://hlinksldjump" r:id="rId2"/>
          </p:cNvPr>
          <p:cNvSpPr/>
          <p:nvPr/>
        </p:nvSpPr>
        <p:spPr>
          <a:xfrm>
            <a:off x="8165592" y="301752"/>
            <a:ext cx="813816" cy="310896"/>
          </a:xfrm>
          <a:prstGeom prst="roundRect">
            <a:avLst>
              <a:gd name="adj" fmla="val 8000"/>
            </a:avLst>
          </a:prstGeom>
          <a:solidFill>
            <a:srgbClr val="E0F7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2"/>
          </p:cNvPr>
          <p:cNvSpPr txBox="1"/>
          <p:nvPr/>
        </p:nvSpPr>
        <p:spPr>
          <a:xfrm>
            <a:off x="8275319" y="384048"/>
            <a:ext cx="594360" cy="219456"/>
          </a:xfrm>
          <a:prstGeom prst="rect">
            <a:avLst/>
          </a:prstGeom>
          <a:noFill/>
        </p:spPr>
        <p:txBody>
          <a:bodyPr wrap="square" lIns="0" rIns="0" tIns="0" bIns="0">
            <a:spAutoFit/>
          </a:bodyPr>
          <a:lstStyle/>
          <a:p>
            <a:pPr algn="l">
              <a:lnSpc>
                <a:spcPct val="101000"/>
              </a:lnSpc>
              <a:spcAft>
                <a:spcPts val="300"/>
              </a:spcAft>
              <a:defRPr sz="800" b="1">
                <a:solidFill>
                  <a:srgbClr val="203350"/>
                </a:solidFill>
                <a:latin typeface="DejaVu Sans"/>
              </a:defRPr>
            </a:pPr>
            <a:r>
              <a:t>Preparar</a:t>
            </a:r>
          </a:p>
        </p:txBody>
      </p:sp>
      <p:sp>
        <p:nvSpPr>
          <p:cNvPr id="5" name="Rounded Rectangle 4">
            <a:hlinkClick action="ppaction://hlinksldjump" r:id="rId3"/>
          </p:cNvPr>
          <p:cNvSpPr/>
          <p:nvPr/>
        </p:nvSpPr>
        <p:spPr>
          <a:xfrm>
            <a:off x="9043416" y="301752"/>
            <a:ext cx="813816" cy="310896"/>
          </a:xfrm>
          <a:prstGeom prst="roundRect">
            <a:avLst>
              <a:gd name="adj" fmla="val 8000"/>
            </a:avLst>
          </a:prstGeom>
          <a:solidFill>
            <a:srgbClr val="E2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3"/>
          </p:cNvPr>
          <p:cNvSpPr txBox="1"/>
          <p:nvPr/>
        </p:nvSpPr>
        <p:spPr>
          <a:xfrm>
            <a:off x="9153144" y="384048"/>
            <a:ext cx="594360" cy="219456"/>
          </a:xfrm>
          <a:prstGeom prst="rect">
            <a:avLst/>
          </a:prstGeom>
          <a:noFill/>
        </p:spPr>
        <p:txBody>
          <a:bodyPr wrap="square" lIns="0" rIns="0" tIns="0" bIns="0">
            <a:spAutoFit/>
          </a:bodyPr>
          <a:lstStyle/>
          <a:p>
            <a:pPr algn="l">
              <a:lnSpc>
                <a:spcPct val="101000"/>
              </a:lnSpc>
              <a:spcAft>
                <a:spcPts val="300"/>
              </a:spcAft>
              <a:defRPr sz="800" b="1">
                <a:solidFill>
                  <a:srgbClr val="203350"/>
                </a:solidFill>
                <a:latin typeface="DejaVu Sans"/>
              </a:defRPr>
            </a:pPr>
            <a:r>
              <a:t>Importar</a:t>
            </a:r>
          </a:p>
        </p:txBody>
      </p:sp>
      <p:sp>
        <p:nvSpPr>
          <p:cNvPr id="7" name="Rounded Rectangle 6">
            <a:hlinkClick action="ppaction://hlinksldjump" r:id="rId4"/>
          </p:cNvPr>
          <p:cNvSpPr/>
          <p:nvPr/>
        </p:nvSpPr>
        <p:spPr>
          <a:xfrm>
            <a:off x="9921240" y="301752"/>
            <a:ext cx="813816" cy="310896"/>
          </a:xfrm>
          <a:prstGeom prst="roundRect">
            <a:avLst>
              <a:gd name="adj" fmla="val 8000"/>
            </a:avLst>
          </a:prstGeom>
          <a:solidFill>
            <a:srgbClr val="EEE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4"/>
          </p:cNvPr>
          <p:cNvSpPr txBox="1"/>
          <p:nvPr/>
        </p:nvSpPr>
        <p:spPr>
          <a:xfrm>
            <a:off x="10030967" y="384048"/>
            <a:ext cx="594360" cy="219456"/>
          </a:xfrm>
          <a:prstGeom prst="rect">
            <a:avLst/>
          </a:prstGeom>
          <a:noFill/>
        </p:spPr>
        <p:txBody>
          <a:bodyPr wrap="square" lIns="0" rIns="0" tIns="0" bIns="0">
            <a:spAutoFit/>
          </a:bodyPr>
          <a:lstStyle/>
          <a:p>
            <a:pPr algn="l">
              <a:lnSpc>
                <a:spcPct val="101000"/>
              </a:lnSpc>
              <a:spcAft>
                <a:spcPts val="300"/>
              </a:spcAft>
              <a:defRPr sz="800" b="1">
                <a:solidFill>
                  <a:srgbClr val="203350"/>
                </a:solidFill>
                <a:latin typeface="DejaVu Sans"/>
              </a:defRPr>
            </a:pPr>
            <a:r>
              <a:t>Calcular</a:t>
            </a:r>
          </a:p>
        </p:txBody>
      </p:sp>
      <p:sp>
        <p:nvSpPr>
          <p:cNvPr id="9" name="Rounded Rectangle 8">
            <a:hlinkClick action="ppaction://hlinksldjump" r:id="rId5"/>
          </p:cNvPr>
          <p:cNvSpPr/>
          <p:nvPr/>
        </p:nvSpPr>
        <p:spPr>
          <a:xfrm>
            <a:off x="10799063" y="301752"/>
            <a:ext cx="813816" cy="310896"/>
          </a:xfrm>
          <a:prstGeom prst="roundRect">
            <a:avLst>
              <a:gd name="adj" fmla="val 8000"/>
            </a:avLst>
          </a:prstGeom>
          <a:solidFill>
            <a:srgbClr val="FFF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5"/>
          </p:cNvPr>
          <p:cNvSpPr txBox="1"/>
          <p:nvPr/>
        </p:nvSpPr>
        <p:spPr>
          <a:xfrm>
            <a:off x="10908791" y="384048"/>
            <a:ext cx="594360" cy="219456"/>
          </a:xfrm>
          <a:prstGeom prst="rect">
            <a:avLst/>
          </a:prstGeom>
          <a:noFill/>
        </p:spPr>
        <p:txBody>
          <a:bodyPr wrap="square" lIns="0" rIns="0" tIns="0" bIns="0">
            <a:spAutoFit/>
          </a:bodyPr>
          <a:lstStyle/>
          <a:p>
            <a:pPr algn="l">
              <a:lnSpc>
                <a:spcPct val="101000"/>
              </a:lnSpc>
              <a:spcAft>
                <a:spcPts val="300"/>
              </a:spcAft>
              <a:defRPr sz="749" b="1">
                <a:solidFill>
                  <a:srgbClr val="203350"/>
                </a:solidFill>
                <a:latin typeface="DejaVu Sans"/>
              </a:defRPr>
            </a:pPr>
            <a:r>
              <a:t>Comprobar</a:t>
            </a:r>
          </a:p>
        </p:txBody>
      </p:sp>
      <p:sp>
        <p:nvSpPr>
          <p:cNvPr id="11" name="TextBox 10"/>
          <p:cNvSpPr txBox="1"/>
          <p:nvPr/>
        </p:nvSpPr>
        <p:spPr>
          <a:xfrm>
            <a:off x="548640" y="886968"/>
            <a:ext cx="11064240" cy="1234440"/>
          </a:xfrm>
          <a:prstGeom prst="rect">
            <a:avLst/>
          </a:prstGeom>
          <a:noFill/>
        </p:spPr>
        <p:txBody>
          <a:bodyPr wrap="square" lIns="0" rIns="0" tIns="0" bIns="0">
            <a:spAutoFit/>
          </a:bodyPr>
          <a:lstStyle/>
          <a:p>
            <a:pPr algn="l">
              <a:lnSpc>
                <a:spcPct val="101000"/>
              </a:lnSpc>
              <a:spcAft>
                <a:spcPts val="300"/>
              </a:spcAft>
              <a:defRPr sz="3900" b="1">
                <a:solidFill>
                  <a:srgbClr val="203350"/>
                </a:solidFill>
                <a:latin typeface="DejaVu Sans"/>
              </a:defRPr>
            </a:pPr>
            <a:r>
              <a:t>4. Comprueba referencia,</a:t>
            </a:r>
          </a:p>
          <a:p>
            <a:pPr algn="l">
              <a:lnSpc>
                <a:spcPct val="101000"/>
              </a:lnSpc>
              <a:spcAft>
                <a:spcPts val="300"/>
              </a:spcAft>
              <a:defRPr sz="3900" b="1">
                <a:solidFill>
                  <a:srgbClr val="203350"/>
                </a:solidFill>
                <a:latin typeface="DejaVu Sans"/>
              </a:defRPr>
            </a:pPr>
            <a:r>
              <a:t>cantidad y unidad</a:t>
            </a:r>
          </a:p>
        </p:txBody>
      </p:sp>
      <p:sp>
        <p:nvSpPr>
          <p:cNvPr id="12" name="TextBox 11"/>
          <p:cNvSpPr txBox="1"/>
          <p:nvPr/>
        </p:nvSpPr>
        <p:spPr>
          <a:xfrm>
            <a:off x="566928" y="2121408"/>
            <a:ext cx="10972800" cy="338328"/>
          </a:xfrm>
          <a:prstGeom prst="rect">
            <a:avLst/>
          </a:prstGeom>
          <a:noFill/>
        </p:spPr>
        <p:txBody>
          <a:bodyPr wrap="square" lIns="0" rIns="0" tIns="0" bIns="0">
            <a:spAutoFit/>
          </a:bodyPr>
          <a:lstStyle/>
          <a:p>
            <a:pPr algn="l">
              <a:lnSpc>
                <a:spcPct val="101000"/>
              </a:lnSpc>
              <a:spcAft>
                <a:spcPts val="300"/>
              </a:spcAft>
              <a:defRPr sz="1450" b="0">
                <a:solidFill>
                  <a:srgbClr val="5C6E83"/>
                </a:solidFill>
                <a:latin typeface="DejaVu Sans"/>
              </a:defRPr>
            </a:pPr>
            <a:r>
              <a:t>1 L de bebida · 1 kWh de electricidad · 1 kg de avena · 1 envase</a:t>
            </a:r>
          </a:p>
        </p:txBody>
      </p:sp>
      <p:sp>
        <p:nvSpPr>
          <p:cNvPr id="13" name="TextBox 12"/>
          <p:cNvSpPr txBox="1"/>
          <p:nvPr/>
        </p:nvSpPr>
        <p:spPr>
          <a:xfrm>
            <a:off x="548640" y="6446520"/>
            <a:ext cx="9784080" cy="219456"/>
          </a:xfrm>
          <a:prstGeom prst="rect">
            <a:avLst/>
          </a:prstGeom>
          <a:noFill/>
        </p:spPr>
        <p:txBody>
          <a:bodyPr wrap="square" lIns="0" rIns="0" tIns="0" bIns="0">
            <a:spAutoFit/>
          </a:bodyPr>
          <a:lstStyle/>
          <a:p>
            <a:pPr algn="l">
              <a:lnSpc>
                <a:spcPct val="101000"/>
              </a:lnSpc>
              <a:spcAft>
                <a:spcPts val="300"/>
              </a:spcAft>
              <a:defRPr sz="810" b="0">
                <a:solidFill>
                  <a:srgbClr val="5C6E83"/>
                </a:solidFill>
                <a:latin typeface="DejaVu Sans"/>
              </a:defRPr>
            </a:pPr>
            <a:r>
              <a:t>Inventario_docente_por_proceso.csv · conversiones incluidas en la base</a:t>
            </a:r>
          </a:p>
        </p:txBody>
      </p:sp>
      <p:sp>
        <p:nvSpPr>
          <p:cNvPr id="14" name="Rounded Rectangle 13">
            <a:hlinkClick action="ppaction://hlinksldjump" r:id="rId6"/>
          </p:cNvPr>
          <p:cNvSpPr/>
          <p:nvPr/>
        </p:nvSpPr>
        <p:spPr>
          <a:xfrm>
            <a:off x="10442448" y="6400800"/>
            <a:ext cx="640080" cy="265176"/>
          </a:xfrm>
          <a:prstGeom prst="roundRect">
            <a:avLst>
              <a:gd name="adj" fmla="val 8000"/>
            </a:avLst>
          </a:prstGeom>
          <a:solidFill>
            <a:srgbClr val="EEE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a:hlinkClick action="ppaction://hlinksldjump" r:id="rId6"/>
          </p:cNvPr>
          <p:cNvSpPr txBox="1"/>
          <p:nvPr/>
        </p:nvSpPr>
        <p:spPr>
          <a:xfrm>
            <a:off x="10552176" y="6483096"/>
            <a:ext cx="420623" cy="173735"/>
          </a:xfrm>
          <a:prstGeom prst="rect">
            <a:avLst/>
          </a:prstGeom>
          <a:noFill/>
        </p:spPr>
        <p:txBody>
          <a:bodyPr wrap="square" lIns="0" rIns="0" tIns="0" bIns="0">
            <a:spAutoFit/>
          </a:bodyPr>
          <a:lstStyle/>
          <a:p>
            <a:pPr algn="l">
              <a:lnSpc>
                <a:spcPct val="101000"/>
              </a:lnSpc>
              <a:spcAft>
                <a:spcPts val="300"/>
              </a:spcAft>
              <a:defRPr sz="800" b="1">
                <a:solidFill>
                  <a:srgbClr val="8060BA"/>
                </a:solidFill>
                <a:latin typeface="DejaVu Sans"/>
              </a:defRPr>
            </a:pPr>
            <a:r>
              <a:t>Ruta</a:t>
            </a:r>
          </a:p>
        </p:txBody>
      </p:sp>
      <p:sp>
        <p:nvSpPr>
          <p:cNvPr id="16" name="TextBox 15"/>
          <p:cNvSpPr txBox="1"/>
          <p:nvPr/>
        </p:nvSpPr>
        <p:spPr>
          <a:xfrm>
            <a:off x="11228832" y="6400800"/>
            <a:ext cx="457200" cy="274320"/>
          </a:xfrm>
          <a:prstGeom prst="rect">
            <a:avLst/>
          </a:prstGeom>
          <a:noFill/>
        </p:spPr>
        <p:txBody>
          <a:bodyPr wrap="square" lIns="0" rIns="0" tIns="0" bIns="0">
            <a:spAutoFit/>
          </a:bodyPr>
          <a:lstStyle/>
          <a:p>
            <a:pPr algn="r">
              <a:lnSpc>
                <a:spcPct val="101000"/>
              </a:lnSpc>
              <a:spcAft>
                <a:spcPts val="300"/>
              </a:spcAft>
              <a:defRPr sz="1300" b="1">
                <a:solidFill>
                  <a:srgbClr val="203350"/>
                </a:solidFill>
                <a:latin typeface="DejaVu Sans"/>
              </a:defRPr>
            </a:pPr>
            <a:r>
              <a:t>10</a:t>
            </a:r>
          </a:p>
        </p:txBody>
      </p:sp>
      <p:pic>
        <p:nvPicPr>
          <p:cNvPr id="17" name="Picture 16" descr="units.png"/>
          <p:cNvPicPr>
            <a:picLocks noChangeAspect="1"/>
          </p:cNvPicPr>
          <p:nvPr/>
        </p:nvPicPr>
        <p:blipFill>
          <a:blip r:embed="rId8"/>
          <a:stretch>
            <a:fillRect/>
          </a:stretch>
        </p:blipFill>
        <p:spPr>
          <a:xfrm>
            <a:off x="594360" y="2633472"/>
            <a:ext cx="10972800" cy="3438144"/>
          </a:xfrm>
          <a:prstGeom prst="rect">
            <a:avLst/>
          </a:prstGeom>
        </p:spPr>
      </p:pic>
    </p:spTree>
  </p:cSld>
  <p:clrMapOvr>
    <a:masterClrMapping/>
  </p:clrMapOvr>
  <p:transition advClick="1">
    <p:fade/>
  </p:transition>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9FBFF"/>
        </a:solidFill>
        <a:effectLst/>
      </p:bgPr>
    </p:bg>
    <p:spTree>
      <p:nvGrpSpPr>
        <p:cNvPr id="1" name=""/>
        <p:cNvGrpSpPr/>
        <p:nvPr/>
      </p:nvGrpSpPr>
      <p:grpSpPr/>
      <p:sp>
        <p:nvSpPr>
          <p:cNvPr id="2" name="TextBox 1"/>
          <p:cNvSpPr txBox="1"/>
          <p:nvPr/>
        </p:nvSpPr>
        <p:spPr>
          <a:xfrm>
            <a:off x="548640" y="365760"/>
            <a:ext cx="7223760" cy="228600"/>
          </a:xfrm>
          <a:prstGeom prst="rect">
            <a:avLst/>
          </a:prstGeom>
          <a:noFill/>
        </p:spPr>
        <p:txBody>
          <a:bodyPr wrap="square" lIns="0" rIns="0" tIns="0" bIns="0">
            <a:spAutoFit/>
          </a:bodyPr>
          <a:lstStyle/>
          <a:p>
            <a:pPr algn="l">
              <a:lnSpc>
                <a:spcPct val="101000"/>
              </a:lnSpc>
              <a:spcAft>
                <a:spcPts val="300"/>
              </a:spcAft>
              <a:defRPr sz="930" b="1">
                <a:solidFill>
                  <a:srgbClr val="237DC2"/>
                </a:solidFill>
                <a:latin typeface="DejaVu Sans"/>
              </a:defRPr>
            </a:pPr>
            <a:r>
              <a:t>PRÁCTICA · CALCULAR</a:t>
            </a:r>
          </a:p>
        </p:txBody>
      </p:sp>
      <p:sp>
        <p:nvSpPr>
          <p:cNvPr id="3" name="Rounded Rectangle 2">
            <a:hlinkClick action="ppaction://hlinksldjump" r:id="rId2"/>
          </p:cNvPr>
          <p:cNvSpPr/>
          <p:nvPr/>
        </p:nvSpPr>
        <p:spPr>
          <a:xfrm>
            <a:off x="8165592" y="301752"/>
            <a:ext cx="813816" cy="310896"/>
          </a:xfrm>
          <a:prstGeom prst="roundRect">
            <a:avLst>
              <a:gd name="adj" fmla="val 8000"/>
            </a:avLst>
          </a:prstGeom>
          <a:solidFill>
            <a:srgbClr val="E0F7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2"/>
          </p:cNvPr>
          <p:cNvSpPr txBox="1"/>
          <p:nvPr/>
        </p:nvSpPr>
        <p:spPr>
          <a:xfrm>
            <a:off x="8275319" y="384048"/>
            <a:ext cx="594360" cy="219456"/>
          </a:xfrm>
          <a:prstGeom prst="rect">
            <a:avLst/>
          </a:prstGeom>
          <a:noFill/>
        </p:spPr>
        <p:txBody>
          <a:bodyPr wrap="square" lIns="0" rIns="0" tIns="0" bIns="0">
            <a:spAutoFit/>
          </a:bodyPr>
          <a:lstStyle/>
          <a:p>
            <a:pPr algn="l">
              <a:lnSpc>
                <a:spcPct val="101000"/>
              </a:lnSpc>
              <a:spcAft>
                <a:spcPts val="300"/>
              </a:spcAft>
              <a:defRPr sz="800" b="1">
                <a:solidFill>
                  <a:srgbClr val="203350"/>
                </a:solidFill>
                <a:latin typeface="DejaVu Sans"/>
              </a:defRPr>
            </a:pPr>
            <a:r>
              <a:t>Preparar</a:t>
            </a:r>
          </a:p>
        </p:txBody>
      </p:sp>
      <p:sp>
        <p:nvSpPr>
          <p:cNvPr id="5" name="Rounded Rectangle 4">
            <a:hlinkClick action="ppaction://hlinksldjump" r:id="rId3"/>
          </p:cNvPr>
          <p:cNvSpPr/>
          <p:nvPr/>
        </p:nvSpPr>
        <p:spPr>
          <a:xfrm>
            <a:off x="9043416" y="301752"/>
            <a:ext cx="813816" cy="310896"/>
          </a:xfrm>
          <a:prstGeom prst="roundRect">
            <a:avLst>
              <a:gd name="adj" fmla="val 8000"/>
            </a:avLst>
          </a:prstGeom>
          <a:solidFill>
            <a:srgbClr val="E2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3"/>
          </p:cNvPr>
          <p:cNvSpPr txBox="1"/>
          <p:nvPr/>
        </p:nvSpPr>
        <p:spPr>
          <a:xfrm>
            <a:off x="9153144" y="384048"/>
            <a:ext cx="594360" cy="219456"/>
          </a:xfrm>
          <a:prstGeom prst="rect">
            <a:avLst/>
          </a:prstGeom>
          <a:noFill/>
        </p:spPr>
        <p:txBody>
          <a:bodyPr wrap="square" lIns="0" rIns="0" tIns="0" bIns="0">
            <a:spAutoFit/>
          </a:bodyPr>
          <a:lstStyle/>
          <a:p>
            <a:pPr algn="l">
              <a:lnSpc>
                <a:spcPct val="101000"/>
              </a:lnSpc>
              <a:spcAft>
                <a:spcPts val="300"/>
              </a:spcAft>
              <a:defRPr sz="800" b="1">
                <a:solidFill>
                  <a:srgbClr val="203350"/>
                </a:solidFill>
                <a:latin typeface="DejaVu Sans"/>
              </a:defRPr>
            </a:pPr>
            <a:r>
              <a:t>Importar</a:t>
            </a:r>
          </a:p>
        </p:txBody>
      </p:sp>
      <p:sp>
        <p:nvSpPr>
          <p:cNvPr id="7" name="Rounded Rectangle 6">
            <a:hlinkClick action="ppaction://hlinksldjump" r:id="rId4"/>
          </p:cNvPr>
          <p:cNvSpPr/>
          <p:nvPr/>
        </p:nvSpPr>
        <p:spPr>
          <a:xfrm>
            <a:off x="9921240" y="301752"/>
            <a:ext cx="813816" cy="310896"/>
          </a:xfrm>
          <a:prstGeom prst="roundRect">
            <a:avLst>
              <a:gd name="adj" fmla="val 8000"/>
            </a:avLst>
          </a:prstGeom>
          <a:solidFill>
            <a:srgbClr val="EEE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4"/>
          </p:cNvPr>
          <p:cNvSpPr txBox="1"/>
          <p:nvPr/>
        </p:nvSpPr>
        <p:spPr>
          <a:xfrm>
            <a:off x="10030967" y="384048"/>
            <a:ext cx="594360" cy="219456"/>
          </a:xfrm>
          <a:prstGeom prst="rect">
            <a:avLst/>
          </a:prstGeom>
          <a:noFill/>
        </p:spPr>
        <p:txBody>
          <a:bodyPr wrap="square" lIns="0" rIns="0" tIns="0" bIns="0">
            <a:spAutoFit/>
          </a:bodyPr>
          <a:lstStyle/>
          <a:p>
            <a:pPr algn="l">
              <a:lnSpc>
                <a:spcPct val="101000"/>
              </a:lnSpc>
              <a:spcAft>
                <a:spcPts val="300"/>
              </a:spcAft>
              <a:defRPr sz="800" b="1">
                <a:solidFill>
                  <a:srgbClr val="203350"/>
                </a:solidFill>
                <a:latin typeface="DejaVu Sans"/>
              </a:defRPr>
            </a:pPr>
            <a:r>
              <a:t>Calcular</a:t>
            </a:r>
          </a:p>
        </p:txBody>
      </p:sp>
      <p:sp>
        <p:nvSpPr>
          <p:cNvPr id="9" name="Rounded Rectangle 8">
            <a:hlinkClick action="ppaction://hlinksldjump" r:id="rId5"/>
          </p:cNvPr>
          <p:cNvSpPr/>
          <p:nvPr/>
        </p:nvSpPr>
        <p:spPr>
          <a:xfrm>
            <a:off x="10799063" y="301752"/>
            <a:ext cx="813816" cy="310896"/>
          </a:xfrm>
          <a:prstGeom prst="roundRect">
            <a:avLst>
              <a:gd name="adj" fmla="val 8000"/>
            </a:avLst>
          </a:prstGeom>
          <a:solidFill>
            <a:srgbClr val="FFF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5"/>
          </p:cNvPr>
          <p:cNvSpPr txBox="1"/>
          <p:nvPr/>
        </p:nvSpPr>
        <p:spPr>
          <a:xfrm>
            <a:off x="10908791" y="384048"/>
            <a:ext cx="594360" cy="219456"/>
          </a:xfrm>
          <a:prstGeom prst="rect">
            <a:avLst/>
          </a:prstGeom>
          <a:noFill/>
        </p:spPr>
        <p:txBody>
          <a:bodyPr wrap="square" lIns="0" rIns="0" tIns="0" bIns="0">
            <a:spAutoFit/>
          </a:bodyPr>
          <a:lstStyle/>
          <a:p>
            <a:pPr algn="l">
              <a:lnSpc>
                <a:spcPct val="101000"/>
              </a:lnSpc>
              <a:spcAft>
                <a:spcPts val="300"/>
              </a:spcAft>
              <a:defRPr sz="749" b="1">
                <a:solidFill>
                  <a:srgbClr val="203350"/>
                </a:solidFill>
                <a:latin typeface="DejaVu Sans"/>
              </a:defRPr>
            </a:pPr>
            <a:r>
              <a:t>Comprobar</a:t>
            </a:r>
          </a:p>
        </p:txBody>
      </p:sp>
      <p:sp>
        <p:nvSpPr>
          <p:cNvPr id="11" name="TextBox 10"/>
          <p:cNvSpPr txBox="1"/>
          <p:nvPr/>
        </p:nvSpPr>
        <p:spPr>
          <a:xfrm>
            <a:off x="548640" y="886968"/>
            <a:ext cx="11064240" cy="1234440"/>
          </a:xfrm>
          <a:prstGeom prst="rect">
            <a:avLst/>
          </a:prstGeom>
          <a:noFill/>
        </p:spPr>
        <p:txBody>
          <a:bodyPr wrap="square" lIns="0" rIns="0" tIns="0" bIns="0">
            <a:spAutoFit/>
          </a:bodyPr>
          <a:lstStyle/>
          <a:p>
            <a:pPr algn="l">
              <a:lnSpc>
                <a:spcPct val="101000"/>
              </a:lnSpc>
              <a:spcAft>
                <a:spcPts val="300"/>
              </a:spcAft>
              <a:defRPr sz="3900" b="1">
                <a:solidFill>
                  <a:srgbClr val="203350"/>
                </a:solidFill>
                <a:latin typeface="DejaVu Sans"/>
              </a:defRPr>
            </a:pPr>
            <a:r>
              <a:t>5. Selecciona el sistema,</a:t>
            </a:r>
          </a:p>
          <a:p>
            <a:pPr algn="l">
              <a:lnSpc>
                <a:spcPct val="101000"/>
              </a:lnSpc>
              <a:spcAft>
                <a:spcPts val="300"/>
              </a:spcAft>
              <a:defRPr sz="3900" b="1">
                <a:solidFill>
                  <a:srgbClr val="203350"/>
                </a:solidFill>
                <a:latin typeface="DejaVu Sans"/>
              </a:defRPr>
            </a:pPr>
            <a:r>
              <a:t>la cantidad y el método</a:t>
            </a:r>
          </a:p>
        </p:txBody>
      </p:sp>
      <p:sp>
        <p:nvSpPr>
          <p:cNvPr id="12" name="TextBox 11"/>
          <p:cNvSpPr txBox="1"/>
          <p:nvPr/>
        </p:nvSpPr>
        <p:spPr>
          <a:xfrm>
            <a:off x="566928" y="2121408"/>
            <a:ext cx="10972800" cy="338328"/>
          </a:xfrm>
          <a:prstGeom prst="rect">
            <a:avLst/>
          </a:prstGeom>
          <a:noFill/>
        </p:spPr>
        <p:txBody>
          <a:bodyPr wrap="square" lIns="0" rIns="0" tIns="0" bIns="0">
            <a:spAutoFit/>
          </a:bodyPr>
          <a:lstStyle/>
          <a:p>
            <a:pPr algn="l">
              <a:lnSpc>
                <a:spcPct val="101000"/>
              </a:lnSpc>
              <a:spcAft>
                <a:spcPts val="300"/>
              </a:spcAft>
              <a:defRPr sz="1450" b="0">
                <a:solidFill>
                  <a:srgbClr val="5C6E83"/>
                </a:solidFill>
                <a:latin typeface="DejaVu Sans"/>
              </a:defRPr>
            </a:pPr>
            <a:r>
              <a:t>Calculate → 1 L → DOC_GWP100_AR5_3gases</a:t>
            </a:r>
          </a:p>
        </p:txBody>
      </p:sp>
      <p:sp>
        <p:nvSpPr>
          <p:cNvPr id="13" name="TextBox 12"/>
          <p:cNvSpPr txBox="1"/>
          <p:nvPr/>
        </p:nvSpPr>
        <p:spPr>
          <a:xfrm>
            <a:off x="548640" y="6446520"/>
            <a:ext cx="9784080" cy="219456"/>
          </a:xfrm>
          <a:prstGeom prst="rect">
            <a:avLst/>
          </a:prstGeom>
          <a:noFill/>
        </p:spPr>
        <p:txBody>
          <a:bodyPr wrap="square" lIns="0" rIns="0" tIns="0" bIns="0">
            <a:spAutoFit/>
          </a:bodyPr>
          <a:lstStyle/>
          <a:p>
            <a:pPr algn="l">
              <a:lnSpc>
                <a:spcPct val="101000"/>
              </a:lnSpc>
              <a:spcAft>
                <a:spcPts val="300"/>
              </a:spcAft>
              <a:defRPr sz="810" b="0">
                <a:solidFill>
                  <a:srgbClr val="5C6E83"/>
                </a:solidFill>
                <a:latin typeface="DejaVu Sans"/>
              </a:defRPr>
            </a:pPr>
            <a:r>
              <a:t>Manual: Calculating a product system · método docente de tres gases</a:t>
            </a:r>
          </a:p>
        </p:txBody>
      </p:sp>
      <p:sp>
        <p:nvSpPr>
          <p:cNvPr id="14" name="Rounded Rectangle 13">
            <a:hlinkClick action="ppaction://hlinksldjump" r:id="rId6"/>
          </p:cNvPr>
          <p:cNvSpPr/>
          <p:nvPr/>
        </p:nvSpPr>
        <p:spPr>
          <a:xfrm>
            <a:off x="10442448" y="6400800"/>
            <a:ext cx="640080" cy="265176"/>
          </a:xfrm>
          <a:prstGeom prst="roundRect">
            <a:avLst>
              <a:gd name="adj" fmla="val 8000"/>
            </a:avLst>
          </a:prstGeom>
          <a:solidFill>
            <a:srgbClr val="EEE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a:hlinkClick action="ppaction://hlinksldjump" r:id="rId6"/>
          </p:cNvPr>
          <p:cNvSpPr txBox="1"/>
          <p:nvPr/>
        </p:nvSpPr>
        <p:spPr>
          <a:xfrm>
            <a:off x="10552176" y="6483096"/>
            <a:ext cx="420623" cy="173735"/>
          </a:xfrm>
          <a:prstGeom prst="rect">
            <a:avLst/>
          </a:prstGeom>
          <a:noFill/>
        </p:spPr>
        <p:txBody>
          <a:bodyPr wrap="square" lIns="0" rIns="0" tIns="0" bIns="0">
            <a:spAutoFit/>
          </a:bodyPr>
          <a:lstStyle/>
          <a:p>
            <a:pPr algn="l">
              <a:lnSpc>
                <a:spcPct val="101000"/>
              </a:lnSpc>
              <a:spcAft>
                <a:spcPts val="300"/>
              </a:spcAft>
              <a:defRPr sz="800" b="1">
                <a:solidFill>
                  <a:srgbClr val="8060BA"/>
                </a:solidFill>
                <a:latin typeface="DejaVu Sans"/>
              </a:defRPr>
            </a:pPr>
            <a:r>
              <a:t>Ruta</a:t>
            </a:r>
          </a:p>
        </p:txBody>
      </p:sp>
      <p:sp>
        <p:nvSpPr>
          <p:cNvPr id="16" name="TextBox 15"/>
          <p:cNvSpPr txBox="1"/>
          <p:nvPr/>
        </p:nvSpPr>
        <p:spPr>
          <a:xfrm>
            <a:off x="11228832" y="6400800"/>
            <a:ext cx="457200" cy="274320"/>
          </a:xfrm>
          <a:prstGeom prst="rect">
            <a:avLst/>
          </a:prstGeom>
          <a:noFill/>
        </p:spPr>
        <p:txBody>
          <a:bodyPr wrap="square" lIns="0" rIns="0" tIns="0" bIns="0">
            <a:spAutoFit/>
          </a:bodyPr>
          <a:lstStyle/>
          <a:p>
            <a:pPr algn="r">
              <a:lnSpc>
                <a:spcPct val="101000"/>
              </a:lnSpc>
              <a:spcAft>
                <a:spcPts val="300"/>
              </a:spcAft>
              <a:defRPr sz="1300" b="1">
                <a:solidFill>
                  <a:srgbClr val="203350"/>
                </a:solidFill>
                <a:latin typeface="DejaVu Sans"/>
              </a:defRPr>
            </a:pPr>
            <a:r>
              <a:t>11</a:t>
            </a:r>
          </a:p>
        </p:txBody>
      </p:sp>
      <p:sp>
        <p:nvSpPr>
          <p:cNvPr id="17" name="Rounded Rectangle 16"/>
          <p:cNvSpPr/>
          <p:nvPr/>
        </p:nvSpPr>
        <p:spPr>
          <a:xfrm>
            <a:off x="594360" y="2734056"/>
            <a:ext cx="5394960" cy="1472184"/>
          </a:xfrm>
          <a:prstGeom prst="roundRect">
            <a:avLst>
              <a:gd name="adj" fmla="val 8000"/>
            </a:avLst>
          </a:prstGeom>
          <a:solidFill>
            <a:srgbClr val="E0F7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3816" y="2916936"/>
            <a:ext cx="4937760" cy="274320"/>
          </a:xfrm>
          <a:prstGeom prst="rect">
            <a:avLst/>
          </a:prstGeom>
          <a:noFill/>
        </p:spPr>
        <p:txBody>
          <a:bodyPr wrap="square" lIns="0" rIns="0" tIns="0" bIns="0">
            <a:spAutoFit/>
          </a:bodyPr>
          <a:lstStyle/>
          <a:p>
            <a:pPr algn="l">
              <a:lnSpc>
                <a:spcPct val="101000"/>
              </a:lnSpc>
              <a:spcAft>
                <a:spcPts val="300"/>
              </a:spcAft>
              <a:defRPr sz="1400" b="1">
                <a:solidFill>
                  <a:srgbClr val="5C6E83"/>
                </a:solidFill>
                <a:latin typeface="DejaVu Sans"/>
              </a:defRPr>
            </a:pPr>
            <a:r>
              <a:t>Sistema</a:t>
            </a:r>
          </a:p>
        </p:txBody>
      </p:sp>
      <p:sp>
        <p:nvSpPr>
          <p:cNvPr id="19" name="TextBox 18"/>
          <p:cNvSpPr txBox="1"/>
          <p:nvPr/>
        </p:nvSpPr>
        <p:spPr>
          <a:xfrm>
            <a:off x="813816" y="3438144"/>
            <a:ext cx="4937760" cy="667512"/>
          </a:xfrm>
          <a:prstGeom prst="rect">
            <a:avLst/>
          </a:prstGeom>
          <a:noFill/>
        </p:spPr>
        <p:txBody>
          <a:bodyPr wrap="square" lIns="0" rIns="0" tIns="0" bIns="0">
            <a:spAutoFit/>
          </a:bodyPr>
          <a:lstStyle/>
          <a:p>
            <a:pPr algn="l">
              <a:lnSpc>
                <a:spcPct val="101000"/>
              </a:lnSpc>
              <a:spcAft>
                <a:spcPts val="300"/>
              </a:spcAft>
              <a:defRPr sz="2000" b="1">
                <a:solidFill>
                  <a:srgbClr val="203350"/>
                </a:solidFill>
                <a:latin typeface="DejaVu Sans"/>
              </a:defRPr>
            </a:pPr>
            <a:r>
              <a:t>DOC_PS_AVENA_1L</a:t>
            </a:r>
          </a:p>
          <a:p>
            <a:pPr algn="l">
              <a:lnSpc>
                <a:spcPct val="101000"/>
              </a:lnSpc>
              <a:spcAft>
                <a:spcPts val="300"/>
              </a:spcAft>
              <a:defRPr sz="2000" b="1">
                <a:solidFill>
                  <a:srgbClr val="203350"/>
                </a:solidFill>
                <a:latin typeface="DejaVu Sans"/>
              </a:defRPr>
            </a:pPr>
            <a:r>
              <a:t>Después: DOC_PS_LECHE_1L</a:t>
            </a:r>
          </a:p>
        </p:txBody>
      </p:sp>
      <p:sp>
        <p:nvSpPr>
          <p:cNvPr id="20" name="Rounded Rectangle 19"/>
          <p:cNvSpPr/>
          <p:nvPr/>
        </p:nvSpPr>
        <p:spPr>
          <a:xfrm>
            <a:off x="6217920" y="2734056"/>
            <a:ext cx="5394960" cy="1472184"/>
          </a:xfrm>
          <a:prstGeom prst="roundRect">
            <a:avLst>
              <a:gd name="adj" fmla="val 8000"/>
            </a:avLst>
          </a:prstGeom>
          <a:solidFill>
            <a:srgbClr val="E2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37376" y="2916936"/>
            <a:ext cx="4937760" cy="274320"/>
          </a:xfrm>
          <a:prstGeom prst="rect">
            <a:avLst/>
          </a:prstGeom>
          <a:noFill/>
        </p:spPr>
        <p:txBody>
          <a:bodyPr wrap="square" lIns="0" rIns="0" tIns="0" bIns="0">
            <a:spAutoFit/>
          </a:bodyPr>
          <a:lstStyle/>
          <a:p>
            <a:pPr algn="l">
              <a:lnSpc>
                <a:spcPct val="101000"/>
              </a:lnSpc>
              <a:spcAft>
                <a:spcPts val="300"/>
              </a:spcAft>
              <a:defRPr sz="1400" b="1">
                <a:solidFill>
                  <a:srgbClr val="5C6E83"/>
                </a:solidFill>
                <a:latin typeface="DejaVu Sans"/>
              </a:defRPr>
            </a:pPr>
            <a:r>
              <a:t>Cantidad y unidad</a:t>
            </a:r>
          </a:p>
        </p:txBody>
      </p:sp>
      <p:sp>
        <p:nvSpPr>
          <p:cNvPr id="22" name="TextBox 21"/>
          <p:cNvSpPr txBox="1"/>
          <p:nvPr/>
        </p:nvSpPr>
        <p:spPr>
          <a:xfrm>
            <a:off x="6437376" y="3438144"/>
            <a:ext cx="4937760" cy="667512"/>
          </a:xfrm>
          <a:prstGeom prst="rect">
            <a:avLst/>
          </a:prstGeom>
          <a:noFill/>
        </p:spPr>
        <p:txBody>
          <a:bodyPr wrap="square" lIns="0" rIns="0" tIns="0" bIns="0">
            <a:spAutoFit/>
          </a:bodyPr>
          <a:lstStyle/>
          <a:p>
            <a:pPr algn="l">
              <a:lnSpc>
                <a:spcPct val="101000"/>
              </a:lnSpc>
              <a:spcAft>
                <a:spcPts val="300"/>
              </a:spcAft>
              <a:defRPr sz="2000" b="1">
                <a:solidFill>
                  <a:srgbClr val="203350"/>
                </a:solidFill>
                <a:latin typeface="DejaVu Sans"/>
              </a:defRPr>
            </a:pPr>
            <a:r>
              <a:t>1 L</a:t>
            </a:r>
          </a:p>
        </p:txBody>
      </p:sp>
      <p:sp>
        <p:nvSpPr>
          <p:cNvPr id="23" name="Rounded Rectangle 22"/>
          <p:cNvSpPr/>
          <p:nvPr/>
        </p:nvSpPr>
        <p:spPr>
          <a:xfrm>
            <a:off x="594360" y="4407408"/>
            <a:ext cx="5394960" cy="1472184"/>
          </a:xfrm>
          <a:prstGeom prst="roundRect">
            <a:avLst>
              <a:gd name="adj" fmla="val 8000"/>
            </a:avLst>
          </a:prstGeom>
          <a:solidFill>
            <a:srgbClr val="EEE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13816" y="4590288"/>
            <a:ext cx="4937760" cy="274320"/>
          </a:xfrm>
          <a:prstGeom prst="rect">
            <a:avLst/>
          </a:prstGeom>
          <a:noFill/>
        </p:spPr>
        <p:txBody>
          <a:bodyPr wrap="square" lIns="0" rIns="0" tIns="0" bIns="0">
            <a:spAutoFit/>
          </a:bodyPr>
          <a:lstStyle/>
          <a:p>
            <a:pPr algn="l">
              <a:lnSpc>
                <a:spcPct val="101000"/>
              </a:lnSpc>
              <a:spcAft>
                <a:spcPts val="300"/>
              </a:spcAft>
              <a:defRPr sz="1400" b="1">
                <a:solidFill>
                  <a:srgbClr val="5C6E83"/>
                </a:solidFill>
                <a:latin typeface="DejaVu Sans"/>
              </a:defRPr>
            </a:pPr>
            <a:r>
              <a:t>Método</a:t>
            </a:r>
          </a:p>
        </p:txBody>
      </p:sp>
      <p:sp>
        <p:nvSpPr>
          <p:cNvPr id="25" name="TextBox 24"/>
          <p:cNvSpPr txBox="1"/>
          <p:nvPr/>
        </p:nvSpPr>
        <p:spPr>
          <a:xfrm>
            <a:off x="813816" y="5111496"/>
            <a:ext cx="4937760" cy="667512"/>
          </a:xfrm>
          <a:prstGeom prst="rect">
            <a:avLst/>
          </a:prstGeom>
          <a:noFill/>
        </p:spPr>
        <p:txBody>
          <a:bodyPr wrap="square" lIns="0" rIns="0" tIns="0" bIns="0">
            <a:spAutoFit/>
          </a:bodyPr>
          <a:lstStyle/>
          <a:p>
            <a:pPr algn="l">
              <a:lnSpc>
                <a:spcPct val="101000"/>
              </a:lnSpc>
              <a:spcAft>
                <a:spcPts val="300"/>
              </a:spcAft>
              <a:defRPr sz="2000" b="1">
                <a:solidFill>
                  <a:srgbClr val="203350"/>
                </a:solidFill>
                <a:latin typeface="DejaVu Sans"/>
              </a:defRPr>
            </a:pPr>
            <a:r>
              <a:t>DOC_GWP100_AR5_3gases</a:t>
            </a:r>
          </a:p>
        </p:txBody>
      </p:sp>
      <p:sp>
        <p:nvSpPr>
          <p:cNvPr id="26" name="Rounded Rectangle 25"/>
          <p:cNvSpPr/>
          <p:nvPr/>
        </p:nvSpPr>
        <p:spPr>
          <a:xfrm>
            <a:off x="6217920" y="4407408"/>
            <a:ext cx="5394960" cy="1472184"/>
          </a:xfrm>
          <a:prstGeom prst="roundRect">
            <a:avLst>
              <a:gd name="adj" fmla="val 8000"/>
            </a:avLst>
          </a:prstGeom>
          <a:solidFill>
            <a:srgbClr val="E0F7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37376" y="4590288"/>
            <a:ext cx="4937760" cy="274320"/>
          </a:xfrm>
          <a:prstGeom prst="rect">
            <a:avLst/>
          </a:prstGeom>
          <a:noFill/>
        </p:spPr>
        <p:txBody>
          <a:bodyPr wrap="square" lIns="0" rIns="0" tIns="0" bIns="0">
            <a:spAutoFit/>
          </a:bodyPr>
          <a:lstStyle/>
          <a:p>
            <a:pPr algn="l">
              <a:lnSpc>
                <a:spcPct val="101000"/>
              </a:lnSpc>
              <a:spcAft>
                <a:spcPts val="300"/>
              </a:spcAft>
              <a:defRPr sz="1400" b="1">
                <a:solidFill>
                  <a:srgbClr val="5C6E83"/>
                </a:solidFill>
                <a:latin typeface="DejaVu Sans"/>
              </a:defRPr>
            </a:pPr>
            <a:r>
              <a:t>Normalización y ponderación</a:t>
            </a:r>
          </a:p>
        </p:txBody>
      </p:sp>
      <p:sp>
        <p:nvSpPr>
          <p:cNvPr id="28" name="TextBox 27"/>
          <p:cNvSpPr txBox="1"/>
          <p:nvPr/>
        </p:nvSpPr>
        <p:spPr>
          <a:xfrm>
            <a:off x="6437376" y="5111496"/>
            <a:ext cx="4937760" cy="667512"/>
          </a:xfrm>
          <a:prstGeom prst="rect">
            <a:avLst/>
          </a:prstGeom>
          <a:noFill/>
        </p:spPr>
        <p:txBody>
          <a:bodyPr wrap="square" lIns="0" rIns="0" tIns="0" bIns="0">
            <a:spAutoFit/>
          </a:bodyPr>
          <a:lstStyle/>
          <a:p>
            <a:pPr algn="l">
              <a:lnSpc>
                <a:spcPct val="101000"/>
              </a:lnSpc>
              <a:spcAft>
                <a:spcPts val="300"/>
              </a:spcAft>
              <a:defRPr sz="2000" b="1">
                <a:solidFill>
                  <a:srgbClr val="203350"/>
                </a:solidFill>
                <a:latin typeface="DejaVu Sans"/>
              </a:defRPr>
            </a:pPr>
            <a:r>
              <a:t>Ninguna</a:t>
            </a:r>
          </a:p>
        </p:txBody>
      </p:sp>
    </p:spTree>
  </p:cSld>
  <p:clrMapOvr>
    <a:masterClrMapping/>
  </p:clrMapOvr>
  <p:transition advClick="1">
    <p:fade/>
  </p:transition>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9FBFF"/>
        </a:solidFill>
        <a:effectLst/>
      </p:bgPr>
    </p:bg>
    <p:spTree>
      <p:nvGrpSpPr>
        <p:cNvPr id="1" name=""/>
        <p:cNvGrpSpPr/>
        <p:nvPr/>
      </p:nvGrpSpPr>
      <p:grpSpPr/>
      <p:sp>
        <p:nvSpPr>
          <p:cNvPr id="2" name="TextBox 1"/>
          <p:cNvSpPr txBox="1"/>
          <p:nvPr/>
        </p:nvSpPr>
        <p:spPr>
          <a:xfrm>
            <a:off x="548640" y="365760"/>
            <a:ext cx="7223760" cy="228600"/>
          </a:xfrm>
          <a:prstGeom prst="rect">
            <a:avLst/>
          </a:prstGeom>
          <a:noFill/>
        </p:spPr>
        <p:txBody>
          <a:bodyPr wrap="square" lIns="0" rIns="0" tIns="0" bIns="0">
            <a:spAutoFit/>
          </a:bodyPr>
          <a:lstStyle/>
          <a:p>
            <a:pPr algn="l">
              <a:lnSpc>
                <a:spcPct val="101000"/>
              </a:lnSpc>
              <a:spcAft>
                <a:spcPts val="300"/>
              </a:spcAft>
              <a:defRPr sz="930" b="1">
                <a:solidFill>
                  <a:srgbClr val="237DC2"/>
                </a:solidFill>
                <a:latin typeface="DejaVu Sans"/>
              </a:defRPr>
            </a:pPr>
            <a:r>
              <a:t>PRÁCTICA · LEER EL INVENTARIO</a:t>
            </a:r>
          </a:p>
        </p:txBody>
      </p:sp>
      <p:sp>
        <p:nvSpPr>
          <p:cNvPr id="3" name="Rounded Rectangle 2">
            <a:hlinkClick action="ppaction://hlinksldjump" r:id="rId2"/>
          </p:cNvPr>
          <p:cNvSpPr/>
          <p:nvPr/>
        </p:nvSpPr>
        <p:spPr>
          <a:xfrm>
            <a:off x="8165592" y="301752"/>
            <a:ext cx="813816" cy="310896"/>
          </a:xfrm>
          <a:prstGeom prst="roundRect">
            <a:avLst>
              <a:gd name="adj" fmla="val 8000"/>
            </a:avLst>
          </a:prstGeom>
          <a:solidFill>
            <a:srgbClr val="E0F7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2"/>
          </p:cNvPr>
          <p:cNvSpPr txBox="1"/>
          <p:nvPr/>
        </p:nvSpPr>
        <p:spPr>
          <a:xfrm>
            <a:off x="8275319" y="384048"/>
            <a:ext cx="594360" cy="219456"/>
          </a:xfrm>
          <a:prstGeom prst="rect">
            <a:avLst/>
          </a:prstGeom>
          <a:noFill/>
        </p:spPr>
        <p:txBody>
          <a:bodyPr wrap="square" lIns="0" rIns="0" tIns="0" bIns="0">
            <a:spAutoFit/>
          </a:bodyPr>
          <a:lstStyle/>
          <a:p>
            <a:pPr algn="l">
              <a:lnSpc>
                <a:spcPct val="101000"/>
              </a:lnSpc>
              <a:spcAft>
                <a:spcPts val="300"/>
              </a:spcAft>
              <a:defRPr sz="800" b="1">
                <a:solidFill>
                  <a:srgbClr val="203350"/>
                </a:solidFill>
                <a:latin typeface="DejaVu Sans"/>
              </a:defRPr>
            </a:pPr>
            <a:r>
              <a:t>Preparar</a:t>
            </a:r>
          </a:p>
        </p:txBody>
      </p:sp>
      <p:sp>
        <p:nvSpPr>
          <p:cNvPr id="5" name="Rounded Rectangle 4">
            <a:hlinkClick action="ppaction://hlinksldjump" r:id="rId3"/>
          </p:cNvPr>
          <p:cNvSpPr/>
          <p:nvPr/>
        </p:nvSpPr>
        <p:spPr>
          <a:xfrm>
            <a:off x="9043416" y="301752"/>
            <a:ext cx="813816" cy="310896"/>
          </a:xfrm>
          <a:prstGeom prst="roundRect">
            <a:avLst>
              <a:gd name="adj" fmla="val 8000"/>
            </a:avLst>
          </a:prstGeom>
          <a:solidFill>
            <a:srgbClr val="E2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3"/>
          </p:cNvPr>
          <p:cNvSpPr txBox="1"/>
          <p:nvPr/>
        </p:nvSpPr>
        <p:spPr>
          <a:xfrm>
            <a:off x="9153144" y="384048"/>
            <a:ext cx="594360" cy="219456"/>
          </a:xfrm>
          <a:prstGeom prst="rect">
            <a:avLst/>
          </a:prstGeom>
          <a:noFill/>
        </p:spPr>
        <p:txBody>
          <a:bodyPr wrap="square" lIns="0" rIns="0" tIns="0" bIns="0">
            <a:spAutoFit/>
          </a:bodyPr>
          <a:lstStyle/>
          <a:p>
            <a:pPr algn="l">
              <a:lnSpc>
                <a:spcPct val="101000"/>
              </a:lnSpc>
              <a:spcAft>
                <a:spcPts val="300"/>
              </a:spcAft>
              <a:defRPr sz="800" b="1">
                <a:solidFill>
                  <a:srgbClr val="203350"/>
                </a:solidFill>
                <a:latin typeface="DejaVu Sans"/>
              </a:defRPr>
            </a:pPr>
            <a:r>
              <a:t>Importar</a:t>
            </a:r>
          </a:p>
        </p:txBody>
      </p:sp>
      <p:sp>
        <p:nvSpPr>
          <p:cNvPr id="7" name="Rounded Rectangle 6">
            <a:hlinkClick action="ppaction://hlinksldjump" r:id="rId4"/>
          </p:cNvPr>
          <p:cNvSpPr/>
          <p:nvPr/>
        </p:nvSpPr>
        <p:spPr>
          <a:xfrm>
            <a:off x="9921240" y="301752"/>
            <a:ext cx="813816" cy="310896"/>
          </a:xfrm>
          <a:prstGeom prst="roundRect">
            <a:avLst>
              <a:gd name="adj" fmla="val 8000"/>
            </a:avLst>
          </a:prstGeom>
          <a:solidFill>
            <a:srgbClr val="EEE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4"/>
          </p:cNvPr>
          <p:cNvSpPr txBox="1"/>
          <p:nvPr/>
        </p:nvSpPr>
        <p:spPr>
          <a:xfrm>
            <a:off x="10030967" y="384048"/>
            <a:ext cx="594360" cy="219456"/>
          </a:xfrm>
          <a:prstGeom prst="rect">
            <a:avLst/>
          </a:prstGeom>
          <a:noFill/>
        </p:spPr>
        <p:txBody>
          <a:bodyPr wrap="square" lIns="0" rIns="0" tIns="0" bIns="0">
            <a:spAutoFit/>
          </a:bodyPr>
          <a:lstStyle/>
          <a:p>
            <a:pPr algn="l">
              <a:lnSpc>
                <a:spcPct val="101000"/>
              </a:lnSpc>
              <a:spcAft>
                <a:spcPts val="300"/>
              </a:spcAft>
              <a:defRPr sz="800" b="1">
                <a:solidFill>
                  <a:srgbClr val="203350"/>
                </a:solidFill>
                <a:latin typeface="DejaVu Sans"/>
              </a:defRPr>
            </a:pPr>
            <a:r>
              <a:t>Calcular</a:t>
            </a:r>
          </a:p>
        </p:txBody>
      </p:sp>
      <p:sp>
        <p:nvSpPr>
          <p:cNvPr id="9" name="Rounded Rectangle 8">
            <a:hlinkClick action="ppaction://hlinksldjump" r:id="rId5"/>
          </p:cNvPr>
          <p:cNvSpPr/>
          <p:nvPr/>
        </p:nvSpPr>
        <p:spPr>
          <a:xfrm>
            <a:off x="10799063" y="301752"/>
            <a:ext cx="813816" cy="310896"/>
          </a:xfrm>
          <a:prstGeom prst="roundRect">
            <a:avLst>
              <a:gd name="adj" fmla="val 8000"/>
            </a:avLst>
          </a:prstGeom>
          <a:solidFill>
            <a:srgbClr val="FFF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5"/>
          </p:cNvPr>
          <p:cNvSpPr txBox="1"/>
          <p:nvPr/>
        </p:nvSpPr>
        <p:spPr>
          <a:xfrm>
            <a:off x="10908791" y="384048"/>
            <a:ext cx="594360" cy="219456"/>
          </a:xfrm>
          <a:prstGeom prst="rect">
            <a:avLst/>
          </a:prstGeom>
          <a:noFill/>
        </p:spPr>
        <p:txBody>
          <a:bodyPr wrap="square" lIns="0" rIns="0" tIns="0" bIns="0">
            <a:spAutoFit/>
          </a:bodyPr>
          <a:lstStyle/>
          <a:p>
            <a:pPr algn="l">
              <a:lnSpc>
                <a:spcPct val="101000"/>
              </a:lnSpc>
              <a:spcAft>
                <a:spcPts val="300"/>
              </a:spcAft>
              <a:defRPr sz="749" b="1">
                <a:solidFill>
                  <a:srgbClr val="203350"/>
                </a:solidFill>
                <a:latin typeface="DejaVu Sans"/>
              </a:defRPr>
            </a:pPr>
            <a:r>
              <a:t>Comprobar</a:t>
            </a:r>
          </a:p>
        </p:txBody>
      </p:sp>
      <p:sp>
        <p:nvSpPr>
          <p:cNvPr id="11" name="TextBox 10"/>
          <p:cNvSpPr txBox="1"/>
          <p:nvPr/>
        </p:nvSpPr>
        <p:spPr>
          <a:xfrm>
            <a:off x="548640" y="886968"/>
            <a:ext cx="11064240" cy="1234440"/>
          </a:xfrm>
          <a:prstGeom prst="rect">
            <a:avLst/>
          </a:prstGeom>
          <a:noFill/>
        </p:spPr>
        <p:txBody>
          <a:bodyPr wrap="square" lIns="0" rIns="0" tIns="0" bIns="0">
            <a:spAutoFit/>
          </a:bodyPr>
          <a:lstStyle/>
          <a:p>
            <a:pPr algn="l">
              <a:lnSpc>
                <a:spcPct val="101000"/>
              </a:lnSpc>
              <a:spcAft>
                <a:spcPts val="300"/>
              </a:spcAft>
              <a:defRPr sz="3900" b="1">
                <a:solidFill>
                  <a:srgbClr val="203350"/>
                </a:solidFill>
                <a:latin typeface="DejaVu Sans"/>
              </a:defRPr>
            </a:pPr>
            <a:r>
              <a:t>6. Primero observa</a:t>
            </a:r>
          </a:p>
          <a:p>
            <a:pPr algn="l">
              <a:lnSpc>
                <a:spcPct val="101000"/>
              </a:lnSpc>
              <a:spcAft>
                <a:spcPts val="300"/>
              </a:spcAft>
              <a:defRPr sz="3900" b="1">
                <a:solidFill>
                  <a:srgbClr val="203350"/>
                </a:solidFill>
                <a:latin typeface="DejaVu Sans"/>
              </a:defRPr>
            </a:pPr>
            <a:r>
              <a:t>los flujos físicos</a:t>
            </a:r>
          </a:p>
        </p:txBody>
      </p:sp>
      <p:sp>
        <p:nvSpPr>
          <p:cNvPr id="12" name="TextBox 11"/>
          <p:cNvSpPr txBox="1"/>
          <p:nvPr/>
        </p:nvSpPr>
        <p:spPr>
          <a:xfrm>
            <a:off x="566928" y="2121408"/>
            <a:ext cx="10972800" cy="338328"/>
          </a:xfrm>
          <a:prstGeom prst="rect">
            <a:avLst/>
          </a:prstGeom>
          <a:noFill/>
        </p:spPr>
        <p:txBody>
          <a:bodyPr wrap="square" lIns="0" rIns="0" tIns="0" bIns="0">
            <a:spAutoFit/>
          </a:bodyPr>
          <a:lstStyle/>
          <a:p>
            <a:pPr algn="l">
              <a:lnSpc>
                <a:spcPct val="101000"/>
              </a:lnSpc>
              <a:spcAft>
                <a:spcPts val="300"/>
              </a:spcAft>
              <a:defRPr sz="1450" b="0">
                <a:solidFill>
                  <a:srgbClr val="5C6E83"/>
                </a:solidFill>
                <a:latin typeface="DejaVu Sans"/>
              </a:defRPr>
            </a:pPr>
            <a:r>
              <a:t>Inventory results muestra cantidades; todavía no son un indicador agregado.</a:t>
            </a:r>
          </a:p>
        </p:txBody>
      </p:sp>
      <p:sp>
        <p:nvSpPr>
          <p:cNvPr id="13" name="TextBox 12"/>
          <p:cNvSpPr txBox="1"/>
          <p:nvPr/>
        </p:nvSpPr>
        <p:spPr>
          <a:xfrm>
            <a:off x="548640" y="6446520"/>
            <a:ext cx="9784080" cy="219456"/>
          </a:xfrm>
          <a:prstGeom prst="rect">
            <a:avLst/>
          </a:prstGeom>
          <a:noFill/>
        </p:spPr>
        <p:txBody>
          <a:bodyPr wrap="square" lIns="0" rIns="0" tIns="0" bIns="0">
            <a:spAutoFit/>
          </a:bodyPr>
          <a:lstStyle/>
          <a:p>
            <a:pPr algn="l">
              <a:lnSpc>
                <a:spcPct val="101000"/>
              </a:lnSpc>
              <a:spcAft>
                <a:spcPts val="300"/>
              </a:spcAft>
              <a:defRPr sz="810" b="0">
                <a:solidFill>
                  <a:srgbClr val="5C6E83"/>
                </a:solidFill>
                <a:latin typeface="DejaVu Sans"/>
              </a:defRPr>
            </a:pPr>
            <a:r>
              <a:t>Valores de control del caso simulado; comprobar en el motor de openLCA</a:t>
            </a:r>
          </a:p>
        </p:txBody>
      </p:sp>
      <p:sp>
        <p:nvSpPr>
          <p:cNvPr id="14" name="Rounded Rectangle 13">
            <a:hlinkClick action="ppaction://hlinksldjump" r:id="rId6"/>
          </p:cNvPr>
          <p:cNvSpPr/>
          <p:nvPr/>
        </p:nvSpPr>
        <p:spPr>
          <a:xfrm>
            <a:off x="10442448" y="6400800"/>
            <a:ext cx="640080" cy="265176"/>
          </a:xfrm>
          <a:prstGeom prst="roundRect">
            <a:avLst>
              <a:gd name="adj" fmla="val 8000"/>
            </a:avLst>
          </a:prstGeom>
          <a:solidFill>
            <a:srgbClr val="EEE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a:hlinkClick action="ppaction://hlinksldjump" r:id="rId6"/>
          </p:cNvPr>
          <p:cNvSpPr txBox="1"/>
          <p:nvPr/>
        </p:nvSpPr>
        <p:spPr>
          <a:xfrm>
            <a:off x="10552176" y="6483096"/>
            <a:ext cx="420623" cy="173735"/>
          </a:xfrm>
          <a:prstGeom prst="rect">
            <a:avLst/>
          </a:prstGeom>
          <a:noFill/>
        </p:spPr>
        <p:txBody>
          <a:bodyPr wrap="square" lIns="0" rIns="0" tIns="0" bIns="0">
            <a:spAutoFit/>
          </a:bodyPr>
          <a:lstStyle/>
          <a:p>
            <a:pPr algn="l">
              <a:lnSpc>
                <a:spcPct val="101000"/>
              </a:lnSpc>
              <a:spcAft>
                <a:spcPts val="300"/>
              </a:spcAft>
              <a:defRPr sz="800" b="1">
                <a:solidFill>
                  <a:srgbClr val="8060BA"/>
                </a:solidFill>
                <a:latin typeface="DejaVu Sans"/>
              </a:defRPr>
            </a:pPr>
            <a:r>
              <a:t>Ruta</a:t>
            </a:r>
          </a:p>
        </p:txBody>
      </p:sp>
      <p:sp>
        <p:nvSpPr>
          <p:cNvPr id="16" name="TextBox 15"/>
          <p:cNvSpPr txBox="1"/>
          <p:nvPr/>
        </p:nvSpPr>
        <p:spPr>
          <a:xfrm>
            <a:off x="11228832" y="6400800"/>
            <a:ext cx="457200" cy="274320"/>
          </a:xfrm>
          <a:prstGeom prst="rect">
            <a:avLst/>
          </a:prstGeom>
          <a:noFill/>
        </p:spPr>
        <p:txBody>
          <a:bodyPr wrap="square" lIns="0" rIns="0" tIns="0" bIns="0">
            <a:spAutoFit/>
          </a:bodyPr>
          <a:lstStyle/>
          <a:p>
            <a:pPr algn="r">
              <a:lnSpc>
                <a:spcPct val="101000"/>
              </a:lnSpc>
              <a:spcAft>
                <a:spcPts val="300"/>
              </a:spcAft>
              <a:defRPr sz="1300" b="1">
                <a:solidFill>
                  <a:srgbClr val="203350"/>
                </a:solidFill>
                <a:latin typeface="DejaVu Sans"/>
              </a:defRPr>
            </a:pPr>
            <a:r>
              <a:t>12</a:t>
            </a:r>
          </a:p>
        </p:txBody>
      </p:sp>
      <p:sp>
        <p:nvSpPr>
          <p:cNvPr id="17" name="Rounded Rectangle 16"/>
          <p:cNvSpPr/>
          <p:nvPr/>
        </p:nvSpPr>
        <p:spPr>
          <a:xfrm>
            <a:off x="594360" y="2743200"/>
            <a:ext cx="3264408" cy="530352"/>
          </a:xfrm>
          <a:prstGeom prst="roundRect">
            <a:avLst>
              <a:gd name="adj" fmla="val 8000"/>
            </a:avLst>
          </a:prstGeom>
          <a:solidFill>
            <a:srgbClr val="E0F7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2880360"/>
            <a:ext cx="3017520" cy="365759"/>
          </a:xfrm>
          <a:prstGeom prst="rect">
            <a:avLst/>
          </a:prstGeom>
          <a:noFill/>
        </p:spPr>
        <p:txBody>
          <a:bodyPr wrap="square" lIns="0" rIns="0" tIns="0" bIns="0">
            <a:spAutoFit/>
          </a:bodyPr>
          <a:lstStyle/>
          <a:p>
            <a:pPr algn="l">
              <a:lnSpc>
                <a:spcPct val="101000"/>
              </a:lnSpc>
              <a:spcAft>
                <a:spcPts val="300"/>
              </a:spcAft>
              <a:defRPr sz="1500" b="1">
                <a:solidFill>
                  <a:srgbClr val="203350"/>
                </a:solidFill>
                <a:latin typeface="DejaVu Sans"/>
              </a:defRPr>
            </a:pPr>
            <a:r>
              <a:t>Por 1 L</a:t>
            </a:r>
          </a:p>
        </p:txBody>
      </p:sp>
      <p:sp>
        <p:nvSpPr>
          <p:cNvPr id="19" name="Rounded Rectangle 18"/>
          <p:cNvSpPr/>
          <p:nvPr/>
        </p:nvSpPr>
        <p:spPr>
          <a:xfrm>
            <a:off x="3886200" y="2743200"/>
            <a:ext cx="2715768" cy="530352"/>
          </a:xfrm>
          <a:prstGeom prst="roundRect">
            <a:avLst>
              <a:gd name="adj" fmla="val 8000"/>
            </a:avLst>
          </a:prstGeom>
          <a:solidFill>
            <a:srgbClr val="E0F7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023360" y="2880360"/>
            <a:ext cx="2468880" cy="365759"/>
          </a:xfrm>
          <a:prstGeom prst="rect">
            <a:avLst/>
          </a:prstGeom>
          <a:noFill/>
        </p:spPr>
        <p:txBody>
          <a:bodyPr wrap="square" lIns="0" rIns="0" tIns="0" bIns="0">
            <a:spAutoFit/>
          </a:bodyPr>
          <a:lstStyle/>
          <a:p>
            <a:pPr algn="l">
              <a:lnSpc>
                <a:spcPct val="101000"/>
              </a:lnSpc>
              <a:spcAft>
                <a:spcPts val="300"/>
              </a:spcAft>
              <a:defRPr sz="1500" b="1">
                <a:solidFill>
                  <a:srgbClr val="203350"/>
                </a:solidFill>
                <a:latin typeface="DejaVu Sans"/>
              </a:defRPr>
            </a:pPr>
            <a:r>
              <a:t>Avena</a:t>
            </a:r>
          </a:p>
        </p:txBody>
      </p:sp>
      <p:sp>
        <p:nvSpPr>
          <p:cNvPr id="21" name="Rounded Rectangle 20"/>
          <p:cNvSpPr/>
          <p:nvPr/>
        </p:nvSpPr>
        <p:spPr>
          <a:xfrm>
            <a:off x="6629400" y="2743200"/>
            <a:ext cx="2715768" cy="530352"/>
          </a:xfrm>
          <a:prstGeom prst="roundRect">
            <a:avLst>
              <a:gd name="adj" fmla="val 8000"/>
            </a:avLst>
          </a:prstGeom>
          <a:solidFill>
            <a:srgbClr val="E0F7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766560" y="2880360"/>
            <a:ext cx="2468880" cy="365759"/>
          </a:xfrm>
          <a:prstGeom prst="rect">
            <a:avLst/>
          </a:prstGeom>
          <a:noFill/>
        </p:spPr>
        <p:txBody>
          <a:bodyPr wrap="square" lIns="0" rIns="0" tIns="0" bIns="0">
            <a:spAutoFit/>
          </a:bodyPr>
          <a:lstStyle/>
          <a:p>
            <a:pPr algn="l">
              <a:lnSpc>
                <a:spcPct val="101000"/>
              </a:lnSpc>
              <a:spcAft>
                <a:spcPts val="300"/>
              </a:spcAft>
              <a:defRPr sz="1500" b="1">
                <a:solidFill>
                  <a:srgbClr val="203350"/>
                </a:solidFill>
                <a:latin typeface="DejaVu Sans"/>
              </a:defRPr>
            </a:pPr>
            <a:r>
              <a:t>Leche</a:t>
            </a:r>
          </a:p>
        </p:txBody>
      </p:sp>
      <p:sp>
        <p:nvSpPr>
          <p:cNvPr id="23" name="Rounded Rectangle 22"/>
          <p:cNvSpPr/>
          <p:nvPr/>
        </p:nvSpPr>
        <p:spPr>
          <a:xfrm>
            <a:off x="9372600" y="2743200"/>
            <a:ext cx="2167128" cy="530352"/>
          </a:xfrm>
          <a:prstGeom prst="roundRect">
            <a:avLst>
              <a:gd name="adj" fmla="val 8000"/>
            </a:avLst>
          </a:prstGeom>
          <a:solidFill>
            <a:srgbClr val="E0F7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509760" y="2880360"/>
            <a:ext cx="1920240" cy="365759"/>
          </a:xfrm>
          <a:prstGeom prst="rect">
            <a:avLst/>
          </a:prstGeom>
          <a:noFill/>
        </p:spPr>
        <p:txBody>
          <a:bodyPr wrap="square" lIns="0" rIns="0" tIns="0" bIns="0">
            <a:spAutoFit/>
          </a:bodyPr>
          <a:lstStyle/>
          <a:p>
            <a:pPr algn="l">
              <a:lnSpc>
                <a:spcPct val="101000"/>
              </a:lnSpc>
              <a:spcAft>
                <a:spcPts val="300"/>
              </a:spcAft>
              <a:defRPr sz="1500" b="1">
                <a:solidFill>
                  <a:srgbClr val="203350"/>
                </a:solidFill>
                <a:latin typeface="DejaVu Sans"/>
              </a:defRPr>
            </a:pPr>
            <a:r>
              <a:t>Unidad</a:t>
            </a:r>
          </a:p>
        </p:txBody>
      </p:sp>
      <p:sp>
        <p:nvSpPr>
          <p:cNvPr id="25" name="Rounded Rectangle 24"/>
          <p:cNvSpPr/>
          <p:nvPr/>
        </p:nvSpPr>
        <p:spPr>
          <a:xfrm>
            <a:off x="594360" y="3319272"/>
            <a:ext cx="3264408" cy="530352"/>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456432"/>
            <a:ext cx="3017520" cy="393191"/>
          </a:xfrm>
          <a:prstGeom prst="rect">
            <a:avLst/>
          </a:prstGeom>
          <a:noFill/>
        </p:spPr>
        <p:txBody>
          <a:bodyPr wrap="square" lIns="0" rIns="0" tIns="0" bIns="0">
            <a:spAutoFit/>
          </a:bodyPr>
          <a:lstStyle/>
          <a:p>
            <a:pPr algn="l">
              <a:lnSpc>
                <a:spcPct val="101000"/>
              </a:lnSpc>
              <a:spcAft>
                <a:spcPts val="300"/>
              </a:spcAft>
              <a:defRPr sz="1500" b="0">
                <a:solidFill>
                  <a:srgbClr val="203350"/>
                </a:solidFill>
                <a:latin typeface="DejaVu Sans"/>
              </a:defRPr>
            </a:pPr>
            <a:r>
              <a:t>CO₂ fósil</a:t>
            </a:r>
          </a:p>
        </p:txBody>
      </p:sp>
      <p:sp>
        <p:nvSpPr>
          <p:cNvPr id="27" name="Rounded Rectangle 26"/>
          <p:cNvSpPr/>
          <p:nvPr/>
        </p:nvSpPr>
        <p:spPr>
          <a:xfrm>
            <a:off x="3886200" y="3319272"/>
            <a:ext cx="2715768" cy="530352"/>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023360" y="3456432"/>
            <a:ext cx="2468880" cy="393191"/>
          </a:xfrm>
          <a:prstGeom prst="rect">
            <a:avLst/>
          </a:prstGeom>
          <a:noFill/>
        </p:spPr>
        <p:txBody>
          <a:bodyPr wrap="square" lIns="0" rIns="0" tIns="0" bIns="0">
            <a:spAutoFit/>
          </a:bodyPr>
          <a:lstStyle/>
          <a:p>
            <a:pPr algn="l">
              <a:lnSpc>
                <a:spcPct val="101000"/>
              </a:lnSpc>
              <a:spcAft>
                <a:spcPts val="300"/>
              </a:spcAft>
              <a:defRPr sz="1500" b="0">
                <a:solidFill>
                  <a:srgbClr val="203350"/>
                </a:solidFill>
                <a:latin typeface="DejaVu Sans"/>
              </a:defRPr>
            </a:pPr>
            <a:r>
              <a:t>0.2116</a:t>
            </a:r>
          </a:p>
        </p:txBody>
      </p:sp>
      <p:sp>
        <p:nvSpPr>
          <p:cNvPr id="29" name="Rounded Rectangle 28"/>
          <p:cNvSpPr/>
          <p:nvPr/>
        </p:nvSpPr>
        <p:spPr>
          <a:xfrm>
            <a:off x="6629400" y="3319272"/>
            <a:ext cx="2715768" cy="530352"/>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66560" y="3456432"/>
            <a:ext cx="2468880" cy="393191"/>
          </a:xfrm>
          <a:prstGeom prst="rect">
            <a:avLst/>
          </a:prstGeom>
          <a:noFill/>
        </p:spPr>
        <p:txBody>
          <a:bodyPr wrap="square" lIns="0" rIns="0" tIns="0" bIns="0">
            <a:spAutoFit/>
          </a:bodyPr>
          <a:lstStyle/>
          <a:p>
            <a:pPr algn="l">
              <a:lnSpc>
                <a:spcPct val="101000"/>
              </a:lnSpc>
              <a:spcAft>
                <a:spcPts val="300"/>
              </a:spcAft>
              <a:defRPr sz="1500" b="0">
                <a:solidFill>
                  <a:srgbClr val="203350"/>
                </a:solidFill>
                <a:latin typeface="DejaVu Sans"/>
              </a:defRPr>
            </a:pPr>
            <a:r>
              <a:t>0.39</a:t>
            </a:r>
          </a:p>
        </p:txBody>
      </p:sp>
      <p:sp>
        <p:nvSpPr>
          <p:cNvPr id="31" name="Rounded Rectangle 30"/>
          <p:cNvSpPr/>
          <p:nvPr/>
        </p:nvSpPr>
        <p:spPr>
          <a:xfrm>
            <a:off x="9372600" y="3319272"/>
            <a:ext cx="2167128" cy="530352"/>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509760" y="3456432"/>
            <a:ext cx="1920240" cy="393191"/>
          </a:xfrm>
          <a:prstGeom prst="rect">
            <a:avLst/>
          </a:prstGeom>
          <a:noFill/>
        </p:spPr>
        <p:txBody>
          <a:bodyPr wrap="square" lIns="0" rIns="0" tIns="0" bIns="0">
            <a:spAutoFit/>
          </a:bodyPr>
          <a:lstStyle/>
          <a:p>
            <a:pPr algn="l">
              <a:lnSpc>
                <a:spcPct val="101000"/>
              </a:lnSpc>
              <a:spcAft>
                <a:spcPts val="300"/>
              </a:spcAft>
              <a:defRPr sz="1500" b="0">
                <a:solidFill>
                  <a:srgbClr val="203350"/>
                </a:solidFill>
                <a:latin typeface="DejaVu Sans"/>
              </a:defRPr>
            </a:pPr>
            <a:r>
              <a:t>kg</a:t>
            </a:r>
          </a:p>
        </p:txBody>
      </p:sp>
      <p:sp>
        <p:nvSpPr>
          <p:cNvPr id="33" name="Rounded Rectangle 32"/>
          <p:cNvSpPr/>
          <p:nvPr/>
        </p:nvSpPr>
        <p:spPr>
          <a:xfrm>
            <a:off x="594360" y="3895344"/>
            <a:ext cx="3264408" cy="530352"/>
          </a:xfrm>
          <a:prstGeom prst="roundRect">
            <a:avLst>
              <a:gd name="adj" fmla="val 8000"/>
            </a:avLst>
          </a:prstGeom>
          <a:solidFill>
            <a:srgbClr val="ED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31520" y="4032504"/>
            <a:ext cx="3017520" cy="393191"/>
          </a:xfrm>
          <a:prstGeom prst="rect">
            <a:avLst/>
          </a:prstGeom>
          <a:noFill/>
        </p:spPr>
        <p:txBody>
          <a:bodyPr wrap="square" lIns="0" rIns="0" tIns="0" bIns="0">
            <a:spAutoFit/>
          </a:bodyPr>
          <a:lstStyle/>
          <a:p>
            <a:pPr algn="l">
              <a:lnSpc>
                <a:spcPct val="101000"/>
              </a:lnSpc>
              <a:spcAft>
                <a:spcPts val="300"/>
              </a:spcAft>
              <a:defRPr sz="1500" b="0">
                <a:solidFill>
                  <a:srgbClr val="203350"/>
                </a:solidFill>
                <a:latin typeface="DejaVu Sans"/>
              </a:defRPr>
            </a:pPr>
            <a:r>
              <a:t>CH₄ no fósil</a:t>
            </a:r>
          </a:p>
        </p:txBody>
      </p:sp>
      <p:sp>
        <p:nvSpPr>
          <p:cNvPr id="35" name="Rounded Rectangle 34"/>
          <p:cNvSpPr/>
          <p:nvPr/>
        </p:nvSpPr>
        <p:spPr>
          <a:xfrm>
            <a:off x="3886200" y="3895344"/>
            <a:ext cx="2715768" cy="530352"/>
          </a:xfrm>
          <a:prstGeom prst="roundRect">
            <a:avLst>
              <a:gd name="adj" fmla="val 8000"/>
            </a:avLst>
          </a:prstGeom>
          <a:solidFill>
            <a:srgbClr val="ED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023360" y="4032504"/>
            <a:ext cx="2468880" cy="393191"/>
          </a:xfrm>
          <a:prstGeom prst="rect">
            <a:avLst/>
          </a:prstGeom>
          <a:noFill/>
        </p:spPr>
        <p:txBody>
          <a:bodyPr wrap="square" lIns="0" rIns="0" tIns="0" bIns="0">
            <a:spAutoFit/>
          </a:bodyPr>
          <a:lstStyle/>
          <a:p>
            <a:pPr algn="l">
              <a:lnSpc>
                <a:spcPct val="101000"/>
              </a:lnSpc>
              <a:spcAft>
                <a:spcPts val="300"/>
              </a:spcAft>
              <a:defRPr sz="1500" b="0">
                <a:solidFill>
                  <a:srgbClr val="203350"/>
                </a:solidFill>
                <a:latin typeface="DejaVu Sans"/>
              </a:defRPr>
            </a:pPr>
            <a:r>
              <a:t>0.00000748</a:t>
            </a:r>
          </a:p>
        </p:txBody>
      </p:sp>
      <p:sp>
        <p:nvSpPr>
          <p:cNvPr id="37" name="Rounded Rectangle 36"/>
          <p:cNvSpPr/>
          <p:nvPr/>
        </p:nvSpPr>
        <p:spPr>
          <a:xfrm>
            <a:off x="6629400" y="3895344"/>
            <a:ext cx="2715768" cy="530352"/>
          </a:xfrm>
          <a:prstGeom prst="roundRect">
            <a:avLst>
              <a:gd name="adj" fmla="val 8000"/>
            </a:avLst>
          </a:prstGeom>
          <a:solidFill>
            <a:srgbClr val="ED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766560" y="4032504"/>
            <a:ext cx="2468880" cy="393191"/>
          </a:xfrm>
          <a:prstGeom prst="rect">
            <a:avLst/>
          </a:prstGeom>
          <a:noFill/>
        </p:spPr>
        <p:txBody>
          <a:bodyPr wrap="square" lIns="0" rIns="0" tIns="0" bIns="0">
            <a:spAutoFit/>
          </a:bodyPr>
          <a:lstStyle/>
          <a:p>
            <a:pPr algn="l">
              <a:lnSpc>
                <a:spcPct val="101000"/>
              </a:lnSpc>
              <a:spcAft>
                <a:spcPts val="300"/>
              </a:spcAft>
              <a:defRPr sz="1500" b="0">
                <a:solidFill>
                  <a:srgbClr val="203350"/>
                </a:solidFill>
                <a:latin typeface="DejaVu Sans"/>
              </a:defRPr>
            </a:pPr>
            <a:r>
              <a:t>0.050007</a:t>
            </a:r>
          </a:p>
        </p:txBody>
      </p:sp>
      <p:sp>
        <p:nvSpPr>
          <p:cNvPr id="39" name="Rounded Rectangle 38"/>
          <p:cNvSpPr/>
          <p:nvPr/>
        </p:nvSpPr>
        <p:spPr>
          <a:xfrm>
            <a:off x="9372600" y="3895344"/>
            <a:ext cx="2167128" cy="530352"/>
          </a:xfrm>
          <a:prstGeom prst="roundRect">
            <a:avLst>
              <a:gd name="adj" fmla="val 8000"/>
            </a:avLst>
          </a:prstGeom>
          <a:solidFill>
            <a:srgbClr val="ED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509760" y="4032504"/>
            <a:ext cx="1920240" cy="393191"/>
          </a:xfrm>
          <a:prstGeom prst="rect">
            <a:avLst/>
          </a:prstGeom>
          <a:noFill/>
        </p:spPr>
        <p:txBody>
          <a:bodyPr wrap="square" lIns="0" rIns="0" tIns="0" bIns="0">
            <a:spAutoFit/>
          </a:bodyPr>
          <a:lstStyle/>
          <a:p>
            <a:pPr algn="l">
              <a:lnSpc>
                <a:spcPct val="101000"/>
              </a:lnSpc>
              <a:spcAft>
                <a:spcPts val="300"/>
              </a:spcAft>
              <a:defRPr sz="1500" b="0">
                <a:solidFill>
                  <a:srgbClr val="203350"/>
                </a:solidFill>
                <a:latin typeface="DejaVu Sans"/>
              </a:defRPr>
            </a:pPr>
            <a:r>
              <a:t>kg</a:t>
            </a:r>
          </a:p>
        </p:txBody>
      </p:sp>
      <p:sp>
        <p:nvSpPr>
          <p:cNvPr id="41" name="Rounded Rectangle 40"/>
          <p:cNvSpPr/>
          <p:nvPr/>
        </p:nvSpPr>
        <p:spPr>
          <a:xfrm>
            <a:off x="594360" y="4471416"/>
            <a:ext cx="3264408" cy="530352"/>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31520" y="4608576"/>
            <a:ext cx="3017520" cy="393191"/>
          </a:xfrm>
          <a:prstGeom prst="rect">
            <a:avLst/>
          </a:prstGeom>
          <a:noFill/>
        </p:spPr>
        <p:txBody>
          <a:bodyPr wrap="square" lIns="0" rIns="0" tIns="0" bIns="0">
            <a:spAutoFit/>
          </a:bodyPr>
          <a:lstStyle/>
          <a:p>
            <a:pPr algn="l">
              <a:lnSpc>
                <a:spcPct val="101000"/>
              </a:lnSpc>
              <a:spcAft>
                <a:spcPts val="300"/>
              </a:spcAft>
              <a:defRPr sz="1500" b="0">
                <a:solidFill>
                  <a:srgbClr val="203350"/>
                </a:solidFill>
                <a:latin typeface="DejaVu Sans"/>
              </a:defRPr>
            </a:pPr>
            <a:r>
              <a:t>N₂O</a:t>
            </a:r>
          </a:p>
        </p:txBody>
      </p:sp>
      <p:sp>
        <p:nvSpPr>
          <p:cNvPr id="43" name="Rounded Rectangle 42"/>
          <p:cNvSpPr/>
          <p:nvPr/>
        </p:nvSpPr>
        <p:spPr>
          <a:xfrm>
            <a:off x="3886200" y="4471416"/>
            <a:ext cx="2715768" cy="530352"/>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023360" y="4608576"/>
            <a:ext cx="2468880" cy="393191"/>
          </a:xfrm>
          <a:prstGeom prst="rect">
            <a:avLst/>
          </a:prstGeom>
          <a:noFill/>
        </p:spPr>
        <p:txBody>
          <a:bodyPr wrap="square" lIns="0" rIns="0" tIns="0" bIns="0">
            <a:spAutoFit/>
          </a:bodyPr>
          <a:lstStyle/>
          <a:p>
            <a:pPr algn="l">
              <a:lnSpc>
                <a:spcPct val="101000"/>
              </a:lnSpc>
              <a:spcAft>
                <a:spcPts val="300"/>
              </a:spcAft>
              <a:defRPr sz="1500" b="0">
                <a:solidFill>
                  <a:srgbClr val="203350"/>
                </a:solidFill>
                <a:latin typeface="DejaVu Sans"/>
              </a:defRPr>
            </a:pPr>
            <a:r>
              <a:t>0.000120374</a:t>
            </a:r>
          </a:p>
        </p:txBody>
      </p:sp>
      <p:sp>
        <p:nvSpPr>
          <p:cNvPr id="45" name="Rounded Rectangle 44"/>
          <p:cNvSpPr/>
          <p:nvPr/>
        </p:nvSpPr>
        <p:spPr>
          <a:xfrm>
            <a:off x="6629400" y="4471416"/>
            <a:ext cx="2715768" cy="530352"/>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766560" y="4608576"/>
            <a:ext cx="2468880" cy="393191"/>
          </a:xfrm>
          <a:prstGeom prst="rect">
            <a:avLst/>
          </a:prstGeom>
          <a:noFill/>
        </p:spPr>
        <p:txBody>
          <a:bodyPr wrap="square" lIns="0" rIns="0" tIns="0" bIns="0">
            <a:spAutoFit/>
          </a:bodyPr>
          <a:lstStyle/>
          <a:p>
            <a:pPr algn="l">
              <a:lnSpc>
                <a:spcPct val="101000"/>
              </a:lnSpc>
              <a:spcAft>
                <a:spcPts val="300"/>
              </a:spcAft>
              <a:defRPr sz="1500" b="0">
                <a:solidFill>
                  <a:srgbClr val="203350"/>
                </a:solidFill>
                <a:latin typeface="DejaVu Sans"/>
              </a:defRPr>
            </a:pPr>
            <a:r>
              <a:t>0.00040035</a:t>
            </a:r>
          </a:p>
        </p:txBody>
      </p:sp>
      <p:sp>
        <p:nvSpPr>
          <p:cNvPr id="47" name="Rounded Rectangle 46"/>
          <p:cNvSpPr/>
          <p:nvPr/>
        </p:nvSpPr>
        <p:spPr>
          <a:xfrm>
            <a:off x="9372600" y="4471416"/>
            <a:ext cx="2167128" cy="530352"/>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509760" y="4608576"/>
            <a:ext cx="1920240" cy="393191"/>
          </a:xfrm>
          <a:prstGeom prst="rect">
            <a:avLst/>
          </a:prstGeom>
          <a:noFill/>
        </p:spPr>
        <p:txBody>
          <a:bodyPr wrap="square" lIns="0" rIns="0" tIns="0" bIns="0">
            <a:spAutoFit/>
          </a:bodyPr>
          <a:lstStyle/>
          <a:p>
            <a:pPr algn="l">
              <a:lnSpc>
                <a:spcPct val="101000"/>
              </a:lnSpc>
              <a:spcAft>
                <a:spcPts val="300"/>
              </a:spcAft>
              <a:defRPr sz="1500" b="0">
                <a:solidFill>
                  <a:srgbClr val="203350"/>
                </a:solidFill>
                <a:latin typeface="DejaVu Sans"/>
              </a:defRPr>
            </a:pPr>
            <a:r>
              <a:t>kg</a:t>
            </a:r>
          </a:p>
        </p:txBody>
      </p:sp>
      <p:sp>
        <p:nvSpPr>
          <p:cNvPr id="49" name="Rounded Rectangle 48"/>
          <p:cNvSpPr/>
          <p:nvPr/>
        </p:nvSpPr>
        <p:spPr>
          <a:xfrm>
            <a:off x="594360" y="5047488"/>
            <a:ext cx="3264408" cy="530352"/>
          </a:xfrm>
          <a:prstGeom prst="roundRect">
            <a:avLst>
              <a:gd name="adj" fmla="val 8000"/>
            </a:avLst>
          </a:prstGeom>
          <a:solidFill>
            <a:srgbClr val="ED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31520" y="5184648"/>
            <a:ext cx="3017520" cy="393191"/>
          </a:xfrm>
          <a:prstGeom prst="rect">
            <a:avLst/>
          </a:prstGeom>
          <a:noFill/>
        </p:spPr>
        <p:txBody>
          <a:bodyPr wrap="square" lIns="0" rIns="0" tIns="0" bIns="0">
            <a:spAutoFit/>
          </a:bodyPr>
          <a:lstStyle/>
          <a:p>
            <a:pPr algn="l">
              <a:lnSpc>
                <a:spcPct val="101000"/>
              </a:lnSpc>
              <a:spcAft>
                <a:spcPts val="300"/>
              </a:spcAft>
              <a:defRPr sz="1500" b="0">
                <a:solidFill>
                  <a:srgbClr val="203350"/>
                </a:solidFill>
                <a:latin typeface="DejaVu Sans"/>
              </a:defRPr>
            </a:pPr>
            <a:r>
              <a:t>Agua extraída</a:t>
            </a:r>
          </a:p>
        </p:txBody>
      </p:sp>
      <p:sp>
        <p:nvSpPr>
          <p:cNvPr id="51" name="Rounded Rectangle 50"/>
          <p:cNvSpPr/>
          <p:nvPr/>
        </p:nvSpPr>
        <p:spPr>
          <a:xfrm>
            <a:off x="3886200" y="5047488"/>
            <a:ext cx="2715768" cy="530352"/>
          </a:xfrm>
          <a:prstGeom prst="roundRect">
            <a:avLst>
              <a:gd name="adj" fmla="val 8000"/>
            </a:avLst>
          </a:prstGeom>
          <a:solidFill>
            <a:srgbClr val="ED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023360" y="5184648"/>
            <a:ext cx="2468880" cy="393191"/>
          </a:xfrm>
          <a:prstGeom prst="rect">
            <a:avLst/>
          </a:prstGeom>
          <a:noFill/>
        </p:spPr>
        <p:txBody>
          <a:bodyPr wrap="square" lIns="0" rIns="0" tIns="0" bIns="0">
            <a:spAutoFit/>
          </a:bodyPr>
          <a:lstStyle/>
          <a:p>
            <a:pPr algn="l">
              <a:lnSpc>
                <a:spcPct val="101000"/>
              </a:lnSpc>
              <a:spcAft>
                <a:spcPts val="300"/>
              </a:spcAft>
              <a:defRPr sz="1500" b="0">
                <a:solidFill>
                  <a:srgbClr val="203350"/>
                </a:solidFill>
                <a:latin typeface="DejaVu Sans"/>
              </a:defRPr>
            </a:pPr>
            <a:r>
              <a:t>7.6244</a:t>
            </a:r>
          </a:p>
        </p:txBody>
      </p:sp>
      <p:sp>
        <p:nvSpPr>
          <p:cNvPr id="53" name="Rounded Rectangle 52"/>
          <p:cNvSpPr/>
          <p:nvPr/>
        </p:nvSpPr>
        <p:spPr>
          <a:xfrm>
            <a:off x="6629400" y="5047488"/>
            <a:ext cx="2715768" cy="530352"/>
          </a:xfrm>
          <a:prstGeom prst="roundRect">
            <a:avLst>
              <a:gd name="adj" fmla="val 8000"/>
            </a:avLst>
          </a:prstGeom>
          <a:solidFill>
            <a:srgbClr val="ED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766560" y="5184648"/>
            <a:ext cx="2468880" cy="393191"/>
          </a:xfrm>
          <a:prstGeom prst="rect">
            <a:avLst/>
          </a:prstGeom>
          <a:noFill/>
        </p:spPr>
        <p:txBody>
          <a:bodyPr wrap="square" lIns="0" rIns="0" tIns="0" bIns="0">
            <a:spAutoFit/>
          </a:bodyPr>
          <a:lstStyle/>
          <a:p>
            <a:pPr algn="l">
              <a:lnSpc>
                <a:spcPct val="101000"/>
              </a:lnSpc>
              <a:spcAft>
                <a:spcPts val="300"/>
              </a:spcAft>
              <a:defRPr sz="1500" b="0">
                <a:solidFill>
                  <a:srgbClr val="203350"/>
                </a:solidFill>
                <a:latin typeface="DejaVu Sans"/>
              </a:defRPr>
            </a:pPr>
            <a:r>
              <a:t>100.81</a:t>
            </a:r>
          </a:p>
        </p:txBody>
      </p:sp>
      <p:sp>
        <p:nvSpPr>
          <p:cNvPr id="55" name="Rounded Rectangle 54"/>
          <p:cNvSpPr/>
          <p:nvPr/>
        </p:nvSpPr>
        <p:spPr>
          <a:xfrm>
            <a:off x="9372600" y="5047488"/>
            <a:ext cx="2167128" cy="530352"/>
          </a:xfrm>
          <a:prstGeom prst="roundRect">
            <a:avLst>
              <a:gd name="adj" fmla="val 8000"/>
            </a:avLst>
          </a:prstGeom>
          <a:solidFill>
            <a:srgbClr val="ED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509760" y="5184648"/>
            <a:ext cx="1920240" cy="393191"/>
          </a:xfrm>
          <a:prstGeom prst="rect">
            <a:avLst/>
          </a:prstGeom>
          <a:noFill/>
        </p:spPr>
        <p:txBody>
          <a:bodyPr wrap="square" lIns="0" rIns="0" tIns="0" bIns="0">
            <a:spAutoFit/>
          </a:bodyPr>
          <a:lstStyle/>
          <a:p>
            <a:pPr algn="l">
              <a:lnSpc>
                <a:spcPct val="101000"/>
              </a:lnSpc>
              <a:spcAft>
                <a:spcPts val="300"/>
              </a:spcAft>
              <a:defRPr sz="1500" b="0">
                <a:solidFill>
                  <a:srgbClr val="203350"/>
                </a:solidFill>
                <a:latin typeface="DejaVu Sans"/>
              </a:defRPr>
            </a:pPr>
            <a:r>
              <a:t>L</a:t>
            </a:r>
          </a:p>
        </p:txBody>
      </p:sp>
      <p:sp>
        <p:nvSpPr>
          <p:cNvPr id="57" name="TextBox 56"/>
          <p:cNvSpPr txBox="1"/>
          <p:nvPr/>
        </p:nvSpPr>
        <p:spPr>
          <a:xfrm>
            <a:off x="731520" y="5852160"/>
            <a:ext cx="10789920" cy="274320"/>
          </a:xfrm>
          <a:prstGeom prst="rect">
            <a:avLst/>
          </a:prstGeom>
          <a:noFill/>
        </p:spPr>
        <p:txBody>
          <a:bodyPr wrap="square" lIns="0" rIns="0" tIns="0" bIns="0">
            <a:spAutoFit/>
          </a:bodyPr>
          <a:lstStyle/>
          <a:p>
            <a:pPr algn="l">
              <a:lnSpc>
                <a:spcPct val="101000"/>
              </a:lnSpc>
              <a:spcAft>
                <a:spcPts val="300"/>
              </a:spcAft>
              <a:defRPr sz="1200" b="0">
                <a:solidFill>
                  <a:srgbClr val="5C6E83"/>
                </a:solidFill>
                <a:latin typeface="DejaVu Sans"/>
              </a:defRPr>
            </a:pPr>
            <a:r>
              <a:t>Cantidades físicas de la red completa. Usa suficientes cifras significativas al contrastar.</a:t>
            </a:r>
          </a:p>
        </p:txBody>
      </p:sp>
    </p:spTree>
  </p:cSld>
  <p:clrMapOvr>
    <a:masterClrMapping/>
  </p:clrMapOvr>
  <p:transition advClick="1">
    <p:fade/>
  </p:transition>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9FBFF"/>
        </a:solidFill>
        <a:effectLst/>
      </p:bgPr>
    </p:bg>
    <p:spTree>
      <p:nvGrpSpPr>
        <p:cNvPr id="1" name=""/>
        <p:cNvGrpSpPr/>
        <p:nvPr/>
      </p:nvGrpSpPr>
      <p:grpSpPr/>
      <p:sp>
        <p:nvSpPr>
          <p:cNvPr id="2" name="TextBox 1"/>
          <p:cNvSpPr txBox="1"/>
          <p:nvPr/>
        </p:nvSpPr>
        <p:spPr>
          <a:xfrm>
            <a:off x="548640" y="365760"/>
            <a:ext cx="7223760" cy="228600"/>
          </a:xfrm>
          <a:prstGeom prst="rect">
            <a:avLst/>
          </a:prstGeom>
          <a:noFill/>
        </p:spPr>
        <p:txBody>
          <a:bodyPr wrap="square" lIns="0" rIns="0" tIns="0" bIns="0">
            <a:spAutoFit/>
          </a:bodyPr>
          <a:lstStyle/>
          <a:p>
            <a:pPr algn="l">
              <a:lnSpc>
                <a:spcPct val="101000"/>
              </a:lnSpc>
              <a:spcAft>
                <a:spcPts val="300"/>
              </a:spcAft>
              <a:defRPr sz="930" b="1">
                <a:solidFill>
                  <a:srgbClr val="237DC2"/>
                </a:solidFill>
                <a:latin typeface="DejaVu Sans"/>
              </a:defRPr>
            </a:pPr>
            <a:r>
              <a:t>PRÁCTICA · INTERPRETAR EL INDICADOR</a:t>
            </a:r>
          </a:p>
        </p:txBody>
      </p:sp>
      <p:sp>
        <p:nvSpPr>
          <p:cNvPr id="3" name="Rounded Rectangle 2">
            <a:hlinkClick action="ppaction://hlinksldjump" r:id="rId2"/>
          </p:cNvPr>
          <p:cNvSpPr/>
          <p:nvPr/>
        </p:nvSpPr>
        <p:spPr>
          <a:xfrm>
            <a:off x="8165592" y="301752"/>
            <a:ext cx="813816" cy="310896"/>
          </a:xfrm>
          <a:prstGeom prst="roundRect">
            <a:avLst>
              <a:gd name="adj" fmla="val 8000"/>
            </a:avLst>
          </a:prstGeom>
          <a:solidFill>
            <a:srgbClr val="E0F7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2"/>
          </p:cNvPr>
          <p:cNvSpPr txBox="1"/>
          <p:nvPr/>
        </p:nvSpPr>
        <p:spPr>
          <a:xfrm>
            <a:off x="8275319" y="384048"/>
            <a:ext cx="594360" cy="219456"/>
          </a:xfrm>
          <a:prstGeom prst="rect">
            <a:avLst/>
          </a:prstGeom>
          <a:noFill/>
        </p:spPr>
        <p:txBody>
          <a:bodyPr wrap="square" lIns="0" rIns="0" tIns="0" bIns="0">
            <a:spAutoFit/>
          </a:bodyPr>
          <a:lstStyle/>
          <a:p>
            <a:pPr algn="l">
              <a:lnSpc>
                <a:spcPct val="101000"/>
              </a:lnSpc>
              <a:spcAft>
                <a:spcPts val="300"/>
              </a:spcAft>
              <a:defRPr sz="800" b="1">
                <a:solidFill>
                  <a:srgbClr val="203350"/>
                </a:solidFill>
                <a:latin typeface="DejaVu Sans"/>
              </a:defRPr>
            </a:pPr>
            <a:r>
              <a:t>Preparar</a:t>
            </a:r>
          </a:p>
        </p:txBody>
      </p:sp>
      <p:sp>
        <p:nvSpPr>
          <p:cNvPr id="5" name="Rounded Rectangle 4">
            <a:hlinkClick action="ppaction://hlinksldjump" r:id="rId3"/>
          </p:cNvPr>
          <p:cNvSpPr/>
          <p:nvPr/>
        </p:nvSpPr>
        <p:spPr>
          <a:xfrm>
            <a:off x="9043416" y="301752"/>
            <a:ext cx="813816" cy="310896"/>
          </a:xfrm>
          <a:prstGeom prst="roundRect">
            <a:avLst>
              <a:gd name="adj" fmla="val 8000"/>
            </a:avLst>
          </a:prstGeom>
          <a:solidFill>
            <a:srgbClr val="E2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3"/>
          </p:cNvPr>
          <p:cNvSpPr txBox="1"/>
          <p:nvPr/>
        </p:nvSpPr>
        <p:spPr>
          <a:xfrm>
            <a:off x="9153144" y="384048"/>
            <a:ext cx="594360" cy="219456"/>
          </a:xfrm>
          <a:prstGeom prst="rect">
            <a:avLst/>
          </a:prstGeom>
          <a:noFill/>
        </p:spPr>
        <p:txBody>
          <a:bodyPr wrap="square" lIns="0" rIns="0" tIns="0" bIns="0">
            <a:spAutoFit/>
          </a:bodyPr>
          <a:lstStyle/>
          <a:p>
            <a:pPr algn="l">
              <a:lnSpc>
                <a:spcPct val="101000"/>
              </a:lnSpc>
              <a:spcAft>
                <a:spcPts val="300"/>
              </a:spcAft>
              <a:defRPr sz="800" b="1">
                <a:solidFill>
                  <a:srgbClr val="203350"/>
                </a:solidFill>
                <a:latin typeface="DejaVu Sans"/>
              </a:defRPr>
            </a:pPr>
            <a:r>
              <a:t>Importar</a:t>
            </a:r>
          </a:p>
        </p:txBody>
      </p:sp>
      <p:sp>
        <p:nvSpPr>
          <p:cNvPr id="7" name="Rounded Rectangle 6">
            <a:hlinkClick action="ppaction://hlinksldjump" r:id="rId4"/>
          </p:cNvPr>
          <p:cNvSpPr/>
          <p:nvPr/>
        </p:nvSpPr>
        <p:spPr>
          <a:xfrm>
            <a:off x="9921240" y="301752"/>
            <a:ext cx="813816" cy="310896"/>
          </a:xfrm>
          <a:prstGeom prst="roundRect">
            <a:avLst>
              <a:gd name="adj" fmla="val 8000"/>
            </a:avLst>
          </a:prstGeom>
          <a:solidFill>
            <a:srgbClr val="EEE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4"/>
          </p:cNvPr>
          <p:cNvSpPr txBox="1"/>
          <p:nvPr/>
        </p:nvSpPr>
        <p:spPr>
          <a:xfrm>
            <a:off x="10030967" y="384048"/>
            <a:ext cx="594360" cy="219456"/>
          </a:xfrm>
          <a:prstGeom prst="rect">
            <a:avLst/>
          </a:prstGeom>
          <a:noFill/>
        </p:spPr>
        <p:txBody>
          <a:bodyPr wrap="square" lIns="0" rIns="0" tIns="0" bIns="0">
            <a:spAutoFit/>
          </a:bodyPr>
          <a:lstStyle/>
          <a:p>
            <a:pPr algn="l">
              <a:lnSpc>
                <a:spcPct val="101000"/>
              </a:lnSpc>
              <a:spcAft>
                <a:spcPts val="300"/>
              </a:spcAft>
              <a:defRPr sz="800" b="1">
                <a:solidFill>
                  <a:srgbClr val="203350"/>
                </a:solidFill>
                <a:latin typeface="DejaVu Sans"/>
              </a:defRPr>
            </a:pPr>
            <a:r>
              <a:t>Calcular</a:t>
            </a:r>
          </a:p>
        </p:txBody>
      </p:sp>
      <p:sp>
        <p:nvSpPr>
          <p:cNvPr id="9" name="Rounded Rectangle 8">
            <a:hlinkClick action="ppaction://hlinksldjump" r:id="rId5"/>
          </p:cNvPr>
          <p:cNvSpPr/>
          <p:nvPr/>
        </p:nvSpPr>
        <p:spPr>
          <a:xfrm>
            <a:off x="10799063" y="301752"/>
            <a:ext cx="813816" cy="310896"/>
          </a:xfrm>
          <a:prstGeom prst="roundRect">
            <a:avLst>
              <a:gd name="adj" fmla="val 8000"/>
            </a:avLst>
          </a:prstGeom>
          <a:solidFill>
            <a:srgbClr val="FFF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5"/>
          </p:cNvPr>
          <p:cNvSpPr txBox="1"/>
          <p:nvPr/>
        </p:nvSpPr>
        <p:spPr>
          <a:xfrm>
            <a:off x="10908791" y="384048"/>
            <a:ext cx="594360" cy="219456"/>
          </a:xfrm>
          <a:prstGeom prst="rect">
            <a:avLst/>
          </a:prstGeom>
          <a:noFill/>
        </p:spPr>
        <p:txBody>
          <a:bodyPr wrap="square" lIns="0" rIns="0" tIns="0" bIns="0">
            <a:spAutoFit/>
          </a:bodyPr>
          <a:lstStyle/>
          <a:p>
            <a:pPr algn="l">
              <a:lnSpc>
                <a:spcPct val="101000"/>
              </a:lnSpc>
              <a:spcAft>
                <a:spcPts val="300"/>
              </a:spcAft>
              <a:defRPr sz="749" b="1">
                <a:solidFill>
                  <a:srgbClr val="203350"/>
                </a:solidFill>
                <a:latin typeface="DejaVu Sans"/>
              </a:defRPr>
            </a:pPr>
            <a:r>
              <a:t>Comprobar</a:t>
            </a:r>
          </a:p>
        </p:txBody>
      </p:sp>
      <p:sp>
        <p:nvSpPr>
          <p:cNvPr id="11" name="TextBox 10"/>
          <p:cNvSpPr txBox="1"/>
          <p:nvPr/>
        </p:nvSpPr>
        <p:spPr>
          <a:xfrm>
            <a:off x="548640" y="886968"/>
            <a:ext cx="11064240" cy="1234440"/>
          </a:xfrm>
          <a:prstGeom prst="rect">
            <a:avLst/>
          </a:prstGeom>
          <a:noFill/>
        </p:spPr>
        <p:txBody>
          <a:bodyPr wrap="square" lIns="0" rIns="0" tIns="0" bIns="0">
            <a:spAutoFit/>
          </a:bodyPr>
          <a:lstStyle/>
          <a:p>
            <a:pPr algn="l">
              <a:lnSpc>
                <a:spcPct val="101000"/>
              </a:lnSpc>
              <a:spcAft>
                <a:spcPts val="300"/>
              </a:spcAft>
              <a:defRPr sz="3900" b="1">
                <a:solidFill>
                  <a:srgbClr val="203350"/>
                </a:solidFill>
                <a:latin typeface="DejaVu Sans"/>
              </a:defRPr>
            </a:pPr>
            <a:r>
              <a:t>7. De tres gases</a:t>
            </a:r>
          </a:p>
          <a:p>
            <a:pPr algn="l">
              <a:lnSpc>
                <a:spcPct val="101000"/>
              </a:lnSpc>
              <a:spcAft>
                <a:spcPts val="300"/>
              </a:spcAft>
              <a:defRPr sz="3900" b="1">
                <a:solidFill>
                  <a:srgbClr val="203350"/>
                </a:solidFill>
                <a:latin typeface="DejaVu Sans"/>
              </a:defRPr>
            </a:pPr>
            <a:r>
              <a:t>a kg de CO₂ equivalente</a:t>
            </a:r>
          </a:p>
        </p:txBody>
      </p:sp>
      <p:sp>
        <p:nvSpPr>
          <p:cNvPr id="12" name="TextBox 11"/>
          <p:cNvSpPr txBox="1"/>
          <p:nvPr/>
        </p:nvSpPr>
        <p:spPr>
          <a:xfrm>
            <a:off x="566928" y="2121408"/>
            <a:ext cx="10972800" cy="338328"/>
          </a:xfrm>
          <a:prstGeom prst="rect">
            <a:avLst/>
          </a:prstGeom>
          <a:noFill/>
        </p:spPr>
        <p:txBody>
          <a:bodyPr wrap="square" lIns="0" rIns="0" tIns="0" bIns="0">
            <a:spAutoFit/>
          </a:bodyPr>
          <a:lstStyle/>
          <a:p>
            <a:pPr algn="l">
              <a:lnSpc>
                <a:spcPct val="101000"/>
              </a:lnSpc>
              <a:spcAft>
                <a:spcPts val="300"/>
              </a:spcAft>
              <a:defRPr sz="1450" b="0">
                <a:solidFill>
                  <a:srgbClr val="5C6E83"/>
                </a:solidFill>
                <a:latin typeface="DejaVu Sans"/>
              </a:defRPr>
            </a:pPr>
            <a:r>
              <a:t>GWP100 docente = CO₂ × 1 + CH₄ × 28 + N₂O × 265</a:t>
            </a:r>
          </a:p>
        </p:txBody>
      </p:sp>
      <p:sp>
        <p:nvSpPr>
          <p:cNvPr id="13" name="TextBox 12"/>
          <p:cNvSpPr txBox="1"/>
          <p:nvPr/>
        </p:nvSpPr>
        <p:spPr>
          <a:xfrm>
            <a:off x="548640" y="6446520"/>
            <a:ext cx="9784080" cy="219456"/>
          </a:xfrm>
          <a:prstGeom prst="rect">
            <a:avLst/>
          </a:prstGeom>
          <a:noFill/>
        </p:spPr>
        <p:txBody>
          <a:bodyPr wrap="square" lIns="0" rIns="0" tIns="0" bIns="0">
            <a:spAutoFit/>
          </a:bodyPr>
          <a:lstStyle/>
          <a:p>
            <a:pPr algn="l">
              <a:lnSpc>
                <a:spcPct val="101000"/>
              </a:lnSpc>
              <a:spcAft>
                <a:spcPts val="300"/>
              </a:spcAft>
              <a:defRPr sz="810" b="0">
                <a:solidFill>
                  <a:srgbClr val="5C6E83"/>
                </a:solidFill>
                <a:latin typeface="DejaVu Sans"/>
              </a:defRPr>
            </a:pPr>
            <a:r>
              <a:t>IPCC (2013), AR5 WGI, cap. 8 · implementación docente limitada</a:t>
            </a:r>
          </a:p>
        </p:txBody>
      </p:sp>
      <p:sp>
        <p:nvSpPr>
          <p:cNvPr id="14" name="Rounded Rectangle 13">
            <a:hlinkClick action="ppaction://hlinksldjump" r:id="rId6"/>
          </p:cNvPr>
          <p:cNvSpPr/>
          <p:nvPr/>
        </p:nvSpPr>
        <p:spPr>
          <a:xfrm>
            <a:off x="10442448" y="6400800"/>
            <a:ext cx="640080" cy="265176"/>
          </a:xfrm>
          <a:prstGeom prst="roundRect">
            <a:avLst>
              <a:gd name="adj" fmla="val 8000"/>
            </a:avLst>
          </a:prstGeom>
          <a:solidFill>
            <a:srgbClr val="EEE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a:hlinkClick action="ppaction://hlinksldjump" r:id="rId6"/>
          </p:cNvPr>
          <p:cNvSpPr txBox="1"/>
          <p:nvPr/>
        </p:nvSpPr>
        <p:spPr>
          <a:xfrm>
            <a:off x="10552176" y="6483096"/>
            <a:ext cx="420623" cy="173735"/>
          </a:xfrm>
          <a:prstGeom prst="rect">
            <a:avLst/>
          </a:prstGeom>
          <a:noFill/>
        </p:spPr>
        <p:txBody>
          <a:bodyPr wrap="square" lIns="0" rIns="0" tIns="0" bIns="0">
            <a:spAutoFit/>
          </a:bodyPr>
          <a:lstStyle/>
          <a:p>
            <a:pPr algn="l">
              <a:lnSpc>
                <a:spcPct val="101000"/>
              </a:lnSpc>
              <a:spcAft>
                <a:spcPts val="300"/>
              </a:spcAft>
              <a:defRPr sz="800" b="1">
                <a:solidFill>
                  <a:srgbClr val="8060BA"/>
                </a:solidFill>
                <a:latin typeface="DejaVu Sans"/>
              </a:defRPr>
            </a:pPr>
            <a:r>
              <a:t>Ruta</a:t>
            </a:r>
          </a:p>
        </p:txBody>
      </p:sp>
      <p:sp>
        <p:nvSpPr>
          <p:cNvPr id="16" name="TextBox 15"/>
          <p:cNvSpPr txBox="1"/>
          <p:nvPr/>
        </p:nvSpPr>
        <p:spPr>
          <a:xfrm>
            <a:off x="11228832" y="6400800"/>
            <a:ext cx="457200" cy="274320"/>
          </a:xfrm>
          <a:prstGeom prst="rect">
            <a:avLst/>
          </a:prstGeom>
          <a:noFill/>
        </p:spPr>
        <p:txBody>
          <a:bodyPr wrap="square" lIns="0" rIns="0" tIns="0" bIns="0">
            <a:spAutoFit/>
          </a:bodyPr>
          <a:lstStyle/>
          <a:p>
            <a:pPr algn="r">
              <a:lnSpc>
                <a:spcPct val="101000"/>
              </a:lnSpc>
              <a:spcAft>
                <a:spcPts val="300"/>
              </a:spcAft>
              <a:defRPr sz="1300" b="1">
                <a:solidFill>
                  <a:srgbClr val="203350"/>
                </a:solidFill>
                <a:latin typeface="DejaVu Sans"/>
              </a:defRPr>
            </a:pPr>
            <a:r>
              <a:t>13</a:t>
            </a:r>
          </a:p>
        </p:txBody>
      </p:sp>
      <p:graphicFrame>
        <p:nvGraphicFramePr>
          <p:cNvPr id="17" name="Chart 16"/>
          <p:cNvGraphicFramePr>
            <a:graphicFrameLocks noGrp="1"/>
          </p:cNvGraphicFramePr>
          <p:nvPr/>
        </p:nvGraphicFramePr>
        <p:xfrm>
          <a:off x="594360" y="2770632"/>
          <a:ext cx="8229600" cy="2743200"/>
        </p:xfrm>
        <a:graphic>
          <a:graphicData uri="http://schemas.openxmlformats.org/drawingml/2006/chart">
            <c:chart xmlns:c="http://schemas.openxmlformats.org/drawingml/2006/chart" r:id="rId8"/>
          </a:graphicData>
        </a:graphic>
      </p:graphicFrame>
      <p:sp>
        <p:nvSpPr>
          <p:cNvPr id="18" name="TextBox 17"/>
          <p:cNvSpPr txBox="1"/>
          <p:nvPr/>
        </p:nvSpPr>
        <p:spPr>
          <a:xfrm>
            <a:off x="777240" y="5806440"/>
            <a:ext cx="7955279" cy="274320"/>
          </a:xfrm>
          <a:prstGeom prst="rect">
            <a:avLst/>
          </a:prstGeom>
          <a:noFill/>
        </p:spPr>
        <p:txBody>
          <a:bodyPr wrap="square" lIns="0" rIns="0" tIns="0" bIns="0">
            <a:spAutoFit/>
          </a:bodyPr>
          <a:lstStyle/>
          <a:p>
            <a:pPr algn="l">
              <a:lnSpc>
                <a:spcPct val="101000"/>
              </a:lnSpc>
              <a:spcAft>
                <a:spcPts val="300"/>
              </a:spcAft>
              <a:defRPr sz="1300" b="0">
                <a:solidFill>
                  <a:srgbClr val="5C6E83"/>
                </a:solidFill>
                <a:latin typeface="DejaVu Sans"/>
              </a:defRPr>
            </a:pPr>
            <a:r>
              <a:t>kg CO₂ eq por 1 L · valores simulados</a:t>
            </a:r>
          </a:p>
        </p:txBody>
      </p:sp>
      <p:sp>
        <p:nvSpPr>
          <p:cNvPr id="19" name="Rounded Rectangle 18"/>
          <p:cNvSpPr/>
          <p:nvPr/>
        </p:nvSpPr>
        <p:spPr>
          <a:xfrm>
            <a:off x="9144000" y="2862072"/>
            <a:ext cx="2423160" cy="2852928"/>
          </a:xfrm>
          <a:prstGeom prst="roundRect">
            <a:avLst>
              <a:gd name="adj" fmla="val 8000"/>
            </a:avLst>
          </a:prstGeom>
          <a:solidFill>
            <a:srgbClr val="EEE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ico_chart.png"/>
          <p:cNvPicPr>
            <a:picLocks noChangeAspect="1"/>
          </p:cNvPicPr>
          <p:nvPr/>
        </p:nvPicPr>
        <p:blipFill>
          <a:blip r:embed="rId9"/>
          <a:stretch>
            <a:fillRect/>
          </a:stretch>
        </p:blipFill>
        <p:spPr>
          <a:xfrm>
            <a:off x="9829800" y="3136392"/>
            <a:ext cx="822960" cy="822960"/>
          </a:xfrm>
          <a:prstGeom prst="rect">
            <a:avLst/>
          </a:prstGeom>
        </p:spPr>
      </p:pic>
      <p:sp>
        <p:nvSpPr>
          <p:cNvPr id="21" name="TextBox 20"/>
          <p:cNvSpPr txBox="1"/>
          <p:nvPr/>
        </p:nvSpPr>
        <p:spPr>
          <a:xfrm>
            <a:off x="9345168" y="4288536"/>
            <a:ext cx="2011680" cy="960120"/>
          </a:xfrm>
          <a:prstGeom prst="rect">
            <a:avLst/>
          </a:prstGeom>
          <a:noFill/>
        </p:spPr>
        <p:txBody>
          <a:bodyPr wrap="square" lIns="0" rIns="0" tIns="0" bIns="0">
            <a:spAutoFit/>
          </a:bodyPr>
          <a:lstStyle/>
          <a:p>
            <a:pPr algn="l">
              <a:lnSpc>
                <a:spcPct val="101000"/>
              </a:lnSpc>
              <a:spcAft>
                <a:spcPts val="300"/>
              </a:spcAft>
              <a:defRPr sz="1900" b="1">
                <a:solidFill>
                  <a:srgbClr val="203350"/>
                </a:solidFill>
                <a:latin typeface="DejaVu Sans"/>
              </a:defRPr>
            </a:pPr>
            <a:r>
              <a:t>Una categoría</a:t>
            </a:r>
          </a:p>
          <a:p>
            <a:pPr algn="l">
              <a:lnSpc>
                <a:spcPct val="101000"/>
              </a:lnSpc>
              <a:spcAft>
                <a:spcPts val="300"/>
              </a:spcAft>
              <a:defRPr sz="1900" b="1">
                <a:solidFill>
                  <a:srgbClr val="203350"/>
                </a:solidFill>
                <a:latin typeface="DejaVu Sans"/>
              </a:defRPr>
            </a:pPr>
            <a:r>
              <a:t>no resume todos</a:t>
            </a:r>
          </a:p>
          <a:p>
            <a:pPr algn="l">
              <a:lnSpc>
                <a:spcPct val="101000"/>
              </a:lnSpc>
              <a:spcAft>
                <a:spcPts val="300"/>
              </a:spcAft>
              <a:defRPr sz="1900" b="1">
                <a:solidFill>
                  <a:srgbClr val="203350"/>
                </a:solidFill>
                <a:latin typeface="DejaVu Sans"/>
              </a:defRPr>
            </a:pPr>
            <a:r>
              <a:t>los impactos.</a:t>
            </a:r>
          </a:p>
        </p:txBody>
      </p:sp>
    </p:spTree>
  </p:cSld>
  <p:clrMapOvr>
    <a:masterClrMapping/>
  </p:clrMapOvr>
  <p:transition advClick="1">
    <p:fade/>
  </p:transition>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9FBFF"/>
        </a:solidFill>
        <a:effectLst/>
      </p:bgPr>
    </p:bg>
    <p:spTree>
      <p:nvGrpSpPr>
        <p:cNvPr id="1" name=""/>
        <p:cNvGrpSpPr/>
        <p:nvPr/>
      </p:nvGrpSpPr>
      <p:grpSpPr/>
      <p:sp>
        <p:nvSpPr>
          <p:cNvPr id="2" name="TextBox 1"/>
          <p:cNvSpPr txBox="1"/>
          <p:nvPr/>
        </p:nvSpPr>
        <p:spPr>
          <a:xfrm>
            <a:off x="548640" y="365760"/>
            <a:ext cx="7223760" cy="228600"/>
          </a:xfrm>
          <a:prstGeom prst="rect">
            <a:avLst/>
          </a:prstGeom>
          <a:noFill/>
        </p:spPr>
        <p:txBody>
          <a:bodyPr wrap="square" lIns="0" rIns="0" tIns="0" bIns="0">
            <a:spAutoFit/>
          </a:bodyPr>
          <a:lstStyle/>
          <a:p>
            <a:pPr algn="l">
              <a:lnSpc>
                <a:spcPct val="101000"/>
              </a:lnSpc>
              <a:spcAft>
                <a:spcPts val="300"/>
              </a:spcAft>
              <a:defRPr sz="930" b="1">
                <a:solidFill>
                  <a:srgbClr val="8060BA"/>
                </a:solidFill>
                <a:latin typeface="DejaVu Sans"/>
              </a:defRPr>
            </a:pPr>
            <a:r>
              <a:t>COMPROBACIÓN NUMÉRICA</a:t>
            </a:r>
          </a:p>
        </p:txBody>
      </p:sp>
      <p:sp>
        <p:nvSpPr>
          <p:cNvPr id="3" name="Rounded Rectangle 2">
            <a:hlinkClick action="ppaction://hlinksldjump" r:id="rId2"/>
          </p:cNvPr>
          <p:cNvSpPr/>
          <p:nvPr/>
        </p:nvSpPr>
        <p:spPr>
          <a:xfrm>
            <a:off x="8165592" y="301752"/>
            <a:ext cx="813816" cy="310896"/>
          </a:xfrm>
          <a:prstGeom prst="roundRect">
            <a:avLst>
              <a:gd name="adj" fmla="val 8000"/>
            </a:avLst>
          </a:prstGeom>
          <a:solidFill>
            <a:srgbClr val="E0F7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2"/>
          </p:cNvPr>
          <p:cNvSpPr txBox="1"/>
          <p:nvPr/>
        </p:nvSpPr>
        <p:spPr>
          <a:xfrm>
            <a:off x="8275319" y="384048"/>
            <a:ext cx="594360" cy="219456"/>
          </a:xfrm>
          <a:prstGeom prst="rect">
            <a:avLst/>
          </a:prstGeom>
          <a:noFill/>
        </p:spPr>
        <p:txBody>
          <a:bodyPr wrap="square" lIns="0" rIns="0" tIns="0" bIns="0">
            <a:spAutoFit/>
          </a:bodyPr>
          <a:lstStyle/>
          <a:p>
            <a:pPr algn="l">
              <a:lnSpc>
                <a:spcPct val="101000"/>
              </a:lnSpc>
              <a:spcAft>
                <a:spcPts val="300"/>
              </a:spcAft>
              <a:defRPr sz="800" b="1">
                <a:solidFill>
                  <a:srgbClr val="203350"/>
                </a:solidFill>
                <a:latin typeface="DejaVu Sans"/>
              </a:defRPr>
            </a:pPr>
            <a:r>
              <a:t>Preparar</a:t>
            </a:r>
          </a:p>
        </p:txBody>
      </p:sp>
      <p:sp>
        <p:nvSpPr>
          <p:cNvPr id="5" name="Rounded Rectangle 4">
            <a:hlinkClick action="ppaction://hlinksldjump" r:id="rId3"/>
          </p:cNvPr>
          <p:cNvSpPr/>
          <p:nvPr/>
        </p:nvSpPr>
        <p:spPr>
          <a:xfrm>
            <a:off x="9043416" y="301752"/>
            <a:ext cx="813816" cy="310896"/>
          </a:xfrm>
          <a:prstGeom prst="roundRect">
            <a:avLst>
              <a:gd name="adj" fmla="val 8000"/>
            </a:avLst>
          </a:prstGeom>
          <a:solidFill>
            <a:srgbClr val="E2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3"/>
          </p:cNvPr>
          <p:cNvSpPr txBox="1"/>
          <p:nvPr/>
        </p:nvSpPr>
        <p:spPr>
          <a:xfrm>
            <a:off x="9153144" y="384048"/>
            <a:ext cx="594360" cy="219456"/>
          </a:xfrm>
          <a:prstGeom prst="rect">
            <a:avLst/>
          </a:prstGeom>
          <a:noFill/>
        </p:spPr>
        <p:txBody>
          <a:bodyPr wrap="square" lIns="0" rIns="0" tIns="0" bIns="0">
            <a:spAutoFit/>
          </a:bodyPr>
          <a:lstStyle/>
          <a:p>
            <a:pPr algn="l">
              <a:lnSpc>
                <a:spcPct val="101000"/>
              </a:lnSpc>
              <a:spcAft>
                <a:spcPts val="300"/>
              </a:spcAft>
              <a:defRPr sz="800" b="1">
                <a:solidFill>
                  <a:srgbClr val="203350"/>
                </a:solidFill>
                <a:latin typeface="DejaVu Sans"/>
              </a:defRPr>
            </a:pPr>
            <a:r>
              <a:t>Importar</a:t>
            </a:r>
          </a:p>
        </p:txBody>
      </p:sp>
      <p:sp>
        <p:nvSpPr>
          <p:cNvPr id="7" name="Rounded Rectangle 6">
            <a:hlinkClick action="ppaction://hlinksldjump" r:id="rId4"/>
          </p:cNvPr>
          <p:cNvSpPr/>
          <p:nvPr/>
        </p:nvSpPr>
        <p:spPr>
          <a:xfrm>
            <a:off x="9921240" y="301752"/>
            <a:ext cx="813816" cy="310896"/>
          </a:xfrm>
          <a:prstGeom prst="roundRect">
            <a:avLst>
              <a:gd name="adj" fmla="val 8000"/>
            </a:avLst>
          </a:prstGeom>
          <a:solidFill>
            <a:srgbClr val="EEE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4"/>
          </p:cNvPr>
          <p:cNvSpPr txBox="1"/>
          <p:nvPr/>
        </p:nvSpPr>
        <p:spPr>
          <a:xfrm>
            <a:off x="10030967" y="384048"/>
            <a:ext cx="594360" cy="219456"/>
          </a:xfrm>
          <a:prstGeom prst="rect">
            <a:avLst/>
          </a:prstGeom>
          <a:noFill/>
        </p:spPr>
        <p:txBody>
          <a:bodyPr wrap="square" lIns="0" rIns="0" tIns="0" bIns="0">
            <a:spAutoFit/>
          </a:bodyPr>
          <a:lstStyle/>
          <a:p>
            <a:pPr algn="l">
              <a:lnSpc>
                <a:spcPct val="101000"/>
              </a:lnSpc>
              <a:spcAft>
                <a:spcPts val="300"/>
              </a:spcAft>
              <a:defRPr sz="800" b="1">
                <a:solidFill>
                  <a:srgbClr val="203350"/>
                </a:solidFill>
                <a:latin typeface="DejaVu Sans"/>
              </a:defRPr>
            </a:pPr>
            <a:r>
              <a:t>Calcular</a:t>
            </a:r>
          </a:p>
        </p:txBody>
      </p:sp>
      <p:sp>
        <p:nvSpPr>
          <p:cNvPr id="9" name="Rounded Rectangle 8">
            <a:hlinkClick action="ppaction://hlinksldjump" r:id="rId5"/>
          </p:cNvPr>
          <p:cNvSpPr/>
          <p:nvPr/>
        </p:nvSpPr>
        <p:spPr>
          <a:xfrm>
            <a:off x="10799063" y="301752"/>
            <a:ext cx="813816" cy="310896"/>
          </a:xfrm>
          <a:prstGeom prst="roundRect">
            <a:avLst>
              <a:gd name="adj" fmla="val 8000"/>
            </a:avLst>
          </a:prstGeom>
          <a:solidFill>
            <a:srgbClr val="FFF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5"/>
          </p:cNvPr>
          <p:cNvSpPr txBox="1"/>
          <p:nvPr/>
        </p:nvSpPr>
        <p:spPr>
          <a:xfrm>
            <a:off x="10908791" y="384048"/>
            <a:ext cx="594360" cy="219456"/>
          </a:xfrm>
          <a:prstGeom prst="rect">
            <a:avLst/>
          </a:prstGeom>
          <a:noFill/>
        </p:spPr>
        <p:txBody>
          <a:bodyPr wrap="square" lIns="0" rIns="0" tIns="0" bIns="0">
            <a:spAutoFit/>
          </a:bodyPr>
          <a:lstStyle/>
          <a:p>
            <a:pPr algn="l">
              <a:lnSpc>
                <a:spcPct val="101000"/>
              </a:lnSpc>
              <a:spcAft>
                <a:spcPts val="300"/>
              </a:spcAft>
              <a:defRPr sz="749" b="1">
                <a:solidFill>
                  <a:srgbClr val="203350"/>
                </a:solidFill>
                <a:latin typeface="DejaVu Sans"/>
              </a:defRPr>
            </a:pPr>
            <a:r>
              <a:t>Comprobar</a:t>
            </a:r>
          </a:p>
        </p:txBody>
      </p:sp>
      <p:sp>
        <p:nvSpPr>
          <p:cNvPr id="11" name="TextBox 10"/>
          <p:cNvSpPr txBox="1"/>
          <p:nvPr/>
        </p:nvSpPr>
        <p:spPr>
          <a:xfrm>
            <a:off x="548640" y="886968"/>
            <a:ext cx="11064240" cy="1234440"/>
          </a:xfrm>
          <a:prstGeom prst="rect">
            <a:avLst/>
          </a:prstGeom>
          <a:noFill/>
        </p:spPr>
        <p:txBody>
          <a:bodyPr wrap="square" lIns="0" rIns="0" tIns="0" bIns="0">
            <a:spAutoFit/>
          </a:bodyPr>
          <a:lstStyle/>
          <a:p>
            <a:pPr algn="l">
              <a:lnSpc>
                <a:spcPct val="101000"/>
              </a:lnSpc>
              <a:spcAft>
                <a:spcPts val="300"/>
              </a:spcAft>
              <a:defRPr sz="3900" b="1">
                <a:solidFill>
                  <a:srgbClr val="203350"/>
                </a:solidFill>
                <a:latin typeface="DejaVu Sans"/>
              </a:defRPr>
            </a:pPr>
            <a:r>
              <a:t>8. Repite una cuenta</a:t>
            </a:r>
          </a:p>
          <a:p>
            <a:pPr algn="l">
              <a:lnSpc>
                <a:spcPct val="101000"/>
              </a:lnSpc>
              <a:spcAft>
                <a:spcPts val="300"/>
              </a:spcAft>
              <a:defRPr sz="3900" b="1">
                <a:solidFill>
                  <a:srgbClr val="203350"/>
                </a:solidFill>
                <a:latin typeface="DejaVu Sans"/>
              </a:defRPr>
            </a:pPr>
            <a:r>
              <a:t>fuera del programa</a:t>
            </a:r>
          </a:p>
        </p:txBody>
      </p:sp>
      <p:sp>
        <p:nvSpPr>
          <p:cNvPr id="12" name="TextBox 11"/>
          <p:cNvSpPr txBox="1"/>
          <p:nvPr/>
        </p:nvSpPr>
        <p:spPr>
          <a:xfrm>
            <a:off x="566928" y="2121408"/>
            <a:ext cx="10972800" cy="338328"/>
          </a:xfrm>
          <a:prstGeom prst="rect">
            <a:avLst/>
          </a:prstGeom>
          <a:noFill/>
        </p:spPr>
        <p:txBody>
          <a:bodyPr wrap="square" lIns="0" rIns="0" tIns="0" bIns="0">
            <a:spAutoFit/>
          </a:bodyPr>
          <a:lstStyle/>
          <a:p>
            <a:pPr algn="l">
              <a:lnSpc>
                <a:spcPct val="101000"/>
              </a:lnSpc>
              <a:spcAft>
                <a:spcPts val="300"/>
              </a:spcAft>
              <a:defRPr sz="1450" b="0">
                <a:solidFill>
                  <a:srgbClr val="5C6E83"/>
                </a:solidFill>
                <a:latin typeface="DejaVu Sans"/>
              </a:defRPr>
            </a:pPr>
            <a:r>
              <a:t>Con el inventario de leche, calcula el indicador y contrasta el resultado.</a:t>
            </a:r>
          </a:p>
        </p:txBody>
      </p:sp>
      <p:sp>
        <p:nvSpPr>
          <p:cNvPr id="13" name="TextBox 12"/>
          <p:cNvSpPr txBox="1"/>
          <p:nvPr/>
        </p:nvSpPr>
        <p:spPr>
          <a:xfrm>
            <a:off x="548640" y="6446520"/>
            <a:ext cx="9784080" cy="219456"/>
          </a:xfrm>
          <a:prstGeom prst="rect">
            <a:avLst/>
          </a:prstGeom>
          <a:noFill/>
        </p:spPr>
        <p:txBody>
          <a:bodyPr wrap="square" lIns="0" rIns="0" tIns="0" bIns="0">
            <a:spAutoFit/>
          </a:bodyPr>
          <a:lstStyle/>
          <a:p>
            <a:pPr algn="l">
              <a:lnSpc>
                <a:spcPct val="101000"/>
              </a:lnSpc>
              <a:spcAft>
                <a:spcPts val="300"/>
              </a:spcAft>
              <a:defRPr sz="810" b="0">
                <a:solidFill>
                  <a:srgbClr val="5C6E83"/>
                </a:solidFill>
                <a:latin typeface="DejaVu Sans"/>
              </a:defRPr>
            </a:pPr>
            <a:r>
              <a:t>Comprobación independiente del método de tres gases</a:t>
            </a:r>
          </a:p>
        </p:txBody>
      </p:sp>
      <p:sp>
        <p:nvSpPr>
          <p:cNvPr id="14" name="Rounded Rectangle 13">
            <a:hlinkClick action="ppaction://hlinksldjump" r:id="rId6"/>
          </p:cNvPr>
          <p:cNvSpPr/>
          <p:nvPr/>
        </p:nvSpPr>
        <p:spPr>
          <a:xfrm>
            <a:off x="10442448" y="6400800"/>
            <a:ext cx="640080" cy="265176"/>
          </a:xfrm>
          <a:prstGeom prst="roundRect">
            <a:avLst>
              <a:gd name="adj" fmla="val 8000"/>
            </a:avLst>
          </a:prstGeom>
          <a:solidFill>
            <a:srgbClr val="EEE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a:hlinkClick action="ppaction://hlinksldjump" r:id="rId6"/>
          </p:cNvPr>
          <p:cNvSpPr txBox="1"/>
          <p:nvPr/>
        </p:nvSpPr>
        <p:spPr>
          <a:xfrm>
            <a:off x="10552176" y="6483096"/>
            <a:ext cx="420623" cy="173735"/>
          </a:xfrm>
          <a:prstGeom prst="rect">
            <a:avLst/>
          </a:prstGeom>
          <a:noFill/>
        </p:spPr>
        <p:txBody>
          <a:bodyPr wrap="square" lIns="0" rIns="0" tIns="0" bIns="0">
            <a:spAutoFit/>
          </a:bodyPr>
          <a:lstStyle/>
          <a:p>
            <a:pPr algn="l">
              <a:lnSpc>
                <a:spcPct val="101000"/>
              </a:lnSpc>
              <a:spcAft>
                <a:spcPts val="300"/>
              </a:spcAft>
              <a:defRPr sz="800" b="1">
                <a:solidFill>
                  <a:srgbClr val="8060BA"/>
                </a:solidFill>
                <a:latin typeface="DejaVu Sans"/>
              </a:defRPr>
            </a:pPr>
            <a:r>
              <a:t>Ruta</a:t>
            </a:r>
          </a:p>
        </p:txBody>
      </p:sp>
      <p:sp>
        <p:nvSpPr>
          <p:cNvPr id="16" name="TextBox 15"/>
          <p:cNvSpPr txBox="1"/>
          <p:nvPr/>
        </p:nvSpPr>
        <p:spPr>
          <a:xfrm>
            <a:off x="11228832" y="6400800"/>
            <a:ext cx="457200" cy="274320"/>
          </a:xfrm>
          <a:prstGeom prst="rect">
            <a:avLst/>
          </a:prstGeom>
          <a:noFill/>
        </p:spPr>
        <p:txBody>
          <a:bodyPr wrap="square" lIns="0" rIns="0" tIns="0" bIns="0">
            <a:spAutoFit/>
          </a:bodyPr>
          <a:lstStyle/>
          <a:p>
            <a:pPr algn="r">
              <a:lnSpc>
                <a:spcPct val="101000"/>
              </a:lnSpc>
              <a:spcAft>
                <a:spcPts val="300"/>
              </a:spcAft>
              <a:defRPr sz="1300" b="1">
                <a:solidFill>
                  <a:srgbClr val="203350"/>
                </a:solidFill>
                <a:latin typeface="DejaVu Sans"/>
              </a:defRPr>
            </a:pPr>
            <a:r>
              <a:t>14</a:t>
            </a:r>
          </a:p>
        </p:txBody>
      </p:sp>
      <p:sp>
        <p:nvSpPr>
          <p:cNvPr id="17" name="Rounded Rectangle 16"/>
          <p:cNvSpPr/>
          <p:nvPr/>
        </p:nvSpPr>
        <p:spPr>
          <a:xfrm>
            <a:off x="594360" y="2743200"/>
            <a:ext cx="4544568" cy="594360"/>
          </a:xfrm>
          <a:prstGeom prst="roundRect">
            <a:avLst>
              <a:gd name="adj" fmla="val 8000"/>
            </a:avLst>
          </a:prstGeom>
          <a:solidFill>
            <a:srgbClr val="E0F7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2880360"/>
            <a:ext cx="4297680" cy="429768"/>
          </a:xfrm>
          <a:prstGeom prst="rect">
            <a:avLst/>
          </a:prstGeom>
          <a:noFill/>
        </p:spPr>
        <p:txBody>
          <a:bodyPr wrap="square" lIns="0" rIns="0" tIns="0" bIns="0">
            <a:spAutoFit/>
          </a:bodyPr>
          <a:lstStyle/>
          <a:p>
            <a:pPr algn="l">
              <a:lnSpc>
                <a:spcPct val="101000"/>
              </a:lnSpc>
              <a:spcAft>
                <a:spcPts val="300"/>
              </a:spcAft>
              <a:defRPr sz="1500" b="1">
                <a:solidFill>
                  <a:srgbClr val="203350"/>
                </a:solidFill>
                <a:latin typeface="DejaVu Sans"/>
              </a:defRPr>
            </a:pPr>
            <a:r>
              <a:t>Inventario de leche</a:t>
            </a:r>
          </a:p>
        </p:txBody>
      </p:sp>
      <p:sp>
        <p:nvSpPr>
          <p:cNvPr id="19" name="Rounded Rectangle 18"/>
          <p:cNvSpPr/>
          <p:nvPr/>
        </p:nvSpPr>
        <p:spPr>
          <a:xfrm>
            <a:off x="5166360" y="2743200"/>
            <a:ext cx="2075688" cy="594360"/>
          </a:xfrm>
          <a:prstGeom prst="roundRect">
            <a:avLst>
              <a:gd name="adj" fmla="val 8000"/>
            </a:avLst>
          </a:prstGeom>
          <a:solidFill>
            <a:srgbClr val="E0F7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03520" y="2880360"/>
            <a:ext cx="1828799" cy="429768"/>
          </a:xfrm>
          <a:prstGeom prst="rect">
            <a:avLst/>
          </a:prstGeom>
          <a:noFill/>
        </p:spPr>
        <p:txBody>
          <a:bodyPr wrap="square" lIns="0" rIns="0" tIns="0" bIns="0">
            <a:spAutoFit/>
          </a:bodyPr>
          <a:lstStyle/>
          <a:p>
            <a:pPr algn="l">
              <a:lnSpc>
                <a:spcPct val="101000"/>
              </a:lnSpc>
              <a:spcAft>
                <a:spcPts val="300"/>
              </a:spcAft>
              <a:defRPr sz="1500" b="1">
                <a:solidFill>
                  <a:srgbClr val="203350"/>
                </a:solidFill>
                <a:latin typeface="DejaVu Sans"/>
              </a:defRPr>
            </a:pPr>
            <a:r>
              <a:t>Factor</a:t>
            </a:r>
          </a:p>
        </p:txBody>
      </p:sp>
      <p:sp>
        <p:nvSpPr>
          <p:cNvPr id="21" name="Rounded Rectangle 20"/>
          <p:cNvSpPr/>
          <p:nvPr/>
        </p:nvSpPr>
        <p:spPr>
          <a:xfrm>
            <a:off x="7269480" y="2743200"/>
            <a:ext cx="4270248" cy="594360"/>
          </a:xfrm>
          <a:prstGeom prst="roundRect">
            <a:avLst>
              <a:gd name="adj" fmla="val 8000"/>
            </a:avLst>
          </a:prstGeom>
          <a:solidFill>
            <a:srgbClr val="E0F7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2880360"/>
            <a:ext cx="4023360" cy="429768"/>
          </a:xfrm>
          <a:prstGeom prst="rect">
            <a:avLst/>
          </a:prstGeom>
          <a:noFill/>
        </p:spPr>
        <p:txBody>
          <a:bodyPr wrap="square" lIns="0" rIns="0" tIns="0" bIns="0">
            <a:spAutoFit/>
          </a:bodyPr>
          <a:lstStyle/>
          <a:p>
            <a:pPr algn="l">
              <a:lnSpc>
                <a:spcPct val="101000"/>
              </a:lnSpc>
              <a:spcAft>
                <a:spcPts val="300"/>
              </a:spcAft>
              <a:defRPr sz="1500" b="1">
                <a:solidFill>
                  <a:srgbClr val="203350"/>
                </a:solidFill>
                <a:latin typeface="DejaVu Sans"/>
              </a:defRPr>
            </a:pPr>
            <a:r>
              <a:t>Aporte</a:t>
            </a:r>
          </a:p>
        </p:txBody>
      </p:sp>
      <p:sp>
        <p:nvSpPr>
          <p:cNvPr id="23" name="Rounded Rectangle 22"/>
          <p:cNvSpPr/>
          <p:nvPr/>
        </p:nvSpPr>
        <p:spPr>
          <a:xfrm>
            <a:off x="594360" y="3383280"/>
            <a:ext cx="4544568" cy="5943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1520" y="3520440"/>
            <a:ext cx="4297680" cy="457200"/>
          </a:xfrm>
          <a:prstGeom prst="rect">
            <a:avLst/>
          </a:prstGeom>
          <a:noFill/>
        </p:spPr>
        <p:txBody>
          <a:bodyPr wrap="square" lIns="0" rIns="0" tIns="0" bIns="0">
            <a:spAutoFit/>
          </a:bodyPr>
          <a:lstStyle/>
          <a:p>
            <a:pPr algn="l">
              <a:lnSpc>
                <a:spcPct val="101000"/>
              </a:lnSpc>
              <a:spcAft>
                <a:spcPts val="300"/>
              </a:spcAft>
              <a:defRPr sz="1500" b="0">
                <a:solidFill>
                  <a:srgbClr val="203350"/>
                </a:solidFill>
                <a:latin typeface="DejaVu Sans"/>
              </a:defRPr>
            </a:pPr>
            <a:r>
              <a:t>0.39 kg CO₂</a:t>
            </a:r>
          </a:p>
        </p:txBody>
      </p:sp>
      <p:sp>
        <p:nvSpPr>
          <p:cNvPr id="25" name="Rounded Rectangle 24"/>
          <p:cNvSpPr/>
          <p:nvPr/>
        </p:nvSpPr>
        <p:spPr>
          <a:xfrm>
            <a:off x="5166360" y="3383280"/>
            <a:ext cx="2075688" cy="5943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303520" y="3520440"/>
            <a:ext cx="1828799" cy="457200"/>
          </a:xfrm>
          <a:prstGeom prst="rect">
            <a:avLst/>
          </a:prstGeom>
          <a:noFill/>
        </p:spPr>
        <p:txBody>
          <a:bodyPr wrap="square" lIns="0" rIns="0" tIns="0" bIns="0">
            <a:spAutoFit/>
          </a:bodyPr>
          <a:lstStyle/>
          <a:p>
            <a:pPr algn="l">
              <a:lnSpc>
                <a:spcPct val="101000"/>
              </a:lnSpc>
              <a:spcAft>
                <a:spcPts val="300"/>
              </a:spcAft>
              <a:defRPr sz="1500" b="0">
                <a:solidFill>
                  <a:srgbClr val="203350"/>
                </a:solidFill>
                <a:latin typeface="DejaVu Sans"/>
              </a:defRPr>
            </a:pPr>
            <a:r>
              <a:t>1</a:t>
            </a:r>
          </a:p>
        </p:txBody>
      </p:sp>
      <p:sp>
        <p:nvSpPr>
          <p:cNvPr id="27" name="Rounded Rectangle 26"/>
          <p:cNvSpPr/>
          <p:nvPr/>
        </p:nvSpPr>
        <p:spPr>
          <a:xfrm>
            <a:off x="7269480" y="3383280"/>
            <a:ext cx="4270248" cy="5943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406640" y="3520440"/>
            <a:ext cx="4023360" cy="457200"/>
          </a:xfrm>
          <a:prstGeom prst="rect">
            <a:avLst/>
          </a:prstGeom>
          <a:noFill/>
        </p:spPr>
        <p:txBody>
          <a:bodyPr wrap="square" lIns="0" rIns="0" tIns="0" bIns="0">
            <a:spAutoFit/>
          </a:bodyPr>
          <a:lstStyle/>
          <a:p>
            <a:pPr algn="l">
              <a:lnSpc>
                <a:spcPct val="101000"/>
              </a:lnSpc>
              <a:spcAft>
                <a:spcPts val="300"/>
              </a:spcAft>
              <a:defRPr sz="1500" b="0">
                <a:solidFill>
                  <a:srgbClr val="203350"/>
                </a:solidFill>
                <a:latin typeface="DejaVu Sans"/>
              </a:defRPr>
            </a:pPr>
            <a:r>
              <a:t>________</a:t>
            </a:r>
          </a:p>
        </p:txBody>
      </p:sp>
      <p:sp>
        <p:nvSpPr>
          <p:cNvPr id="29" name="Rounded Rectangle 28"/>
          <p:cNvSpPr/>
          <p:nvPr/>
        </p:nvSpPr>
        <p:spPr>
          <a:xfrm>
            <a:off x="594360" y="4023360"/>
            <a:ext cx="4544568" cy="594360"/>
          </a:xfrm>
          <a:prstGeom prst="roundRect">
            <a:avLst>
              <a:gd name="adj" fmla="val 8000"/>
            </a:avLst>
          </a:prstGeom>
          <a:solidFill>
            <a:srgbClr val="ED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1520" y="4160520"/>
            <a:ext cx="4297680" cy="457200"/>
          </a:xfrm>
          <a:prstGeom prst="rect">
            <a:avLst/>
          </a:prstGeom>
          <a:noFill/>
        </p:spPr>
        <p:txBody>
          <a:bodyPr wrap="square" lIns="0" rIns="0" tIns="0" bIns="0">
            <a:spAutoFit/>
          </a:bodyPr>
          <a:lstStyle/>
          <a:p>
            <a:pPr algn="l">
              <a:lnSpc>
                <a:spcPct val="101000"/>
              </a:lnSpc>
              <a:spcAft>
                <a:spcPts val="300"/>
              </a:spcAft>
              <a:defRPr sz="1500" b="0">
                <a:solidFill>
                  <a:srgbClr val="203350"/>
                </a:solidFill>
                <a:latin typeface="DejaVu Sans"/>
              </a:defRPr>
            </a:pPr>
            <a:r>
              <a:t>0.050007 kg CH₄</a:t>
            </a:r>
          </a:p>
        </p:txBody>
      </p:sp>
      <p:sp>
        <p:nvSpPr>
          <p:cNvPr id="31" name="Rounded Rectangle 30"/>
          <p:cNvSpPr/>
          <p:nvPr/>
        </p:nvSpPr>
        <p:spPr>
          <a:xfrm>
            <a:off x="5166360" y="4023360"/>
            <a:ext cx="2075688" cy="594360"/>
          </a:xfrm>
          <a:prstGeom prst="roundRect">
            <a:avLst>
              <a:gd name="adj" fmla="val 8000"/>
            </a:avLst>
          </a:prstGeom>
          <a:solidFill>
            <a:srgbClr val="ED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303520" y="4160520"/>
            <a:ext cx="1828799" cy="457200"/>
          </a:xfrm>
          <a:prstGeom prst="rect">
            <a:avLst/>
          </a:prstGeom>
          <a:noFill/>
        </p:spPr>
        <p:txBody>
          <a:bodyPr wrap="square" lIns="0" rIns="0" tIns="0" bIns="0">
            <a:spAutoFit/>
          </a:bodyPr>
          <a:lstStyle/>
          <a:p>
            <a:pPr algn="l">
              <a:lnSpc>
                <a:spcPct val="101000"/>
              </a:lnSpc>
              <a:spcAft>
                <a:spcPts val="300"/>
              </a:spcAft>
              <a:defRPr sz="1500" b="0">
                <a:solidFill>
                  <a:srgbClr val="203350"/>
                </a:solidFill>
                <a:latin typeface="DejaVu Sans"/>
              </a:defRPr>
            </a:pPr>
            <a:r>
              <a:t>28</a:t>
            </a:r>
          </a:p>
        </p:txBody>
      </p:sp>
      <p:sp>
        <p:nvSpPr>
          <p:cNvPr id="33" name="Rounded Rectangle 32"/>
          <p:cNvSpPr/>
          <p:nvPr/>
        </p:nvSpPr>
        <p:spPr>
          <a:xfrm>
            <a:off x="7269480" y="4023360"/>
            <a:ext cx="4270248" cy="594360"/>
          </a:xfrm>
          <a:prstGeom prst="roundRect">
            <a:avLst>
              <a:gd name="adj" fmla="val 8000"/>
            </a:avLst>
          </a:prstGeom>
          <a:solidFill>
            <a:srgbClr val="ED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406640" y="4160520"/>
            <a:ext cx="4023360" cy="457200"/>
          </a:xfrm>
          <a:prstGeom prst="rect">
            <a:avLst/>
          </a:prstGeom>
          <a:noFill/>
        </p:spPr>
        <p:txBody>
          <a:bodyPr wrap="square" lIns="0" rIns="0" tIns="0" bIns="0">
            <a:spAutoFit/>
          </a:bodyPr>
          <a:lstStyle/>
          <a:p>
            <a:pPr algn="l">
              <a:lnSpc>
                <a:spcPct val="101000"/>
              </a:lnSpc>
              <a:spcAft>
                <a:spcPts val="300"/>
              </a:spcAft>
              <a:defRPr sz="1500" b="0">
                <a:solidFill>
                  <a:srgbClr val="203350"/>
                </a:solidFill>
                <a:latin typeface="DejaVu Sans"/>
              </a:defRPr>
            </a:pPr>
            <a:r>
              <a:t>________</a:t>
            </a:r>
          </a:p>
        </p:txBody>
      </p:sp>
      <p:sp>
        <p:nvSpPr>
          <p:cNvPr id="35" name="Rounded Rectangle 34"/>
          <p:cNvSpPr/>
          <p:nvPr/>
        </p:nvSpPr>
        <p:spPr>
          <a:xfrm>
            <a:off x="594360" y="4663440"/>
            <a:ext cx="4544568" cy="5943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4800600"/>
            <a:ext cx="4297680" cy="457200"/>
          </a:xfrm>
          <a:prstGeom prst="rect">
            <a:avLst/>
          </a:prstGeom>
          <a:noFill/>
        </p:spPr>
        <p:txBody>
          <a:bodyPr wrap="square" lIns="0" rIns="0" tIns="0" bIns="0">
            <a:spAutoFit/>
          </a:bodyPr>
          <a:lstStyle/>
          <a:p>
            <a:pPr algn="l">
              <a:lnSpc>
                <a:spcPct val="101000"/>
              </a:lnSpc>
              <a:spcAft>
                <a:spcPts val="300"/>
              </a:spcAft>
              <a:defRPr sz="1500" b="0">
                <a:solidFill>
                  <a:srgbClr val="203350"/>
                </a:solidFill>
                <a:latin typeface="DejaVu Sans"/>
              </a:defRPr>
            </a:pPr>
            <a:r>
              <a:t>0.00040035 kg N₂O</a:t>
            </a:r>
          </a:p>
        </p:txBody>
      </p:sp>
      <p:sp>
        <p:nvSpPr>
          <p:cNvPr id="37" name="Rounded Rectangle 36"/>
          <p:cNvSpPr/>
          <p:nvPr/>
        </p:nvSpPr>
        <p:spPr>
          <a:xfrm>
            <a:off x="5166360" y="4663440"/>
            <a:ext cx="2075688" cy="5943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303520" y="4800600"/>
            <a:ext cx="1828799" cy="457200"/>
          </a:xfrm>
          <a:prstGeom prst="rect">
            <a:avLst/>
          </a:prstGeom>
          <a:noFill/>
        </p:spPr>
        <p:txBody>
          <a:bodyPr wrap="square" lIns="0" rIns="0" tIns="0" bIns="0">
            <a:spAutoFit/>
          </a:bodyPr>
          <a:lstStyle/>
          <a:p>
            <a:pPr algn="l">
              <a:lnSpc>
                <a:spcPct val="101000"/>
              </a:lnSpc>
              <a:spcAft>
                <a:spcPts val="300"/>
              </a:spcAft>
              <a:defRPr sz="1500" b="0">
                <a:solidFill>
                  <a:srgbClr val="203350"/>
                </a:solidFill>
                <a:latin typeface="DejaVu Sans"/>
              </a:defRPr>
            </a:pPr>
            <a:r>
              <a:t>265</a:t>
            </a:r>
          </a:p>
        </p:txBody>
      </p:sp>
      <p:sp>
        <p:nvSpPr>
          <p:cNvPr id="39" name="Rounded Rectangle 38"/>
          <p:cNvSpPr/>
          <p:nvPr/>
        </p:nvSpPr>
        <p:spPr>
          <a:xfrm>
            <a:off x="7269480" y="4663440"/>
            <a:ext cx="4270248" cy="5943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406640" y="4800600"/>
            <a:ext cx="4023360" cy="457200"/>
          </a:xfrm>
          <a:prstGeom prst="rect">
            <a:avLst/>
          </a:prstGeom>
          <a:noFill/>
        </p:spPr>
        <p:txBody>
          <a:bodyPr wrap="square" lIns="0" rIns="0" tIns="0" bIns="0">
            <a:spAutoFit/>
          </a:bodyPr>
          <a:lstStyle/>
          <a:p>
            <a:pPr algn="l">
              <a:lnSpc>
                <a:spcPct val="101000"/>
              </a:lnSpc>
              <a:spcAft>
                <a:spcPts val="300"/>
              </a:spcAft>
              <a:defRPr sz="1500" b="0">
                <a:solidFill>
                  <a:srgbClr val="203350"/>
                </a:solidFill>
                <a:latin typeface="DejaVu Sans"/>
              </a:defRPr>
            </a:pPr>
            <a:r>
              <a:t>________</a:t>
            </a:r>
          </a:p>
        </p:txBody>
      </p:sp>
      <p:sp>
        <p:nvSpPr>
          <p:cNvPr id="41" name="Rounded Rectangle 40">
            <a:hlinkClick action="ppaction://hlinksldjump" r:id="rId8"/>
          </p:cNvPr>
          <p:cNvSpPr/>
          <p:nvPr/>
        </p:nvSpPr>
        <p:spPr>
          <a:xfrm>
            <a:off x="777240" y="5650992"/>
            <a:ext cx="3200400" cy="502920"/>
          </a:xfrm>
          <a:prstGeom prst="roundRect">
            <a:avLst>
              <a:gd name="adj" fmla="val 8000"/>
            </a:avLst>
          </a:prstGeom>
          <a:solidFill>
            <a:srgbClr val="806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a:hlinkClick action="ppaction://hlinksldjump" r:id="rId8"/>
          </p:cNvPr>
          <p:cNvSpPr txBox="1"/>
          <p:nvPr/>
        </p:nvSpPr>
        <p:spPr>
          <a:xfrm>
            <a:off x="886968" y="5733288"/>
            <a:ext cx="2980944" cy="411480"/>
          </a:xfrm>
          <a:prstGeom prst="rect">
            <a:avLst/>
          </a:prstGeom>
          <a:noFill/>
        </p:spPr>
        <p:txBody>
          <a:bodyPr wrap="square" lIns="0" rIns="0" tIns="0" bIns="0">
            <a:spAutoFit/>
          </a:bodyPr>
          <a:lstStyle/>
          <a:p>
            <a:pPr algn="l">
              <a:lnSpc>
                <a:spcPct val="101000"/>
              </a:lnSpc>
              <a:spcAft>
                <a:spcPts val="300"/>
              </a:spcAft>
              <a:defRPr sz="1400" b="1">
                <a:solidFill>
                  <a:srgbClr val="FFFFFF"/>
                </a:solidFill>
                <a:latin typeface="DejaVu Sans"/>
              </a:defRPr>
            </a:pPr>
            <a:r>
              <a:t>Revelar la cuenta</a:t>
            </a:r>
          </a:p>
        </p:txBody>
      </p:sp>
      <p:sp>
        <p:nvSpPr>
          <p:cNvPr id="43" name="TextBox 42"/>
          <p:cNvSpPr txBox="1"/>
          <p:nvPr/>
        </p:nvSpPr>
        <p:spPr>
          <a:xfrm>
            <a:off x="4297680" y="5742432"/>
            <a:ext cx="7132320" cy="320040"/>
          </a:xfrm>
          <a:prstGeom prst="rect">
            <a:avLst/>
          </a:prstGeom>
          <a:noFill/>
        </p:spPr>
        <p:txBody>
          <a:bodyPr wrap="square" lIns="0" rIns="0" tIns="0" bIns="0">
            <a:spAutoFit/>
          </a:bodyPr>
          <a:lstStyle/>
          <a:p>
            <a:pPr algn="l">
              <a:lnSpc>
                <a:spcPct val="101000"/>
              </a:lnSpc>
              <a:spcAft>
                <a:spcPts val="300"/>
              </a:spcAft>
              <a:defRPr sz="1500" b="0">
                <a:solidFill>
                  <a:srgbClr val="203350"/>
                </a:solidFill>
                <a:latin typeface="DejaVu Sans"/>
              </a:defRPr>
            </a:pPr>
            <a:r>
              <a:t>Calcula antes de consultar la respuesta.</a:t>
            </a:r>
          </a:p>
        </p:txBody>
      </p:sp>
    </p:spTree>
  </p:cSld>
  <p:clrMapOvr>
    <a:masterClrMapping/>
  </p:clrMapOvr>
  <p:transition advClick="1">
    <p:fade/>
  </p:transition>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9FBFF"/>
        </a:solidFill>
        <a:effectLst/>
      </p:bgPr>
    </p:bg>
    <p:spTree>
      <p:nvGrpSpPr>
        <p:cNvPr id="1" name=""/>
        <p:cNvGrpSpPr/>
        <p:nvPr/>
      </p:nvGrpSpPr>
      <p:grpSpPr/>
      <p:sp>
        <p:nvSpPr>
          <p:cNvPr id="2" name="TextBox 1"/>
          <p:cNvSpPr txBox="1"/>
          <p:nvPr/>
        </p:nvSpPr>
        <p:spPr>
          <a:xfrm>
            <a:off x="548640" y="365760"/>
            <a:ext cx="7223760" cy="228600"/>
          </a:xfrm>
          <a:prstGeom prst="rect">
            <a:avLst/>
          </a:prstGeom>
          <a:noFill/>
        </p:spPr>
        <p:txBody>
          <a:bodyPr wrap="square" lIns="0" rIns="0" tIns="0" bIns="0">
            <a:spAutoFit/>
          </a:bodyPr>
          <a:lstStyle/>
          <a:p>
            <a:pPr algn="l">
              <a:lnSpc>
                <a:spcPct val="101000"/>
              </a:lnSpc>
              <a:spcAft>
                <a:spcPts val="300"/>
              </a:spcAft>
              <a:defRPr sz="930" b="1">
                <a:solidFill>
                  <a:srgbClr val="8060BA"/>
                </a:solidFill>
                <a:latin typeface="DejaVu Sans"/>
              </a:defRPr>
            </a:pPr>
            <a:r>
              <a:t>COMPROBACIÓN DE DATOS Y MODELO</a:t>
            </a:r>
          </a:p>
        </p:txBody>
      </p:sp>
      <p:sp>
        <p:nvSpPr>
          <p:cNvPr id="3" name="Rounded Rectangle 2">
            <a:hlinkClick action="ppaction://hlinksldjump" r:id="rId2"/>
          </p:cNvPr>
          <p:cNvSpPr/>
          <p:nvPr/>
        </p:nvSpPr>
        <p:spPr>
          <a:xfrm>
            <a:off x="8165592" y="301752"/>
            <a:ext cx="813816" cy="310896"/>
          </a:xfrm>
          <a:prstGeom prst="roundRect">
            <a:avLst>
              <a:gd name="adj" fmla="val 8000"/>
            </a:avLst>
          </a:prstGeom>
          <a:solidFill>
            <a:srgbClr val="E0F7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2"/>
          </p:cNvPr>
          <p:cNvSpPr txBox="1"/>
          <p:nvPr/>
        </p:nvSpPr>
        <p:spPr>
          <a:xfrm>
            <a:off x="8275319" y="384048"/>
            <a:ext cx="594360" cy="219456"/>
          </a:xfrm>
          <a:prstGeom prst="rect">
            <a:avLst/>
          </a:prstGeom>
          <a:noFill/>
        </p:spPr>
        <p:txBody>
          <a:bodyPr wrap="square" lIns="0" rIns="0" tIns="0" bIns="0">
            <a:spAutoFit/>
          </a:bodyPr>
          <a:lstStyle/>
          <a:p>
            <a:pPr algn="l">
              <a:lnSpc>
                <a:spcPct val="101000"/>
              </a:lnSpc>
              <a:spcAft>
                <a:spcPts val="300"/>
              </a:spcAft>
              <a:defRPr sz="800" b="1">
                <a:solidFill>
                  <a:srgbClr val="203350"/>
                </a:solidFill>
                <a:latin typeface="DejaVu Sans"/>
              </a:defRPr>
            </a:pPr>
            <a:r>
              <a:t>Preparar</a:t>
            </a:r>
          </a:p>
        </p:txBody>
      </p:sp>
      <p:sp>
        <p:nvSpPr>
          <p:cNvPr id="5" name="Rounded Rectangle 4">
            <a:hlinkClick action="ppaction://hlinksldjump" r:id="rId3"/>
          </p:cNvPr>
          <p:cNvSpPr/>
          <p:nvPr/>
        </p:nvSpPr>
        <p:spPr>
          <a:xfrm>
            <a:off x="9043416" y="301752"/>
            <a:ext cx="813816" cy="310896"/>
          </a:xfrm>
          <a:prstGeom prst="roundRect">
            <a:avLst>
              <a:gd name="adj" fmla="val 8000"/>
            </a:avLst>
          </a:prstGeom>
          <a:solidFill>
            <a:srgbClr val="E2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3"/>
          </p:cNvPr>
          <p:cNvSpPr txBox="1"/>
          <p:nvPr/>
        </p:nvSpPr>
        <p:spPr>
          <a:xfrm>
            <a:off x="9153144" y="384048"/>
            <a:ext cx="594360" cy="219456"/>
          </a:xfrm>
          <a:prstGeom prst="rect">
            <a:avLst/>
          </a:prstGeom>
          <a:noFill/>
        </p:spPr>
        <p:txBody>
          <a:bodyPr wrap="square" lIns="0" rIns="0" tIns="0" bIns="0">
            <a:spAutoFit/>
          </a:bodyPr>
          <a:lstStyle/>
          <a:p>
            <a:pPr algn="l">
              <a:lnSpc>
                <a:spcPct val="101000"/>
              </a:lnSpc>
              <a:spcAft>
                <a:spcPts val="300"/>
              </a:spcAft>
              <a:defRPr sz="800" b="1">
                <a:solidFill>
                  <a:srgbClr val="203350"/>
                </a:solidFill>
                <a:latin typeface="DejaVu Sans"/>
              </a:defRPr>
            </a:pPr>
            <a:r>
              <a:t>Importar</a:t>
            </a:r>
          </a:p>
        </p:txBody>
      </p:sp>
      <p:sp>
        <p:nvSpPr>
          <p:cNvPr id="7" name="Rounded Rectangle 6">
            <a:hlinkClick action="ppaction://hlinksldjump" r:id="rId4"/>
          </p:cNvPr>
          <p:cNvSpPr/>
          <p:nvPr/>
        </p:nvSpPr>
        <p:spPr>
          <a:xfrm>
            <a:off x="9921240" y="301752"/>
            <a:ext cx="813816" cy="310896"/>
          </a:xfrm>
          <a:prstGeom prst="roundRect">
            <a:avLst>
              <a:gd name="adj" fmla="val 8000"/>
            </a:avLst>
          </a:prstGeom>
          <a:solidFill>
            <a:srgbClr val="EEE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4"/>
          </p:cNvPr>
          <p:cNvSpPr txBox="1"/>
          <p:nvPr/>
        </p:nvSpPr>
        <p:spPr>
          <a:xfrm>
            <a:off x="10030967" y="384048"/>
            <a:ext cx="594360" cy="219456"/>
          </a:xfrm>
          <a:prstGeom prst="rect">
            <a:avLst/>
          </a:prstGeom>
          <a:noFill/>
        </p:spPr>
        <p:txBody>
          <a:bodyPr wrap="square" lIns="0" rIns="0" tIns="0" bIns="0">
            <a:spAutoFit/>
          </a:bodyPr>
          <a:lstStyle/>
          <a:p>
            <a:pPr algn="l">
              <a:lnSpc>
                <a:spcPct val="101000"/>
              </a:lnSpc>
              <a:spcAft>
                <a:spcPts val="300"/>
              </a:spcAft>
              <a:defRPr sz="800" b="1">
                <a:solidFill>
                  <a:srgbClr val="203350"/>
                </a:solidFill>
                <a:latin typeface="DejaVu Sans"/>
              </a:defRPr>
            </a:pPr>
            <a:r>
              <a:t>Calcular</a:t>
            </a:r>
          </a:p>
        </p:txBody>
      </p:sp>
      <p:sp>
        <p:nvSpPr>
          <p:cNvPr id="9" name="Rounded Rectangle 8">
            <a:hlinkClick action="ppaction://hlinksldjump" r:id="rId5"/>
          </p:cNvPr>
          <p:cNvSpPr/>
          <p:nvPr/>
        </p:nvSpPr>
        <p:spPr>
          <a:xfrm>
            <a:off x="10799063" y="301752"/>
            <a:ext cx="813816" cy="310896"/>
          </a:xfrm>
          <a:prstGeom prst="roundRect">
            <a:avLst>
              <a:gd name="adj" fmla="val 8000"/>
            </a:avLst>
          </a:prstGeom>
          <a:solidFill>
            <a:srgbClr val="FFF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5"/>
          </p:cNvPr>
          <p:cNvSpPr txBox="1"/>
          <p:nvPr/>
        </p:nvSpPr>
        <p:spPr>
          <a:xfrm>
            <a:off x="10908791" y="384048"/>
            <a:ext cx="594360" cy="219456"/>
          </a:xfrm>
          <a:prstGeom prst="rect">
            <a:avLst/>
          </a:prstGeom>
          <a:noFill/>
        </p:spPr>
        <p:txBody>
          <a:bodyPr wrap="square" lIns="0" rIns="0" tIns="0" bIns="0">
            <a:spAutoFit/>
          </a:bodyPr>
          <a:lstStyle/>
          <a:p>
            <a:pPr algn="l">
              <a:lnSpc>
                <a:spcPct val="101000"/>
              </a:lnSpc>
              <a:spcAft>
                <a:spcPts val="300"/>
              </a:spcAft>
              <a:defRPr sz="749" b="1">
                <a:solidFill>
                  <a:srgbClr val="203350"/>
                </a:solidFill>
                <a:latin typeface="DejaVu Sans"/>
              </a:defRPr>
            </a:pPr>
            <a:r>
              <a:t>Comprobar</a:t>
            </a:r>
          </a:p>
        </p:txBody>
      </p:sp>
      <p:sp>
        <p:nvSpPr>
          <p:cNvPr id="11" name="TextBox 10"/>
          <p:cNvSpPr txBox="1"/>
          <p:nvPr/>
        </p:nvSpPr>
        <p:spPr>
          <a:xfrm>
            <a:off x="548640" y="886968"/>
            <a:ext cx="11064240" cy="1234440"/>
          </a:xfrm>
          <a:prstGeom prst="rect">
            <a:avLst/>
          </a:prstGeom>
          <a:noFill/>
        </p:spPr>
        <p:txBody>
          <a:bodyPr wrap="square" lIns="0" rIns="0" tIns="0" bIns="0">
            <a:spAutoFit/>
          </a:bodyPr>
          <a:lstStyle/>
          <a:p>
            <a:pPr algn="l">
              <a:lnSpc>
                <a:spcPct val="101000"/>
              </a:lnSpc>
              <a:spcAft>
                <a:spcPts val="300"/>
              </a:spcAft>
              <a:defRPr sz="3900" b="1">
                <a:solidFill>
                  <a:srgbClr val="203350"/>
                </a:solidFill>
                <a:latin typeface="DejaVu Sans"/>
              </a:defRPr>
            </a:pPr>
            <a:r>
              <a:t>9. Una cifra coherente</a:t>
            </a:r>
          </a:p>
          <a:p>
            <a:pPr algn="l">
              <a:lnSpc>
                <a:spcPct val="101000"/>
              </a:lnSpc>
              <a:spcAft>
                <a:spcPts val="300"/>
              </a:spcAft>
              <a:defRPr sz="3900" b="1">
                <a:solidFill>
                  <a:srgbClr val="203350"/>
                </a:solidFill>
                <a:latin typeface="DejaVu Sans"/>
              </a:defRPr>
            </a:pPr>
            <a:r>
              <a:t>necesita varias revisiones</a:t>
            </a:r>
          </a:p>
        </p:txBody>
      </p:sp>
      <p:sp>
        <p:nvSpPr>
          <p:cNvPr id="12" name="TextBox 11"/>
          <p:cNvSpPr txBox="1"/>
          <p:nvPr/>
        </p:nvSpPr>
        <p:spPr>
          <a:xfrm>
            <a:off x="566928" y="2121408"/>
            <a:ext cx="10972800" cy="338328"/>
          </a:xfrm>
          <a:prstGeom prst="rect">
            <a:avLst/>
          </a:prstGeom>
          <a:noFill/>
        </p:spPr>
        <p:txBody>
          <a:bodyPr wrap="square" lIns="0" rIns="0" tIns="0" bIns="0">
            <a:spAutoFit/>
          </a:bodyPr>
          <a:lstStyle/>
          <a:p>
            <a:pPr algn="l">
              <a:lnSpc>
                <a:spcPct val="101000"/>
              </a:lnSpc>
              <a:spcAft>
                <a:spcPts val="300"/>
              </a:spcAft>
              <a:defRPr sz="1450" b="0">
                <a:solidFill>
                  <a:srgbClr val="5C6E83"/>
                </a:solidFill>
                <a:latin typeface="DejaVu Sans"/>
              </a:defRPr>
            </a:pPr>
            <a:r>
              <a:t>Archivo → estructura → cálculo → representatividad</a:t>
            </a:r>
          </a:p>
        </p:txBody>
      </p:sp>
      <p:sp>
        <p:nvSpPr>
          <p:cNvPr id="13" name="TextBox 12"/>
          <p:cNvSpPr txBox="1"/>
          <p:nvPr/>
        </p:nvSpPr>
        <p:spPr>
          <a:xfrm>
            <a:off x="548640" y="6446520"/>
            <a:ext cx="9784080" cy="219456"/>
          </a:xfrm>
          <a:prstGeom prst="rect">
            <a:avLst/>
          </a:prstGeom>
          <a:noFill/>
        </p:spPr>
        <p:txBody>
          <a:bodyPr wrap="square" lIns="0" rIns="0" tIns="0" bIns="0">
            <a:spAutoFit/>
          </a:bodyPr>
          <a:lstStyle/>
          <a:p>
            <a:pPr algn="l">
              <a:lnSpc>
                <a:spcPct val="101000"/>
              </a:lnSpc>
              <a:spcAft>
                <a:spcPts val="300"/>
              </a:spcAft>
              <a:defRPr sz="810" b="0">
                <a:solidFill>
                  <a:srgbClr val="5C6E83"/>
                </a:solidFill>
                <a:latin typeface="DejaVu Sans"/>
              </a:defRPr>
            </a:pPr>
            <a:r>
              <a:t>Manual: Validation; Database → Validate; Check linking properties</a:t>
            </a:r>
          </a:p>
        </p:txBody>
      </p:sp>
      <p:sp>
        <p:nvSpPr>
          <p:cNvPr id="14" name="Rounded Rectangle 13">
            <a:hlinkClick action="ppaction://hlinksldjump" r:id="rId6"/>
          </p:cNvPr>
          <p:cNvSpPr/>
          <p:nvPr/>
        </p:nvSpPr>
        <p:spPr>
          <a:xfrm>
            <a:off x="10442448" y="6400800"/>
            <a:ext cx="640080" cy="265176"/>
          </a:xfrm>
          <a:prstGeom prst="roundRect">
            <a:avLst>
              <a:gd name="adj" fmla="val 8000"/>
            </a:avLst>
          </a:prstGeom>
          <a:solidFill>
            <a:srgbClr val="EEE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a:hlinkClick action="ppaction://hlinksldjump" r:id="rId6"/>
          </p:cNvPr>
          <p:cNvSpPr txBox="1"/>
          <p:nvPr/>
        </p:nvSpPr>
        <p:spPr>
          <a:xfrm>
            <a:off x="10552176" y="6483096"/>
            <a:ext cx="420623" cy="173735"/>
          </a:xfrm>
          <a:prstGeom prst="rect">
            <a:avLst/>
          </a:prstGeom>
          <a:noFill/>
        </p:spPr>
        <p:txBody>
          <a:bodyPr wrap="square" lIns="0" rIns="0" tIns="0" bIns="0">
            <a:spAutoFit/>
          </a:bodyPr>
          <a:lstStyle/>
          <a:p>
            <a:pPr algn="l">
              <a:lnSpc>
                <a:spcPct val="101000"/>
              </a:lnSpc>
              <a:spcAft>
                <a:spcPts val="300"/>
              </a:spcAft>
              <a:defRPr sz="800" b="1">
                <a:solidFill>
                  <a:srgbClr val="8060BA"/>
                </a:solidFill>
                <a:latin typeface="DejaVu Sans"/>
              </a:defRPr>
            </a:pPr>
            <a:r>
              <a:t>Ruta</a:t>
            </a:r>
          </a:p>
        </p:txBody>
      </p:sp>
      <p:sp>
        <p:nvSpPr>
          <p:cNvPr id="16" name="TextBox 15"/>
          <p:cNvSpPr txBox="1"/>
          <p:nvPr/>
        </p:nvSpPr>
        <p:spPr>
          <a:xfrm>
            <a:off x="11228832" y="6400800"/>
            <a:ext cx="457200" cy="274320"/>
          </a:xfrm>
          <a:prstGeom prst="rect">
            <a:avLst/>
          </a:prstGeom>
          <a:noFill/>
        </p:spPr>
        <p:txBody>
          <a:bodyPr wrap="square" lIns="0" rIns="0" tIns="0" bIns="0">
            <a:spAutoFit/>
          </a:bodyPr>
          <a:lstStyle/>
          <a:p>
            <a:pPr algn="r">
              <a:lnSpc>
                <a:spcPct val="101000"/>
              </a:lnSpc>
              <a:spcAft>
                <a:spcPts val="300"/>
              </a:spcAft>
              <a:defRPr sz="1300" b="1">
                <a:solidFill>
                  <a:srgbClr val="203350"/>
                </a:solidFill>
                <a:latin typeface="DejaVu Sans"/>
              </a:defRPr>
            </a:pPr>
            <a:r>
              <a:t>15</a:t>
            </a:r>
          </a:p>
        </p:txBody>
      </p:sp>
      <p:pic>
        <p:nvPicPr>
          <p:cNvPr id="17" name="Picture 16" descr="checks.png"/>
          <p:cNvPicPr>
            <a:picLocks noChangeAspect="1"/>
          </p:cNvPicPr>
          <p:nvPr/>
        </p:nvPicPr>
        <p:blipFill>
          <a:blip r:embed="rId8"/>
          <a:stretch>
            <a:fillRect/>
          </a:stretch>
        </p:blipFill>
        <p:spPr>
          <a:xfrm>
            <a:off x="594360" y="2633472"/>
            <a:ext cx="10972800" cy="3438144"/>
          </a:xfrm>
          <a:prstGeom prst="rect">
            <a:avLst/>
          </a:prstGeom>
        </p:spPr>
      </p:pic>
    </p:spTree>
  </p:cSld>
  <p:clrMapOvr>
    <a:masterClrMapping/>
  </p:clrMapOvr>
  <p:transition advClick="1">
    <p:fade/>
  </p:transition>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9FBFF"/>
        </a:solidFill>
        <a:effectLst/>
      </p:bgPr>
    </p:bg>
    <p:spTree>
      <p:nvGrpSpPr>
        <p:cNvPr id="1" name=""/>
        <p:cNvGrpSpPr/>
        <p:nvPr/>
      </p:nvGrpSpPr>
      <p:grpSpPr/>
      <p:sp>
        <p:nvSpPr>
          <p:cNvPr id="2" name="TextBox 1"/>
          <p:cNvSpPr txBox="1"/>
          <p:nvPr/>
        </p:nvSpPr>
        <p:spPr>
          <a:xfrm>
            <a:off x="548640" y="365760"/>
            <a:ext cx="7223760" cy="228600"/>
          </a:xfrm>
          <a:prstGeom prst="rect">
            <a:avLst/>
          </a:prstGeom>
          <a:noFill/>
        </p:spPr>
        <p:txBody>
          <a:bodyPr wrap="square" lIns="0" rIns="0" tIns="0" bIns="0">
            <a:spAutoFit/>
          </a:bodyPr>
          <a:lstStyle/>
          <a:p>
            <a:pPr algn="l">
              <a:lnSpc>
                <a:spcPct val="101000"/>
              </a:lnSpc>
              <a:spcAft>
                <a:spcPts val="300"/>
              </a:spcAft>
              <a:defRPr sz="930" b="1">
                <a:solidFill>
                  <a:srgbClr val="8060BA"/>
                </a:solidFill>
                <a:latin typeface="DejaVu Sans"/>
              </a:defRPr>
            </a:pPr>
            <a:r>
              <a:t>COMPROBACIÓN DE COBERTURA</a:t>
            </a:r>
          </a:p>
        </p:txBody>
      </p:sp>
      <p:sp>
        <p:nvSpPr>
          <p:cNvPr id="3" name="Rounded Rectangle 2">
            <a:hlinkClick action="ppaction://hlinksldjump" r:id="rId2"/>
          </p:cNvPr>
          <p:cNvSpPr/>
          <p:nvPr/>
        </p:nvSpPr>
        <p:spPr>
          <a:xfrm>
            <a:off x="8165592" y="301752"/>
            <a:ext cx="813816" cy="310896"/>
          </a:xfrm>
          <a:prstGeom prst="roundRect">
            <a:avLst>
              <a:gd name="adj" fmla="val 8000"/>
            </a:avLst>
          </a:prstGeom>
          <a:solidFill>
            <a:srgbClr val="E0F7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2"/>
          </p:cNvPr>
          <p:cNvSpPr txBox="1"/>
          <p:nvPr/>
        </p:nvSpPr>
        <p:spPr>
          <a:xfrm>
            <a:off x="8275319" y="384048"/>
            <a:ext cx="594360" cy="219456"/>
          </a:xfrm>
          <a:prstGeom prst="rect">
            <a:avLst/>
          </a:prstGeom>
          <a:noFill/>
        </p:spPr>
        <p:txBody>
          <a:bodyPr wrap="square" lIns="0" rIns="0" tIns="0" bIns="0">
            <a:spAutoFit/>
          </a:bodyPr>
          <a:lstStyle/>
          <a:p>
            <a:pPr algn="l">
              <a:lnSpc>
                <a:spcPct val="101000"/>
              </a:lnSpc>
              <a:spcAft>
                <a:spcPts val="300"/>
              </a:spcAft>
              <a:defRPr sz="800" b="1">
                <a:solidFill>
                  <a:srgbClr val="203350"/>
                </a:solidFill>
                <a:latin typeface="DejaVu Sans"/>
              </a:defRPr>
            </a:pPr>
            <a:r>
              <a:t>Preparar</a:t>
            </a:r>
          </a:p>
        </p:txBody>
      </p:sp>
      <p:sp>
        <p:nvSpPr>
          <p:cNvPr id="5" name="Rounded Rectangle 4">
            <a:hlinkClick action="ppaction://hlinksldjump" r:id="rId3"/>
          </p:cNvPr>
          <p:cNvSpPr/>
          <p:nvPr/>
        </p:nvSpPr>
        <p:spPr>
          <a:xfrm>
            <a:off x="9043416" y="301752"/>
            <a:ext cx="813816" cy="310896"/>
          </a:xfrm>
          <a:prstGeom prst="roundRect">
            <a:avLst>
              <a:gd name="adj" fmla="val 8000"/>
            </a:avLst>
          </a:prstGeom>
          <a:solidFill>
            <a:srgbClr val="E2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3"/>
          </p:cNvPr>
          <p:cNvSpPr txBox="1"/>
          <p:nvPr/>
        </p:nvSpPr>
        <p:spPr>
          <a:xfrm>
            <a:off x="9153144" y="384048"/>
            <a:ext cx="594360" cy="219456"/>
          </a:xfrm>
          <a:prstGeom prst="rect">
            <a:avLst/>
          </a:prstGeom>
          <a:noFill/>
        </p:spPr>
        <p:txBody>
          <a:bodyPr wrap="square" lIns="0" rIns="0" tIns="0" bIns="0">
            <a:spAutoFit/>
          </a:bodyPr>
          <a:lstStyle/>
          <a:p>
            <a:pPr algn="l">
              <a:lnSpc>
                <a:spcPct val="101000"/>
              </a:lnSpc>
              <a:spcAft>
                <a:spcPts val="300"/>
              </a:spcAft>
              <a:defRPr sz="800" b="1">
                <a:solidFill>
                  <a:srgbClr val="203350"/>
                </a:solidFill>
                <a:latin typeface="DejaVu Sans"/>
              </a:defRPr>
            </a:pPr>
            <a:r>
              <a:t>Importar</a:t>
            </a:r>
          </a:p>
        </p:txBody>
      </p:sp>
      <p:sp>
        <p:nvSpPr>
          <p:cNvPr id="7" name="Rounded Rectangle 6">
            <a:hlinkClick action="ppaction://hlinksldjump" r:id="rId4"/>
          </p:cNvPr>
          <p:cNvSpPr/>
          <p:nvPr/>
        </p:nvSpPr>
        <p:spPr>
          <a:xfrm>
            <a:off x="9921240" y="301752"/>
            <a:ext cx="813816" cy="310896"/>
          </a:xfrm>
          <a:prstGeom prst="roundRect">
            <a:avLst>
              <a:gd name="adj" fmla="val 8000"/>
            </a:avLst>
          </a:prstGeom>
          <a:solidFill>
            <a:srgbClr val="EEE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4"/>
          </p:cNvPr>
          <p:cNvSpPr txBox="1"/>
          <p:nvPr/>
        </p:nvSpPr>
        <p:spPr>
          <a:xfrm>
            <a:off x="10030967" y="384048"/>
            <a:ext cx="594360" cy="219456"/>
          </a:xfrm>
          <a:prstGeom prst="rect">
            <a:avLst/>
          </a:prstGeom>
          <a:noFill/>
        </p:spPr>
        <p:txBody>
          <a:bodyPr wrap="square" lIns="0" rIns="0" tIns="0" bIns="0">
            <a:spAutoFit/>
          </a:bodyPr>
          <a:lstStyle/>
          <a:p>
            <a:pPr algn="l">
              <a:lnSpc>
                <a:spcPct val="101000"/>
              </a:lnSpc>
              <a:spcAft>
                <a:spcPts val="300"/>
              </a:spcAft>
              <a:defRPr sz="800" b="1">
                <a:solidFill>
                  <a:srgbClr val="203350"/>
                </a:solidFill>
                <a:latin typeface="DejaVu Sans"/>
              </a:defRPr>
            </a:pPr>
            <a:r>
              <a:t>Calcular</a:t>
            </a:r>
          </a:p>
        </p:txBody>
      </p:sp>
      <p:sp>
        <p:nvSpPr>
          <p:cNvPr id="9" name="Rounded Rectangle 8">
            <a:hlinkClick action="ppaction://hlinksldjump" r:id="rId5"/>
          </p:cNvPr>
          <p:cNvSpPr/>
          <p:nvPr/>
        </p:nvSpPr>
        <p:spPr>
          <a:xfrm>
            <a:off x="10799063" y="301752"/>
            <a:ext cx="813816" cy="310896"/>
          </a:xfrm>
          <a:prstGeom prst="roundRect">
            <a:avLst>
              <a:gd name="adj" fmla="val 8000"/>
            </a:avLst>
          </a:prstGeom>
          <a:solidFill>
            <a:srgbClr val="FFF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5"/>
          </p:cNvPr>
          <p:cNvSpPr txBox="1"/>
          <p:nvPr/>
        </p:nvSpPr>
        <p:spPr>
          <a:xfrm>
            <a:off x="10908791" y="384048"/>
            <a:ext cx="594360" cy="219456"/>
          </a:xfrm>
          <a:prstGeom prst="rect">
            <a:avLst/>
          </a:prstGeom>
          <a:noFill/>
        </p:spPr>
        <p:txBody>
          <a:bodyPr wrap="square" lIns="0" rIns="0" tIns="0" bIns="0">
            <a:spAutoFit/>
          </a:bodyPr>
          <a:lstStyle/>
          <a:p>
            <a:pPr algn="l">
              <a:lnSpc>
                <a:spcPct val="101000"/>
              </a:lnSpc>
              <a:spcAft>
                <a:spcPts val="300"/>
              </a:spcAft>
              <a:defRPr sz="749" b="1">
                <a:solidFill>
                  <a:srgbClr val="203350"/>
                </a:solidFill>
                <a:latin typeface="DejaVu Sans"/>
              </a:defRPr>
            </a:pPr>
            <a:r>
              <a:t>Comprobar</a:t>
            </a:r>
          </a:p>
        </p:txBody>
      </p:sp>
      <p:sp>
        <p:nvSpPr>
          <p:cNvPr id="11" name="TextBox 10"/>
          <p:cNvSpPr txBox="1"/>
          <p:nvPr/>
        </p:nvSpPr>
        <p:spPr>
          <a:xfrm>
            <a:off x="548640" y="886968"/>
            <a:ext cx="11064240" cy="1234440"/>
          </a:xfrm>
          <a:prstGeom prst="rect">
            <a:avLst/>
          </a:prstGeom>
          <a:noFill/>
        </p:spPr>
        <p:txBody>
          <a:bodyPr wrap="square" lIns="0" rIns="0" tIns="0" bIns="0">
            <a:spAutoFit/>
          </a:bodyPr>
          <a:lstStyle/>
          <a:p>
            <a:pPr algn="l">
              <a:lnSpc>
                <a:spcPct val="101000"/>
              </a:lnSpc>
              <a:spcAft>
                <a:spcPts val="300"/>
              </a:spcAft>
              <a:defRPr sz="3900" b="1">
                <a:solidFill>
                  <a:srgbClr val="203350"/>
                </a:solidFill>
                <a:latin typeface="DejaVu Sans"/>
              </a:defRPr>
            </a:pPr>
            <a:r>
              <a:t>10. Un flujo sin factor</a:t>
            </a:r>
          </a:p>
          <a:p>
            <a:pPr algn="l">
              <a:lnSpc>
                <a:spcPct val="101000"/>
              </a:lnSpc>
              <a:spcAft>
                <a:spcPts val="300"/>
              </a:spcAft>
              <a:defRPr sz="3900" b="1">
                <a:solidFill>
                  <a:srgbClr val="203350"/>
                </a:solidFill>
                <a:latin typeface="DejaVu Sans"/>
              </a:defRPr>
            </a:pPr>
            <a:r>
              <a:t>no equivale a impacto cero</a:t>
            </a:r>
          </a:p>
        </p:txBody>
      </p:sp>
      <p:sp>
        <p:nvSpPr>
          <p:cNvPr id="12" name="TextBox 11"/>
          <p:cNvSpPr txBox="1"/>
          <p:nvPr/>
        </p:nvSpPr>
        <p:spPr>
          <a:xfrm>
            <a:off x="566928" y="2121408"/>
            <a:ext cx="10972800" cy="338328"/>
          </a:xfrm>
          <a:prstGeom prst="rect">
            <a:avLst/>
          </a:prstGeom>
          <a:noFill/>
        </p:spPr>
        <p:txBody>
          <a:bodyPr wrap="square" lIns="0" rIns="0" tIns="0" bIns="0">
            <a:spAutoFit/>
          </a:bodyPr>
          <a:lstStyle/>
          <a:p>
            <a:pPr algn="l">
              <a:lnSpc>
                <a:spcPct val="101000"/>
              </a:lnSpc>
              <a:spcAft>
                <a:spcPts val="300"/>
              </a:spcAft>
              <a:defRPr sz="1450" b="0">
                <a:solidFill>
                  <a:srgbClr val="5C6E83"/>
                </a:solidFill>
                <a:latin typeface="DejaVu Sans"/>
              </a:defRPr>
            </a:pPr>
            <a:r>
              <a:t>En LCIA checks, revisa qué no caracteriza la categoría elegida.</a:t>
            </a:r>
          </a:p>
        </p:txBody>
      </p:sp>
      <p:sp>
        <p:nvSpPr>
          <p:cNvPr id="13" name="TextBox 12"/>
          <p:cNvSpPr txBox="1"/>
          <p:nvPr/>
        </p:nvSpPr>
        <p:spPr>
          <a:xfrm>
            <a:off x="548640" y="6446520"/>
            <a:ext cx="9784080" cy="219456"/>
          </a:xfrm>
          <a:prstGeom prst="rect">
            <a:avLst/>
          </a:prstGeom>
          <a:noFill/>
        </p:spPr>
        <p:txBody>
          <a:bodyPr wrap="square" lIns="0" rIns="0" tIns="0" bIns="0">
            <a:spAutoFit/>
          </a:bodyPr>
          <a:lstStyle/>
          <a:p>
            <a:pPr algn="l">
              <a:lnSpc>
                <a:spcPct val="101000"/>
              </a:lnSpc>
              <a:spcAft>
                <a:spcPts val="300"/>
              </a:spcAft>
              <a:defRPr sz="810" b="0">
                <a:solidFill>
                  <a:srgbClr val="5C6E83"/>
                </a:solidFill>
                <a:latin typeface="DejaVu Sans"/>
              </a:defRPr>
            </a:pPr>
            <a:r>
              <a:t>Manual: LCIA checks · cobertura intencional de la categoría docente</a:t>
            </a:r>
          </a:p>
        </p:txBody>
      </p:sp>
      <p:sp>
        <p:nvSpPr>
          <p:cNvPr id="14" name="Rounded Rectangle 13">
            <a:hlinkClick action="ppaction://hlinksldjump" r:id="rId6"/>
          </p:cNvPr>
          <p:cNvSpPr/>
          <p:nvPr/>
        </p:nvSpPr>
        <p:spPr>
          <a:xfrm>
            <a:off x="10442448" y="6400800"/>
            <a:ext cx="640080" cy="265176"/>
          </a:xfrm>
          <a:prstGeom prst="roundRect">
            <a:avLst>
              <a:gd name="adj" fmla="val 8000"/>
            </a:avLst>
          </a:prstGeom>
          <a:solidFill>
            <a:srgbClr val="EEE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a:hlinkClick action="ppaction://hlinksldjump" r:id="rId6"/>
          </p:cNvPr>
          <p:cNvSpPr txBox="1"/>
          <p:nvPr/>
        </p:nvSpPr>
        <p:spPr>
          <a:xfrm>
            <a:off x="10552176" y="6483096"/>
            <a:ext cx="420623" cy="173735"/>
          </a:xfrm>
          <a:prstGeom prst="rect">
            <a:avLst/>
          </a:prstGeom>
          <a:noFill/>
        </p:spPr>
        <p:txBody>
          <a:bodyPr wrap="square" lIns="0" rIns="0" tIns="0" bIns="0">
            <a:spAutoFit/>
          </a:bodyPr>
          <a:lstStyle/>
          <a:p>
            <a:pPr algn="l">
              <a:lnSpc>
                <a:spcPct val="101000"/>
              </a:lnSpc>
              <a:spcAft>
                <a:spcPts val="300"/>
              </a:spcAft>
              <a:defRPr sz="800" b="1">
                <a:solidFill>
                  <a:srgbClr val="8060BA"/>
                </a:solidFill>
                <a:latin typeface="DejaVu Sans"/>
              </a:defRPr>
            </a:pPr>
            <a:r>
              <a:t>Ruta</a:t>
            </a:r>
          </a:p>
        </p:txBody>
      </p:sp>
      <p:sp>
        <p:nvSpPr>
          <p:cNvPr id="16" name="TextBox 15"/>
          <p:cNvSpPr txBox="1"/>
          <p:nvPr/>
        </p:nvSpPr>
        <p:spPr>
          <a:xfrm>
            <a:off x="11228832" y="6400800"/>
            <a:ext cx="457200" cy="274320"/>
          </a:xfrm>
          <a:prstGeom prst="rect">
            <a:avLst/>
          </a:prstGeom>
          <a:noFill/>
        </p:spPr>
        <p:txBody>
          <a:bodyPr wrap="square" lIns="0" rIns="0" tIns="0" bIns="0">
            <a:spAutoFit/>
          </a:bodyPr>
          <a:lstStyle/>
          <a:p>
            <a:pPr algn="r">
              <a:lnSpc>
                <a:spcPct val="101000"/>
              </a:lnSpc>
              <a:spcAft>
                <a:spcPts val="300"/>
              </a:spcAft>
              <a:defRPr sz="1300" b="1">
                <a:solidFill>
                  <a:srgbClr val="203350"/>
                </a:solidFill>
                <a:latin typeface="DejaVu Sans"/>
              </a:defRPr>
            </a:pPr>
            <a:r>
              <a:t>16</a:t>
            </a:r>
          </a:p>
        </p:txBody>
      </p:sp>
      <p:pic>
        <p:nvPicPr>
          <p:cNvPr id="17" name="Picture 16" descr="coverage.png"/>
          <p:cNvPicPr>
            <a:picLocks noChangeAspect="1"/>
          </p:cNvPicPr>
          <p:nvPr/>
        </p:nvPicPr>
        <p:blipFill>
          <a:blip r:embed="rId8"/>
          <a:stretch>
            <a:fillRect/>
          </a:stretch>
        </p:blipFill>
        <p:spPr>
          <a:xfrm>
            <a:off x="594360" y="2633472"/>
            <a:ext cx="10972800" cy="3438144"/>
          </a:xfrm>
          <a:prstGeom prst="rect">
            <a:avLst/>
          </a:prstGeom>
        </p:spPr>
      </p:pic>
    </p:spTree>
  </p:cSld>
  <p:clrMapOvr>
    <a:masterClrMapping/>
  </p:clrMapOvr>
  <p:transition advClick="1">
    <p:fade/>
  </p:transition>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9FBFF"/>
        </a:solidFill>
        <a:effectLst/>
      </p:bgPr>
    </p:bg>
    <p:spTree>
      <p:nvGrpSpPr>
        <p:cNvPr id="1" name=""/>
        <p:cNvGrpSpPr/>
        <p:nvPr/>
      </p:nvGrpSpPr>
      <p:grpSpPr/>
      <p:sp>
        <p:nvSpPr>
          <p:cNvPr id="2" name="TextBox 1"/>
          <p:cNvSpPr txBox="1"/>
          <p:nvPr/>
        </p:nvSpPr>
        <p:spPr>
          <a:xfrm>
            <a:off x="548640" y="365760"/>
            <a:ext cx="7223760" cy="228600"/>
          </a:xfrm>
          <a:prstGeom prst="rect">
            <a:avLst/>
          </a:prstGeom>
          <a:noFill/>
        </p:spPr>
        <p:txBody>
          <a:bodyPr wrap="square" lIns="0" rIns="0" tIns="0" bIns="0">
            <a:spAutoFit/>
          </a:bodyPr>
          <a:lstStyle/>
          <a:p>
            <a:pPr algn="l">
              <a:lnSpc>
                <a:spcPct val="101000"/>
              </a:lnSpc>
              <a:spcAft>
                <a:spcPts val="300"/>
              </a:spcAft>
              <a:defRPr sz="930" b="1">
                <a:solidFill>
                  <a:srgbClr val="8060BA"/>
                </a:solidFill>
                <a:latin typeface="DejaVu Sans"/>
              </a:defRPr>
            </a:pPr>
            <a:r>
              <a:t>COMPROBACIÓN DE ESCALADO</a:t>
            </a:r>
          </a:p>
        </p:txBody>
      </p:sp>
      <p:sp>
        <p:nvSpPr>
          <p:cNvPr id="3" name="Rounded Rectangle 2">
            <a:hlinkClick action="ppaction://hlinksldjump" r:id="rId2"/>
          </p:cNvPr>
          <p:cNvSpPr/>
          <p:nvPr/>
        </p:nvSpPr>
        <p:spPr>
          <a:xfrm>
            <a:off x="8165592" y="301752"/>
            <a:ext cx="813816" cy="310896"/>
          </a:xfrm>
          <a:prstGeom prst="roundRect">
            <a:avLst>
              <a:gd name="adj" fmla="val 8000"/>
            </a:avLst>
          </a:prstGeom>
          <a:solidFill>
            <a:srgbClr val="E0F7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2"/>
          </p:cNvPr>
          <p:cNvSpPr txBox="1"/>
          <p:nvPr/>
        </p:nvSpPr>
        <p:spPr>
          <a:xfrm>
            <a:off x="8275319" y="384048"/>
            <a:ext cx="594360" cy="219456"/>
          </a:xfrm>
          <a:prstGeom prst="rect">
            <a:avLst/>
          </a:prstGeom>
          <a:noFill/>
        </p:spPr>
        <p:txBody>
          <a:bodyPr wrap="square" lIns="0" rIns="0" tIns="0" bIns="0">
            <a:spAutoFit/>
          </a:bodyPr>
          <a:lstStyle/>
          <a:p>
            <a:pPr algn="l">
              <a:lnSpc>
                <a:spcPct val="101000"/>
              </a:lnSpc>
              <a:spcAft>
                <a:spcPts val="300"/>
              </a:spcAft>
              <a:defRPr sz="800" b="1">
                <a:solidFill>
                  <a:srgbClr val="203350"/>
                </a:solidFill>
                <a:latin typeface="DejaVu Sans"/>
              </a:defRPr>
            </a:pPr>
            <a:r>
              <a:t>Preparar</a:t>
            </a:r>
          </a:p>
        </p:txBody>
      </p:sp>
      <p:sp>
        <p:nvSpPr>
          <p:cNvPr id="5" name="Rounded Rectangle 4">
            <a:hlinkClick action="ppaction://hlinksldjump" r:id="rId3"/>
          </p:cNvPr>
          <p:cNvSpPr/>
          <p:nvPr/>
        </p:nvSpPr>
        <p:spPr>
          <a:xfrm>
            <a:off x="9043416" y="301752"/>
            <a:ext cx="813816" cy="310896"/>
          </a:xfrm>
          <a:prstGeom prst="roundRect">
            <a:avLst>
              <a:gd name="adj" fmla="val 8000"/>
            </a:avLst>
          </a:prstGeom>
          <a:solidFill>
            <a:srgbClr val="E2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3"/>
          </p:cNvPr>
          <p:cNvSpPr txBox="1"/>
          <p:nvPr/>
        </p:nvSpPr>
        <p:spPr>
          <a:xfrm>
            <a:off x="9153144" y="384048"/>
            <a:ext cx="594360" cy="219456"/>
          </a:xfrm>
          <a:prstGeom prst="rect">
            <a:avLst/>
          </a:prstGeom>
          <a:noFill/>
        </p:spPr>
        <p:txBody>
          <a:bodyPr wrap="square" lIns="0" rIns="0" tIns="0" bIns="0">
            <a:spAutoFit/>
          </a:bodyPr>
          <a:lstStyle/>
          <a:p>
            <a:pPr algn="l">
              <a:lnSpc>
                <a:spcPct val="101000"/>
              </a:lnSpc>
              <a:spcAft>
                <a:spcPts val="300"/>
              </a:spcAft>
              <a:defRPr sz="800" b="1">
                <a:solidFill>
                  <a:srgbClr val="203350"/>
                </a:solidFill>
                <a:latin typeface="DejaVu Sans"/>
              </a:defRPr>
            </a:pPr>
            <a:r>
              <a:t>Importar</a:t>
            </a:r>
          </a:p>
        </p:txBody>
      </p:sp>
      <p:sp>
        <p:nvSpPr>
          <p:cNvPr id="7" name="Rounded Rectangle 6">
            <a:hlinkClick action="ppaction://hlinksldjump" r:id="rId4"/>
          </p:cNvPr>
          <p:cNvSpPr/>
          <p:nvPr/>
        </p:nvSpPr>
        <p:spPr>
          <a:xfrm>
            <a:off x="9921240" y="301752"/>
            <a:ext cx="813816" cy="310896"/>
          </a:xfrm>
          <a:prstGeom prst="roundRect">
            <a:avLst>
              <a:gd name="adj" fmla="val 8000"/>
            </a:avLst>
          </a:prstGeom>
          <a:solidFill>
            <a:srgbClr val="EEE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4"/>
          </p:cNvPr>
          <p:cNvSpPr txBox="1"/>
          <p:nvPr/>
        </p:nvSpPr>
        <p:spPr>
          <a:xfrm>
            <a:off x="10030967" y="384048"/>
            <a:ext cx="594360" cy="219456"/>
          </a:xfrm>
          <a:prstGeom prst="rect">
            <a:avLst/>
          </a:prstGeom>
          <a:noFill/>
        </p:spPr>
        <p:txBody>
          <a:bodyPr wrap="square" lIns="0" rIns="0" tIns="0" bIns="0">
            <a:spAutoFit/>
          </a:bodyPr>
          <a:lstStyle/>
          <a:p>
            <a:pPr algn="l">
              <a:lnSpc>
                <a:spcPct val="101000"/>
              </a:lnSpc>
              <a:spcAft>
                <a:spcPts val="300"/>
              </a:spcAft>
              <a:defRPr sz="800" b="1">
                <a:solidFill>
                  <a:srgbClr val="203350"/>
                </a:solidFill>
                <a:latin typeface="DejaVu Sans"/>
              </a:defRPr>
            </a:pPr>
            <a:r>
              <a:t>Calcular</a:t>
            </a:r>
          </a:p>
        </p:txBody>
      </p:sp>
      <p:sp>
        <p:nvSpPr>
          <p:cNvPr id="9" name="Rounded Rectangle 8">
            <a:hlinkClick action="ppaction://hlinksldjump" r:id="rId5"/>
          </p:cNvPr>
          <p:cNvSpPr/>
          <p:nvPr/>
        </p:nvSpPr>
        <p:spPr>
          <a:xfrm>
            <a:off x="10799063" y="301752"/>
            <a:ext cx="813816" cy="310896"/>
          </a:xfrm>
          <a:prstGeom prst="roundRect">
            <a:avLst>
              <a:gd name="adj" fmla="val 8000"/>
            </a:avLst>
          </a:prstGeom>
          <a:solidFill>
            <a:srgbClr val="FFF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5"/>
          </p:cNvPr>
          <p:cNvSpPr txBox="1"/>
          <p:nvPr/>
        </p:nvSpPr>
        <p:spPr>
          <a:xfrm>
            <a:off x="10908791" y="384048"/>
            <a:ext cx="594360" cy="219456"/>
          </a:xfrm>
          <a:prstGeom prst="rect">
            <a:avLst/>
          </a:prstGeom>
          <a:noFill/>
        </p:spPr>
        <p:txBody>
          <a:bodyPr wrap="square" lIns="0" rIns="0" tIns="0" bIns="0">
            <a:spAutoFit/>
          </a:bodyPr>
          <a:lstStyle/>
          <a:p>
            <a:pPr algn="l">
              <a:lnSpc>
                <a:spcPct val="101000"/>
              </a:lnSpc>
              <a:spcAft>
                <a:spcPts val="300"/>
              </a:spcAft>
              <a:defRPr sz="749" b="1">
                <a:solidFill>
                  <a:srgbClr val="203350"/>
                </a:solidFill>
                <a:latin typeface="DejaVu Sans"/>
              </a:defRPr>
            </a:pPr>
            <a:r>
              <a:t>Comprobar</a:t>
            </a:r>
          </a:p>
        </p:txBody>
      </p:sp>
      <p:sp>
        <p:nvSpPr>
          <p:cNvPr id="11" name="TextBox 10"/>
          <p:cNvSpPr txBox="1"/>
          <p:nvPr/>
        </p:nvSpPr>
        <p:spPr>
          <a:xfrm>
            <a:off x="548640" y="886968"/>
            <a:ext cx="11064240" cy="1234440"/>
          </a:xfrm>
          <a:prstGeom prst="rect">
            <a:avLst/>
          </a:prstGeom>
          <a:noFill/>
        </p:spPr>
        <p:txBody>
          <a:bodyPr wrap="square" lIns="0" rIns="0" tIns="0" bIns="0">
            <a:spAutoFit/>
          </a:bodyPr>
          <a:lstStyle/>
          <a:p>
            <a:pPr algn="l">
              <a:lnSpc>
                <a:spcPct val="101000"/>
              </a:lnSpc>
              <a:spcAft>
                <a:spcPts val="300"/>
              </a:spcAft>
              <a:defRPr sz="3900" b="1">
                <a:solidFill>
                  <a:srgbClr val="203350"/>
                </a:solidFill>
                <a:latin typeface="DejaVu Sans"/>
              </a:defRPr>
            </a:pPr>
            <a:r>
              <a:t>11. Cambia a 2 L</a:t>
            </a:r>
          </a:p>
          <a:p>
            <a:pPr algn="l">
              <a:lnSpc>
                <a:spcPct val="101000"/>
              </a:lnSpc>
              <a:spcAft>
                <a:spcPts val="300"/>
              </a:spcAft>
              <a:defRPr sz="3900" b="1">
                <a:solidFill>
                  <a:srgbClr val="203350"/>
                </a:solidFill>
                <a:latin typeface="DejaVu Sans"/>
              </a:defRPr>
            </a:pPr>
            <a:r>
              <a:t>y comprueba la proporcionalidad</a:t>
            </a:r>
          </a:p>
        </p:txBody>
      </p:sp>
      <p:sp>
        <p:nvSpPr>
          <p:cNvPr id="12" name="TextBox 11"/>
          <p:cNvSpPr txBox="1"/>
          <p:nvPr/>
        </p:nvSpPr>
        <p:spPr>
          <a:xfrm>
            <a:off x="566928" y="2121408"/>
            <a:ext cx="10972800" cy="338328"/>
          </a:xfrm>
          <a:prstGeom prst="rect">
            <a:avLst/>
          </a:prstGeom>
          <a:noFill/>
        </p:spPr>
        <p:txBody>
          <a:bodyPr wrap="square" lIns="0" rIns="0" tIns="0" bIns="0">
            <a:spAutoFit/>
          </a:bodyPr>
          <a:lstStyle/>
          <a:p>
            <a:pPr algn="l">
              <a:lnSpc>
                <a:spcPct val="101000"/>
              </a:lnSpc>
              <a:spcAft>
                <a:spcPts val="300"/>
              </a:spcAft>
              <a:defRPr sz="1450" b="0">
                <a:solidFill>
                  <a:srgbClr val="5C6E83"/>
                </a:solidFill>
                <a:latin typeface="DejaVu Sans"/>
              </a:defRPr>
            </a:pPr>
            <a:r>
              <a:t>Mantén el sistema y el método; cambia solo la cantidad calculada.</a:t>
            </a:r>
          </a:p>
        </p:txBody>
      </p:sp>
      <p:sp>
        <p:nvSpPr>
          <p:cNvPr id="13" name="TextBox 12"/>
          <p:cNvSpPr txBox="1"/>
          <p:nvPr/>
        </p:nvSpPr>
        <p:spPr>
          <a:xfrm>
            <a:off x="548640" y="6446520"/>
            <a:ext cx="9784080" cy="219456"/>
          </a:xfrm>
          <a:prstGeom prst="rect">
            <a:avLst/>
          </a:prstGeom>
          <a:noFill/>
        </p:spPr>
        <p:txBody>
          <a:bodyPr wrap="square" lIns="0" rIns="0" tIns="0" bIns="0">
            <a:spAutoFit/>
          </a:bodyPr>
          <a:lstStyle/>
          <a:p>
            <a:pPr algn="l">
              <a:lnSpc>
                <a:spcPct val="101000"/>
              </a:lnSpc>
              <a:spcAft>
                <a:spcPts val="300"/>
              </a:spcAft>
              <a:defRPr sz="810" b="0">
                <a:solidFill>
                  <a:srgbClr val="5C6E83"/>
                </a:solidFill>
                <a:latin typeface="DejaVu Sans"/>
              </a:defRPr>
            </a:pPr>
            <a:r>
              <a:t>Prueba de consistencia lineal del caso docente</a:t>
            </a:r>
          </a:p>
        </p:txBody>
      </p:sp>
      <p:sp>
        <p:nvSpPr>
          <p:cNvPr id="14" name="Rounded Rectangle 13">
            <a:hlinkClick action="ppaction://hlinksldjump" r:id="rId6"/>
          </p:cNvPr>
          <p:cNvSpPr/>
          <p:nvPr/>
        </p:nvSpPr>
        <p:spPr>
          <a:xfrm>
            <a:off x="10442448" y="6400800"/>
            <a:ext cx="640080" cy="265176"/>
          </a:xfrm>
          <a:prstGeom prst="roundRect">
            <a:avLst>
              <a:gd name="adj" fmla="val 8000"/>
            </a:avLst>
          </a:prstGeom>
          <a:solidFill>
            <a:srgbClr val="EEE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a:hlinkClick action="ppaction://hlinksldjump" r:id="rId6"/>
          </p:cNvPr>
          <p:cNvSpPr txBox="1"/>
          <p:nvPr/>
        </p:nvSpPr>
        <p:spPr>
          <a:xfrm>
            <a:off x="10552176" y="6483096"/>
            <a:ext cx="420623" cy="173735"/>
          </a:xfrm>
          <a:prstGeom prst="rect">
            <a:avLst/>
          </a:prstGeom>
          <a:noFill/>
        </p:spPr>
        <p:txBody>
          <a:bodyPr wrap="square" lIns="0" rIns="0" tIns="0" bIns="0">
            <a:spAutoFit/>
          </a:bodyPr>
          <a:lstStyle/>
          <a:p>
            <a:pPr algn="l">
              <a:lnSpc>
                <a:spcPct val="101000"/>
              </a:lnSpc>
              <a:spcAft>
                <a:spcPts val="300"/>
              </a:spcAft>
              <a:defRPr sz="800" b="1">
                <a:solidFill>
                  <a:srgbClr val="8060BA"/>
                </a:solidFill>
                <a:latin typeface="DejaVu Sans"/>
              </a:defRPr>
            </a:pPr>
            <a:r>
              <a:t>Ruta</a:t>
            </a:r>
          </a:p>
        </p:txBody>
      </p:sp>
      <p:sp>
        <p:nvSpPr>
          <p:cNvPr id="16" name="TextBox 15"/>
          <p:cNvSpPr txBox="1"/>
          <p:nvPr/>
        </p:nvSpPr>
        <p:spPr>
          <a:xfrm>
            <a:off x="11228832" y="6400800"/>
            <a:ext cx="457200" cy="274320"/>
          </a:xfrm>
          <a:prstGeom prst="rect">
            <a:avLst/>
          </a:prstGeom>
          <a:noFill/>
        </p:spPr>
        <p:txBody>
          <a:bodyPr wrap="square" lIns="0" rIns="0" tIns="0" bIns="0">
            <a:spAutoFit/>
          </a:bodyPr>
          <a:lstStyle/>
          <a:p>
            <a:pPr algn="r">
              <a:lnSpc>
                <a:spcPct val="101000"/>
              </a:lnSpc>
              <a:spcAft>
                <a:spcPts val="300"/>
              </a:spcAft>
              <a:defRPr sz="1300" b="1">
                <a:solidFill>
                  <a:srgbClr val="203350"/>
                </a:solidFill>
                <a:latin typeface="DejaVu Sans"/>
              </a:defRPr>
            </a:pPr>
            <a:r>
              <a:t>17</a:t>
            </a:r>
          </a:p>
        </p:txBody>
      </p:sp>
      <p:sp>
        <p:nvSpPr>
          <p:cNvPr id="17" name="Rounded Rectangle 16"/>
          <p:cNvSpPr/>
          <p:nvPr/>
        </p:nvSpPr>
        <p:spPr>
          <a:xfrm>
            <a:off x="594360" y="2880360"/>
            <a:ext cx="3081528" cy="685800"/>
          </a:xfrm>
          <a:prstGeom prst="roundRect">
            <a:avLst>
              <a:gd name="adj" fmla="val 8000"/>
            </a:avLst>
          </a:prstGeom>
          <a:solidFill>
            <a:srgbClr val="E0F7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3017520"/>
            <a:ext cx="2834640" cy="521208"/>
          </a:xfrm>
          <a:prstGeom prst="rect">
            <a:avLst/>
          </a:prstGeom>
          <a:noFill/>
        </p:spPr>
        <p:txBody>
          <a:bodyPr wrap="square" lIns="0" rIns="0" tIns="0" bIns="0">
            <a:spAutoFit/>
          </a:bodyPr>
          <a:lstStyle/>
          <a:p>
            <a:pPr algn="l">
              <a:lnSpc>
                <a:spcPct val="101000"/>
              </a:lnSpc>
              <a:spcAft>
                <a:spcPts val="300"/>
              </a:spcAft>
              <a:defRPr sz="1500" b="1">
                <a:solidFill>
                  <a:srgbClr val="203350"/>
                </a:solidFill>
                <a:latin typeface="DejaVu Sans"/>
              </a:defRPr>
            </a:pPr>
            <a:r>
              <a:t>Sistema</a:t>
            </a:r>
          </a:p>
        </p:txBody>
      </p:sp>
      <p:sp>
        <p:nvSpPr>
          <p:cNvPr id="19" name="Rounded Rectangle 18"/>
          <p:cNvSpPr/>
          <p:nvPr/>
        </p:nvSpPr>
        <p:spPr>
          <a:xfrm>
            <a:off x="3703320" y="2880360"/>
            <a:ext cx="3904487" cy="685800"/>
          </a:xfrm>
          <a:prstGeom prst="roundRect">
            <a:avLst>
              <a:gd name="adj" fmla="val 8000"/>
            </a:avLst>
          </a:prstGeom>
          <a:solidFill>
            <a:srgbClr val="E0F7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840480" y="3017520"/>
            <a:ext cx="3657600" cy="521208"/>
          </a:xfrm>
          <a:prstGeom prst="rect">
            <a:avLst/>
          </a:prstGeom>
          <a:noFill/>
        </p:spPr>
        <p:txBody>
          <a:bodyPr wrap="square" lIns="0" rIns="0" tIns="0" bIns="0">
            <a:spAutoFit/>
          </a:bodyPr>
          <a:lstStyle/>
          <a:p>
            <a:pPr algn="l">
              <a:lnSpc>
                <a:spcPct val="101000"/>
              </a:lnSpc>
              <a:spcAft>
                <a:spcPts val="300"/>
              </a:spcAft>
              <a:defRPr sz="1500" b="1">
                <a:solidFill>
                  <a:srgbClr val="203350"/>
                </a:solidFill>
                <a:latin typeface="DejaVu Sans"/>
              </a:defRPr>
            </a:pPr>
            <a:r>
              <a:t>1 L</a:t>
            </a:r>
          </a:p>
        </p:txBody>
      </p:sp>
      <p:sp>
        <p:nvSpPr>
          <p:cNvPr id="21" name="Rounded Rectangle 20"/>
          <p:cNvSpPr/>
          <p:nvPr/>
        </p:nvSpPr>
        <p:spPr>
          <a:xfrm>
            <a:off x="7635240" y="2880360"/>
            <a:ext cx="3904487" cy="685800"/>
          </a:xfrm>
          <a:prstGeom prst="roundRect">
            <a:avLst>
              <a:gd name="adj" fmla="val 8000"/>
            </a:avLst>
          </a:prstGeom>
          <a:solidFill>
            <a:srgbClr val="E0F7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0" y="3017520"/>
            <a:ext cx="3657600" cy="521208"/>
          </a:xfrm>
          <a:prstGeom prst="rect">
            <a:avLst/>
          </a:prstGeom>
          <a:noFill/>
        </p:spPr>
        <p:txBody>
          <a:bodyPr wrap="square" lIns="0" rIns="0" tIns="0" bIns="0">
            <a:spAutoFit/>
          </a:bodyPr>
          <a:lstStyle/>
          <a:p>
            <a:pPr algn="l">
              <a:lnSpc>
                <a:spcPct val="101000"/>
              </a:lnSpc>
              <a:spcAft>
                <a:spcPts val="300"/>
              </a:spcAft>
              <a:defRPr sz="1500" b="1">
                <a:solidFill>
                  <a:srgbClr val="203350"/>
                </a:solidFill>
                <a:latin typeface="DejaVu Sans"/>
              </a:defRPr>
            </a:pPr>
            <a:r>
              <a:t>2 L: tu predicción</a:t>
            </a:r>
          </a:p>
        </p:txBody>
      </p:sp>
      <p:sp>
        <p:nvSpPr>
          <p:cNvPr id="23" name="Rounded Rectangle 22"/>
          <p:cNvSpPr/>
          <p:nvPr/>
        </p:nvSpPr>
        <p:spPr>
          <a:xfrm>
            <a:off x="594360" y="3611880"/>
            <a:ext cx="3081528" cy="68580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1520" y="3749040"/>
            <a:ext cx="2834640" cy="548640"/>
          </a:xfrm>
          <a:prstGeom prst="rect">
            <a:avLst/>
          </a:prstGeom>
          <a:noFill/>
        </p:spPr>
        <p:txBody>
          <a:bodyPr wrap="square" lIns="0" rIns="0" tIns="0" bIns="0">
            <a:spAutoFit/>
          </a:bodyPr>
          <a:lstStyle/>
          <a:p>
            <a:pPr algn="l">
              <a:lnSpc>
                <a:spcPct val="101000"/>
              </a:lnSpc>
              <a:spcAft>
                <a:spcPts val="300"/>
              </a:spcAft>
              <a:defRPr sz="1500" b="0">
                <a:solidFill>
                  <a:srgbClr val="203350"/>
                </a:solidFill>
                <a:latin typeface="DejaVu Sans"/>
              </a:defRPr>
            </a:pPr>
            <a:r>
              <a:t>Avena</a:t>
            </a:r>
          </a:p>
        </p:txBody>
      </p:sp>
      <p:sp>
        <p:nvSpPr>
          <p:cNvPr id="25" name="Rounded Rectangle 24"/>
          <p:cNvSpPr/>
          <p:nvPr/>
        </p:nvSpPr>
        <p:spPr>
          <a:xfrm>
            <a:off x="3703320" y="3611880"/>
            <a:ext cx="3904487" cy="68580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840480" y="3749040"/>
            <a:ext cx="3657600" cy="548640"/>
          </a:xfrm>
          <a:prstGeom prst="rect">
            <a:avLst/>
          </a:prstGeom>
          <a:noFill/>
        </p:spPr>
        <p:txBody>
          <a:bodyPr wrap="square" lIns="0" rIns="0" tIns="0" bIns="0">
            <a:spAutoFit/>
          </a:bodyPr>
          <a:lstStyle/>
          <a:p>
            <a:pPr algn="l">
              <a:lnSpc>
                <a:spcPct val="101000"/>
              </a:lnSpc>
              <a:spcAft>
                <a:spcPts val="300"/>
              </a:spcAft>
              <a:defRPr sz="1500" b="0">
                <a:solidFill>
                  <a:srgbClr val="203350"/>
                </a:solidFill>
                <a:latin typeface="DejaVu Sans"/>
              </a:defRPr>
            </a:pPr>
            <a:r>
              <a:t>0.24370855</a:t>
            </a:r>
          </a:p>
        </p:txBody>
      </p:sp>
      <p:sp>
        <p:nvSpPr>
          <p:cNvPr id="27" name="Rounded Rectangle 26"/>
          <p:cNvSpPr/>
          <p:nvPr/>
        </p:nvSpPr>
        <p:spPr>
          <a:xfrm>
            <a:off x="7635240" y="3611880"/>
            <a:ext cx="3904487" cy="68580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772400" y="3749040"/>
            <a:ext cx="3657600" cy="548640"/>
          </a:xfrm>
          <a:prstGeom prst="rect">
            <a:avLst/>
          </a:prstGeom>
          <a:noFill/>
        </p:spPr>
        <p:txBody>
          <a:bodyPr wrap="square" lIns="0" rIns="0" tIns="0" bIns="0">
            <a:spAutoFit/>
          </a:bodyPr>
          <a:lstStyle/>
          <a:p>
            <a:pPr algn="l">
              <a:lnSpc>
                <a:spcPct val="101000"/>
              </a:lnSpc>
              <a:spcAft>
                <a:spcPts val="300"/>
              </a:spcAft>
              <a:defRPr sz="1500" b="0">
                <a:solidFill>
                  <a:srgbClr val="203350"/>
                </a:solidFill>
                <a:latin typeface="DejaVu Sans"/>
              </a:defRPr>
            </a:pPr>
            <a:r>
              <a:t>________________</a:t>
            </a:r>
          </a:p>
        </p:txBody>
      </p:sp>
      <p:sp>
        <p:nvSpPr>
          <p:cNvPr id="29" name="Rounded Rectangle 28"/>
          <p:cNvSpPr/>
          <p:nvPr/>
        </p:nvSpPr>
        <p:spPr>
          <a:xfrm>
            <a:off x="594360" y="4343400"/>
            <a:ext cx="3081528" cy="685800"/>
          </a:xfrm>
          <a:prstGeom prst="roundRect">
            <a:avLst>
              <a:gd name="adj" fmla="val 8000"/>
            </a:avLst>
          </a:prstGeom>
          <a:solidFill>
            <a:srgbClr val="ED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1520" y="4480560"/>
            <a:ext cx="2834640" cy="548640"/>
          </a:xfrm>
          <a:prstGeom prst="rect">
            <a:avLst/>
          </a:prstGeom>
          <a:noFill/>
        </p:spPr>
        <p:txBody>
          <a:bodyPr wrap="square" lIns="0" rIns="0" tIns="0" bIns="0">
            <a:spAutoFit/>
          </a:bodyPr>
          <a:lstStyle/>
          <a:p>
            <a:pPr algn="l">
              <a:lnSpc>
                <a:spcPct val="101000"/>
              </a:lnSpc>
              <a:spcAft>
                <a:spcPts val="300"/>
              </a:spcAft>
              <a:defRPr sz="1500" b="0">
                <a:solidFill>
                  <a:srgbClr val="203350"/>
                </a:solidFill>
                <a:latin typeface="DejaVu Sans"/>
              </a:defRPr>
            </a:pPr>
            <a:r>
              <a:t>Leche</a:t>
            </a:r>
          </a:p>
        </p:txBody>
      </p:sp>
      <p:sp>
        <p:nvSpPr>
          <p:cNvPr id="31" name="Rounded Rectangle 30"/>
          <p:cNvSpPr/>
          <p:nvPr/>
        </p:nvSpPr>
        <p:spPr>
          <a:xfrm>
            <a:off x="3703320" y="4343400"/>
            <a:ext cx="3904487" cy="685800"/>
          </a:xfrm>
          <a:prstGeom prst="roundRect">
            <a:avLst>
              <a:gd name="adj" fmla="val 8000"/>
            </a:avLst>
          </a:prstGeom>
          <a:solidFill>
            <a:srgbClr val="ED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840480" y="4480560"/>
            <a:ext cx="3657600" cy="548640"/>
          </a:xfrm>
          <a:prstGeom prst="rect">
            <a:avLst/>
          </a:prstGeom>
          <a:noFill/>
        </p:spPr>
        <p:txBody>
          <a:bodyPr wrap="square" lIns="0" rIns="0" tIns="0" bIns="0">
            <a:spAutoFit/>
          </a:bodyPr>
          <a:lstStyle/>
          <a:p>
            <a:pPr algn="l">
              <a:lnSpc>
                <a:spcPct val="101000"/>
              </a:lnSpc>
              <a:spcAft>
                <a:spcPts val="300"/>
              </a:spcAft>
              <a:defRPr sz="1500" b="0">
                <a:solidFill>
                  <a:srgbClr val="203350"/>
                </a:solidFill>
                <a:latin typeface="DejaVu Sans"/>
              </a:defRPr>
            </a:pPr>
            <a:r>
              <a:t>1.89628875</a:t>
            </a:r>
          </a:p>
        </p:txBody>
      </p:sp>
      <p:sp>
        <p:nvSpPr>
          <p:cNvPr id="33" name="Rounded Rectangle 32"/>
          <p:cNvSpPr/>
          <p:nvPr/>
        </p:nvSpPr>
        <p:spPr>
          <a:xfrm>
            <a:off x="7635240" y="4343400"/>
            <a:ext cx="3904487" cy="685800"/>
          </a:xfrm>
          <a:prstGeom prst="roundRect">
            <a:avLst>
              <a:gd name="adj" fmla="val 8000"/>
            </a:avLst>
          </a:prstGeom>
          <a:solidFill>
            <a:srgbClr val="ED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772400" y="4480560"/>
            <a:ext cx="3657600" cy="548640"/>
          </a:xfrm>
          <a:prstGeom prst="rect">
            <a:avLst/>
          </a:prstGeom>
          <a:noFill/>
        </p:spPr>
        <p:txBody>
          <a:bodyPr wrap="square" lIns="0" rIns="0" tIns="0" bIns="0">
            <a:spAutoFit/>
          </a:bodyPr>
          <a:lstStyle/>
          <a:p>
            <a:pPr algn="l">
              <a:lnSpc>
                <a:spcPct val="101000"/>
              </a:lnSpc>
              <a:spcAft>
                <a:spcPts val="300"/>
              </a:spcAft>
              <a:defRPr sz="1500" b="0">
                <a:solidFill>
                  <a:srgbClr val="203350"/>
                </a:solidFill>
                <a:latin typeface="DejaVu Sans"/>
              </a:defRPr>
            </a:pPr>
            <a:r>
              <a:t>________________</a:t>
            </a:r>
          </a:p>
        </p:txBody>
      </p:sp>
      <p:sp>
        <p:nvSpPr>
          <p:cNvPr id="35" name="Rounded Rectangle 34">
            <a:hlinkClick action="ppaction://hlinksldjump" r:id="rId8"/>
          </p:cNvPr>
          <p:cNvSpPr/>
          <p:nvPr/>
        </p:nvSpPr>
        <p:spPr>
          <a:xfrm>
            <a:off x="777240" y="5577840"/>
            <a:ext cx="3749039" cy="512064"/>
          </a:xfrm>
          <a:prstGeom prst="roundRect">
            <a:avLst>
              <a:gd name="adj" fmla="val 8000"/>
            </a:avLst>
          </a:prstGeom>
          <a:solidFill>
            <a:srgbClr val="806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a:hlinkClick action="ppaction://hlinksldjump" r:id="rId8"/>
          </p:cNvPr>
          <p:cNvSpPr txBox="1"/>
          <p:nvPr/>
        </p:nvSpPr>
        <p:spPr>
          <a:xfrm>
            <a:off x="886968" y="5660136"/>
            <a:ext cx="3529583" cy="420624"/>
          </a:xfrm>
          <a:prstGeom prst="rect">
            <a:avLst/>
          </a:prstGeom>
          <a:noFill/>
        </p:spPr>
        <p:txBody>
          <a:bodyPr wrap="square" lIns="0" rIns="0" tIns="0" bIns="0">
            <a:spAutoFit/>
          </a:bodyPr>
          <a:lstStyle/>
          <a:p>
            <a:pPr algn="l">
              <a:lnSpc>
                <a:spcPct val="101000"/>
              </a:lnSpc>
              <a:spcAft>
                <a:spcPts val="300"/>
              </a:spcAft>
              <a:defRPr sz="1400" b="1">
                <a:solidFill>
                  <a:srgbClr val="FFFFFF"/>
                </a:solidFill>
                <a:latin typeface="DejaVu Sans"/>
              </a:defRPr>
            </a:pPr>
            <a:r>
              <a:t>Contrastar valores de 2 L</a:t>
            </a:r>
          </a:p>
        </p:txBody>
      </p:sp>
    </p:spTree>
  </p:cSld>
  <p:clrMapOvr>
    <a:masterClrMapping/>
  </p:clrMapOvr>
  <p:transition advClick="1">
    <p:fade/>
  </p:transition>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9FBFF"/>
        </a:solidFill>
        <a:effectLst/>
      </p:bgPr>
    </p:bg>
    <p:spTree>
      <p:nvGrpSpPr>
        <p:cNvPr id="1" name=""/>
        <p:cNvGrpSpPr/>
        <p:nvPr/>
      </p:nvGrpSpPr>
      <p:grpSpPr/>
      <p:sp>
        <p:nvSpPr>
          <p:cNvPr id="2" name="TextBox 1"/>
          <p:cNvSpPr txBox="1"/>
          <p:nvPr/>
        </p:nvSpPr>
        <p:spPr>
          <a:xfrm>
            <a:off x="548640" y="365760"/>
            <a:ext cx="7223760" cy="228600"/>
          </a:xfrm>
          <a:prstGeom prst="rect">
            <a:avLst/>
          </a:prstGeom>
          <a:noFill/>
        </p:spPr>
        <p:txBody>
          <a:bodyPr wrap="square" lIns="0" rIns="0" tIns="0" bIns="0">
            <a:spAutoFit/>
          </a:bodyPr>
          <a:lstStyle/>
          <a:p>
            <a:pPr algn="l">
              <a:lnSpc>
                <a:spcPct val="101000"/>
              </a:lnSpc>
              <a:spcAft>
                <a:spcPts val="300"/>
              </a:spcAft>
              <a:defRPr sz="930" b="1">
                <a:solidFill>
                  <a:srgbClr val="8060BA"/>
                </a:solidFill>
                <a:latin typeface="DejaVu Sans"/>
              </a:defRPr>
            </a:pPr>
            <a:r>
              <a:t>EXPERIMENTO DE SENSIBILIDAD</a:t>
            </a:r>
          </a:p>
        </p:txBody>
      </p:sp>
      <p:sp>
        <p:nvSpPr>
          <p:cNvPr id="3" name="Rounded Rectangle 2">
            <a:hlinkClick action="ppaction://hlinksldjump" r:id="rId2"/>
          </p:cNvPr>
          <p:cNvSpPr/>
          <p:nvPr/>
        </p:nvSpPr>
        <p:spPr>
          <a:xfrm>
            <a:off x="8165592" y="301752"/>
            <a:ext cx="813816" cy="310896"/>
          </a:xfrm>
          <a:prstGeom prst="roundRect">
            <a:avLst>
              <a:gd name="adj" fmla="val 8000"/>
            </a:avLst>
          </a:prstGeom>
          <a:solidFill>
            <a:srgbClr val="E0F7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2"/>
          </p:cNvPr>
          <p:cNvSpPr txBox="1"/>
          <p:nvPr/>
        </p:nvSpPr>
        <p:spPr>
          <a:xfrm>
            <a:off x="8275319" y="384048"/>
            <a:ext cx="594360" cy="219456"/>
          </a:xfrm>
          <a:prstGeom prst="rect">
            <a:avLst/>
          </a:prstGeom>
          <a:noFill/>
        </p:spPr>
        <p:txBody>
          <a:bodyPr wrap="square" lIns="0" rIns="0" tIns="0" bIns="0">
            <a:spAutoFit/>
          </a:bodyPr>
          <a:lstStyle/>
          <a:p>
            <a:pPr algn="l">
              <a:lnSpc>
                <a:spcPct val="101000"/>
              </a:lnSpc>
              <a:spcAft>
                <a:spcPts val="300"/>
              </a:spcAft>
              <a:defRPr sz="800" b="1">
                <a:solidFill>
                  <a:srgbClr val="203350"/>
                </a:solidFill>
                <a:latin typeface="DejaVu Sans"/>
              </a:defRPr>
            </a:pPr>
            <a:r>
              <a:t>Preparar</a:t>
            </a:r>
          </a:p>
        </p:txBody>
      </p:sp>
      <p:sp>
        <p:nvSpPr>
          <p:cNvPr id="5" name="Rounded Rectangle 4">
            <a:hlinkClick action="ppaction://hlinksldjump" r:id="rId3"/>
          </p:cNvPr>
          <p:cNvSpPr/>
          <p:nvPr/>
        </p:nvSpPr>
        <p:spPr>
          <a:xfrm>
            <a:off x="9043416" y="301752"/>
            <a:ext cx="813816" cy="310896"/>
          </a:xfrm>
          <a:prstGeom prst="roundRect">
            <a:avLst>
              <a:gd name="adj" fmla="val 8000"/>
            </a:avLst>
          </a:prstGeom>
          <a:solidFill>
            <a:srgbClr val="E2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3"/>
          </p:cNvPr>
          <p:cNvSpPr txBox="1"/>
          <p:nvPr/>
        </p:nvSpPr>
        <p:spPr>
          <a:xfrm>
            <a:off x="9153144" y="384048"/>
            <a:ext cx="594360" cy="219456"/>
          </a:xfrm>
          <a:prstGeom prst="rect">
            <a:avLst/>
          </a:prstGeom>
          <a:noFill/>
        </p:spPr>
        <p:txBody>
          <a:bodyPr wrap="square" lIns="0" rIns="0" tIns="0" bIns="0">
            <a:spAutoFit/>
          </a:bodyPr>
          <a:lstStyle/>
          <a:p>
            <a:pPr algn="l">
              <a:lnSpc>
                <a:spcPct val="101000"/>
              </a:lnSpc>
              <a:spcAft>
                <a:spcPts val="300"/>
              </a:spcAft>
              <a:defRPr sz="800" b="1">
                <a:solidFill>
                  <a:srgbClr val="203350"/>
                </a:solidFill>
                <a:latin typeface="DejaVu Sans"/>
              </a:defRPr>
            </a:pPr>
            <a:r>
              <a:t>Importar</a:t>
            </a:r>
          </a:p>
        </p:txBody>
      </p:sp>
      <p:sp>
        <p:nvSpPr>
          <p:cNvPr id="7" name="Rounded Rectangle 6">
            <a:hlinkClick action="ppaction://hlinksldjump" r:id="rId4"/>
          </p:cNvPr>
          <p:cNvSpPr/>
          <p:nvPr/>
        </p:nvSpPr>
        <p:spPr>
          <a:xfrm>
            <a:off x="9921240" y="301752"/>
            <a:ext cx="813816" cy="310896"/>
          </a:xfrm>
          <a:prstGeom prst="roundRect">
            <a:avLst>
              <a:gd name="adj" fmla="val 8000"/>
            </a:avLst>
          </a:prstGeom>
          <a:solidFill>
            <a:srgbClr val="EEE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4"/>
          </p:cNvPr>
          <p:cNvSpPr txBox="1"/>
          <p:nvPr/>
        </p:nvSpPr>
        <p:spPr>
          <a:xfrm>
            <a:off x="10030967" y="384048"/>
            <a:ext cx="594360" cy="219456"/>
          </a:xfrm>
          <a:prstGeom prst="rect">
            <a:avLst/>
          </a:prstGeom>
          <a:noFill/>
        </p:spPr>
        <p:txBody>
          <a:bodyPr wrap="square" lIns="0" rIns="0" tIns="0" bIns="0">
            <a:spAutoFit/>
          </a:bodyPr>
          <a:lstStyle/>
          <a:p>
            <a:pPr algn="l">
              <a:lnSpc>
                <a:spcPct val="101000"/>
              </a:lnSpc>
              <a:spcAft>
                <a:spcPts val="300"/>
              </a:spcAft>
              <a:defRPr sz="800" b="1">
                <a:solidFill>
                  <a:srgbClr val="203350"/>
                </a:solidFill>
                <a:latin typeface="DejaVu Sans"/>
              </a:defRPr>
            </a:pPr>
            <a:r>
              <a:t>Calcular</a:t>
            </a:r>
          </a:p>
        </p:txBody>
      </p:sp>
      <p:sp>
        <p:nvSpPr>
          <p:cNvPr id="9" name="Rounded Rectangle 8">
            <a:hlinkClick action="ppaction://hlinksldjump" r:id="rId5"/>
          </p:cNvPr>
          <p:cNvSpPr/>
          <p:nvPr/>
        </p:nvSpPr>
        <p:spPr>
          <a:xfrm>
            <a:off x="10799063" y="301752"/>
            <a:ext cx="813816" cy="310896"/>
          </a:xfrm>
          <a:prstGeom prst="roundRect">
            <a:avLst>
              <a:gd name="adj" fmla="val 8000"/>
            </a:avLst>
          </a:prstGeom>
          <a:solidFill>
            <a:srgbClr val="FFF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5"/>
          </p:cNvPr>
          <p:cNvSpPr txBox="1"/>
          <p:nvPr/>
        </p:nvSpPr>
        <p:spPr>
          <a:xfrm>
            <a:off x="10908791" y="384048"/>
            <a:ext cx="594360" cy="219456"/>
          </a:xfrm>
          <a:prstGeom prst="rect">
            <a:avLst/>
          </a:prstGeom>
          <a:noFill/>
        </p:spPr>
        <p:txBody>
          <a:bodyPr wrap="square" lIns="0" rIns="0" tIns="0" bIns="0">
            <a:spAutoFit/>
          </a:bodyPr>
          <a:lstStyle/>
          <a:p>
            <a:pPr algn="l">
              <a:lnSpc>
                <a:spcPct val="101000"/>
              </a:lnSpc>
              <a:spcAft>
                <a:spcPts val="300"/>
              </a:spcAft>
              <a:defRPr sz="749" b="1">
                <a:solidFill>
                  <a:srgbClr val="203350"/>
                </a:solidFill>
                <a:latin typeface="DejaVu Sans"/>
              </a:defRPr>
            </a:pPr>
            <a:r>
              <a:t>Comprobar</a:t>
            </a:r>
          </a:p>
        </p:txBody>
      </p:sp>
      <p:sp>
        <p:nvSpPr>
          <p:cNvPr id="11" name="TextBox 10"/>
          <p:cNvSpPr txBox="1"/>
          <p:nvPr/>
        </p:nvSpPr>
        <p:spPr>
          <a:xfrm>
            <a:off x="548640" y="886968"/>
            <a:ext cx="11064240" cy="1234440"/>
          </a:xfrm>
          <a:prstGeom prst="rect">
            <a:avLst/>
          </a:prstGeom>
          <a:noFill/>
        </p:spPr>
        <p:txBody>
          <a:bodyPr wrap="square" lIns="0" rIns="0" tIns="0" bIns="0">
            <a:spAutoFit/>
          </a:bodyPr>
          <a:lstStyle/>
          <a:p>
            <a:pPr algn="l">
              <a:lnSpc>
                <a:spcPct val="101000"/>
              </a:lnSpc>
              <a:spcAft>
                <a:spcPts val="300"/>
              </a:spcAft>
              <a:defRPr sz="3900" b="1">
                <a:solidFill>
                  <a:srgbClr val="203350"/>
                </a:solidFill>
                <a:latin typeface="DejaVu Sans"/>
              </a:defRPr>
            </a:pPr>
            <a:r>
              <a:t>12. ¿Qué cambia</a:t>
            </a:r>
          </a:p>
          <a:p>
            <a:pPr algn="l">
              <a:lnSpc>
                <a:spcPct val="101000"/>
              </a:lnSpc>
              <a:spcAft>
                <a:spcPts val="300"/>
              </a:spcAft>
              <a:defRPr sz="3900" b="1">
                <a:solidFill>
                  <a:srgbClr val="203350"/>
                </a:solidFill>
                <a:latin typeface="DejaVu Sans"/>
              </a:defRPr>
            </a:pPr>
            <a:r>
              <a:t>si el CH₄ disminuye un 20 %?</a:t>
            </a:r>
          </a:p>
        </p:txBody>
      </p:sp>
      <p:sp>
        <p:nvSpPr>
          <p:cNvPr id="12" name="TextBox 11"/>
          <p:cNvSpPr txBox="1"/>
          <p:nvPr/>
        </p:nvSpPr>
        <p:spPr>
          <a:xfrm>
            <a:off x="566928" y="2121408"/>
            <a:ext cx="10972800" cy="338328"/>
          </a:xfrm>
          <a:prstGeom prst="rect">
            <a:avLst/>
          </a:prstGeom>
          <a:noFill/>
        </p:spPr>
        <p:txBody>
          <a:bodyPr wrap="square" lIns="0" rIns="0" tIns="0" bIns="0">
            <a:spAutoFit/>
          </a:bodyPr>
          <a:lstStyle/>
          <a:p>
            <a:pPr algn="l">
              <a:lnSpc>
                <a:spcPct val="101000"/>
              </a:lnSpc>
              <a:spcAft>
                <a:spcPts val="300"/>
              </a:spcAft>
              <a:defRPr sz="1450" b="0">
                <a:solidFill>
                  <a:srgbClr val="5C6E83"/>
                </a:solidFill>
                <a:latin typeface="DejaVu Sans"/>
              </a:defRPr>
            </a:pPr>
            <a:r>
              <a:t>DOC_P02_Leche_cruda_1L → Parameters → ch4_ent: 0.05 a 0.04</a:t>
            </a:r>
          </a:p>
        </p:txBody>
      </p:sp>
      <p:sp>
        <p:nvSpPr>
          <p:cNvPr id="13" name="TextBox 12"/>
          <p:cNvSpPr txBox="1"/>
          <p:nvPr/>
        </p:nvSpPr>
        <p:spPr>
          <a:xfrm>
            <a:off x="548640" y="6446520"/>
            <a:ext cx="9784080" cy="219456"/>
          </a:xfrm>
          <a:prstGeom prst="rect">
            <a:avLst/>
          </a:prstGeom>
          <a:noFill/>
        </p:spPr>
        <p:txBody>
          <a:bodyPr wrap="square" lIns="0" rIns="0" tIns="0" bIns="0">
            <a:spAutoFit/>
          </a:bodyPr>
          <a:lstStyle/>
          <a:p>
            <a:pPr algn="l">
              <a:lnSpc>
                <a:spcPct val="101000"/>
              </a:lnSpc>
              <a:spcAft>
                <a:spcPts val="300"/>
              </a:spcAft>
              <a:defRPr sz="810" b="0">
                <a:solidFill>
                  <a:srgbClr val="5C6E83"/>
                </a:solidFill>
                <a:latin typeface="DejaVu Sans"/>
              </a:defRPr>
            </a:pPr>
            <a:r>
              <a:t>Sensibilidad de un parámetro simulado; conservar y restaurar la línea base</a:t>
            </a:r>
          </a:p>
        </p:txBody>
      </p:sp>
      <p:sp>
        <p:nvSpPr>
          <p:cNvPr id="14" name="Rounded Rectangle 13">
            <a:hlinkClick action="ppaction://hlinksldjump" r:id="rId6"/>
          </p:cNvPr>
          <p:cNvSpPr/>
          <p:nvPr/>
        </p:nvSpPr>
        <p:spPr>
          <a:xfrm>
            <a:off x="10442448" y="6400800"/>
            <a:ext cx="640080" cy="265176"/>
          </a:xfrm>
          <a:prstGeom prst="roundRect">
            <a:avLst>
              <a:gd name="adj" fmla="val 8000"/>
            </a:avLst>
          </a:prstGeom>
          <a:solidFill>
            <a:srgbClr val="EEE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a:hlinkClick action="ppaction://hlinksldjump" r:id="rId6"/>
          </p:cNvPr>
          <p:cNvSpPr txBox="1"/>
          <p:nvPr/>
        </p:nvSpPr>
        <p:spPr>
          <a:xfrm>
            <a:off x="10552176" y="6483096"/>
            <a:ext cx="420623" cy="173735"/>
          </a:xfrm>
          <a:prstGeom prst="rect">
            <a:avLst/>
          </a:prstGeom>
          <a:noFill/>
        </p:spPr>
        <p:txBody>
          <a:bodyPr wrap="square" lIns="0" rIns="0" tIns="0" bIns="0">
            <a:spAutoFit/>
          </a:bodyPr>
          <a:lstStyle/>
          <a:p>
            <a:pPr algn="l">
              <a:lnSpc>
                <a:spcPct val="101000"/>
              </a:lnSpc>
              <a:spcAft>
                <a:spcPts val="300"/>
              </a:spcAft>
              <a:defRPr sz="800" b="1">
                <a:solidFill>
                  <a:srgbClr val="8060BA"/>
                </a:solidFill>
                <a:latin typeface="DejaVu Sans"/>
              </a:defRPr>
            </a:pPr>
            <a:r>
              <a:t>Ruta</a:t>
            </a:r>
          </a:p>
        </p:txBody>
      </p:sp>
      <p:sp>
        <p:nvSpPr>
          <p:cNvPr id="16" name="TextBox 15"/>
          <p:cNvSpPr txBox="1"/>
          <p:nvPr/>
        </p:nvSpPr>
        <p:spPr>
          <a:xfrm>
            <a:off x="11228832" y="6400800"/>
            <a:ext cx="457200" cy="274320"/>
          </a:xfrm>
          <a:prstGeom prst="rect">
            <a:avLst/>
          </a:prstGeom>
          <a:noFill/>
        </p:spPr>
        <p:txBody>
          <a:bodyPr wrap="square" lIns="0" rIns="0" tIns="0" bIns="0">
            <a:spAutoFit/>
          </a:bodyPr>
          <a:lstStyle/>
          <a:p>
            <a:pPr algn="r">
              <a:lnSpc>
                <a:spcPct val="101000"/>
              </a:lnSpc>
              <a:spcAft>
                <a:spcPts val="300"/>
              </a:spcAft>
              <a:defRPr sz="1300" b="1">
                <a:solidFill>
                  <a:srgbClr val="203350"/>
                </a:solidFill>
                <a:latin typeface="DejaVu Sans"/>
              </a:defRPr>
            </a:pPr>
            <a:r>
              <a:t>18</a:t>
            </a:r>
          </a:p>
        </p:txBody>
      </p:sp>
      <p:sp>
        <p:nvSpPr>
          <p:cNvPr id="17" name="Rounded Rectangle 16"/>
          <p:cNvSpPr/>
          <p:nvPr/>
        </p:nvSpPr>
        <p:spPr>
          <a:xfrm>
            <a:off x="594360" y="2880360"/>
            <a:ext cx="5093207" cy="731520"/>
          </a:xfrm>
          <a:prstGeom prst="roundRect">
            <a:avLst>
              <a:gd name="adj" fmla="val 8000"/>
            </a:avLst>
          </a:prstGeom>
          <a:solidFill>
            <a:srgbClr val="E0F7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3017520"/>
            <a:ext cx="4846320" cy="566928"/>
          </a:xfrm>
          <a:prstGeom prst="rect">
            <a:avLst/>
          </a:prstGeom>
          <a:noFill/>
        </p:spPr>
        <p:txBody>
          <a:bodyPr wrap="square" lIns="0" rIns="0" tIns="0" bIns="0">
            <a:spAutoFit/>
          </a:bodyPr>
          <a:lstStyle/>
          <a:p>
            <a:pPr algn="l">
              <a:lnSpc>
                <a:spcPct val="101000"/>
              </a:lnSpc>
              <a:spcAft>
                <a:spcPts val="300"/>
              </a:spcAft>
              <a:defRPr sz="1500" b="1">
                <a:solidFill>
                  <a:srgbClr val="203350"/>
                </a:solidFill>
                <a:latin typeface="DejaVu Sans"/>
              </a:defRPr>
            </a:pPr>
            <a:r>
              <a:t>Parámetro</a:t>
            </a:r>
          </a:p>
        </p:txBody>
      </p:sp>
      <p:sp>
        <p:nvSpPr>
          <p:cNvPr id="19" name="Rounded Rectangle 18"/>
          <p:cNvSpPr/>
          <p:nvPr/>
        </p:nvSpPr>
        <p:spPr>
          <a:xfrm>
            <a:off x="5715000" y="2880360"/>
            <a:ext cx="2898648" cy="731520"/>
          </a:xfrm>
          <a:prstGeom prst="roundRect">
            <a:avLst>
              <a:gd name="adj" fmla="val 8000"/>
            </a:avLst>
          </a:prstGeom>
          <a:solidFill>
            <a:srgbClr val="E0F7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852160" y="3017520"/>
            <a:ext cx="2651760" cy="566928"/>
          </a:xfrm>
          <a:prstGeom prst="rect">
            <a:avLst/>
          </a:prstGeom>
          <a:noFill/>
        </p:spPr>
        <p:txBody>
          <a:bodyPr wrap="square" lIns="0" rIns="0" tIns="0" bIns="0">
            <a:spAutoFit/>
          </a:bodyPr>
          <a:lstStyle/>
          <a:p>
            <a:pPr algn="l">
              <a:lnSpc>
                <a:spcPct val="101000"/>
              </a:lnSpc>
              <a:spcAft>
                <a:spcPts val="300"/>
              </a:spcAft>
              <a:defRPr sz="1500" b="1">
                <a:solidFill>
                  <a:srgbClr val="203350"/>
                </a:solidFill>
                <a:latin typeface="DejaVu Sans"/>
              </a:defRPr>
            </a:pPr>
            <a:r>
              <a:t>Base</a:t>
            </a:r>
          </a:p>
        </p:txBody>
      </p:sp>
      <p:sp>
        <p:nvSpPr>
          <p:cNvPr id="21" name="Rounded Rectangle 20"/>
          <p:cNvSpPr/>
          <p:nvPr/>
        </p:nvSpPr>
        <p:spPr>
          <a:xfrm>
            <a:off x="8641080" y="2880360"/>
            <a:ext cx="2898648" cy="731520"/>
          </a:xfrm>
          <a:prstGeom prst="roundRect">
            <a:avLst>
              <a:gd name="adj" fmla="val 8000"/>
            </a:avLst>
          </a:prstGeom>
          <a:solidFill>
            <a:srgbClr val="E0F7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778240" y="3017520"/>
            <a:ext cx="2651760" cy="566928"/>
          </a:xfrm>
          <a:prstGeom prst="rect">
            <a:avLst/>
          </a:prstGeom>
          <a:noFill/>
        </p:spPr>
        <p:txBody>
          <a:bodyPr wrap="square" lIns="0" rIns="0" tIns="0" bIns="0">
            <a:spAutoFit/>
          </a:bodyPr>
          <a:lstStyle/>
          <a:p>
            <a:pPr algn="l">
              <a:lnSpc>
                <a:spcPct val="101000"/>
              </a:lnSpc>
              <a:spcAft>
                <a:spcPts val="300"/>
              </a:spcAft>
              <a:defRPr sz="1500" b="1">
                <a:solidFill>
                  <a:srgbClr val="203350"/>
                </a:solidFill>
                <a:latin typeface="DejaVu Sans"/>
              </a:defRPr>
            </a:pPr>
            <a:r>
              <a:t>Ensayo</a:t>
            </a:r>
          </a:p>
        </p:txBody>
      </p:sp>
      <p:sp>
        <p:nvSpPr>
          <p:cNvPr id="23" name="Rounded Rectangle 22"/>
          <p:cNvSpPr/>
          <p:nvPr/>
        </p:nvSpPr>
        <p:spPr>
          <a:xfrm>
            <a:off x="594360" y="3657600"/>
            <a:ext cx="5093207" cy="73152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1520" y="3794760"/>
            <a:ext cx="4846320" cy="594360"/>
          </a:xfrm>
          <a:prstGeom prst="rect">
            <a:avLst/>
          </a:prstGeom>
          <a:noFill/>
        </p:spPr>
        <p:txBody>
          <a:bodyPr wrap="square" lIns="0" rIns="0" tIns="0" bIns="0">
            <a:spAutoFit/>
          </a:bodyPr>
          <a:lstStyle/>
          <a:p>
            <a:pPr algn="l">
              <a:lnSpc>
                <a:spcPct val="101000"/>
              </a:lnSpc>
              <a:spcAft>
                <a:spcPts val="300"/>
              </a:spcAft>
              <a:defRPr sz="1500" b="0">
                <a:solidFill>
                  <a:srgbClr val="203350"/>
                </a:solidFill>
                <a:latin typeface="DejaVu Sans"/>
              </a:defRPr>
            </a:pPr>
            <a:r>
              <a:t>ch4_ent · kg CH₄/L</a:t>
            </a:r>
          </a:p>
        </p:txBody>
      </p:sp>
      <p:sp>
        <p:nvSpPr>
          <p:cNvPr id="25" name="Rounded Rectangle 24"/>
          <p:cNvSpPr/>
          <p:nvPr/>
        </p:nvSpPr>
        <p:spPr>
          <a:xfrm>
            <a:off x="5715000" y="3657600"/>
            <a:ext cx="2898648" cy="73152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852160" y="3794760"/>
            <a:ext cx="2651760" cy="594360"/>
          </a:xfrm>
          <a:prstGeom prst="rect">
            <a:avLst/>
          </a:prstGeom>
          <a:noFill/>
        </p:spPr>
        <p:txBody>
          <a:bodyPr wrap="square" lIns="0" rIns="0" tIns="0" bIns="0">
            <a:spAutoFit/>
          </a:bodyPr>
          <a:lstStyle/>
          <a:p>
            <a:pPr algn="l">
              <a:lnSpc>
                <a:spcPct val="101000"/>
              </a:lnSpc>
              <a:spcAft>
                <a:spcPts val="300"/>
              </a:spcAft>
              <a:defRPr sz="1500" b="0">
                <a:solidFill>
                  <a:srgbClr val="203350"/>
                </a:solidFill>
                <a:latin typeface="DejaVu Sans"/>
              </a:defRPr>
            </a:pPr>
            <a:r>
              <a:t>0.05</a:t>
            </a:r>
          </a:p>
        </p:txBody>
      </p:sp>
      <p:sp>
        <p:nvSpPr>
          <p:cNvPr id="27" name="Rounded Rectangle 26"/>
          <p:cNvSpPr/>
          <p:nvPr/>
        </p:nvSpPr>
        <p:spPr>
          <a:xfrm>
            <a:off x="8641080" y="3657600"/>
            <a:ext cx="2898648" cy="73152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778240" y="3794760"/>
            <a:ext cx="2651760" cy="594360"/>
          </a:xfrm>
          <a:prstGeom prst="rect">
            <a:avLst/>
          </a:prstGeom>
          <a:noFill/>
        </p:spPr>
        <p:txBody>
          <a:bodyPr wrap="square" lIns="0" rIns="0" tIns="0" bIns="0">
            <a:spAutoFit/>
          </a:bodyPr>
          <a:lstStyle/>
          <a:p>
            <a:pPr algn="l">
              <a:lnSpc>
                <a:spcPct val="101000"/>
              </a:lnSpc>
              <a:spcAft>
                <a:spcPts val="300"/>
              </a:spcAft>
              <a:defRPr sz="1500" b="0">
                <a:solidFill>
                  <a:srgbClr val="203350"/>
                </a:solidFill>
                <a:latin typeface="DejaVu Sans"/>
              </a:defRPr>
            </a:pPr>
            <a:r>
              <a:t>0.04</a:t>
            </a:r>
          </a:p>
        </p:txBody>
      </p:sp>
      <p:sp>
        <p:nvSpPr>
          <p:cNvPr id="29" name="Rounded Rectangle 28"/>
          <p:cNvSpPr/>
          <p:nvPr/>
        </p:nvSpPr>
        <p:spPr>
          <a:xfrm>
            <a:off x="594360" y="4434840"/>
            <a:ext cx="5093207" cy="731520"/>
          </a:xfrm>
          <a:prstGeom prst="roundRect">
            <a:avLst>
              <a:gd name="adj" fmla="val 8000"/>
            </a:avLst>
          </a:prstGeom>
          <a:solidFill>
            <a:srgbClr val="ED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1520" y="4572000"/>
            <a:ext cx="4846320" cy="594360"/>
          </a:xfrm>
          <a:prstGeom prst="rect">
            <a:avLst/>
          </a:prstGeom>
          <a:noFill/>
        </p:spPr>
        <p:txBody>
          <a:bodyPr wrap="square" lIns="0" rIns="0" tIns="0" bIns="0">
            <a:spAutoFit/>
          </a:bodyPr>
          <a:lstStyle/>
          <a:p>
            <a:pPr algn="l">
              <a:lnSpc>
                <a:spcPct val="101000"/>
              </a:lnSpc>
              <a:spcAft>
                <a:spcPts val="300"/>
              </a:spcAft>
              <a:defRPr sz="1500" b="0">
                <a:solidFill>
                  <a:srgbClr val="203350"/>
                </a:solidFill>
                <a:latin typeface="DejaVu Sans"/>
              </a:defRPr>
            </a:pPr>
            <a:r>
              <a:t>GWP100 · kg CO₂ eq/L</a:t>
            </a:r>
          </a:p>
        </p:txBody>
      </p:sp>
      <p:sp>
        <p:nvSpPr>
          <p:cNvPr id="31" name="Rounded Rectangle 30"/>
          <p:cNvSpPr/>
          <p:nvPr/>
        </p:nvSpPr>
        <p:spPr>
          <a:xfrm>
            <a:off x="5715000" y="4434840"/>
            <a:ext cx="2898648" cy="731520"/>
          </a:xfrm>
          <a:prstGeom prst="roundRect">
            <a:avLst>
              <a:gd name="adj" fmla="val 8000"/>
            </a:avLst>
          </a:prstGeom>
          <a:solidFill>
            <a:srgbClr val="ED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852160" y="4572000"/>
            <a:ext cx="2651760" cy="594360"/>
          </a:xfrm>
          <a:prstGeom prst="rect">
            <a:avLst/>
          </a:prstGeom>
          <a:noFill/>
        </p:spPr>
        <p:txBody>
          <a:bodyPr wrap="square" lIns="0" rIns="0" tIns="0" bIns="0">
            <a:spAutoFit/>
          </a:bodyPr>
          <a:lstStyle/>
          <a:p>
            <a:pPr algn="l">
              <a:lnSpc>
                <a:spcPct val="101000"/>
              </a:lnSpc>
              <a:spcAft>
                <a:spcPts val="300"/>
              </a:spcAft>
              <a:defRPr sz="1500" b="0">
                <a:solidFill>
                  <a:srgbClr val="203350"/>
                </a:solidFill>
                <a:latin typeface="DejaVu Sans"/>
              </a:defRPr>
            </a:pPr>
            <a:r>
              <a:t>1.89628875</a:t>
            </a:r>
          </a:p>
        </p:txBody>
      </p:sp>
      <p:sp>
        <p:nvSpPr>
          <p:cNvPr id="33" name="Rounded Rectangle 32"/>
          <p:cNvSpPr/>
          <p:nvPr/>
        </p:nvSpPr>
        <p:spPr>
          <a:xfrm>
            <a:off x="8641080" y="4434840"/>
            <a:ext cx="2898648" cy="731520"/>
          </a:xfrm>
          <a:prstGeom prst="roundRect">
            <a:avLst>
              <a:gd name="adj" fmla="val 8000"/>
            </a:avLst>
          </a:prstGeom>
          <a:solidFill>
            <a:srgbClr val="ED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778240" y="4572000"/>
            <a:ext cx="2651760" cy="594360"/>
          </a:xfrm>
          <a:prstGeom prst="rect">
            <a:avLst/>
          </a:prstGeom>
          <a:noFill/>
        </p:spPr>
        <p:txBody>
          <a:bodyPr wrap="square" lIns="0" rIns="0" tIns="0" bIns="0">
            <a:spAutoFit/>
          </a:bodyPr>
          <a:lstStyle/>
          <a:p>
            <a:pPr algn="l">
              <a:lnSpc>
                <a:spcPct val="101000"/>
              </a:lnSpc>
              <a:spcAft>
                <a:spcPts val="300"/>
              </a:spcAft>
              <a:defRPr sz="1500" b="0">
                <a:solidFill>
                  <a:srgbClr val="203350"/>
                </a:solidFill>
                <a:latin typeface="DejaVu Sans"/>
              </a:defRPr>
            </a:pPr>
            <a:r>
              <a:t>¿Tu predicción?</a:t>
            </a:r>
          </a:p>
        </p:txBody>
      </p:sp>
      <p:sp>
        <p:nvSpPr>
          <p:cNvPr id="35" name="Rounded Rectangle 34">
            <a:hlinkClick action="ppaction://hlinksldjump" r:id="rId8"/>
          </p:cNvPr>
          <p:cNvSpPr/>
          <p:nvPr/>
        </p:nvSpPr>
        <p:spPr>
          <a:xfrm>
            <a:off x="777240" y="5650992"/>
            <a:ext cx="3200400" cy="502920"/>
          </a:xfrm>
          <a:prstGeom prst="roundRect">
            <a:avLst>
              <a:gd name="adj" fmla="val 8000"/>
            </a:avLst>
          </a:prstGeom>
          <a:solidFill>
            <a:srgbClr val="806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a:hlinkClick action="ppaction://hlinksldjump" r:id="rId8"/>
          </p:cNvPr>
          <p:cNvSpPr txBox="1"/>
          <p:nvPr/>
        </p:nvSpPr>
        <p:spPr>
          <a:xfrm>
            <a:off x="886968" y="5733288"/>
            <a:ext cx="2980944" cy="411480"/>
          </a:xfrm>
          <a:prstGeom prst="rect">
            <a:avLst/>
          </a:prstGeom>
          <a:noFill/>
        </p:spPr>
        <p:txBody>
          <a:bodyPr wrap="square" lIns="0" rIns="0" tIns="0" bIns="0">
            <a:spAutoFit/>
          </a:bodyPr>
          <a:lstStyle/>
          <a:p>
            <a:pPr algn="l">
              <a:lnSpc>
                <a:spcPct val="101000"/>
              </a:lnSpc>
              <a:spcAft>
                <a:spcPts val="300"/>
              </a:spcAft>
              <a:defRPr sz="1300" b="1">
                <a:solidFill>
                  <a:srgbClr val="FFFFFF"/>
                </a:solidFill>
                <a:latin typeface="DejaVu Sans"/>
              </a:defRPr>
            </a:pPr>
            <a:r>
              <a:t>Contrastar sensibilidad</a:t>
            </a:r>
          </a:p>
        </p:txBody>
      </p:sp>
      <p:sp>
        <p:nvSpPr>
          <p:cNvPr id="37" name="TextBox 36"/>
          <p:cNvSpPr txBox="1"/>
          <p:nvPr/>
        </p:nvSpPr>
        <p:spPr>
          <a:xfrm>
            <a:off x="4325112" y="5742432"/>
            <a:ext cx="6949440" cy="320040"/>
          </a:xfrm>
          <a:prstGeom prst="rect">
            <a:avLst/>
          </a:prstGeom>
          <a:noFill/>
        </p:spPr>
        <p:txBody>
          <a:bodyPr wrap="square" lIns="0" rIns="0" tIns="0" bIns="0">
            <a:spAutoFit/>
          </a:bodyPr>
          <a:lstStyle/>
          <a:p>
            <a:pPr algn="l">
              <a:lnSpc>
                <a:spcPct val="101000"/>
              </a:lnSpc>
              <a:spcAft>
                <a:spcPts val="300"/>
              </a:spcAft>
              <a:defRPr sz="1300" b="0">
                <a:solidFill>
                  <a:srgbClr val="203350"/>
                </a:solidFill>
                <a:latin typeface="DejaVu Sans"/>
              </a:defRPr>
            </a:pPr>
            <a:r>
              <a:t>Guardar línea base → cambiar → calcular → restaurar.</a:t>
            </a:r>
          </a:p>
        </p:txBody>
      </p:sp>
    </p:spTree>
  </p:cSld>
  <p:clrMapOvr>
    <a:masterClrMapping/>
  </p:clrMapOvr>
  <p:transition advClick="1">
    <p:fade/>
  </p:transition>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9FBFF"/>
        </a:solidFill>
        <a:effectLst/>
      </p:bgPr>
    </p:bg>
    <p:spTree>
      <p:nvGrpSpPr>
        <p:cNvPr id="1" name=""/>
        <p:cNvGrpSpPr/>
        <p:nvPr/>
      </p:nvGrpSpPr>
      <p:grpSpPr/>
      <p:sp>
        <p:nvSpPr>
          <p:cNvPr id="2" name="TextBox 1"/>
          <p:cNvSpPr txBox="1"/>
          <p:nvPr/>
        </p:nvSpPr>
        <p:spPr>
          <a:xfrm>
            <a:off x="548640" y="365760"/>
            <a:ext cx="7223760" cy="228600"/>
          </a:xfrm>
          <a:prstGeom prst="rect">
            <a:avLst/>
          </a:prstGeom>
          <a:noFill/>
        </p:spPr>
        <p:txBody>
          <a:bodyPr wrap="square" lIns="0" rIns="0" tIns="0" bIns="0">
            <a:spAutoFit/>
          </a:bodyPr>
          <a:lstStyle/>
          <a:p>
            <a:pPr algn="l">
              <a:lnSpc>
                <a:spcPct val="101000"/>
              </a:lnSpc>
              <a:spcAft>
                <a:spcPts val="300"/>
              </a:spcAft>
              <a:defRPr sz="930" b="1">
                <a:solidFill>
                  <a:srgbClr val="8060BA"/>
                </a:solidFill>
                <a:latin typeface="DejaVu Sans"/>
              </a:defRPr>
            </a:pPr>
            <a:r>
              <a:t>INTERPRETACIÓN RESPONSABLE</a:t>
            </a:r>
          </a:p>
        </p:txBody>
      </p:sp>
      <p:sp>
        <p:nvSpPr>
          <p:cNvPr id="3" name="Rounded Rectangle 2">
            <a:hlinkClick action="ppaction://hlinksldjump" r:id="rId2"/>
          </p:cNvPr>
          <p:cNvSpPr/>
          <p:nvPr/>
        </p:nvSpPr>
        <p:spPr>
          <a:xfrm>
            <a:off x="8165592" y="301752"/>
            <a:ext cx="813816" cy="310896"/>
          </a:xfrm>
          <a:prstGeom prst="roundRect">
            <a:avLst>
              <a:gd name="adj" fmla="val 8000"/>
            </a:avLst>
          </a:prstGeom>
          <a:solidFill>
            <a:srgbClr val="E0F7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2"/>
          </p:cNvPr>
          <p:cNvSpPr txBox="1"/>
          <p:nvPr/>
        </p:nvSpPr>
        <p:spPr>
          <a:xfrm>
            <a:off x="8275319" y="384048"/>
            <a:ext cx="594360" cy="219456"/>
          </a:xfrm>
          <a:prstGeom prst="rect">
            <a:avLst/>
          </a:prstGeom>
          <a:noFill/>
        </p:spPr>
        <p:txBody>
          <a:bodyPr wrap="square" lIns="0" rIns="0" tIns="0" bIns="0">
            <a:spAutoFit/>
          </a:bodyPr>
          <a:lstStyle/>
          <a:p>
            <a:pPr algn="l">
              <a:lnSpc>
                <a:spcPct val="101000"/>
              </a:lnSpc>
              <a:spcAft>
                <a:spcPts val="300"/>
              </a:spcAft>
              <a:defRPr sz="800" b="1">
                <a:solidFill>
                  <a:srgbClr val="203350"/>
                </a:solidFill>
                <a:latin typeface="DejaVu Sans"/>
              </a:defRPr>
            </a:pPr>
            <a:r>
              <a:t>Preparar</a:t>
            </a:r>
          </a:p>
        </p:txBody>
      </p:sp>
      <p:sp>
        <p:nvSpPr>
          <p:cNvPr id="5" name="Rounded Rectangle 4">
            <a:hlinkClick action="ppaction://hlinksldjump" r:id="rId3"/>
          </p:cNvPr>
          <p:cNvSpPr/>
          <p:nvPr/>
        </p:nvSpPr>
        <p:spPr>
          <a:xfrm>
            <a:off x="9043416" y="301752"/>
            <a:ext cx="813816" cy="310896"/>
          </a:xfrm>
          <a:prstGeom prst="roundRect">
            <a:avLst>
              <a:gd name="adj" fmla="val 8000"/>
            </a:avLst>
          </a:prstGeom>
          <a:solidFill>
            <a:srgbClr val="E2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3"/>
          </p:cNvPr>
          <p:cNvSpPr txBox="1"/>
          <p:nvPr/>
        </p:nvSpPr>
        <p:spPr>
          <a:xfrm>
            <a:off x="9153144" y="384048"/>
            <a:ext cx="594360" cy="219456"/>
          </a:xfrm>
          <a:prstGeom prst="rect">
            <a:avLst/>
          </a:prstGeom>
          <a:noFill/>
        </p:spPr>
        <p:txBody>
          <a:bodyPr wrap="square" lIns="0" rIns="0" tIns="0" bIns="0">
            <a:spAutoFit/>
          </a:bodyPr>
          <a:lstStyle/>
          <a:p>
            <a:pPr algn="l">
              <a:lnSpc>
                <a:spcPct val="101000"/>
              </a:lnSpc>
              <a:spcAft>
                <a:spcPts val="300"/>
              </a:spcAft>
              <a:defRPr sz="800" b="1">
                <a:solidFill>
                  <a:srgbClr val="203350"/>
                </a:solidFill>
                <a:latin typeface="DejaVu Sans"/>
              </a:defRPr>
            </a:pPr>
            <a:r>
              <a:t>Importar</a:t>
            </a:r>
          </a:p>
        </p:txBody>
      </p:sp>
      <p:sp>
        <p:nvSpPr>
          <p:cNvPr id="7" name="Rounded Rectangle 6">
            <a:hlinkClick action="ppaction://hlinksldjump" r:id="rId4"/>
          </p:cNvPr>
          <p:cNvSpPr/>
          <p:nvPr/>
        </p:nvSpPr>
        <p:spPr>
          <a:xfrm>
            <a:off x="9921240" y="301752"/>
            <a:ext cx="813816" cy="310896"/>
          </a:xfrm>
          <a:prstGeom prst="roundRect">
            <a:avLst>
              <a:gd name="adj" fmla="val 8000"/>
            </a:avLst>
          </a:prstGeom>
          <a:solidFill>
            <a:srgbClr val="EEE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4"/>
          </p:cNvPr>
          <p:cNvSpPr txBox="1"/>
          <p:nvPr/>
        </p:nvSpPr>
        <p:spPr>
          <a:xfrm>
            <a:off x="10030967" y="384048"/>
            <a:ext cx="594360" cy="219456"/>
          </a:xfrm>
          <a:prstGeom prst="rect">
            <a:avLst/>
          </a:prstGeom>
          <a:noFill/>
        </p:spPr>
        <p:txBody>
          <a:bodyPr wrap="square" lIns="0" rIns="0" tIns="0" bIns="0">
            <a:spAutoFit/>
          </a:bodyPr>
          <a:lstStyle/>
          <a:p>
            <a:pPr algn="l">
              <a:lnSpc>
                <a:spcPct val="101000"/>
              </a:lnSpc>
              <a:spcAft>
                <a:spcPts val="300"/>
              </a:spcAft>
              <a:defRPr sz="800" b="1">
                <a:solidFill>
                  <a:srgbClr val="203350"/>
                </a:solidFill>
                <a:latin typeface="DejaVu Sans"/>
              </a:defRPr>
            </a:pPr>
            <a:r>
              <a:t>Calcular</a:t>
            </a:r>
          </a:p>
        </p:txBody>
      </p:sp>
      <p:sp>
        <p:nvSpPr>
          <p:cNvPr id="9" name="Rounded Rectangle 8">
            <a:hlinkClick action="ppaction://hlinksldjump" r:id="rId5"/>
          </p:cNvPr>
          <p:cNvSpPr/>
          <p:nvPr/>
        </p:nvSpPr>
        <p:spPr>
          <a:xfrm>
            <a:off x="10799063" y="301752"/>
            <a:ext cx="813816" cy="310896"/>
          </a:xfrm>
          <a:prstGeom prst="roundRect">
            <a:avLst>
              <a:gd name="adj" fmla="val 8000"/>
            </a:avLst>
          </a:prstGeom>
          <a:solidFill>
            <a:srgbClr val="FFF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5"/>
          </p:cNvPr>
          <p:cNvSpPr txBox="1"/>
          <p:nvPr/>
        </p:nvSpPr>
        <p:spPr>
          <a:xfrm>
            <a:off x="10908791" y="384048"/>
            <a:ext cx="594360" cy="219456"/>
          </a:xfrm>
          <a:prstGeom prst="rect">
            <a:avLst/>
          </a:prstGeom>
          <a:noFill/>
        </p:spPr>
        <p:txBody>
          <a:bodyPr wrap="square" lIns="0" rIns="0" tIns="0" bIns="0">
            <a:spAutoFit/>
          </a:bodyPr>
          <a:lstStyle/>
          <a:p>
            <a:pPr algn="l">
              <a:lnSpc>
                <a:spcPct val="101000"/>
              </a:lnSpc>
              <a:spcAft>
                <a:spcPts val="300"/>
              </a:spcAft>
              <a:defRPr sz="749" b="1">
                <a:solidFill>
                  <a:srgbClr val="203350"/>
                </a:solidFill>
                <a:latin typeface="DejaVu Sans"/>
              </a:defRPr>
            </a:pPr>
            <a:r>
              <a:t>Comprobar</a:t>
            </a:r>
          </a:p>
        </p:txBody>
      </p:sp>
      <p:sp>
        <p:nvSpPr>
          <p:cNvPr id="11" name="TextBox 10"/>
          <p:cNvSpPr txBox="1"/>
          <p:nvPr/>
        </p:nvSpPr>
        <p:spPr>
          <a:xfrm>
            <a:off x="548640" y="886968"/>
            <a:ext cx="11064240" cy="1234440"/>
          </a:xfrm>
          <a:prstGeom prst="rect">
            <a:avLst/>
          </a:prstGeom>
          <a:noFill/>
        </p:spPr>
        <p:txBody>
          <a:bodyPr wrap="square" lIns="0" rIns="0" tIns="0" bIns="0">
            <a:spAutoFit/>
          </a:bodyPr>
          <a:lstStyle/>
          <a:p>
            <a:pPr algn="l">
              <a:lnSpc>
                <a:spcPct val="101000"/>
              </a:lnSpc>
              <a:spcAft>
                <a:spcPts val="300"/>
              </a:spcAft>
              <a:defRPr sz="3900" b="1">
                <a:solidFill>
                  <a:srgbClr val="203350"/>
                </a:solidFill>
                <a:latin typeface="DejaVu Sans"/>
              </a:defRPr>
            </a:pPr>
            <a:r>
              <a:t>Lo que el ejercicio demuestra</a:t>
            </a:r>
          </a:p>
          <a:p>
            <a:pPr algn="l">
              <a:lnSpc>
                <a:spcPct val="101000"/>
              </a:lnSpc>
              <a:spcAft>
                <a:spcPts val="300"/>
              </a:spcAft>
              <a:defRPr sz="3900" b="1">
                <a:solidFill>
                  <a:srgbClr val="203350"/>
                </a:solidFill>
                <a:latin typeface="DejaVu Sans"/>
              </a:defRPr>
            </a:pPr>
            <a:r>
              <a:t>y lo que queda por estudiar</a:t>
            </a:r>
          </a:p>
        </p:txBody>
      </p:sp>
      <p:sp>
        <p:nvSpPr>
          <p:cNvPr id="12" name="TextBox 11"/>
          <p:cNvSpPr txBox="1"/>
          <p:nvPr/>
        </p:nvSpPr>
        <p:spPr>
          <a:xfrm>
            <a:off x="548640" y="6446520"/>
            <a:ext cx="9784080" cy="219456"/>
          </a:xfrm>
          <a:prstGeom prst="rect">
            <a:avLst/>
          </a:prstGeom>
          <a:noFill/>
        </p:spPr>
        <p:txBody>
          <a:bodyPr wrap="square" lIns="0" rIns="0" tIns="0" bIns="0">
            <a:spAutoFit/>
          </a:bodyPr>
          <a:lstStyle/>
          <a:p>
            <a:pPr algn="l">
              <a:lnSpc>
                <a:spcPct val="101000"/>
              </a:lnSpc>
              <a:spcAft>
                <a:spcPts val="300"/>
              </a:spcAft>
              <a:defRPr sz="810" b="0">
                <a:solidFill>
                  <a:srgbClr val="5C6E83"/>
                </a:solidFill>
                <a:latin typeface="DejaVu Sans"/>
              </a:defRPr>
            </a:pPr>
            <a:r>
              <a:t>Límites explícitos del inventario, la frontera y el método docente</a:t>
            </a:r>
          </a:p>
        </p:txBody>
      </p:sp>
      <p:sp>
        <p:nvSpPr>
          <p:cNvPr id="13" name="Rounded Rectangle 12">
            <a:hlinkClick action="ppaction://hlinksldjump" r:id="rId6"/>
          </p:cNvPr>
          <p:cNvSpPr/>
          <p:nvPr/>
        </p:nvSpPr>
        <p:spPr>
          <a:xfrm>
            <a:off x="10442448" y="6400800"/>
            <a:ext cx="640080" cy="265176"/>
          </a:xfrm>
          <a:prstGeom prst="roundRect">
            <a:avLst>
              <a:gd name="adj" fmla="val 8000"/>
            </a:avLst>
          </a:prstGeom>
          <a:solidFill>
            <a:srgbClr val="EEE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a:hlinkClick action="ppaction://hlinksldjump" r:id="rId6"/>
          </p:cNvPr>
          <p:cNvSpPr txBox="1"/>
          <p:nvPr/>
        </p:nvSpPr>
        <p:spPr>
          <a:xfrm>
            <a:off x="10552176" y="6483096"/>
            <a:ext cx="420623" cy="173735"/>
          </a:xfrm>
          <a:prstGeom prst="rect">
            <a:avLst/>
          </a:prstGeom>
          <a:noFill/>
        </p:spPr>
        <p:txBody>
          <a:bodyPr wrap="square" lIns="0" rIns="0" tIns="0" bIns="0">
            <a:spAutoFit/>
          </a:bodyPr>
          <a:lstStyle/>
          <a:p>
            <a:pPr algn="l">
              <a:lnSpc>
                <a:spcPct val="101000"/>
              </a:lnSpc>
              <a:spcAft>
                <a:spcPts val="300"/>
              </a:spcAft>
              <a:defRPr sz="800" b="1">
                <a:solidFill>
                  <a:srgbClr val="8060BA"/>
                </a:solidFill>
                <a:latin typeface="DejaVu Sans"/>
              </a:defRPr>
            </a:pPr>
            <a:r>
              <a:t>Ruta</a:t>
            </a:r>
          </a:p>
        </p:txBody>
      </p:sp>
      <p:sp>
        <p:nvSpPr>
          <p:cNvPr id="15" name="TextBox 14"/>
          <p:cNvSpPr txBox="1"/>
          <p:nvPr/>
        </p:nvSpPr>
        <p:spPr>
          <a:xfrm>
            <a:off x="11228832" y="6400800"/>
            <a:ext cx="457200" cy="274320"/>
          </a:xfrm>
          <a:prstGeom prst="rect">
            <a:avLst/>
          </a:prstGeom>
          <a:noFill/>
        </p:spPr>
        <p:txBody>
          <a:bodyPr wrap="square" lIns="0" rIns="0" tIns="0" bIns="0">
            <a:spAutoFit/>
          </a:bodyPr>
          <a:lstStyle/>
          <a:p>
            <a:pPr algn="r">
              <a:lnSpc>
                <a:spcPct val="101000"/>
              </a:lnSpc>
              <a:spcAft>
                <a:spcPts val="300"/>
              </a:spcAft>
              <a:defRPr sz="1300" b="1">
                <a:solidFill>
                  <a:srgbClr val="203350"/>
                </a:solidFill>
                <a:latin typeface="DejaVu Sans"/>
              </a:defRPr>
            </a:pPr>
            <a:r>
              <a:t>19</a:t>
            </a:r>
          </a:p>
        </p:txBody>
      </p:sp>
      <p:sp>
        <p:nvSpPr>
          <p:cNvPr id="16" name="Rounded Rectangle 15"/>
          <p:cNvSpPr/>
          <p:nvPr/>
        </p:nvSpPr>
        <p:spPr>
          <a:xfrm>
            <a:off x="594360" y="2724912"/>
            <a:ext cx="3602736" cy="3154680"/>
          </a:xfrm>
          <a:prstGeom prst="roundRect">
            <a:avLst>
              <a:gd name="adj" fmla="val 8000"/>
            </a:avLst>
          </a:prstGeom>
          <a:solidFill>
            <a:srgbClr val="E0F7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ico_check.png"/>
          <p:cNvPicPr>
            <a:picLocks noChangeAspect="1"/>
          </p:cNvPicPr>
          <p:nvPr/>
        </p:nvPicPr>
        <p:blipFill>
          <a:blip r:embed="rId8"/>
          <a:stretch>
            <a:fillRect/>
          </a:stretch>
        </p:blipFill>
        <p:spPr>
          <a:xfrm>
            <a:off x="886968" y="2999232"/>
            <a:ext cx="914400" cy="914400"/>
          </a:xfrm>
          <a:prstGeom prst="rect">
            <a:avLst/>
          </a:prstGeom>
        </p:spPr>
      </p:pic>
      <p:sp>
        <p:nvSpPr>
          <p:cNvPr id="18" name="TextBox 17"/>
          <p:cNvSpPr txBox="1"/>
          <p:nvPr/>
        </p:nvSpPr>
        <p:spPr>
          <a:xfrm>
            <a:off x="868680" y="4206240"/>
            <a:ext cx="2999232" cy="640080"/>
          </a:xfrm>
          <a:prstGeom prst="rect">
            <a:avLst/>
          </a:prstGeom>
          <a:noFill/>
        </p:spPr>
        <p:txBody>
          <a:bodyPr wrap="square" lIns="0" rIns="0" tIns="0" bIns="0">
            <a:spAutoFit/>
          </a:bodyPr>
          <a:lstStyle/>
          <a:p>
            <a:pPr algn="l">
              <a:lnSpc>
                <a:spcPct val="101000"/>
              </a:lnSpc>
              <a:spcAft>
                <a:spcPts val="300"/>
              </a:spcAft>
              <a:defRPr sz="2300" b="1">
                <a:solidFill>
                  <a:srgbClr val="203350"/>
                </a:solidFill>
                <a:latin typeface="DejaVu Sans"/>
              </a:defRPr>
            </a:pPr>
            <a:r>
              <a:t>Se comprueba</a:t>
            </a:r>
          </a:p>
        </p:txBody>
      </p:sp>
      <p:sp>
        <p:nvSpPr>
          <p:cNvPr id="19" name="TextBox 18"/>
          <p:cNvSpPr txBox="1"/>
          <p:nvPr/>
        </p:nvSpPr>
        <p:spPr>
          <a:xfrm>
            <a:off x="868680" y="4937760"/>
            <a:ext cx="2971800" cy="685800"/>
          </a:xfrm>
          <a:prstGeom prst="rect">
            <a:avLst/>
          </a:prstGeom>
          <a:noFill/>
        </p:spPr>
        <p:txBody>
          <a:bodyPr wrap="square" lIns="0" rIns="0" tIns="0" bIns="0">
            <a:spAutoFit/>
          </a:bodyPr>
          <a:lstStyle/>
          <a:p>
            <a:pPr algn="l">
              <a:lnSpc>
                <a:spcPct val="101000"/>
              </a:lnSpc>
              <a:spcAft>
                <a:spcPts val="300"/>
              </a:spcAft>
              <a:defRPr sz="1600" b="0">
                <a:solidFill>
                  <a:srgbClr val="203350"/>
                </a:solidFill>
                <a:latin typeface="DejaVu Sans"/>
              </a:defRPr>
            </a:pPr>
            <a:r>
              <a:t>La coherencia del cálculo bajo supuestos documentados.</a:t>
            </a:r>
          </a:p>
        </p:txBody>
      </p:sp>
      <p:sp>
        <p:nvSpPr>
          <p:cNvPr id="20" name="Rounded Rectangle 19"/>
          <p:cNvSpPr/>
          <p:nvPr/>
        </p:nvSpPr>
        <p:spPr>
          <a:xfrm>
            <a:off x="4389120" y="2724912"/>
            <a:ext cx="3602736" cy="3154680"/>
          </a:xfrm>
          <a:prstGeom prst="roundRect">
            <a:avLst>
              <a:gd name="adj" fmla="val 8000"/>
            </a:avLst>
          </a:prstGeom>
          <a:solidFill>
            <a:srgbClr val="E2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ico_community.png"/>
          <p:cNvPicPr>
            <a:picLocks noChangeAspect="1"/>
          </p:cNvPicPr>
          <p:nvPr/>
        </p:nvPicPr>
        <p:blipFill>
          <a:blip r:embed="rId9"/>
          <a:stretch>
            <a:fillRect/>
          </a:stretch>
        </p:blipFill>
        <p:spPr>
          <a:xfrm>
            <a:off x="4681728" y="2999232"/>
            <a:ext cx="914400" cy="914400"/>
          </a:xfrm>
          <a:prstGeom prst="rect">
            <a:avLst/>
          </a:prstGeom>
        </p:spPr>
      </p:pic>
      <p:sp>
        <p:nvSpPr>
          <p:cNvPr id="22" name="TextBox 21"/>
          <p:cNvSpPr txBox="1"/>
          <p:nvPr/>
        </p:nvSpPr>
        <p:spPr>
          <a:xfrm>
            <a:off x="4663440" y="4206240"/>
            <a:ext cx="2999232" cy="640080"/>
          </a:xfrm>
          <a:prstGeom prst="rect">
            <a:avLst/>
          </a:prstGeom>
          <a:noFill/>
        </p:spPr>
        <p:txBody>
          <a:bodyPr wrap="square" lIns="0" rIns="0" tIns="0" bIns="0">
            <a:spAutoFit/>
          </a:bodyPr>
          <a:lstStyle/>
          <a:p>
            <a:pPr algn="l">
              <a:lnSpc>
                <a:spcPct val="101000"/>
              </a:lnSpc>
              <a:spcAft>
                <a:spcPts val="300"/>
              </a:spcAft>
              <a:defRPr sz="2000" b="1">
                <a:solidFill>
                  <a:srgbClr val="203350"/>
                </a:solidFill>
                <a:latin typeface="DejaVu Sans"/>
              </a:defRPr>
            </a:pPr>
            <a:r>
              <a:t>Se necesita contexto</a:t>
            </a:r>
          </a:p>
        </p:txBody>
      </p:sp>
      <p:sp>
        <p:nvSpPr>
          <p:cNvPr id="23" name="TextBox 22"/>
          <p:cNvSpPr txBox="1"/>
          <p:nvPr/>
        </p:nvSpPr>
        <p:spPr>
          <a:xfrm>
            <a:off x="4663440" y="4937760"/>
            <a:ext cx="2971800" cy="685800"/>
          </a:xfrm>
          <a:prstGeom prst="rect">
            <a:avLst/>
          </a:prstGeom>
          <a:noFill/>
        </p:spPr>
        <p:txBody>
          <a:bodyPr wrap="square" lIns="0" rIns="0" tIns="0" bIns="0">
            <a:spAutoFit/>
          </a:bodyPr>
          <a:lstStyle/>
          <a:p>
            <a:pPr algn="l">
              <a:lnSpc>
                <a:spcPct val="101000"/>
              </a:lnSpc>
              <a:spcAft>
                <a:spcPts val="300"/>
              </a:spcAft>
              <a:defRPr sz="1600" b="0">
                <a:solidFill>
                  <a:srgbClr val="203350"/>
                </a:solidFill>
                <a:latin typeface="DejaVu Sans"/>
              </a:defRPr>
            </a:pPr>
            <a:r>
              <a:t>Datos representativos, frontera y función apropiadas.</a:t>
            </a:r>
          </a:p>
        </p:txBody>
      </p:sp>
      <p:sp>
        <p:nvSpPr>
          <p:cNvPr id="24" name="Rounded Rectangle 23"/>
          <p:cNvSpPr/>
          <p:nvPr/>
        </p:nvSpPr>
        <p:spPr>
          <a:xfrm>
            <a:off x="8183880" y="2724912"/>
            <a:ext cx="3602736" cy="3154680"/>
          </a:xfrm>
          <a:prstGeom prst="roundRect">
            <a:avLst>
              <a:gd name="adj" fmla="val 8000"/>
            </a:avLst>
          </a:prstGeom>
          <a:solidFill>
            <a:srgbClr val="EEE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ico_book.png"/>
          <p:cNvPicPr>
            <a:picLocks noChangeAspect="1"/>
          </p:cNvPicPr>
          <p:nvPr/>
        </p:nvPicPr>
        <p:blipFill>
          <a:blip r:embed="rId10"/>
          <a:stretch>
            <a:fillRect/>
          </a:stretch>
        </p:blipFill>
        <p:spPr>
          <a:xfrm>
            <a:off x="8476488" y="2999232"/>
            <a:ext cx="914400" cy="914400"/>
          </a:xfrm>
          <a:prstGeom prst="rect">
            <a:avLst/>
          </a:prstGeom>
        </p:spPr>
      </p:pic>
      <p:sp>
        <p:nvSpPr>
          <p:cNvPr id="26" name="TextBox 25"/>
          <p:cNvSpPr txBox="1"/>
          <p:nvPr/>
        </p:nvSpPr>
        <p:spPr>
          <a:xfrm>
            <a:off x="8458200" y="4206240"/>
            <a:ext cx="2999232" cy="640080"/>
          </a:xfrm>
          <a:prstGeom prst="rect">
            <a:avLst/>
          </a:prstGeom>
          <a:noFill/>
        </p:spPr>
        <p:txBody>
          <a:bodyPr wrap="square" lIns="0" rIns="0" tIns="0" bIns="0">
            <a:spAutoFit/>
          </a:bodyPr>
          <a:lstStyle/>
          <a:p>
            <a:pPr algn="l">
              <a:lnSpc>
                <a:spcPct val="101000"/>
              </a:lnSpc>
              <a:spcAft>
                <a:spcPts val="300"/>
              </a:spcAft>
              <a:defRPr sz="1999" b="1">
                <a:solidFill>
                  <a:srgbClr val="203350"/>
                </a:solidFill>
                <a:latin typeface="DejaVu Sans"/>
              </a:defRPr>
            </a:pPr>
            <a:r>
              <a:t>Se reconoce el límite</a:t>
            </a:r>
          </a:p>
        </p:txBody>
      </p:sp>
      <p:sp>
        <p:nvSpPr>
          <p:cNvPr id="27" name="TextBox 26"/>
          <p:cNvSpPr txBox="1"/>
          <p:nvPr/>
        </p:nvSpPr>
        <p:spPr>
          <a:xfrm>
            <a:off x="8458200" y="4937760"/>
            <a:ext cx="2971800" cy="685800"/>
          </a:xfrm>
          <a:prstGeom prst="rect">
            <a:avLst/>
          </a:prstGeom>
          <a:noFill/>
        </p:spPr>
        <p:txBody>
          <a:bodyPr wrap="square" lIns="0" rIns="0" tIns="0" bIns="0">
            <a:spAutoFit/>
          </a:bodyPr>
          <a:lstStyle/>
          <a:p>
            <a:pPr algn="l">
              <a:lnSpc>
                <a:spcPct val="101000"/>
              </a:lnSpc>
              <a:spcAft>
                <a:spcPts val="300"/>
              </a:spcAft>
              <a:defRPr sz="1600" b="0">
                <a:solidFill>
                  <a:srgbClr val="203350"/>
                </a:solidFill>
                <a:latin typeface="DejaVu Sans"/>
              </a:defRPr>
            </a:pPr>
            <a:r>
              <a:t>Volumen no equivale a función nutricional.</a:t>
            </a:r>
          </a:p>
        </p:txBody>
      </p:sp>
    </p:spTree>
  </p:cSld>
  <p:clrMapOvr>
    <a:masterClrMapping/>
  </p:clrMapOvr>
  <p:transition advClick="1">
    <p:fade/>
  </p:transition>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9FBFF"/>
        </a:solidFill>
        <a:effectLst/>
      </p:bgPr>
    </p:bg>
    <p:spTree>
      <p:nvGrpSpPr>
        <p:cNvPr id="1" name=""/>
        <p:cNvGrpSpPr/>
        <p:nvPr/>
      </p:nvGrpSpPr>
      <p:grpSpPr/>
      <p:sp>
        <p:nvSpPr>
          <p:cNvPr id="2" name="TextBox 1"/>
          <p:cNvSpPr txBox="1"/>
          <p:nvPr/>
        </p:nvSpPr>
        <p:spPr>
          <a:xfrm>
            <a:off x="548640" y="365760"/>
            <a:ext cx="7223760" cy="228600"/>
          </a:xfrm>
          <a:prstGeom prst="rect">
            <a:avLst/>
          </a:prstGeom>
          <a:noFill/>
        </p:spPr>
        <p:txBody>
          <a:bodyPr wrap="square" lIns="0" rIns="0" tIns="0" bIns="0">
            <a:spAutoFit/>
          </a:bodyPr>
          <a:lstStyle/>
          <a:p>
            <a:pPr algn="l">
              <a:lnSpc>
                <a:spcPct val="101000"/>
              </a:lnSpc>
              <a:spcAft>
                <a:spcPts val="300"/>
              </a:spcAft>
              <a:defRPr sz="930" b="1">
                <a:solidFill>
                  <a:srgbClr val="8060BA"/>
                </a:solidFill>
                <a:latin typeface="DejaVu Sans"/>
              </a:defRPr>
            </a:pPr>
            <a:r>
              <a:t>CIERRE DE LA PRÁCTICA</a:t>
            </a:r>
          </a:p>
        </p:txBody>
      </p:sp>
      <p:sp>
        <p:nvSpPr>
          <p:cNvPr id="3" name="Rounded Rectangle 2">
            <a:hlinkClick action="ppaction://hlinksldjump" r:id="rId2"/>
          </p:cNvPr>
          <p:cNvSpPr/>
          <p:nvPr/>
        </p:nvSpPr>
        <p:spPr>
          <a:xfrm>
            <a:off x="8165592" y="301752"/>
            <a:ext cx="813816" cy="310896"/>
          </a:xfrm>
          <a:prstGeom prst="roundRect">
            <a:avLst>
              <a:gd name="adj" fmla="val 8000"/>
            </a:avLst>
          </a:prstGeom>
          <a:solidFill>
            <a:srgbClr val="E0F7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2"/>
          </p:cNvPr>
          <p:cNvSpPr txBox="1"/>
          <p:nvPr/>
        </p:nvSpPr>
        <p:spPr>
          <a:xfrm>
            <a:off x="8275319" y="384048"/>
            <a:ext cx="594360" cy="219456"/>
          </a:xfrm>
          <a:prstGeom prst="rect">
            <a:avLst/>
          </a:prstGeom>
          <a:noFill/>
        </p:spPr>
        <p:txBody>
          <a:bodyPr wrap="square" lIns="0" rIns="0" tIns="0" bIns="0">
            <a:spAutoFit/>
          </a:bodyPr>
          <a:lstStyle/>
          <a:p>
            <a:pPr algn="l">
              <a:lnSpc>
                <a:spcPct val="101000"/>
              </a:lnSpc>
              <a:spcAft>
                <a:spcPts val="300"/>
              </a:spcAft>
              <a:defRPr sz="800" b="1">
                <a:solidFill>
                  <a:srgbClr val="203350"/>
                </a:solidFill>
                <a:latin typeface="DejaVu Sans"/>
              </a:defRPr>
            </a:pPr>
            <a:r>
              <a:t>Preparar</a:t>
            </a:r>
          </a:p>
        </p:txBody>
      </p:sp>
      <p:sp>
        <p:nvSpPr>
          <p:cNvPr id="5" name="Rounded Rectangle 4">
            <a:hlinkClick action="ppaction://hlinksldjump" r:id="rId3"/>
          </p:cNvPr>
          <p:cNvSpPr/>
          <p:nvPr/>
        </p:nvSpPr>
        <p:spPr>
          <a:xfrm>
            <a:off x="9043416" y="301752"/>
            <a:ext cx="813816" cy="310896"/>
          </a:xfrm>
          <a:prstGeom prst="roundRect">
            <a:avLst>
              <a:gd name="adj" fmla="val 8000"/>
            </a:avLst>
          </a:prstGeom>
          <a:solidFill>
            <a:srgbClr val="E2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3"/>
          </p:cNvPr>
          <p:cNvSpPr txBox="1"/>
          <p:nvPr/>
        </p:nvSpPr>
        <p:spPr>
          <a:xfrm>
            <a:off x="9153144" y="384048"/>
            <a:ext cx="594360" cy="219456"/>
          </a:xfrm>
          <a:prstGeom prst="rect">
            <a:avLst/>
          </a:prstGeom>
          <a:noFill/>
        </p:spPr>
        <p:txBody>
          <a:bodyPr wrap="square" lIns="0" rIns="0" tIns="0" bIns="0">
            <a:spAutoFit/>
          </a:bodyPr>
          <a:lstStyle/>
          <a:p>
            <a:pPr algn="l">
              <a:lnSpc>
                <a:spcPct val="101000"/>
              </a:lnSpc>
              <a:spcAft>
                <a:spcPts val="300"/>
              </a:spcAft>
              <a:defRPr sz="800" b="1">
                <a:solidFill>
                  <a:srgbClr val="203350"/>
                </a:solidFill>
                <a:latin typeface="DejaVu Sans"/>
              </a:defRPr>
            </a:pPr>
            <a:r>
              <a:t>Importar</a:t>
            </a:r>
          </a:p>
        </p:txBody>
      </p:sp>
      <p:sp>
        <p:nvSpPr>
          <p:cNvPr id="7" name="Rounded Rectangle 6">
            <a:hlinkClick action="ppaction://hlinksldjump" r:id="rId4"/>
          </p:cNvPr>
          <p:cNvSpPr/>
          <p:nvPr/>
        </p:nvSpPr>
        <p:spPr>
          <a:xfrm>
            <a:off x="9921240" y="301752"/>
            <a:ext cx="813816" cy="310896"/>
          </a:xfrm>
          <a:prstGeom prst="roundRect">
            <a:avLst>
              <a:gd name="adj" fmla="val 8000"/>
            </a:avLst>
          </a:prstGeom>
          <a:solidFill>
            <a:srgbClr val="EEE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4"/>
          </p:cNvPr>
          <p:cNvSpPr txBox="1"/>
          <p:nvPr/>
        </p:nvSpPr>
        <p:spPr>
          <a:xfrm>
            <a:off x="10030967" y="384048"/>
            <a:ext cx="594360" cy="219456"/>
          </a:xfrm>
          <a:prstGeom prst="rect">
            <a:avLst/>
          </a:prstGeom>
          <a:noFill/>
        </p:spPr>
        <p:txBody>
          <a:bodyPr wrap="square" lIns="0" rIns="0" tIns="0" bIns="0">
            <a:spAutoFit/>
          </a:bodyPr>
          <a:lstStyle/>
          <a:p>
            <a:pPr algn="l">
              <a:lnSpc>
                <a:spcPct val="101000"/>
              </a:lnSpc>
              <a:spcAft>
                <a:spcPts val="300"/>
              </a:spcAft>
              <a:defRPr sz="800" b="1">
                <a:solidFill>
                  <a:srgbClr val="203350"/>
                </a:solidFill>
                <a:latin typeface="DejaVu Sans"/>
              </a:defRPr>
            </a:pPr>
            <a:r>
              <a:t>Calcular</a:t>
            </a:r>
          </a:p>
        </p:txBody>
      </p:sp>
      <p:sp>
        <p:nvSpPr>
          <p:cNvPr id="9" name="Rounded Rectangle 8">
            <a:hlinkClick action="ppaction://hlinksldjump" r:id="rId5"/>
          </p:cNvPr>
          <p:cNvSpPr/>
          <p:nvPr/>
        </p:nvSpPr>
        <p:spPr>
          <a:xfrm>
            <a:off x="10799063" y="301752"/>
            <a:ext cx="813816" cy="310896"/>
          </a:xfrm>
          <a:prstGeom prst="roundRect">
            <a:avLst>
              <a:gd name="adj" fmla="val 8000"/>
            </a:avLst>
          </a:prstGeom>
          <a:solidFill>
            <a:srgbClr val="FFF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5"/>
          </p:cNvPr>
          <p:cNvSpPr txBox="1"/>
          <p:nvPr/>
        </p:nvSpPr>
        <p:spPr>
          <a:xfrm>
            <a:off x="10908791" y="384048"/>
            <a:ext cx="594360" cy="219456"/>
          </a:xfrm>
          <a:prstGeom prst="rect">
            <a:avLst/>
          </a:prstGeom>
          <a:noFill/>
        </p:spPr>
        <p:txBody>
          <a:bodyPr wrap="square" lIns="0" rIns="0" tIns="0" bIns="0">
            <a:spAutoFit/>
          </a:bodyPr>
          <a:lstStyle/>
          <a:p>
            <a:pPr algn="l">
              <a:lnSpc>
                <a:spcPct val="101000"/>
              </a:lnSpc>
              <a:spcAft>
                <a:spcPts val="300"/>
              </a:spcAft>
              <a:defRPr sz="749" b="1">
                <a:solidFill>
                  <a:srgbClr val="203350"/>
                </a:solidFill>
                <a:latin typeface="DejaVu Sans"/>
              </a:defRPr>
            </a:pPr>
            <a:r>
              <a:t>Comprobar</a:t>
            </a:r>
          </a:p>
        </p:txBody>
      </p:sp>
      <p:sp>
        <p:nvSpPr>
          <p:cNvPr id="11" name="TextBox 10"/>
          <p:cNvSpPr txBox="1"/>
          <p:nvPr/>
        </p:nvSpPr>
        <p:spPr>
          <a:xfrm>
            <a:off x="548640" y="886968"/>
            <a:ext cx="11064240" cy="1234440"/>
          </a:xfrm>
          <a:prstGeom prst="rect">
            <a:avLst/>
          </a:prstGeom>
          <a:noFill/>
        </p:spPr>
        <p:txBody>
          <a:bodyPr wrap="square" lIns="0" rIns="0" tIns="0" bIns="0">
            <a:spAutoFit/>
          </a:bodyPr>
          <a:lstStyle/>
          <a:p>
            <a:pPr algn="l">
              <a:lnSpc>
                <a:spcPct val="101000"/>
              </a:lnSpc>
              <a:spcAft>
                <a:spcPts val="300"/>
              </a:spcAft>
              <a:defRPr sz="3900" b="1">
                <a:solidFill>
                  <a:srgbClr val="203350"/>
                </a:solidFill>
                <a:latin typeface="DejaVu Sans"/>
              </a:defRPr>
            </a:pPr>
            <a:r>
              <a:t>Entrega evidencia</a:t>
            </a:r>
          </a:p>
          <a:p>
            <a:pPr algn="l">
              <a:lnSpc>
                <a:spcPct val="101000"/>
              </a:lnSpc>
              <a:spcAft>
                <a:spcPts val="300"/>
              </a:spcAft>
              <a:defRPr sz="3900" b="1">
                <a:solidFill>
                  <a:srgbClr val="203350"/>
                </a:solidFill>
                <a:latin typeface="DejaVu Sans"/>
              </a:defRPr>
            </a:pPr>
            <a:r>
              <a:t>que otra persona pueda revisar</a:t>
            </a:r>
          </a:p>
        </p:txBody>
      </p:sp>
      <p:sp>
        <p:nvSpPr>
          <p:cNvPr id="12" name="TextBox 11"/>
          <p:cNvSpPr txBox="1"/>
          <p:nvPr/>
        </p:nvSpPr>
        <p:spPr>
          <a:xfrm>
            <a:off x="566928" y="2121408"/>
            <a:ext cx="10972800" cy="338328"/>
          </a:xfrm>
          <a:prstGeom prst="rect">
            <a:avLst/>
          </a:prstGeom>
          <a:noFill/>
        </p:spPr>
        <p:txBody>
          <a:bodyPr wrap="square" lIns="0" rIns="0" tIns="0" bIns="0">
            <a:spAutoFit/>
          </a:bodyPr>
          <a:lstStyle/>
          <a:p>
            <a:pPr algn="l">
              <a:lnSpc>
                <a:spcPct val="101000"/>
              </a:lnSpc>
              <a:spcAft>
                <a:spcPts val="300"/>
              </a:spcAft>
              <a:defRPr sz="1450" b="0">
                <a:solidFill>
                  <a:srgbClr val="5C6E83"/>
                </a:solidFill>
                <a:latin typeface="DejaVu Sans"/>
              </a:defRPr>
            </a:pPr>
            <a:r>
              <a:t>Identifica versión, archivos, unidad funcional, método y resultados.</a:t>
            </a:r>
          </a:p>
        </p:txBody>
      </p:sp>
      <p:sp>
        <p:nvSpPr>
          <p:cNvPr id="13" name="TextBox 12"/>
          <p:cNvSpPr txBox="1"/>
          <p:nvPr/>
        </p:nvSpPr>
        <p:spPr>
          <a:xfrm>
            <a:off x="548640" y="6446520"/>
            <a:ext cx="9784080" cy="219456"/>
          </a:xfrm>
          <a:prstGeom prst="rect">
            <a:avLst/>
          </a:prstGeom>
          <a:noFill/>
        </p:spPr>
        <p:txBody>
          <a:bodyPr wrap="square" lIns="0" rIns="0" tIns="0" bIns="0">
            <a:spAutoFit/>
          </a:bodyPr>
          <a:lstStyle/>
          <a:p>
            <a:pPr algn="l">
              <a:lnSpc>
                <a:spcPct val="101000"/>
              </a:lnSpc>
              <a:spcAft>
                <a:spcPts val="300"/>
              </a:spcAft>
              <a:defRPr sz="810" b="0">
                <a:solidFill>
                  <a:srgbClr val="5C6E83"/>
                </a:solidFill>
                <a:latin typeface="DejaVu Sans"/>
              </a:defRPr>
            </a:pPr>
            <a:r>
              <a:t>Registro reproducible y evidencia solicitada en la guía</a:t>
            </a:r>
          </a:p>
        </p:txBody>
      </p:sp>
      <p:sp>
        <p:nvSpPr>
          <p:cNvPr id="14" name="Rounded Rectangle 13">
            <a:hlinkClick action="ppaction://hlinksldjump" r:id="rId6"/>
          </p:cNvPr>
          <p:cNvSpPr/>
          <p:nvPr/>
        </p:nvSpPr>
        <p:spPr>
          <a:xfrm>
            <a:off x="10442448" y="6400800"/>
            <a:ext cx="640080" cy="265176"/>
          </a:xfrm>
          <a:prstGeom prst="roundRect">
            <a:avLst>
              <a:gd name="adj" fmla="val 8000"/>
            </a:avLst>
          </a:prstGeom>
          <a:solidFill>
            <a:srgbClr val="EEE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a:hlinkClick action="ppaction://hlinksldjump" r:id="rId6"/>
          </p:cNvPr>
          <p:cNvSpPr txBox="1"/>
          <p:nvPr/>
        </p:nvSpPr>
        <p:spPr>
          <a:xfrm>
            <a:off x="10552176" y="6483096"/>
            <a:ext cx="420623" cy="173735"/>
          </a:xfrm>
          <a:prstGeom prst="rect">
            <a:avLst/>
          </a:prstGeom>
          <a:noFill/>
        </p:spPr>
        <p:txBody>
          <a:bodyPr wrap="square" lIns="0" rIns="0" tIns="0" bIns="0">
            <a:spAutoFit/>
          </a:bodyPr>
          <a:lstStyle/>
          <a:p>
            <a:pPr algn="l">
              <a:lnSpc>
                <a:spcPct val="101000"/>
              </a:lnSpc>
              <a:spcAft>
                <a:spcPts val="300"/>
              </a:spcAft>
              <a:defRPr sz="800" b="1">
                <a:solidFill>
                  <a:srgbClr val="8060BA"/>
                </a:solidFill>
                <a:latin typeface="DejaVu Sans"/>
              </a:defRPr>
            </a:pPr>
            <a:r>
              <a:t>Ruta</a:t>
            </a:r>
          </a:p>
        </p:txBody>
      </p:sp>
      <p:sp>
        <p:nvSpPr>
          <p:cNvPr id="16" name="TextBox 15"/>
          <p:cNvSpPr txBox="1"/>
          <p:nvPr/>
        </p:nvSpPr>
        <p:spPr>
          <a:xfrm>
            <a:off x="11228832" y="6400800"/>
            <a:ext cx="457200" cy="274320"/>
          </a:xfrm>
          <a:prstGeom prst="rect">
            <a:avLst/>
          </a:prstGeom>
          <a:noFill/>
        </p:spPr>
        <p:txBody>
          <a:bodyPr wrap="square" lIns="0" rIns="0" tIns="0" bIns="0">
            <a:spAutoFit/>
          </a:bodyPr>
          <a:lstStyle/>
          <a:p>
            <a:pPr algn="r">
              <a:lnSpc>
                <a:spcPct val="101000"/>
              </a:lnSpc>
              <a:spcAft>
                <a:spcPts val="300"/>
              </a:spcAft>
              <a:defRPr sz="1300" b="1">
                <a:solidFill>
                  <a:srgbClr val="203350"/>
                </a:solidFill>
                <a:latin typeface="DejaVu Sans"/>
              </a:defRPr>
            </a:pPr>
            <a:r>
              <a:t>20</a:t>
            </a:r>
          </a:p>
        </p:txBody>
      </p:sp>
      <p:pic>
        <p:nvPicPr>
          <p:cNvPr id="17" name="Picture 16" descr="evidence.png"/>
          <p:cNvPicPr>
            <a:picLocks noChangeAspect="1"/>
          </p:cNvPicPr>
          <p:nvPr/>
        </p:nvPicPr>
        <p:blipFill>
          <a:blip r:embed="rId8"/>
          <a:stretch>
            <a:fillRect/>
          </a:stretch>
        </p:blipFill>
        <p:spPr>
          <a:xfrm>
            <a:off x="594360" y="2633472"/>
            <a:ext cx="10972800" cy="3438144"/>
          </a:xfrm>
          <a:prstGeom prst="rect">
            <a:avLst/>
          </a:prstGeom>
        </p:spPr>
      </p:pic>
    </p:spTree>
  </p:cSld>
  <p:clrMapOvr>
    <a:masterClrMapping/>
  </p:clrMapOvr>
  <p:transition advClick="1">
    <p:fade/>
  </p:transition>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9FBFF"/>
        </a:solidFill>
        <a:effectLst/>
      </p:bgPr>
    </p:bg>
    <p:spTree>
      <p:nvGrpSpPr>
        <p:cNvPr id="1" name=""/>
        <p:cNvGrpSpPr/>
        <p:nvPr/>
      </p:nvGrpSpPr>
      <p:grpSpPr/>
      <p:sp>
        <p:nvSpPr>
          <p:cNvPr id="2" name="TextBox 1"/>
          <p:cNvSpPr txBox="1"/>
          <p:nvPr/>
        </p:nvSpPr>
        <p:spPr>
          <a:xfrm>
            <a:off x="548640" y="365760"/>
            <a:ext cx="7223760" cy="228600"/>
          </a:xfrm>
          <a:prstGeom prst="rect">
            <a:avLst/>
          </a:prstGeom>
          <a:noFill/>
        </p:spPr>
        <p:txBody>
          <a:bodyPr wrap="square" lIns="0" rIns="0" tIns="0" bIns="0">
            <a:spAutoFit/>
          </a:bodyPr>
          <a:lstStyle/>
          <a:p>
            <a:pPr algn="l">
              <a:lnSpc>
                <a:spcPct val="101000"/>
              </a:lnSpc>
              <a:spcAft>
                <a:spcPts val="300"/>
              </a:spcAft>
              <a:defRPr sz="930" b="1">
                <a:solidFill>
                  <a:srgbClr val="8060BA"/>
                </a:solidFill>
                <a:latin typeface="DejaVu Sans"/>
              </a:defRPr>
            </a:pPr>
            <a:r>
              <a:t>COMPRUEBA LA COMPRENSIÓN</a:t>
            </a:r>
          </a:p>
        </p:txBody>
      </p:sp>
      <p:sp>
        <p:nvSpPr>
          <p:cNvPr id="3" name="Rounded Rectangle 2">
            <a:hlinkClick action="ppaction://hlinksldjump" r:id="rId2"/>
          </p:cNvPr>
          <p:cNvSpPr/>
          <p:nvPr/>
        </p:nvSpPr>
        <p:spPr>
          <a:xfrm>
            <a:off x="8165592" y="301752"/>
            <a:ext cx="813816" cy="310896"/>
          </a:xfrm>
          <a:prstGeom prst="roundRect">
            <a:avLst>
              <a:gd name="adj" fmla="val 8000"/>
            </a:avLst>
          </a:prstGeom>
          <a:solidFill>
            <a:srgbClr val="E0F7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2"/>
          </p:cNvPr>
          <p:cNvSpPr txBox="1"/>
          <p:nvPr/>
        </p:nvSpPr>
        <p:spPr>
          <a:xfrm>
            <a:off x="8275319" y="384048"/>
            <a:ext cx="594360" cy="219456"/>
          </a:xfrm>
          <a:prstGeom prst="rect">
            <a:avLst/>
          </a:prstGeom>
          <a:noFill/>
        </p:spPr>
        <p:txBody>
          <a:bodyPr wrap="square" lIns="0" rIns="0" tIns="0" bIns="0">
            <a:spAutoFit/>
          </a:bodyPr>
          <a:lstStyle/>
          <a:p>
            <a:pPr algn="l">
              <a:lnSpc>
                <a:spcPct val="101000"/>
              </a:lnSpc>
              <a:spcAft>
                <a:spcPts val="300"/>
              </a:spcAft>
              <a:defRPr sz="800" b="1">
                <a:solidFill>
                  <a:srgbClr val="203350"/>
                </a:solidFill>
                <a:latin typeface="DejaVu Sans"/>
              </a:defRPr>
            </a:pPr>
            <a:r>
              <a:t>Preparar</a:t>
            </a:r>
          </a:p>
        </p:txBody>
      </p:sp>
      <p:sp>
        <p:nvSpPr>
          <p:cNvPr id="5" name="Rounded Rectangle 4">
            <a:hlinkClick action="ppaction://hlinksldjump" r:id="rId3"/>
          </p:cNvPr>
          <p:cNvSpPr/>
          <p:nvPr/>
        </p:nvSpPr>
        <p:spPr>
          <a:xfrm>
            <a:off x="9043416" y="301752"/>
            <a:ext cx="813816" cy="310896"/>
          </a:xfrm>
          <a:prstGeom prst="roundRect">
            <a:avLst>
              <a:gd name="adj" fmla="val 8000"/>
            </a:avLst>
          </a:prstGeom>
          <a:solidFill>
            <a:srgbClr val="E2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3"/>
          </p:cNvPr>
          <p:cNvSpPr txBox="1"/>
          <p:nvPr/>
        </p:nvSpPr>
        <p:spPr>
          <a:xfrm>
            <a:off x="9153144" y="384048"/>
            <a:ext cx="594360" cy="219456"/>
          </a:xfrm>
          <a:prstGeom prst="rect">
            <a:avLst/>
          </a:prstGeom>
          <a:noFill/>
        </p:spPr>
        <p:txBody>
          <a:bodyPr wrap="square" lIns="0" rIns="0" tIns="0" bIns="0">
            <a:spAutoFit/>
          </a:bodyPr>
          <a:lstStyle/>
          <a:p>
            <a:pPr algn="l">
              <a:lnSpc>
                <a:spcPct val="101000"/>
              </a:lnSpc>
              <a:spcAft>
                <a:spcPts val="300"/>
              </a:spcAft>
              <a:defRPr sz="800" b="1">
                <a:solidFill>
                  <a:srgbClr val="203350"/>
                </a:solidFill>
                <a:latin typeface="DejaVu Sans"/>
              </a:defRPr>
            </a:pPr>
            <a:r>
              <a:t>Importar</a:t>
            </a:r>
          </a:p>
        </p:txBody>
      </p:sp>
      <p:sp>
        <p:nvSpPr>
          <p:cNvPr id="7" name="Rounded Rectangle 6">
            <a:hlinkClick action="ppaction://hlinksldjump" r:id="rId4"/>
          </p:cNvPr>
          <p:cNvSpPr/>
          <p:nvPr/>
        </p:nvSpPr>
        <p:spPr>
          <a:xfrm>
            <a:off x="9921240" y="301752"/>
            <a:ext cx="813816" cy="310896"/>
          </a:xfrm>
          <a:prstGeom prst="roundRect">
            <a:avLst>
              <a:gd name="adj" fmla="val 8000"/>
            </a:avLst>
          </a:prstGeom>
          <a:solidFill>
            <a:srgbClr val="EEE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4"/>
          </p:cNvPr>
          <p:cNvSpPr txBox="1"/>
          <p:nvPr/>
        </p:nvSpPr>
        <p:spPr>
          <a:xfrm>
            <a:off x="10030967" y="384048"/>
            <a:ext cx="594360" cy="219456"/>
          </a:xfrm>
          <a:prstGeom prst="rect">
            <a:avLst/>
          </a:prstGeom>
          <a:noFill/>
        </p:spPr>
        <p:txBody>
          <a:bodyPr wrap="square" lIns="0" rIns="0" tIns="0" bIns="0">
            <a:spAutoFit/>
          </a:bodyPr>
          <a:lstStyle/>
          <a:p>
            <a:pPr algn="l">
              <a:lnSpc>
                <a:spcPct val="101000"/>
              </a:lnSpc>
              <a:spcAft>
                <a:spcPts val="300"/>
              </a:spcAft>
              <a:defRPr sz="800" b="1">
                <a:solidFill>
                  <a:srgbClr val="203350"/>
                </a:solidFill>
                <a:latin typeface="DejaVu Sans"/>
              </a:defRPr>
            </a:pPr>
            <a:r>
              <a:t>Calcular</a:t>
            </a:r>
          </a:p>
        </p:txBody>
      </p:sp>
      <p:sp>
        <p:nvSpPr>
          <p:cNvPr id="9" name="Rounded Rectangle 8">
            <a:hlinkClick action="ppaction://hlinksldjump" r:id="rId5"/>
          </p:cNvPr>
          <p:cNvSpPr/>
          <p:nvPr/>
        </p:nvSpPr>
        <p:spPr>
          <a:xfrm>
            <a:off x="10799063" y="301752"/>
            <a:ext cx="813816" cy="310896"/>
          </a:xfrm>
          <a:prstGeom prst="roundRect">
            <a:avLst>
              <a:gd name="adj" fmla="val 8000"/>
            </a:avLst>
          </a:prstGeom>
          <a:solidFill>
            <a:srgbClr val="FFF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5"/>
          </p:cNvPr>
          <p:cNvSpPr txBox="1"/>
          <p:nvPr/>
        </p:nvSpPr>
        <p:spPr>
          <a:xfrm>
            <a:off x="10908791" y="384048"/>
            <a:ext cx="594360" cy="219456"/>
          </a:xfrm>
          <a:prstGeom prst="rect">
            <a:avLst/>
          </a:prstGeom>
          <a:noFill/>
        </p:spPr>
        <p:txBody>
          <a:bodyPr wrap="square" lIns="0" rIns="0" tIns="0" bIns="0">
            <a:spAutoFit/>
          </a:bodyPr>
          <a:lstStyle/>
          <a:p>
            <a:pPr algn="l">
              <a:lnSpc>
                <a:spcPct val="101000"/>
              </a:lnSpc>
              <a:spcAft>
                <a:spcPts val="300"/>
              </a:spcAft>
              <a:defRPr sz="749" b="1">
                <a:solidFill>
                  <a:srgbClr val="203350"/>
                </a:solidFill>
                <a:latin typeface="DejaVu Sans"/>
              </a:defRPr>
            </a:pPr>
            <a:r>
              <a:t>Comprobar</a:t>
            </a:r>
          </a:p>
        </p:txBody>
      </p:sp>
      <p:sp>
        <p:nvSpPr>
          <p:cNvPr id="11" name="TextBox 10"/>
          <p:cNvSpPr txBox="1"/>
          <p:nvPr/>
        </p:nvSpPr>
        <p:spPr>
          <a:xfrm>
            <a:off x="548640" y="886968"/>
            <a:ext cx="11064240" cy="1234440"/>
          </a:xfrm>
          <a:prstGeom prst="rect">
            <a:avLst/>
          </a:prstGeom>
          <a:noFill/>
        </p:spPr>
        <p:txBody>
          <a:bodyPr wrap="square" lIns="0" rIns="0" tIns="0" bIns="0">
            <a:spAutoFit/>
          </a:bodyPr>
          <a:lstStyle/>
          <a:p>
            <a:pPr algn="l">
              <a:lnSpc>
                <a:spcPct val="101000"/>
              </a:lnSpc>
              <a:spcAft>
                <a:spcPts val="300"/>
              </a:spcAft>
              <a:defRPr sz="3900" b="1">
                <a:solidFill>
                  <a:srgbClr val="203350"/>
                </a:solidFill>
                <a:latin typeface="DejaVu Sans"/>
              </a:defRPr>
            </a:pPr>
            <a:r>
              <a:t>El agua aparece</a:t>
            </a:r>
          </a:p>
          <a:p>
            <a:pPr algn="l">
              <a:lnSpc>
                <a:spcPct val="101000"/>
              </a:lnSpc>
              <a:spcAft>
                <a:spcPts val="300"/>
              </a:spcAft>
              <a:defRPr sz="3900" b="1">
                <a:solidFill>
                  <a:srgbClr val="203350"/>
                </a:solidFill>
                <a:latin typeface="DejaVu Sans"/>
              </a:defRPr>
            </a:pPr>
            <a:r>
              <a:t>sin factor en GWP100. ¿Qué concluyes?</a:t>
            </a:r>
          </a:p>
        </p:txBody>
      </p:sp>
      <p:sp>
        <p:nvSpPr>
          <p:cNvPr id="12" name="TextBox 11"/>
          <p:cNvSpPr txBox="1"/>
          <p:nvPr/>
        </p:nvSpPr>
        <p:spPr>
          <a:xfrm>
            <a:off x="566928" y="2121408"/>
            <a:ext cx="10972800" cy="338328"/>
          </a:xfrm>
          <a:prstGeom prst="rect">
            <a:avLst/>
          </a:prstGeom>
          <a:noFill/>
        </p:spPr>
        <p:txBody>
          <a:bodyPr wrap="square" lIns="0" rIns="0" tIns="0" bIns="0">
            <a:spAutoFit/>
          </a:bodyPr>
          <a:lstStyle/>
          <a:p>
            <a:pPr algn="l">
              <a:lnSpc>
                <a:spcPct val="101000"/>
              </a:lnSpc>
              <a:spcAft>
                <a:spcPts val="300"/>
              </a:spcAft>
              <a:defRPr sz="1450" b="0">
                <a:solidFill>
                  <a:srgbClr val="5C6E83"/>
                </a:solidFill>
                <a:latin typeface="DejaVu Sans"/>
              </a:defRPr>
            </a:pPr>
            <a:r>
              <a:t>Elige una explicación consistente con el alcance del método.</a:t>
            </a:r>
          </a:p>
        </p:txBody>
      </p:sp>
      <p:sp>
        <p:nvSpPr>
          <p:cNvPr id="13" name="TextBox 12"/>
          <p:cNvSpPr txBox="1"/>
          <p:nvPr/>
        </p:nvSpPr>
        <p:spPr>
          <a:xfrm>
            <a:off x="548640" y="6446520"/>
            <a:ext cx="9784080" cy="219456"/>
          </a:xfrm>
          <a:prstGeom prst="rect">
            <a:avLst/>
          </a:prstGeom>
          <a:noFill/>
        </p:spPr>
        <p:txBody>
          <a:bodyPr wrap="square" lIns="0" rIns="0" tIns="0" bIns="0">
            <a:spAutoFit/>
          </a:bodyPr>
          <a:lstStyle/>
          <a:p>
            <a:pPr algn="l">
              <a:lnSpc>
                <a:spcPct val="101000"/>
              </a:lnSpc>
              <a:spcAft>
                <a:spcPts val="300"/>
              </a:spcAft>
              <a:defRPr sz="810" b="0">
                <a:solidFill>
                  <a:srgbClr val="5C6E83"/>
                </a:solidFill>
                <a:latin typeface="DejaVu Sans"/>
              </a:defRPr>
            </a:pPr>
            <a:r>
              <a:t>Evaluación de salida · LCIA checks e interpretación de resultados</a:t>
            </a:r>
          </a:p>
        </p:txBody>
      </p:sp>
      <p:sp>
        <p:nvSpPr>
          <p:cNvPr id="14" name="Rounded Rectangle 13">
            <a:hlinkClick action="ppaction://hlinksldjump" r:id="rId6"/>
          </p:cNvPr>
          <p:cNvSpPr/>
          <p:nvPr/>
        </p:nvSpPr>
        <p:spPr>
          <a:xfrm>
            <a:off x="10442448" y="6400800"/>
            <a:ext cx="640080" cy="265176"/>
          </a:xfrm>
          <a:prstGeom prst="roundRect">
            <a:avLst>
              <a:gd name="adj" fmla="val 8000"/>
            </a:avLst>
          </a:prstGeom>
          <a:solidFill>
            <a:srgbClr val="EEE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a:hlinkClick action="ppaction://hlinksldjump" r:id="rId6"/>
          </p:cNvPr>
          <p:cNvSpPr txBox="1"/>
          <p:nvPr/>
        </p:nvSpPr>
        <p:spPr>
          <a:xfrm>
            <a:off x="10552176" y="6483096"/>
            <a:ext cx="420623" cy="173735"/>
          </a:xfrm>
          <a:prstGeom prst="rect">
            <a:avLst/>
          </a:prstGeom>
          <a:noFill/>
        </p:spPr>
        <p:txBody>
          <a:bodyPr wrap="square" lIns="0" rIns="0" tIns="0" bIns="0">
            <a:spAutoFit/>
          </a:bodyPr>
          <a:lstStyle/>
          <a:p>
            <a:pPr algn="l">
              <a:lnSpc>
                <a:spcPct val="101000"/>
              </a:lnSpc>
              <a:spcAft>
                <a:spcPts val="300"/>
              </a:spcAft>
              <a:defRPr sz="800" b="1">
                <a:solidFill>
                  <a:srgbClr val="8060BA"/>
                </a:solidFill>
                <a:latin typeface="DejaVu Sans"/>
              </a:defRPr>
            </a:pPr>
            <a:r>
              <a:t>Ruta</a:t>
            </a:r>
          </a:p>
        </p:txBody>
      </p:sp>
      <p:sp>
        <p:nvSpPr>
          <p:cNvPr id="16" name="TextBox 15"/>
          <p:cNvSpPr txBox="1"/>
          <p:nvPr/>
        </p:nvSpPr>
        <p:spPr>
          <a:xfrm>
            <a:off x="11228832" y="6400800"/>
            <a:ext cx="457200" cy="274320"/>
          </a:xfrm>
          <a:prstGeom prst="rect">
            <a:avLst/>
          </a:prstGeom>
          <a:noFill/>
        </p:spPr>
        <p:txBody>
          <a:bodyPr wrap="square" lIns="0" rIns="0" tIns="0" bIns="0">
            <a:spAutoFit/>
          </a:bodyPr>
          <a:lstStyle/>
          <a:p>
            <a:pPr algn="r">
              <a:lnSpc>
                <a:spcPct val="101000"/>
              </a:lnSpc>
              <a:spcAft>
                <a:spcPts val="300"/>
              </a:spcAft>
              <a:defRPr sz="1300" b="1">
                <a:solidFill>
                  <a:srgbClr val="203350"/>
                </a:solidFill>
                <a:latin typeface="DejaVu Sans"/>
              </a:defRPr>
            </a:pPr>
            <a:r>
              <a:t>21</a:t>
            </a:r>
          </a:p>
        </p:txBody>
      </p:sp>
      <p:sp>
        <p:nvSpPr>
          <p:cNvPr id="17" name="Rounded Rectangle 16"/>
          <p:cNvSpPr/>
          <p:nvPr/>
        </p:nvSpPr>
        <p:spPr>
          <a:xfrm>
            <a:off x="594360" y="2761488"/>
            <a:ext cx="2880360" cy="3099816"/>
          </a:xfrm>
          <a:prstGeom prst="roundRect">
            <a:avLst>
              <a:gd name="adj" fmla="val 8000"/>
            </a:avLst>
          </a:prstGeom>
          <a:solidFill>
            <a:srgbClr val="EEE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co_target.png"/>
          <p:cNvPicPr>
            <a:picLocks noChangeAspect="1"/>
          </p:cNvPicPr>
          <p:nvPr/>
        </p:nvPicPr>
        <p:blipFill>
          <a:blip r:embed="rId8"/>
          <a:stretch>
            <a:fillRect/>
          </a:stretch>
        </p:blipFill>
        <p:spPr>
          <a:xfrm>
            <a:off x="1225296" y="3108960"/>
            <a:ext cx="1463040" cy="1463040"/>
          </a:xfrm>
          <a:prstGeom prst="rect">
            <a:avLst/>
          </a:prstGeom>
        </p:spPr>
      </p:pic>
      <p:sp>
        <p:nvSpPr>
          <p:cNvPr id="19" name="TextBox 18"/>
          <p:cNvSpPr txBox="1"/>
          <p:nvPr/>
        </p:nvSpPr>
        <p:spPr>
          <a:xfrm>
            <a:off x="932688" y="4809744"/>
            <a:ext cx="2194560" cy="777240"/>
          </a:xfrm>
          <a:prstGeom prst="rect">
            <a:avLst/>
          </a:prstGeom>
          <a:noFill/>
        </p:spPr>
        <p:txBody>
          <a:bodyPr wrap="square" lIns="0" rIns="0" tIns="0" bIns="0">
            <a:spAutoFit/>
          </a:bodyPr>
          <a:lstStyle/>
          <a:p>
            <a:pPr algn="ctr">
              <a:lnSpc>
                <a:spcPct val="101000"/>
              </a:lnSpc>
              <a:spcAft>
                <a:spcPts val="300"/>
              </a:spcAft>
              <a:defRPr sz="2400" b="1">
                <a:solidFill>
                  <a:srgbClr val="203350"/>
                </a:solidFill>
                <a:latin typeface="DejaVu Sans"/>
              </a:defRPr>
            </a:pPr>
            <a:r>
              <a:t>Función</a:t>
            </a:r>
          </a:p>
          <a:p>
            <a:pPr algn="ctr">
              <a:lnSpc>
                <a:spcPct val="101000"/>
              </a:lnSpc>
              <a:spcAft>
                <a:spcPts val="300"/>
              </a:spcAft>
              <a:defRPr sz="2400" b="1">
                <a:solidFill>
                  <a:srgbClr val="203350"/>
                </a:solidFill>
                <a:latin typeface="DejaVu Sans"/>
              </a:defRPr>
            </a:pPr>
            <a:r>
              <a:t>y alcance</a:t>
            </a:r>
          </a:p>
        </p:txBody>
      </p:sp>
      <p:sp>
        <p:nvSpPr>
          <p:cNvPr id="20" name="Rounded Rectangle 19">
            <a:hlinkClick action="ppaction://hlinksldjump" r:id="rId9"/>
          </p:cNvPr>
          <p:cNvSpPr/>
          <p:nvPr/>
        </p:nvSpPr>
        <p:spPr>
          <a:xfrm>
            <a:off x="3767328" y="2770632"/>
            <a:ext cx="7845552" cy="795528"/>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a:hlinkClick action="ppaction://hlinksldjump" r:id="rId9"/>
          </p:cNvPr>
          <p:cNvSpPr txBox="1"/>
          <p:nvPr/>
        </p:nvSpPr>
        <p:spPr>
          <a:xfrm>
            <a:off x="3877056" y="2852927"/>
            <a:ext cx="7626096" cy="704088"/>
          </a:xfrm>
          <a:prstGeom prst="rect">
            <a:avLst/>
          </a:prstGeom>
          <a:noFill/>
        </p:spPr>
        <p:txBody>
          <a:bodyPr wrap="square" lIns="0" rIns="0" tIns="0" bIns="0">
            <a:spAutoFit/>
          </a:bodyPr>
          <a:lstStyle/>
          <a:p>
            <a:pPr algn="l">
              <a:lnSpc>
                <a:spcPct val="101000"/>
              </a:lnSpc>
              <a:spcAft>
                <a:spcPts val="300"/>
              </a:spcAft>
              <a:defRPr sz="1600" b="1">
                <a:solidFill>
                  <a:srgbClr val="203350"/>
                </a:solidFill>
                <a:latin typeface="DejaVu Sans"/>
              </a:defRPr>
            </a:pPr>
            <a:r>
              <a:t>A   El consumo de agua no tiene impactos</a:t>
            </a:r>
          </a:p>
        </p:txBody>
      </p:sp>
      <p:sp>
        <p:nvSpPr>
          <p:cNvPr id="22" name="Rounded Rectangle 21">
            <a:hlinkClick action="ppaction://hlinksldjump" r:id="rId9"/>
          </p:cNvPr>
          <p:cNvSpPr/>
          <p:nvPr/>
        </p:nvSpPr>
        <p:spPr>
          <a:xfrm>
            <a:off x="3767328" y="3703320"/>
            <a:ext cx="7845552" cy="795528"/>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a:hlinkClick action="ppaction://hlinksldjump" r:id="rId9"/>
          </p:cNvPr>
          <p:cNvSpPr txBox="1"/>
          <p:nvPr/>
        </p:nvSpPr>
        <p:spPr>
          <a:xfrm>
            <a:off x="3877056" y="3785615"/>
            <a:ext cx="7626096" cy="704088"/>
          </a:xfrm>
          <a:prstGeom prst="rect">
            <a:avLst/>
          </a:prstGeom>
          <a:noFill/>
        </p:spPr>
        <p:txBody>
          <a:bodyPr wrap="square" lIns="0" rIns="0" tIns="0" bIns="0">
            <a:spAutoFit/>
          </a:bodyPr>
          <a:lstStyle/>
          <a:p>
            <a:pPr algn="l">
              <a:lnSpc>
                <a:spcPct val="101000"/>
              </a:lnSpc>
              <a:spcAft>
                <a:spcPts val="300"/>
              </a:spcAft>
              <a:defRPr sz="1402" b="1">
                <a:solidFill>
                  <a:srgbClr val="203350"/>
                </a:solidFill>
                <a:latin typeface="DejaVu Sans"/>
              </a:defRPr>
            </a:pPr>
            <a:r>
              <a:t>B   Esta categoría no evalúa ese aspecto; debo revisar cobertura y contexto</a:t>
            </a:r>
          </a:p>
        </p:txBody>
      </p:sp>
      <p:sp>
        <p:nvSpPr>
          <p:cNvPr id="24" name="Rounded Rectangle 23">
            <a:hlinkClick action="ppaction://hlinksldjump" r:id="rId9"/>
          </p:cNvPr>
          <p:cNvSpPr/>
          <p:nvPr/>
        </p:nvSpPr>
        <p:spPr>
          <a:xfrm>
            <a:off x="3767328" y="4636008"/>
            <a:ext cx="7845552" cy="795528"/>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a:hlinkClick action="ppaction://hlinksldjump" r:id="rId9"/>
          </p:cNvPr>
          <p:cNvSpPr txBox="1"/>
          <p:nvPr/>
        </p:nvSpPr>
        <p:spPr>
          <a:xfrm>
            <a:off x="3877056" y="4718304"/>
            <a:ext cx="7626096" cy="704088"/>
          </a:xfrm>
          <a:prstGeom prst="rect">
            <a:avLst/>
          </a:prstGeom>
          <a:noFill/>
        </p:spPr>
        <p:txBody>
          <a:bodyPr wrap="square" lIns="0" rIns="0" tIns="0" bIns="0">
            <a:spAutoFit/>
          </a:bodyPr>
          <a:lstStyle/>
          <a:p>
            <a:pPr algn="l">
              <a:lnSpc>
                <a:spcPct val="101000"/>
              </a:lnSpc>
              <a:spcAft>
                <a:spcPts val="300"/>
              </a:spcAft>
              <a:defRPr sz="1600" b="1">
                <a:solidFill>
                  <a:srgbClr val="203350"/>
                </a:solidFill>
                <a:latin typeface="DejaVu Sans"/>
              </a:defRPr>
            </a:pPr>
            <a:r>
              <a:t>C   Debo inventar un factor para eliminar el aviso</a:t>
            </a:r>
          </a:p>
        </p:txBody>
      </p:sp>
    </p:spTree>
  </p:cSld>
  <p:clrMapOvr>
    <a:masterClrMapping/>
  </p:clrMapOvr>
  <p:transition advClick="1">
    <p:fade/>
  </p:transition>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9FBFF"/>
        </a:solidFill>
        <a:effectLst/>
      </p:bgPr>
    </p:bg>
    <p:spTree>
      <p:nvGrpSpPr>
        <p:cNvPr id="1" name=""/>
        <p:cNvGrpSpPr/>
        <p:nvPr/>
      </p:nvGrpSpPr>
      <p:grpSpPr/>
      <p:sp>
        <p:nvSpPr>
          <p:cNvPr id="2" name="TextBox 1"/>
          <p:cNvSpPr txBox="1"/>
          <p:nvPr/>
        </p:nvSpPr>
        <p:spPr>
          <a:xfrm>
            <a:off x="548640" y="365760"/>
            <a:ext cx="7223760" cy="228600"/>
          </a:xfrm>
          <a:prstGeom prst="rect">
            <a:avLst/>
          </a:prstGeom>
          <a:noFill/>
        </p:spPr>
        <p:txBody>
          <a:bodyPr wrap="square" lIns="0" rIns="0" tIns="0" bIns="0">
            <a:spAutoFit/>
          </a:bodyPr>
          <a:lstStyle/>
          <a:p>
            <a:pPr algn="l">
              <a:lnSpc>
                <a:spcPct val="101000"/>
              </a:lnSpc>
              <a:spcAft>
                <a:spcPts val="300"/>
              </a:spcAft>
              <a:defRPr sz="930" b="1">
                <a:solidFill>
                  <a:srgbClr val="8060BA"/>
                </a:solidFill>
                <a:latin typeface="DejaVu Sans"/>
              </a:defRPr>
            </a:pPr>
            <a:r>
              <a:t>ACV CON DATOS Y CRITERIO</a:t>
            </a:r>
          </a:p>
        </p:txBody>
      </p:sp>
      <p:sp>
        <p:nvSpPr>
          <p:cNvPr id="3" name="Rounded Rectangle 2">
            <a:hlinkClick action="ppaction://hlinksldjump" r:id="rId2"/>
          </p:cNvPr>
          <p:cNvSpPr/>
          <p:nvPr/>
        </p:nvSpPr>
        <p:spPr>
          <a:xfrm>
            <a:off x="8165592" y="301752"/>
            <a:ext cx="813816" cy="310896"/>
          </a:xfrm>
          <a:prstGeom prst="roundRect">
            <a:avLst>
              <a:gd name="adj" fmla="val 8000"/>
            </a:avLst>
          </a:prstGeom>
          <a:solidFill>
            <a:srgbClr val="E0F7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2"/>
          </p:cNvPr>
          <p:cNvSpPr txBox="1"/>
          <p:nvPr/>
        </p:nvSpPr>
        <p:spPr>
          <a:xfrm>
            <a:off x="8275319" y="384048"/>
            <a:ext cx="594360" cy="219456"/>
          </a:xfrm>
          <a:prstGeom prst="rect">
            <a:avLst/>
          </a:prstGeom>
          <a:noFill/>
        </p:spPr>
        <p:txBody>
          <a:bodyPr wrap="square" lIns="0" rIns="0" tIns="0" bIns="0">
            <a:spAutoFit/>
          </a:bodyPr>
          <a:lstStyle/>
          <a:p>
            <a:pPr algn="l">
              <a:lnSpc>
                <a:spcPct val="101000"/>
              </a:lnSpc>
              <a:spcAft>
                <a:spcPts val="300"/>
              </a:spcAft>
              <a:defRPr sz="800" b="1">
                <a:solidFill>
                  <a:srgbClr val="203350"/>
                </a:solidFill>
                <a:latin typeface="DejaVu Sans"/>
              </a:defRPr>
            </a:pPr>
            <a:r>
              <a:t>Preparar</a:t>
            </a:r>
          </a:p>
        </p:txBody>
      </p:sp>
      <p:sp>
        <p:nvSpPr>
          <p:cNvPr id="5" name="Rounded Rectangle 4">
            <a:hlinkClick action="ppaction://hlinksldjump" r:id="rId3"/>
          </p:cNvPr>
          <p:cNvSpPr/>
          <p:nvPr/>
        </p:nvSpPr>
        <p:spPr>
          <a:xfrm>
            <a:off x="9043416" y="301752"/>
            <a:ext cx="813816" cy="310896"/>
          </a:xfrm>
          <a:prstGeom prst="roundRect">
            <a:avLst>
              <a:gd name="adj" fmla="val 8000"/>
            </a:avLst>
          </a:prstGeom>
          <a:solidFill>
            <a:srgbClr val="E2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3"/>
          </p:cNvPr>
          <p:cNvSpPr txBox="1"/>
          <p:nvPr/>
        </p:nvSpPr>
        <p:spPr>
          <a:xfrm>
            <a:off x="9153144" y="384048"/>
            <a:ext cx="594360" cy="219456"/>
          </a:xfrm>
          <a:prstGeom prst="rect">
            <a:avLst/>
          </a:prstGeom>
          <a:noFill/>
        </p:spPr>
        <p:txBody>
          <a:bodyPr wrap="square" lIns="0" rIns="0" tIns="0" bIns="0">
            <a:spAutoFit/>
          </a:bodyPr>
          <a:lstStyle/>
          <a:p>
            <a:pPr algn="l">
              <a:lnSpc>
                <a:spcPct val="101000"/>
              </a:lnSpc>
              <a:spcAft>
                <a:spcPts val="300"/>
              </a:spcAft>
              <a:defRPr sz="800" b="1">
                <a:solidFill>
                  <a:srgbClr val="203350"/>
                </a:solidFill>
                <a:latin typeface="DejaVu Sans"/>
              </a:defRPr>
            </a:pPr>
            <a:r>
              <a:t>Importar</a:t>
            </a:r>
          </a:p>
        </p:txBody>
      </p:sp>
      <p:sp>
        <p:nvSpPr>
          <p:cNvPr id="7" name="Rounded Rectangle 6">
            <a:hlinkClick action="ppaction://hlinksldjump" r:id="rId4"/>
          </p:cNvPr>
          <p:cNvSpPr/>
          <p:nvPr/>
        </p:nvSpPr>
        <p:spPr>
          <a:xfrm>
            <a:off x="9921240" y="301752"/>
            <a:ext cx="813816" cy="310896"/>
          </a:xfrm>
          <a:prstGeom prst="roundRect">
            <a:avLst>
              <a:gd name="adj" fmla="val 8000"/>
            </a:avLst>
          </a:prstGeom>
          <a:solidFill>
            <a:srgbClr val="EEE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4"/>
          </p:cNvPr>
          <p:cNvSpPr txBox="1"/>
          <p:nvPr/>
        </p:nvSpPr>
        <p:spPr>
          <a:xfrm>
            <a:off x="10030967" y="384048"/>
            <a:ext cx="594360" cy="219456"/>
          </a:xfrm>
          <a:prstGeom prst="rect">
            <a:avLst/>
          </a:prstGeom>
          <a:noFill/>
        </p:spPr>
        <p:txBody>
          <a:bodyPr wrap="square" lIns="0" rIns="0" tIns="0" bIns="0">
            <a:spAutoFit/>
          </a:bodyPr>
          <a:lstStyle/>
          <a:p>
            <a:pPr algn="l">
              <a:lnSpc>
                <a:spcPct val="101000"/>
              </a:lnSpc>
              <a:spcAft>
                <a:spcPts val="300"/>
              </a:spcAft>
              <a:defRPr sz="800" b="1">
                <a:solidFill>
                  <a:srgbClr val="203350"/>
                </a:solidFill>
                <a:latin typeface="DejaVu Sans"/>
              </a:defRPr>
            </a:pPr>
            <a:r>
              <a:t>Calcular</a:t>
            </a:r>
          </a:p>
        </p:txBody>
      </p:sp>
      <p:sp>
        <p:nvSpPr>
          <p:cNvPr id="9" name="Rounded Rectangle 8">
            <a:hlinkClick action="ppaction://hlinksldjump" r:id="rId5"/>
          </p:cNvPr>
          <p:cNvSpPr/>
          <p:nvPr/>
        </p:nvSpPr>
        <p:spPr>
          <a:xfrm>
            <a:off x="10799063" y="301752"/>
            <a:ext cx="813816" cy="310896"/>
          </a:xfrm>
          <a:prstGeom prst="roundRect">
            <a:avLst>
              <a:gd name="adj" fmla="val 8000"/>
            </a:avLst>
          </a:prstGeom>
          <a:solidFill>
            <a:srgbClr val="FFF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5"/>
          </p:cNvPr>
          <p:cNvSpPr txBox="1"/>
          <p:nvPr/>
        </p:nvSpPr>
        <p:spPr>
          <a:xfrm>
            <a:off x="10908791" y="384048"/>
            <a:ext cx="594360" cy="219456"/>
          </a:xfrm>
          <a:prstGeom prst="rect">
            <a:avLst/>
          </a:prstGeom>
          <a:noFill/>
        </p:spPr>
        <p:txBody>
          <a:bodyPr wrap="square" lIns="0" rIns="0" tIns="0" bIns="0">
            <a:spAutoFit/>
          </a:bodyPr>
          <a:lstStyle/>
          <a:p>
            <a:pPr algn="l">
              <a:lnSpc>
                <a:spcPct val="101000"/>
              </a:lnSpc>
              <a:spcAft>
                <a:spcPts val="300"/>
              </a:spcAft>
              <a:defRPr sz="749" b="1">
                <a:solidFill>
                  <a:srgbClr val="203350"/>
                </a:solidFill>
                <a:latin typeface="DejaVu Sans"/>
              </a:defRPr>
            </a:pPr>
            <a:r>
              <a:t>Comprobar</a:t>
            </a:r>
          </a:p>
        </p:txBody>
      </p:sp>
      <p:sp>
        <p:nvSpPr>
          <p:cNvPr id="11" name="TextBox 10"/>
          <p:cNvSpPr txBox="1"/>
          <p:nvPr/>
        </p:nvSpPr>
        <p:spPr>
          <a:xfrm>
            <a:off x="548640" y="886968"/>
            <a:ext cx="11064240" cy="1234440"/>
          </a:xfrm>
          <a:prstGeom prst="rect">
            <a:avLst/>
          </a:prstGeom>
          <a:noFill/>
        </p:spPr>
        <p:txBody>
          <a:bodyPr wrap="square" lIns="0" rIns="0" tIns="0" bIns="0">
            <a:spAutoFit/>
          </a:bodyPr>
          <a:lstStyle/>
          <a:p>
            <a:pPr algn="l">
              <a:lnSpc>
                <a:spcPct val="101000"/>
              </a:lnSpc>
              <a:spcAft>
                <a:spcPts val="300"/>
              </a:spcAft>
              <a:defRPr sz="3900" b="1">
                <a:solidFill>
                  <a:srgbClr val="203350"/>
                </a:solidFill>
                <a:latin typeface="DejaVu Sans"/>
              </a:defRPr>
            </a:pPr>
            <a:r>
              <a:t>Calcular es un paso.</a:t>
            </a:r>
          </a:p>
          <a:p>
            <a:pPr algn="l">
              <a:lnSpc>
                <a:spcPct val="101000"/>
              </a:lnSpc>
              <a:spcAft>
                <a:spcPts val="300"/>
              </a:spcAft>
              <a:defRPr sz="3900" b="1">
                <a:solidFill>
                  <a:srgbClr val="203350"/>
                </a:solidFill>
                <a:latin typeface="DejaVu Sans"/>
              </a:defRPr>
            </a:pPr>
            <a:r>
              <a:t>Comprobar da sentido al resultado.</a:t>
            </a:r>
          </a:p>
        </p:txBody>
      </p:sp>
      <p:sp>
        <p:nvSpPr>
          <p:cNvPr id="12" name="TextBox 11"/>
          <p:cNvSpPr txBox="1"/>
          <p:nvPr/>
        </p:nvSpPr>
        <p:spPr>
          <a:xfrm>
            <a:off x="566928" y="2121408"/>
            <a:ext cx="10972800" cy="338328"/>
          </a:xfrm>
          <a:prstGeom prst="rect">
            <a:avLst/>
          </a:prstGeom>
          <a:noFill/>
        </p:spPr>
        <p:txBody>
          <a:bodyPr wrap="square" lIns="0" rIns="0" tIns="0" bIns="0">
            <a:spAutoFit/>
          </a:bodyPr>
          <a:lstStyle/>
          <a:p>
            <a:pPr algn="l">
              <a:lnSpc>
                <a:spcPct val="101000"/>
              </a:lnSpc>
              <a:spcAft>
                <a:spcPts val="300"/>
              </a:spcAft>
              <a:defRPr sz="1450" b="0">
                <a:solidFill>
                  <a:srgbClr val="5C6E83"/>
                </a:solidFill>
                <a:latin typeface="DejaVu Sans"/>
              </a:defRPr>
            </a:pPr>
            <a:r>
              <a:t>Unidad y frontera claras · datos trazables · revisión de cobertura y límites</a:t>
            </a:r>
          </a:p>
        </p:txBody>
      </p:sp>
      <p:sp>
        <p:nvSpPr>
          <p:cNvPr id="13" name="TextBox 12"/>
          <p:cNvSpPr txBox="1"/>
          <p:nvPr/>
        </p:nvSpPr>
        <p:spPr>
          <a:xfrm>
            <a:off x="548640" y="6446520"/>
            <a:ext cx="9784080" cy="219456"/>
          </a:xfrm>
          <a:prstGeom prst="rect">
            <a:avLst/>
          </a:prstGeom>
          <a:noFill/>
        </p:spPr>
        <p:txBody>
          <a:bodyPr wrap="square" lIns="0" rIns="0" tIns="0" bIns="0">
            <a:spAutoFit/>
          </a:bodyPr>
          <a:lstStyle/>
          <a:p>
            <a:pPr algn="l">
              <a:lnSpc>
                <a:spcPct val="101000"/>
              </a:lnSpc>
              <a:spcAft>
                <a:spcPts val="300"/>
              </a:spcAft>
              <a:defRPr sz="810" b="0">
                <a:solidFill>
                  <a:srgbClr val="5C6E83"/>
                </a:solidFill>
                <a:latin typeface="DejaVu Sans"/>
              </a:defRPr>
            </a:pPr>
            <a:r>
              <a:t>Emilia Espín Loza · práctica docente de openLCA</a:t>
            </a:r>
          </a:p>
        </p:txBody>
      </p:sp>
      <p:sp>
        <p:nvSpPr>
          <p:cNvPr id="14" name="Rounded Rectangle 13">
            <a:hlinkClick action="ppaction://hlinksldjump" r:id="rId6"/>
          </p:cNvPr>
          <p:cNvSpPr/>
          <p:nvPr/>
        </p:nvSpPr>
        <p:spPr>
          <a:xfrm>
            <a:off x="10442448" y="6400800"/>
            <a:ext cx="640080" cy="265176"/>
          </a:xfrm>
          <a:prstGeom prst="roundRect">
            <a:avLst>
              <a:gd name="adj" fmla="val 8000"/>
            </a:avLst>
          </a:prstGeom>
          <a:solidFill>
            <a:srgbClr val="EEE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a:hlinkClick action="ppaction://hlinksldjump" r:id="rId6"/>
          </p:cNvPr>
          <p:cNvSpPr txBox="1"/>
          <p:nvPr/>
        </p:nvSpPr>
        <p:spPr>
          <a:xfrm>
            <a:off x="10552176" y="6483096"/>
            <a:ext cx="420623" cy="173735"/>
          </a:xfrm>
          <a:prstGeom prst="rect">
            <a:avLst/>
          </a:prstGeom>
          <a:noFill/>
        </p:spPr>
        <p:txBody>
          <a:bodyPr wrap="square" lIns="0" rIns="0" tIns="0" bIns="0">
            <a:spAutoFit/>
          </a:bodyPr>
          <a:lstStyle/>
          <a:p>
            <a:pPr algn="l">
              <a:lnSpc>
                <a:spcPct val="101000"/>
              </a:lnSpc>
              <a:spcAft>
                <a:spcPts val="300"/>
              </a:spcAft>
              <a:defRPr sz="800" b="1">
                <a:solidFill>
                  <a:srgbClr val="8060BA"/>
                </a:solidFill>
                <a:latin typeface="DejaVu Sans"/>
              </a:defRPr>
            </a:pPr>
            <a:r>
              <a:t>Ruta</a:t>
            </a:r>
          </a:p>
        </p:txBody>
      </p:sp>
      <p:sp>
        <p:nvSpPr>
          <p:cNvPr id="16" name="TextBox 15"/>
          <p:cNvSpPr txBox="1"/>
          <p:nvPr/>
        </p:nvSpPr>
        <p:spPr>
          <a:xfrm>
            <a:off x="11228832" y="6400800"/>
            <a:ext cx="457200" cy="274320"/>
          </a:xfrm>
          <a:prstGeom prst="rect">
            <a:avLst/>
          </a:prstGeom>
          <a:noFill/>
        </p:spPr>
        <p:txBody>
          <a:bodyPr wrap="square" lIns="0" rIns="0" tIns="0" bIns="0">
            <a:spAutoFit/>
          </a:bodyPr>
          <a:lstStyle/>
          <a:p>
            <a:pPr algn="r">
              <a:lnSpc>
                <a:spcPct val="101000"/>
              </a:lnSpc>
              <a:spcAft>
                <a:spcPts val="300"/>
              </a:spcAft>
              <a:defRPr sz="1300" b="1">
                <a:solidFill>
                  <a:srgbClr val="203350"/>
                </a:solidFill>
                <a:latin typeface="DejaVu Sans"/>
              </a:defRPr>
            </a:pPr>
            <a:r>
              <a:t>22</a:t>
            </a:r>
          </a:p>
        </p:txBody>
      </p:sp>
      <p:pic>
        <p:nvPicPr>
          <p:cNvPr id="17" name="Picture 16" descr="checks.png"/>
          <p:cNvPicPr>
            <a:picLocks noChangeAspect="1"/>
          </p:cNvPicPr>
          <p:nvPr/>
        </p:nvPicPr>
        <p:blipFill>
          <a:blip r:embed="rId8"/>
          <a:stretch>
            <a:fillRect/>
          </a:stretch>
        </p:blipFill>
        <p:spPr>
          <a:xfrm>
            <a:off x="594360" y="2633472"/>
            <a:ext cx="10972800" cy="3154680"/>
          </a:xfrm>
          <a:prstGeom prst="rect">
            <a:avLst/>
          </a:prstGeom>
        </p:spPr>
      </p:pic>
      <p:sp>
        <p:nvSpPr>
          <p:cNvPr id="18" name="Rounded Rectangle 17">
            <a:hlinkClick r:id="rId9"/>
          </p:cNvPr>
          <p:cNvSpPr/>
          <p:nvPr/>
        </p:nvSpPr>
        <p:spPr>
          <a:xfrm>
            <a:off x="777240" y="5925312"/>
            <a:ext cx="2834640" cy="320040"/>
          </a:xfrm>
          <a:prstGeom prst="roundRect">
            <a:avLst>
              <a:gd name="adj" fmla="val 8000"/>
            </a:avLst>
          </a:prstGeom>
          <a:solidFill>
            <a:srgbClr val="137F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a:hlinkClick r:id="rId9"/>
          </p:cNvPr>
          <p:cNvSpPr txBox="1"/>
          <p:nvPr/>
        </p:nvSpPr>
        <p:spPr>
          <a:xfrm>
            <a:off x="886968" y="6007608"/>
            <a:ext cx="2615184" cy="228599"/>
          </a:xfrm>
          <a:prstGeom prst="rect">
            <a:avLst/>
          </a:prstGeom>
          <a:noFill/>
        </p:spPr>
        <p:txBody>
          <a:bodyPr wrap="square" lIns="0" rIns="0" tIns="0" bIns="0">
            <a:spAutoFit/>
          </a:bodyPr>
          <a:lstStyle/>
          <a:p>
            <a:pPr algn="l">
              <a:lnSpc>
                <a:spcPct val="101000"/>
              </a:lnSpc>
              <a:spcAft>
                <a:spcPts val="300"/>
              </a:spcAft>
              <a:defRPr sz="1000" b="1">
                <a:solidFill>
                  <a:srgbClr val="FFFFFF"/>
                </a:solidFill>
                <a:latin typeface="DejaVu Sans"/>
              </a:defRPr>
            </a:pPr>
            <a:r>
              <a:t>Guía de laboratorio Word</a:t>
            </a:r>
          </a:p>
        </p:txBody>
      </p:sp>
      <p:sp>
        <p:nvSpPr>
          <p:cNvPr id="20" name="Rounded Rectangle 19">
            <a:hlinkClick r:id="rId10"/>
          </p:cNvPr>
          <p:cNvSpPr/>
          <p:nvPr/>
        </p:nvSpPr>
        <p:spPr>
          <a:xfrm>
            <a:off x="3840480" y="5925312"/>
            <a:ext cx="3474720" cy="320040"/>
          </a:xfrm>
          <a:prstGeom prst="roundRect">
            <a:avLst>
              <a:gd name="adj" fmla="val 8000"/>
            </a:avLst>
          </a:prstGeom>
          <a:solidFill>
            <a:srgbClr val="806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a:hlinkClick r:id="rId10"/>
          </p:cNvPr>
          <p:cNvSpPr txBox="1"/>
          <p:nvPr/>
        </p:nvSpPr>
        <p:spPr>
          <a:xfrm>
            <a:off x="3950208" y="6007608"/>
            <a:ext cx="3255263" cy="228599"/>
          </a:xfrm>
          <a:prstGeom prst="rect">
            <a:avLst/>
          </a:prstGeom>
          <a:noFill/>
        </p:spPr>
        <p:txBody>
          <a:bodyPr wrap="square" lIns="0" rIns="0" tIns="0" bIns="0">
            <a:spAutoFit/>
          </a:bodyPr>
          <a:lstStyle/>
          <a:p>
            <a:pPr algn="l">
              <a:lnSpc>
                <a:spcPct val="101000"/>
              </a:lnSpc>
              <a:spcAft>
                <a:spcPts val="300"/>
              </a:spcAft>
              <a:defRPr sz="1000" b="1">
                <a:solidFill>
                  <a:srgbClr val="FFFFFF"/>
                </a:solidFill>
                <a:latin typeface="DejaVu Sans"/>
              </a:defRPr>
            </a:pPr>
            <a:r>
              <a:t>Verificación del motor</a:t>
            </a:r>
          </a:p>
        </p:txBody>
      </p:sp>
    </p:spTree>
  </p:cSld>
  <p:clrMapOvr>
    <a:masterClrMapping/>
  </p:clrMapOvr>
  <p:transition advClick="1">
    <p:fade/>
  </p:transition>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9FBFF"/>
        </a:solidFill>
        <a:effectLst/>
      </p:bgPr>
    </p:bg>
    <p:spTree>
      <p:nvGrpSpPr>
        <p:cNvPr id="1" name=""/>
        <p:cNvGrpSpPr/>
        <p:nvPr/>
      </p:nvGrpSpPr>
      <p:grpSpPr/>
      <p:sp>
        <p:nvSpPr>
          <p:cNvPr id="2" name="TextBox 1"/>
          <p:cNvSpPr txBox="1"/>
          <p:nvPr/>
        </p:nvSpPr>
        <p:spPr>
          <a:xfrm>
            <a:off x="548640" y="365760"/>
            <a:ext cx="7223760" cy="228600"/>
          </a:xfrm>
          <a:prstGeom prst="rect">
            <a:avLst/>
          </a:prstGeom>
          <a:noFill/>
        </p:spPr>
        <p:txBody>
          <a:bodyPr wrap="square" lIns="0" rIns="0" tIns="0" bIns="0">
            <a:spAutoFit/>
          </a:bodyPr>
          <a:lstStyle/>
          <a:p>
            <a:pPr algn="l">
              <a:lnSpc>
                <a:spcPct val="101000"/>
              </a:lnSpc>
              <a:spcAft>
                <a:spcPts val="300"/>
              </a:spcAft>
              <a:defRPr sz="930" b="1">
                <a:solidFill>
                  <a:srgbClr val="137F7D"/>
                </a:solidFill>
                <a:latin typeface="DejaVu Sans"/>
              </a:defRPr>
            </a:pPr>
            <a:r>
              <a:t>ANEXO · CONSULTA</a:t>
            </a:r>
          </a:p>
        </p:txBody>
      </p:sp>
      <p:sp>
        <p:nvSpPr>
          <p:cNvPr id="3" name="Rounded Rectangle 2">
            <a:hlinkClick action="ppaction://hlinksldjump" r:id="rId2"/>
          </p:cNvPr>
          <p:cNvSpPr/>
          <p:nvPr/>
        </p:nvSpPr>
        <p:spPr>
          <a:xfrm>
            <a:off x="8165592" y="301752"/>
            <a:ext cx="813816" cy="310896"/>
          </a:xfrm>
          <a:prstGeom prst="roundRect">
            <a:avLst>
              <a:gd name="adj" fmla="val 8000"/>
            </a:avLst>
          </a:prstGeom>
          <a:solidFill>
            <a:srgbClr val="E0F7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2"/>
          </p:cNvPr>
          <p:cNvSpPr txBox="1"/>
          <p:nvPr/>
        </p:nvSpPr>
        <p:spPr>
          <a:xfrm>
            <a:off x="8275319" y="384048"/>
            <a:ext cx="594360" cy="219456"/>
          </a:xfrm>
          <a:prstGeom prst="rect">
            <a:avLst/>
          </a:prstGeom>
          <a:noFill/>
        </p:spPr>
        <p:txBody>
          <a:bodyPr wrap="square" lIns="0" rIns="0" tIns="0" bIns="0">
            <a:spAutoFit/>
          </a:bodyPr>
          <a:lstStyle/>
          <a:p>
            <a:pPr algn="l">
              <a:lnSpc>
                <a:spcPct val="101000"/>
              </a:lnSpc>
              <a:spcAft>
                <a:spcPts val="300"/>
              </a:spcAft>
              <a:defRPr sz="800" b="1">
                <a:solidFill>
                  <a:srgbClr val="203350"/>
                </a:solidFill>
                <a:latin typeface="DejaVu Sans"/>
              </a:defRPr>
            </a:pPr>
            <a:r>
              <a:t>Preparar</a:t>
            </a:r>
          </a:p>
        </p:txBody>
      </p:sp>
      <p:sp>
        <p:nvSpPr>
          <p:cNvPr id="5" name="Rounded Rectangle 4">
            <a:hlinkClick action="ppaction://hlinksldjump" r:id="rId3"/>
          </p:cNvPr>
          <p:cNvSpPr/>
          <p:nvPr/>
        </p:nvSpPr>
        <p:spPr>
          <a:xfrm>
            <a:off x="9043416" y="301752"/>
            <a:ext cx="813816" cy="310896"/>
          </a:xfrm>
          <a:prstGeom prst="roundRect">
            <a:avLst>
              <a:gd name="adj" fmla="val 8000"/>
            </a:avLst>
          </a:prstGeom>
          <a:solidFill>
            <a:srgbClr val="E2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3"/>
          </p:cNvPr>
          <p:cNvSpPr txBox="1"/>
          <p:nvPr/>
        </p:nvSpPr>
        <p:spPr>
          <a:xfrm>
            <a:off x="9153144" y="384048"/>
            <a:ext cx="594360" cy="219456"/>
          </a:xfrm>
          <a:prstGeom prst="rect">
            <a:avLst/>
          </a:prstGeom>
          <a:noFill/>
        </p:spPr>
        <p:txBody>
          <a:bodyPr wrap="square" lIns="0" rIns="0" tIns="0" bIns="0">
            <a:spAutoFit/>
          </a:bodyPr>
          <a:lstStyle/>
          <a:p>
            <a:pPr algn="l">
              <a:lnSpc>
                <a:spcPct val="101000"/>
              </a:lnSpc>
              <a:spcAft>
                <a:spcPts val="300"/>
              </a:spcAft>
              <a:defRPr sz="800" b="1">
                <a:solidFill>
                  <a:srgbClr val="203350"/>
                </a:solidFill>
                <a:latin typeface="DejaVu Sans"/>
              </a:defRPr>
            </a:pPr>
            <a:r>
              <a:t>Importar</a:t>
            </a:r>
          </a:p>
        </p:txBody>
      </p:sp>
      <p:sp>
        <p:nvSpPr>
          <p:cNvPr id="7" name="Rounded Rectangle 6">
            <a:hlinkClick action="ppaction://hlinksldjump" r:id="rId4"/>
          </p:cNvPr>
          <p:cNvSpPr/>
          <p:nvPr/>
        </p:nvSpPr>
        <p:spPr>
          <a:xfrm>
            <a:off x="9921240" y="301752"/>
            <a:ext cx="813816" cy="310896"/>
          </a:xfrm>
          <a:prstGeom prst="roundRect">
            <a:avLst>
              <a:gd name="adj" fmla="val 8000"/>
            </a:avLst>
          </a:prstGeom>
          <a:solidFill>
            <a:srgbClr val="EEE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4"/>
          </p:cNvPr>
          <p:cNvSpPr txBox="1"/>
          <p:nvPr/>
        </p:nvSpPr>
        <p:spPr>
          <a:xfrm>
            <a:off x="10030967" y="384048"/>
            <a:ext cx="594360" cy="219456"/>
          </a:xfrm>
          <a:prstGeom prst="rect">
            <a:avLst/>
          </a:prstGeom>
          <a:noFill/>
        </p:spPr>
        <p:txBody>
          <a:bodyPr wrap="square" lIns="0" rIns="0" tIns="0" bIns="0">
            <a:spAutoFit/>
          </a:bodyPr>
          <a:lstStyle/>
          <a:p>
            <a:pPr algn="l">
              <a:lnSpc>
                <a:spcPct val="101000"/>
              </a:lnSpc>
              <a:spcAft>
                <a:spcPts val="300"/>
              </a:spcAft>
              <a:defRPr sz="800" b="1">
                <a:solidFill>
                  <a:srgbClr val="203350"/>
                </a:solidFill>
                <a:latin typeface="DejaVu Sans"/>
              </a:defRPr>
            </a:pPr>
            <a:r>
              <a:t>Calcular</a:t>
            </a:r>
          </a:p>
        </p:txBody>
      </p:sp>
      <p:sp>
        <p:nvSpPr>
          <p:cNvPr id="9" name="Rounded Rectangle 8">
            <a:hlinkClick action="ppaction://hlinksldjump" r:id="rId5"/>
          </p:cNvPr>
          <p:cNvSpPr/>
          <p:nvPr/>
        </p:nvSpPr>
        <p:spPr>
          <a:xfrm>
            <a:off x="10799063" y="301752"/>
            <a:ext cx="813816" cy="310896"/>
          </a:xfrm>
          <a:prstGeom prst="roundRect">
            <a:avLst>
              <a:gd name="adj" fmla="val 8000"/>
            </a:avLst>
          </a:prstGeom>
          <a:solidFill>
            <a:srgbClr val="FFF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5"/>
          </p:cNvPr>
          <p:cNvSpPr txBox="1"/>
          <p:nvPr/>
        </p:nvSpPr>
        <p:spPr>
          <a:xfrm>
            <a:off x="10908791" y="384048"/>
            <a:ext cx="594360" cy="219456"/>
          </a:xfrm>
          <a:prstGeom prst="rect">
            <a:avLst/>
          </a:prstGeom>
          <a:noFill/>
        </p:spPr>
        <p:txBody>
          <a:bodyPr wrap="square" lIns="0" rIns="0" tIns="0" bIns="0">
            <a:spAutoFit/>
          </a:bodyPr>
          <a:lstStyle/>
          <a:p>
            <a:pPr algn="l">
              <a:lnSpc>
                <a:spcPct val="101000"/>
              </a:lnSpc>
              <a:spcAft>
                <a:spcPts val="300"/>
              </a:spcAft>
              <a:defRPr sz="749" b="1">
                <a:solidFill>
                  <a:srgbClr val="203350"/>
                </a:solidFill>
                <a:latin typeface="DejaVu Sans"/>
              </a:defRPr>
            </a:pPr>
            <a:r>
              <a:t>Comprobar</a:t>
            </a:r>
          </a:p>
        </p:txBody>
      </p:sp>
      <p:sp>
        <p:nvSpPr>
          <p:cNvPr id="11" name="TextBox 10"/>
          <p:cNvSpPr txBox="1"/>
          <p:nvPr/>
        </p:nvSpPr>
        <p:spPr>
          <a:xfrm>
            <a:off x="548640" y="886968"/>
            <a:ext cx="11064240" cy="1234440"/>
          </a:xfrm>
          <a:prstGeom prst="rect">
            <a:avLst/>
          </a:prstGeom>
          <a:noFill/>
        </p:spPr>
        <p:txBody>
          <a:bodyPr wrap="square" lIns="0" rIns="0" tIns="0" bIns="0">
            <a:spAutoFit/>
          </a:bodyPr>
          <a:lstStyle/>
          <a:p>
            <a:pPr algn="l">
              <a:lnSpc>
                <a:spcPct val="101000"/>
              </a:lnSpc>
              <a:spcAft>
                <a:spcPts val="300"/>
              </a:spcAft>
              <a:defRPr sz="3900" b="1">
                <a:solidFill>
                  <a:srgbClr val="203350"/>
                </a:solidFill>
                <a:latin typeface="DejaVu Sans"/>
              </a:defRPr>
            </a:pPr>
            <a:r>
              <a:t>Elige una parte de la práctica</a:t>
            </a:r>
          </a:p>
        </p:txBody>
      </p:sp>
      <p:sp>
        <p:nvSpPr>
          <p:cNvPr id="12" name="TextBox 11"/>
          <p:cNvSpPr txBox="1"/>
          <p:nvPr/>
        </p:nvSpPr>
        <p:spPr>
          <a:xfrm>
            <a:off x="548640" y="6446520"/>
            <a:ext cx="9784080" cy="219456"/>
          </a:xfrm>
          <a:prstGeom prst="rect">
            <a:avLst/>
          </a:prstGeom>
          <a:noFill/>
        </p:spPr>
        <p:txBody>
          <a:bodyPr wrap="square" lIns="0" rIns="0" tIns="0" bIns="0">
            <a:spAutoFit/>
          </a:bodyPr>
          <a:lstStyle/>
          <a:p>
            <a:pPr algn="l">
              <a:lnSpc>
                <a:spcPct val="101000"/>
              </a:lnSpc>
              <a:spcAft>
                <a:spcPts val="300"/>
              </a:spcAft>
              <a:defRPr sz="810" b="0">
                <a:solidFill>
                  <a:srgbClr val="5C6E83"/>
                </a:solidFill>
                <a:latin typeface="DejaVu Sans"/>
              </a:defRPr>
            </a:pPr>
            <a:r>
              <a:t>Material de consulta · no añade tiempo al recorrido de 50 minutos</a:t>
            </a:r>
          </a:p>
        </p:txBody>
      </p:sp>
      <p:sp>
        <p:nvSpPr>
          <p:cNvPr id="13" name="Rounded Rectangle 12">
            <a:hlinkClick action="ppaction://hlinksldjump" r:id="rId6"/>
          </p:cNvPr>
          <p:cNvSpPr/>
          <p:nvPr/>
        </p:nvSpPr>
        <p:spPr>
          <a:xfrm>
            <a:off x="10442448" y="6400800"/>
            <a:ext cx="640080" cy="265176"/>
          </a:xfrm>
          <a:prstGeom prst="roundRect">
            <a:avLst>
              <a:gd name="adj" fmla="val 8000"/>
            </a:avLst>
          </a:prstGeom>
          <a:solidFill>
            <a:srgbClr val="EEE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a:hlinkClick action="ppaction://hlinksldjump" r:id="rId6"/>
          </p:cNvPr>
          <p:cNvSpPr txBox="1"/>
          <p:nvPr/>
        </p:nvSpPr>
        <p:spPr>
          <a:xfrm>
            <a:off x="10552176" y="6483096"/>
            <a:ext cx="420623" cy="173735"/>
          </a:xfrm>
          <a:prstGeom prst="rect">
            <a:avLst/>
          </a:prstGeom>
          <a:noFill/>
        </p:spPr>
        <p:txBody>
          <a:bodyPr wrap="square" lIns="0" rIns="0" tIns="0" bIns="0">
            <a:spAutoFit/>
          </a:bodyPr>
          <a:lstStyle/>
          <a:p>
            <a:pPr algn="l">
              <a:lnSpc>
                <a:spcPct val="101000"/>
              </a:lnSpc>
              <a:spcAft>
                <a:spcPts val="300"/>
              </a:spcAft>
              <a:defRPr sz="800" b="1">
                <a:solidFill>
                  <a:srgbClr val="8060BA"/>
                </a:solidFill>
                <a:latin typeface="DejaVu Sans"/>
              </a:defRPr>
            </a:pPr>
            <a:r>
              <a:t>Ruta</a:t>
            </a:r>
          </a:p>
        </p:txBody>
      </p:sp>
      <p:sp>
        <p:nvSpPr>
          <p:cNvPr id="15" name="TextBox 14"/>
          <p:cNvSpPr txBox="1"/>
          <p:nvPr/>
        </p:nvSpPr>
        <p:spPr>
          <a:xfrm>
            <a:off x="11228832" y="6400800"/>
            <a:ext cx="457200" cy="274320"/>
          </a:xfrm>
          <a:prstGeom prst="rect">
            <a:avLst/>
          </a:prstGeom>
          <a:noFill/>
        </p:spPr>
        <p:txBody>
          <a:bodyPr wrap="square" lIns="0" rIns="0" tIns="0" bIns="0">
            <a:spAutoFit/>
          </a:bodyPr>
          <a:lstStyle/>
          <a:p>
            <a:pPr algn="r">
              <a:lnSpc>
                <a:spcPct val="101000"/>
              </a:lnSpc>
              <a:spcAft>
                <a:spcPts val="300"/>
              </a:spcAft>
              <a:defRPr sz="1300" b="1">
                <a:solidFill>
                  <a:srgbClr val="203350"/>
                </a:solidFill>
                <a:latin typeface="DejaVu Sans"/>
              </a:defRPr>
            </a:pPr>
            <a:r>
              <a:t>ANX</a:t>
            </a:r>
          </a:p>
        </p:txBody>
      </p:sp>
      <p:sp>
        <p:nvSpPr>
          <p:cNvPr id="16" name="Rounded Rectangle 15">
            <a:hlinkClick action="ppaction://hlinksldjump" r:id="rId7"/>
          </p:cNvPr>
          <p:cNvSpPr/>
          <p:nvPr/>
        </p:nvSpPr>
        <p:spPr>
          <a:xfrm>
            <a:off x="640080" y="2651760"/>
            <a:ext cx="3584448" cy="329184"/>
          </a:xfrm>
          <a:prstGeom prst="roundRect">
            <a:avLst>
              <a:gd name="adj" fmla="val 8000"/>
            </a:avLst>
          </a:prstGeom>
          <a:solidFill>
            <a:srgbClr val="E0F7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a:hlinkClick action="ppaction://hlinksldjump" r:id="rId7"/>
          </p:cNvPr>
          <p:cNvSpPr txBox="1"/>
          <p:nvPr/>
        </p:nvSpPr>
        <p:spPr>
          <a:xfrm>
            <a:off x="749808" y="2734056"/>
            <a:ext cx="3364991" cy="237744"/>
          </a:xfrm>
          <a:prstGeom prst="rect">
            <a:avLst/>
          </a:prstGeom>
          <a:noFill/>
        </p:spPr>
        <p:txBody>
          <a:bodyPr wrap="square" lIns="0" rIns="0" tIns="0" bIns="0">
            <a:spAutoFit/>
          </a:bodyPr>
          <a:lstStyle/>
          <a:p>
            <a:pPr algn="l">
              <a:lnSpc>
                <a:spcPct val="101000"/>
              </a:lnSpc>
              <a:spcAft>
                <a:spcPts val="300"/>
              </a:spcAft>
              <a:defRPr sz="819" b="1">
                <a:solidFill>
                  <a:srgbClr val="203350"/>
                </a:solidFill>
                <a:latin typeface="DejaVu Sans"/>
              </a:defRPr>
            </a:pPr>
            <a:r>
              <a:t>01 De los flujos al impacto ambiental</a:t>
            </a:r>
          </a:p>
        </p:txBody>
      </p:sp>
      <p:sp>
        <p:nvSpPr>
          <p:cNvPr id="18" name="Rounded Rectangle 17">
            <a:hlinkClick action="ppaction://hlinksldjump" r:id="rId8"/>
          </p:cNvPr>
          <p:cNvSpPr/>
          <p:nvPr/>
        </p:nvSpPr>
        <p:spPr>
          <a:xfrm>
            <a:off x="4416552" y="2651760"/>
            <a:ext cx="3584448" cy="329184"/>
          </a:xfrm>
          <a:prstGeom prst="roundRect">
            <a:avLst>
              <a:gd name="adj" fmla="val 8000"/>
            </a:avLst>
          </a:prstGeom>
          <a:solidFill>
            <a:srgbClr val="E0F7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a:hlinkClick action="ppaction://hlinksldjump" r:id="rId8"/>
          </p:cNvPr>
          <p:cNvSpPr txBox="1"/>
          <p:nvPr/>
        </p:nvSpPr>
        <p:spPr>
          <a:xfrm>
            <a:off x="4526280" y="2734056"/>
            <a:ext cx="3364991" cy="237744"/>
          </a:xfrm>
          <a:prstGeom prst="rect">
            <a:avLst/>
          </a:prstGeom>
          <a:noFill/>
        </p:spPr>
        <p:txBody>
          <a:bodyPr wrap="square" lIns="0" rIns="0" tIns="0" bIns="0">
            <a:spAutoFit/>
          </a:bodyPr>
          <a:lstStyle/>
          <a:p>
            <a:pPr algn="l">
              <a:lnSpc>
                <a:spcPct val="101000"/>
              </a:lnSpc>
              <a:spcAft>
                <a:spcPts val="300"/>
              </a:spcAft>
              <a:defRPr sz="819" b="1">
                <a:solidFill>
                  <a:srgbClr val="203350"/>
                </a:solidFill>
                <a:latin typeface="DejaVu Sans"/>
              </a:defRPr>
            </a:pPr>
            <a:r>
              <a:t>02 Una bebida conecta varios procesos</a:t>
            </a:r>
          </a:p>
        </p:txBody>
      </p:sp>
      <p:sp>
        <p:nvSpPr>
          <p:cNvPr id="20" name="Rounded Rectangle 19">
            <a:hlinkClick action="ppaction://hlinksldjump" r:id="rId9"/>
          </p:cNvPr>
          <p:cNvSpPr/>
          <p:nvPr/>
        </p:nvSpPr>
        <p:spPr>
          <a:xfrm>
            <a:off x="8193023" y="2651760"/>
            <a:ext cx="3584448" cy="329184"/>
          </a:xfrm>
          <a:prstGeom prst="roundRect">
            <a:avLst>
              <a:gd name="adj" fmla="val 8000"/>
            </a:avLst>
          </a:prstGeom>
          <a:solidFill>
            <a:srgbClr val="E0F7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a:hlinkClick action="ppaction://hlinksldjump" r:id="rId9"/>
          </p:cNvPr>
          <p:cNvSpPr txBox="1"/>
          <p:nvPr/>
        </p:nvSpPr>
        <p:spPr>
          <a:xfrm>
            <a:off x="8302751" y="2734056"/>
            <a:ext cx="3364991" cy="237744"/>
          </a:xfrm>
          <a:prstGeom prst="rect">
            <a:avLst/>
          </a:prstGeom>
          <a:noFill/>
        </p:spPr>
        <p:txBody>
          <a:bodyPr wrap="square" lIns="0" rIns="0" tIns="0" bIns="0">
            <a:spAutoFit/>
          </a:bodyPr>
          <a:lstStyle/>
          <a:p>
            <a:pPr algn="l">
              <a:lnSpc>
                <a:spcPct val="101000"/>
              </a:lnSpc>
              <a:spcAft>
                <a:spcPts val="300"/>
              </a:spcAft>
              <a:defRPr sz="819" b="1">
                <a:solidFill>
                  <a:srgbClr val="203350"/>
                </a:solidFill>
                <a:latin typeface="DejaVu Sans"/>
              </a:defRPr>
            </a:pPr>
            <a:r>
              <a:t>03 Antes de calcular: ¿qué entra en nuestro sistema?</a:t>
            </a:r>
          </a:p>
        </p:txBody>
      </p:sp>
      <p:sp>
        <p:nvSpPr>
          <p:cNvPr id="22" name="Rounded Rectangle 21">
            <a:hlinkClick action="ppaction://hlinksldjump" r:id="rId10"/>
          </p:cNvPr>
          <p:cNvSpPr/>
          <p:nvPr/>
        </p:nvSpPr>
        <p:spPr>
          <a:xfrm>
            <a:off x="640080" y="3054096"/>
            <a:ext cx="3584448" cy="329184"/>
          </a:xfrm>
          <a:prstGeom prst="roundRect">
            <a:avLst>
              <a:gd name="adj" fmla="val 8000"/>
            </a:avLst>
          </a:prstGeom>
          <a:solidFill>
            <a:srgbClr val="E0F7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a:hlinkClick action="ppaction://hlinksldjump" r:id="rId10"/>
          </p:cNvPr>
          <p:cNvSpPr txBox="1"/>
          <p:nvPr/>
        </p:nvSpPr>
        <p:spPr>
          <a:xfrm>
            <a:off x="749808" y="3136391"/>
            <a:ext cx="3364991" cy="237744"/>
          </a:xfrm>
          <a:prstGeom prst="rect">
            <a:avLst/>
          </a:prstGeom>
          <a:noFill/>
        </p:spPr>
        <p:txBody>
          <a:bodyPr wrap="square" lIns="0" rIns="0" tIns="0" bIns="0">
            <a:spAutoFit/>
          </a:bodyPr>
          <a:lstStyle/>
          <a:p>
            <a:pPr algn="l">
              <a:lnSpc>
                <a:spcPct val="101000"/>
              </a:lnSpc>
              <a:spcAft>
                <a:spcPts val="300"/>
              </a:spcAft>
              <a:defRPr sz="819" b="1">
                <a:solidFill>
                  <a:srgbClr val="203350"/>
                </a:solidFill>
                <a:latin typeface="DejaVu Sans"/>
              </a:defRPr>
            </a:pPr>
            <a:r>
              <a:t>04 ¿Qué debemos comparar en las dos alternativas?</a:t>
            </a:r>
          </a:p>
        </p:txBody>
      </p:sp>
      <p:sp>
        <p:nvSpPr>
          <p:cNvPr id="24" name="Rounded Rectangle 23">
            <a:hlinkClick action="ppaction://hlinksldjump" r:id="rId11"/>
          </p:cNvPr>
          <p:cNvSpPr/>
          <p:nvPr/>
        </p:nvSpPr>
        <p:spPr>
          <a:xfrm>
            <a:off x="4416552" y="3054096"/>
            <a:ext cx="3584448" cy="329184"/>
          </a:xfrm>
          <a:prstGeom prst="roundRect">
            <a:avLst>
              <a:gd name="adj" fmla="val 8000"/>
            </a:avLst>
          </a:prstGeom>
          <a:solidFill>
            <a:srgbClr val="E0F7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a:hlinkClick action="ppaction://hlinksldjump" r:id="rId11"/>
          </p:cNvPr>
          <p:cNvSpPr txBox="1"/>
          <p:nvPr/>
        </p:nvSpPr>
        <p:spPr>
          <a:xfrm>
            <a:off x="4526280" y="3136391"/>
            <a:ext cx="3364991" cy="237744"/>
          </a:xfrm>
          <a:prstGeom prst="rect">
            <a:avLst/>
          </a:prstGeom>
          <a:noFill/>
        </p:spPr>
        <p:txBody>
          <a:bodyPr wrap="square" lIns="0" rIns="0" tIns="0" bIns="0">
            <a:spAutoFit/>
          </a:bodyPr>
          <a:lstStyle/>
          <a:p>
            <a:pPr algn="l">
              <a:lnSpc>
                <a:spcPct val="101000"/>
              </a:lnSpc>
              <a:spcAft>
                <a:spcPts val="300"/>
              </a:spcAft>
              <a:defRPr sz="819" b="1">
                <a:solidFill>
                  <a:srgbClr val="203350"/>
                </a:solidFill>
                <a:latin typeface="DejaVu Sans"/>
              </a:defRPr>
            </a:pPr>
            <a:r>
              <a:t>05 Mismo tema oficial, un modelo docente transparente</a:t>
            </a:r>
          </a:p>
        </p:txBody>
      </p:sp>
      <p:sp>
        <p:nvSpPr>
          <p:cNvPr id="26" name="Rounded Rectangle 25">
            <a:hlinkClick action="ppaction://hlinksldjump" r:id="rId2"/>
          </p:cNvPr>
          <p:cNvSpPr/>
          <p:nvPr/>
        </p:nvSpPr>
        <p:spPr>
          <a:xfrm>
            <a:off x="8193023" y="3054096"/>
            <a:ext cx="3584448" cy="329184"/>
          </a:xfrm>
          <a:prstGeom prst="roundRect">
            <a:avLst>
              <a:gd name="adj" fmla="val 8000"/>
            </a:avLst>
          </a:prstGeom>
          <a:solidFill>
            <a:srgbClr val="E0F7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a:hlinkClick action="ppaction://hlinksldjump" r:id="rId2"/>
          </p:cNvPr>
          <p:cNvSpPr txBox="1"/>
          <p:nvPr/>
        </p:nvSpPr>
        <p:spPr>
          <a:xfrm>
            <a:off x="8302751" y="3136391"/>
            <a:ext cx="3364991" cy="237744"/>
          </a:xfrm>
          <a:prstGeom prst="rect">
            <a:avLst/>
          </a:prstGeom>
          <a:noFill/>
        </p:spPr>
        <p:txBody>
          <a:bodyPr wrap="square" lIns="0" rIns="0" tIns="0" bIns="0">
            <a:spAutoFit/>
          </a:bodyPr>
          <a:lstStyle/>
          <a:p>
            <a:pPr algn="l">
              <a:lnSpc>
                <a:spcPct val="101000"/>
              </a:lnSpc>
              <a:spcAft>
                <a:spcPts val="300"/>
              </a:spcAft>
              <a:defRPr sz="819" b="1">
                <a:solidFill>
                  <a:srgbClr val="203350"/>
                </a:solidFill>
                <a:latin typeface="DejaVu Sans"/>
              </a:defRPr>
            </a:pPr>
            <a:r>
              <a:t>06 Llegamos con el programa listo para trabajar</a:t>
            </a:r>
          </a:p>
        </p:txBody>
      </p:sp>
      <p:sp>
        <p:nvSpPr>
          <p:cNvPr id="28" name="Rounded Rectangle 27">
            <a:hlinkClick action="ppaction://hlinksldjump" r:id="rId3"/>
          </p:cNvPr>
          <p:cNvSpPr/>
          <p:nvPr/>
        </p:nvSpPr>
        <p:spPr>
          <a:xfrm>
            <a:off x="640080" y="3456432"/>
            <a:ext cx="3584448" cy="329184"/>
          </a:xfrm>
          <a:prstGeom prst="roundRect">
            <a:avLst>
              <a:gd name="adj" fmla="val 8000"/>
            </a:avLst>
          </a:prstGeom>
          <a:solidFill>
            <a:srgbClr val="E2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a:hlinkClick action="ppaction://hlinksldjump" r:id="rId3"/>
          </p:cNvPr>
          <p:cNvSpPr txBox="1"/>
          <p:nvPr/>
        </p:nvSpPr>
        <p:spPr>
          <a:xfrm>
            <a:off x="749808" y="3538727"/>
            <a:ext cx="3364991" cy="237744"/>
          </a:xfrm>
          <a:prstGeom prst="rect">
            <a:avLst/>
          </a:prstGeom>
          <a:noFill/>
        </p:spPr>
        <p:txBody>
          <a:bodyPr wrap="square" lIns="0" rIns="0" tIns="0" bIns="0">
            <a:spAutoFit/>
          </a:bodyPr>
          <a:lstStyle/>
          <a:p>
            <a:pPr algn="l">
              <a:lnSpc>
                <a:spcPct val="101000"/>
              </a:lnSpc>
              <a:spcAft>
                <a:spcPts val="300"/>
              </a:spcAft>
              <a:defRPr sz="819" b="1">
                <a:solidFill>
                  <a:srgbClr val="203350"/>
                </a:solidFill>
                <a:latin typeface="DejaVu Sans"/>
              </a:defRPr>
            </a:pPr>
            <a:r>
              <a:t>07 1. Crea una base vacía e importa el archivo 01</a:t>
            </a:r>
          </a:p>
        </p:txBody>
      </p:sp>
      <p:sp>
        <p:nvSpPr>
          <p:cNvPr id="30" name="Rounded Rectangle 29">
            <a:hlinkClick action="ppaction://hlinksldjump" r:id="rId12"/>
          </p:cNvPr>
          <p:cNvSpPr/>
          <p:nvPr/>
        </p:nvSpPr>
        <p:spPr>
          <a:xfrm>
            <a:off x="4416552" y="3456432"/>
            <a:ext cx="3584448" cy="329184"/>
          </a:xfrm>
          <a:prstGeom prst="roundRect">
            <a:avLst>
              <a:gd name="adj" fmla="val 8000"/>
            </a:avLst>
          </a:prstGeom>
          <a:solidFill>
            <a:srgbClr val="E2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a:hlinkClick action="ppaction://hlinksldjump" r:id="rId12"/>
          </p:cNvPr>
          <p:cNvSpPr txBox="1"/>
          <p:nvPr/>
        </p:nvSpPr>
        <p:spPr>
          <a:xfrm>
            <a:off x="4526280" y="3538727"/>
            <a:ext cx="3364991" cy="237744"/>
          </a:xfrm>
          <a:prstGeom prst="rect">
            <a:avLst/>
          </a:prstGeom>
          <a:noFill/>
        </p:spPr>
        <p:txBody>
          <a:bodyPr wrap="square" lIns="0" rIns="0" tIns="0" bIns="0">
            <a:spAutoFit/>
          </a:bodyPr>
          <a:lstStyle/>
          <a:p>
            <a:pPr algn="l">
              <a:lnSpc>
                <a:spcPct val="101000"/>
              </a:lnSpc>
              <a:spcAft>
                <a:spcPts val="300"/>
              </a:spcAft>
              <a:defRPr sz="819" b="1">
                <a:solidFill>
                  <a:srgbClr val="203350"/>
                </a:solidFill>
                <a:latin typeface="DejaVu Sans"/>
              </a:defRPr>
            </a:pPr>
            <a:r>
              <a:t>08 2. Importa el archivo 02 en la misma base activa</a:t>
            </a:r>
          </a:p>
        </p:txBody>
      </p:sp>
      <p:sp>
        <p:nvSpPr>
          <p:cNvPr id="32" name="Rounded Rectangle 31">
            <a:hlinkClick action="ppaction://hlinksldjump" r:id="rId13"/>
          </p:cNvPr>
          <p:cNvSpPr/>
          <p:nvPr/>
        </p:nvSpPr>
        <p:spPr>
          <a:xfrm>
            <a:off x="8193023" y="3456432"/>
            <a:ext cx="3584448" cy="329184"/>
          </a:xfrm>
          <a:prstGeom prst="roundRect">
            <a:avLst>
              <a:gd name="adj" fmla="val 8000"/>
            </a:avLst>
          </a:prstGeom>
          <a:solidFill>
            <a:srgbClr val="E2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a:hlinkClick action="ppaction://hlinksldjump" r:id="rId13"/>
          </p:cNvPr>
          <p:cNvSpPr txBox="1"/>
          <p:nvPr/>
        </p:nvSpPr>
        <p:spPr>
          <a:xfrm>
            <a:off x="8302751" y="3538727"/>
            <a:ext cx="3364991" cy="237744"/>
          </a:xfrm>
          <a:prstGeom prst="rect">
            <a:avLst/>
          </a:prstGeom>
          <a:noFill/>
        </p:spPr>
        <p:txBody>
          <a:bodyPr wrap="square" lIns="0" rIns="0" tIns="0" bIns="0">
            <a:spAutoFit/>
          </a:bodyPr>
          <a:lstStyle/>
          <a:p>
            <a:pPr algn="l">
              <a:lnSpc>
                <a:spcPct val="101000"/>
              </a:lnSpc>
              <a:spcAft>
                <a:spcPts val="300"/>
              </a:spcAft>
              <a:defRPr sz="819" b="1">
                <a:solidFill>
                  <a:srgbClr val="203350"/>
                </a:solidFill>
                <a:latin typeface="DejaVu Sans"/>
              </a:defRPr>
            </a:pPr>
            <a:r>
              <a:t>09 3. Sigue una entrada hasta su proveedor</a:t>
            </a:r>
          </a:p>
        </p:txBody>
      </p:sp>
      <p:sp>
        <p:nvSpPr>
          <p:cNvPr id="34" name="Rounded Rectangle 33">
            <a:hlinkClick action="ppaction://hlinksldjump" r:id="rId14"/>
          </p:cNvPr>
          <p:cNvSpPr/>
          <p:nvPr/>
        </p:nvSpPr>
        <p:spPr>
          <a:xfrm>
            <a:off x="640080" y="3858768"/>
            <a:ext cx="3584448" cy="329184"/>
          </a:xfrm>
          <a:prstGeom prst="roundRect">
            <a:avLst>
              <a:gd name="adj" fmla="val 8000"/>
            </a:avLst>
          </a:prstGeom>
          <a:solidFill>
            <a:srgbClr val="E2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a:hlinkClick action="ppaction://hlinksldjump" r:id="rId14"/>
          </p:cNvPr>
          <p:cNvSpPr txBox="1"/>
          <p:nvPr/>
        </p:nvSpPr>
        <p:spPr>
          <a:xfrm>
            <a:off x="749808" y="3941063"/>
            <a:ext cx="3364991" cy="237744"/>
          </a:xfrm>
          <a:prstGeom prst="rect">
            <a:avLst/>
          </a:prstGeom>
          <a:noFill/>
        </p:spPr>
        <p:txBody>
          <a:bodyPr wrap="square" lIns="0" rIns="0" tIns="0" bIns="0">
            <a:spAutoFit/>
          </a:bodyPr>
          <a:lstStyle/>
          <a:p>
            <a:pPr algn="l">
              <a:lnSpc>
                <a:spcPct val="101000"/>
              </a:lnSpc>
              <a:spcAft>
                <a:spcPts val="300"/>
              </a:spcAft>
              <a:defRPr sz="819" b="1">
                <a:solidFill>
                  <a:srgbClr val="203350"/>
                </a:solidFill>
                <a:latin typeface="DejaVu Sans"/>
              </a:defRPr>
            </a:pPr>
            <a:r>
              <a:t>10 4. Comprueba referencia, cantidad y unidad</a:t>
            </a:r>
          </a:p>
        </p:txBody>
      </p:sp>
      <p:sp>
        <p:nvSpPr>
          <p:cNvPr id="36" name="Rounded Rectangle 35">
            <a:hlinkClick action="ppaction://hlinksldjump" r:id="rId4"/>
          </p:cNvPr>
          <p:cNvSpPr/>
          <p:nvPr/>
        </p:nvSpPr>
        <p:spPr>
          <a:xfrm>
            <a:off x="4416552" y="3858768"/>
            <a:ext cx="3584448" cy="329184"/>
          </a:xfrm>
          <a:prstGeom prst="roundRect">
            <a:avLst>
              <a:gd name="adj" fmla="val 8000"/>
            </a:avLst>
          </a:prstGeom>
          <a:solidFill>
            <a:srgbClr val="E2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a:hlinkClick action="ppaction://hlinksldjump" r:id="rId4"/>
          </p:cNvPr>
          <p:cNvSpPr txBox="1"/>
          <p:nvPr/>
        </p:nvSpPr>
        <p:spPr>
          <a:xfrm>
            <a:off x="4526280" y="3941063"/>
            <a:ext cx="3364991" cy="237744"/>
          </a:xfrm>
          <a:prstGeom prst="rect">
            <a:avLst/>
          </a:prstGeom>
          <a:noFill/>
        </p:spPr>
        <p:txBody>
          <a:bodyPr wrap="square" lIns="0" rIns="0" tIns="0" bIns="0">
            <a:spAutoFit/>
          </a:bodyPr>
          <a:lstStyle/>
          <a:p>
            <a:pPr algn="l">
              <a:lnSpc>
                <a:spcPct val="101000"/>
              </a:lnSpc>
              <a:spcAft>
                <a:spcPts val="300"/>
              </a:spcAft>
              <a:defRPr sz="819" b="1">
                <a:solidFill>
                  <a:srgbClr val="203350"/>
                </a:solidFill>
                <a:latin typeface="DejaVu Sans"/>
              </a:defRPr>
            </a:pPr>
            <a:r>
              <a:t>11 5. Selecciona el sistema, la cantidad y el método</a:t>
            </a:r>
          </a:p>
        </p:txBody>
      </p:sp>
      <p:sp>
        <p:nvSpPr>
          <p:cNvPr id="38" name="Rounded Rectangle 37">
            <a:hlinkClick action="ppaction://hlinksldjump" r:id="rId15"/>
          </p:cNvPr>
          <p:cNvSpPr/>
          <p:nvPr/>
        </p:nvSpPr>
        <p:spPr>
          <a:xfrm>
            <a:off x="8193023" y="3858768"/>
            <a:ext cx="3584448" cy="329184"/>
          </a:xfrm>
          <a:prstGeom prst="roundRect">
            <a:avLst>
              <a:gd name="adj" fmla="val 8000"/>
            </a:avLst>
          </a:prstGeom>
          <a:solidFill>
            <a:srgbClr val="E2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a:hlinkClick action="ppaction://hlinksldjump" r:id="rId15"/>
          </p:cNvPr>
          <p:cNvSpPr txBox="1"/>
          <p:nvPr/>
        </p:nvSpPr>
        <p:spPr>
          <a:xfrm>
            <a:off x="8302751" y="3941063"/>
            <a:ext cx="3364991" cy="237744"/>
          </a:xfrm>
          <a:prstGeom prst="rect">
            <a:avLst/>
          </a:prstGeom>
          <a:noFill/>
        </p:spPr>
        <p:txBody>
          <a:bodyPr wrap="square" lIns="0" rIns="0" tIns="0" bIns="0">
            <a:spAutoFit/>
          </a:bodyPr>
          <a:lstStyle/>
          <a:p>
            <a:pPr algn="l">
              <a:lnSpc>
                <a:spcPct val="101000"/>
              </a:lnSpc>
              <a:spcAft>
                <a:spcPts val="300"/>
              </a:spcAft>
              <a:defRPr sz="819" b="1">
                <a:solidFill>
                  <a:srgbClr val="203350"/>
                </a:solidFill>
                <a:latin typeface="DejaVu Sans"/>
              </a:defRPr>
            </a:pPr>
            <a:r>
              <a:t>12 6. Primero observa los flujos físicos</a:t>
            </a:r>
          </a:p>
        </p:txBody>
      </p:sp>
      <p:sp>
        <p:nvSpPr>
          <p:cNvPr id="40" name="Rounded Rectangle 39">
            <a:hlinkClick action="ppaction://hlinksldjump" r:id="rId16"/>
          </p:cNvPr>
          <p:cNvSpPr/>
          <p:nvPr/>
        </p:nvSpPr>
        <p:spPr>
          <a:xfrm>
            <a:off x="640080" y="4261104"/>
            <a:ext cx="3584448" cy="329184"/>
          </a:xfrm>
          <a:prstGeom prst="roundRect">
            <a:avLst>
              <a:gd name="adj" fmla="val 8000"/>
            </a:avLst>
          </a:prstGeom>
          <a:solidFill>
            <a:srgbClr val="EEE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a:hlinkClick action="ppaction://hlinksldjump" r:id="rId16"/>
          </p:cNvPr>
          <p:cNvSpPr txBox="1"/>
          <p:nvPr/>
        </p:nvSpPr>
        <p:spPr>
          <a:xfrm>
            <a:off x="749808" y="4343400"/>
            <a:ext cx="3364991" cy="237744"/>
          </a:xfrm>
          <a:prstGeom prst="rect">
            <a:avLst/>
          </a:prstGeom>
          <a:noFill/>
        </p:spPr>
        <p:txBody>
          <a:bodyPr wrap="square" lIns="0" rIns="0" tIns="0" bIns="0">
            <a:spAutoFit/>
          </a:bodyPr>
          <a:lstStyle/>
          <a:p>
            <a:pPr algn="l">
              <a:lnSpc>
                <a:spcPct val="101000"/>
              </a:lnSpc>
              <a:spcAft>
                <a:spcPts val="300"/>
              </a:spcAft>
              <a:defRPr sz="819" b="1">
                <a:solidFill>
                  <a:srgbClr val="203350"/>
                </a:solidFill>
                <a:latin typeface="DejaVu Sans"/>
              </a:defRPr>
            </a:pPr>
            <a:r>
              <a:t>13 7. De tres gases a kg de CO₂ equivalente</a:t>
            </a:r>
          </a:p>
        </p:txBody>
      </p:sp>
      <p:sp>
        <p:nvSpPr>
          <p:cNvPr id="42" name="Rounded Rectangle 41">
            <a:hlinkClick action="ppaction://hlinksldjump" r:id="rId5"/>
          </p:cNvPr>
          <p:cNvSpPr/>
          <p:nvPr/>
        </p:nvSpPr>
        <p:spPr>
          <a:xfrm>
            <a:off x="4416552" y="4261104"/>
            <a:ext cx="3584448" cy="329184"/>
          </a:xfrm>
          <a:prstGeom prst="roundRect">
            <a:avLst>
              <a:gd name="adj" fmla="val 8000"/>
            </a:avLst>
          </a:prstGeom>
          <a:solidFill>
            <a:srgbClr val="EEE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a:hlinkClick action="ppaction://hlinksldjump" r:id="rId5"/>
          </p:cNvPr>
          <p:cNvSpPr txBox="1"/>
          <p:nvPr/>
        </p:nvSpPr>
        <p:spPr>
          <a:xfrm>
            <a:off x="4526280" y="4343400"/>
            <a:ext cx="3364991" cy="237744"/>
          </a:xfrm>
          <a:prstGeom prst="rect">
            <a:avLst/>
          </a:prstGeom>
          <a:noFill/>
        </p:spPr>
        <p:txBody>
          <a:bodyPr wrap="square" lIns="0" rIns="0" tIns="0" bIns="0">
            <a:spAutoFit/>
          </a:bodyPr>
          <a:lstStyle/>
          <a:p>
            <a:pPr algn="l">
              <a:lnSpc>
                <a:spcPct val="101000"/>
              </a:lnSpc>
              <a:spcAft>
                <a:spcPts val="300"/>
              </a:spcAft>
              <a:defRPr sz="819" b="1">
                <a:solidFill>
                  <a:srgbClr val="203350"/>
                </a:solidFill>
                <a:latin typeface="DejaVu Sans"/>
              </a:defRPr>
            </a:pPr>
            <a:r>
              <a:t>14 8. Repite una cuenta fuera del programa</a:t>
            </a:r>
          </a:p>
        </p:txBody>
      </p:sp>
      <p:sp>
        <p:nvSpPr>
          <p:cNvPr id="44" name="Rounded Rectangle 43">
            <a:hlinkClick action="ppaction://hlinksldjump" r:id="rId17"/>
          </p:cNvPr>
          <p:cNvSpPr/>
          <p:nvPr/>
        </p:nvSpPr>
        <p:spPr>
          <a:xfrm>
            <a:off x="8193023" y="4261104"/>
            <a:ext cx="3584448" cy="329184"/>
          </a:xfrm>
          <a:prstGeom prst="roundRect">
            <a:avLst>
              <a:gd name="adj" fmla="val 8000"/>
            </a:avLst>
          </a:prstGeom>
          <a:solidFill>
            <a:srgbClr val="EEE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a:hlinkClick action="ppaction://hlinksldjump" r:id="rId17"/>
          </p:cNvPr>
          <p:cNvSpPr txBox="1"/>
          <p:nvPr/>
        </p:nvSpPr>
        <p:spPr>
          <a:xfrm>
            <a:off x="8302751" y="4343400"/>
            <a:ext cx="3364991" cy="237744"/>
          </a:xfrm>
          <a:prstGeom prst="rect">
            <a:avLst/>
          </a:prstGeom>
          <a:noFill/>
        </p:spPr>
        <p:txBody>
          <a:bodyPr wrap="square" lIns="0" rIns="0" tIns="0" bIns="0">
            <a:spAutoFit/>
          </a:bodyPr>
          <a:lstStyle/>
          <a:p>
            <a:pPr algn="l">
              <a:lnSpc>
                <a:spcPct val="101000"/>
              </a:lnSpc>
              <a:spcAft>
                <a:spcPts val="300"/>
              </a:spcAft>
              <a:defRPr sz="819" b="1">
                <a:solidFill>
                  <a:srgbClr val="203350"/>
                </a:solidFill>
                <a:latin typeface="DejaVu Sans"/>
              </a:defRPr>
            </a:pPr>
            <a:r>
              <a:t>15 9. Una cifra coherente necesita varias revisiones</a:t>
            </a:r>
          </a:p>
        </p:txBody>
      </p:sp>
      <p:sp>
        <p:nvSpPr>
          <p:cNvPr id="46" name="Rounded Rectangle 45">
            <a:hlinkClick action="ppaction://hlinksldjump" r:id="rId18"/>
          </p:cNvPr>
          <p:cNvSpPr/>
          <p:nvPr/>
        </p:nvSpPr>
        <p:spPr>
          <a:xfrm>
            <a:off x="640080" y="4663440"/>
            <a:ext cx="3584448" cy="329184"/>
          </a:xfrm>
          <a:prstGeom prst="roundRect">
            <a:avLst>
              <a:gd name="adj" fmla="val 8000"/>
            </a:avLst>
          </a:prstGeom>
          <a:solidFill>
            <a:srgbClr val="EEE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a:hlinkClick action="ppaction://hlinksldjump" r:id="rId18"/>
          </p:cNvPr>
          <p:cNvSpPr txBox="1"/>
          <p:nvPr/>
        </p:nvSpPr>
        <p:spPr>
          <a:xfrm>
            <a:off x="749808" y="4745736"/>
            <a:ext cx="3364991" cy="237744"/>
          </a:xfrm>
          <a:prstGeom prst="rect">
            <a:avLst/>
          </a:prstGeom>
          <a:noFill/>
        </p:spPr>
        <p:txBody>
          <a:bodyPr wrap="square" lIns="0" rIns="0" tIns="0" bIns="0">
            <a:spAutoFit/>
          </a:bodyPr>
          <a:lstStyle/>
          <a:p>
            <a:pPr algn="l">
              <a:lnSpc>
                <a:spcPct val="101000"/>
              </a:lnSpc>
              <a:spcAft>
                <a:spcPts val="300"/>
              </a:spcAft>
              <a:defRPr sz="819" b="1">
                <a:solidFill>
                  <a:srgbClr val="203350"/>
                </a:solidFill>
                <a:latin typeface="DejaVu Sans"/>
              </a:defRPr>
            </a:pPr>
            <a:r>
              <a:t>16 10. Un flujo sin factor no equivale a impacto cero</a:t>
            </a:r>
          </a:p>
        </p:txBody>
      </p:sp>
      <p:sp>
        <p:nvSpPr>
          <p:cNvPr id="48" name="Rounded Rectangle 47">
            <a:hlinkClick action="ppaction://hlinksldjump" r:id="rId19"/>
          </p:cNvPr>
          <p:cNvSpPr/>
          <p:nvPr/>
        </p:nvSpPr>
        <p:spPr>
          <a:xfrm>
            <a:off x="4416552" y="4663440"/>
            <a:ext cx="3584448" cy="329184"/>
          </a:xfrm>
          <a:prstGeom prst="roundRect">
            <a:avLst>
              <a:gd name="adj" fmla="val 8000"/>
            </a:avLst>
          </a:prstGeom>
          <a:solidFill>
            <a:srgbClr val="EEE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a:hlinkClick action="ppaction://hlinksldjump" r:id="rId19"/>
          </p:cNvPr>
          <p:cNvSpPr txBox="1"/>
          <p:nvPr/>
        </p:nvSpPr>
        <p:spPr>
          <a:xfrm>
            <a:off x="4526280" y="4745736"/>
            <a:ext cx="3364991" cy="237744"/>
          </a:xfrm>
          <a:prstGeom prst="rect">
            <a:avLst/>
          </a:prstGeom>
          <a:noFill/>
        </p:spPr>
        <p:txBody>
          <a:bodyPr wrap="square" lIns="0" rIns="0" tIns="0" bIns="0">
            <a:spAutoFit/>
          </a:bodyPr>
          <a:lstStyle/>
          <a:p>
            <a:pPr algn="l">
              <a:lnSpc>
                <a:spcPct val="101000"/>
              </a:lnSpc>
              <a:spcAft>
                <a:spcPts val="300"/>
              </a:spcAft>
              <a:defRPr sz="819" b="1">
                <a:solidFill>
                  <a:srgbClr val="203350"/>
                </a:solidFill>
                <a:latin typeface="DejaVu Sans"/>
              </a:defRPr>
            </a:pPr>
            <a:r>
              <a:t>17 11. Cambia a 2 L y comprueba la proporcionalidad</a:t>
            </a:r>
          </a:p>
        </p:txBody>
      </p:sp>
      <p:sp>
        <p:nvSpPr>
          <p:cNvPr id="50" name="Rounded Rectangle 49">
            <a:hlinkClick action="ppaction://hlinksldjump" r:id="rId20"/>
          </p:cNvPr>
          <p:cNvSpPr/>
          <p:nvPr/>
        </p:nvSpPr>
        <p:spPr>
          <a:xfrm>
            <a:off x="8193023" y="4663440"/>
            <a:ext cx="3584448" cy="329184"/>
          </a:xfrm>
          <a:prstGeom prst="roundRect">
            <a:avLst>
              <a:gd name="adj" fmla="val 8000"/>
            </a:avLst>
          </a:prstGeom>
          <a:solidFill>
            <a:srgbClr val="EEE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a:hlinkClick action="ppaction://hlinksldjump" r:id="rId20"/>
          </p:cNvPr>
          <p:cNvSpPr txBox="1"/>
          <p:nvPr/>
        </p:nvSpPr>
        <p:spPr>
          <a:xfrm>
            <a:off x="8302751" y="4745736"/>
            <a:ext cx="3364991" cy="237744"/>
          </a:xfrm>
          <a:prstGeom prst="rect">
            <a:avLst/>
          </a:prstGeom>
          <a:noFill/>
        </p:spPr>
        <p:txBody>
          <a:bodyPr wrap="square" lIns="0" rIns="0" tIns="0" bIns="0">
            <a:spAutoFit/>
          </a:bodyPr>
          <a:lstStyle/>
          <a:p>
            <a:pPr algn="l">
              <a:lnSpc>
                <a:spcPct val="101000"/>
              </a:lnSpc>
              <a:spcAft>
                <a:spcPts val="300"/>
              </a:spcAft>
              <a:defRPr sz="819" b="1">
                <a:solidFill>
                  <a:srgbClr val="203350"/>
                </a:solidFill>
                <a:latin typeface="DejaVu Sans"/>
              </a:defRPr>
            </a:pPr>
            <a:r>
              <a:t>18 12. ¿Qué cambia si el CH₄ disminuye un 20 %?</a:t>
            </a:r>
          </a:p>
        </p:txBody>
      </p:sp>
      <p:sp>
        <p:nvSpPr>
          <p:cNvPr id="52" name="Rounded Rectangle 51">
            <a:hlinkClick action="ppaction://hlinksldjump" r:id="rId21"/>
          </p:cNvPr>
          <p:cNvSpPr/>
          <p:nvPr/>
        </p:nvSpPr>
        <p:spPr>
          <a:xfrm>
            <a:off x="640080" y="5065776"/>
            <a:ext cx="3584448" cy="329184"/>
          </a:xfrm>
          <a:prstGeom prst="roundRect">
            <a:avLst>
              <a:gd name="adj" fmla="val 8000"/>
            </a:avLst>
          </a:prstGeom>
          <a:solidFill>
            <a:srgbClr val="FFF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a:hlinkClick action="ppaction://hlinksldjump" r:id="rId21"/>
          </p:cNvPr>
          <p:cNvSpPr txBox="1"/>
          <p:nvPr/>
        </p:nvSpPr>
        <p:spPr>
          <a:xfrm>
            <a:off x="749808" y="5148072"/>
            <a:ext cx="3364991" cy="237744"/>
          </a:xfrm>
          <a:prstGeom prst="rect">
            <a:avLst/>
          </a:prstGeom>
          <a:noFill/>
        </p:spPr>
        <p:txBody>
          <a:bodyPr wrap="square" lIns="0" rIns="0" tIns="0" bIns="0">
            <a:spAutoFit/>
          </a:bodyPr>
          <a:lstStyle/>
          <a:p>
            <a:pPr algn="l">
              <a:lnSpc>
                <a:spcPct val="101000"/>
              </a:lnSpc>
              <a:spcAft>
                <a:spcPts val="300"/>
              </a:spcAft>
              <a:defRPr sz="771" b="1">
                <a:solidFill>
                  <a:srgbClr val="203350"/>
                </a:solidFill>
                <a:latin typeface="DejaVu Sans"/>
              </a:defRPr>
            </a:pPr>
            <a:r>
              <a:t>19 Lo que el ejercicio demuestra y lo que queda por estudiar</a:t>
            </a:r>
          </a:p>
        </p:txBody>
      </p:sp>
      <p:sp>
        <p:nvSpPr>
          <p:cNvPr id="54" name="Rounded Rectangle 53">
            <a:hlinkClick action="ppaction://hlinksldjump" r:id="rId22"/>
          </p:cNvPr>
          <p:cNvSpPr/>
          <p:nvPr/>
        </p:nvSpPr>
        <p:spPr>
          <a:xfrm>
            <a:off x="4416552" y="5065776"/>
            <a:ext cx="3584448" cy="329184"/>
          </a:xfrm>
          <a:prstGeom prst="roundRect">
            <a:avLst>
              <a:gd name="adj" fmla="val 8000"/>
            </a:avLst>
          </a:prstGeom>
          <a:solidFill>
            <a:srgbClr val="FFF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a:hlinkClick action="ppaction://hlinksldjump" r:id="rId22"/>
          </p:cNvPr>
          <p:cNvSpPr txBox="1"/>
          <p:nvPr/>
        </p:nvSpPr>
        <p:spPr>
          <a:xfrm>
            <a:off x="4526280" y="5148072"/>
            <a:ext cx="3364991" cy="237744"/>
          </a:xfrm>
          <a:prstGeom prst="rect">
            <a:avLst/>
          </a:prstGeom>
          <a:noFill/>
        </p:spPr>
        <p:txBody>
          <a:bodyPr wrap="square" lIns="0" rIns="0" tIns="0" bIns="0">
            <a:spAutoFit/>
          </a:bodyPr>
          <a:lstStyle/>
          <a:p>
            <a:pPr algn="l">
              <a:lnSpc>
                <a:spcPct val="101000"/>
              </a:lnSpc>
              <a:spcAft>
                <a:spcPts val="300"/>
              </a:spcAft>
              <a:defRPr sz="819" b="1">
                <a:solidFill>
                  <a:srgbClr val="203350"/>
                </a:solidFill>
                <a:latin typeface="DejaVu Sans"/>
              </a:defRPr>
            </a:pPr>
            <a:r>
              <a:t>20 Entrega evidencia que otra persona pueda revisar</a:t>
            </a:r>
          </a:p>
        </p:txBody>
      </p:sp>
      <p:sp>
        <p:nvSpPr>
          <p:cNvPr id="56" name="Rounded Rectangle 55">
            <a:hlinkClick action="ppaction://hlinksldjump" r:id="rId23"/>
          </p:cNvPr>
          <p:cNvSpPr/>
          <p:nvPr/>
        </p:nvSpPr>
        <p:spPr>
          <a:xfrm>
            <a:off x="8193023" y="5065776"/>
            <a:ext cx="3584448" cy="329184"/>
          </a:xfrm>
          <a:prstGeom prst="roundRect">
            <a:avLst>
              <a:gd name="adj" fmla="val 8000"/>
            </a:avLst>
          </a:prstGeom>
          <a:solidFill>
            <a:srgbClr val="FFF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a:hlinkClick action="ppaction://hlinksldjump" r:id="rId23"/>
          </p:cNvPr>
          <p:cNvSpPr txBox="1"/>
          <p:nvPr/>
        </p:nvSpPr>
        <p:spPr>
          <a:xfrm>
            <a:off x="8302751" y="5148072"/>
            <a:ext cx="3364991" cy="237744"/>
          </a:xfrm>
          <a:prstGeom prst="rect">
            <a:avLst/>
          </a:prstGeom>
          <a:noFill/>
        </p:spPr>
        <p:txBody>
          <a:bodyPr wrap="square" lIns="0" rIns="0" tIns="0" bIns="0">
            <a:spAutoFit/>
          </a:bodyPr>
          <a:lstStyle/>
          <a:p>
            <a:pPr algn="l">
              <a:lnSpc>
                <a:spcPct val="101000"/>
              </a:lnSpc>
              <a:spcAft>
                <a:spcPts val="300"/>
              </a:spcAft>
              <a:defRPr sz="795" b="1">
                <a:solidFill>
                  <a:srgbClr val="203350"/>
                </a:solidFill>
                <a:latin typeface="DejaVu Sans"/>
              </a:defRPr>
            </a:pPr>
            <a:r>
              <a:t>21 El agua aparece sin factor en GWP100. ¿Qué concluyes?</a:t>
            </a:r>
          </a:p>
        </p:txBody>
      </p:sp>
      <p:sp>
        <p:nvSpPr>
          <p:cNvPr id="58" name="Rounded Rectangle 57">
            <a:hlinkClick action="ppaction://hlinksldjump" r:id="rId24"/>
          </p:cNvPr>
          <p:cNvSpPr/>
          <p:nvPr/>
        </p:nvSpPr>
        <p:spPr>
          <a:xfrm>
            <a:off x="640080" y="5468112"/>
            <a:ext cx="3584448" cy="329184"/>
          </a:xfrm>
          <a:prstGeom prst="roundRect">
            <a:avLst>
              <a:gd name="adj" fmla="val 8000"/>
            </a:avLst>
          </a:prstGeom>
          <a:solidFill>
            <a:srgbClr val="FFF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a:hlinkClick action="ppaction://hlinksldjump" r:id="rId24"/>
          </p:cNvPr>
          <p:cNvSpPr txBox="1"/>
          <p:nvPr/>
        </p:nvSpPr>
        <p:spPr>
          <a:xfrm>
            <a:off x="749808" y="5550408"/>
            <a:ext cx="3364991" cy="237744"/>
          </a:xfrm>
          <a:prstGeom prst="rect">
            <a:avLst/>
          </a:prstGeom>
          <a:noFill/>
        </p:spPr>
        <p:txBody>
          <a:bodyPr wrap="square" lIns="0" rIns="0" tIns="0" bIns="0">
            <a:spAutoFit/>
          </a:bodyPr>
          <a:lstStyle/>
          <a:p>
            <a:pPr algn="l">
              <a:lnSpc>
                <a:spcPct val="101000"/>
              </a:lnSpc>
              <a:spcAft>
                <a:spcPts val="300"/>
              </a:spcAft>
              <a:defRPr sz="791" b="1">
                <a:solidFill>
                  <a:srgbClr val="203350"/>
                </a:solidFill>
                <a:latin typeface="DejaVu Sans"/>
              </a:defRPr>
            </a:pPr>
            <a:r>
              <a:t>22 Calcular es un paso. Comprobar da sentido al resultado.</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9FBFF"/>
        </a:solidFill>
        <a:effectLst/>
      </p:bgPr>
    </p:bg>
    <p:spTree>
      <p:nvGrpSpPr>
        <p:cNvPr id="1" name=""/>
        <p:cNvGrpSpPr/>
        <p:nvPr/>
      </p:nvGrpSpPr>
      <p:grpSpPr/>
      <p:sp>
        <p:nvSpPr>
          <p:cNvPr id="2" name="TextBox 1"/>
          <p:cNvSpPr txBox="1"/>
          <p:nvPr/>
        </p:nvSpPr>
        <p:spPr>
          <a:xfrm>
            <a:off x="548640" y="365760"/>
            <a:ext cx="7223760" cy="228600"/>
          </a:xfrm>
          <a:prstGeom prst="rect">
            <a:avLst/>
          </a:prstGeom>
          <a:noFill/>
        </p:spPr>
        <p:txBody>
          <a:bodyPr wrap="square" lIns="0" rIns="0" tIns="0" bIns="0">
            <a:spAutoFit/>
          </a:bodyPr>
          <a:lstStyle/>
          <a:p>
            <a:pPr algn="l">
              <a:lnSpc>
                <a:spcPct val="101000"/>
              </a:lnSpc>
              <a:spcAft>
                <a:spcPts val="300"/>
              </a:spcAft>
              <a:defRPr sz="930" b="1">
                <a:solidFill>
                  <a:srgbClr val="137F7D"/>
                </a:solidFill>
                <a:latin typeface="DejaVu Sans"/>
              </a:defRPr>
            </a:pPr>
            <a:r>
              <a:t>ANEXO · CONSULTA</a:t>
            </a:r>
          </a:p>
        </p:txBody>
      </p:sp>
      <p:sp>
        <p:nvSpPr>
          <p:cNvPr id="3" name="Rounded Rectangle 2">
            <a:hlinkClick action="ppaction://hlinksldjump" r:id="rId2"/>
          </p:cNvPr>
          <p:cNvSpPr/>
          <p:nvPr/>
        </p:nvSpPr>
        <p:spPr>
          <a:xfrm>
            <a:off x="8165592" y="301752"/>
            <a:ext cx="813816" cy="310896"/>
          </a:xfrm>
          <a:prstGeom prst="roundRect">
            <a:avLst>
              <a:gd name="adj" fmla="val 8000"/>
            </a:avLst>
          </a:prstGeom>
          <a:solidFill>
            <a:srgbClr val="E0F7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2"/>
          </p:cNvPr>
          <p:cNvSpPr txBox="1"/>
          <p:nvPr/>
        </p:nvSpPr>
        <p:spPr>
          <a:xfrm>
            <a:off x="8275319" y="384048"/>
            <a:ext cx="594360" cy="219456"/>
          </a:xfrm>
          <a:prstGeom prst="rect">
            <a:avLst/>
          </a:prstGeom>
          <a:noFill/>
        </p:spPr>
        <p:txBody>
          <a:bodyPr wrap="square" lIns="0" rIns="0" tIns="0" bIns="0">
            <a:spAutoFit/>
          </a:bodyPr>
          <a:lstStyle/>
          <a:p>
            <a:pPr algn="l">
              <a:lnSpc>
                <a:spcPct val="101000"/>
              </a:lnSpc>
              <a:spcAft>
                <a:spcPts val="300"/>
              </a:spcAft>
              <a:defRPr sz="800" b="1">
                <a:solidFill>
                  <a:srgbClr val="203350"/>
                </a:solidFill>
                <a:latin typeface="DejaVu Sans"/>
              </a:defRPr>
            </a:pPr>
            <a:r>
              <a:t>Preparar</a:t>
            </a:r>
          </a:p>
        </p:txBody>
      </p:sp>
      <p:sp>
        <p:nvSpPr>
          <p:cNvPr id="5" name="Rounded Rectangle 4">
            <a:hlinkClick action="ppaction://hlinksldjump" r:id="rId3"/>
          </p:cNvPr>
          <p:cNvSpPr/>
          <p:nvPr/>
        </p:nvSpPr>
        <p:spPr>
          <a:xfrm>
            <a:off x="9043416" y="301752"/>
            <a:ext cx="813816" cy="310896"/>
          </a:xfrm>
          <a:prstGeom prst="roundRect">
            <a:avLst>
              <a:gd name="adj" fmla="val 8000"/>
            </a:avLst>
          </a:prstGeom>
          <a:solidFill>
            <a:srgbClr val="E2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3"/>
          </p:cNvPr>
          <p:cNvSpPr txBox="1"/>
          <p:nvPr/>
        </p:nvSpPr>
        <p:spPr>
          <a:xfrm>
            <a:off x="9153144" y="384048"/>
            <a:ext cx="594360" cy="219456"/>
          </a:xfrm>
          <a:prstGeom prst="rect">
            <a:avLst/>
          </a:prstGeom>
          <a:noFill/>
        </p:spPr>
        <p:txBody>
          <a:bodyPr wrap="square" lIns="0" rIns="0" tIns="0" bIns="0">
            <a:spAutoFit/>
          </a:bodyPr>
          <a:lstStyle/>
          <a:p>
            <a:pPr algn="l">
              <a:lnSpc>
                <a:spcPct val="101000"/>
              </a:lnSpc>
              <a:spcAft>
                <a:spcPts val="300"/>
              </a:spcAft>
              <a:defRPr sz="800" b="1">
                <a:solidFill>
                  <a:srgbClr val="203350"/>
                </a:solidFill>
                <a:latin typeface="DejaVu Sans"/>
              </a:defRPr>
            </a:pPr>
            <a:r>
              <a:t>Importar</a:t>
            </a:r>
          </a:p>
        </p:txBody>
      </p:sp>
      <p:sp>
        <p:nvSpPr>
          <p:cNvPr id="7" name="Rounded Rectangle 6">
            <a:hlinkClick action="ppaction://hlinksldjump" r:id="rId4"/>
          </p:cNvPr>
          <p:cNvSpPr/>
          <p:nvPr/>
        </p:nvSpPr>
        <p:spPr>
          <a:xfrm>
            <a:off x="9921240" y="301752"/>
            <a:ext cx="813816" cy="310896"/>
          </a:xfrm>
          <a:prstGeom prst="roundRect">
            <a:avLst>
              <a:gd name="adj" fmla="val 8000"/>
            </a:avLst>
          </a:prstGeom>
          <a:solidFill>
            <a:srgbClr val="EEE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4"/>
          </p:cNvPr>
          <p:cNvSpPr txBox="1"/>
          <p:nvPr/>
        </p:nvSpPr>
        <p:spPr>
          <a:xfrm>
            <a:off x="10030967" y="384048"/>
            <a:ext cx="594360" cy="219456"/>
          </a:xfrm>
          <a:prstGeom prst="rect">
            <a:avLst/>
          </a:prstGeom>
          <a:noFill/>
        </p:spPr>
        <p:txBody>
          <a:bodyPr wrap="square" lIns="0" rIns="0" tIns="0" bIns="0">
            <a:spAutoFit/>
          </a:bodyPr>
          <a:lstStyle/>
          <a:p>
            <a:pPr algn="l">
              <a:lnSpc>
                <a:spcPct val="101000"/>
              </a:lnSpc>
              <a:spcAft>
                <a:spcPts val="300"/>
              </a:spcAft>
              <a:defRPr sz="800" b="1">
                <a:solidFill>
                  <a:srgbClr val="203350"/>
                </a:solidFill>
                <a:latin typeface="DejaVu Sans"/>
              </a:defRPr>
            </a:pPr>
            <a:r>
              <a:t>Calcular</a:t>
            </a:r>
          </a:p>
        </p:txBody>
      </p:sp>
      <p:sp>
        <p:nvSpPr>
          <p:cNvPr id="9" name="Rounded Rectangle 8">
            <a:hlinkClick action="ppaction://hlinksldjump" r:id="rId5"/>
          </p:cNvPr>
          <p:cNvSpPr/>
          <p:nvPr/>
        </p:nvSpPr>
        <p:spPr>
          <a:xfrm>
            <a:off x="10799063" y="301752"/>
            <a:ext cx="813816" cy="310896"/>
          </a:xfrm>
          <a:prstGeom prst="roundRect">
            <a:avLst>
              <a:gd name="adj" fmla="val 8000"/>
            </a:avLst>
          </a:prstGeom>
          <a:solidFill>
            <a:srgbClr val="FFF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5"/>
          </p:cNvPr>
          <p:cNvSpPr txBox="1"/>
          <p:nvPr/>
        </p:nvSpPr>
        <p:spPr>
          <a:xfrm>
            <a:off x="10908791" y="384048"/>
            <a:ext cx="594360" cy="219456"/>
          </a:xfrm>
          <a:prstGeom prst="rect">
            <a:avLst/>
          </a:prstGeom>
          <a:noFill/>
        </p:spPr>
        <p:txBody>
          <a:bodyPr wrap="square" lIns="0" rIns="0" tIns="0" bIns="0">
            <a:spAutoFit/>
          </a:bodyPr>
          <a:lstStyle/>
          <a:p>
            <a:pPr algn="l">
              <a:lnSpc>
                <a:spcPct val="101000"/>
              </a:lnSpc>
              <a:spcAft>
                <a:spcPts val="300"/>
              </a:spcAft>
              <a:defRPr sz="749" b="1">
                <a:solidFill>
                  <a:srgbClr val="203350"/>
                </a:solidFill>
                <a:latin typeface="DejaVu Sans"/>
              </a:defRPr>
            </a:pPr>
            <a:r>
              <a:t>Comprobar</a:t>
            </a:r>
          </a:p>
        </p:txBody>
      </p:sp>
      <p:sp>
        <p:nvSpPr>
          <p:cNvPr id="11" name="TextBox 10"/>
          <p:cNvSpPr txBox="1"/>
          <p:nvPr/>
        </p:nvSpPr>
        <p:spPr>
          <a:xfrm>
            <a:off x="548640" y="886968"/>
            <a:ext cx="11064240" cy="1234440"/>
          </a:xfrm>
          <a:prstGeom prst="rect">
            <a:avLst/>
          </a:prstGeom>
          <a:noFill/>
        </p:spPr>
        <p:txBody>
          <a:bodyPr wrap="square" lIns="0" rIns="0" tIns="0" bIns="0">
            <a:spAutoFit/>
          </a:bodyPr>
          <a:lstStyle/>
          <a:p>
            <a:pPr algn="l">
              <a:lnSpc>
                <a:spcPct val="101000"/>
              </a:lnSpc>
              <a:spcAft>
                <a:spcPts val="300"/>
              </a:spcAft>
              <a:defRPr sz="2888" b="1">
                <a:solidFill>
                  <a:srgbClr val="203350"/>
                </a:solidFill>
                <a:latin typeface="DejaVu Sans"/>
              </a:defRPr>
            </a:pPr>
            <a:r>
              <a:t>Usaremos 1 L de bebida lista para el cálculo docente.</a:t>
            </a:r>
          </a:p>
        </p:txBody>
      </p:sp>
      <p:sp>
        <p:nvSpPr>
          <p:cNvPr id="12" name="TextBox 11"/>
          <p:cNvSpPr txBox="1"/>
          <p:nvPr/>
        </p:nvSpPr>
        <p:spPr>
          <a:xfrm>
            <a:off x="548640" y="6446520"/>
            <a:ext cx="9784080" cy="219456"/>
          </a:xfrm>
          <a:prstGeom prst="rect">
            <a:avLst/>
          </a:prstGeom>
          <a:noFill/>
        </p:spPr>
        <p:txBody>
          <a:bodyPr wrap="square" lIns="0" rIns="0" tIns="0" bIns="0">
            <a:spAutoFit/>
          </a:bodyPr>
          <a:lstStyle/>
          <a:p>
            <a:pPr algn="l">
              <a:lnSpc>
                <a:spcPct val="101000"/>
              </a:lnSpc>
              <a:spcAft>
                <a:spcPts val="300"/>
              </a:spcAft>
              <a:defRPr sz="810" b="0">
                <a:solidFill>
                  <a:srgbClr val="5C6E83"/>
                </a:solidFill>
                <a:latin typeface="DejaVu Sans"/>
              </a:defRPr>
            </a:pPr>
            <a:r>
              <a:t>Unidad funcional adoptada para esta práctica</a:t>
            </a:r>
          </a:p>
        </p:txBody>
      </p:sp>
      <p:sp>
        <p:nvSpPr>
          <p:cNvPr id="13" name="Rounded Rectangle 12">
            <a:hlinkClick action="ppaction://hlinksldjump" r:id="rId6"/>
          </p:cNvPr>
          <p:cNvSpPr/>
          <p:nvPr/>
        </p:nvSpPr>
        <p:spPr>
          <a:xfrm>
            <a:off x="10442448" y="6400800"/>
            <a:ext cx="640080" cy="265176"/>
          </a:xfrm>
          <a:prstGeom prst="roundRect">
            <a:avLst>
              <a:gd name="adj" fmla="val 8000"/>
            </a:avLst>
          </a:prstGeom>
          <a:solidFill>
            <a:srgbClr val="EEE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a:hlinkClick action="ppaction://hlinksldjump" r:id="rId6"/>
          </p:cNvPr>
          <p:cNvSpPr txBox="1"/>
          <p:nvPr/>
        </p:nvSpPr>
        <p:spPr>
          <a:xfrm>
            <a:off x="10552176" y="6483096"/>
            <a:ext cx="420623" cy="173735"/>
          </a:xfrm>
          <a:prstGeom prst="rect">
            <a:avLst/>
          </a:prstGeom>
          <a:noFill/>
        </p:spPr>
        <p:txBody>
          <a:bodyPr wrap="square" lIns="0" rIns="0" tIns="0" bIns="0">
            <a:spAutoFit/>
          </a:bodyPr>
          <a:lstStyle/>
          <a:p>
            <a:pPr algn="l">
              <a:lnSpc>
                <a:spcPct val="101000"/>
              </a:lnSpc>
              <a:spcAft>
                <a:spcPts val="300"/>
              </a:spcAft>
              <a:defRPr sz="800" b="1">
                <a:solidFill>
                  <a:srgbClr val="8060BA"/>
                </a:solidFill>
                <a:latin typeface="DejaVu Sans"/>
              </a:defRPr>
            </a:pPr>
            <a:r>
              <a:t>Ruta</a:t>
            </a:r>
          </a:p>
        </p:txBody>
      </p:sp>
      <p:sp>
        <p:nvSpPr>
          <p:cNvPr id="15" name="TextBox 14"/>
          <p:cNvSpPr txBox="1"/>
          <p:nvPr/>
        </p:nvSpPr>
        <p:spPr>
          <a:xfrm>
            <a:off x="11228832" y="6400800"/>
            <a:ext cx="457200" cy="274320"/>
          </a:xfrm>
          <a:prstGeom prst="rect">
            <a:avLst/>
          </a:prstGeom>
          <a:noFill/>
        </p:spPr>
        <p:txBody>
          <a:bodyPr wrap="square" lIns="0" rIns="0" tIns="0" bIns="0">
            <a:spAutoFit/>
          </a:bodyPr>
          <a:lstStyle/>
          <a:p>
            <a:pPr algn="r">
              <a:lnSpc>
                <a:spcPct val="101000"/>
              </a:lnSpc>
              <a:spcAft>
                <a:spcPts val="300"/>
              </a:spcAft>
              <a:defRPr sz="1300" b="1">
                <a:solidFill>
                  <a:srgbClr val="203350"/>
                </a:solidFill>
                <a:latin typeface="DejaVu Sans"/>
              </a:defRPr>
            </a:pPr>
            <a:r>
              <a:t>ANX</a:t>
            </a:r>
          </a:p>
        </p:txBody>
      </p:sp>
      <p:sp>
        <p:nvSpPr>
          <p:cNvPr id="16" name="Rounded Rectangle 15"/>
          <p:cNvSpPr/>
          <p:nvPr/>
        </p:nvSpPr>
        <p:spPr>
          <a:xfrm>
            <a:off x="685800" y="2862072"/>
            <a:ext cx="10789920" cy="1929384"/>
          </a:xfrm>
          <a:prstGeom prst="roundRect">
            <a:avLst>
              <a:gd name="adj" fmla="val 8000"/>
            </a:avLst>
          </a:prstGeom>
          <a:solidFill>
            <a:srgbClr val="EEE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3328416"/>
            <a:ext cx="10149840" cy="1124712"/>
          </a:xfrm>
          <a:prstGeom prst="rect">
            <a:avLst/>
          </a:prstGeom>
          <a:noFill/>
        </p:spPr>
        <p:txBody>
          <a:bodyPr wrap="square" lIns="0" rIns="0" tIns="0" bIns="0">
            <a:spAutoFit/>
          </a:bodyPr>
          <a:lstStyle/>
          <a:p>
            <a:pPr algn="l">
              <a:lnSpc>
                <a:spcPct val="101000"/>
              </a:lnSpc>
              <a:spcAft>
                <a:spcPts val="300"/>
              </a:spcAft>
              <a:defRPr sz="2500" b="0">
                <a:solidFill>
                  <a:srgbClr val="203350"/>
                </a:solidFill>
                <a:latin typeface="DejaVu Sans"/>
              </a:defRPr>
            </a:pPr>
            <a:r>
              <a:t>Es una comparación por volumen. No demuestra equivalencia nutricional ni una superioridad ambiental global.</a:t>
            </a:r>
          </a:p>
        </p:txBody>
      </p:sp>
      <p:sp>
        <p:nvSpPr>
          <p:cNvPr id="18" name="Rounded Rectangle 17">
            <a:hlinkClick action="ppaction://hlinksldjump" r:id="rId7"/>
          </p:cNvPr>
          <p:cNvSpPr/>
          <p:nvPr/>
        </p:nvSpPr>
        <p:spPr>
          <a:xfrm>
            <a:off x="731520" y="5440680"/>
            <a:ext cx="2926080" cy="502920"/>
          </a:xfrm>
          <a:prstGeom prst="roundRect">
            <a:avLst>
              <a:gd name="adj" fmla="val 8000"/>
            </a:avLst>
          </a:prstGeom>
          <a:solidFill>
            <a:srgbClr val="EEE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a:hlinkClick action="ppaction://hlinksldjump" r:id="rId7"/>
          </p:cNvPr>
          <p:cNvSpPr txBox="1"/>
          <p:nvPr/>
        </p:nvSpPr>
        <p:spPr>
          <a:xfrm>
            <a:off x="841248" y="5522976"/>
            <a:ext cx="2706624" cy="411480"/>
          </a:xfrm>
          <a:prstGeom prst="rect">
            <a:avLst/>
          </a:prstGeom>
          <a:noFill/>
        </p:spPr>
        <p:txBody>
          <a:bodyPr wrap="square" lIns="0" rIns="0" tIns="0" bIns="0">
            <a:spAutoFit/>
          </a:bodyPr>
          <a:lstStyle/>
          <a:p>
            <a:pPr algn="l">
              <a:lnSpc>
                <a:spcPct val="101000"/>
              </a:lnSpc>
              <a:spcAft>
                <a:spcPts val="300"/>
              </a:spcAft>
              <a:defRPr sz="1300" b="1">
                <a:solidFill>
                  <a:srgbClr val="203350"/>
                </a:solidFill>
                <a:latin typeface="DejaVu Sans"/>
              </a:defRPr>
            </a:pPr>
            <a:r>
              <a:t>Volver a la pregunta</a:t>
            </a:r>
          </a:p>
        </p:txBody>
      </p:sp>
      <p:sp>
        <p:nvSpPr>
          <p:cNvPr id="20" name="Rounded Rectangle 19">
            <a:hlinkClick action="ppaction://hlinksldjump" r:id="rId8"/>
          </p:cNvPr>
          <p:cNvSpPr/>
          <p:nvPr/>
        </p:nvSpPr>
        <p:spPr>
          <a:xfrm>
            <a:off x="4023360" y="5440680"/>
            <a:ext cx="3291840" cy="502920"/>
          </a:xfrm>
          <a:prstGeom prst="roundRect">
            <a:avLst>
              <a:gd name="adj" fmla="val 8000"/>
            </a:avLst>
          </a:prstGeom>
          <a:solidFill>
            <a:srgbClr val="806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a:hlinkClick action="ppaction://hlinksldjump" r:id="rId8"/>
          </p:cNvPr>
          <p:cNvSpPr txBox="1"/>
          <p:nvPr/>
        </p:nvSpPr>
        <p:spPr>
          <a:xfrm>
            <a:off x="4133088" y="5522976"/>
            <a:ext cx="3072384" cy="411480"/>
          </a:xfrm>
          <a:prstGeom prst="rect">
            <a:avLst/>
          </a:prstGeom>
          <a:noFill/>
        </p:spPr>
        <p:txBody>
          <a:bodyPr wrap="square" lIns="0" rIns="0" tIns="0" bIns="0">
            <a:spAutoFit/>
          </a:bodyPr>
          <a:lstStyle/>
          <a:p>
            <a:pPr algn="l">
              <a:lnSpc>
                <a:spcPct val="101000"/>
              </a:lnSpc>
              <a:spcAft>
                <a:spcPts val="300"/>
              </a:spcAft>
              <a:defRPr sz="1300" b="1">
                <a:solidFill>
                  <a:srgbClr val="FFFFFF"/>
                </a:solidFill>
                <a:latin typeface="DejaVu Sans"/>
              </a:defRPr>
            </a:pPr>
            <a:r>
              <a:t>Continuar la práctica →</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9FBFF"/>
        </a:solidFill>
        <a:effectLst/>
      </p:bgPr>
    </p:bg>
    <p:spTree>
      <p:nvGrpSpPr>
        <p:cNvPr id="1" name=""/>
        <p:cNvGrpSpPr/>
        <p:nvPr/>
      </p:nvGrpSpPr>
      <p:grpSpPr/>
      <p:sp>
        <p:nvSpPr>
          <p:cNvPr id="2" name="TextBox 1"/>
          <p:cNvSpPr txBox="1"/>
          <p:nvPr/>
        </p:nvSpPr>
        <p:spPr>
          <a:xfrm>
            <a:off x="548640" y="365760"/>
            <a:ext cx="7223760" cy="228600"/>
          </a:xfrm>
          <a:prstGeom prst="rect">
            <a:avLst/>
          </a:prstGeom>
          <a:noFill/>
        </p:spPr>
        <p:txBody>
          <a:bodyPr wrap="square" lIns="0" rIns="0" tIns="0" bIns="0">
            <a:spAutoFit/>
          </a:bodyPr>
          <a:lstStyle/>
          <a:p>
            <a:pPr algn="l">
              <a:lnSpc>
                <a:spcPct val="101000"/>
              </a:lnSpc>
              <a:spcAft>
                <a:spcPts val="300"/>
              </a:spcAft>
              <a:defRPr sz="930" b="1">
                <a:solidFill>
                  <a:srgbClr val="137F7D"/>
                </a:solidFill>
                <a:latin typeface="DejaVu Sans"/>
              </a:defRPr>
            </a:pPr>
            <a:r>
              <a:t>ANEXO · CONSULTA</a:t>
            </a:r>
          </a:p>
        </p:txBody>
      </p:sp>
      <p:sp>
        <p:nvSpPr>
          <p:cNvPr id="3" name="Rounded Rectangle 2">
            <a:hlinkClick action="ppaction://hlinksldjump" r:id="rId2"/>
          </p:cNvPr>
          <p:cNvSpPr/>
          <p:nvPr/>
        </p:nvSpPr>
        <p:spPr>
          <a:xfrm>
            <a:off x="8165592" y="301752"/>
            <a:ext cx="813816" cy="310896"/>
          </a:xfrm>
          <a:prstGeom prst="roundRect">
            <a:avLst>
              <a:gd name="adj" fmla="val 8000"/>
            </a:avLst>
          </a:prstGeom>
          <a:solidFill>
            <a:srgbClr val="E0F7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2"/>
          </p:cNvPr>
          <p:cNvSpPr txBox="1"/>
          <p:nvPr/>
        </p:nvSpPr>
        <p:spPr>
          <a:xfrm>
            <a:off x="8275319" y="384048"/>
            <a:ext cx="594360" cy="219456"/>
          </a:xfrm>
          <a:prstGeom prst="rect">
            <a:avLst/>
          </a:prstGeom>
          <a:noFill/>
        </p:spPr>
        <p:txBody>
          <a:bodyPr wrap="square" lIns="0" rIns="0" tIns="0" bIns="0">
            <a:spAutoFit/>
          </a:bodyPr>
          <a:lstStyle/>
          <a:p>
            <a:pPr algn="l">
              <a:lnSpc>
                <a:spcPct val="101000"/>
              </a:lnSpc>
              <a:spcAft>
                <a:spcPts val="300"/>
              </a:spcAft>
              <a:defRPr sz="800" b="1">
                <a:solidFill>
                  <a:srgbClr val="203350"/>
                </a:solidFill>
                <a:latin typeface="DejaVu Sans"/>
              </a:defRPr>
            </a:pPr>
            <a:r>
              <a:t>Preparar</a:t>
            </a:r>
          </a:p>
        </p:txBody>
      </p:sp>
      <p:sp>
        <p:nvSpPr>
          <p:cNvPr id="5" name="Rounded Rectangle 4">
            <a:hlinkClick action="ppaction://hlinksldjump" r:id="rId3"/>
          </p:cNvPr>
          <p:cNvSpPr/>
          <p:nvPr/>
        </p:nvSpPr>
        <p:spPr>
          <a:xfrm>
            <a:off x="9043416" y="301752"/>
            <a:ext cx="813816" cy="310896"/>
          </a:xfrm>
          <a:prstGeom prst="roundRect">
            <a:avLst>
              <a:gd name="adj" fmla="val 8000"/>
            </a:avLst>
          </a:prstGeom>
          <a:solidFill>
            <a:srgbClr val="E2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3"/>
          </p:cNvPr>
          <p:cNvSpPr txBox="1"/>
          <p:nvPr/>
        </p:nvSpPr>
        <p:spPr>
          <a:xfrm>
            <a:off x="9153144" y="384048"/>
            <a:ext cx="594360" cy="219456"/>
          </a:xfrm>
          <a:prstGeom prst="rect">
            <a:avLst/>
          </a:prstGeom>
          <a:noFill/>
        </p:spPr>
        <p:txBody>
          <a:bodyPr wrap="square" lIns="0" rIns="0" tIns="0" bIns="0">
            <a:spAutoFit/>
          </a:bodyPr>
          <a:lstStyle/>
          <a:p>
            <a:pPr algn="l">
              <a:lnSpc>
                <a:spcPct val="101000"/>
              </a:lnSpc>
              <a:spcAft>
                <a:spcPts val="300"/>
              </a:spcAft>
              <a:defRPr sz="800" b="1">
                <a:solidFill>
                  <a:srgbClr val="203350"/>
                </a:solidFill>
                <a:latin typeface="DejaVu Sans"/>
              </a:defRPr>
            </a:pPr>
            <a:r>
              <a:t>Importar</a:t>
            </a:r>
          </a:p>
        </p:txBody>
      </p:sp>
      <p:sp>
        <p:nvSpPr>
          <p:cNvPr id="7" name="Rounded Rectangle 6">
            <a:hlinkClick action="ppaction://hlinksldjump" r:id="rId4"/>
          </p:cNvPr>
          <p:cNvSpPr/>
          <p:nvPr/>
        </p:nvSpPr>
        <p:spPr>
          <a:xfrm>
            <a:off x="9921240" y="301752"/>
            <a:ext cx="813816" cy="310896"/>
          </a:xfrm>
          <a:prstGeom prst="roundRect">
            <a:avLst>
              <a:gd name="adj" fmla="val 8000"/>
            </a:avLst>
          </a:prstGeom>
          <a:solidFill>
            <a:srgbClr val="EEE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4"/>
          </p:cNvPr>
          <p:cNvSpPr txBox="1"/>
          <p:nvPr/>
        </p:nvSpPr>
        <p:spPr>
          <a:xfrm>
            <a:off x="10030967" y="384048"/>
            <a:ext cx="594360" cy="219456"/>
          </a:xfrm>
          <a:prstGeom prst="rect">
            <a:avLst/>
          </a:prstGeom>
          <a:noFill/>
        </p:spPr>
        <p:txBody>
          <a:bodyPr wrap="square" lIns="0" rIns="0" tIns="0" bIns="0">
            <a:spAutoFit/>
          </a:bodyPr>
          <a:lstStyle/>
          <a:p>
            <a:pPr algn="l">
              <a:lnSpc>
                <a:spcPct val="101000"/>
              </a:lnSpc>
              <a:spcAft>
                <a:spcPts val="300"/>
              </a:spcAft>
              <a:defRPr sz="800" b="1">
                <a:solidFill>
                  <a:srgbClr val="203350"/>
                </a:solidFill>
                <a:latin typeface="DejaVu Sans"/>
              </a:defRPr>
            </a:pPr>
            <a:r>
              <a:t>Calcular</a:t>
            </a:r>
          </a:p>
        </p:txBody>
      </p:sp>
      <p:sp>
        <p:nvSpPr>
          <p:cNvPr id="9" name="Rounded Rectangle 8">
            <a:hlinkClick action="ppaction://hlinksldjump" r:id="rId5"/>
          </p:cNvPr>
          <p:cNvSpPr/>
          <p:nvPr/>
        </p:nvSpPr>
        <p:spPr>
          <a:xfrm>
            <a:off x="10799063" y="301752"/>
            <a:ext cx="813816" cy="310896"/>
          </a:xfrm>
          <a:prstGeom prst="roundRect">
            <a:avLst>
              <a:gd name="adj" fmla="val 8000"/>
            </a:avLst>
          </a:prstGeom>
          <a:solidFill>
            <a:srgbClr val="FFF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5"/>
          </p:cNvPr>
          <p:cNvSpPr txBox="1"/>
          <p:nvPr/>
        </p:nvSpPr>
        <p:spPr>
          <a:xfrm>
            <a:off x="10908791" y="384048"/>
            <a:ext cx="594360" cy="219456"/>
          </a:xfrm>
          <a:prstGeom prst="rect">
            <a:avLst/>
          </a:prstGeom>
          <a:noFill/>
        </p:spPr>
        <p:txBody>
          <a:bodyPr wrap="square" lIns="0" rIns="0" tIns="0" bIns="0">
            <a:spAutoFit/>
          </a:bodyPr>
          <a:lstStyle/>
          <a:p>
            <a:pPr algn="l">
              <a:lnSpc>
                <a:spcPct val="101000"/>
              </a:lnSpc>
              <a:spcAft>
                <a:spcPts val="300"/>
              </a:spcAft>
              <a:defRPr sz="749" b="1">
                <a:solidFill>
                  <a:srgbClr val="203350"/>
                </a:solidFill>
                <a:latin typeface="DejaVu Sans"/>
              </a:defRPr>
            </a:pPr>
            <a:r>
              <a:t>Comprobar</a:t>
            </a:r>
          </a:p>
        </p:txBody>
      </p:sp>
      <p:sp>
        <p:nvSpPr>
          <p:cNvPr id="11" name="TextBox 10"/>
          <p:cNvSpPr txBox="1"/>
          <p:nvPr/>
        </p:nvSpPr>
        <p:spPr>
          <a:xfrm>
            <a:off x="548640" y="886968"/>
            <a:ext cx="11064240" cy="1234440"/>
          </a:xfrm>
          <a:prstGeom prst="rect">
            <a:avLst/>
          </a:prstGeom>
          <a:noFill/>
        </p:spPr>
        <p:txBody>
          <a:bodyPr wrap="square" lIns="0" rIns="0" tIns="0" bIns="0">
            <a:spAutoFit/>
          </a:bodyPr>
          <a:lstStyle/>
          <a:p>
            <a:pPr algn="l">
              <a:lnSpc>
                <a:spcPct val="101000"/>
              </a:lnSpc>
              <a:spcAft>
                <a:spcPts val="300"/>
              </a:spcAft>
              <a:defRPr sz="2535" b="1">
                <a:solidFill>
                  <a:srgbClr val="203350"/>
                </a:solidFill>
                <a:latin typeface="DejaVu Sans"/>
              </a:defRPr>
            </a:pPr>
            <a:r>
              <a:t>La categoría elegida no evalúa por sí sola el efecto del agua.</a:t>
            </a:r>
          </a:p>
        </p:txBody>
      </p:sp>
      <p:sp>
        <p:nvSpPr>
          <p:cNvPr id="12" name="TextBox 11"/>
          <p:cNvSpPr txBox="1"/>
          <p:nvPr/>
        </p:nvSpPr>
        <p:spPr>
          <a:xfrm>
            <a:off x="548640" y="6446520"/>
            <a:ext cx="9784080" cy="219456"/>
          </a:xfrm>
          <a:prstGeom prst="rect">
            <a:avLst/>
          </a:prstGeom>
          <a:noFill/>
        </p:spPr>
        <p:txBody>
          <a:bodyPr wrap="square" lIns="0" rIns="0" tIns="0" bIns="0">
            <a:spAutoFit/>
          </a:bodyPr>
          <a:lstStyle/>
          <a:p>
            <a:pPr algn="l">
              <a:lnSpc>
                <a:spcPct val="101000"/>
              </a:lnSpc>
              <a:spcAft>
                <a:spcPts val="300"/>
              </a:spcAft>
              <a:defRPr sz="810" b="0">
                <a:solidFill>
                  <a:srgbClr val="5C6E83"/>
                </a:solidFill>
                <a:latin typeface="DejaVu Sans"/>
              </a:defRPr>
            </a:pPr>
            <a:r>
              <a:t>Evaluación de salida · LCIA checks e interpretación de resultados</a:t>
            </a:r>
          </a:p>
        </p:txBody>
      </p:sp>
      <p:sp>
        <p:nvSpPr>
          <p:cNvPr id="13" name="Rounded Rectangle 12">
            <a:hlinkClick action="ppaction://hlinksldjump" r:id="rId6"/>
          </p:cNvPr>
          <p:cNvSpPr/>
          <p:nvPr/>
        </p:nvSpPr>
        <p:spPr>
          <a:xfrm>
            <a:off x="10442448" y="6400800"/>
            <a:ext cx="640080" cy="265176"/>
          </a:xfrm>
          <a:prstGeom prst="roundRect">
            <a:avLst>
              <a:gd name="adj" fmla="val 8000"/>
            </a:avLst>
          </a:prstGeom>
          <a:solidFill>
            <a:srgbClr val="EEE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a:hlinkClick action="ppaction://hlinksldjump" r:id="rId6"/>
          </p:cNvPr>
          <p:cNvSpPr txBox="1"/>
          <p:nvPr/>
        </p:nvSpPr>
        <p:spPr>
          <a:xfrm>
            <a:off x="10552176" y="6483096"/>
            <a:ext cx="420623" cy="173735"/>
          </a:xfrm>
          <a:prstGeom prst="rect">
            <a:avLst/>
          </a:prstGeom>
          <a:noFill/>
        </p:spPr>
        <p:txBody>
          <a:bodyPr wrap="square" lIns="0" rIns="0" tIns="0" bIns="0">
            <a:spAutoFit/>
          </a:bodyPr>
          <a:lstStyle/>
          <a:p>
            <a:pPr algn="l">
              <a:lnSpc>
                <a:spcPct val="101000"/>
              </a:lnSpc>
              <a:spcAft>
                <a:spcPts val="300"/>
              </a:spcAft>
              <a:defRPr sz="800" b="1">
                <a:solidFill>
                  <a:srgbClr val="8060BA"/>
                </a:solidFill>
                <a:latin typeface="DejaVu Sans"/>
              </a:defRPr>
            </a:pPr>
            <a:r>
              <a:t>Ruta</a:t>
            </a:r>
          </a:p>
        </p:txBody>
      </p:sp>
      <p:sp>
        <p:nvSpPr>
          <p:cNvPr id="15" name="TextBox 14"/>
          <p:cNvSpPr txBox="1"/>
          <p:nvPr/>
        </p:nvSpPr>
        <p:spPr>
          <a:xfrm>
            <a:off x="11228832" y="6400800"/>
            <a:ext cx="457200" cy="274320"/>
          </a:xfrm>
          <a:prstGeom prst="rect">
            <a:avLst/>
          </a:prstGeom>
          <a:noFill/>
        </p:spPr>
        <p:txBody>
          <a:bodyPr wrap="square" lIns="0" rIns="0" tIns="0" bIns="0">
            <a:spAutoFit/>
          </a:bodyPr>
          <a:lstStyle/>
          <a:p>
            <a:pPr algn="r">
              <a:lnSpc>
                <a:spcPct val="101000"/>
              </a:lnSpc>
              <a:spcAft>
                <a:spcPts val="300"/>
              </a:spcAft>
              <a:defRPr sz="1300" b="1">
                <a:solidFill>
                  <a:srgbClr val="203350"/>
                </a:solidFill>
                <a:latin typeface="DejaVu Sans"/>
              </a:defRPr>
            </a:pPr>
            <a:r>
              <a:t>ANX</a:t>
            </a:r>
          </a:p>
        </p:txBody>
      </p:sp>
      <p:sp>
        <p:nvSpPr>
          <p:cNvPr id="16" name="Rounded Rectangle 15"/>
          <p:cNvSpPr/>
          <p:nvPr/>
        </p:nvSpPr>
        <p:spPr>
          <a:xfrm>
            <a:off x="685800" y="2862072"/>
            <a:ext cx="10789920" cy="1929384"/>
          </a:xfrm>
          <a:prstGeom prst="roundRect">
            <a:avLst>
              <a:gd name="adj" fmla="val 8000"/>
            </a:avLst>
          </a:prstGeom>
          <a:solidFill>
            <a:srgbClr val="EEE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3328416"/>
            <a:ext cx="10149840" cy="1124712"/>
          </a:xfrm>
          <a:prstGeom prst="rect">
            <a:avLst/>
          </a:prstGeom>
          <a:noFill/>
        </p:spPr>
        <p:txBody>
          <a:bodyPr wrap="square" lIns="0" rIns="0" tIns="0" bIns="0">
            <a:spAutoFit/>
          </a:bodyPr>
          <a:lstStyle/>
          <a:p>
            <a:pPr algn="l">
              <a:lnSpc>
                <a:spcPct val="101000"/>
              </a:lnSpc>
              <a:spcAft>
                <a:spcPts val="300"/>
              </a:spcAft>
              <a:defRPr sz="2500" b="0">
                <a:solidFill>
                  <a:srgbClr val="203350"/>
                </a:solidFill>
                <a:latin typeface="DejaVu Sans"/>
              </a:defRPr>
            </a:pPr>
            <a:r>
              <a:t>Un flujo no caracterizado exige interpretación. Tampoco un modelo que calcula sin errores se vuelve automáticamente representativo de un sistema real.</a:t>
            </a:r>
          </a:p>
        </p:txBody>
      </p:sp>
      <p:sp>
        <p:nvSpPr>
          <p:cNvPr id="18" name="Rounded Rectangle 17">
            <a:hlinkClick action="ppaction://hlinksldjump" r:id="rId7"/>
          </p:cNvPr>
          <p:cNvSpPr/>
          <p:nvPr/>
        </p:nvSpPr>
        <p:spPr>
          <a:xfrm>
            <a:off x="731520" y="5440680"/>
            <a:ext cx="2926080" cy="502920"/>
          </a:xfrm>
          <a:prstGeom prst="roundRect">
            <a:avLst>
              <a:gd name="adj" fmla="val 8000"/>
            </a:avLst>
          </a:prstGeom>
          <a:solidFill>
            <a:srgbClr val="EEE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a:hlinkClick action="ppaction://hlinksldjump" r:id="rId7"/>
          </p:cNvPr>
          <p:cNvSpPr txBox="1"/>
          <p:nvPr/>
        </p:nvSpPr>
        <p:spPr>
          <a:xfrm>
            <a:off x="841248" y="5522976"/>
            <a:ext cx="2706624" cy="411480"/>
          </a:xfrm>
          <a:prstGeom prst="rect">
            <a:avLst/>
          </a:prstGeom>
          <a:noFill/>
        </p:spPr>
        <p:txBody>
          <a:bodyPr wrap="square" lIns="0" rIns="0" tIns="0" bIns="0">
            <a:spAutoFit/>
          </a:bodyPr>
          <a:lstStyle/>
          <a:p>
            <a:pPr algn="l">
              <a:lnSpc>
                <a:spcPct val="101000"/>
              </a:lnSpc>
              <a:spcAft>
                <a:spcPts val="300"/>
              </a:spcAft>
              <a:defRPr sz="1300" b="1">
                <a:solidFill>
                  <a:srgbClr val="203350"/>
                </a:solidFill>
                <a:latin typeface="DejaVu Sans"/>
              </a:defRPr>
            </a:pPr>
            <a:r>
              <a:t>Volver a la pregunta</a:t>
            </a:r>
          </a:p>
        </p:txBody>
      </p:sp>
      <p:sp>
        <p:nvSpPr>
          <p:cNvPr id="20" name="Rounded Rectangle 19">
            <a:hlinkClick action="ppaction://hlinksldjump" r:id="rId8"/>
          </p:cNvPr>
          <p:cNvSpPr/>
          <p:nvPr/>
        </p:nvSpPr>
        <p:spPr>
          <a:xfrm>
            <a:off x="4023360" y="5440680"/>
            <a:ext cx="3291840" cy="502920"/>
          </a:xfrm>
          <a:prstGeom prst="roundRect">
            <a:avLst>
              <a:gd name="adj" fmla="val 8000"/>
            </a:avLst>
          </a:prstGeom>
          <a:solidFill>
            <a:srgbClr val="806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a:hlinkClick action="ppaction://hlinksldjump" r:id="rId8"/>
          </p:cNvPr>
          <p:cNvSpPr txBox="1"/>
          <p:nvPr/>
        </p:nvSpPr>
        <p:spPr>
          <a:xfrm>
            <a:off x="4133088" y="5522976"/>
            <a:ext cx="3072384" cy="411480"/>
          </a:xfrm>
          <a:prstGeom prst="rect">
            <a:avLst/>
          </a:prstGeom>
          <a:noFill/>
        </p:spPr>
        <p:txBody>
          <a:bodyPr wrap="square" lIns="0" rIns="0" tIns="0" bIns="0">
            <a:spAutoFit/>
          </a:bodyPr>
          <a:lstStyle/>
          <a:p>
            <a:pPr algn="l">
              <a:lnSpc>
                <a:spcPct val="101000"/>
              </a:lnSpc>
              <a:spcAft>
                <a:spcPts val="300"/>
              </a:spcAft>
              <a:defRPr sz="1300" b="1">
                <a:solidFill>
                  <a:srgbClr val="FFFFFF"/>
                </a:solidFill>
                <a:latin typeface="DejaVu Sans"/>
              </a:defRPr>
            </a:pPr>
            <a:r>
              <a:t>Continuar la práctica →</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9FBFF"/>
        </a:solidFill>
        <a:effectLst/>
      </p:bgPr>
    </p:bg>
    <p:spTree>
      <p:nvGrpSpPr>
        <p:cNvPr id="1" name=""/>
        <p:cNvGrpSpPr/>
        <p:nvPr/>
      </p:nvGrpSpPr>
      <p:grpSpPr/>
      <p:sp>
        <p:nvSpPr>
          <p:cNvPr id="2" name="TextBox 1"/>
          <p:cNvSpPr txBox="1"/>
          <p:nvPr/>
        </p:nvSpPr>
        <p:spPr>
          <a:xfrm>
            <a:off x="548640" y="365760"/>
            <a:ext cx="7223760" cy="228600"/>
          </a:xfrm>
          <a:prstGeom prst="rect">
            <a:avLst/>
          </a:prstGeom>
          <a:noFill/>
        </p:spPr>
        <p:txBody>
          <a:bodyPr wrap="square" lIns="0" rIns="0" tIns="0" bIns="0">
            <a:spAutoFit/>
          </a:bodyPr>
          <a:lstStyle/>
          <a:p>
            <a:pPr algn="l">
              <a:lnSpc>
                <a:spcPct val="101000"/>
              </a:lnSpc>
              <a:spcAft>
                <a:spcPts val="300"/>
              </a:spcAft>
              <a:defRPr sz="930" b="1">
                <a:solidFill>
                  <a:srgbClr val="137F7D"/>
                </a:solidFill>
                <a:latin typeface="DejaVu Sans"/>
              </a:defRPr>
            </a:pPr>
            <a:r>
              <a:t>ANEXO · CONSULTA</a:t>
            </a:r>
          </a:p>
        </p:txBody>
      </p:sp>
      <p:sp>
        <p:nvSpPr>
          <p:cNvPr id="3" name="Rounded Rectangle 2">
            <a:hlinkClick action="ppaction://hlinksldjump" r:id="rId2"/>
          </p:cNvPr>
          <p:cNvSpPr/>
          <p:nvPr/>
        </p:nvSpPr>
        <p:spPr>
          <a:xfrm>
            <a:off x="8165592" y="301752"/>
            <a:ext cx="813816" cy="310896"/>
          </a:xfrm>
          <a:prstGeom prst="roundRect">
            <a:avLst>
              <a:gd name="adj" fmla="val 8000"/>
            </a:avLst>
          </a:prstGeom>
          <a:solidFill>
            <a:srgbClr val="E0F7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2"/>
          </p:cNvPr>
          <p:cNvSpPr txBox="1"/>
          <p:nvPr/>
        </p:nvSpPr>
        <p:spPr>
          <a:xfrm>
            <a:off x="8275319" y="384048"/>
            <a:ext cx="594360" cy="219456"/>
          </a:xfrm>
          <a:prstGeom prst="rect">
            <a:avLst/>
          </a:prstGeom>
          <a:noFill/>
        </p:spPr>
        <p:txBody>
          <a:bodyPr wrap="square" lIns="0" rIns="0" tIns="0" bIns="0">
            <a:spAutoFit/>
          </a:bodyPr>
          <a:lstStyle/>
          <a:p>
            <a:pPr algn="l">
              <a:lnSpc>
                <a:spcPct val="101000"/>
              </a:lnSpc>
              <a:spcAft>
                <a:spcPts val="300"/>
              </a:spcAft>
              <a:defRPr sz="800" b="1">
                <a:solidFill>
                  <a:srgbClr val="203350"/>
                </a:solidFill>
                <a:latin typeface="DejaVu Sans"/>
              </a:defRPr>
            </a:pPr>
            <a:r>
              <a:t>Preparar</a:t>
            </a:r>
          </a:p>
        </p:txBody>
      </p:sp>
      <p:sp>
        <p:nvSpPr>
          <p:cNvPr id="5" name="Rounded Rectangle 4">
            <a:hlinkClick action="ppaction://hlinksldjump" r:id="rId3"/>
          </p:cNvPr>
          <p:cNvSpPr/>
          <p:nvPr/>
        </p:nvSpPr>
        <p:spPr>
          <a:xfrm>
            <a:off x="9043416" y="301752"/>
            <a:ext cx="813816" cy="310896"/>
          </a:xfrm>
          <a:prstGeom prst="roundRect">
            <a:avLst>
              <a:gd name="adj" fmla="val 8000"/>
            </a:avLst>
          </a:prstGeom>
          <a:solidFill>
            <a:srgbClr val="E2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3"/>
          </p:cNvPr>
          <p:cNvSpPr txBox="1"/>
          <p:nvPr/>
        </p:nvSpPr>
        <p:spPr>
          <a:xfrm>
            <a:off x="9153144" y="384048"/>
            <a:ext cx="594360" cy="219456"/>
          </a:xfrm>
          <a:prstGeom prst="rect">
            <a:avLst/>
          </a:prstGeom>
          <a:noFill/>
        </p:spPr>
        <p:txBody>
          <a:bodyPr wrap="square" lIns="0" rIns="0" tIns="0" bIns="0">
            <a:spAutoFit/>
          </a:bodyPr>
          <a:lstStyle/>
          <a:p>
            <a:pPr algn="l">
              <a:lnSpc>
                <a:spcPct val="101000"/>
              </a:lnSpc>
              <a:spcAft>
                <a:spcPts val="300"/>
              </a:spcAft>
              <a:defRPr sz="800" b="1">
                <a:solidFill>
                  <a:srgbClr val="203350"/>
                </a:solidFill>
                <a:latin typeface="DejaVu Sans"/>
              </a:defRPr>
            </a:pPr>
            <a:r>
              <a:t>Importar</a:t>
            </a:r>
          </a:p>
        </p:txBody>
      </p:sp>
      <p:sp>
        <p:nvSpPr>
          <p:cNvPr id="7" name="Rounded Rectangle 6">
            <a:hlinkClick action="ppaction://hlinksldjump" r:id="rId4"/>
          </p:cNvPr>
          <p:cNvSpPr/>
          <p:nvPr/>
        </p:nvSpPr>
        <p:spPr>
          <a:xfrm>
            <a:off x="9921240" y="301752"/>
            <a:ext cx="813816" cy="310896"/>
          </a:xfrm>
          <a:prstGeom prst="roundRect">
            <a:avLst>
              <a:gd name="adj" fmla="val 8000"/>
            </a:avLst>
          </a:prstGeom>
          <a:solidFill>
            <a:srgbClr val="EEE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4"/>
          </p:cNvPr>
          <p:cNvSpPr txBox="1"/>
          <p:nvPr/>
        </p:nvSpPr>
        <p:spPr>
          <a:xfrm>
            <a:off x="10030967" y="384048"/>
            <a:ext cx="594360" cy="219456"/>
          </a:xfrm>
          <a:prstGeom prst="rect">
            <a:avLst/>
          </a:prstGeom>
          <a:noFill/>
        </p:spPr>
        <p:txBody>
          <a:bodyPr wrap="square" lIns="0" rIns="0" tIns="0" bIns="0">
            <a:spAutoFit/>
          </a:bodyPr>
          <a:lstStyle/>
          <a:p>
            <a:pPr algn="l">
              <a:lnSpc>
                <a:spcPct val="101000"/>
              </a:lnSpc>
              <a:spcAft>
                <a:spcPts val="300"/>
              </a:spcAft>
              <a:defRPr sz="800" b="1">
                <a:solidFill>
                  <a:srgbClr val="203350"/>
                </a:solidFill>
                <a:latin typeface="DejaVu Sans"/>
              </a:defRPr>
            </a:pPr>
            <a:r>
              <a:t>Calcular</a:t>
            </a:r>
          </a:p>
        </p:txBody>
      </p:sp>
      <p:sp>
        <p:nvSpPr>
          <p:cNvPr id="9" name="Rounded Rectangle 8">
            <a:hlinkClick action="ppaction://hlinksldjump" r:id="rId5"/>
          </p:cNvPr>
          <p:cNvSpPr/>
          <p:nvPr/>
        </p:nvSpPr>
        <p:spPr>
          <a:xfrm>
            <a:off x="10799063" y="301752"/>
            <a:ext cx="813816" cy="310896"/>
          </a:xfrm>
          <a:prstGeom prst="roundRect">
            <a:avLst>
              <a:gd name="adj" fmla="val 8000"/>
            </a:avLst>
          </a:prstGeom>
          <a:solidFill>
            <a:srgbClr val="FFF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5"/>
          </p:cNvPr>
          <p:cNvSpPr txBox="1"/>
          <p:nvPr/>
        </p:nvSpPr>
        <p:spPr>
          <a:xfrm>
            <a:off x="10908791" y="384048"/>
            <a:ext cx="594360" cy="219456"/>
          </a:xfrm>
          <a:prstGeom prst="rect">
            <a:avLst/>
          </a:prstGeom>
          <a:noFill/>
        </p:spPr>
        <p:txBody>
          <a:bodyPr wrap="square" lIns="0" rIns="0" tIns="0" bIns="0">
            <a:spAutoFit/>
          </a:bodyPr>
          <a:lstStyle/>
          <a:p>
            <a:pPr algn="l">
              <a:lnSpc>
                <a:spcPct val="101000"/>
              </a:lnSpc>
              <a:spcAft>
                <a:spcPts val="300"/>
              </a:spcAft>
              <a:defRPr sz="749" b="1">
                <a:solidFill>
                  <a:srgbClr val="203350"/>
                </a:solidFill>
                <a:latin typeface="DejaVu Sans"/>
              </a:defRPr>
            </a:pPr>
            <a:r>
              <a:t>Comprobar</a:t>
            </a:r>
          </a:p>
        </p:txBody>
      </p:sp>
      <p:sp>
        <p:nvSpPr>
          <p:cNvPr id="11" name="TextBox 10"/>
          <p:cNvSpPr txBox="1"/>
          <p:nvPr/>
        </p:nvSpPr>
        <p:spPr>
          <a:xfrm>
            <a:off x="548640" y="886968"/>
            <a:ext cx="11064240" cy="1234440"/>
          </a:xfrm>
          <a:prstGeom prst="rect">
            <a:avLst/>
          </a:prstGeom>
          <a:noFill/>
        </p:spPr>
        <p:txBody>
          <a:bodyPr wrap="square" lIns="0" rIns="0" tIns="0" bIns="0">
            <a:spAutoFit/>
          </a:bodyPr>
          <a:lstStyle/>
          <a:p>
            <a:pPr algn="l">
              <a:lnSpc>
                <a:spcPct val="101000"/>
              </a:lnSpc>
              <a:spcAft>
                <a:spcPts val="300"/>
              </a:spcAft>
              <a:defRPr sz="3900" b="1">
                <a:solidFill>
                  <a:srgbClr val="203350"/>
                </a:solidFill>
                <a:latin typeface="DejaVu Sans"/>
              </a:defRPr>
            </a:pPr>
            <a:r>
              <a:t>La cuenta coincide</a:t>
            </a:r>
          </a:p>
          <a:p>
            <a:pPr algn="l">
              <a:lnSpc>
                <a:spcPct val="101000"/>
              </a:lnSpc>
              <a:spcAft>
                <a:spcPts val="300"/>
              </a:spcAft>
              <a:defRPr sz="3900" b="1">
                <a:solidFill>
                  <a:srgbClr val="203350"/>
                </a:solidFill>
                <a:latin typeface="DejaVu Sans"/>
              </a:defRPr>
            </a:pPr>
            <a:r>
              <a:t>con el indicador del modelo</a:t>
            </a:r>
          </a:p>
        </p:txBody>
      </p:sp>
      <p:sp>
        <p:nvSpPr>
          <p:cNvPr id="12" name="TextBox 11"/>
          <p:cNvSpPr txBox="1"/>
          <p:nvPr/>
        </p:nvSpPr>
        <p:spPr>
          <a:xfrm>
            <a:off x="548640" y="6446520"/>
            <a:ext cx="9784080" cy="219456"/>
          </a:xfrm>
          <a:prstGeom prst="rect">
            <a:avLst/>
          </a:prstGeom>
          <a:noFill/>
        </p:spPr>
        <p:txBody>
          <a:bodyPr wrap="square" lIns="0" rIns="0" tIns="0" bIns="0">
            <a:spAutoFit/>
          </a:bodyPr>
          <a:lstStyle/>
          <a:p>
            <a:pPr algn="l">
              <a:lnSpc>
                <a:spcPct val="101000"/>
              </a:lnSpc>
              <a:spcAft>
                <a:spcPts val="300"/>
              </a:spcAft>
              <a:defRPr sz="810" b="0">
                <a:solidFill>
                  <a:srgbClr val="5C6E83"/>
                </a:solidFill>
                <a:latin typeface="DejaVu Sans"/>
              </a:defRPr>
            </a:pPr>
            <a:r>
              <a:t>Material de consulta · no añade tiempo al recorrido de 50 minutos</a:t>
            </a:r>
          </a:p>
        </p:txBody>
      </p:sp>
      <p:sp>
        <p:nvSpPr>
          <p:cNvPr id="13" name="Rounded Rectangle 12">
            <a:hlinkClick action="ppaction://hlinksldjump" r:id="rId6"/>
          </p:cNvPr>
          <p:cNvSpPr/>
          <p:nvPr/>
        </p:nvSpPr>
        <p:spPr>
          <a:xfrm>
            <a:off x="10442448" y="6400800"/>
            <a:ext cx="640080" cy="265176"/>
          </a:xfrm>
          <a:prstGeom prst="roundRect">
            <a:avLst>
              <a:gd name="adj" fmla="val 8000"/>
            </a:avLst>
          </a:prstGeom>
          <a:solidFill>
            <a:srgbClr val="EEE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a:hlinkClick action="ppaction://hlinksldjump" r:id="rId6"/>
          </p:cNvPr>
          <p:cNvSpPr txBox="1"/>
          <p:nvPr/>
        </p:nvSpPr>
        <p:spPr>
          <a:xfrm>
            <a:off x="10552176" y="6483096"/>
            <a:ext cx="420623" cy="173735"/>
          </a:xfrm>
          <a:prstGeom prst="rect">
            <a:avLst/>
          </a:prstGeom>
          <a:noFill/>
        </p:spPr>
        <p:txBody>
          <a:bodyPr wrap="square" lIns="0" rIns="0" tIns="0" bIns="0">
            <a:spAutoFit/>
          </a:bodyPr>
          <a:lstStyle/>
          <a:p>
            <a:pPr algn="l">
              <a:lnSpc>
                <a:spcPct val="101000"/>
              </a:lnSpc>
              <a:spcAft>
                <a:spcPts val="300"/>
              </a:spcAft>
              <a:defRPr sz="800" b="1">
                <a:solidFill>
                  <a:srgbClr val="8060BA"/>
                </a:solidFill>
                <a:latin typeface="DejaVu Sans"/>
              </a:defRPr>
            </a:pPr>
            <a:r>
              <a:t>Ruta</a:t>
            </a:r>
          </a:p>
        </p:txBody>
      </p:sp>
      <p:sp>
        <p:nvSpPr>
          <p:cNvPr id="15" name="TextBox 14"/>
          <p:cNvSpPr txBox="1"/>
          <p:nvPr/>
        </p:nvSpPr>
        <p:spPr>
          <a:xfrm>
            <a:off x="11228832" y="6400800"/>
            <a:ext cx="457200" cy="274320"/>
          </a:xfrm>
          <a:prstGeom prst="rect">
            <a:avLst/>
          </a:prstGeom>
          <a:noFill/>
        </p:spPr>
        <p:txBody>
          <a:bodyPr wrap="square" lIns="0" rIns="0" tIns="0" bIns="0">
            <a:spAutoFit/>
          </a:bodyPr>
          <a:lstStyle/>
          <a:p>
            <a:pPr algn="r">
              <a:lnSpc>
                <a:spcPct val="101000"/>
              </a:lnSpc>
              <a:spcAft>
                <a:spcPts val="300"/>
              </a:spcAft>
              <a:defRPr sz="1300" b="1">
                <a:solidFill>
                  <a:srgbClr val="203350"/>
                </a:solidFill>
                <a:latin typeface="DejaVu Sans"/>
              </a:defRPr>
            </a:pPr>
            <a:r>
              <a:t>ANX</a:t>
            </a:r>
          </a:p>
        </p:txBody>
      </p:sp>
      <p:sp>
        <p:nvSpPr>
          <p:cNvPr id="16" name="Rounded Rectangle 15"/>
          <p:cNvSpPr/>
          <p:nvPr/>
        </p:nvSpPr>
        <p:spPr>
          <a:xfrm>
            <a:off x="594360" y="2697480"/>
            <a:ext cx="2441448" cy="502920"/>
          </a:xfrm>
          <a:prstGeom prst="roundRect">
            <a:avLst>
              <a:gd name="adj" fmla="val 8000"/>
            </a:avLst>
          </a:prstGeom>
          <a:solidFill>
            <a:srgbClr val="E0F7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2834640"/>
            <a:ext cx="2194560" cy="338328"/>
          </a:xfrm>
          <a:prstGeom prst="rect">
            <a:avLst/>
          </a:prstGeom>
          <a:noFill/>
        </p:spPr>
        <p:txBody>
          <a:bodyPr wrap="square" lIns="0" rIns="0" tIns="0" bIns="0">
            <a:spAutoFit/>
          </a:bodyPr>
          <a:lstStyle/>
          <a:p>
            <a:pPr algn="l">
              <a:lnSpc>
                <a:spcPct val="101000"/>
              </a:lnSpc>
              <a:spcAft>
                <a:spcPts val="300"/>
              </a:spcAft>
              <a:defRPr sz="1500" b="1">
                <a:solidFill>
                  <a:srgbClr val="203350"/>
                </a:solidFill>
                <a:latin typeface="DejaVu Sans"/>
              </a:defRPr>
            </a:pPr>
            <a:r>
              <a:t>Gas</a:t>
            </a:r>
          </a:p>
        </p:txBody>
      </p:sp>
      <p:sp>
        <p:nvSpPr>
          <p:cNvPr id="18" name="Rounded Rectangle 17"/>
          <p:cNvSpPr/>
          <p:nvPr/>
        </p:nvSpPr>
        <p:spPr>
          <a:xfrm>
            <a:off x="3063240" y="2697480"/>
            <a:ext cx="4544568" cy="502920"/>
          </a:xfrm>
          <a:prstGeom prst="roundRect">
            <a:avLst>
              <a:gd name="adj" fmla="val 8000"/>
            </a:avLst>
          </a:prstGeom>
          <a:solidFill>
            <a:srgbClr val="E0F7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200400" y="2834640"/>
            <a:ext cx="4297680" cy="338328"/>
          </a:xfrm>
          <a:prstGeom prst="rect">
            <a:avLst/>
          </a:prstGeom>
          <a:noFill/>
        </p:spPr>
        <p:txBody>
          <a:bodyPr wrap="square" lIns="0" rIns="0" tIns="0" bIns="0">
            <a:spAutoFit/>
          </a:bodyPr>
          <a:lstStyle/>
          <a:p>
            <a:pPr algn="l">
              <a:lnSpc>
                <a:spcPct val="101000"/>
              </a:lnSpc>
              <a:spcAft>
                <a:spcPts val="300"/>
              </a:spcAft>
              <a:defRPr sz="1500" b="1">
                <a:solidFill>
                  <a:srgbClr val="203350"/>
                </a:solidFill>
                <a:latin typeface="DejaVu Sans"/>
              </a:defRPr>
            </a:pPr>
            <a:r>
              <a:t>Cantidad × factor</a:t>
            </a:r>
          </a:p>
        </p:txBody>
      </p:sp>
      <p:sp>
        <p:nvSpPr>
          <p:cNvPr id="20" name="Rounded Rectangle 19"/>
          <p:cNvSpPr/>
          <p:nvPr/>
        </p:nvSpPr>
        <p:spPr>
          <a:xfrm>
            <a:off x="7635240" y="2697480"/>
            <a:ext cx="3904487" cy="502920"/>
          </a:xfrm>
          <a:prstGeom prst="roundRect">
            <a:avLst>
              <a:gd name="adj" fmla="val 8000"/>
            </a:avLst>
          </a:prstGeom>
          <a:solidFill>
            <a:srgbClr val="E0F7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0" y="2834640"/>
            <a:ext cx="3657600" cy="338328"/>
          </a:xfrm>
          <a:prstGeom prst="rect">
            <a:avLst/>
          </a:prstGeom>
          <a:noFill/>
        </p:spPr>
        <p:txBody>
          <a:bodyPr wrap="square" lIns="0" rIns="0" tIns="0" bIns="0">
            <a:spAutoFit/>
          </a:bodyPr>
          <a:lstStyle/>
          <a:p>
            <a:pPr algn="l">
              <a:lnSpc>
                <a:spcPct val="101000"/>
              </a:lnSpc>
              <a:spcAft>
                <a:spcPts val="300"/>
              </a:spcAft>
              <a:defRPr sz="1500" b="1">
                <a:solidFill>
                  <a:srgbClr val="203350"/>
                </a:solidFill>
                <a:latin typeface="DejaVu Sans"/>
              </a:defRPr>
            </a:pPr>
            <a:r>
              <a:t>kg CO₂ eq</a:t>
            </a:r>
          </a:p>
        </p:txBody>
      </p:sp>
      <p:sp>
        <p:nvSpPr>
          <p:cNvPr id="22" name="Rounded Rectangle 21"/>
          <p:cNvSpPr/>
          <p:nvPr/>
        </p:nvSpPr>
        <p:spPr>
          <a:xfrm>
            <a:off x="594360" y="3246120"/>
            <a:ext cx="2441448" cy="50292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3383280"/>
            <a:ext cx="2194560" cy="365760"/>
          </a:xfrm>
          <a:prstGeom prst="rect">
            <a:avLst/>
          </a:prstGeom>
          <a:noFill/>
        </p:spPr>
        <p:txBody>
          <a:bodyPr wrap="square" lIns="0" rIns="0" tIns="0" bIns="0">
            <a:spAutoFit/>
          </a:bodyPr>
          <a:lstStyle/>
          <a:p>
            <a:pPr algn="l">
              <a:lnSpc>
                <a:spcPct val="101000"/>
              </a:lnSpc>
              <a:spcAft>
                <a:spcPts val="300"/>
              </a:spcAft>
              <a:defRPr sz="1500" b="0">
                <a:solidFill>
                  <a:srgbClr val="203350"/>
                </a:solidFill>
                <a:latin typeface="DejaVu Sans"/>
              </a:defRPr>
            </a:pPr>
            <a:r>
              <a:t>CO₂</a:t>
            </a:r>
          </a:p>
        </p:txBody>
      </p:sp>
      <p:sp>
        <p:nvSpPr>
          <p:cNvPr id="24" name="Rounded Rectangle 23"/>
          <p:cNvSpPr/>
          <p:nvPr/>
        </p:nvSpPr>
        <p:spPr>
          <a:xfrm>
            <a:off x="3063240" y="3246120"/>
            <a:ext cx="4544568" cy="50292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200400" y="3383280"/>
            <a:ext cx="4297680" cy="365760"/>
          </a:xfrm>
          <a:prstGeom prst="rect">
            <a:avLst/>
          </a:prstGeom>
          <a:noFill/>
        </p:spPr>
        <p:txBody>
          <a:bodyPr wrap="square" lIns="0" rIns="0" tIns="0" bIns="0">
            <a:spAutoFit/>
          </a:bodyPr>
          <a:lstStyle/>
          <a:p>
            <a:pPr algn="l">
              <a:lnSpc>
                <a:spcPct val="101000"/>
              </a:lnSpc>
              <a:spcAft>
                <a:spcPts val="300"/>
              </a:spcAft>
              <a:defRPr sz="1500" b="0">
                <a:solidFill>
                  <a:srgbClr val="203350"/>
                </a:solidFill>
                <a:latin typeface="DejaVu Sans"/>
              </a:defRPr>
            </a:pPr>
            <a:r>
              <a:t>0.39 × 1</a:t>
            </a:r>
          </a:p>
        </p:txBody>
      </p:sp>
      <p:sp>
        <p:nvSpPr>
          <p:cNvPr id="26" name="Rounded Rectangle 25"/>
          <p:cNvSpPr/>
          <p:nvPr/>
        </p:nvSpPr>
        <p:spPr>
          <a:xfrm>
            <a:off x="7635240" y="3246120"/>
            <a:ext cx="3904487" cy="50292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772400" y="3383280"/>
            <a:ext cx="3657600" cy="365760"/>
          </a:xfrm>
          <a:prstGeom prst="rect">
            <a:avLst/>
          </a:prstGeom>
          <a:noFill/>
        </p:spPr>
        <p:txBody>
          <a:bodyPr wrap="square" lIns="0" rIns="0" tIns="0" bIns="0">
            <a:spAutoFit/>
          </a:bodyPr>
          <a:lstStyle/>
          <a:p>
            <a:pPr algn="l">
              <a:lnSpc>
                <a:spcPct val="101000"/>
              </a:lnSpc>
              <a:spcAft>
                <a:spcPts val="300"/>
              </a:spcAft>
              <a:defRPr sz="1500" b="0">
                <a:solidFill>
                  <a:srgbClr val="203350"/>
                </a:solidFill>
                <a:latin typeface="DejaVu Sans"/>
              </a:defRPr>
            </a:pPr>
            <a:r>
              <a:t>0.39000000</a:t>
            </a:r>
          </a:p>
        </p:txBody>
      </p:sp>
      <p:sp>
        <p:nvSpPr>
          <p:cNvPr id="28" name="Rounded Rectangle 27"/>
          <p:cNvSpPr/>
          <p:nvPr/>
        </p:nvSpPr>
        <p:spPr>
          <a:xfrm>
            <a:off x="594360" y="3794760"/>
            <a:ext cx="2441448" cy="502920"/>
          </a:xfrm>
          <a:prstGeom prst="roundRect">
            <a:avLst>
              <a:gd name="adj" fmla="val 8000"/>
            </a:avLst>
          </a:prstGeom>
          <a:solidFill>
            <a:srgbClr val="ED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31520" y="3931920"/>
            <a:ext cx="2194560" cy="365760"/>
          </a:xfrm>
          <a:prstGeom prst="rect">
            <a:avLst/>
          </a:prstGeom>
          <a:noFill/>
        </p:spPr>
        <p:txBody>
          <a:bodyPr wrap="square" lIns="0" rIns="0" tIns="0" bIns="0">
            <a:spAutoFit/>
          </a:bodyPr>
          <a:lstStyle/>
          <a:p>
            <a:pPr algn="l">
              <a:lnSpc>
                <a:spcPct val="101000"/>
              </a:lnSpc>
              <a:spcAft>
                <a:spcPts val="300"/>
              </a:spcAft>
              <a:defRPr sz="1500" b="0">
                <a:solidFill>
                  <a:srgbClr val="203350"/>
                </a:solidFill>
                <a:latin typeface="DejaVu Sans"/>
              </a:defRPr>
            </a:pPr>
            <a:r>
              <a:t>CH₄</a:t>
            </a:r>
          </a:p>
        </p:txBody>
      </p:sp>
      <p:sp>
        <p:nvSpPr>
          <p:cNvPr id="30" name="Rounded Rectangle 29"/>
          <p:cNvSpPr/>
          <p:nvPr/>
        </p:nvSpPr>
        <p:spPr>
          <a:xfrm>
            <a:off x="3063240" y="3794760"/>
            <a:ext cx="4544568" cy="502920"/>
          </a:xfrm>
          <a:prstGeom prst="roundRect">
            <a:avLst>
              <a:gd name="adj" fmla="val 8000"/>
            </a:avLst>
          </a:prstGeom>
          <a:solidFill>
            <a:srgbClr val="ED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200400" y="3931920"/>
            <a:ext cx="4297680" cy="365760"/>
          </a:xfrm>
          <a:prstGeom prst="rect">
            <a:avLst/>
          </a:prstGeom>
          <a:noFill/>
        </p:spPr>
        <p:txBody>
          <a:bodyPr wrap="square" lIns="0" rIns="0" tIns="0" bIns="0">
            <a:spAutoFit/>
          </a:bodyPr>
          <a:lstStyle/>
          <a:p>
            <a:pPr algn="l">
              <a:lnSpc>
                <a:spcPct val="101000"/>
              </a:lnSpc>
              <a:spcAft>
                <a:spcPts val="300"/>
              </a:spcAft>
              <a:defRPr sz="1500" b="0">
                <a:solidFill>
                  <a:srgbClr val="203350"/>
                </a:solidFill>
                <a:latin typeface="DejaVu Sans"/>
              </a:defRPr>
            </a:pPr>
            <a:r>
              <a:t>0.050007 × 28</a:t>
            </a:r>
          </a:p>
        </p:txBody>
      </p:sp>
      <p:sp>
        <p:nvSpPr>
          <p:cNvPr id="32" name="Rounded Rectangle 31"/>
          <p:cNvSpPr/>
          <p:nvPr/>
        </p:nvSpPr>
        <p:spPr>
          <a:xfrm>
            <a:off x="7635240" y="3794760"/>
            <a:ext cx="3904487" cy="502920"/>
          </a:xfrm>
          <a:prstGeom prst="roundRect">
            <a:avLst>
              <a:gd name="adj" fmla="val 8000"/>
            </a:avLst>
          </a:prstGeom>
          <a:solidFill>
            <a:srgbClr val="ED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772400" y="3931920"/>
            <a:ext cx="3657600" cy="365760"/>
          </a:xfrm>
          <a:prstGeom prst="rect">
            <a:avLst/>
          </a:prstGeom>
          <a:noFill/>
        </p:spPr>
        <p:txBody>
          <a:bodyPr wrap="square" lIns="0" rIns="0" tIns="0" bIns="0">
            <a:spAutoFit/>
          </a:bodyPr>
          <a:lstStyle/>
          <a:p>
            <a:pPr algn="l">
              <a:lnSpc>
                <a:spcPct val="101000"/>
              </a:lnSpc>
              <a:spcAft>
                <a:spcPts val="300"/>
              </a:spcAft>
              <a:defRPr sz="1500" b="0">
                <a:solidFill>
                  <a:srgbClr val="203350"/>
                </a:solidFill>
                <a:latin typeface="DejaVu Sans"/>
              </a:defRPr>
            </a:pPr>
            <a:r>
              <a:t>1.40019600</a:t>
            </a:r>
          </a:p>
        </p:txBody>
      </p:sp>
      <p:sp>
        <p:nvSpPr>
          <p:cNvPr id="34" name="Rounded Rectangle 33"/>
          <p:cNvSpPr/>
          <p:nvPr/>
        </p:nvSpPr>
        <p:spPr>
          <a:xfrm>
            <a:off x="594360" y="4343400"/>
            <a:ext cx="2441448" cy="50292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31520" y="4480560"/>
            <a:ext cx="2194560" cy="365760"/>
          </a:xfrm>
          <a:prstGeom prst="rect">
            <a:avLst/>
          </a:prstGeom>
          <a:noFill/>
        </p:spPr>
        <p:txBody>
          <a:bodyPr wrap="square" lIns="0" rIns="0" tIns="0" bIns="0">
            <a:spAutoFit/>
          </a:bodyPr>
          <a:lstStyle/>
          <a:p>
            <a:pPr algn="l">
              <a:lnSpc>
                <a:spcPct val="101000"/>
              </a:lnSpc>
              <a:spcAft>
                <a:spcPts val="300"/>
              </a:spcAft>
              <a:defRPr sz="1500" b="0">
                <a:solidFill>
                  <a:srgbClr val="203350"/>
                </a:solidFill>
                <a:latin typeface="DejaVu Sans"/>
              </a:defRPr>
            </a:pPr>
            <a:r>
              <a:t>N₂O</a:t>
            </a:r>
          </a:p>
        </p:txBody>
      </p:sp>
      <p:sp>
        <p:nvSpPr>
          <p:cNvPr id="36" name="Rounded Rectangle 35"/>
          <p:cNvSpPr/>
          <p:nvPr/>
        </p:nvSpPr>
        <p:spPr>
          <a:xfrm>
            <a:off x="3063240" y="4343400"/>
            <a:ext cx="4544568" cy="50292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200400" y="4480560"/>
            <a:ext cx="4297680" cy="365760"/>
          </a:xfrm>
          <a:prstGeom prst="rect">
            <a:avLst/>
          </a:prstGeom>
          <a:noFill/>
        </p:spPr>
        <p:txBody>
          <a:bodyPr wrap="square" lIns="0" rIns="0" tIns="0" bIns="0">
            <a:spAutoFit/>
          </a:bodyPr>
          <a:lstStyle/>
          <a:p>
            <a:pPr algn="l">
              <a:lnSpc>
                <a:spcPct val="101000"/>
              </a:lnSpc>
              <a:spcAft>
                <a:spcPts val="300"/>
              </a:spcAft>
              <a:defRPr sz="1500" b="0">
                <a:solidFill>
                  <a:srgbClr val="203350"/>
                </a:solidFill>
                <a:latin typeface="DejaVu Sans"/>
              </a:defRPr>
            </a:pPr>
            <a:r>
              <a:t>0.00040035 × 265</a:t>
            </a:r>
          </a:p>
        </p:txBody>
      </p:sp>
      <p:sp>
        <p:nvSpPr>
          <p:cNvPr id="38" name="Rounded Rectangle 37"/>
          <p:cNvSpPr/>
          <p:nvPr/>
        </p:nvSpPr>
        <p:spPr>
          <a:xfrm>
            <a:off x="7635240" y="4343400"/>
            <a:ext cx="3904487" cy="50292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772400" y="4480560"/>
            <a:ext cx="3657600" cy="365760"/>
          </a:xfrm>
          <a:prstGeom prst="rect">
            <a:avLst/>
          </a:prstGeom>
          <a:noFill/>
        </p:spPr>
        <p:txBody>
          <a:bodyPr wrap="square" lIns="0" rIns="0" tIns="0" bIns="0">
            <a:spAutoFit/>
          </a:bodyPr>
          <a:lstStyle/>
          <a:p>
            <a:pPr algn="l">
              <a:lnSpc>
                <a:spcPct val="101000"/>
              </a:lnSpc>
              <a:spcAft>
                <a:spcPts val="300"/>
              </a:spcAft>
              <a:defRPr sz="1500" b="0">
                <a:solidFill>
                  <a:srgbClr val="203350"/>
                </a:solidFill>
                <a:latin typeface="DejaVu Sans"/>
              </a:defRPr>
            </a:pPr>
            <a:r>
              <a:t>0.10609275</a:t>
            </a:r>
          </a:p>
        </p:txBody>
      </p:sp>
      <p:sp>
        <p:nvSpPr>
          <p:cNvPr id="40" name="Rounded Rectangle 39"/>
          <p:cNvSpPr/>
          <p:nvPr/>
        </p:nvSpPr>
        <p:spPr>
          <a:xfrm>
            <a:off x="594360" y="4892040"/>
            <a:ext cx="2441448" cy="502920"/>
          </a:xfrm>
          <a:prstGeom prst="roundRect">
            <a:avLst>
              <a:gd name="adj" fmla="val 8000"/>
            </a:avLst>
          </a:prstGeom>
          <a:solidFill>
            <a:srgbClr val="ED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31520" y="5029200"/>
            <a:ext cx="2194560" cy="365760"/>
          </a:xfrm>
          <a:prstGeom prst="rect">
            <a:avLst/>
          </a:prstGeom>
          <a:noFill/>
        </p:spPr>
        <p:txBody>
          <a:bodyPr wrap="square" lIns="0" rIns="0" tIns="0" bIns="0">
            <a:spAutoFit/>
          </a:bodyPr>
          <a:lstStyle/>
          <a:p>
            <a:pPr algn="l">
              <a:lnSpc>
                <a:spcPct val="101000"/>
              </a:lnSpc>
              <a:spcAft>
                <a:spcPts val="300"/>
              </a:spcAft>
              <a:defRPr sz="1500" b="0">
                <a:solidFill>
                  <a:srgbClr val="203350"/>
                </a:solidFill>
                <a:latin typeface="DejaVu Sans"/>
              </a:defRPr>
            </a:pPr>
            <a:r>
              <a:t>TOTAL</a:t>
            </a:r>
          </a:p>
        </p:txBody>
      </p:sp>
      <p:sp>
        <p:nvSpPr>
          <p:cNvPr id="42" name="Rounded Rectangle 41"/>
          <p:cNvSpPr/>
          <p:nvPr/>
        </p:nvSpPr>
        <p:spPr>
          <a:xfrm>
            <a:off x="3063240" y="4892040"/>
            <a:ext cx="4544568" cy="502920"/>
          </a:xfrm>
          <a:prstGeom prst="roundRect">
            <a:avLst>
              <a:gd name="adj" fmla="val 8000"/>
            </a:avLst>
          </a:prstGeom>
          <a:solidFill>
            <a:srgbClr val="ED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200400" y="5029200"/>
            <a:ext cx="4297680" cy="365760"/>
          </a:xfrm>
          <a:prstGeom prst="rect">
            <a:avLst/>
          </a:prstGeom>
          <a:noFill/>
        </p:spPr>
        <p:txBody>
          <a:bodyPr wrap="square" lIns="0" rIns="0" tIns="0" bIns="0">
            <a:spAutoFit/>
          </a:bodyPr>
          <a:lstStyle/>
          <a:p>
            <a:pPr algn="l">
              <a:lnSpc>
                <a:spcPct val="101000"/>
              </a:lnSpc>
              <a:spcAft>
                <a:spcPts val="300"/>
              </a:spcAft>
              <a:defRPr sz="1500" b="0">
                <a:solidFill>
                  <a:srgbClr val="203350"/>
                </a:solidFill>
                <a:latin typeface="DejaVu Sans"/>
              </a:defRPr>
            </a:pPr>
          </a:p>
        </p:txBody>
      </p:sp>
      <p:sp>
        <p:nvSpPr>
          <p:cNvPr id="44" name="Rounded Rectangle 43"/>
          <p:cNvSpPr/>
          <p:nvPr/>
        </p:nvSpPr>
        <p:spPr>
          <a:xfrm>
            <a:off x="7635240" y="4892040"/>
            <a:ext cx="3904487" cy="502920"/>
          </a:xfrm>
          <a:prstGeom prst="roundRect">
            <a:avLst>
              <a:gd name="adj" fmla="val 8000"/>
            </a:avLst>
          </a:prstGeom>
          <a:solidFill>
            <a:srgbClr val="ED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772400" y="5029200"/>
            <a:ext cx="3657600" cy="365760"/>
          </a:xfrm>
          <a:prstGeom prst="rect">
            <a:avLst/>
          </a:prstGeom>
          <a:noFill/>
        </p:spPr>
        <p:txBody>
          <a:bodyPr wrap="square" lIns="0" rIns="0" tIns="0" bIns="0">
            <a:spAutoFit/>
          </a:bodyPr>
          <a:lstStyle/>
          <a:p>
            <a:pPr algn="l">
              <a:lnSpc>
                <a:spcPct val="101000"/>
              </a:lnSpc>
              <a:spcAft>
                <a:spcPts val="300"/>
              </a:spcAft>
              <a:defRPr sz="1500" b="0">
                <a:solidFill>
                  <a:srgbClr val="203350"/>
                </a:solidFill>
                <a:latin typeface="DejaVu Sans"/>
              </a:defRPr>
            </a:pPr>
            <a:r>
              <a:t>1.89628875</a:t>
            </a:r>
          </a:p>
        </p:txBody>
      </p:sp>
      <p:sp>
        <p:nvSpPr>
          <p:cNvPr id="46" name="Rounded Rectangle 45">
            <a:hlinkClick action="ppaction://hlinksldjump" r:id="rId5"/>
          </p:cNvPr>
          <p:cNvSpPr/>
          <p:nvPr/>
        </p:nvSpPr>
        <p:spPr>
          <a:xfrm>
            <a:off x="777240" y="5843016"/>
            <a:ext cx="2834640" cy="374904"/>
          </a:xfrm>
          <a:prstGeom prst="roundRect">
            <a:avLst>
              <a:gd name="adj" fmla="val 8000"/>
            </a:avLst>
          </a:prstGeom>
          <a:solidFill>
            <a:srgbClr val="EEE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a:hlinkClick action="ppaction://hlinksldjump" r:id="rId5"/>
          </p:cNvPr>
          <p:cNvSpPr txBox="1"/>
          <p:nvPr/>
        </p:nvSpPr>
        <p:spPr>
          <a:xfrm>
            <a:off x="886968" y="5925312"/>
            <a:ext cx="2615184" cy="283463"/>
          </a:xfrm>
          <a:prstGeom prst="rect">
            <a:avLst/>
          </a:prstGeom>
          <a:noFill/>
        </p:spPr>
        <p:txBody>
          <a:bodyPr wrap="square" lIns="0" rIns="0" tIns="0" bIns="0">
            <a:spAutoFit/>
          </a:bodyPr>
          <a:lstStyle/>
          <a:p>
            <a:pPr algn="l">
              <a:lnSpc>
                <a:spcPct val="101000"/>
              </a:lnSpc>
              <a:spcAft>
                <a:spcPts val="300"/>
              </a:spcAft>
              <a:defRPr sz="1100" b="1">
                <a:solidFill>
                  <a:srgbClr val="203350"/>
                </a:solidFill>
                <a:latin typeface="DejaVu Sans"/>
              </a:defRPr>
            </a:pPr>
            <a:r>
              <a:t>Volver a la cuenta</a:t>
            </a:r>
          </a:p>
        </p:txBody>
      </p:sp>
      <p:sp>
        <p:nvSpPr>
          <p:cNvPr id="48" name="Rounded Rectangle 47">
            <a:hlinkClick action="ppaction://hlinksldjump" r:id="rId7"/>
          </p:cNvPr>
          <p:cNvSpPr/>
          <p:nvPr/>
        </p:nvSpPr>
        <p:spPr>
          <a:xfrm>
            <a:off x="3913632" y="5843016"/>
            <a:ext cx="3200400" cy="374904"/>
          </a:xfrm>
          <a:prstGeom prst="roundRect">
            <a:avLst>
              <a:gd name="adj" fmla="val 8000"/>
            </a:avLst>
          </a:prstGeom>
          <a:solidFill>
            <a:srgbClr val="806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a:hlinkClick action="ppaction://hlinksldjump" r:id="rId7"/>
          </p:cNvPr>
          <p:cNvSpPr txBox="1"/>
          <p:nvPr/>
        </p:nvSpPr>
        <p:spPr>
          <a:xfrm>
            <a:off x="4023360" y="5925312"/>
            <a:ext cx="2980944" cy="283463"/>
          </a:xfrm>
          <a:prstGeom prst="rect">
            <a:avLst/>
          </a:prstGeom>
          <a:noFill/>
        </p:spPr>
        <p:txBody>
          <a:bodyPr wrap="square" lIns="0" rIns="0" tIns="0" bIns="0">
            <a:spAutoFit/>
          </a:bodyPr>
          <a:lstStyle/>
          <a:p>
            <a:pPr algn="l">
              <a:lnSpc>
                <a:spcPct val="101000"/>
              </a:lnSpc>
              <a:spcAft>
                <a:spcPts val="300"/>
              </a:spcAft>
              <a:defRPr sz="1100" b="1">
                <a:solidFill>
                  <a:srgbClr val="FFFFFF"/>
                </a:solidFill>
                <a:latin typeface="DejaVu Sans"/>
              </a:defRPr>
            </a:pPr>
            <a:r>
              <a:t>Continuar →</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9FBFF"/>
        </a:solidFill>
        <a:effectLst/>
      </p:bgPr>
    </p:bg>
    <p:spTree>
      <p:nvGrpSpPr>
        <p:cNvPr id="1" name=""/>
        <p:cNvGrpSpPr/>
        <p:nvPr/>
      </p:nvGrpSpPr>
      <p:grpSpPr/>
      <p:sp>
        <p:nvSpPr>
          <p:cNvPr id="2" name="TextBox 1"/>
          <p:cNvSpPr txBox="1"/>
          <p:nvPr/>
        </p:nvSpPr>
        <p:spPr>
          <a:xfrm>
            <a:off x="548640" y="365760"/>
            <a:ext cx="7223760" cy="228600"/>
          </a:xfrm>
          <a:prstGeom prst="rect">
            <a:avLst/>
          </a:prstGeom>
          <a:noFill/>
        </p:spPr>
        <p:txBody>
          <a:bodyPr wrap="square" lIns="0" rIns="0" tIns="0" bIns="0">
            <a:spAutoFit/>
          </a:bodyPr>
          <a:lstStyle/>
          <a:p>
            <a:pPr algn="l">
              <a:lnSpc>
                <a:spcPct val="101000"/>
              </a:lnSpc>
              <a:spcAft>
                <a:spcPts val="300"/>
              </a:spcAft>
              <a:defRPr sz="930" b="1">
                <a:solidFill>
                  <a:srgbClr val="137F7D"/>
                </a:solidFill>
                <a:latin typeface="DejaVu Sans"/>
              </a:defRPr>
            </a:pPr>
            <a:r>
              <a:t>ANEXO · CONSULTA</a:t>
            </a:r>
          </a:p>
        </p:txBody>
      </p:sp>
      <p:sp>
        <p:nvSpPr>
          <p:cNvPr id="3" name="Rounded Rectangle 2">
            <a:hlinkClick action="ppaction://hlinksldjump" r:id="rId2"/>
          </p:cNvPr>
          <p:cNvSpPr/>
          <p:nvPr/>
        </p:nvSpPr>
        <p:spPr>
          <a:xfrm>
            <a:off x="8165592" y="301752"/>
            <a:ext cx="813816" cy="310896"/>
          </a:xfrm>
          <a:prstGeom prst="roundRect">
            <a:avLst>
              <a:gd name="adj" fmla="val 8000"/>
            </a:avLst>
          </a:prstGeom>
          <a:solidFill>
            <a:srgbClr val="E0F7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2"/>
          </p:cNvPr>
          <p:cNvSpPr txBox="1"/>
          <p:nvPr/>
        </p:nvSpPr>
        <p:spPr>
          <a:xfrm>
            <a:off x="8275319" y="384048"/>
            <a:ext cx="594360" cy="219456"/>
          </a:xfrm>
          <a:prstGeom prst="rect">
            <a:avLst/>
          </a:prstGeom>
          <a:noFill/>
        </p:spPr>
        <p:txBody>
          <a:bodyPr wrap="square" lIns="0" rIns="0" tIns="0" bIns="0">
            <a:spAutoFit/>
          </a:bodyPr>
          <a:lstStyle/>
          <a:p>
            <a:pPr algn="l">
              <a:lnSpc>
                <a:spcPct val="101000"/>
              </a:lnSpc>
              <a:spcAft>
                <a:spcPts val="300"/>
              </a:spcAft>
              <a:defRPr sz="800" b="1">
                <a:solidFill>
                  <a:srgbClr val="203350"/>
                </a:solidFill>
                <a:latin typeface="DejaVu Sans"/>
              </a:defRPr>
            </a:pPr>
            <a:r>
              <a:t>Preparar</a:t>
            </a:r>
          </a:p>
        </p:txBody>
      </p:sp>
      <p:sp>
        <p:nvSpPr>
          <p:cNvPr id="5" name="Rounded Rectangle 4">
            <a:hlinkClick action="ppaction://hlinksldjump" r:id="rId3"/>
          </p:cNvPr>
          <p:cNvSpPr/>
          <p:nvPr/>
        </p:nvSpPr>
        <p:spPr>
          <a:xfrm>
            <a:off x="9043416" y="301752"/>
            <a:ext cx="813816" cy="310896"/>
          </a:xfrm>
          <a:prstGeom prst="roundRect">
            <a:avLst>
              <a:gd name="adj" fmla="val 8000"/>
            </a:avLst>
          </a:prstGeom>
          <a:solidFill>
            <a:srgbClr val="E2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3"/>
          </p:cNvPr>
          <p:cNvSpPr txBox="1"/>
          <p:nvPr/>
        </p:nvSpPr>
        <p:spPr>
          <a:xfrm>
            <a:off x="9153144" y="384048"/>
            <a:ext cx="594360" cy="219456"/>
          </a:xfrm>
          <a:prstGeom prst="rect">
            <a:avLst/>
          </a:prstGeom>
          <a:noFill/>
        </p:spPr>
        <p:txBody>
          <a:bodyPr wrap="square" lIns="0" rIns="0" tIns="0" bIns="0">
            <a:spAutoFit/>
          </a:bodyPr>
          <a:lstStyle/>
          <a:p>
            <a:pPr algn="l">
              <a:lnSpc>
                <a:spcPct val="101000"/>
              </a:lnSpc>
              <a:spcAft>
                <a:spcPts val="300"/>
              </a:spcAft>
              <a:defRPr sz="800" b="1">
                <a:solidFill>
                  <a:srgbClr val="203350"/>
                </a:solidFill>
                <a:latin typeface="DejaVu Sans"/>
              </a:defRPr>
            </a:pPr>
            <a:r>
              <a:t>Importar</a:t>
            </a:r>
          </a:p>
        </p:txBody>
      </p:sp>
      <p:sp>
        <p:nvSpPr>
          <p:cNvPr id="7" name="Rounded Rectangle 6">
            <a:hlinkClick action="ppaction://hlinksldjump" r:id="rId4"/>
          </p:cNvPr>
          <p:cNvSpPr/>
          <p:nvPr/>
        </p:nvSpPr>
        <p:spPr>
          <a:xfrm>
            <a:off x="9921240" y="301752"/>
            <a:ext cx="813816" cy="310896"/>
          </a:xfrm>
          <a:prstGeom prst="roundRect">
            <a:avLst>
              <a:gd name="adj" fmla="val 8000"/>
            </a:avLst>
          </a:prstGeom>
          <a:solidFill>
            <a:srgbClr val="EEE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4"/>
          </p:cNvPr>
          <p:cNvSpPr txBox="1"/>
          <p:nvPr/>
        </p:nvSpPr>
        <p:spPr>
          <a:xfrm>
            <a:off x="10030967" y="384048"/>
            <a:ext cx="594360" cy="219456"/>
          </a:xfrm>
          <a:prstGeom prst="rect">
            <a:avLst/>
          </a:prstGeom>
          <a:noFill/>
        </p:spPr>
        <p:txBody>
          <a:bodyPr wrap="square" lIns="0" rIns="0" tIns="0" bIns="0">
            <a:spAutoFit/>
          </a:bodyPr>
          <a:lstStyle/>
          <a:p>
            <a:pPr algn="l">
              <a:lnSpc>
                <a:spcPct val="101000"/>
              </a:lnSpc>
              <a:spcAft>
                <a:spcPts val="300"/>
              </a:spcAft>
              <a:defRPr sz="800" b="1">
                <a:solidFill>
                  <a:srgbClr val="203350"/>
                </a:solidFill>
                <a:latin typeface="DejaVu Sans"/>
              </a:defRPr>
            </a:pPr>
            <a:r>
              <a:t>Calcular</a:t>
            </a:r>
          </a:p>
        </p:txBody>
      </p:sp>
      <p:sp>
        <p:nvSpPr>
          <p:cNvPr id="9" name="Rounded Rectangle 8">
            <a:hlinkClick action="ppaction://hlinksldjump" r:id="rId5"/>
          </p:cNvPr>
          <p:cNvSpPr/>
          <p:nvPr/>
        </p:nvSpPr>
        <p:spPr>
          <a:xfrm>
            <a:off x="10799063" y="301752"/>
            <a:ext cx="813816" cy="310896"/>
          </a:xfrm>
          <a:prstGeom prst="roundRect">
            <a:avLst>
              <a:gd name="adj" fmla="val 8000"/>
            </a:avLst>
          </a:prstGeom>
          <a:solidFill>
            <a:srgbClr val="FFF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5"/>
          </p:cNvPr>
          <p:cNvSpPr txBox="1"/>
          <p:nvPr/>
        </p:nvSpPr>
        <p:spPr>
          <a:xfrm>
            <a:off x="10908791" y="384048"/>
            <a:ext cx="594360" cy="219456"/>
          </a:xfrm>
          <a:prstGeom prst="rect">
            <a:avLst/>
          </a:prstGeom>
          <a:noFill/>
        </p:spPr>
        <p:txBody>
          <a:bodyPr wrap="square" lIns="0" rIns="0" tIns="0" bIns="0">
            <a:spAutoFit/>
          </a:bodyPr>
          <a:lstStyle/>
          <a:p>
            <a:pPr algn="l">
              <a:lnSpc>
                <a:spcPct val="101000"/>
              </a:lnSpc>
              <a:spcAft>
                <a:spcPts val="300"/>
              </a:spcAft>
              <a:defRPr sz="749" b="1">
                <a:solidFill>
                  <a:srgbClr val="203350"/>
                </a:solidFill>
                <a:latin typeface="DejaVu Sans"/>
              </a:defRPr>
            </a:pPr>
            <a:r>
              <a:t>Comprobar</a:t>
            </a:r>
          </a:p>
        </p:txBody>
      </p:sp>
      <p:sp>
        <p:nvSpPr>
          <p:cNvPr id="11" name="TextBox 10"/>
          <p:cNvSpPr txBox="1"/>
          <p:nvPr/>
        </p:nvSpPr>
        <p:spPr>
          <a:xfrm>
            <a:off x="548640" y="886968"/>
            <a:ext cx="11064240" cy="1234440"/>
          </a:xfrm>
          <a:prstGeom prst="rect">
            <a:avLst/>
          </a:prstGeom>
          <a:noFill/>
        </p:spPr>
        <p:txBody>
          <a:bodyPr wrap="square" lIns="0" rIns="0" tIns="0" bIns="0">
            <a:spAutoFit/>
          </a:bodyPr>
          <a:lstStyle/>
          <a:p>
            <a:pPr algn="l">
              <a:lnSpc>
                <a:spcPct val="101000"/>
              </a:lnSpc>
              <a:spcAft>
                <a:spcPts val="300"/>
              </a:spcAft>
              <a:defRPr sz="3900" b="1">
                <a:solidFill>
                  <a:srgbClr val="203350"/>
                </a:solidFill>
                <a:latin typeface="DejaVu Sans"/>
              </a:defRPr>
            </a:pPr>
            <a:r>
              <a:t>Dos litros duplican</a:t>
            </a:r>
          </a:p>
          <a:p>
            <a:pPr algn="l">
              <a:lnSpc>
                <a:spcPct val="101000"/>
              </a:lnSpc>
              <a:spcAft>
                <a:spcPts val="300"/>
              </a:spcAft>
              <a:defRPr sz="3900" b="1">
                <a:solidFill>
                  <a:srgbClr val="203350"/>
                </a:solidFill>
                <a:latin typeface="DejaVu Sans"/>
              </a:defRPr>
            </a:pPr>
            <a:r>
              <a:t>este modelo lineal</a:t>
            </a:r>
          </a:p>
        </p:txBody>
      </p:sp>
      <p:sp>
        <p:nvSpPr>
          <p:cNvPr id="12" name="TextBox 11"/>
          <p:cNvSpPr txBox="1"/>
          <p:nvPr/>
        </p:nvSpPr>
        <p:spPr>
          <a:xfrm>
            <a:off x="548640" y="6446520"/>
            <a:ext cx="9784080" cy="219456"/>
          </a:xfrm>
          <a:prstGeom prst="rect">
            <a:avLst/>
          </a:prstGeom>
          <a:noFill/>
        </p:spPr>
        <p:txBody>
          <a:bodyPr wrap="square" lIns="0" rIns="0" tIns="0" bIns="0">
            <a:spAutoFit/>
          </a:bodyPr>
          <a:lstStyle/>
          <a:p>
            <a:pPr algn="l">
              <a:lnSpc>
                <a:spcPct val="101000"/>
              </a:lnSpc>
              <a:spcAft>
                <a:spcPts val="300"/>
              </a:spcAft>
              <a:defRPr sz="810" b="0">
                <a:solidFill>
                  <a:srgbClr val="5C6E83"/>
                </a:solidFill>
                <a:latin typeface="DejaVu Sans"/>
              </a:defRPr>
            </a:pPr>
            <a:r>
              <a:t>Material de consulta · no añade tiempo al recorrido de 50 minutos</a:t>
            </a:r>
          </a:p>
        </p:txBody>
      </p:sp>
      <p:sp>
        <p:nvSpPr>
          <p:cNvPr id="13" name="Rounded Rectangle 12">
            <a:hlinkClick action="ppaction://hlinksldjump" r:id="rId6"/>
          </p:cNvPr>
          <p:cNvSpPr/>
          <p:nvPr/>
        </p:nvSpPr>
        <p:spPr>
          <a:xfrm>
            <a:off x="10442448" y="6400800"/>
            <a:ext cx="640080" cy="265176"/>
          </a:xfrm>
          <a:prstGeom prst="roundRect">
            <a:avLst>
              <a:gd name="adj" fmla="val 8000"/>
            </a:avLst>
          </a:prstGeom>
          <a:solidFill>
            <a:srgbClr val="EEE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a:hlinkClick action="ppaction://hlinksldjump" r:id="rId6"/>
          </p:cNvPr>
          <p:cNvSpPr txBox="1"/>
          <p:nvPr/>
        </p:nvSpPr>
        <p:spPr>
          <a:xfrm>
            <a:off x="10552176" y="6483096"/>
            <a:ext cx="420623" cy="173735"/>
          </a:xfrm>
          <a:prstGeom prst="rect">
            <a:avLst/>
          </a:prstGeom>
          <a:noFill/>
        </p:spPr>
        <p:txBody>
          <a:bodyPr wrap="square" lIns="0" rIns="0" tIns="0" bIns="0">
            <a:spAutoFit/>
          </a:bodyPr>
          <a:lstStyle/>
          <a:p>
            <a:pPr algn="l">
              <a:lnSpc>
                <a:spcPct val="101000"/>
              </a:lnSpc>
              <a:spcAft>
                <a:spcPts val="300"/>
              </a:spcAft>
              <a:defRPr sz="800" b="1">
                <a:solidFill>
                  <a:srgbClr val="8060BA"/>
                </a:solidFill>
                <a:latin typeface="DejaVu Sans"/>
              </a:defRPr>
            </a:pPr>
            <a:r>
              <a:t>Ruta</a:t>
            </a:r>
          </a:p>
        </p:txBody>
      </p:sp>
      <p:sp>
        <p:nvSpPr>
          <p:cNvPr id="15" name="TextBox 14"/>
          <p:cNvSpPr txBox="1"/>
          <p:nvPr/>
        </p:nvSpPr>
        <p:spPr>
          <a:xfrm>
            <a:off x="11228832" y="6400800"/>
            <a:ext cx="457200" cy="274320"/>
          </a:xfrm>
          <a:prstGeom prst="rect">
            <a:avLst/>
          </a:prstGeom>
          <a:noFill/>
        </p:spPr>
        <p:txBody>
          <a:bodyPr wrap="square" lIns="0" rIns="0" tIns="0" bIns="0">
            <a:spAutoFit/>
          </a:bodyPr>
          <a:lstStyle/>
          <a:p>
            <a:pPr algn="r">
              <a:lnSpc>
                <a:spcPct val="101000"/>
              </a:lnSpc>
              <a:spcAft>
                <a:spcPts val="300"/>
              </a:spcAft>
              <a:defRPr sz="1300" b="1">
                <a:solidFill>
                  <a:srgbClr val="203350"/>
                </a:solidFill>
                <a:latin typeface="DejaVu Sans"/>
              </a:defRPr>
            </a:pPr>
            <a:r>
              <a:t>ANX</a:t>
            </a:r>
          </a:p>
        </p:txBody>
      </p:sp>
      <p:sp>
        <p:nvSpPr>
          <p:cNvPr id="16" name="Rounded Rectangle 15"/>
          <p:cNvSpPr/>
          <p:nvPr/>
        </p:nvSpPr>
        <p:spPr>
          <a:xfrm>
            <a:off x="594360" y="2971800"/>
            <a:ext cx="3081528" cy="731520"/>
          </a:xfrm>
          <a:prstGeom prst="roundRect">
            <a:avLst>
              <a:gd name="adj" fmla="val 8000"/>
            </a:avLst>
          </a:prstGeom>
          <a:solidFill>
            <a:srgbClr val="E0F7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3108960"/>
            <a:ext cx="2834640" cy="566928"/>
          </a:xfrm>
          <a:prstGeom prst="rect">
            <a:avLst/>
          </a:prstGeom>
          <a:noFill/>
        </p:spPr>
        <p:txBody>
          <a:bodyPr wrap="square" lIns="0" rIns="0" tIns="0" bIns="0">
            <a:spAutoFit/>
          </a:bodyPr>
          <a:lstStyle/>
          <a:p>
            <a:pPr algn="l">
              <a:lnSpc>
                <a:spcPct val="101000"/>
              </a:lnSpc>
              <a:spcAft>
                <a:spcPts val="300"/>
              </a:spcAft>
              <a:defRPr sz="1500" b="1">
                <a:solidFill>
                  <a:srgbClr val="203350"/>
                </a:solidFill>
                <a:latin typeface="DejaVu Sans"/>
              </a:defRPr>
            </a:pPr>
            <a:r>
              <a:t>Sistema</a:t>
            </a:r>
          </a:p>
        </p:txBody>
      </p:sp>
      <p:sp>
        <p:nvSpPr>
          <p:cNvPr id="18" name="Rounded Rectangle 17"/>
          <p:cNvSpPr/>
          <p:nvPr/>
        </p:nvSpPr>
        <p:spPr>
          <a:xfrm>
            <a:off x="3703320" y="2971800"/>
            <a:ext cx="3904487" cy="731520"/>
          </a:xfrm>
          <a:prstGeom prst="roundRect">
            <a:avLst>
              <a:gd name="adj" fmla="val 8000"/>
            </a:avLst>
          </a:prstGeom>
          <a:solidFill>
            <a:srgbClr val="E0F7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840480" y="3108960"/>
            <a:ext cx="3657600" cy="566928"/>
          </a:xfrm>
          <a:prstGeom prst="rect">
            <a:avLst/>
          </a:prstGeom>
          <a:noFill/>
        </p:spPr>
        <p:txBody>
          <a:bodyPr wrap="square" lIns="0" rIns="0" tIns="0" bIns="0">
            <a:spAutoFit/>
          </a:bodyPr>
          <a:lstStyle/>
          <a:p>
            <a:pPr algn="l">
              <a:lnSpc>
                <a:spcPct val="101000"/>
              </a:lnSpc>
              <a:spcAft>
                <a:spcPts val="300"/>
              </a:spcAft>
              <a:defRPr sz="1500" b="1">
                <a:solidFill>
                  <a:srgbClr val="203350"/>
                </a:solidFill>
                <a:latin typeface="DejaVu Sans"/>
              </a:defRPr>
            </a:pPr>
            <a:r>
              <a:t>1 L</a:t>
            </a:r>
          </a:p>
        </p:txBody>
      </p:sp>
      <p:sp>
        <p:nvSpPr>
          <p:cNvPr id="20" name="Rounded Rectangle 19"/>
          <p:cNvSpPr/>
          <p:nvPr/>
        </p:nvSpPr>
        <p:spPr>
          <a:xfrm>
            <a:off x="7635240" y="2971800"/>
            <a:ext cx="3904487" cy="731520"/>
          </a:xfrm>
          <a:prstGeom prst="roundRect">
            <a:avLst>
              <a:gd name="adj" fmla="val 8000"/>
            </a:avLst>
          </a:prstGeom>
          <a:solidFill>
            <a:srgbClr val="E0F7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0" y="3108960"/>
            <a:ext cx="3657600" cy="566928"/>
          </a:xfrm>
          <a:prstGeom prst="rect">
            <a:avLst/>
          </a:prstGeom>
          <a:noFill/>
        </p:spPr>
        <p:txBody>
          <a:bodyPr wrap="square" lIns="0" rIns="0" tIns="0" bIns="0">
            <a:spAutoFit/>
          </a:bodyPr>
          <a:lstStyle/>
          <a:p>
            <a:pPr algn="l">
              <a:lnSpc>
                <a:spcPct val="101000"/>
              </a:lnSpc>
              <a:spcAft>
                <a:spcPts val="300"/>
              </a:spcAft>
              <a:defRPr sz="1500" b="1">
                <a:solidFill>
                  <a:srgbClr val="203350"/>
                </a:solidFill>
                <a:latin typeface="DejaVu Sans"/>
              </a:defRPr>
            </a:pPr>
            <a:r>
              <a:t>2 L</a:t>
            </a:r>
          </a:p>
        </p:txBody>
      </p:sp>
      <p:sp>
        <p:nvSpPr>
          <p:cNvPr id="22" name="Rounded Rectangle 21"/>
          <p:cNvSpPr/>
          <p:nvPr/>
        </p:nvSpPr>
        <p:spPr>
          <a:xfrm>
            <a:off x="594360" y="3749039"/>
            <a:ext cx="3081528" cy="73152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3886200"/>
            <a:ext cx="2834640" cy="594360"/>
          </a:xfrm>
          <a:prstGeom prst="rect">
            <a:avLst/>
          </a:prstGeom>
          <a:noFill/>
        </p:spPr>
        <p:txBody>
          <a:bodyPr wrap="square" lIns="0" rIns="0" tIns="0" bIns="0">
            <a:spAutoFit/>
          </a:bodyPr>
          <a:lstStyle/>
          <a:p>
            <a:pPr algn="l">
              <a:lnSpc>
                <a:spcPct val="101000"/>
              </a:lnSpc>
              <a:spcAft>
                <a:spcPts val="300"/>
              </a:spcAft>
              <a:defRPr sz="1500" b="0">
                <a:solidFill>
                  <a:srgbClr val="203350"/>
                </a:solidFill>
                <a:latin typeface="DejaVu Sans"/>
              </a:defRPr>
            </a:pPr>
            <a:r>
              <a:t>Avena</a:t>
            </a:r>
          </a:p>
        </p:txBody>
      </p:sp>
      <p:sp>
        <p:nvSpPr>
          <p:cNvPr id="24" name="Rounded Rectangle 23"/>
          <p:cNvSpPr/>
          <p:nvPr/>
        </p:nvSpPr>
        <p:spPr>
          <a:xfrm>
            <a:off x="3703320" y="3749039"/>
            <a:ext cx="3904487" cy="73152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840480" y="3886200"/>
            <a:ext cx="3657600" cy="594360"/>
          </a:xfrm>
          <a:prstGeom prst="rect">
            <a:avLst/>
          </a:prstGeom>
          <a:noFill/>
        </p:spPr>
        <p:txBody>
          <a:bodyPr wrap="square" lIns="0" rIns="0" tIns="0" bIns="0">
            <a:spAutoFit/>
          </a:bodyPr>
          <a:lstStyle/>
          <a:p>
            <a:pPr algn="l">
              <a:lnSpc>
                <a:spcPct val="101000"/>
              </a:lnSpc>
              <a:spcAft>
                <a:spcPts val="300"/>
              </a:spcAft>
              <a:defRPr sz="1500" b="0">
                <a:solidFill>
                  <a:srgbClr val="203350"/>
                </a:solidFill>
                <a:latin typeface="DejaVu Sans"/>
              </a:defRPr>
            </a:pPr>
            <a:r>
              <a:t>0.24370855</a:t>
            </a:r>
          </a:p>
        </p:txBody>
      </p:sp>
      <p:sp>
        <p:nvSpPr>
          <p:cNvPr id="26" name="Rounded Rectangle 25"/>
          <p:cNvSpPr/>
          <p:nvPr/>
        </p:nvSpPr>
        <p:spPr>
          <a:xfrm>
            <a:off x="7635240" y="3749039"/>
            <a:ext cx="3904487" cy="73152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772400" y="3886200"/>
            <a:ext cx="3657600" cy="594360"/>
          </a:xfrm>
          <a:prstGeom prst="rect">
            <a:avLst/>
          </a:prstGeom>
          <a:noFill/>
        </p:spPr>
        <p:txBody>
          <a:bodyPr wrap="square" lIns="0" rIns="0" tIns="0" bIns="0">
            <a:spAutoFit/>
          </a:bodyPr>
          <a:lstStyle/>
          <a:p>
            <a:pPr algn="l">
              <a:lnSpc>
                <a:spcPct val="101000"/>
              </a:lnSpc>
              <a:spcAft>
                <a:spcPts val="300"/>
              </a:spcAft>
              <a:defRPr sz="1500" b="0">
                <a:solidFill>
                  <a:srgbClr val="203350"/>
                </a:solidFill>
                <a:latin typeface="DejaVu Sans"/>
              </a:defRPr>
            </a:pPr>
            <a:r>
              <a:t>0.48741710</a:t>
            </a:r>
          </a:p>
        </p:txBody>
      </p:sp>
      <p:sp>
        <p:nvSpPr>
          <p:cNvPr id="28" name="Rounded Rectangle 27"/>
          <p:cNvSpPr/>
          <p:nvPr/>
        </p:nvSpPr>
        <p:spPr>
          <a:xfrm>
            <a:off x="594360" y="4526280"/>
            <a:ext cx="3081528" cy="731520"/>
          </a:xfrm>
          <a:prstGeom prst="roundRect">
            <a:avLst>
              <a:gd name="adj" fmla="val 8000"/>
            </a:avLst>
          </a:prstGeom>
          <a:solidFill>
            <a:srgbClr val="ED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31520" y="4663440"/>
            <a:ext cx="2834640" cy="594360"/>
          </a:xfrm>
          <a:prstGeom prst="rect">
            <a:avLst/>
          </a:prstGeom>
          <a:noFill/>
        </p:spPr>
        <p:txBody>
          <a:bodyPr wrap="square" lIns="0" rIns="0" tIns="0" bIns="0">
            <a:spAutoFit/>
          </a:bodyPr>
          <a:lstStyle/>
          <a:p>
            <a:pPr algn="l">
              <a:lnSpc>
                <a:spcPct val="101000"/>
              </a:lnSpc>
              <a:spcAft>
                <a:spcPts val="300"/>
              </a:spcAft>
              <a:defRPr sz="1500" b="0">
                <a:solidFill>
                  <a:srgbClr val="203350"/>
                </a:solidFill>
                <a:latin typeface="DejaVu Sans"/>
              </a:defRPr>
            </a:pPr>
            <a:r>
              <a:t>Leche</a:t>
            </a:r>
          </a:p>
        </p:txBody>
      </p:sp>
      <p:sp>
        <p:nvSpPr>
          <p:cNvPr id="30" name="Rounded Rectangle 29"/>
          <p:cNvSpPr/>
          <p:nvPr/>
        </p:nvSpPr>
        <p:spPr>
          <a:xfrm>
            <a:off x="3703320" y="4526280"/>
            <a:ext cx="3904487" cy="731520"/>
          </a:xfrm>
          <a:prstGeom prst="roundRect">
            <a:avLst>
              <a:gd name="adj" fmla="val 8000"/>
            </a:avLst>
          </a:prstGeom>
          <a:solidFill>
            <a:srgbClr val="ED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840480" y="4663440"/>
            <a:ext cx="3657600" cy="594360"/>
          </a:xfrm>
          <a:prstGeom prst="rect">
            <a:avLst/>
          </a:prstGeom>
          <a:noFill/>
        </p:spPr>
        <p:txBody>
          <a:bodyPr wrap="square" lIns="0" rIns="0" tIns="0" bIns="0">
            <a:spAutoFit/>
          </a:bodyPr>
          <a:lstStyle/>
          <a:p>
            <a:pPr algn="l">
              <a:lnSpc>
                <a:spcPct val="101000"/>
              </a:lnSpc>
              <a:spcAft>
                <a:spcPts val="300"/>
              </a:spcAft>
              <a:defRPr sz="1500" b="0">
                <a:solidFill>
                  <a:srgbClr val="203350"/>
                </a:solidFill>
                <a:latin typeface="DejaVu Sans"/>
              </a:defRPr>
            </a:pPr>
            <a:r>
              <a:t>1.89628875</a:t>
            </a:r>
          </a:p>
        </p:txBody>
      </p:sp>
      <p:sp>
        <p:nvSpPr>
          <p:cNvPr id="32" name="Rounded Rectangle 31"/>
          <p:cNvSpPr/>
          <p:nvPr/>
        </p:nvSpPr>
        <p:spPr>
          <a:xfrm>
            <a:off x="7635240" y="4526280"/>
            <a:ext cx="3904487" cy="731520"/>
          </a:xfrm>
          <a:prstGeom prst="roundRect">
            <a:avLst>
              <a:gd name="adj" fmla="val 8000"/>
            </a:avLst>
          </a:prstGeom>
          <a:solidFill>
            <a:srgbClr val="ED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772400" y="4663440"/>
            <a:ext cx="3657600" cy="594360"/>
          </a:xfrm>
          <a:prstGeom prst="rect">
            <a:avLst/>
          </a:prstGeom>
          <a:noFill/>
        </p:spPr>
        <p:txBody>
          <a:bodyPr wrap="square" lIns="0" rIns="0" tIns="0" bIns="0">
            <a:spAutoFit/>
          </a:bodyPr>
          <a:lstStyle/>
          <a:p>
            <a:pPr algn="l">
              <a:lnSpc>
                <a:spcPct val="101000"/>
              </a:lnSpc>
              <a:spcAft>
                <a:spcPts val="300"/>
              </a:spcAft>
              <a:defRPr sz="1500" b="0">
                <a:solidFill>
                  <a:srgbClr val="203350"/>
                </a:solidFill>
                <a:latin typeface="DejaVu Sans"/>
              </a:defRPr>
            </a:pPr>
            <a:r>
              <a:t>3.79257750</a:t>
            </a:r>
          </a:p>
        </p:txBody>
      </p:sp>
      <p:sp>
        <p:nvSpPr>
          <p:cNvPr id="34" name="Rounded Rectangle 33">
            <a:hlinkClick action="ppaction://hlinksldjump" r:id="rId7"/>
          </p:cNvPr>
          <p:cNvSpPr/>
          <p:nvPr/>
        </p:nvSpPr>
        <p:spPr>
          <a:xfrm>
            <a:off x="777240" y="5715000"/>
            <a:ext cx="2834640" cy="438912"/>
          </a:xfrm>
          <a:prstGeom prst="roundRect">
            <a:avLst>
              <a:gd name="adj" fmla="val 8000"/>
            </a:avLst>
          </a:prstGeom>
          <a:solidFill>
            <a:srgbClr val="EEE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a:hlinkClick action="ppaction://hlinksldjump" r:id="rId7"/>
          </p:cNvPr>
          <p:cNvSpPr txBox="1"/>
          <p:nvPr/>
        </p:nvSpPr>
        <p:spPr>
          <a:xfrm>
            <a:off x="886968" y="5797296"/>
            <a:ext cx="2615184" cy="347472"/>
          </a:xfrm>
          <a:prstGeom prst="rect">
            <a:avLst/>
          </a:prstGeom>
          <a:noFill/>
        </p:spPr>
        <p:txBody>
          <a:bodyPr wrap="square" lIns="0" rIns="0" tIns="0" bIns="0">
            <a:spAutoFit/>
          </a:bodyPr>
          <a:lstStyle/>
          <a:p>
            <a:pPr algn="l">
              <a:lnSpc>
                <a:spcPct val="101000"/>
              </a:lnSpc>
              <a:spcAft>
                <a:spcPts val="300"/>
              </a:spcAft>
              <a:defRPr sz="1200" b="1">
                <a:solidFill>
                  <a:srgbClr val="203350"/>
                </a:solidFill>
                <a:latin typeface="DejaVu Sans"/>
              </a:defRPr>
            </a:pPr>
            <a:r>
              <a:t>Volver al escalado</a:t>
            </a:r>
          </a:p>
        </p:txBody>
      </p:sp>
      <p:sp>
        <p:nvSpPr>
          <p:cNvPr id="36" name="Rounded Rectangle 35">
            <a:hlinkClick action="ppaction://hlinksldjump" r:id="rId8"/>
          </p:cNvPr>
          <p:cNvSpPr/>
          <p:nvPr/>
        </p:nvSpPr>
        <p:spPr>
          <a:xfrm>
            <a:off x="3913632" y="5715000"/>
            <a:ext cx="3200400" cy="438912"/>
          </a:xfrm>
          <a:prstGeom prst="roundRect">
            <a:avLst>
              <a:gd name="adj" fmla="val 8000"/>
            </a:avLst>
          </a:prstGeom>
          <a:solidFill>
            <a:srgbClr val="806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a:hlinkClick action="ppaction://hlinksldjump" r:id="rId8"/>
          </p:cNvPr>
          <p:cNvSpPr txBox="1"/>
          <p:nvPr/>
        </p:nvSpPr>
        <p:spPr>
          <a:xfrm>
            <a:off x="4023360" y="5797296"/>
            <a:ext cx="2980944" cy="347472"/>
          </a:xfrm>
          <a:prstGeom prst="rect">
            <a:avLst/>
          </a:prstGeom>
          <a:noFill/>
        </p:spPr>
        <p:txBody>
          <a:bodyPr wrap="square" lIns="0" rIns="0" tIns="0" bIns="0">
            <a:spAutoFit/>
          </a:bodyPr>
          <a:lstStyle/>
          <a:p>
            <a:pPr algn="l">
              <a:lnSpc>
                <a:spcPct val="101000"/>
              </a:lnSpc>
              <a:spcAft>
                <a:spcPts val="300"/>
              </a:spcAft>
              <a:defRPr sz="1200" b="1">
                <a:solidFill>
                  <a:srgbClr val="FFFFFF"/>
                </a:solidFill>
                <a:latin typeface="DejaVu Sans"/>
              </a:defRPr>
            </a:pPr>
            <a:r>
              <a:t>Continuar →</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9FBFF"/>
        </a:solidFill>
        <a:effectLst/>
      </p:bgPr>
    </p:bg>
    <p:spTree>
      <p:nvGrpSpPr>
        <p:cNvPr id="1" name=""/>
        <p:cNvGrpSpPr/>
        <p:nvPr/>
      </p:nvGrpSpPr>
      <p:grpSpPr/>
      <p:sp>
        <p:nvSpPr>
          <p:cNvPr id="2" name="TextBox 1"/>
          <p:cNvSpPr txBox="1"/>
          <p:nvPr/>
        </p:nvSpPr>
        <p:spPr>
          <a:xfrm>
            <a:off x="548640" y="365760"/>
            <a:ext cx="7223760" cy="228600"/>
          </a:xfrm>
          <a:prstGeom prst="rect">
            <a:avLst/>
          </a:prstGeom>
          <a:noFill/>
        </p:spPr>
        <p:txBody>
          <a:bodyPr wrap="square" lIns="0" rIns="0" tIns="0" bIns="0">
            <a:spAutoFit/>
          </a:bodyPr>
          <a:lstStyle/>
          <a:p>
            <a:pPr algn="l">
              <a:lnSpc>
                <a:spcPct val="101000"/>
              </a:lnSpc>
              <a:spcAft>
                <a:spcPts val="300"/>
              </a:spcAft>
              <a:defRPr sz="930" b="1">
                <a:solidFill>
                  <a:srgbClr val="137F7D"/>
                </a:solidFill>
                <a:latin typeface="DejaVu Sans"/>
              </a:defRPr>
            </a:pPr>
            <a:r>
              <a:t>ANEXO · CONSULTA</a:t>
            </a:r>
          </a:p>
        </p:txBody>
      </p:sp>
      <p:sp>
        <p:nvSpPr>
          <p:cNvPr id="3" name="Rounded Rectangle 2">
            <a:hlinkClick action="ppaction://hlinksldjump" r:id="rId2"/>
          </p:cNvPr>
          <p:cNvSpPr/>
          <p:nvPr/>
        </p:nvSpPr>
        <p:spPr>
          <a:xfrm>
            <a:off x="8165592" y="301752"/>
            <a:ext cx="813816" cy="310896"/>
          </a:xfrm>
          <a:prstGeom prst="roundRect">
            <a:avLst>
              <a:gd name="adj" fmla="val 8000"/>
            </a:avLst>
          </a:prstGeom>
          <a:solidFill>
            <a:srgbClr val="E0F7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2"/>
          </p:cNvPr>
          <p:cNvSpPr txBox="1"/>
          <p:nvPr/>
        </p:nvSpPr>
        <p:spPr>
          <a:xfrm>
            <a:off x="8275319" y="384048"/>
            <a:ext cx="594360" cy="219456"/>
          </a:xfrm>
          <a:prstGeom prst="rect">
            <a:avLst/>
          </a:prstGeom>
          <a:noFill/>
        </p:spPr>
        <p:txBody>
          <a:bodyPr wrap="square" lIns="0" rIns="0" tIns="0" bIns="0">
            <a:spAutoFit/>
          </a:bodyPr>
          <a:lstStyle/>
          <a:p>
            <a:pPr algn="l">
              <a:lnSpc>
                <a:spcPct val="101000"/>
              </a:lnSpc>
              <a:spcAft>
                <a:spcPts val="300"/>
              </a:spcAft>
              <a:defRPr sz="800" b="1">
                <a:solidFill>
                  <a:srgbClr val="203350"/>
                </a:solidFill>
                <a:latin typeface="DejaVu Sans"/>
              </a:defRPr>
            </a:pPr>
            <a:r>
              <a:t>Preparar</a:t>
            </a:r>
          </a:p>
        </p:txBody>
      </p:sp>
      <p:sp>
        <p:nvSpPr>
          <p:cNvPr id="5" name="Rounded Rectangle 4">
            <a:hlinkClick action="ppaction://hlinksldjump" r:id="rId3"/>
          </p:cNvPr>
          <p:cNvSpPr/>
          <p:nvPr/>
        </p:nvSpPr>
        <p:spPr>
          <a:xfrm>
            <a:off x="9043416" y="301752"/>
            <a:ext cx="813816" cy="310896"/>
          </a:xfrm>
          <a:prstGeom prst="roundRect">
            <a:avLst>
              <a:gd name="adj" fmla="val 8000"/>
            </a:avLst>
          </a:prstGeom>
          <a:solidFill>
            <a:srgbClr val="E2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3"/>
          </p:cNvPr>
          <p:cNvSpPr txBox="1"/>
          <p:nvPr/>
        </p:nvSpPr>
        <p:spPr>
          <a:xfrm>
            <a:off x="9153144" y="384048"/>
            <a:ext cx="594360" cy="219456"/>
          </a:xfrm>
          <a:prstGeom prst="rect">
            <a:avLst/>
          </a:prstGeom>
          <a:noFill/>
        </p:spPr>
        <p:txBody>
          <a:bodyPr wrap="square" lIns="0" rIns="0" tIns="0" bIns="0">
            <a:spAutoFit/>
          </a:bodyPr>
          <a:lstStyle/>
          <a:p>
            <a:pPr algn="l">
              <a:lnSpc>
                <a:spcPct val="101000"/>
              </a:lnSpc>
              <a:spcAft>
                <a:spcPts val="300"/>
              </a:spcAft>
              <a:defRPr sz="800" b="1">
                <a:solidFill>
                  <a:srgbClr val="203350"/>
                </a:solidFill>
                <a:latin typeface="DejaVu Sans"/>
              </a:defRPr>
            </a:pPr>
            <a:r>
              <a:t>Importar</a:t>
            </a:r>
          </a:p>
        </p:txBody>
      </p:sp>
      <p:sp>
        <p:nvSpPr>
          <p:cNvPr id="7" name="Rounded Rectangle 6">
            <a:hlinkClick action="ppaction://hlinksldjump" r:id="rId4"/>
          </p:cNvPr>
          <p:cNvSpPr/>
          <p:nvPr/>
        </p:nvSpPr>
        <p:spPr>
          <a:xfrm>
            <a:off x="9921240" y="301752"/>
            <a:ext cx="813816" cy="310896"/>
          </a:xfrm>
          <a:prstGeom prst="roundRect">
            <a:avLst>
              <a:gd name="adj" fmla="val 8000"/>
            </a:avLst>
          </a:prstGeom>
          <a:solidFill>
            <a:srgbClr val="EEE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4"/>
          </p:cNvPr>
          <p:cNvSpPr txBox="1"/>
          <p:nvPr/>
        </p:nvSpPr>
        <p:spPr>
          <a:xfrm>
            <a:off x="10030967" y="384048"/>
            <a:ext cx="594360" cy="219456"/>
          </a:xfrm>
          <a:prstGeom prst="rect">
            <a:avLst/>
          </a:prstGeom>
          <a:noFill/>
        </p:spPr>
        <p:txBody>
          <a:bodyPr wrap="square" lIns="0" rIns="0" tIns="0" bIns="0">
            <a:spAutoFit/>
          </a:bodyPr>
          <a:lstStyle/>
          <a:p>
            <a:pPr algn="l">
              <a:lnSpc>
                <a:spcPct val="101000"/>
              </a:lnSpc>
              <a:spcAft>
                <a:spcPts val="300"/>
              </a:spcAft>
              <a:defRPr sz="800" b="1">
                <a:solidFill>
                  <a:srgbClr val="203350"/>
                </a:solidFill>
                <a:latin typeface="DejaVu Sans"/>
              </a:defRPr>
            </a:pPr>
            <a:r>
              <a:t>Calcular</a:t>
            </a:r>
          </a:p>
        </p:txBody>
      </p:sp>
      <p:sp>
        <p:nvSpPr>
          <p:cNvPr id="9" name="Rounded Rectangle 8">
            <a:hlinkClick action="ppaction://hlinksldjump" r:id="rId5"/>
          </p:cNvPr>
          <p:cNvSpPr/>
          <p:nvPr/>
        </p:nvSpPr>
        <p:spPr>
          <a:xfrm>
            <a:off x="10799063" y="301752"/>
            <a:ext cx="813816" cy="310896"/>
          </a:xfrm>
          <a:prstGeom prst="roundRect">
            <a:avLst>
              <a:gd name="adj" fmla="val 8000"/>
            </a:avLst>
          </a:prstGeom>
          <a:solidFill>
            <a:srgbClr val="FFF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5"/>
          </p:cNvPr>
          <p:cNvSpPr txBox="1"/>
          <p:nvPr/>
        </p:nvSpPr>
        <p:spPr>
          <a:xfrm>
            <a:off x="10908791" y="384048"/>
            <a:ext cx="594360" cy="219456"/>
          </a:xfrm>
          <a:prstGeom prst="rect">
            <a:avLst/>
          </a:prstGeom>
          <a:noFill/>
        </p:spPr>
        <p:txBody>
          <a:bodyPr wrap="square" lIns="0" rIns="0" tIns="0" bIns="0">
            <a:spAutoFit/>
          </a:bodyPr>
          <a:lstStyle/>
          <a:p>
            <a:pPr algn="l">
              <a:lnSpc>
                <a:spcPct val="101000"/>
              </a:lnSpc>
              <a:spcAft>
                <a:spcPts val="300"/>
              </a:spcAft>
              <a:defRPr sz="749" b="1">
                <a:solidFill>
                  <a:srgbClr val="203350"/>
                </a:solidFill>
                <a:latin typeface="DejaVu Sans"/>
              </a:defRPr>
            </a:pPr>
            <a:r>
              <a:t>Comprobar</a:t>
            </a:r>
          </a:p>
        </p:txBody>
      </p:sp>
      <p:sp>
        <p:nvSpPr>
          <p:cNvPr id="11" name="TextBox 10"/>
          <p:cNvSpPr txBox="1"/>
          <p:nvPr/>
        </p:nvSpPr>
        <p:spPr>
          <a:xfrm>
            <a:off x="548640" y="886968"/>
            <a:ext cx="11064240" cy="1234440"/>
          </a:xfrm>
          <a:prstGeom prst="rect">
            <a:avLst/>
          </a:prstGeom>
          <a:noFill/>
        </p:spPr>
        <p:txBody>
          <a:bodyPr wrap="square" lIns="0" rIns="0" tIns="0" bIns="0">
            <a:spAutoFit/>
          </a:bodyPr>
          <a:lstStyle/>
          <a:p>
            <a:pPr algn="l">
              <a:lnSpc>
                <a:spcPct val="101000"/>
              </a:lnSpc>
              <a:spcAft>
                <a:spcPts val="300"/>
              </a:spcAft>
              <a:defRPr sz="3900" b="1">
                <a:solidFill>
                  <a:srgbClr val="203350"/>
                </a:solidFill>
                <a:latin typeface="DejaVu Sans"/>
              </a:defRPr>
            </a:pPr>
            <a:r>
              <a:t>Un cambio de CH₄</a:t>
            </a:r>
          </a:p>
          <a:p>
            <a:pPr algn="l">
              <a:lnSpc>
                <a:spcPct val="101000"/>
              </a:lnSpc>
              <a:spcAft>
                <a:spcPts val="300"/>
              </a:spcAft>
              <a:defRPr sz="3900" b="1">
                <a:solidFill>
                  <a:srgbClr val="203350"/>
                </a:solidFill>
                <a:latin typeface="DejaVu Sans"/>
              </a:defRPr>
            </a:pPr>
            <a:r>
              <a:t>no cambia todo el inventario</a:t>
            </a:r>
          </a:p>
        </p:txBody>
      </p:sp>
      <p:sp>
        <p:nvSpPr>
          <p:cNvPr id="12" name="TextBox 11"/>
          <p:cNvSpPr txBox="1"/>
          <p:nvPr/>
        </p:nvSpPr>
        <p:spPr>
          <a:xfrm>
            <a:off x="548640" y="6446520"/>
            <a:ext cx="9784080" cy="219456"/>
          </a:xfrm>
          <a:prstGeom prst="rect">
            <a:avLst/>
          </a:prstGeom>
          <a:noFill/>
        </p:spPr>
        <p:txBody>
          <a:bodyPr wrap="square" lIns="0" rIns="0" tIns="0" bIns="0">
            <a:spAutoFit/>
          </a:bodyPr>
          <a:lstStyle/>
          <a:p>
            <a:pPr algn="l">
              <a:lnSpc>
                <a:spcPct val="101000"/>
              </a:lnSpc>
              <a:spcAft>
                <a:spcPts val="300"/>
              </a:spcAft>
              <a:defRPr sz="810" b="0">
                <a:solidFill>
                  <a:srgbClr val="5C6E83"/>
                </a:solidFill>
                <a:latin typeface="DejaVu Sans"/>
              </a:defRPr>
            </a:pPr>
            <a:r>
              <a:t>Material de consulta · no añade tiempo al recorrido de 50 minutos</a:t>
            </a:r>
          </a:p>
        </p:txBody>
      </p:sp>
      <p:sp>
        <p:nvSpPr>
          <p:cNvPr id="13" name="Rounded Rectangle 12">
            <a:hlinkClick action="ppaction://hlinksldjump" r:id="rId6"/>
          </p:cNvPr>
          <p:cNvSpPr/>
          <p:nvPr/>
        </p:nvSpPr>
        <p:spPr>
          <a:xfrm>
            <a:off x="10442448" y="6400800"/>
            <a:ext cx="640080" cy="265176"/>
          </a:xfrm>
          <a:prstGeom prst="roundRect">
            <a:avLst>
              <a:gd name="adj" fmla="val 8000"/>
            </a:avLst>
          </a:prstGeom>
          <a:solidFill>
            <a:srgbClr val="EEE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a:hlinkClick action="ppaction://hlinksldjump" r:id="rId6"/>
          </p:cNvPr>
          <p:cNvSpPr txBox="1"/>
          <p:nvPr/>
        </p:nvSpPr>
        <p:spPr>
          <a:xfrm>
            <a:off x="10552176" y="6483096"/>
            <a:ext cx="420623" cy="173735"/>
          </a:xfrm>
          <a:prstGeom prst="rect">
            <a:avLst/>
          </a:prstGeom>
          <a:noFill/>
        </p:spPr>
        <p:txBody>
          <a:bodyPr wrap="square" lIns="0" rIns="0" tIns="0" bIns="0">
            <a:spAutoFit/>
          </a:bodyPr>
          <a:lstStyle/>
          <a:p>
            <a:pPr algn="l">
              <a:lnSpc>
                <a:spcPct val="101000"/>
              </a:lnSpc>
              <a:spcAft>
                <a:spcPts val="300"/>
              </a:spcAft>
              <a:defRPr sz="800" b="1">
                <a:solidFill>
                  <a:srgbClr val="8060BA"/>
                </a:solidFill>
                <a:latin typeface="DejaVu Sans"/>
              </a:defRPr>
            </a:pPr>
            <a:r>
              <a:t>Ruta</a:t>
            </a:r>
          </a:p>
        </p:txBody>
      </p:sp>
      <p:sp>
        <p:nvSpPr>
          <p:cNvPr id="15" name="TextBox 14"/>
          <p:cNvSpPr txBox="1"/>
          <p:nvPr/>
        </p:nvSpPr>
        <p:spPr>
          <a:xfrm>
            <a:off x="11228832" y="6400800"/>
            <a:ext cx="457200" cy="274320"/>
          </a:xfrm>
          <a:prstGeom prst="rect">
            <a:avLst/>
          </a:prstGeom>
          <a:noFill/>
        </p:spPr>
        <p:txBody>
          <a:bodyPr wrap="square" lIns="0" rIns="0" tIns="0" bIns="0">
            <a:spAutoFit/>
          </a:bodyPr>
          <a:lstStyle/>
          <a:p>
            <a:pPr algn="r">
              <a:lnSpc>
                <a:spcPct val="101000"/>
              </a:lnSpc>
              <a:spcAft>
                <a:spcPts val="300"/>
              </a:spcAft>
              <a:defRPr sz="1300" b="1">
                <a:solidFill>
                  <a:srgbClr val="203350"/>
                </a:solidFill>
                <a:latin typeface="DejaVu Sans"/>
              </a:defRPr>
            </a:pPr>
            <a:r>
              <a:t>ANX</a:t>
            </a:r>
          </a:p>
        </p:txBody>
      </p:sp>
      <p:sp>
        <p:nvSpPr>
          <p:cNvPr id="16" name="Rounded Rectangle 15"/>
          <p:cNvSpPr/>
          <p:nvPr/>
        </p:nvSpPr>
        <p:spPr>
          <a:xfrm>
            <a:off x="594360" y="2743200"/>
            <a:ext cx="5458968" cy="530352"/>
          </a:xfrm>
          <a:prstGeom prst="roundRect">
            <a:avLst>
              <a:gd name="adj" fmla="val 8000"/>
            </a:avLst>
          </a:prstGeom>
          <a:solidFill>
            <a:srgbClr val="E0F7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2880360"/>
            <a:ext cx="5212080" cy="365759"/>
          </a:xfrm>
          <a:prstGeom prst="rect">
            <a:avLst/>
          </a:prstGeom>
          <a:noFill/>
        </p:spPr>
        <p:txBody>
          <a:bodyPr wrap="square" lIns="0" rIns="0" tIns="0" bIns="0">
            <a:spAutoFit/>
          </a:bodyPr>
          <a:lstStyle/>
          <a:p>
            <a:pPr algn="l">
              <a:lnSpc>
                <a:spcPct val="101000"/>
              </a:lnSpc>
              <a:spcAft>
                <a:spcPts val="300"/>
              </a:spcAft>
              <a:defRPr sz="1500" b="1">
                <a:solidFill>
                  <a:srgbClr val="203350"/>
                </a:solidFill>
                <a:latin typeface="DejaVu Sans"/>
              </a:defRPr>
            </a:pPr>
            <a:r>
              <a:t>Control</a:t>
            </a:r>
          </a:p>
        </p:txBody>
      </p:sp>
      <p:sp>
        <p:nvSpPr>
          <p:cNvPr id="18" name="Rounded Rectangle 17"/>
          <p:cNvSpPr/>
          <p:nvPr/>
        </p:nvSpPr>
        <p:spPr>
          <a:xfrm>
            <a:off x="6080760" y="2743200"/>
            <a:ext cx="5458968" cy="530352"/>
          </a:xfrm>
          <a:prstGeom prst="roundRect">
            <a:avLst>
              <a:gd name="adj" fmla="val 8000"/>
            </a:avLst>
          </a:prstGeom>
          <a:solidFill>
            <a:srgbClr val="E0F7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2880360"/>
            <a:ext cx="5212080" cy="365759"/>
          </a:xfrm>
          <a:prstGeom prst="rect">
            <a:avLst/>
          </a:prstGeom>
          <a:noFill/>
        </p:spPr>
        <p:txBody>
          <a:bodyPr wrap="square" lIns="0" rIns="0" tIns="0" bIns="0">
            <a:spAutoFit/>
          </a:bodyPr>
          <a:lstStyle/>
          <a:p>
            <a:pPr algn="l">
              <a:lnSpc>
                <a:spcPct val="101000"/>
              </a:lnSpc>
              <a:spcAft>
                <a:spcPts val="300"/>
              </a:spcAft>
              <a:defRPr sz="1500" b="1">
                <a:solidFill>
                  <a:srgbClr val="203350"/>
                </a:solidFill>
                <a:latin typeface="DejaVu Sans"/>
              </a:defRPr>
            </a:pPr>
            <a:r>
              <a:t>Valor esperado</a:t>
            </a:r>
          </a:p>
        </p:txBody>
      </p:sp>
      <p:sp>
        <p:nvSpPr>
          <p:cNvPr id="20" name="Rounded Rectangle 19"/>
          <p:cNvSpPr/>
          <p:nvPr/>
        </p:nvSpPr>
        <p:spPr>
          <a:xfrm>
            <a:off x="594360" y="3319272"/>
            <a:ext cx="5458968" cy="530352"/>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456432"/>
            <a:ext cx="5212080" cy="393191"/>
          </a:xfrm>
          <a:prstGeom prst="rect">
            <a:avLst/>
          </a:prstGeom>
          <a:noFill/>
        </p:spPr>
        <p:txBody>
          <a:bodyPr wrap="square" lIns="0" rIns="0" tIns="0" bIns="0">
            <a:spAutoFit/>
          </a:bodyPr>
          <a:lstStyle/>
          <a:p>
            <a:pPr algn="l">
              <a:lnSpc>
                <a:spcPct val="101000"/>
              </a:lnSpc>
              <a:spcAft>
                <a:spcPts val="300"/>
              </a:spcAft>
              <a:defRPr sz="1500" b="0">
                <a:solidFill>
                  <a:srgbClr val="203350"/>
                </a:solidFill>
                <a:latin typeface="DejaVu Sans"/>
              </a:defRPr>
            </a:pPr>
            <a:r>
              <a:t>ch4_ent: 0.05 → 0.04</a:t>
            </a:r>
          </a:p>
        </p:txBody>
      </p:sp>
      <p:sp>
        <p:nvSpPr>
          <p:cNvPr id="22" name="Rounded Rectangle 21"/>
          <p:cNvSpPr/>
          <p:nvPr/>
        </p:nvSpPr>
        <p:spPr>
          <a:xfrm>
            <a:off x="6080760" y="3319272"/>
            <a:ext cx="5458968" cy="530352"/>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17920" y="3456432"/>
            <a:ext cx="5212080" cy="393191"/>
          </a:xfrm>
          <a:prstGeom prst="rect">
            <a:avLst/>
          </a:prstGeom>
          <a:noFill/>
        </p:spPr>
        <p:txBody>
          <a:bodyPr wrap="square" lIns="0" rIns="0" tIns="0" bIns="0">
            <a:spAutoFit/>
          </a:bodyPr>
          <a:lstStyle/>
          <a:p>
            <a:pPr algn="l">
              <a:lnSpc>
                <a:spcPct val="101000"/>
              </a:lnSpc>
              <a:spcAft>
                <a:spcPts val="300"/>
              </a:spcAft>
              <a:defRPr sz="1500" b="0">
                <a:solidFill>
                  <a:srgbClr val="203350"/>
                </a:solidFill>
                <a:latin typeface="DejaVu Sans"/>
              </a:defRPr>
            </a:pPr>
            <a:r>
              <a:t>−20 % en el CH₄ directo</a:t>
            </a:r>
          </a:p>
        </p:txBody>
      </p:sp>
      <p:sp>
        <p:nvSpPr>
          <p:cNvPr id="24" name="Rounded Rectangle 23"/>
          <p:cNvSpPr/>
          <p:nvPr/>
        </p:nvSpPr>
        <p:spPr>
          <a:xfrm>
            <a:off x="594360" y="3895344"/>
            <a:ext cx="5458968" cy="530352"/>
          </a:xfrm>
          <a:prstGeom prst="roundRect">
            <a:avLst>
              <a:gd name="adj" fmla="val 8000"/>
            </a:avLst>
          </a:prstGeom>
          <a:solidFill>
            <a:srgbClr val="ED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1520" y="4032504"/>
            <a:ext cx="5212080" cy="393191"/>
          </a:xfrm>
          <a:prstGeom prst="rect">
            <a:avLst/>
          </a:prstGeom>
          <a:noFill/>
        </p:spPr>
        <p:txBody>
          <a:bodyPr wrap="square" lIns="0" rIns="0" tIns="0" bIns="0">
            <a:spAutoFit/>
          </a:bodyPr>
          <a:lstStyle/>
          <a:p>
            <a:pPr algn="l">
              <a:lnSpc>
                <a:spcPct val="101000"/>
              </a:lnSpc>
              <a:spcAft>
                <a:spcPts val="300"/>
              </a:spcAft>
              <a:defRPr sz="1500" b="0">
                <a:solidFill>
                  <a:srgbClr val="203350"/>
                </a:solidFill>
                <a:latin typeface="DejaVu Sans"/>
              </a:defRPr>
            </a:pPr>
            <a:r>
              <a:t>GWP100 del sistema de leche</a:t>
            </a:r>
          </a:p>
        </p:txBody>
      </p:sp>
      <p:sp>
        <p:nvSpPr>
          <p:cNvPr id="26" name="Rounded Rectangle 25"/>
          <p:cNvSpPr/>
          <p:nvPr/>
        </p:nvSpPr>
        <p:spPr>
          <a:xfrm>
            <a:off x="6080760" y="3895344"/>
            <a:ext cx="5458968" cy="530352"/>
          </a:xfrm>
          <a:prstGeom prst="roundRect">
            <a:avLst>
              <a:gd name="adj" fmla="val 8000"/>
            </a:avLst>
          </a:prstGeom>
          <a:solidFill>
            <a:srgbClr val="ED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17920" y="4032504"/>
            <a:ext cx="5212080" cy="393191"/>
          </a:xfrm>
          <a:prstGeom prst="rect">
            <a:avLst/>
          </a:prstGeom>
          <a:noFill/>
        </p:spPr>
        <p:txBody>
          <a:bodyPr wrap="square" lIns="0" rIns="0" tIns="0" bIns="0">
            <a:spAutoFit/>
          </a:bodyPr>
          <a:lstStyle/>
          <a:p>
            <a:pPr algn="l">
              <a:lnSpc>
                <a:spcPct val="101000"/>
              </a:lnSpc>
              <a:spcAft>
                <a:spcPts val="300"/>
              </a:spcAft>
              <a:defRPr sz="1500" b="0">
                <a:solidFill>
                  <a:srgbClr val="203350"/>
                </a:solidFill>
                <a:latin typeface="DejaVu Sans"/>
              </a:defRPr>
            </a:pPr>
            <a:r>
              <a:t>1.61628875 kg CO₂ eq/L</a:t>
            </a:r>
          </a:p>
        </p:txBody>
      </p:sp>
      <p:sp>
        <p:nvSpPr>
          <p:cNvPr id="28" name="Rounded Rectangle 27"/>
          <p:cNvSpPr/>
          <p:nvPr/>
        </p:nvSpPr>
        <p:spPr>
          <a:xfrm>
            <a:off x="594360" y="4471416"/>
            <a:ext cx="5458968" cy="530352"/>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31520" y="4608576"/>
            <a:ext cx="5212080" cy="393191"/>
          </a:xfrm>
          <a:prstGeom prst="rect">
            <a:avLst/>
          </a:prstGeom>
          <a:noFill/>
        </p:spPr>
        <p:txBody>
          <a:bodyPr wrap="square" lIns="0" rIns="0" tIns="0" bIns="0">
            <a:spAutoFit/>
          </a:bodyPr>
          <a:lstStyle/>
          <a:p>
            <a:pPr algn="l">
              <a:lnSpc>
                <a:spcPct val="101000"/>
              </a:lnSpc>
              <a:spcAft>
                <a:spcPts val="300"/>
              </a:spcAft>
              <a:defRPr sz="1500" b="0">
                <a:solidFill>
                  <a:srgbClr val="203350"/>
                </a:solidFill>
                <a:latin typeface="DejaVu Sans"/>
              </a:defRPr>
            </a:pPr>
            <a:r>
              <a:t>Diferencia frente a la base</a:t>
            </a:r>
          </a:p>
        </p:txBody>
      </p:sp>
      <p:sp>
        <p:nvSpPr>
          <p:cNvPr id="30" name="Rounded Rectangle 29"/>
          <p:cNvSpPr/>
          <p:nvPr/>
        </p:nvSpPr>
        <p:spPr>
          <a:xfrm>
            <a:off x="6080760" y="4471416"/>
            <a:ext cx="5458968" cy="530352"/>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217920" y="4608576"/>
            <a:ext cx="5212080" cy="393191"/>
          </a:xfrm>
          <a:prstGeom prst="rect">
            <a:avLst/>
          </a:prstGeom>
          <a:noFill/>
        </p:spPr>
        <p:txBody>
          <a:bodyPr wrap="square" lIns="0" rIns="0" tIns="0" bIns="0">
            <a:spAutoFit/>
          </a:bodyPr>
          <a:lstStyle/>
          <a:p>
            <a:pPr algn="l">
              <a:lnSpc>
                <a:spcPct val="101000"/>
              </a:lnSpc>
              <a:spcAft>
                <a:spcPts val="300"/>
              </a:spcAft>
              <a:defRPr sz="1500" b="0">
                <a:solidFill>
                  <a:srgbClr val="203350"/>
                </a:solidFill>
                <a:latin typeface="DejaVu Sans"/>
              </a:defRPr>
            </a:pPr>
            <a:r>
              <a:t>−0.28 kg CO₂ eq/L</a:t>
            </a:r>
          </a:p>
        </p:txBody>
      </p:sp>
      <p:sp>
        <p:nvSpPr>
          <p:cNvPr id="32" name="Rounded Rectangle 31"/>
          <p:cNvSpPr/>
          <p:nvPr/>
        </p:nvSpPr>
        <p:spPr>
          <a:xfrm>
            <a:off x="594360" y="5047488"/>
            <a:ext cx="5458968" cy="530352"/>
          </a:xfrm>
          <a:prstGeom prst="roundRect">
            <a:avLst>
              <a:gd name="adj" fmla="val 8000"/>
            </a:avLst>
          </a:prstGeom>
          <a:solidFill>
            <a:srgbClr val="ED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5184648"/>
            <a:ext cx="5212080" cy="393191"/>
          </a:xfrm>
          <a:prstGeom prst="rect">
            <a:avLst/>
          </a:prstGeom>
          <a:noFill/>
        </p:spPr>
        <p:txBody>
          <a:bodyPr wrap="square" lIns="0" rIns="0" tIns="0" bIns="0">
            <a:spAutoFit/>
          </a:bodyPr>
          <a:lstStyle/>
          <a:p>
            <a:pPr algn="l">
              <a:lnSpc>
                <a:spcPct val="101000"/>
              </a:lnSpc>
              <a:spcAft>
                <a:spcPts val="300"/>
              </a:spcAft>
              <a:defRPr sz="1500" b="0">
                <a:solidFill>
                  <a:srgbClr val="203350"/>
                </a:solidFill>
                <a:latin typeface="DejaVu Sans"/>
              </a:defRPr>
            </a:pPr>
            <a:r>
              <a:t>Cambio del indicador total</a:t>
            </a:r>
          </a:p>
        </p:txBody>
      </p:sp>
      <p:sp>
        <p:nvSpPr>
          <p:cNvPr id="34" name="Rounded Rectangle 33"/>
          <p:cNvSpPr/>
          <p:nvPr/>
        </p:nvSpPr>
        <p:spPr>
          <a:xfrm>
            <a:off x="6080760" y="5047488"/>
            <a:ext cx="5458968" cy="530352"/>
          </a:xfrm>
          <a:prstGeom prst="roundRect">
            <a:avLst>
              <a:gd name="adj" fmla="val 8000"/>
            </a:avLst>
          </a:prstGeom>
          <a:solidFill>
            <a:srgbClr val="ED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217920" y="5184648"/>
            <a:ext cx="5212080" cy="393191"/>
          </a:xfrm>
          <a:prstGeom prst="rect">
            <a:avLst/>
          </a:prstGeom>
          <a:noFill/>
        </p:spPr>
        <p:txBody>
          <a:bodyPr wrap="square" lIns="0" rIns="0" tIns="0" bIns="0">
            <a:spAutoFit/>
          </a:bodyPr>
          <a:lstStyle/>
          <a:p>
            <a:pPr algn="l">
              <a:lnSpc>
                <a:spcPct val="101000"/>
              </a:lnSpc>
              <a:spcAft>
                <a:spcPts val="300"/>
              </a:spcAft>
              <a:defRPr sz="1500" b="0">
                <a:solidFill>
                  <a:srgbClr val="203350"/>
                </a:solidFill>
                <a:latin typeface="DejaVu Sans"/>
              </a:defRPr>
            </a:pPr>
            <a:r>
              <a:t>Aproximadamente −14.77 %</a:t>
            </a:r>
          </a:p>
        </p:txBody>
      </p:sp>
      <p:sp>
        <p:nvSpPr>
          <p:cNvPr id="36" name="Rounded Rectangle 35">
            <a:hlinkClick action="ppaction://hlinksldjump" r:id="rId7"/>
          </p:cNvPr>
          <p:cNvSpPr/>
          <p:nvPr/>
        </p:nvSpPr>
        <p:spPr>
          <a:xfrm>
            <a:off x="777240" y="5843016"/>
            <a:ext cx="3200400" cy="384048"/>
          </a:xfrm>
          <a:prstGeom prst="roundRect">
            <a:avLst>
              <a:gd name="adj" fmla="val 8000"/>
            </a:avLst>
          </a:prstGeom>
          <a:solidFill>
            <a:srgbClr val="EEE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a:hlinkClick action="ppaction://hlinksldjump" r:id="rId7"/>
          </p:cNvPr>
          <p:cNvSpPr txBox="1"/>
          <p:nvPr/>
        </p:nvSpPr>
        <p:spPr>
          <a:xfrm>
            <a:off x="886968" y="5925312"/>
            <a:ext cx="2980944" cy="292607"/>
          </a:xfrm>
          <a:prstGeom prst="rect">
            <a:avLst/>
          </a:prstGeom>
          <a:noFill/>
        </p:spPr>
        <p:txBody>
          <a:bodyPr wrap="square" lIns="0" rIns="0" tIns="0" bIns="0">
            <a:spAutoFit/>
          </a:bodyPr>
          <a:lstStyle/>
          <a:p>
            <a:pPr algn="l">
              <a:lnSpc>
                <a:spcPct val="101000"/>
              </a:lnSpc>
              <a:spcAft>
                <a:spcPts val="300"/>
              </a:spcAft>
              <a:defRPr sz="1100" b="1">
                <a:solidFill>
                  <a:srgbClr val="203350"/>
                </a:solidFill>
                <a:latin typeface="DejaVu Sans"/>
              </a:defRPr>
            </a:pPr>
            <a:r>
              <a:t>Volver y restaurar 0.05</a:t>
            </a:r>
          </a:p>
        </p:txBody>
      </p:sp>
      <p:sp>
        <p:nvSpPr>
          <p:cNvPr id="38" name="Rounded Rectangle 37">
            <a:hlinkClick action="ppaction://hlinksldjump" r:id="rId8"/>
          </p:cNvPr>
          <p:cNvSpPr/>
          <p:nvPr/>
        </p:nvSpPr>
        <p:spPr>
          <a:xfrm>
            <a:off x="4297680" y="5843016"/>
            <a:ext cx="3200400" cy="384048"/>
          </a:xfrm>
          <a:prstGeom prst="roundRect">
            <a:avLst>
              <a:gd name="adj" fmla="val 8000"/>
            </a:avLst>
          </a:prstGeom>
          <a:solidFill>
            <a:srgbClr val="806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a:hlinkClick action="ppaction://hlinksldjump" r:id="rId8"/>
          </p:cNvPr>
          <p:cNvSpPr txBox="1"/>
          <p:nvPr/>
        </p:nvSpPr>
        <p:spPr>
          <a:xfrm>
            <a:off x="4407408" y="5925312"/>
            <a:ext cx="2980944" cy="292607"/>
          </a:xfrm>
          <a:prstGeom prst="rect">
            <a:avLst/>
          </a:prstGeom>
          <a:noFill/>
        </p:spPr>
        <p:txBody>
          <a:bodyPr wrap="square" lIns="0" rIns="0" tIns="0" bIns="0">
            <a:spAutoFit/>
          </a:bodyPr>
          <a:lstStyle/>
          <a:p>
            <a:pPr algn="l">
              <a:lnSpc>
                <a:spcPct val="101000"/>
              </a:lnSpc>
              <a:spcAft>
                <a:spcPts val="300"/>
              </a:spcAft>
              <a:defRPr sz="1100" b="1">
                <a:solidFill>
                  <a:srgbClr val="FFFFFF"/>
                </a:solidFill>
                <a:latin typeface="DejaVu Sans"/>
              </a:defRPr>
            </a:pPr>
            <a:r>
              <a:t>Continuar →</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9FBFF"/>
        </a:solidFill>
        <a:effectLst/>
      </p:bgPr>
    </p:bg>
    <p:spTree>
      <p:nvGrpSpPr>
        <p:cNvPr id="1" name=""/>
        <p:cNvGrpSpPr/>
        <p:nvPr/>
      </p:nvGrpSpPr>
      <p:grpSpPr/>
      <p:sp>
        <p:nvSpPr>
          <p:cNvPr id="2" name="TextBox 1"/>
          <p:cNvSpPr txBox="1"/>
          <p:nvPr/>
        </p:nvSpPr>
        <p:spPr>
          <a:xfrm>
            <a:off x="548640" y="365760"/>
            <a:ext cx="7223760" cy="228600"/>
          </a:xfrm>
          <a:prstGeom prst="rect">
            <a:avLst/>
          </a:prstGeom>
          <a:noFill/>
        </p:spPr>
        <p:txBody>
          <a:bodyPr wrap="square" lIns="0" rIns="0" tIns="0" bIns="0">
            <a:spAutoFit/>
          </a:bodyPr>
          <a:lstStyle/>
          <a:p>
            <a:pPr algn="l">
              <a:lnSpc>
                <a:spcPct val="101000"/>
              </a:lnSpc>
              <a:spcAft>
                <a:spcPts val="300"/>
              </a:spcAft>
              <a:defRPr sz="930" b="1">
                <a:solidFill>
                  <a:srgbClr val="137F7D"/>
                </a:solidFill>
                <a:latin typeface="DejaVu Sans"/>
              </a:defRPr>
            </a:pPr>
            <a:r>
              <a:t>ANEXO · CONSULTA</a:t>
            </a:r>
          </a:p>
        </p:txBody>
      </p:sp>
      <p:sp>
        <p:nvSpPr>
          <p:cNvPr id="3" name="Rounded Rectangle 2">
            <a:hlinkClick action="ppaction://hlinksldjump" r:id="rId2"/>
          </p:cNvPr>
          <p:cNvSpPr/>
          <p:nvPr/>
        </p:nvSpPr>
        <p:spPr>
          <a:xfrm>
            <a:off x="8165592" y="301752"/>
            <a:ext cx="813816" cy="310896"/>
          </a:xfrm>
          <a:prstGeom prst="roundRect">
            <a:avLst>
              <a:gd name="adj" fmla="val 8000"/>
            </a:avLst>
          </a:prstGeom>
          <a:solidFill>
            <a:srgbClr val="E0F7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2"/>
          </p:cNvPr>
          <p:cNvSpPr txBox="1"/>
          <p:nvPr/>
        </p:nvSpPr>
        <p:spPr>
          <a:xfrm>
            <a:off x="8275319" y="384048"/>
            <a:ext cx="594360" cy="219456"/>
          </a:xfrm>
          <a:prstGeom prst="rect">
            <a:avLst/>
          </a:prstGeom>
          <a:noFill/>
        </p:spPr>
        <p:txBody>
          <a:bodyPr wrap="square" lIns="0" rIns="0" tIns="0" bIns="0">
            <a:spAutoFit/>
          </a:bodyPr>
          <a:lstStyle/>
          <a:p>
            <a:pPr algn="l">
              <a:lnSpc>
                <a:spcPct val="101000"/>
              </a:lnSpc>
              <a:spcAft>
                <a:spcPts val="300"/>
              </a:spcAft>
              <a:defRPr sz="800" b="1">
                <a:solidFill>
                  <a:srgbClr val="203350"/>
                </a:solidFill>
                <a:latin typeface="DejaVu Sans"/>
              </a:defRPr>
            </a:pPr>
            <a:r>
              <a:t>Preparar</a:t>
            </a:r>
          </a:p>
        </p:txBody>
      </p:sp>
      <p:sp>
        <p:nvSpPr>
          <p:cNvPr id="5" name="Rounded Rectangle 4">
            <a:hlinkClick action="ppaction://hlinksldjump" r:id="rId3"/>
          </p:cNvPr>
          <p:cNvSpPr/>
          <p:nvPr/>
        </p:nvSpPr>
        <p:spPr>
          <a:xfrm>
            <a:off x="9043416" y="301752"/>
            <a:ext cx="813816" cy="310896"/>
          </a:xfrm>
          <a:prstGeom prst="roundRect">
            <a:avLst>
              <a:gd name="adj" fmla="val 8000"/>
            </a:avLst>
          </a:prstGeom>
          <a:solidFill>
            <a:srgbClr val="E2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3"/>
          </p:cNvPr>
          <p:cNvSpPr txBox="1"/>
          <p:nvPr/>
        </p:nvSpPr>
        <p:spPr>
          <a:xfrm>
            <a:off x="9153144" y="384048"/>
            <a:ext cx="594360" cy="219456"/>
          </a:xfrm>
          <a:prstGeom prst="rect">
            <a:avLst/>
          </a:prstGeom>
          <a:noFill/>
        </p:spPr>
        <p:txBody>
          <a:bodyPr wrap="square" lIns="0" rIns="0" tIns="0" bIns="0">
            <a:spAutoFit/>
          </a:bodyPr>
          <a:lstStyle/>
          <a:p>
            <a:pPr algn="l">
              <a:lnSpc>
                <a:spcPct val="101000"/>
              </a:lnSpc>
              <a:spcAft>
                <a:spcPts val="300"/>
              </a:spcAft>
              <a:defRPr sz="800" b="1">
                <a:solidFill>
                  <a:srgbClr val="203350"/>
                </a:solidFill>
                <a:latin typeface="DejaVu Sans"/>
              </a:defRPr>
            </a:pPr>
            <a:r>
              <a:t>Importar</a:t>
            </a:r>
          </a:p>
        </p:txBody>
      </p:sp>
      <p:sp>
        <p:nvSpPr>
          <p:cNvPr id="7" name="Rounded Rectangle 6">
            <a:hlinkClick action="ppaction://hlinksldjump" r:id="rId4"/>
          </p:cNvPr>
          <p:cNvSpPr/>
          <p:nvPr/>
        </p:nvSpPr>
        <p:spPr>
          <a:xfrm>
            <a:off x="9921240" y="301752"/>
            <a:ext cx="813816" cy="310896"/>
          </a:xfrm>
          <a:prstGeom prst="roundRect">
            <a:avLst>
              <a:gd name="adj" fmla="val 8000"/>
            </a:avLst>
          </a:prstGeom>
          <a:solidFill>
            <a:srgbClr val="EEE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4"/>
          </p:cNvPr>
          <p:cNvSpPr txBox="1"/>
          <p:nvPr/>
        </p:nvSpPr>
        <p:spPr>
          <a:xfrm>
            <a:off x="10030967" y="384048"/>
            <a:ext cx="594360" cy="219456"/>
          </a:xfrm>
          <a:prstGeom prst="rect">
            <a:avLst/>
          </a:prstGeom>
          <a:noFill/>
        </p:spPr>
        <p:txBody>
          <a:bodyPr wrap="square" lIns="0" rIns="0" tIns="0" bIns="0">
            <a:spAutoFit/>
          </a:bodyPr>
          <a:lstStyle/>
          <a:p>
            <a:pPr algn="l">
              <a:lnSpc>
                <a:spcPct val="101000"/>
              </a:lnSpc>
              <a:spcAft>
                <a:spcPts val="300"/>
              </a:spcAft>
              <a:defRPr sz="800" b="1">
                <a:solidFill>
                  <a:srgbClr val="203350"/>
                </a:solidFill>
                <a:latin typeface="DejaVu Sans"/>
              </a:defRPr>
            </a:pPr>
            <a:r>
              <a:t>Calcular</a:t>
            </a:r>
          </a:p>
        </p:txBody>
      </p:sp>
      <p:sp>
        <p:nvSpPr>
          <p:cNvPr id="9" name="Rounded Rectangle 8">
            <a:hlinkClick action="ppaction://hlinksldjump" r:id="rId5"/>
          </p:cNvPr>
          <p:cNvSpPr/>
          <p:nvPr/>
        </p:nvSpPr>
        <p:spPr>
          <a:xfrm>
            <a:off x="10799063" y="301752"/>
            <a:ext cx="813816" cy="310896"/>
          </a:xfrm>
          <a:prstGeom prst="roundRect">
            <a:avLst>
              <a:gd name="adj" fmla="val 8000"/>
            </a:avLst>
          </a:prstGeom>
          <a:solidFill>
            <a:srgbClr val="FFF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5"/>
          </p:cNvPr>
          <p:cNvSpPr txBox="1"/>
          <p:nvPr/>
        </p:nvSpPr>
        <p:spPr>
          <a:xfrm>
            <a:off x="10908791" y="384048"/>
            <a:ext cx="594360" cy="219456"/>
          </a:xfrm>
          <a:prstGeom prst="rect">
            <a:avLst/>
          </a:prstGeom>
          <a:noFill/>
        </p:spPr>
        <p:txBody>
          <a:bodyPr wrap="square" lIns="0" rIns="0" tIns="0" bIns="0">
            <a:spAutoFit/>
          </a:bodyPr>
          <a:lstStyle/>
          <a:p>
            <a:pPr algn="l">
              <a:lnSpc>
                <a:spcPct val="101000"/>
              </a:lnSpc>
              <a:spcAft>
                <a:spcPts val="300"/>
              </a:spcAft>
              <a:defRPr sz="749" b="1">
                <a:solidFill>
                  <a:srgbClr val="203350"/>
                </a:solidFill>
                <a:latin typeface="DejaVu Sans"/>
              </a:defRPr>
            </a:pPr>
            <a:r>
              <a:t>Comprobar</a:t>
            </a:r>
          </a:p>
        </p:txBody>
      </p:sp>
      <p:sp>
        <p:nvSpPr>
          <p:cNvPr id="11" name="TextBox 10"/>
          <p:cNvSpPr txBox="1"/>
          <p:nvPr/>
        </p:nvSpPr>
        <p:spPr>
          <a:xfrm>
            <a:off x="548640" y="886968"/>
            <a:ext cx="11064240" cy="1234440"/>
          </a:xfrm>
          <a:prstGeom prst="rect">
            <a:avLst/>
          </a:prstGeom>
          <a:noFill/>
        </p:spPr>
        <p:txBody>
          <a:bodyPr wrap="square" lIns="0" rIns="0" tIns="0" bIns="0">
            <a:spAutoFit/>
          </a:bodyPr>
          <a:lstStyle/>
          <a:p>
            <a:pPr algn="l">
              <a:lnSpc>
                <a:spcPct val="101000"/>
              </a:lnSpc>
              <a:spcAft>
                <a:spcPts val="300"/>
              </a:spcAft>
              <a:defRPr sz="3900" b="1">
                <a:solidFill>
                  <a:srgbClr val="203350"/>
                </a:solidFill>
                <a:latin typeface="DejaVu Sans"/>
              </a:defRPr>
            </a:pPr>
            <a:r>
              <a:t>Windows: preparar el software</a:t>
            </a:r>
          </a:p>
          <a:p>
            <a:pPr algn="l">
              <a:lnSpc>
                <a:spcPct val="101000"/>
              </a:lnSpc>
              <a:spcAft>
                <a:spcPts val="300"/>
              </a:spcAft>
              <a:defRPr sz="3900" b="1">
                <a:solidFill>
                  <a:srgbClr val="203350"/>
                </a:solidFill>
                <a:latin typeface="DejaVu Sans"/>
              </a:defRPr>
            </a:pPr>
            <a:r>
              <a:t>antes de la clase</a:t>
            </a:r>
          </a:p>
        </p:txBody>
      </p:sp>
      <p:sp>
        <p:nvSpPr>
          <p:cNvPr id="12" name="TextBox 11"/>
          <p:cNvSpPr txBox="1"/>
          <p:nvPr/>
        </p:nvSpPr>
        <p:spPr>
          <a:xfrm>
            <a:off x="548640" y="6446520"/>
            <a:ext cx="9784080" cy="219456"/>
          </a:xfrm>
          <a:prstGeom prst="rect">
            <a:avLst/>
          </a:prstGeom>
          <a:noFill/>
        </p:spPr>
        <p:txBody>
          <a:bodyPr wrap="square" lIns="0" rIns="0" tIns="0" bIns="0">
            <a:spAutoFit/>
          </a:bodyPr>
          <a:lstStyle/>
          <a:p>
            <a:pPr algn="l">
              <a:lnSpc>
                <a:spcPct val="101000"/>
              </a:lnSpc>
              <a:spcAft>
                <a:spcPts val="300"/>
              </a:spcAft>
              <a:defRPr sz="810" b="0">
                <a:solidFill>
                  <a:srgbClr val="5C6E83"/>
                </a:solidFill>
                <a:latin typeface="DejaVu Sans"/>
              </a:defRPr>
            </a:pPr>
            <a:r>
              <a:t>Material de consulta · no añade tiempo al recorrido de 50 minutos</a:t>
            </a:r>
          </a:p>
        </p:txBody>
      </p:sp>
      <p:sp>
        <p:nvSpPr>
          <p:cNvPr id="13" name="Rounded Rectangle 12">
            <a:hlinkClick action="ppaction://hlinksldjump" r:id="rId6"/>
          </p:cNvPr>
          <p:cNvSpPr/>
          <p:nvPr/>
        </p:nvSpPr>
        <p:spPr>
          <a:xfrm>
            <a:off x="10442448" y="6400800"/>
            <a:ext cx="640080" cy="265176"/>
          </a:xfrm>
          <a:prstGeom prst="roundRect">
            <a:avLst>
              <a:gd name="adj" fmla="val 8000"/>
            </a:avLst>
          </a:prstGeom>
          <a:solidFill>
            <a:srgbClr val="EEE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a:hlinkClick action="ppaction://hlinksldjump" r:id="rId6"/>
          </p:cNvPr>
          <p:cNvSpPr txBox="1"/>
          <p:nvPr/>
        </p:nvSpPr>
        <p:spPr>
          <a:xfrm>
            <a:off x="10552176" y="6483096"/>
            <a:ext cx="420623" cy="173735"/>
          </a:xfrm>
          <a:prstGeom prst="rect">
            <a:avLst/>
          </a:prstGeom>
          <a:noFill/>
        </p:spPr>
        <p:txBody>
          <a:bodyPr wrap="square" lIns="0" rIns="0" tIns="0" bIns="0">
            <a:spAutoFit/>
          </a:bodyPr>
          <a:lstStyle/>
          <a:p>
            <a:pPr algn="l">
              <a:lnSpc>
                <a:spcPct val="101000"/>
              </a:lnSpc>
              <a:spcAft>
                <a:spcPts val="300"/>
              </a:spcAft>
              <a:defRPr sz="800" b="1">
                <a:solidFill>
                  <a:srgbClr val="8060BA"/>
                </a:solidFill>
                <a:latin typeface="DejaVu Sans"/>
              </a:defRPr>
            </a:pPr>
            <a:r>
              <a:t>Ruta</a:t>
            </a:r>
          </a:p>
        </p:txBody>
      </p:sp>
      <p:sp>
        <p:nvSpPr>
          <p:cNvPr id="15" name="TextBox 14"/>
          <p:cNvSpPr txBox="1"/>
          <p:nvPr/>
        </p:nvSpPr>
        <p:spPr>
          <a:xfrm>
            <a:off x="11228832" y="6400800"/>
            <a:ext cx="457200" cy="274320"/>
          </a:xfrm>
          <a:prstGeom prst="rect">
            <a:avLst/>
          </a:prstGeom>
          <a:noFill/>
        </p:spPr>
        <p:txBody>
          <a:bodyPr wrap="square" lIns="0" rIns="0" tIns="0" bIns="0">
            <a:spAutoFit/>
          </a:bodyPr>
          <a:lstStyle/>
          <a:p>
            <a:pPr algn="r">
              <a:lnSpc>
                <a:spcPct val="101000"/>
              </a:lnSpc>
              <a:spcAft>
                <a:spcPts val="300"/>
              </a:spcAft>
              <a:defRPr sz="1300" b="1">
                <a:solidFill>
                  <a:srgbClr val="203350"/>
                </a:solidFill>
                <a:latin typeface="DejaVu Sans"/>
              </a:defRPr>
            </a:pPr>
            <a:r>
              <a:t>ANX</a:t>
            </a:r>
          </a:p>
        </p:txBody>
      </p:sp>
      <p:sp>
        <p:nvSpPr>
          <p:cNvPr id="16" name="Rounded Rectangle 15"/>
          <p:cNvSpPr/>
          <p:nvPr/>
        </p:nvSpPr>
        <p:spPr>
          <a:xfrm>
            <a:off x="594360" y="2743200"/>
            <a:ext cx="1161288" cy="530352"/>
          </a:xfrm>
          <a:prstGeom prst="roundRect">
            <a:avLst>
              <a:gd name="adj" fmla="val 8000"/>
            </a:avLst>
          </a:prstGeom>
          <a:solidFill>
            <a:srgbClr val="E0F7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2880360"/>
            <a:ext cx="914400" cy="365759"/>
          </a:xfrm>
          <a:prstGeom prst="rect">
            <a:avLst/>
          </a:prstGeom>
          <a:noFill/>
        </p:spPr>
        <p:txBody>
          <a:bodyPr wrap="square" lIns="0" rIns="0" tIns="0" bIns="0">
            <a:spAutoFit/>
          </a:bodyPr>
          <a:lstStyle/>
          <a:p>
            <a:pPr algn="l">
              <a:lnSpc>
                <a:spcPct val="101000"/>
              </a:lnSpc>
              <a:spcAft>
                <a:spcPts val="300"/>
              </a:spcAft>
              <a:defRPr sz="1500" b="1">
                <a:solidFill>
                  <a:srgbClr val="203350"/>
                </a:solidFill>
                <a:latin typeface="DejaVu Sans"/>
              </a:defRPr>
            </a:pPr>
            <a:r>
              <a:t>Paso</a:t>
            </a:r>
          </a:p>
        </p:txBody>
      </p:sp>
      <p:sp>
        <p:nvSpPr>
          <p:cNvPr id="18" name="Rounded Rectangle 17"/>
          <p:cNvSpPr/>
          <p:nvPr/>
        </p:nvSpPr>
        <p:spPr>
          <a:xfrm>
            <a:off x="1783080" y="2743200"/>
            <a:ext cx="9756648" cy="530352"/>
          </a:xfrm>
          <a:prstGeom prst="roundRect">
            <a:avLst>
              <a:gd name="adj" fmla="val 8000"/>
            </a:avLst>
          </a:prstGeom>
          <a:solidFill>
            <a:srgbClr val="E0F7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920240" y="2880360"/>
            <a:ext cx="9509759" cy="365759"/>
          </a:xfrm>
          <a:prstGeom prst="rect">
            <a:avLst/>
          </a:prstGeom>
          <a:noFill/>
        </p:spPr>
        <p:txBody>
          <a:bodyPr wrap="square" lIns="0" rIns="0" tIns="0" bIns="0">
            <a:spAutoFit/>
          </a:bodyPr>
          <a:lstStyle/>
          <a:p>
            <a:pPr algn="l">
              <a:lnSpc>
                <a:spcPct val="101000"/>
              </a:lnSpc>
              <a:spcAft>
                <a:spcPts val="300"/>
              </a:spcAft>
              <a:defRPr sz="1500" b="1">
                <a:solidFill>
                  <a:srgbClr val="203350"/>
                </a:solidFill>
                <a:latin typeface="DejaVu Sans"/>
              </a:defRPr>
            </a:pPr>
            <a:r>
              <a:t>Acción</a:t>
            </a:r>
          </a:p>
        </p:txBody>
      </p:sp>
      <p:sp>
        <p:nvSpPr>
          <p:cNvPr id="20" name="Rounded Rectangle 19"/>
          <p:cNvSpPr/>
          <p:nvPr/>
        </p:nvSpPr>
        <p:spPr>
          <a:xfrm>
            <a:off x="594360" y="3319272"/>
            <a:ext cx="1161288" cy="530352"/>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456432"/>
            <a:ext cx="914400" cy="393191"/>
          </a:xfrm>
          <a:prstGeom prst="rect">
            <a:avLst/>
          </a:prstGeom>
          <a:noFill/>
        </p:spPr>
        <p:txBody>
          <a:bodyPr wrap="square" lIns="0" rIns="0" tIns="0" bIns="0">
            <a:spAutoFit/>
          </a:bodyPr>
          <a:lstStyle/>
          <a:p>
            <a:pPr algn="l">
              <a:lnSpc>
                <a:spcPct val="101000"/>
              </a:lnSpc>
              <a:spcAft>
                <a:spcPts val="300"/>
              </a:spcAft>
              <a:defRPr sz="1500" b="0">
                <a:solidFill>
                  <a:srgbClr val="203350"/>
                </a:solidFill>
                <a:latin typeface="DejaVu Sans"/>
              </a:defRPr>
            </a:pPr>
            <a:r>
              <a:t>1</a:t>
            </a:r>
          </a:p>
        </p:txBody>
      </p:sp>
      <p:sp>
        <p:nvSpPr>
          <p:cNvPr id="22" name="Rounded Rectangle 21"/>
          <p:cNvSpPr/>
          <p:nvPr/>
        </p:nvSpPr>
        <p:spPr>
          <a:xfrm>
            <a:off x="1783080" y="3319272"/>
            <a:ext cx="9756648" cy="530352"/>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920240" y="3456432"/>
            <a:ext cx="9509759" cy="393191"/>
          </a:xfrm>
          <a:prstGeom prst="rect">
            <a:avLst/>
          </a:prstGeom>
          <a:noFill/>
        </p:spPr>
        <p:txBody>
          <a:bodyPr wrap="square" lIns="0" rIns="0" tIns="0" bIns="0">
            <a:spAutoFit/>
          </a:bodyPr>
          <a:lstStyle/>
          <a:p>
            <a:pPr algn="l">
              <a:lnSpc>
                <a:spcPct val="101000"/>
              </a:lnSpc>
              <a:spcAft>
                <a:spcPts val="300"/>
              </a:spcAft>
              <a:defRPr sz="1500" b="0">
                <a:solidFill>
                  <a:srgbClr val="203350"/>
                </a:solidFill>
                <a:latin typeface="DejaVu Sans"/>
              </a:defRPr>
            </a:pPr>
            <a:r>
              <a:t>Descargar ZIP Windows de la web oficial de openLCA.</a:t>
            </a:r>
          </a:p>
        </p:txBody>
      </p:sp>
      <p:sp>
        <p:nvSpPr>
          <p:cNvPr id="24" name="Rounded Rectangle 23"/>
          <p:cNvSpPr/>
          <p:nvPr/>
        </p:nvSpPr>
        <p:spPr>
          <a:xfrm>
            <a:off x="594360" y="3895344"/>
            <a:ext cx="1161288" cy="530352"/>
          </a:xfrm>
          <a:prstGeom prst="roundRect">
            <a:avLst>
              <a:gd name="adj" fmla="val 8000"/>
            </a:avLst>
          </a:prstGeom>
          <a:solidFill>
            <a:srgbClr val="ED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1520" y="4032504"/>
            <a:ext cx="914400" cy="393191"/>
          </a:xfrm>
          <a:prstGeom prst="rect">
            <a:avLst/>
          </a:prstGeom>
          <a:noFill/>
        </p:spPr>
        <p:txBody>
          <a:bodyPr wrap="square" lIns="0" rIns="0" tIns="0" bIns="0">
            <a:spAutoFit/>
          </a:bodyPr>
          <a:lstStyle/>
          <a:p>
            <a:pPr algn="l">
              <a:lnSpc>
                <a:spcPct val="101000"/>
              </a:lnSpc>
              <a:spcAft>
                <a:spcPts val="300"/>
              </a:spcAft>
              <a:defRPr sz="1500" b="0">
                <a:solidFill>
                  <a:srgbClr val="203350"/>
                </a:solidFill>
                <a:latin typeface="DejaVu Sans"/>
              </a:defRPr>
            </a:pPr>
            <a:r>
              <a:t>2</a:t>
            </a:r>
          </a:p>
        </p:txBody>
      </p:sp>
      <p:sp>
        <p:nvSpPr>
          <p:cNvPr id="26" name="Rounded Rectangle 25"/>
          <p:cNvSpPr/>
          <p:nvPr/>
        </p:nvSpPr>
        <p:spPr>
          <a:xfrm>
            <a:off x="1783080" y="3895344"/>
            <a:ext cx="9756648" cy="530352"/>
          </a:xfrm>
          <a:prstGeom prst="roundRect">
            <a:avLst>
              <a:gd name="adj" fmla="val 8000"/>
            </a:avLst>
          </a:prstGeom>
          <a:solidFill>
            <a:srgbClr val="ED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920240" y="4032504"/>
            <a:ext cx="9509759" cy="393191"/>
          </a:xfrm>
          <a:prstGeom prst="rect">
            <a:avLst/>
          </a:prstGeom>
          <a:noFill/>
        </p:spPr>
        <p:txBody>
          <a:bodyPr wrap="square" lIns="0" rIns="0" tIns="0" bIns="0">
            <a:spAutoFit/>
          </a:bodyPr>
          <a:lstStyle/>
          <a:p>
            <a:pPr algn="l">
              <a:lnSpc>
                <a:spcPct val="101000"/>
              </a:lnSpc>
              <a:spcAft>
                <a:spcPts val="300"/>
              </a:spcAft>
              <a:defRPr sz="1500" b="0">
                <a:solidFill>
                  <a:srgbClr val="203350"/>
                </a:solidFill>
                <a:latin typeface="DejaVu Sans"/>
              </a:defRPr>
            </a:pPr>
            <a:r>
              <a:t>Extraer todo el programa en una carpeta local con permiso de escritura.</a:t>
            </a:r>
          </a:p>
        </p:txBody>
      </p:sp>
      <p:sp>
        <p:nvSpPr>
          <p:cNvPr id="28" name="Rounded Rectangle 27"/>
          <p:cNvSpPr/>
          <p:nvPr/>
        </p:nvSpPr>
        <p:spPr>
          <a:xfrm>
            <a:off x="594360" y="4471416"/>
            <a:ext cx="1161288" cy="530352"/>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31520" y="4608576"/>
            <a:ext cx="914400" cy="393191"/>
          </a:xfrm>
          <a:prstGeom prst="rect">
            <a:avLst/>
          </a:prstGeom>
          <a:noFill/>
        </p:spPr>
        <p:txBody>
          <a:bodyPr wrap="square" lIns="0" rIns="0" tIns="0" bIns="0">
            <a:spAutoFit/>
          </a:bodyPr>
          <a:lstStyle/>
          <a:p>
            <a:pPr algn="l">
              <a:lnSpc>
                <a:spcPct val="101000"/>
              </a:lnSpc>
              <a:spcAft>
                <a:spcPts val="300"/>
              </a:spcAft>
              <a:defRPr sz="1500" b="0">
                <a:solidFill>
                  <a:srgbClr val="203350"/>
                </a:solidFill>
                <a:latin typeface="DejaVu Sans"/>
              </a:defRPr>
            </a:pPr>
            <a:r>
              <a:t>3</a:t>
            </a:r>
          </a:p>
        </p:txBody>
      </p:sp>
      <p:sp>
        <p:nvSpPr>
          <p:cNvPr id="30" name="Rounded Rectangle 29"/>
          <p:cNvSpPr/>
          <p:nvPr/>
        </p:nvSpPr>
        <p:spPr>
          <a:xfrm>
            <a:off x="1783080" y="4471416"/>
            <a:ext cx="9756648" cy="530352"/>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920240" y="4608576"/>
            <a:ext cx="9509759" cy="393191"/>
          </a:xfrm>
          <a:prstGeom prst="rect">
            <a:avLst/>
          </a:prstGeom>
          <a:noFill/>
        </p:spPr>
        <p:txBody>
          <a:bodyPr wrap="square" lIns="0" rIns="0" tIns="0" bIns="0">
            <a:spAutoFit/>
          </a:bodyPr>
          <a:lstStyle/>
          <a:p>
            <a:pPr algn="l">
              <a:lnSpc>
                <a:spcPct val="101000"/>
              </a:lnSpc>
              <a:spcAft>
                <a:spcPts val="300"/>
              </a:spcAft>
              <a:defRPr sz="1500" b="0">
                <a:solidFill>
                  <a:srgbClr val="203350"/>
                </a:solidFill>
                <a:latin typeface="DejaVu Sans"/>
              </a:defRPr>
            </a:pPr>
            <a:r>
              <a:t>Ejecutar openLCA.exe desde la carpeta extraída.</a:t>
            </a:r>
          </a:p>
        </p:txBody>
      </p:sp>
      <p:sp>
        <p:nvSpPr>
          <p:cNvPr id="32" name="Rounded Rectangle 31"/>
          <p:cNvSpPr/>
          <p:nvPr/>
        </p:nvSpPr>
        <p:spPr>
          <a:xfrm>
            <a:off x="594360" y="5047488"/>
            <a:ext cx="1161288" cy="530352"/>
          </a:xfrm>
          <a:prstGeom prst="roundRect">
            <a:avLst>
              <a:gd name="adj" fmla="val 8000"/>
            </a:avLst>
          </a:prstGeom>
          <a:solidFill>
            <a:srgbClr val="ED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5184648"/>
            <a:ext cx="914400" cy="393191"/>
          </a:xfrm>
          <a:prstGeom prst="rect">
            <a:avLst/>
          </a:prstGeom>
          <a:noFill/>
        </p:spPr>
        <p:txBody>
          <a:bodyPr wrap="square" lIns="0" rIns="0" tIns="0" bIns="0">
            <a:spAutoFit/>
          </a:bodyPr>
          <a:lstStyle/>
          <a:p>
            <a:pPr algn="l">
              <a:lnSpc>
                <a:spcPct val="101000"/>
              </a:lnSpc>
              <a:spcAft>
                <a:spcPts val="300"/>
              </a:spcAft>
              <a:defRPr sz="1500" b="0">
                <a:solidFill>
                  <a:srgbClr val="203350"/>
                </a:solidFill>
                <a:latin typeface="DejaVu Sans"/>
              </a:defRPr>
            </a:pPr>
            <a:r>
              <a:t>4</a:t>
            </a:r>
          </a:p>
        </p:txBody>
      </p:sp>
      <p:sp>
        <p:nvSpPr>
          <p:cNvPr id="34" name="Rounded Rectangle 33"/>
          <p:cNvSpPr/>
          <p:nvPr/>
        </p:nvSpPr>
        <p:spPr>
          <a:xfrm>
            <a:off x="1783080" y="5047488"/>
            <a:ext cx="9756648" cy="530352"/>
          </a:xfrm>
          <a:prstGeom prst="roundRect">
            <a:avLst>
              <a:gd name="adj" fmla="val 8000"/>
            </a:avLst>
          </a:prstGeom>
          <a:solidFill>
            <a:srgbClr val="ED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920240" y="5184648"/>
            <a:ext cx="9509759" cy="393191"/>
          </a:xfrm>
          <a:prstGeom prst="rect">
            <a:avLst/>
          </a:prstGeom>
          <a:noFill/>
        </p:spPr>
        <p:txBody>
          <a:bodyPr wrap="square" lIns="0" rIns="0" tIns="0" bIns="0">
            <a:spAutoFit/>
          </a:bodyPr>
          <a:lstStyle/>
          <a:p>
            <a:pPr algn="l">
              <a:lnSpc>
                <a:spcPct val="101000"/>
              </a:lnSpc>
              <a:spcAft>
                <a:spcPts val="300"/>
              </a:spcAft>
              <a:defRPr sz="1500" b="0">
                <a:solidFill>
                  <a:srgbClr val="203350"/>
                </a:solidFill>
                <a:latin typeface="DejaVu Sans"/>
              </a:defRPr>
            </a:pPr>
            <a:r>
              <a:t>Registrar la versión: Help → About openLCA.</a:t>
            </a:r>
          </a:p>
        </p:txBody>
      </p:sp>
      <p:sp>
        <p:nvSpPr>
          <p:cNvPr id="36" name="Rounded Rectangle 35">
            <a:hlinkClick r:id="rId7"/>
          </p:cNvPr>
          <p:cNvSpPr/>
          <p:nvPr/>
        </p:nvSpPr>
        <p:spPr>
          <a:xfrm>
            <a:off x="777240" y="5843016"/>
            <a:ext cx="3108960" cy="384048"/>
          </a:xfrm>
          <a:prstGeom prst="roundRect">
            <a:avLst>
              <a:gd name="adj" fmla="val 8000"/>
            </a:avLst>
          </a:prstGeom>
          <a:solidFill>
            <a:srgbClr val="137F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a:hlinkClick r:id="rId7"/>
          </p:cNvPr>
          <p:cNvSpPr txBox="1"/>
          <p:nvPr/>
        </p:nvSpPr>
        <p:spPr>
          <a:xfrm>
            <a:off x="886968" y="5925312"/>
            <a:ext cx="2889504" cy="292607"/>
          </a:xfrm>
          <a:prstGeom prst="rect">
            <a:avLst/>
          </a:prstGeom>
          <a:noFill/>
        </p:spPr>
        <p:txBody>
          <a:bodyPr wrap="square" lIns="0" rIns="0" tIns="0" bIns="0">
            <a:spAutoFit/>
          </a:bodyPr>
          <a:lstStyle/>
          <a:p>
            <a:pPr algn="l">
              <a:lnSpc>
                <a:spcPct val="101000"/>
              </a:lnSpc>
              <a:spcAft>
                <a:spcPts val="300"/>
              </a:spcAft>
              <a:defRPr sz="1100" b="1">
                <a:solidFill>
                  <a:srgbClr val="FFFFFF"/>
                </a:solidFill>
                <a:latin typeface="DejaVu Sans"/>
              </a:defRPr>
            </a:pPr>
            <a:r>
              <a:t>Descarga oficial</a:t>
            </a:r>
          </a:p>
        </p:txBody>
      </p:sp>
      <p:sp>
        <p:nvSpPr>
          <p:cNvPr id="38" name="Rounded Rectangle 37">
            <a:hlinkClick action="ppaction://hlinksldjump" r:id="rId2"/>
          </p:cNvPr>
          <p:cNvSpPr/>
          <p:nvPr/>
        </p:nvSpPr>
        <p:spPr>
          <a:xfrm>
            <a:off x="4160520" y="5843016"/>
            <a:ext cx="3017520" cy="384048"/>
          </a:xfrm>
          <a:prstGeom prst="roundRect">
            <a:avLst>
              <a:gd name="adj" fmla="val 8000"/>
            </a:avLst>
          </a:prstGeom>
          <a:solidFill>
            <a:srgbClr val="EEE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a:hlinkClick action="ppaction://hlinksldjump" r:id="rId2"/>
          </p:cNvPr>
          <p:cNvSpPr txBox="1"/>
          <p:nvPr/>
        </p:nvSpPr>
        <p:spPr>
          <a:xfrm>
            <a:off x="4270248" y="5925312"/>
            <a:ext cx="2798063" cy="292607"/>
          </a:xfrm>
          <a:prstGeom prst="rect">
            <a:avLst/>
          </a:prstGeom>
          <a:noFill/>
        </p:spPr>
        <p:txBody>
          <a:bodyPr wrap="square" lIns="0" rIns="0" tIns="0" bIns="0">
            <a:spAutoFit/>
          </a:bodyPr>
          <a:lstStyle/>
          <a:p>
            <a:pPr algn="l">
              <a:lnSpc>
                <a:spcPct val="101000"/>
              </a:lnSpc>
              <a:spcAft>
                <a:spcPts val="300"/>
              </a:spcAft>
              <a:defRPr sz="1100" b="1">
                <a:solidFill>
                  <a:srgbClr val="203350"/>
                </a:solidFill>
                <a:latin typeface="DejaVu Sans"/>
              </a:defRPr>
            </a:pPr>
            <a:r>
              <a:t>Volver a preparación</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9FBFF"/>
        </a:solidFill>
        <a:effectLst/>
      </p:bgPr>
    </p:bg>
    <p:spTree>
      <p:nvGrpSpPr>
        <p:cNvPr id="1" name=""/>
        <p:cNvGrpSpPr/>
        <p:nvPr/>
      </p:nvGrpSpPr>
      <p:grpSpPr/>
      <p:sp>
        <p:nvSpPr>
          <p:cNvPr id="2" name="TextBox 1"/>
          <p:cNvSpPr txBox="1"/>
          <p:nvPr/>
        </p:nvSpPr>
        <p:spPr>
          <a:xfrm>
            <a:off x="548640" y="365760"/>
            <a:ext cx="7223760" cy="228600"/>
          </a:xfrm>
          <a:prstGeom prst="rect">
            <a:avLst/>
          </a:prstGeom>
          <a:noFill/>
        </p:spPr>
        <p:txBody>
          <a:bodyPr wrap="square" lIns="0" rIns="0" tIns="0" bIns="0">
            <a:spAutoFit/>
          </a:bodyPr>
          <a:lstStyle/>
          <a:p>
            <a:pPr algn="l">
              <a:lnSpc>
                <a:spcPct val="101000"/>
              </a:lnSpc>
              <a:spcAft>
                <a:spcPts val="300"/>
              </a:spcAft>
              <a:defRPr sz="930" b="1">
                <a:solidFill>
                  <a:srgbClr val="137F7D"/>
                </a:solidFill>
                <a:latin typeface="DejaVu Sans"/>
              </a:defRPr>
            </a:pPr>
            <a:r>
              <a:t>ANEXO · CONSULTA</a:t>
            </a:r>
          </a:p>
        </p:txBody>
      </p:sp>
      <p:sp>
        <p:nvSpPr>
          <p:cNvPr id="3" name="Rounded Rectangle 2">
            <a:hlinkClick action="ppaction://hlinksldjump" r:id="rId2"/>
          </p:cNvPr>
          <p:cNvSpPr/>
          <p:nvPr/>
        </p:nvSpPr>
        <p:spPr>
          <a:xfrm>
            <a:off x="8165592" y="301752"/>
            <a:ext cx="813816" cy="310896"/>
          </a:xfrm>
          <a:prstGeom prst="roundRect">
            <a:avLst>
              <a:gd name="adj" fmla="val 8000"/>
            </a:avLst>
          </a:prstGeom>
          <a:solidFill>
            <a:srgbClr val="E0F7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a:hlinkClick action="ppaction://hlinksldjump" r:id="rId2"/>
          </p:cNvPr>
          <p:cNvSpPr txBox="1"/>
          <p:nvPr/>
        </p:nvSpPr>
        <p:spPr>
          <a:xfrm>
            <a:off x="8275319" y="384048"/>
            <a:ext cx="594360" cy="219456"/>
          </a:xfrm>
          <a:prstGeom prst="rect">
            <a:avLst/>
          </a:prstGeom>
          <a:noFill/>
        </p:spPr>
        <p:txBody>
          <a:bodyPr wrap="square" lIns="0" rIns="0" tIns="0" bIns="0">
            <a:spAutoFit/>
          </a:bodyPr>
          <a:lstStyle/>
          <a:p>
            <a:pPr algn="l">
              <a:lnSpc>
                <a:spcPct val="101000"/>
              </a:lnSpc>
              <a:spcAft>
                <a:spcPts val="300"/>
              </a:spcAft>
              <a:defRPr sz="800" b="1">
                <a:solidFill>
                  <a:srgbClr val="203350"/>
                </a:solidFill>
                <a:latin typeface="DejaVu Sans"/>
              </a:defRPr>
            </a:pPr>
            <a:r>
              <a:t>Preparar</a:t>
            </a:r>
          </a:p>
        </p:txBody>
      </p:sp>
      <p:sp>
        <p:nvSpPr>
          <p:cNvPr id="5" name="Rounded Rectangle 4">
            <a:hlinkClick action="ppaction://hlinksldjump" r:id="rId3"/>
          </p:cNvPr>
          <p:cNvSpPr/>
          <p:nvPr/>
        </p:nvSpPr>
        <p:spPr>
          <a:xfrm>
            <a:off x="9043416" y="301752"/>
            <a:ext cx="813816" cy="310896"/>
          </a:xfrm>
          <a:prstGeom prst="roundRect">
            <a:avLst>
              <a:gd name="adj" fmla="val 8000"/>
            </a:avLst>
          </a:prstGeom>
          <a:solidFill>
            <a:srgbClr val="E2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3"/>
          </p:cNvPr>
          <p:cNvSpPr txBox="1"/>
          <p:nvPr/>
        </p:nvSpPr>
        <p:spPr>
          <a:xfrm>
            <a:off x="9153144" y="384048"/>
            <a:ext cx="594360" cy="219456"/>
          </a:xfrm>
          <a:prstGeom prst="rect">
            <a:avLst/>
          </a:prstGeom>
          <a:noFill/>
        </p:spPr>
        <p:txBody>
          <a:bodyPr wrap="square" lIns="0" rIns="0" tIns="0" bIns="0">
            <a:spAutoFit/>
          </a:bodyPr>
          <a:lstStyle/>
          <a:p>
            <a:pPr algn="l">
              <a:lnSpc>
                <a:spcPct val="101000"/>
              </a:lnSpc>
              <a:spcAft>
                <a:spcPts val="300"/>
              </a:spcAft>
              <a:defRPr sz="800" b="1">
                <a:solidFill>
                  <a:srgbClr val="203350"/>
                </a:solidFill>
                <a:latin typeface="DejaVu Sans"/>
              </a:defRPr>
            </a:pPr>
            <a:r>
              <a:t>Importar</a:t>
            </a:r>
          </a:p>
        </p:txBody>
      </p:sp>
      <p:sp>
        <p:nvSpPr>
          <p:cNvPr id="7" name="Rounded Rectangle 6">
            <a:hlinkClick action="ppaction://hlinksldjump" r:id="rId4"/>
          </p:cNvPr>
          <p:cNvSpPr/>
          <p:nvPr/>
        </p:nvSpPr>
        <p:spPr>
          <a:xfrm>
            <a:off x="9921240" y="301752"/>
            <a:ext cx="813816" cy="310896"/>
          </a:xfrm>
          <a:prstGeom prst="roundRect">
            <a:avLst>
              <a:gd name="adj" fmla="val 8000"/>
            </a:avLst>
          </a:prstGeom>
          <a:solidFill>
            <a:srgbClr val="EEE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a:hlinkClick action="ppaction://hlinksldjump" r:id="rId4"/>
          </p:cNvPr>
          <p:cNvSpPr txBox="1"/>
          <p:nvPr/>
        </p:nvSpPr>
        <p:spPr>
          <a:xfrm>
            <a:off x="10030967" y="384048"/>
            <a:ext cx="594360" cy="219456"/>
          </a:xfrm>
          <a:prstGeom prst="rect">
            <a:avLst/>
          </a:prstGeom>
          <a:noFill/>
        </p:spPr>
        <p:txBody>
          <a:bodyPr wrap="square" lIns="0" rIns="0" tIns="0" bIns="0">
            <a:spAutoFit/>
          </a:bodyPr>
          <a:lstStyle/>
          <a:p>
            <a:pPr algn="l">
              <a:lnSpc>
                <a:spcPct val="101000"/>
              </a:lnSpc>
              <a:spcAft>
                <a:spcPts val="300"/>
              </a:spcAft>
              <a:defRPr sz="800" b="1">
                <a:solidFill>
                  <a:srgbClr val="203350"/>
                </a:solidFill>
                <a:latin typeface="DejaVu Sans"/>
              </a:defRPr>
            </a:pPr>
            <a:r>
              <a:t>Calcular</a:t>
            </a:r>
          </a:p>
        </p:txBody>
      </p:sp>
      <p:sp>
        <p:nvSpPr>
          <p:cNvPr id="9" name="Rounded Rectangle 8">
            <a:hlinkClick action="ppaction://hlinksldjump" r:id="rId5"/>
          </p:cNvPr>
          <p:cNvSpPr/>
          <p:nvPr/>
        </p:nvSpPr>
        <p:spPr>
          <a:xfrm>
            <a:off x="10799063" y="301752"/>
            <a:ext cx="813816" cy="310896"/>
          </a:xfrm>
          <a:prstGeom prst="roundRect">
            <a:avLst>
              <a:gd name="adj" fmla="val 8000"/>
            </a:avLst>
          </a:prstGeom>
          <a:solidFill>
            <a:srgbClr val="FFF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a:hlinkClick action="ppaction://hlinksldjump" r:id="rId5"/>
          </p:cNvPr>
          <p:cNvSpPr txBox="1"/>
          <p:nvPr/>
        </p:nvSpPr>
        <p:spPr>
          <a:xfrm>
            <a:off x="10908791" y="384048"/>
            <a:ext cx="594360" cy="219456"/>
          </a:xfrm>
          <a:prstGeom prst="rect">
            <a:avLst/>
          </a:prstGeom>
          <a:noFill/>
        </p:spPr>
        <p:txBody>
          <a:bodyPr wrap="square" lIns="0" rIns="0" tIns="0" bIns="0">
            <a:spAutoFit/>
          </a:bodyPr>
          <a:lstStyle/>
          <a:p>
            <a:pPr algn="l">
              <a:lnSpc>
                <a:spcPct val="101000"/>
              </a:lnSpc>
              <a:spcAft>
                <a:spcPts val="300"/>
              </a:spcAft>
              <a:defRPr sz="749" b="1">
                <a:solidFill>
                  <a:srgbClr val="203350"/>
                </a:solidFill>
                <a:latin typeface="DejaVu Sans"/>
              </a:defRPr>
            </a:pPr>
            <a:r>
              <a:t>Comprobar</a:t>
            </a:r>
          </a:p>
        </p:txBody>
      </p:sp>
      <p:sp>
        <p:nvSpPr>
          <p:cNvPr id="11" name="TextBox 10"/>
          <p:cNvSpPr txBox="1"/>
          <p:nvPr/>
        </p:nvSpPr>
        <p:spPr>
          <a:xfrm>
            <a:off x="548640" y="886968"/>
            <a:ext cx="11064240" cy="1234440"/>
          </a:xfrm>
          <a:prstGeom prst="rect">
            <a:avLst/>
          </a:prstGeom>
          <a:noFill/>
        </p:spPr>
        <p:txBody>
          <a:bodyPr wrap="square" lIns="0" rIns="0" tIns="0" bIns="0">
            <a:spAutoFit/>
          </a:bodyPr>
          <a:lstStyle/>
          <a:p>
            <a:pPr algn="l">
              <a:lnSpc>
                <a:spcPct val="101000"/>
              </a:lnSpc>
              <a:spcAft>
                <a:spcPts val="300"/>
              </a:spcAft>
              <a:defRPr sz="3900" b="1">
                <a:solidFill>
                  <a:srgbClr val="203350"/>
                </a:solidFill>
                <a:latin typeface="DejaVu Sans"/>
              </a:defRPr>
            </a:pPr>
            <a:r>
              <a:t>Fuentes, adaptación</a:t>
            </a:r>
          </a:p>
          <a:p>
            <a:pPr algn="l">
              <a:lnSpc>
                <a:spcPct val="101000"/>
              </a:lnSpc>
              <a:spcAft>
                <a:spcPts val="300"/>
              </a:spcAft>
              <a:defRPr sz="3900" b="1">
                <a:solidFill>
                  <a:srgbClr val="203350"/>
                </a:solidFill>
                <a:latin typeface="DejaVu Sans"/>
              </a:defRPr>
            </a:pPr>
            <a:r>
              <a:t>y verificación</a:t>
            </a:r>
          </a:p>
        </p:txBody>
      </p:sp>
      <p:sp>
        <p:nvSpPr>
          <p:cNvPr id="12" name="TextBox 11"/>
          <p:cNvSpPr txBox="1"/>
          <p:nvPr/>
        </p:nvSpPr>
        <p:spPr>
          <a:xfrm>
            <a:off x="548640" y="6446520"/>
            <a:ext cx="9784080" cy="219456"/>
          </a:xfrm>
          <a:prstGeom prst="rect">
            <a:avLst/>
          </a:prstGeom>
          <a:noFill/>
        </p:spPr>
        <p:txBody>
          <a:bodyPr wrap="square" lIns="0" rIns="0" tIns="0" bIns="0">
            <a:spAutoFit/>
          </a:bodyPr>
          <a:lstStyle/>
          <a:p>
            <a:pPr algn="l">
              <a:lnSpc>
                <a:spcPct val="101000"/>
              </a:lnSpc>
              <a:spcAft>
                <a:spcPts val="300"/>
              </a:spcAft>
              <a:defRPr sz="810" b="0">
                <a:solidFill>
                  <a:srgbClr val="5C6E83"/>
                </a:solidFill>
                <a:latin typeface="DejaVu Sans"/>
              </a:defRPr>
            </a:pPr>
            <a:r>
              <a:t>Material de consulta · no añade tiempo al recorrido de 50 minutos</a:t>
            </a:r>
          </a:p>
        </p:txBody>
      </p:sp>
      <p:sp>
        <p:nvSpPr>
          <p:cNvPr id="13" name="Rounded Rectangle 12">
            <a:hlinkClick action="ppaction://hlinksldjump" r:id="rId6"/>
          </p:cNvPr>
          <p:cNvSpPr/>
          <p:nvPr/>
        </p:nvSpPr>
        <p:spPr>
          <a:xfrm>
            <a:off x="10442448" y="6400800"/>
            <a:ext cx="640080" cy="265176"/>
          </a:xfrm>
          <a:prstGeom prst="roundRect">
            <a:avLst>
              <a:gd name="adj" fmla="val 8000"/>
            </a:avLst>
          </a:prstGeom>
          <a:solidFill>
            <a:srgbClr val="EEE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a:hlinkClick action="ppaction://hlinksldjump" r:id="rId6"/>
          </p:cNvPr>
          <p:cNvSpPr txBox="1"/>
          <p:nvPr/>
        </p:nvSpPr>
        <p:spPr>
          <a:xfrm>
            <a:off x="10552176" y="6483096"/>
            <a:ext cx="420623" cy="173735"/>
          </a:xfrm>
          <a:prstGeom prst="rect">
            <a:avLst/>
          </a:prstGeom>
          <a:noFill/>
        </p:spPr>
        <p:txBody>
          <a:bodyPr wrap="square" lIns="0" rIns="0" tIns="0" bIns="0">
            <a:spAutoFit/>
          </a:bodyPr>
          <a:lstStyle/>
          <a:p>
            <a:pPr algn="l">
              <a:lnSpc>
                <a:spcPct val="101000"/>
              </a:lnSpc>
              <a:spcAft>
                <a:spcPts val="300"/>
              </a:spcAft>
              <a:defRPr sz="800" b="1">
                <a:solidFill>
                  <a:srgbClr val="8060BA"/>
                </a:solidFill>
                <a:latin typeface="DejaVu Sans"/>
              </a:defRPr>
            </a:pPr>
            <a:r>
              <a:t>Ruta</a:t>
            </a:r>
          </a:p>
        </p:txBody>
      </p:sp>
      <p:sp>
        <p:nvSpPr>
          <p:cNvPr id="15" name="TextBox 14"/>
          <p:cNvSpPr txBox="1"/>
          <p:nvPr/>
        </p:nvSpPr>
        <p:spPr>
          <a:xfrm>
            <a:off x="11228832" y="6400800"/>
            <a:ext cx="457200" cy="274320"/>
          </a:xfrm>
          <a:prstGeom prst="rect">
            <a:avLst/>
          </a:prstGeom>
          <a:noFill/>
        </p:spPr>
        <p:txBody>
          <a:bodyPr wrap="square" lIns="0" rIns="0" tIns="0" bIns="0">
            <a:spAutoFit/>
          </a:bodyPr>
          <a:lstStyle/>
          <a:p>
            <a:pPr algn="r">
              <a:lnSpc>
                <a:spcPct val="101000"/>
              </a:lnSpc>
              <a:spcAft>
                <a:spcPts val="300"/>
              </a:spcAft>
              <a:defRPr sz="1300" b="1">
                <a:solidFill>
                  <a:srgbClr val="203350"/>
                </a:solidFill>
                <a:latin typeface="DejaVu Sans"/>
              </a:defRPr>
            </a:pPr>
            <a:r>
              <a:t>ANX</a:t>
            </a:r>
          </a:p>
        </p:txBody>
      </p:sp>
      <p:sp>
        <p:nvSpPr>
          <p:cNvPr id="16" name="Rounded Rectangle 15">
            <a:hlinkClick r:id="rId7"/>
          </p:cNvPr>
          <p:cNvSpPr/>
          <p:nvPr/>
        </p:nvSpPr>
        <p:spPr>
          <a:xfrm>
            <a:off x="685800" y="2606040"/>
            <a:ext cx="10835640" cy="329184"/>
          </a:xfrm>
          <a:prstGeom prst="roundRect">
            <a:avLst>
              <a:gd name="adj" fmla="val 8000"/>
            </a:avLst>
          </a:prstGeom>
          <a:solidFill>
            <a:srgbClr val="E0F7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a:hlinkClick r:id="rId7"/>
          </p:cNvPr>
          <p:cNvSpPr txBox="1"/>
          <p:nvPr/>
        </p:nvSpPr>
        <p:spPr>
          <a:xfrm>
            <a:off x="795528" y="2688336"/>
            <a:ext cx="10616184" cy="237744"/>
          </a:xfrm>
          <a:prstGeom prst="rect">
            <a:avLst/>
          </a:prstGeom>
          <a:noFill/>
        </p:spPr>
        <p:txBody>
          <a:bodyPr wrap="square" lIns="0" rIns="0" tIns="0" bIns="0">
            <a:spAutoFit/>
          </a:bodyPr>
          <a:lstStyle/>
          <a:p>
            <a:pPr algn="l">
              <a:lnSpc>
                <a:spcPct val="101000"/>
              </a:lnSpc>
              <a:spcAft>
                <a:spcPts val="300"/>
              </a:spcAft>
              <a:defRPr sz="1100" b="1">
                <a:solidFill>
                  <a:srgbClr val="203350"/>
                </a:solidFill>
                <a:latin typeface="DejaVu Sans"/>
              </a:defRPr>
            </a:pPr>
            <a:r>
              <a:t>Manual oficial y caso alimentario</a:t>
            </a:r>
          </a:p>
        </p:txBody>
      </p:sp>
      <p:sp>
        <p:nvSpPr>
          <p:cNvPr id="18" name="Rounded Rectangle 17">
            <a:hlinkClick r:id="rId8"/>
          </p:cNvPr>
          <p:cNvSpPr/>
          <p:nvPr/>
        </p:nvSpPr>
        <p:spPr>
          <a:xfrm>
            <a:off x="685800" y="3035808"/>
            <a:ext cx="10835640" cy="329184"/>
          </a:xfrm>
          <a:prstGeom prst="roundRect">
            <a:avLst>
              <a:gd name="adj" fmla="val 8000"/>
            </a:avLst>
          </a:prstGeom>
          <a:solidFill>
            <a:srgbClr val="E2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a:hlinkClick r:id="rId8"/>
          </p:cNvPr>
          <p:cNvSpPr txBox="1"/>
          <p:nvPr/>
        </p:nvSpPr>
        <p:spPr>
          <a:xfrm>
            <a:off x="795528" y="3118104"/>
            <a:ext cx="10616184" cy="237744"/>
          </a:xfrm>
          <a:prstGeom prst="rect">
            <a:avLst/>
          </a:prstGeom>
          <a:noFill/>
        </p:spPr>
        <p:txBody>
          <a:bodyPr wrap="square" lIns="0" rIns="0" tIns="0" bIns="0">
            <a:spAutoFit/>
          </a:bodyPr>
          <a:lstStyle/>
          <a:p>
            <a:pPr algn="l">
              <a:lnSpc>
                <a:spcPct val="101000"/>
              </a:lnSpc>
              <a:spcAft>
                <a:spcPts val="300"/>
              </a:spcAft>
              <a:defRPr sz="1100" b="1">
                <a:solidFill>
                  <a:srgbClr val="203350"/>
                </a:solidFill>
                <a:latin typeface="DejaVu Sans"/>
              </a:defRPr>
            </a:pPr>
            <a:r>
              <a:t>Descarga oficial del software</a:t>
            </a:r>
          </a:p>
        </p:txBody>
      </p:sp>
      <p:sp>
        <p:nvSpPr>
          <p:cNvPr id="20" name="Rounded Rectangle 19">
            <a:hlinkClick r:id="rId9"/>
          </p:cNvPr>
          <p:cNvSpPr/>
          <p:nvPr/>
        </p:nvSpPr>
        <p:spPr>
          <a:xfrm>
            <a:off x="685800" y="3465576"/>
            <a:ext cx="10835640" cy="329184"/>
          </a:xfrm>
          <a:prstGeom prst="roundRect">
            <a:avLst>
              <a:gd name="adj" fmla="val 8000"/>
            </a:avLst>
          </a:prstGeom>
          <a:solidFill>
            <a:srgbClr val="EEE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a:hlinkClick r:id="rId9"/>
          </p:cNvPr>
          <p:cNvSpPr txBox="1"/>
          <p:nvPr/>
        </p:nvSpPr>
        <p:spPr>
          <a:xfrm>
            <a:off x="795528" y="3547872"/>
            <a:ext cx="10616184" cy="237744"/>
          </a:xfrm>
          <a:prstGeom prst="rect">
            <a:avLst/>
          </a:prstGeom>
          <a:noFill/>
        </p:spPr>
        <p:txBody>
          <a:bodyPr wrap="square" lIns="0" rIns="0" tIns="0" bIns="0">
            <a:spAutoFit/>
          </a:bodyPr>
          <a:lstStyle/>
          <a:p>
            <a:pPr algn="l">
              <a:lnSpc>
                <a:spcPct val="101000"/>
              </a:lnSpc>
              <a:spcAft>
                <a:spcPts val="300"/>
              </a:spcAft>
              <a:defRPr sz="1100" b="1">
                <a:solidFill>
                  <a:srgbClr val="203350"/>
                </a:solidFill>
                <a:latin typeface="DejaVu Sans"/>
              </a:defRPr>
            </a:pPr>
            <a:r>
              <a:t>Manual de instalación</a:t>
            </a:r>
          </a:p>
        </p:txBody>
      </p:sp>
      <p:sp>
        <p:nvSpPr>
          <p:cNvPr id="22" name="Rounded Rectangle 21">
            <a:hlinkClick r:id="rId10"/>
          </p:cNvPr>
          <p:cNvSpPr/>
          <p:nvPr/>
        </p:nvSpPr>
        <p:spPr>
          <a:xfrm>
            <a:off x="685800" y="3895344"/>
            <a:ext cx="10835640" cy="329184"/>
          </a:xfrm>
          <a:prstGeom prst="roundRect">
            <a:avLst>
              <a:gd name="adj" fmla="val 8000"/>
            </a:avLst>
          </a:prstGeom>
          <a:solidFill>
            <a:srgbClr val="FFF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a:hlinkClick r:id="rId10"/>
          </p:cNvPr>
          <p:cNvSpPr txBox="1"/>
          <p:nvPr/>
        </p:nvSpPr>
        <p:spPr>
          <a:xfrm>
            <a:off x="795528" y="3977639"/>
            <a:ext cx="10616184" cy="237744"/>
          </a:xfrm>
          <a:prstGeom prst="rect">
            <a:avLst/>
          </a:prstGeom>
          <a:noFill/>
        </p:spPr>
        <p:txBody>
          <a:bodyPr wrap="square" lIns="0" rIns="0" tIns="0" bIns="0">
            <a:spAutoFit/>
          </a:bodyPr>
          <a:lstStyle/>
          <a:p>
            <a:pPr algn="l">
              <a:lnSpc>
                <a:spcPct val="101000"/>
              </a:lnSpc>
              <a:spcAft>
                <a:spcPts val="300"/>
              </a:spcAft>
              <a:defRPr sz="1100" b="1">
                <a:solidFill>
                  <a:srgbClr val="203350"/>
                </a:solidFill>
                <a:latin typeface="DejaVu Sans"/>
              </a:defRPr>
            </a:pPr>
            <a:r>
              <a:t>Importación de datos</a:t>
            </a:r>
          </a:p>
        </p:txBody>
      </p:sp>
      <p:sp>
        <p:nvSpPr>
          <p:cNvPr id="24" name="Rounded Rectangle 23">
            <a:hlinkClick r:id="rId11"/>
          </p:cNvPr>
          <p:cNvSpPr/>
          <p:nvPr/>
        </p:nvSpPr>
        <p:spPr>
          <a:xfrm>
            <a:off x="685800" y="4325112"/>
            <a:ext cx="10835640" cy="329184"/>
          </a:xfrm>
          <a:prstGeom prst="roundRect">
            <a:avLst>
              <a:gd name="adj" fmla="val 8000"/>
            </a:avLst>
          </a:prstGeom>
          <a:solidFill>
            <a:srgbClr val="E0F7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a:hlinkClick r:id="rId11"/>
          </p:cNvPr>
          <p:cNvSpPr txBox="1"/>
          <p:nvPr/>
        </p:nvSpPr>
        <p:spPr>
          <a:xfrm>
            <a:off x="795528" y="4407408"/>
            <a:ext cx="10616184" cy="237744"/>
          </a:xfrm>
          <a:prstGeom prst="rect">
            <a:avLst/>
          </a:prstGeom>
          <a:noFill/>
        </p:spPr>
        <p:txBody>
          <a:bodyPr wrap="square" lIns="0" rIns="0" tIns="0" bIns="0">
            <a:spAutoFit/>
          </a:bodyPr>
          <a:lstStyle/>
          <a:p>
            <a:pPr algn="l">
              <a:lnSpc>
                <a:spcPct val="101000"/>
              </a:lnSpc>
              <a:spcAft>
                <a:spcPts val="300"/>
              </a:spcAft>
              <a:defRPr sz="1100" b="1">
                <a:solidFill>
                  <a:srgbClr val="203350"/>
                </a:solidFill>
                <a:latin typeface="DejaVu Sans"/>
              </a:defRPr>
            </a:pPr>
            <a:r>
              <a:t>Validación y cobertura</a:t>
            </a:r>
          </a:p>
        </p:txBody>
      </p:sp>
      <p:sp>
        <p:nvSpPr>
          <p:cNvPr id="26" name="Rounded Rectangle 25">
            <a:hlinkClick r:id="rId12"/>
          </p:cNvPr>
          <p:cNvSpPr/>
          <p:nvPr/>
        </p:nvSpPr>
        <p:spPr>
          <a:xfrm>
            <a:off x="685800" y="4754879"/>
            <a:ext cx="10835640" cy="329184"/>
          </a:xfrm>
          <a:prstGeom prst="roundRect">
            <a:avLst>
              <a:gd name="adj" fmla="val 8000"/>
            </a:avLst>
          </a:prstGeom>
          <a:solidFill>
            <a:srgbClr val="E2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a:hlinkClick r:id="rId12"/>
          </p:cNvPr>
          <p:cNvSpPr txBox="1"/>
          <p:nvPr/>
        </p:nvSpPr>
        <p:spPr>
          <a:xfrm>
            <a:off x="795528" y="4837175"/>
            <a:ext cx="10616184" cy="237744"/>
          </a:xfrm>
          <a:prstGeom prst="rect">
            <a:avLst/>
          </a:prstGeom>
          <a:noFill/>
        </p:spPr>
        <p:txBody>
          <a:bodyPr wrap="square" lIns="0" rIns="0" tIns="0" bIns="0">
            <a:spAutoFit/>
          </a:bodyPr>
          <a:lstStyle/>
          <a:p>
            <a:pPr algn="l">
              <a:lnSpc>
                <a:spcPct val="101000"/>
              </a:lnSpc>
              <a:spcAft>
                <a:spcPts val="300"/>
              </a:spcAft>
              <a:defRPr sz="1100" b="1">
                <a:solidFill>
                  <a:srgbClr val="203350"/>
                </a:solidFill>
                <a:latin typeface="DejaVu Sans"/>
              </a:defRPr>
            </a:pPr>
            <a:r>
              <a:t>Factores de referencia</a:t>
            </a:r>
          </a:p>
        </p:txBody>
      </p:sp>
      <p:sp>
        <p:nvSpPr>
          <p:cNvPr id="28" name="Rounded Rectangle 27">
            <a:hlinkClick r:id="rId13"/>
          </p:cNvPr>
          <p:cNvSpPr/>
          <p:nvPr/>
        </p:nvSpPr>
        <p:spPr>
          <a:xfrm>
            <a:off x="685800" y="5184648"/>
            <a:ext cx="10835640" cy="329184"/>
          </a:xfrm>
          <a:prstGeom prst="roundRect">
            <a:avLst>
              <a:gd name="adj" fmla="val 8000"/>
            </a:avLst>
          </a:prstGeom>
          <a:solidFill>
            <a:srgbClr val="EEE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a:hlinkClick r:id="rId13"/>
          </p:cNvPr>
          <p:cNvSpPr txBox="1"/>
          <p:nvPr/>
        </p:nvSpPr>
        <p:spPr>
          <a:xfrm>
            <a:off x="795528" y="5266944"/>
            <a:ext cx="10616184" cy="237744"/>
          </a:xfrm>
          <a:prstGeom prst="rect">
            <a:avLst/>
          </a:prstGeom>
          <a:noFill/>
        </p:spPr>
        <p:txBody>
          <a:bodyPr wrap="square" lIns="0" rIns="0" tIns="0" bIns="0">
            <a:spAutoFit/>
          </a:bodyPr>
          <a:lstStyle/>
          <a:p>
            <a:pPr algn="l">
              <a:lnSpc>
                <a:spcPct val="101000"/>
              </a:lnSpc>
              <a:spcAft>
                <a:spcPts val="300"/>
              </a:spcAft>
              <a:defRPr sz="1100" b="1">
                <a:solidFill>
                  <a:srgbClr val="203350"/>
                </a:solidFill>
                <a:latin typeface="DejaVu Sans"/>
              </a:defRPr>
            </a:pPr>
            <a:r>
              <a:t>Motor utilizado para la comprobación</a:t>
            </a:r>
          </a:p>
        </p:txBody>
      </p:sp>
      <p:sp>
        <p:nvSpPr>
          <p:cNvPr id="30" name="TextBox 29"/>
          <p:cNvSpPr txBox="1"/>
          <p:nvPr/>
        </p:nvSpPr>
        <p:spPr>
          <a:xfrm>
            <a:off x="777240" y="5806440"/>
            <a:ext cx="10698480" cy="384048"/>
          </a:xfrm>
          <a:prstGeom prst="rect">
            <a:avLst/>
          </a:prstGeom>
          <a:noFill/>
        </p:spPr>
        <p:txBody>
          <a:bodyPr wrap="square" lIns="0" rIns="0" tIns="0" bIns="0">
            <a:spAutoFit/>
          </a:bodyPr>
          <a:lstStyle/>
          <a:p>
            <a:pPr algn="l">
              <a:lnSpc>
                <a:spcPct val="101000"/>
              </a:lnSpc>
              <a:spcAft>
                <a:spcPts val="300"/>
              </a:spcAft>
              <a:defRPr sz="1000" b="0">
                <a:solidFill>
                  <a:srgbClr val="5C6E83"/>
                </a:solidFill>
                <a:latin typeface="DejaVu Sans"/>
              </a:defRPr>
            </a:pPr>
            <a:r>
              <a:t>Inventarios simulados. Motor verificado: olca-core 2.6.2; interfaz Windows no ejecutada aquí.</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Laboratorio openLCA · Bebida de avena y leche</dc:title>
  <dc:subject>50 minutos · Windows · adaptación didáctica con datos simulados</dc:subject>
  <dc:creator>Emilia Espín Loza</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