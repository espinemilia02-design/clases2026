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Objetivos: explicar tres generaciones, elegir una plataforma por la pregunta y evaluar cómo se obtiene un MAG. Caso conductor: comparar comunidades de agua y sedimento. Pedir al grupo que distinga leer bases, identificar organismos y recuperar genomas.</a:t>
            </a:r>
          </a:p>
          <a:p>
            <a:r>
              <a:t>Fuentes: [1–5,9–10] · Esquemas originales; datos y ejercicios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generaciones son una clasificación didáctica. Primera: Sanger. Segunda: lectura masiva de fragmentos, con Illumina como ejemplo actual. Tercera: molécula individual, con PacBio y Nanopore. 454 y SOLiD son antecedentes históricos. No hay una plataforma que sustituya a todas las otras para cualquier pregunta.</a:t>
            </a:r>
          </a:p>
          <a:p>
            <a:r>
              <a:t>Fuentes: [1–3,18–19]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primer inicia la síntesis. La incorporación de un ddNTP sin grupo 3′-OH detiene la cadena; separar los fragmentos por tamaño permite ordenar las bases. El esquema muestra la versión de lectura fluorescente capilar. Aplicaciones: regiones específicas, clones y confirmación de variantes. Una mezcla de amplicones dificulta la lectura.</a:t>
            </a:r>
          </a:p>
          <a:p>
            <a:r>
              <a:t>Fuentes: [1,19]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moléculas adaptadas se unen a una flow cell y generan clusters. En SBS se incorpora una base con bloqueo reversible, se detecta la señal y se elimina el bloqueo para continuar. El mecanismo de clusters y el número de canales ópticos dependen del instrumento. Los cuatro colores son un dibujo conceptual, no una codificación universal.</a:t>
            </a:r>
          </a:p>
          <a:p>
            <a:r>
              <a:t>Fuentes: [2–3,15]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 inserto de 500 pb, PE150 lee 150 pb desde cada extremo; quedan 200 pb sin leer entre ambos. Se obtienen 300 bases nominales por par, no una lectura continua de 300 pb. Los índices identifican muestras y no forman parte del inserto. UDI ayuda a reconocer combinaciones no válidas por index hopping; no elimina toda contaminación.</a:t>
            </a:r>
          </a:p>
          <a:p>
            <a:r>
              <a:t>Fuentes: [15–16]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motor controla el paso de ADN por un poro. La corriente depende del contexto de varias bases y el basecaller infiere la secuencia a partir de la señal temporal. Conservar POD5 permite revisar modelos y modificaciones. La longitud depende de la integridad del ADN. Usar modelos compatibles con química, tipo de molécula y objetivo.</a:t>
            </a:r>
          </a:p>
          <a:p>
            <a:r>
              <a:t>Fuentes: [4–5,17]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plantilla SMRTbell permite observar varias pasadas de una misma molécula. CCS combina observaciones para producir una lectura HiFi. No se trata de PCR. No equiparar precisión de lectura bruta, precisión de lectura por consenso y precisión del ensamblaje final.</a:t>
            </a:r>
          </a:p>
          <a:p>
            <a:r>
              <a:t>Fuentes: [18]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comparación se hace por objetivo, bases útiles, longitud, exactitud y costo total con cómputo. Illumina ofrece datos cortos para perfiles y variantes con diseños adecuados. Nanopore facilita contexto largo y análisis durante la corrida. Los rendimientos y errores no son propiedades fijas de una generación: declarar instrumento, química y modelo.</a:t>
            </a:r>
          </a:p>
          <a:p>
            <a:r>
              <a:t>Fuentes: [4–5,9–10,15–18]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muestras por sitio son un ejemplo, no un cálculo de tamaño muestral. Definir unidad biológica, confusores y metadatos. Balancear condiciones entre extracciones y corridas; no poner todo A en un lote y B en otro. Repetir bibliotecas de una sola muestra mide variación técnica, no variación biológica.</a:t>
            </a:r>
          </a:p>
          <a:p>
            <a:r>
              <a:t>Fuentes: [10,14]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lisis debe representar la comunidad sin destruir la longitud necesaria. En ADN de alto peso molecular, una lisis suave puede perder organismos resistentes; una lisis agresiva puede fragmentar. Medir masa por fluorometría, tamaño por gel o electroforesis e inhibición con un ensayo compatible. Absorbancia sola no demuestra ausencia de inhibidores.</a:t>
            </a:r>
          </a:p>
          <a:p>
            <a:r>
              <a:t>Fuentes: [4,8,14]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Illumina puede usar tagmentación o fragmentación y ligación; controlar inserto, adaptadores, índices y PCR cuando exista. Nanopore puede usar ligación o una preparación rápida; la elección afecta longitudes y entradas. Para modificaciones nativas, comprobar la compatibilidad del ensayo: una amplificación copia bases y pierde esa información original.</a:t>
            </a:r>
          </a:p>
          <a:p>
            <a:r>
              <a:t>Fuentes: [4–5,15–18]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Diez millones de pares contienen veinte millones de lecturas. PE150 aporta 300 bases por par: 10^7 × 300 = 3 × 10^9 bases = 3 Gb nominales, sin contar índices. Si se supone 80 % de bases útiles, quedan 2,4 Gb. Ese porcentaje es del ejemplo y se debe medir en el piloto.</a:t>
            </a:r>
          </a:p>
          <a:p>
            <a:r>
              <a:t>Fuentes: [15] · Ejemplo didáctico PE150.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 de planificación: C_i ≈ B × a_i / G_i. B son bases útiles de la comunidad; a_i es fracción de bases atribuida a la especie, no necesariamente fracción de células; G_i es tamaño de su genoma. Con 30 Gb, a=0,001 y G=4 Mb resulta 7,5×. Llegar a 30× ideales requeriría 120 Gb útiles. Extracción, heterogeneidad de cepas y cobertura desigual pueden impedir recuperar un MAG.</a:t>
            </a:r>
          </a:p>
          <a:p>
            <a:r>
              <a:t>Fuentes: [7–10] · Modelo idealizado para diseño.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Q=-10 log10(p). Q30 equivale a error nominal por base de 0,1 %; comprobar la calibración con evidencia observada. N50 resume continuidad, no exactitud: contigs de 10, 8 y 2 kb suman 20 kb y su N50 es 10 kb. Distinguir N50 de lecturas y de contigs. Reportar profundidad media y amplitud cubierta.</a:t>
            </a:r>
          </a:p>
          <a:p>
            <a:r>
              <a:t>Fuentes: [4,10–12,17]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Construir la SOP a partir de un piloto representativo. Definir controles y criterios antes de procesar toda la cohorte. Un mock celular prueba extracción y etapas posteriores; un mock de ADN no evalúa lisis. El blanco acompaña la extracción. Una réplica técnica mide repetibilidad. Registrar versiones de protocolo, química, modelos, software y bases de datos; verificar desempeño después de cambios.</a:t>
            </a:r>
          </a:p>
          <a:p>
            <a:r>
              <a:t>Fuentes: [11,14–17]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16S e ITS son marcadores amplificados y sujetos a sesgos de primers y copias por genoma. Leer 16S completo con Nanopore sigue siendo un estudio de marcador. Shotgun estudia ADN comunitario y permite observar genes y recuperar MAGs si hay datos suficientes. Inferir funciones desde un marcador no equivale a observar esos genes; ADN tampoco demuestra actividad.</a:t>
            </a:r>
          </a:p>
          <a:p>
            <a:r>
              <a:t>Fuentes: [2,7–10]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Illumina parte de demultiplexado y FASTQ R1/R2. Nanopore parte de señal y basecalling; conservar BAM si se necesitan etiquetas de modificaciones y extraer FASTQ cuando corresponda. Hacer QC, retirar adaptadores y evaluar hospedero. Separar perfil basado en lecturas de ensamblaje y binning. Versionar bases de datos, parámetros, contenedores y registros de ejecución.</a:t>
            </a:r>
          </a:p>
          <a:p>
            <a:r>
              <a:t>Fuentes: [4,7–10,17]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lectura larga puede atravesar una repetición y unir sus flancos únicos. Las lecturas cortas pueden aportar profundidad o corrección; una estrategia híbrida no siempre es necesaria. Elegir ensamblador y pulido compatibles con los datos. Comprobar que no se mezclaron cepas ni se introdujeron cambios incorrectos. Longitud y circularidad por sí solas no validan el resultado.</a:t>
            </a:r>
          </a:p>
          <a:p>
            <a:r>
              <a:t>Fuentes: [7–10]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binning usa composición y cobertura, a menudo entre varias muestras, para agrupar contigs. El gráfico de GC/cobertura ilustra las señales y no representa el algoritmo completo. Genomas próximos, cepas y elementos móviles pueden mezclarse o quedar fuera. Refinar y evaluar la coherencia antes de asignar una categoría de MAG.</a:t>
            </a:r>
          </a:p>
          <a:p>
            <a:r>
              <a:t>Fuentes: [7–9,11–13]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MIMAG para borradores HQ de bacterias y arqueas: completitud &gt;90 %, contaminación &lt;5 %, genes rRNA 23S, 16S y 5S y al menos 18 tRNA que representen 18 aminoácidos. La categoría media requiere completitud ≥50 % y contaminación &lt;10 %. CheckM2 estima calidad; GUNC aporta otra evaluación de quimerismo. Revisar además alineamientos y contigs. No aplicar estos umbrales bacterianos directamente a virus.</a:t>
            </a:r>
          </a:p>
          <a:p>
            <a:r>
              <a:t>Fuentes: [11–13]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Dereplicar evita contar genomas redundantes; declarar umbrales. La taxonomía y anotación dependen de la base de datos y su versión. Un gen no encontrado en un MAG incompleto puede no haberse recuperado. Para abundancia, remapear y revisar lecturas ambiguas; los datos son composicionales. Genes de resistencia requieren contexto y controles, y no prueban por sí solos resistencia fenotípica.</a:t>
            </a:r>
          </a:p>
          <a:p>
            <a:r>
              <a:t>Fuentes: [7–13]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Greninger 2015 es una prueba histórica de identificación viral durante adquisición de datos: no trasladar sus tiempos ni errores a equipos actuales. Singleton 2021 recuperó 1 083 MAGs HQ de 23 plantas de tratamiento y conectó genomas con otra evidencia funcional. Liew 2024 aplicó ensamblaje híbrido a biofilms termales. Usar MIMAG original: el artículo de 2024 simplifica incorrectamente HQ como &gt;80 % y asocia Q20 con un error que no coincide con la definición nominal.</a:t>
            </a:r>
          </a:p>
          <a:p>
            <a:r>
              <a:t>Fuentes: [6–8]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Sereika 2025 empleó lecturas largas profundas en 154 muestras de suelo y sedimento para ampliar el catálogo de diversidad. Visci 2026 comparó tres plataformas en un mock de 20 especies: la cobertura, errores y ensamblador cambiaron los resultados. Un mock uniforme no reproduce toda la complejidad ambiental. Comparar la química y los datos realmente utilizados, que pueden preceder al año de publicación.</a:t>
            </a:r>
          </a:p>
          <a:p>
            <a:r>
              <a:t>Fuentes: [9–10]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Actividad: comparar genes de resistencia y reconstruir genomas exige shotgun; 16S por sí solo no resuelve esos objetivos. Proponer réplicas biológicas, blanco, mock y piloto. Una especie al 0,1 % de las bases con genoma de 4 Mb recibe 7,5× de cobertura media ideal con 30 Gb útiles. Para continuidad considerar Nanopore con ADN adecuado o una combinación; no prometer MAG HQ por escoger una marca.</a:t>
            </a:r>
          </a:p>
          <a:p>
            <a:r>
              <a:t>Fuentes: Cálculo didáctico · síntesis de [7–17].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tres decisiones: qué inferencia interesa, qué datos y controles exige y cómo se verificará. La comparación de plataformas tiene sentido solo bajo un diseño concreto. Los anexos guardan cálculos y criterios para revisar fuera de la sesión. Bibliografía al final.</a:t>
            </a:r>
          </a:p>
          <a:p>
            <a:r>
              <a:t>Fuentes: [4,9–18]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ADN de doble hebra: nM = concentración en ng/µL × 10^6 / (660 × longitud en pb). Una biblioteca de 10 ng/µL y 500 pb totales tiene 30,3 nM. Para 20 µL a 4 nM, tomar 2,64 µL y completar con 17,36 µL. Incluir adaptadores en la longitud. No trasladar la fórmula sin ajuste a RNA o ADN monocatenario ni confundir fluorometría total con moléculas amplificables.</a:t>
            </a:r>
          </a:p>
          <a:p>
            <a:r>
              <a:t>Fuentes: Ejemplo de ADN ds · revisar longitud total y kit.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Registrar flow cell, química, kit, barcodes, tratamiento de ADN, software y nombre completo del modelo. Simplex observa una hebra; duplex combina hebras de la misma molécula cuando se recuperan ambas de forma compatible. No es paired-end de Illumina. La fracción duplex afecta el rendimiento. Los programas históricos de un artículo no deben adoptarse automáticamente. Muestreo adaptativo permite rechazar moléculas durante la corrida; validar recuperación y sesgo.</a:t>
            </a:r>
          </a:p>
          <a:p>
            <a:r>
              <a:t>Fuentes: [4–5,17]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una plantilla, no un conjunto de umbrales universales. Definir en un piloto la masa útil, integridad, inhibición, tamaño de biblioteca, rendimiento y calidad necesarios para la pregunta. Comparar blancos y mock antes de interpretar señales pequeñas. Un cambio de kit o modelo exige verificar de nuevo el desempeño pertinente. Preservar los resultados de todos los controles.</a:t>
            </a:r>
          </a:p>
          <a:p>
            <a:r>
              <a:t>Fuentes: [11,14–17]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herramientas son ejemplos de etapas, no un pipeline obligatorio ni un ranking actualizado. Versionar código y bases de datos. Ajustar ensamblador a lecturas cortas o largas; aprovechar coberturas por muestra en binning. Validar métodos de perfiles para el tipo de lectura y comunidad. Los modelos de abundancia de lecturas cortas no deben aplicarse automáticamente a longitudes Nanopore variables.</a:t>
            </a:r>
          </a:p>
          <a:p>
            <a:r>
              <a:t>Fuentes: [4,7–13,17]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N50 no prueba exactitud. Un MAG con estimaciones 95 % de completitud y 2 % de contaminación necesita además rRNA y tRNA para HQ según MIMAG. Ausencia de un gen en un borrador incompleto no demuestra ausencia biológica. Circularidad no verifica pertenencia, contaminación ni precisión de bases. Las métricas deben interpretarse juntas.</a:t>
            </a:r>
          </a:p>
          <a:p>
            <a:r>
              <a:t>Fuentes: [11–13]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B=30 Gb ya excluye hospedero y datos descartados, la cobertura del caso es 7,5×. Si son 30 Gb brutas, 80 % pasa QC y solo 10 % de las bases restantes es microbiano, B=2,4 Gb de la comunidad y C=0,6×. Declarar siempre los denominadores y no descontar dos veces hospedero o pérdidas. Añadir más lectura puede ayudar, pero no corrige por sí sola sesgos de extracción.</a:t>
            </a:r>
          </a:p>
          <a:p>
            <a:r>
              <a:t>Fuentes: Ejercicio didáctico · [7–17].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Bibliografía de fundamentos y ocho artículos compartidos. Varias editoriales limitaron el acceso: se contrastaron títulos, DOI y resúmenes indexados cuando el texto completo no estaba disponible. No se reproduce material gráfico editorial: todos los esquemas son originales.</a:t>
            </a:r>
          </a:p>
          <a:p>
            <a:r>
              <a:t>Fuentes: Enlaces DOI y documentación completos en la guía docente.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recientes de 2025 y 2026, normas de calidad y documentación oficial. La fecha de consulta es 28 de octubre de 2026. Las páginas latest cambian: al ejecutar un análisis real se debe fijar la versión concreta, el modelo y las bases de datos.</a:t>
            </a:r>
          </a:p>
          <a:p>
            <a:r>
              <a:t>Fuentes: Enlaces DOI y documentación completos en la guía docente.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doi.org/10.1016/j.nbt.2012.11.012" TargetMode="External"/><Relationship Id="rId4" Type="http://schemas.openxmlformats.org/officeDocument/2006/relationships/hyperlink" Target="https://doi.org/10.1016/j.ygeno.2008.07.001" TargetMode="External"/><Relationship Id="rId5" Type="http://schemas.openxmlformats.org/officeDocument/2006/relationships/hyperlink" Target="https://doi.org/10.1586/erm.11.3" TargetMode="External"/><Relationship Id="rId6" Type="http://schemas.openxmlformats.org/officeDocument/2006/relationships/hyperlink" Target="https://doi.org/10.1038/s41587-021-01108-x" TargetMode="External"/><Relationship Id="rId7" Type="http://schemas.openxmlformats.org/officeDocument/2006/relationships/hyperlink" Target="https://doi.org/10.1002/mco2.316" TargetMode="External"/><Relationship Id="rId8" Type="http://schemas.openxmlformats.org/officeDocument/2006/relationships/hyperlink" Target="https://doi.org/10.1186/s13073-015-0220-9" TargetMode="External"/><Relationship Id="rId9" Type="http://schemas.openxmlformats.org/officeDocument/2006/relationships/hyperlink" Target="https://doi.org/10.1038/s41467-021-22203-2" TargetMode="External"/><Relationship Id="rId10" Type="http://schemas.openxmlformats.org/officeDocument/2006/relationships/hyperlink" Target="https://doi.org/10.1186/s40793-024-00572-7" TargetMode="External"/><Relationship Id="rId11" Type="http://schemas.openxmlformats.org/officeDocument/2006/relationships/hyperlink" Target="https://doi.org/10.1073/pnas.74.12.5463"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doi.org/10.1038/s41564-025-02062-z" TargetMode="External"/><Relationship Id="rId4" Type="http://schemas.openxmlformats.org/officeDocument/2006/relationships/hyperlink" Target="https://doi.org/10.1038/s41598-026-49725-3" TargetMode="External"/><Relationship Id="rId5" Type="http://schemas.openxmlformats.org/officeDocument/2006/relationships/hyperlink" Target="https://doi.org/10.1038/nbt.3893" TargetMode="External"/><Relationship Id="rId6" Type="http://schemas.openxmlformats.org/officeDocument/2006/relationships/hyperlink" Target="https://doi.org/10.1038/s41592-023-01940-w" TargetMode="External"/><Relationship Id="rId7" Type="http://schemas.openxmlformats.org/officeDocument/2006/relationships/hyperlink" Target="https://doi.org/10.1186/s13059-021-02393-0" TargetMode="External"/><Relationship Id="rId8" Type="http://schemas.openxmlformats.org/officeDocument/2006/relationships/hyperlink" Target="https://doi.org/10.1038/nbt.3960" TargetMode="External"/><Relationship Id="rId9" Type="http://schemas.openxmlformats.org/officeDocument/2006/relationships/hyperlink" Target="https://www.illumina.com/science/technology/next-generation-sequencing/sequencing-technology.html" TargetMode="External"/><Relationship Id="rId10" Type="http://schemas.openxmlformats.org/officeDocument/2006/relationships/hyperlink" Target="https://supportassets.illumina.com/techniques/sequencing/ngs-library-prep/multiplexing/unique-dual-indexes.html" TargetMode="External"/><Relationship Id="rId11" Type="http://schemas.openxmlformats.org/officeDocument/2006/relationships/hyperlink" Target="https://software-docs.nanoporetech.com/dorado/latest/" TargetMode="External"/><Relationship Id="rId12" Type="http://schemas.openxmlformats.org/officeDocument/2006/relationships/hyperlink" Target="https://www.pacb.com/technology/hifi-sequencing/how-it-work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BIOLOGÍA MOLECULAR · QUINTO SEMESTRE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Secuenciación: de las bases a los genomas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[1–5,9–10] · Esquemas originales; datos y ejercicios didácticos.</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01</a:t>
            </a:r>
          </a:p>
        </p:txBody>
      </p:sp>
      <p:sp>
        <p:nvSpPr>
          <p:cNvPr id="7" name="Oval 6"/>
          <p:cNvSpPr/>
          <p:nvPr/>
        </p:nvSpPr>
        <p:spPr>
          <a:xfrm>
            <a:off x="698500" y="2413000"/>
            <a:ext cx="1270000" cy="1270000"/>
          </a:xfrm>
          <a:prstGeom prst="ellipse">
            <a:avLst/>
          </a:prstGeom>
          <a:solidFill>
            <a:srgbClr val="CBE9E7"/>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9500" y="2762250"/>
            <a:ext cx="539750" cy="539750"/>
          </a:xfrm>
          <a:prstGeom prst="ellipse">
            <a:avLst/>
          </a:prstGeom>
          <a:solidFill>
            <a:srgbClr val="92B9D8"/>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0750" y="317500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82750" y="317500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8750" y="349250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120900" y="3048000"/>
            <a:ext cx="5461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781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578100" y="3048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997200" y="2946400"/>
            <a:ext cx="19304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97200" y="3136900"/>
            <a:ext cx="19304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861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512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163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5814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465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116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0767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418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069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720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37100" y="2946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207000" y="3048000"/>
            <a:ext cx="571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896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689600" y="3048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1341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1468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1595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1722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1849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1976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2103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2230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2357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2484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2611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2738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2865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2992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3119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3246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3373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3500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3627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3754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3881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4008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4135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262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4389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4516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4643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4770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4897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5024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5151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5278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5405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5532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5659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5786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5913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604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616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29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2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654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667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80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692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705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718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7310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7437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7564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7691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7818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67945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8072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8199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8326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8453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858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870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883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896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908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921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934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946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959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972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69850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69977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0104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0231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0358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0485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0612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70739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70866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70993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71120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71247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71374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1501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71628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71755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71882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72009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72136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72263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72390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72517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2644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72771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2898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3025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73152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3279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3406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3533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73660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3787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73914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4041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4168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74295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74422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4549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7467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7480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493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505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7518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7531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7543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7556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7569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7581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75946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76073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76200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76327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76454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6581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76708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76835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76962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77089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7721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7734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7747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7759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7772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7785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7797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7810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7823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7835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78486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78613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78740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78867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78994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79121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79248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79375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79502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79629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79756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79883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80010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80137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80264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80391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80518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80645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80772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8089900" y="2642235"/>
            <a:ext cx="12700" cy="368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8102600" y="2679060"/>
            <a:ext cx="12700" cy="10203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8115300" y="2781096"/>
            <a:ext cx="12700" cy="14507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8128000" y="2926166"/>
            <a:ext cx="12700" cy="1600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8140700" y="3086185"/>
            <a:ext cx="12700" cy="14971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8153400" y="3235900"/>
            <a:ext cx="12700" cy="1229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8166100" y="3358885"/>
            <a:ext cx="12700" cy="902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8178800" y="3449110"/>
            <a:ext cx="12700" cy="5968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8191500" y="3508798"/>
            <a:ext cx="12700" cy="3582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8204200" y="3544618"/>
            <a:ext cx="12700" cy="1958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8216900" y="3564198"/>
            <a:ext cx="12700" cy="977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8229600" y="3573973"/>
            <a:ext cx="12700" cy="446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8242300" y="3578440"/>
            <a:ext cx="12700" cy="18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8255000" y="3580311"/>
            <a:ext cx="12700" cy="71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8267700" y="3581030"/>
            <a:ext cx="12700" cy="25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8280400" y="3581284"/>
            <a:ext cx="12700" cy="8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8293100" y="3581366"/>
            <a:ext cx="12700" cy="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8305800" y="35813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8318500" y="35813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83312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83439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83566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83693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83820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83947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84074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84201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84328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8445500" y="35813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8458200" y="35813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84709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84836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84963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85090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8521700" y="35814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61341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61468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61595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61722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61849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61976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210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223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6235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6248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6261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6273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6286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299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311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324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3373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63500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63627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63754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63881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64008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64135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64262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64389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64516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64643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64770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64897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65024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65151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65278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65405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65532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65659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65786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65913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66040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66167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66294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66421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66548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66675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66802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66929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67056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67183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67310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67437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67564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67691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67818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67945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68072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6819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6832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6845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6858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6870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6883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6896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6908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6921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6934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69469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69596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69723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69850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69977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70104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70231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70358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70485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V="1">
            <a:off x="70612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7073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7086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7099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7112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7124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7137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7150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7162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7175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7188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V="1">
            <a:off x="72009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72136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V="1">
            <a:off x="72263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V="1">
            <a:off x="72390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V="1">
            <a:off x="72517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V="1">
            <a:off x="72644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V="1">
            <a:off x="72771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72898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73025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73152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73279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73406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73533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73660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flipV="1">
            <a:off x="73787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flipV="1">
            <a:off x="73914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flipV="1">
            <a:off x="74041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74168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74295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a:off x="74422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74549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a:off x="74676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a:off x="74803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a:off x="74930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a:off x="75057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a:off x="75184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a:off x="75311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75438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75565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75692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75819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75946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76073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76200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76327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76454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76581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76708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7683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7696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7708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7721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7734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7747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7759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7772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7785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7797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78105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78232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78359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78486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78613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78740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78867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78994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7912100" y="35814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flipV="1">
            <a:off x="7924800" y="35813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79375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79502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79629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79756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79883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80010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80137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80264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80391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8051800" y="35813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flipV="1">
            <a:off x="8064500" y="35813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80772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flipV="1">
            <a:off x="80899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V="1">
            <a:off x="81026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flipV="1">
            <a:off x="81153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flipV="1">
            <a:off x="81280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flipV="1">
            <a:off x="81407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flipV="1">
            <a:off x="81534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flipV="1">
            <a:off x="81661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V="1">
            <a:off x="81788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flipV="1">
            <a:off x="81915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flipV="1">
            <a:off x="82042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flipV="1">
            <a:off x="82169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flipV="1">
            <a:off x="82296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flipV="1">
            <a:off x="82423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V="1">
            <a:off x="82550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flipV="1">
            <a:off x="82677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flipV="1">
            <a:off x="82804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V="1">
            <a:off x="82931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8305800" y="2642235"/>
            <a:ext cx="12700" cy="368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8318500" y="2679060"/>
            <a:ext cx="12700" cy="10203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8331200" y="2781096"/>
            <a:ext cx="12700" cy="14507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8343900" y="2926166"/>
            <a:ext cx="12700" cy="1600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8356600" y="3086185"/>
            <a:ext cx="12700" cy="14971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8369300" y="3235900"/>
            <a:ext cx="12700" cy="1229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8382000" y="3358885"/>
            <a:ext cx="12700" cy="902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8394700" y="3449110"/>
            <a:ext cx="12700" cy="5968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8407400" y="3508798"/>
            <a:ext cx="12700" cy="3582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8420100" y="3544618"/>
            <a:ext cx="12700" cy="1958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a:off x="8432800" y="3564198"/>
            <a:ext cx="12700" cy="97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a:off x="8445500" y="3573973"/>
            <a:ext cx="12700" cy="446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8458200" y="3578440"/>
            <a:ext cx="12700" cy="18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8470900" y="3580311"/>
            <a:ext cx="12700" cy="71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8483600" y="3581030"/>
            <a:ext cx="12700" cy="25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8496300" y="3581284"/>
            <a:ext cx="12700" cy="8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8509000" y="3581366"/>
            <a:ext cx="12700" cy="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8521700" y="35813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6134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6146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6159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6172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6184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6197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6210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6223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62357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62484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6261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6273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6286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a:off x="6299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6311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6324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6337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6350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63627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63754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6388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6400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flipV="1">
            <a:off x="64135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6426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6438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6451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a:off x="6464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6477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6489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6502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6515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6527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a:off x="6540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65532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V="1">
            <a:off x="65659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V="1">
            <a:off x="65786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65913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V="1">
            <a:off x="66040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V="1">
            <a:off x="66167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V="1">
            <a:off x="66294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V="1">
            <a:off x="66421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V="1">
            <a:off x="66548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V="1">
            <a:off x="66675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V="1">
            <a:off x="66802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66929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67056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67183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67310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67437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67564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67691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67818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67945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68072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68199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68326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68453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68580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68707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68834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68961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69088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69215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69342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69469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69596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69723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69850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69977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70104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70231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7035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7048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7061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a:off x="7073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a:off x="7086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7099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a:off x="7112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a:off x="7124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a:off x="7137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a:off x="7150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71628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a:off x="7175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7188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7200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a:off x="7213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7226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a:off x="7239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72517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72644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flipV="1">
            <a:off x="72771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a:off x="7289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a:off x="7302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a:off x="7315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a:off x="7327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a:off x="7340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a:off x="7353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a:off x="7366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a:off x="7378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a:off x="7391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a:off x="7404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V="1">
            <a:off x="74168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flipV="1">
            <a:off x="74295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flipV="1">
            <a:off x="74422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flipV="1">
            <a:off x="74549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flipV="1">
            <a:off x="74676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V="1">
            <a:off x="74803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flipV="1">
            <a:off x="74930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V="1">
            <a:off x="75057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V="1">
            <a:off x="75184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75311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V="1">
            <a:off x="75438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V="1">
            <a:off x="75565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V="1">
            <a:off x="75692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75819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flipV="1">
            <a:off x="75946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76073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76200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76327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V="1">
            <a:off x="76454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76581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76708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a:off x="76835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76962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77089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77216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77343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77470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77597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a:off x="77724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77851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77978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78105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78232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78359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78486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78613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78740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78867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7899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7912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a:off x="7924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a:off x="7937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a:off x="7950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a:off x="7962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7975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a:off x="7988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a:off x="8001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8013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a:off x="80264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a:off x="80391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a:off x="80518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a:off x="80645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a:off x="80772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a:off x="80899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a:off x="81026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a:off x="81153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a:off x="8128000" y="35814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V="1">
            <a:off x="8140700" y="35813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a:off x="81534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a:off x="81661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a:off x="81788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a:off x="81915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a:off x="82042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a:off x="82169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a:off x="82296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a:off x="82423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a:off x="82550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a:off x="8267700" y="35813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flipV="1">
            <a:off x="8280400" y="35813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flipV="1">
            <a:off x="8293100" y="35813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V="1">
            <a:off x="8305800" y="3581366"/>
            <a:ext cx="12700" cy="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V="1">
            <a:off x="8318500" y="3581284"/>
            <a:ext cx="12700" cy="8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flipV="1">
            <a:off x="8331200" y="3581030"/>
            <a:ext cx="12700" cy="25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V="1">
            <a:off x="8343900" y="3580311"/>
            <a:ext cx="12700" cy="7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flipV="1">
            <a:off x="8356600" y="3578440"/>
            <a:ext cx="12700" cy="18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V="1">
            <a:off x="8369300" y="3573973"/>
            <a:ext cx="12700" cy="446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V="1">
            <a:off x="8382000" y="3564198"/>
            <a:ext cx="12700" cy="977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flipV="1">
            <a:off x="8394700" y="3544618"/>
            <a:ext cx="12700" cy="1958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flipV="1">
            <a:off x="8407400" y="3508798"/>
            <a:ext cx="12700" cy="3582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flipV="1">
            <a:off x="8420100" y="3449110"/>
            <a:ext cx="12700" cy="5968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flipV="1">
            <a:off x="8432800" y="3358885"/>
            <a:ext cx="12700" cy="902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flipV="1">
            <a:off x="8445500" y="3235900"/>
            <a:ext cx="12700" cy="1229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flipV="1">
            <a:off x="8458200" y="3086185"/>
            <a:ext cx="12700" cy="14971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flipV="1">
            <a:off x="8470900" y="2926166"/>
            <a:ext cx="12700" cy="16001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flipV="1">
            <a:off x="8483600" y="2781096"/>
            <a:ext cx="12700" cy="14507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flipV="1">
            <a:off x="8496300" y="2679060"/>
            <a:ext cx="12700" cy="10203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flipV="1">
            <a:off x="85090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8521700" y="2642235"/>
            <a:ext cx="12700" cy="368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6134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6146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6159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6172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6184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a:off x="6197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a:off x="6210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6223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a:off x="6235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6248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a:off x="6261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6273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a:off x="6286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6299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a:off x="6311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6324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6337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6350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6362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a:off x="6375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a:off x="6388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a:off x="6400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a:off x="6413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a:off x="6426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a:off x="6438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a:off x="6451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a:off x="6464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a:off x="6477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a:off x="6489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a:off x="6502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a:off x="6515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a:off x="6527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a:off x="6540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a:off x="6553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a:off x="6565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a:off x="6578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a:off x="6591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a:off x="6604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6616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flipV="1">
            <a:off x="66294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a:off x="6642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a:off x="6654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a:off x="6667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a:off x="6680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a:off x="6692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a:off x="6705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a:off x="6718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a:off x="6731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a:off x="6743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a:off x="6756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flipV="1">
            <a:off x="67691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flipV="1">
            <a:off x="67818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flipV="1">
            <a:off x="67945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flipV="1">
            <a:off x="68072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flipV="1">
            <a:off x="68199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flipV="1">
            <a:off x="68326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flipV="1">
            <a:off x="68453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flipV="1">
            <a:off x="68580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flipV="1">
            <a:off x="68707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flipV="1">
            <a:off x="68834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flipV="1">
            <a:off x="68961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flipV="1">
            <a:off x="69088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flipV="1">
            <a:off x="69215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flipV="1">
            <a:off x="69342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flipV="1">
            <a:off x="69469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flipV="1">
            <a:off x="69596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flipV="1">
            <a:off x="69723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flipV="1">
            <a:off x="69850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flipV="1">
            <a:off x="69977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70104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a:off x="70231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70358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a:off x="70485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a:off x="70612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70739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a:off x="70866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a:off x="70993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a:off x="71120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a:off x="71247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71374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a:off x="71501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71628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a:off x="71755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71882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a:off x="72009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a:off x="72136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a:off x="72263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72390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a:off x="7251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7264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7277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7289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7302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7315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a:off x="7327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7340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7353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7366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73787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7391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7404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7416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7429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7442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7454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a:off x="7467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a:off x="7480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flipV="1">
            <a:off x="74930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a:off x="7505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a:off x="7518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a:off x="7531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a:off x="7543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a:off x="7556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a:off x="7569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a:off x="7581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a:off x="7594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a:off x="7607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a:off x="7620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flipV="1">
            <a:off x="76327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76454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flipV="1">
            <a:off x="76581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flipV="1">
            <a:off x="76708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flipV="1">
            <a:off x="76835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76962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flipV="1">
            <a:off x="77089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flipV="1">
            <a:off x="77216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flipV="1">
            <a:off x="77343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flipV="1">
            <a:off x="77470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flipV="1">
            <a:off x="77597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flipV="1">
            <a:off x="77724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flipV="1">
            <a:off x="77851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flipV="1">
            <a:off x="77978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flipV="1">
            <a:off x="78105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flipV="1">
            <a:off x="78232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flipV="1">
            <a:off x="78359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flipV="1">
            <a:off x="78486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flipV="1">
            <a:off x="78613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7874000" y="2642235"/>
            <a:ext cx="12700" cy="368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7886700" y="2679060"/>
            <a:ext cx="12700" cy="10203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7899400" y="2781096"/>
            <a:ext cx="12700" cy="14507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7912100" y="2926166"/>
            <a:ext cx="12700" cy="1600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a:off x="7924800" y="3086185"/>
            <a:ext cx="12700" cy="14971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7937500" y="3235900"/>
            <a:ext cx="12700" cy="1229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a:off x="7950200" y="3358885"/>
            <a:ext cx="12700" cy="902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7962900" y="3449110"/>
            <a:ext cx="12700" cy="5968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a:off x="7975600" y="3508798"/>
            <a:ext cx="12700" cy="3582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7988300" y="3544618"/>
            <a:ext cx="12700" cy="1958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8001000" y="3564198"/>
            <a:ext cx="12700" cy="977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8013700" y="3573973"/>
            <a:ext cx="12700" cy="446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8026400" y="3578440"/>
            <a:ext cx="12700" cy="18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8039100" y="3580311"/>
            <a:ext cx="12700" cy="71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8051800" y="3581030"/>
            <a:ext cx="12700" cy="25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8064500" y="3581284"/>
            <a:ext cx="12700" cy="8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a:off x="8077200" y="3581366"/>
            <a:ext cx="12700" cy="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8089900" y="35813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a:off x="8102600" y="35813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81153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81280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81407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a:off x="81534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81661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81788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a:off x="81915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82042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82169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a:off x="8229600" y="35813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8242300" y="35813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8255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8267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8280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8293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a:off x="8305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8318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a:off x="8331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a:off x="8343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a:off x="8356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a:off x="8369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a:off x="8382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a:off x="8394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a:off x="84074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a:off x="84201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a:off x="84328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a:off x="84455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a:off x="84582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a:off x="84709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a:off x="84836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a:off x="84963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a:off x="85090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a:off x="8521700" y="35814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a:off x="8839200" y="3048000"/>
            <a:ext cx="495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a:off x="9245600" y="2984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flipV="1">
            <a:off x="9245600" y="3048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a:off x="9728200" y="2463800"/>
            <a:ext cx="1587500" cy="0"/>
          </a:xfrm>
          <a:prstGeom prst="line">
            <a:avLst/>
          </a:prstGeom>
          <a:ln w="1016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a:off x="9728200" y="2959100"/>
            <a:ext cx="1587500" cy="0"/>
          </a:xfrm>
          <a:prstGeom prst="line">
            <a:avLst/>
          </a:prstGeom>
          <a:ln w="1016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9728200" y="3454400"/>
            <a:ext cx="1587500" cy="0"/>
          </a:xfrm>
          <a:prstGeom prst="line">
            <a:avLst/>
          </a:prstGeom>
          <a:ln w="101600">
            <a:solidFill>
              <a:srgbClr val="8061AC"/>
            </a:solidFill>
          </a:ln>
        </p:spPr>
        <p:style>
          <a:lnRef idx="2">
            <a:schemeClr val="accent1"/>
          </a:lnRef>
          <a:fillRef idx="0">
            <a:schemeClr val="accent1"/>
          </a:fillRef>
          <a:effectRef idx="1">
            <a:schemeClr val="accent1"/>
          </a:effectRef>
          <a:fontRef idx="minor">
            <a:schemeClr val="tx1"/>
          </a:fontRef>
        </p:style>
      </p:cxnSp>
      <p:sp>
        <p:nvSpPr>
          <p:cNvPr id="793" name="TextBox 792"/>
          <p:cNvSpPr txBox="1"/>
          <p:nvPr/>
        </p:nvSpPr>
        <p:spPr>
          <a:xfrm>
            <a:off x="711200" y="4318000"/>
            <a:ext cx="2540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Muestra</a:t>
            </a:r>
          </a:p>
        </p:txBody>
      </p:sp>
      <p:sp>
        <p:nvSpPr>
          <p:cNvPr id="794" name="TextBox 793"/>
          <p:cNvSpPr txBox="1"/>
          <p:nvPr/>
        </p:nvSpPr>
        <p:spPr>
          <a:xfrm>
            <a:off x="2984500" y="4318000"/>
            <a:ext cx="24384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Biblioteca</a:t>
            </a:r>
          </a:p>
        </p:txBody>
      </p:sp>
      <p:sp>
        <p:nvSpPr>
          <p:cNvPr id="795" name="TextBox 794"/>
          <p:cNvSpPr txBox="1"/>
          <p:nvPr/>
        </p:nvSpPr>
        <p:spPr>
          <a:xfrm>
            <a:off x="6057900" y="4318000"/>
            <a:ext cx="28194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4276C8"/>
                </a:solidFill>
                <a:latin typeface="DejaVu Sans"/>
              </a:defRPr>
            </a:pPr>
            <a:r>
              <a:t>Lecturas</a:t>
            </a:r>
          </a:p>
        </p:txBody>
      </p:sp>
      <p:sp>
        <p:nvSpPr>
          <p:cNvPr id="796" name="TextBox 795"/>
          <p:cNvSpPr txBox="1"/>
          <p:nvPr/>
        </p:nvSpPr>
        <p:spPr>
          <a:xfrm>
            <a:off x="9486900" y="4318000"/>
            <a:ext cx="2286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8061AC"/>
                </a:solidFill>
                <a:latin typeface="DejaVu Sans"/>
              </a:defRPr>
            </a:pPr>
            <a:r>
              <a:t>Interpretación</a:t>
            </a:r>
          </a:p>
        </p:txBody>
      </p:sp>
      <p:sp>
        <p:nvSpPr>
          <p:cNvPr id="797" name="Rounded Rectangle 79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TextBox 79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Tres preguntas: ¿qué bases hay?, ¿quién está en la muestra?, ¿qué genes podemos recuperar?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PANORAMA BREVE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Tres generaciones; tres formas de observar ADN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[1–3,18–19]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02</a:t>
            </a:r>
          </a:p>
        </p:txBody>
      </p:sp>
      <p:sp>
        <p:nvSpPr>
          <p:cNvPr id="7" name="Rounded Rectangle 6"/>
          <p:cNvSpPr/>
          <p:nvPr/>
        </p:nvSpPr>
        <p:spPr>
          <a:xfrm>
            <a:off x="609600" y="1866900"/>
            <a:ext cx="3378200" cy="345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082800"/>
            <a:ext cx="29464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1. Sanger</a:t>
            </a:r>
          </a:p>
        </p:txBody>
      </p:sp>
      <p:sp>
        <p:nvSpPr>
          <p:cNvPr id="9" name="TextBox 8"/>
          <p:cNvSpPr txBox="1"/>
          <p:nvPr/>
        </p:nvSpPr>
        <p:spPr>
          <a:xfrm>
            <a:off x="825500" y="4521200"/>
            <a:ext cx="29464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Terminación de cadenas</a:t>
            </a:r>
          </a:p>
        </p:txBody>
      </p:sp>
      <p:sp>
        <p:nvSpPr>
          <p:cNvPr id="10" name="Rounded Rectangle 9"/>
          <p:cNvSpPr/>
          <p:nvPr/>
        </p:nvSpPr>
        <p:spPr>
          <a:xfrm>
            <a:off x="4406900" y="1866900"/>
            <a:ext cx="3378200" cy="345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2800" y="2082800"/>
            <a:ext cx="29464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2. Illumina</a:t>
            </a:r>
          </a:p>
        </p:txBody>
      </p:sp>
      <p:sp>
        <p:nvSpPr>
          <p:cNvPr id="12" name="TextBox 11"/>
          <p:cNvSpPr txBox="1"/>
          <p:nvPr/>
        </p:nvSpPr>
        <p:spPr>
          <a:xfrm>
            <a:off x="4622800" y="4521200"/>
            <a:ext cx="29464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Muchas copias en paralelo</a:t>
            </a:r>
          </a:p>
        </p:txBody>
      </p:sp>
      <p:sp>
        <p:nvSpPr>
          <p:cNvPr id="13" name="Rounded Rectangle 12"/>
          <p:cNvSpPr/>
          <p:nvPr/>
        </p:nvSpPr>
        <p:spPr>
          <a:xfrm>
            <a:off x="8204200" y="1866900"/>
            <a:ext cx="3378200" cy="345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0100" y="2082800"/>
            <a:ext cx="29464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8061AC"/>
                </a:solidFill>
                <a:latin typeface="DejaVu Sans"/>
              </a:defRPr>
            </a:pPr>
            <a:r>
              <a:t>3. PacBio / ONT</a:t>
            </a:r>
          </a:p>
        </p:txBody>
      </p:sp>
      <p:sp>
        <p:nvSpPr>
          <p:cNvPr id="15" name="TextBox 14"/>
          <p:cNvSpPr txBox="1"/>
          <p:nvPr/>
        </p:nvSpPr>
        <p:spPr>
          <a:xfrm>
            <a:off x="8420100" y="4521200"/>
            <a:ext cx="2946400" cy="341757"/>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Moléculas individuales</a:t>
            </a:r>
          </a:p>
        </p:txBody>
      </p:sp>
      <p:cxnSp>
        <p:nvCxnSpPr>
          <p:cNvPr id="16" name="Connector 15"/>
          <p:cNvCxnSpPr/>
          <p:nvPr/>
        </p:nvCxnSpPr>
        <p:spPr>
          <a:xfrm flipV="1">
            <a:off x="8763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890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017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144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271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398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525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652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779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906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033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160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0287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414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541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668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795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922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49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176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303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430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557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684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811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938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2065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2192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319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2446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2573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2700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2827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954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3081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3208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3335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346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358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371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384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397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409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422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435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447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460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4732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485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498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511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524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536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549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562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574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5875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600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612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625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638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651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663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676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689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701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714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7272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7399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7526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7653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7780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7907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8034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8161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8288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8415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8542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8669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8796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8923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9050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9177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9304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9431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9558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9685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9812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9939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20066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20193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0320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0447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0574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20701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20828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0955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21082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21209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21336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21463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21590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21717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21844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1971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2209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2222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2235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2247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2260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2273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2286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2298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2311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2324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23368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2349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2362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2374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2387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2400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2413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2425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2438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24511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2463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2476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2489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2501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2514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2527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2540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2552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2565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2578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25908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26035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26162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26289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26416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26543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26670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26797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26924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27051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27178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27305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27432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27559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27686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27813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27940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28067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28194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2832100" y="3113405"/>
            <a:ext cx="12700" cy="342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2844800" y="3147690"/>
            <a:ext cx="12700" cy="9499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2857500" y="3242689"/>
            <a:ext cx="12700" cy="13506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2870200" y="3377755"/>
            <a:ext cx="12700" cy="14898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2882900" y="3526738"/>
            <a:ext cx="12700" cy="1393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2895600" y="3666128"/>
            <a:ext cx="12700" cy="1145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2908300" y="3780631"/>
            <a:ext cx="12700" cy="8400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2921000" y="3864634"/>
            <a:ext cx="12700" cy="5557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2933700" y="3920205"/>
            <a:ext cx="12700" cy="333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2946400" y="3953555"/>
            <a:ext cx="12700" cy="1822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2959100" y="3971784"/>
            <a:ext cx="12700" cy="910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2971800" y="3980886"/>
            <a:ext cx="12700" cy="415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2984500" y="3985044"/>
            <a:ext cx="12700" cy="174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2997200" y="3986786"/>
            <a:ext cx="12700" cy="66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3009900" y="3987455"/>
            <a:ext cx="12700" cy="2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3022600" y="3987692"/>
            <a:ext cx="12700" cy="7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3035300" y="3987768"/>
            <a:ext cx="12700" cy="23"/>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3048000" y="3987791"/>
            <a:ext cx="12700" cy="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3060700" y="39877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30734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30861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30988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31115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31242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31369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31496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31623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31750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3187700" y="39877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3200400" y="39877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213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3225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3238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3251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3263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3276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3289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3302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3314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3327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3340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3352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3365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3378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3390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403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416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429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441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454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467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3479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34925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35052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35179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35306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35433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35560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35687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35814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35941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3606800" y="39878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876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889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901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914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927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398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952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965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977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990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1003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1016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028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1041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1054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1066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10795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10922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1049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1176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1303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1430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1557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1684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1811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1938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2065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2192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2319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2446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2573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2700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2827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2954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3081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13208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13335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13462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13589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3716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3843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3970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4097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4224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4351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4478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4605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4732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14859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14986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15113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15240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15367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15494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1562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1574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1587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1600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612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1625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1638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1651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1663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1676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16891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1701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7145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17272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17399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17526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1765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1778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1790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18034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1816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1828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1841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1854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1866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1879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1892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1905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1917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1930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9431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9558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flipV="1">
            <a:off x="19685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flipV="1">
            <a:off x="19812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flipV="1">
            <a:off x="19939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20066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20193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20320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20447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574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01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0828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0955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1082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1209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1336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1463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1590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1717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21844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21971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22098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22225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22352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22479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22606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22733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22860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22987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23114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23241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23368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23495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23622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23749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23876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24003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24130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2425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2438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2451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2463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476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489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501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2514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2527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2540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25527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2565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2578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2590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26035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26162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26289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26416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2654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26670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2679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2692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2705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2717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2730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2743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2755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2768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2781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2794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flipV="1">
            <a:off x="28067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flipV="1">
            <a:off x="28194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flipV="1">
            <a:off x="28321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V="1">
            <a:off x="28448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flipV="1">
            <a:off x="28575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flipV="1">
            <a:off x="28702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V="1">
            <a:off x="28829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V="1">
            <a:off x="28956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V="1">
            <a:off x="29083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flipV="1">
            <a:off x="29210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flipV="1">
            <a:off x="29337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flipV="1">
            <a:off x="29464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flipV="1">
            <a:off x="29591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flipV="1">
            <a:off x="29718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flipV="1">
            <a:off x="29845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flipV="1">
            <a:off x="29972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flipV="1">
            <a:off x="30099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flipV="1">
            <a:off x="30226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flipV="1">
            <a:off x="30353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3048000" y="3113405"/>
            <a:ext cx="12700" cy="342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3060700" y="3147690"/>
            <a:ext cx="12700" cy="949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3073400" y="3242689"/>
            <a:ext cx="12700" cy="13506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3086100" y="3377755"/>
            <a:ext cx="12700" cy="14898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3098800" y="3526738"/>
            <a:ext cx="12700" cy="13939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3111500" y="3666128"/>
            <a:ext cx="12700" cy="1145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3124200" y="3780631"/>
            <a:ext cx="12700" cy="8400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3136900" y="3864634"/>
            <a:ext cx="12700" cy="5557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3149600" y="3920205"/>
            <a:ext cx="12700" cy="333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3162300" y="3953555"/>
            <a:ext cx="12700" cy="1822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3175000" y="3971784"/>
            <a:ext cx="12700" cy="910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87700" y="3980886"/>
            <a:ext cx="12700" cy="415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3200400" y="3985044"/>
            <a:ext cx="12700" cy="17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3213100" y="3986786"/>
            <a:ext cx="12700" cy="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3225800" y="3987455"/>
            <a:ext cx="12700" cy="2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3238500" y="3987692"/>
            <a:ext cx="12700" cy="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3251200" y="3987768"/>
            <a:ext cx="12700" cy="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3263900" y="3987791"/>
            <a:ext cx="12700" cy="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3276600" y="39877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a:off x="32893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33020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33147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33274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33401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33528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33655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33782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33909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3403600" y="39877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416300" y="39877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3429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3441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a:off x="3454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3467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479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34925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35052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35179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a:off x="35306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a:off x="35433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a:off x="35560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a:off x="35687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a:off x="35814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a:off x="35941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a:off x="3606800" y="39878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a:off x="876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a:off x="889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a:off x="901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a:off x="914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927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a:off x="939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952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965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a:off x="9779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a:off x="9906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1003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a:off x="1016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1028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1041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1054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1066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1079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1092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11049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11176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1130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1143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flipV="1">
            <a:off x="11557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1168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1181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1193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1206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1219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1231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1244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1257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1270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1282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V="1">
            <a:off x="12954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V="1">
            <a:off x="13081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V="1">
            <a:off x="13208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V="1">
            <a:off x="13335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flipV="1">
            <a:off x="13462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V="1">
            <a:off x="13589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V="1">
            <a:off x="13716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V="1">
            <a:off x="13843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V="1">
            <a:off x="13970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V="1">
            <a:off x="14097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V="1">
            <a:off x="14224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flipV="1">
            <a:off x="14351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flipV="1">
            <a:off x="14478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V="1">
            <a:off x="14605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flipV="1">
            <a:off x="14732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V="1">
            <a:off x="14859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flipV="1">
            <a:off x="14986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flipV="1">
            <a:off x="15113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flipV="1">
            <a:off x="15240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a:off x="15367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a:off x="15494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a:off x="15621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a:off x="15748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a:off x="15875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a:off x="16002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a:off x="16129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a:off x="16256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a:off x="16383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a:off x="16510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a:off x="16637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a:off x="16764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a:off x="16891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a:off x="17018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a:off x="17145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a:off x="17272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a:off x="17399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a:off x="17526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a:off x="17653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a:off x="1778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a:off x="1790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a:off x="1803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a:off x="1816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a:off x="1828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1841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a:off x="1854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a:off x="1866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a:off x="1879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a:off x="1892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19050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1917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a:off x="1930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1943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1955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1968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1981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19939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20066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20193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2032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2044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2057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2070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2082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2095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2108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2120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2133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2146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flipV="1">
            <a:off x="21590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V="1">
            <a:off x="21717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flipV="1">
            <a:off x="21844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flipV="1">
            <a:off x="21971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flipV="1">
            <a:off x="22098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flipV="1">
            <a:off x="22225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flipV="1">
            <a:off x="22352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flipV="1">
            <a:off x="22479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flipV="1">
            <a:off x="22606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V="1">
            <a:off x="22733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flipV="1">
            <a:off x="22860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flipV="1">
            <a:off x="22987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flipV="1">
            <a:off x="23114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flipV="1">
            <a:off x="23241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flipV="1">
            <a:off x="23368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flipV="1">
            <a:off x="23495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flipV="1">
            <a:off x="23622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flipV="1">
            <a:off x="23749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V="1">
            <a:off x="23876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a:off x="24003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a:off x="24130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a:off x="24257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a:off x="24384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a:off x="24511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a:off x="24638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a:off x="24765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a:off x="24892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a:off x="25019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a:off x="25146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a:off x="25273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a:off x="25400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a:off x="25527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a:off x="25654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a:off x="25781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a:off x="25908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a:off x="26035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a:off x="26162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a:off x="26289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a:off x="2641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a:off x="2654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a:off x="2667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a:off x="2679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a:off x="2692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a:off x="2705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a:off x="2717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a:off x="2730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a:off x="2743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a:off x="2755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27686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27813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27940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28067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28194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28321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a:off x="28448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a:off x="28575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2870200" y="39878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flipV="1">
            <a:off x="2882900" y="39877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2895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a:off x="2908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2921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a:off x="2933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2946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a:off x="2959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2971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29845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2997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3009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flipV="1">
            <a:off x="30226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flipV="1">
            <a:off x="30353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flipV="1">
            <a:off x="30480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flipV="1">
            <a:off x="30607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flipV="1">
            <a:off x="30734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flipV="1">
            <a:off x="30861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flipV="1">
            <a:off x="30988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flipV="1">
            <a:off x="31115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flipV="1">
            <a:off x="31242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V="1">
            <a:off x="31369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flipV="1">
            <a:off x="31496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flipV="1">
            <a:off x="31623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flipV="1">
            <a:off x="31750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flipV="1">
            <a:off x="31877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flipV="1">
            <a:off x="32004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flipV="1">
            <a:off x="32131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flipV="1">
            <a:off x="32258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flipV="1">
            <a:off x="32385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flipV="1">
            <a:off x="32512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3263900" y="3113405"/>
            <a:ext cx="12700" cy="342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a:off x="3276600" y="3147690"/>
            <a:ext cx="12700" cy="9499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a:off x="3289300" y="3242689"/>
            <a:ext cx="12700" cy="13506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a:off x="3302000" y="3377755"/>
            <a:ext cx="12700" cy="14898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a:off x="3314700" y="3526738"/>
            <a:ext cx="12700" cy="13939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a:off x="3327400" y="3666128"/>
            <a:ext cx="12700" cy="1145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a:off x="3340100" y="3780631"/>
            <a:ext cx="12700" cy="8400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a:off x="3352800" y="3864634"/>
            <a:ext cx="12700" cy="5557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a:off x="3365500" y="3920205"/>
            <a:ext cx="12700" cy="333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a:off x="3378200" y="3953555"/>
            <a:ext cx="12700" cy="1822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a:off x="3390900" y="3971784"/>
            <a:ext cx="12700" cy="910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a:off x="3403600" y="3980886"/>
            <a:ext cx="12700" cy="415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a:off x="3416300" y="3985044"/>
            <a:ext cx="12700" cy="174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a:off x="3429000" y="3986786"/>
            <a:ext cx="12700" cy="66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a:off x="3441700" y="3987455"/>
            <a:ext cx="12700" cy="2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a:off x="3454400" y="3987692"/>
            <a:ext cx="12700" cy="7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a:off x="3467100" y="3987768"/>
            <a:ext cx="12700" cy="23"/>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a:off x="3479800" y="3987791"/>
            <a:ext cx="12700" cy="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a:off x="3492500" y="39877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a:off x="35052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a:off x="35179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a:off x="35306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a:off x="35433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a:off x="35560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a:off x="35687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a:off x="35814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a:off x="35941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a:off x="3606800" y="39877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a:off x="876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a:off x="889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a:off x="901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914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a:off x="927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939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a:off x="952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a:off x="965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977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a:off x="990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a:off x="1003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a:off x="1016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a:off x="1028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1041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a:off x="1054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1066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a:off x="1079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1092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a:off x="1104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a:off x="1117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a:off x="1130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1143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a:off x="1155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1168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1181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1193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1206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1219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a:off x="1231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1244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1257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1270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1282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1295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1308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1320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1333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1346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1358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flipV="1">
            <a:off x="13716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a:off x="1384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a:off x="1397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a:off x="1409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a:off x="1422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a:off x="1435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a:off x="1447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a:off x="1460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a:off x="1473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a:off x="1485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a:off x="1498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flipV="1">
            <a:off x="15113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flipV="1">
            <a:off x="15240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flipV="1">
            <a:off x="15367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15494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flipV="1">
            <a:off x="15621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flipV="1">
            <a:off x="15748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flipV="1">
            <a:off x="15875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16002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flipV="1">
            <a:off x="16129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flipV="1">
            <a:off x="16256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flipV="1">
            <a:off x="16383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flipV="1">
            <a:off x="16510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flipV="1">
            <a:off x="16637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flipV="1">
            <a:off x="16764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flipV="1">
            <a:off x="16891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flipV="1">
            <a:off x="17018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flipV="1">
            <a:off x="17145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flipV="1">
            <a:off x="17272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flipV="1">
            <a:off x="17399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a:off x="17526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a:off x="17653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17780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17907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18034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18161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a:off x="18288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18415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a:off x="18542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18669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a:off x="18796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18923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19050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19177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19304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19431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19558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19685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a:off x="19812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1993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a:off x="2006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2019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2032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2044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a:off x="2057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2070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2082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a:off x="2095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2108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21209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a:off x="2133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2146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2159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2171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2184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2197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a:off x="22098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22225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flipV="1">
            <a:off x="22352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a:off x="2247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a:off x="2260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a:off x="2273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a:off x="2286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a:off x="2298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a:off x="2311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a:off x="2324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a:off x="2336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a:off x="2349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a:off x="2362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flipV="1">
            <a:off x="23749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flipV="1">
            <a:off x="23876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flipV="1">
            <a:off x="24003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flipV="1">
            <a:off x="24130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flipV="1">
            <a:off x="24257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flipV="1">
            <a:off x="24384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flipV="1">
            <a:off x="24511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flipV="1">
            <a:off x="24638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flipV="1">
            <a:off x="24765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flipV="1">
            <a:off x="24892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flipV="1">
            <a:off x="25019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flipV="1">
            <a:off x="25146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4" name="Connector 793"/>
          <p:cNvCxnSpPr/>
          <p:nvPr/>
        </p:nvCxnSpPr>
        <p:spPr>
          <a:xfrm flipV="1">
            <a:off x="25273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V="1">
            <a:off x="25400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V="1">
            <a:off x="25527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54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8" name="Connector 797"/>
          <p:cNvCxnSpPr/>
          <p:nvPr/>
        </p:nvCxnSpPr>
        <p:spPr>
          <a:xfrm flipV="1">
            <a:off x="25781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799" name="Connector 798"/>
          <p:cNvCxnSpPr/>
          <p:nvPr/>
        </p:nvCxnSpPr>
        <p:spPr>
          <a:xfrm flipV="1">
            <a:off x="25908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0" name="Connector 799"/>
          <p:cNvCxnSpPr/>
          <p:nvPr/>
        </p:nvCxnSpPr>
        <p:spPr>
          <a:xfrm flipV="1">
            <a:off x="26035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1" name="Connector 800"/>
          <p:cNvCxnSpPr/>
          <p:nvPr/>
        </p:nvCxnSpPr>
        <p:spPr>
          <a:xfrm>
            <a:off x="26162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2" name="Connector 801"/>
          <p:cNvCxnSpPr/>
          <p:nvPr/>
        </p:nvCxnSpPr>
        <p:spPr>
          <a:xfrm>
            <a:off x="26289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3" name="Connector 802"/>
          <p:cNvCxnSpPr/>
          <p:nvPr/>
        </p:nvCxnSpPr>
        <p:spPr>
          <a:xfrm>
            <a:off x="26416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4" name="Connector 803"/>
          <p:cNvCxnSpPr/>
          <p:nvPr/>
        </p:nvCxnSpPr>
        <p:spPr>
          <a:xfrm>
            <a:off x="26543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5" name="Connector 804"/>
          <p:cNvCxnSpPr/>
          <p:nvPr/>
        </p:nvCxnSpPr>
        <p:spPr>
          <a:xfrm>
            <a:off x="26670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6" name="Connector 805"/>
          <p:cNvCxnSpPr/>
          <p:nvPr/>
        </p:nvCxnSpPr>
        <p:spPr>
          <a:xfrm>
            <a:off x="26797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7" name="Connector 806"/>
          <p:cNvCxnSpPr/>
          <p:nvPr/>
        </p:nvCxnSpPr>
        <p:spPr>
          <a:xfrm>
            <a:off x="26924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8" name="Connector 807"/>
          <p:cNvCxnSpPr/>
          <p:nvPr/>
        </p:nvCxnSpPr>
        <p:spPr>
          <a:xfrm>
            <a:off x="27051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09" name="Connector 808"/>
          <p:cNvCxnSpPr/>
          <p:nvPr/>
        </p:nvCxnSpPr>
        <p:spPr>
          <a:xfrm>
            <a:off x="27178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0" name="Connector 809"/>
          <p:cNvCxnSpPr/>
          <p:nvPr/>
        </p:nvCxnSpPr>
        <p:spPr>
          <a:xfrm>
            <a:off x="27305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1" name="Connector 810"/>
          <p:cNvCxnSpPr/>
          <p:nvPr/>
        </p:nvCxnSpPr>
        <p:spPr>
          <a:xfrm>
            <a:off x="27432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2" name="Connector 811"/>
          <p:cNvCxnSpPr/>
          <p:nvPr/>
        </p:nvCxnSpPr>
        <p:spPr>
          <a:xfrm>
            <a:off x="27559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3" name="Connector 812"/>
          <p:cNvCxnSpPr/>
          <p:nvPr/>
        </p:nvCxnSpPr>
        <p:spPr>
          <a:xfrm>
            <a:off x="27686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4" name="Connector 813"/>
          <p:cNvCxnSpPr/>
          <p:nvPr/>
        </p:nvCxnSpPr>
        <p:spPr>
          <a:xfrm>
            <a:off x="27813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5" name="Connector 814"/>
          <p:cNvCxnSpPr/>
          <p:nvPr/>
        </p:nvCxnSpPr>
        <p:spPr>
          <a:xfrm>
            <a:off x="27940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6" name="Connector 815"/>
          <p:cNvCxnSpPr/>
          <p:nvPr/>
        </p:nvCxnSpPr>
        <p:spPr>
          <a:xfrm>
            <a:off x="28067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7" name="Connector 816"/>
          <p:cNvCxnSpPr/>
          <p:nvPr/>
        </p:nvCxnSpPr>
        <p:spPr>
          <a:xfrm>
            <a:off x="28194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8" name="Connector 817"/>
          <p:cNvCxnSpPr/>
          <p:nvPr/>
        </p:nvCxnSpPr>
        <p:spPr>
          <a:xfrm>
            <a:off x="28321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19" name="Connector 818"/>
          <p:cNvCxnSpPr/>
          <p:nvPr/>
        </p:nvCxnSpPr>
        <p:spPr>
          <a:xfrm>
            <a:off x="28448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0" name="Connector 819"/>
          <p:cNvCxnSpPr/>
          <p:nvPr/>
        </p:nvCxnSpPr>
        <p:spPr>
          <a:xfrm>
            <a:off x="2857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1" name="Connector 820"/>
          <p:cNvCxnSpPr/>
          <p:nvPr/>
        </p:nvCxnSpPr>
        <p:spPr>
          <a:xfrm>
            <a:off x="2870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2" name="Connector 821"/>
          <p:cNvCxnSpPr/>
          <p:nvPr/>
        </p:nvCxnSpPr>
        <p:spPr>
          <a:xfrm>
            <a:off x="2882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3" name="Connector 822"/>
          <p:cNvCxnSpPr/>
          <p:nvPr/>
        </p:nvCxnSpPr>
        <p:spPr>
          <a:xfrm>
            <a:off x="2895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4" name="Connector 823"/>
          <p:cNvCxnSpPr/>
          <p:nvPr/>
        </p:nvCxnSpPr>
        <p:spPr>
          <a:xfrm>
            <a:off x="2908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5" name="Connector 824"/>
          <p:cNvCxnSpPr/>
          <p:nvPr/>
        </p:nvCxnSpPr>
        <p:spPr>
          <a:xfrm>
            <a:off x="2921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6" name="Connector 825"/>
          <p:cNvCxnSpPr/>
          <p:nvPr/>
        </p:nvCxnSpPr>
        <p:spPr>
          <a:xfrm>
            <a:off x="2933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7" name="Connector 826"/>
          <p:cNvCxnSpPr/>
          <p:nvPr/>
        </p:nvCxnSpPr>
        <p:spPr>
          <a:xfrm>
            <a:off x="2946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8" name="Connector 827"/>
          <p:cNvCxnSpPr/>
          <p:nvPr/>
        </p:nvCxnSpPr>
        <p:spPr>
          <a:xfrm>
            <a:off x="2959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29" name="Connector 828"/>
          <p:cNvCxnSpPr/>
          <p:nvPr/>
        </p:nvCxnSpPr>
        <p:spPr>
          <a:xfrm>
            <a:off x="2971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0" name="Connector 829"/>
          <p:cNvCxnSpPr/>
          <p:nvPr/>
        </p:nvCxnSpPr>
        <p:spPr>
          <a:xfrm>
            <a:off x="29845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1" name="Connector 830"/>
          <p:cNvCxnSpPr/>
          <p:nvPr/>
        </p:nvCxnSpPr>
        <p:spPr>
          <a:xfrm>
            <a:off x="29972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2" name="Connector 831"/>
          <p:cNvCxnSpPr/>
          <p:nvPr/>
        </p:nvCxnSpPr>
        <p:spPr>
          <a:xfrm>
            <a:off x="30099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3" name="Connector 832"/>
          <p:cNvCxnSpPr/>
          <p:nvPr/>
        </p:nvCxnSpPr>
        <p:spPr>
          <a:xfrm>
            <a:off x="30226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4" name="Connector 833"/>
          <p:cNvCxnSpPr/>
          <p:nvPr/>
        </p:nvCxnSpPr>
        <p:spPr>
          <a:xfrm>
            <a:off x="30353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5" name="Connector 834"/>
          <p:cNvCxnSpPr/>
          <p:nvPr/>
        </p:nvCxnSpPr>
        <p:spPr>
          <a:xfrm>
            <a:off x="30480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6" name="Connector 835"/>
          <p:cNvCxnSpPr/>
          <p:nvPr/>
        </p:nvCxnSpPr>
        <p:spPr>
          <a:xfrm>
            <a:off x="30607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7" name="Connector 836"/>
          <p:cNvCxnSpPr/>
          <p:nvPr/>
        </p:nvCxnSpPr>
        <p:spPr>
          <a:xfrm>
            <a:off x="30734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8" name="Connector 837"/>
          <p:cNvCxnSpPr/>
          <p:nvPr/>
        </p:nvCxnSpPr>
        <p:spPr>
          <a:xfrm>
            <a:off x="3086100" y="39878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39" name="Connector 838"/>
          <p:cNvCxnSpPr/>
          <p:nvPr/>
        </p:nvCxnSpPr>
        <p:spPr>
          <a:xfrm flipV="1">
            <a:off x="3098800" y="39877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0" name="Connector 839"/>
          <p:cNvCxnSpPr/>
          <p:nvPr/>
        </p:nvCxnSpPr>
        <p:spPr>
          <a:xfrm>
            <a:off x="31115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1" name="Connector 840"/>
          <p:cNvCxnSpPr/>
          <p:nvPr/>
        </p:nvCxnSpPr>
        <p:spPr>
          <a:xfrm>
            <a:off x="31242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2" name="Connector 841"/>
          <p:cNvCxnSpPr/>
          <p:nvPr/>
        </p:nvCxnSpPr>
        <p:spPr>
          <a:xfrm>
            <a:off x="31369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3" name="Connector 842"/>
          <p:cNvCxnSpPr/>
          <p:nvPr/>
        </p:nvCxnSpPr>
        <p:spPr>
          <a:xfrm>
            <a:off x="31496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4" name="Connector 843"/>
          <p:cNvCxnSpPr/>
          <p:nvPr/>
        </p:nvCxnSpPr>
        <p:spPr>
          <a:xfrm>
            <a:off x="31623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5" name="Connector 844"/>
          <p:cNvCxnSpPr/>
          <p:nvPr/>
        </p:nvCxnSpPr>
        <p:spPr>
          <a:xfrm>
            <a:off x="31750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6" name="Connector 845"/>
          <p:cNvCxnSpPr/>
          <p:nvPr/>
        </p:nvCxnSpPr>
        <p:spPr>
          <a:xfrm>
            <a:off x="31877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7" name="Connector 846"/>
          <p:cNvCxnSpPr/>
          <p:nvPr/>
        </p:nvCxnSpPr>
        <p:spPr>
          <a:xfrm>
            <a:off x="32004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8" name="Connector 847"/>
          <p:cNvCxnSpPr/>
          <p:nvPr/>
        </p:nvCxnSpPr>
        <p:spPr>
          <a:xfrm>
            <a:off x="32131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49" name="Connector 848"/>
          <p:cNvCxnSpPr/>
          <p:nvPr/>
        </p:nvCxnSpPr>
        <p:spPr>
          <a:xfrm>
            <a:off x="3225800" y="39877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0" name="Connector 849"/>
          <p:cNvCxnSpPr/>
          <p:nvPr/>
        </p:nvCxnSpPr>
        <p:spPr>
          <a:xfrm flipV="1">
            <a:off x="3238500" y="39877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1" name="Connector 850"/>
          <p:cNvCxnSpPr/>
          <p:nvPr/>
        </p:nvCxnSpPr>
        <p:spPr>
          <a:xfrm flipV="1">
            <a:off x="3251200" y="3987791"/>
            <a:ext cx="12700" cy="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2" name="Connector 851"/>
          <p:cNvCxnSpPr/>
          <p:nvPr/>
        </p:nvCxnSpPr>
        <p:spPr>
          <a:xfrm flipV="1">
            <a:off x="3263900" y="3987768"/>
            <a:ext cx="12700" cy="2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flipV="1">
            <a:off x="3276600" y="3987692"/>
            <a:ext cx="12700" cy="7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flipV="1">
            <a:off x="3289300" y="3987455"/>
            <a:ext cx="12700" cy="2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5" name="Connector 854"/>
          <p:cNvCxnSpPr/>
          <p:nvPr/>
        </p:nvCxnSpPr>
        <p:spPr>
          <a:xfrm flipV="1">
            <a:off x="3302000" y="3986786"/>
            <a:ext cx="12700" cy="66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6" name="Connector 855"/>
          <p:cNvCxnSpPr/>
          <p:nvPr/>
        </p:nvCxnSpPr>
        <p:spPr>
          <a:xfrm flipV="1">
            <a:off x="3314700" y="3985044"/>
            <a:ext cx="12700" cy="174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7" name="Connector 856"/>
          <p:cNvCxnSpPr/>
          <p:nvPr/>
        </p:nvCxnSpPr>
        <p:spPr>
          <a:xfrm flipV="1">
            <a:off x="3327400" y="3980886"/>
            <a:ext cx="12700" cy="415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8" name="Connector 857"/>
          <p:cNvCxnSpPr/>
          <p:nvPr/>
        </p:nvCxnSpPr>
        <p:spPr>
          <a:xfrm flipV="1">
            <a:off x="33401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59" name="Connector 858"/>
          <p:cNvCxnSpPr/>
          <p:nvPr/>
        </p:nvCxnSpPr>
        <p:spPr>
          <a:xfrm flipV="1">
            <a:off x="33528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0" name="Connector 859"/>
          <p:cNvCxnSpPr/>
          <p:nvPr/>
        </p:nvCxnSpPr>
        <p:spPr>
          <a:xfrm flipV="1">
            <a:off x="33655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1" name="Connector 860"/>
          <p:cNvCxnSpPr/>
          <p:nvPr/>
        </p:nvCxnSpPr>
        <p:spPr>
          <a:xfrm flipV="1">
            <a:off x="33782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2" name="Connector 861"/>
          <p:cNvCxnSpPr/>
          <p:nvPr/>
        </p:nvCxnSpPr>
        <p:spPr>
          <a:xfrm flipV="1">
            <a:off x="33909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3" name="Connector 862"/>
          <p:cNvCxnSpPr/>
          <p:nvPr/>
        </p:nvCxnSpPr>
        <p:spPr>
          <a:xfrm flipV="1">
            <a:off x="34036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4" name="Connector 863"/>
          <p:cNvCxnSpPr/>
          <p:nvPr/>
        </p:nvCxnSpPr>
        <p:spPr>
          <a:xfrm flipV="1">
            <a:off x="34163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5" name="Connector 864"/>
          <p:cNvCxnSpPr/>
          <p:nvPr/>
        </p:nvCxnSpPr>
        <p:spPr>
          <a:xfrm flipV="1">
            <a:off x="34290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6" name="Connector 865"/>
          <p:cNvCxnSpPr/>
          <p:nvPr/>
        </p:nvCxnSpPr>
        <p:spPr>
          <a:xfrm flipV="1">
            <a:off x="34417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7" name="Connector 866"/>
          <p:cNvCxnSpPr/>
          <p:nvPr/>
        </p:nvCxnSpPr>
        <p:spPr>
          <a:xfrm flipV="1">
            <a:off x="34544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8" name="Connector 867"/>
          <p:cNvCxnSpPr/>
          <p:nvPr/>
        </p:nvCxnSpPr>
        <p:spPr>
          <a:xfrm flipV="1">
            <a:off x="34671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69" name="Connector 868"/>
          <p:cNvCxnSpPr/>
          <p:nvPr/>
        </p:nvCxnSpPr>
        <p:spPr>
          <a:xfrm>
            <a:off x="3479800" y="3113405"/>
            <a:ext cx="12700" cy="342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0" name="Connector 869"/>
          <p:cNvCxnSpPr/>
          <p:nvPr/>
        </p:nvCxnSpPr>
        <p:spPr>
          <a:xfrm>
            <a:off x="3492500" y="3147690"/>
            <a:ext cx="12700" cy="9499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1" name="Connector 870"/>
          <p:cNvCxnSpPr/>
          <p:nvPr/>
        </p:nvCxnSpPr>
        <p:spPr>
          <a:xfrm>
            <a:off x="3505200" y="3242689"/>
            <a:ext cx="12700" cy="13506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2" name="Connector 871"/>
          <p:cNvCxnSpPr/>
          <p:nvPr/>
        </p:nvCxnSpPr>
        <p:spPr>
          <a:xfrm>
            <a:off x="3517900" y="3377755"/>
            <a:ext cx="12700" cy="14898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3" name="Connector 872"/>
          <p:cNvCxnSpPr/>
          <p:nvPr/>
        </p:nvCxnSpPr>
        <p:spPr>
          <a:xfrm>
            <a:off x="3530600" y="3526738"/>
            <a:ext cx="12700" cy="13939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4" name="Connector 873"/>
          <p:cNvCxnSpPr/>
          <p:nvPr/>
        </p:nvCxnSpPr>
        <p:spPr>
          <a:xfrm>
            <a:off x="3543300" y="3666128"/>
            <a:ext cx="12700" cy="1145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5" name="Connector 874"/>
          <p:cNvCxnSpPr/>
          <p:nvPr/>
        </p:nvCxnSpPr>
        <p:spPr>
          <a:xfrm>
            <a:off x="3556000" y="3780631"/>
            <a:ext cx="12700" cy="84003"/>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6" name="Connector 875"/>
          <p:cNvCxnSpPr/>
          <p:nvPr/>
        </p:nvCxnSpPr>
        <p:spPr>
          <a:xfrm>
            <a:off x="3568700" y="3864634"/>
            <a:ext cx="12700" cy="5557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7" name="Connector 876"/>
          <p:cNvCxnSpPr/>
          <p:nvPr/>
        </p:nvCxnSpPr>
        <p:spPr>
          <a:xfrm>
            <a:off x="3581400" y="3920205"/>
            <a:ext cx="12700" cy="333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8" name="Connector 877"/>
          <p:cNvCxnSpPr/>
          <p:nvPr/>
        </p:nvCxnSpPr>
        <p:spPr>
          <a:xfrm>
            <a:off x="3594100" y="3953555"/>
            <a:ext cx="12700" cy="1822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879" name="Connector 878"/>
          <p:cNvCxnSpPr/>
          <p:nvPr/>
        </p:nvCxnSpPr>
        <p:spPr>
          <a:xfrm>
            <a:off x="3606800" y="3971784"/>
            <a:ext cx="12700" cy="910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880" name="Oval 879"/>
          <p:cNvSpPr/>
          <p:nvPr/>
        </p:nvSpPr>
        <p:spPr>
          <a:xfrm>
            <a:off x="5118100" y="28575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5118100" y="30226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5118100" y="31877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5118100" y="3352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5283200" y="28575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5283200" y="30226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5283200" y="31877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5283200" y="3352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5448300" y="28575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5448300" y="30226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5448300" y="31877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5448300" y="3352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5613400" y="28575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5613400" y="30226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5613400" y="31877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5613400" y="3352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6007100" y="28575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6007100" y="30226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6007100" y="31877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Oval 898"/>
          <p:cNvSpPr/>
          <p:nvPr/>
        </p:nvSpPr>
        <p:spPr>
          <a:xfrm>
            <a:off x="6007100" y="3352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Oval 899"/>
          <p:cNvSpPr/>
          <p:nvPr/>
        </p:nvSpPr>
        <p:spPr>
          <a:xfrm>
            <a:off x="6172200" y="28575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Oval 900"/>
          <p:cNvSpPr/>
          <p:nvPr/>
        </p:nvSpPr>
        <p:spPr>
          <a:xfrm>
            <a:off x="6172200" y="30226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6172200" y="31877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6172200" y="3352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6337300" y="28575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6337300" y="30226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6337300" y="31877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6337300" y="3352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6502400" y="28575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6502400" y="30226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6502400" y="31877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6502400" y="3352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2" name="Connector 911"/>
          <p:cNvCxnSpPr/>
          <p:nvPr/>
        </p:nvCxnSpPr>
        <p:spPr>
          <a:xfrm>
            <a:off x="8547100" y="29464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a:off x="8763000" y="31242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a:off x="8978900" y="33020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a:off x="8547100" y="34798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a:off x="8763000" y="3657600"/>
            <a:ext cx="20320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sp>
        <p:nvSpPr>
          <p:cNvPr id="917" name="Rounded Rectangle 91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TextBox 91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Las tres siguen siendo útiles: elegimos por la pregunta, no por el número de generación.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PRIMERA GENERACIÓN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Sanger: detener cadenas y ordenar sus tamaños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[1,19]</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03</a:t>
            </a:r>
          </a:p>
        </p:txBody>
      </p:sp>
      <p:cxnSp>
        <p:nvCxnSpPr>
          <p:cNvPr id="7" name="Connector 6"/>
          <p:cNvCxnSpPr/>
          <p:nvPr/>
        </p:nvCxnSpPr>
        <p:spPr>
          <a:xfrm>
            <a:off x="927100" y="2286000"/>
            <a:ext cx="1155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006600" y="2209800"/>
            <a:ext cx="152400" cy="1524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27100" y="2844800"/>
            <a:ext cx="1663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514600" y="2768600"/>
            <a:ext cx="152400" cy="1524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927100" y="3403600"/>
            <a:ext cx="2171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022600" y="3327400"/>
            <a:ext cx="152400" cy="1524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927100" y="3962400"/>
            <a:ext cx="26797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530600" y="3886200"/>
            <a:ext cx="152400" cy="1524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4876800"/>
            <a:ext cx="355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ddNTP → fin de cadena</a:t>
            </a:r>
          </a:p>
        </p:txBody>
      </p:sp>
      <p:cxnSp>
        <p:nvCxnSpPr>
          <p:cNvPr id="16" name="Connector 15"/>
          <p:cNvCxnSpPr/>
          <p:nvPr/>
        </p:nvCxnSpPr>
        <p:spPr>
          <a:xfrm>
            <a:off x="4152900" y="3276600"/>
            <a:ext cx="495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559300" y="3213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559300" y="3276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67300" y="2247900"/>
            <a:ext cx="863600" cy="2324100"/>
          </a:xfrm>
          <a:prstGeom prst="roundRect">
            <a:avLst/>
          </a:prstGeom>
          <a:solidFill>
            <a:srgbClr val="FFFFFF"/>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5219700" y="26289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219700" y="29972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19700" y="35814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219700" y="4229100"/>
            <a:ext cx="558800" cy="0"/>
          </a:xfrm>
          <a:prstGeom prst="line">
            <a:avLst/>
          </a:prstGeom>
          <a:ln w="38100">
            <a:solidFill>
              <a:srgbClr val="4276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51400" y="4876800"/>
            <a:ext cx="2171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Capilar</a:t>
            </a:r>
          </a:p>
        </p:txBody>
      </p:sp>
      <p:cxnSp>
        <p:nvCxnSpPr>
          <p:cNvPr id="25" name="Connector 24"/>
          <p:cNvCxnSpPr/>
          <p:nvPr/>
        </p:nvCxnSpPr>
        <p:spPr>
          <a:xfrm>
            <a:off x="6273800" y="3276600"/>
            <a:ext cx="4699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654800" y="3213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654800" y="3276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0866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0993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1120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1247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1374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1501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1628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1755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1882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2009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2136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2263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390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2517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2644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2771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2898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3025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3152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3279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3406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3533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3660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3787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3914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4041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4168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4295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4422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549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676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4803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4930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057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5184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311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5438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556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569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581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94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607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620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632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45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658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670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6835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696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708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721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7343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7470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597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7724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7851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77978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810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823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835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48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61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874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886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899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912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924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9375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9502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9629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79756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79883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80010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80137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80264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80391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80518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80645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80772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80899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81026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81153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1280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81407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81534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1661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81788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1915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82042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2169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82296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423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82550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2677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82804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2931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3058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3185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83312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83439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3566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3693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3820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3947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4074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420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8432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8445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458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8470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483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496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509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521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534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5471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5598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5725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585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597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610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6233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6360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86487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86614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8674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8686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8699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8712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8724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8737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8750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8763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8775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8788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88011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88138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88265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88392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88519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88646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88773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88900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89027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89154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89281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89408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89535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89662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89789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89916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90043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90170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90297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90424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90551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90678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90805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90932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91059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91186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91313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91440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91567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91694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91821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91948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92075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92202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92329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92456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92583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92710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9283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9296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9309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9321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9334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9347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9359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9372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9385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9398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94107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94234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94361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94488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94615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9474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9486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9499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95123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95250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9537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9550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9563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9575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9588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9601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9613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9626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9639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9652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96647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96774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96901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97028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97155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97282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7409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97536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97663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97790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97917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98044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98171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98298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98425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98552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98679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98806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98933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99060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99187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99314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99441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99568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99695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99822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99949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100076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100203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100330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100457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100584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100711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100838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100965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101092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101219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101346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10147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10160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0172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0185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0198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210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223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0236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248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261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2743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102870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102997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103124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103251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103378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103505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103632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103759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flipV="1">
            <a:off x="103886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10401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0414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10426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10439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10452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10464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10477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10490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10502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0515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V="1">
            <a:off x="105283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flipV="1">
            <a:off x="105410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V="1">
            <a:off x="105537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105664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V="1">
            <a:off x="105791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V="1">
            <a:off x="105918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106045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V="1">
            <a:off x="106172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V="1">
            <a:off x="106299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V="1">
            <a:off x="106426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V="1">
            <a:off x="106553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V="1">
            <a:off x="106680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106807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106934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107061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107188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107315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07442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07569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10769600" y="2816860"/>
            <a:ext cx="12700" cy="4740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10782300" y="2864267"/>
            <a:ext cx="12700" cy="1313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10795000" y="2995624"/>
            <a:ext cx="12700" cy="18675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a:off x="10807700" y="3182381"/>
            <a:ext cx="12700" cy="20600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a:off x="10820400" y="3388382"/>
            <a:ext cx="12700" cy="19273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a:off x="10833100" y="3581119"/>
            <a:ext cx="12700" cy="1583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10845800" y="3739444"/>
            <a:ext cx="12700" cy="11615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a:off x="10858500" y="3855596"/>
            <a:ext cx="12700" cy="7683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a:off x="10871200" y="3932435"/>
            <a:ext cx="12700" cy="46114"/>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a:off x="10883900" y="3978549"/>
            <a:ext cx="12700" cy="252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a:off x="10896600" y="4003755"/>
            <a:ext cx="12700" cy="1258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a:off x="10909300" y="4016340"/>
            <a:ext cx="12700" cy="575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a:off x="10922000" y="4022090"/>
            <a:ext cx="12700" cy="2408"/>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10934700" y="4024498"/>
            <a:ext cx="12700" cy="9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10947400" y="4025424"/>
            <a:ext cx="12700" cy="32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10960100" y="4025750"/>
            <a:ext cx="12700" cy="10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10972800" y="4025856"/>
            <a:ext cx="12700" cy="3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10985500" y="4025888"/>
            <a:ext cx="12700" cy="9"/>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10998200" y="4025897"/>
            <a:ext cx="12700" cy="2"/>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110109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110236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110363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110490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110617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110744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110871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110998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111125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11125200" y="4025899"/>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11137900" y="4025899"/>
            <a:ext cx="12700" cy="1"/>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11150600" y="4025900"/>
            <a:ext cx="12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7086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7099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7112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7124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7137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71501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7162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7175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7188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7200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7213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7226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7239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7251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7264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7277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flipV="1">
            <a:off x="72898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flipV="1">
            <a:off x="73025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flipV="1">
            <a:off x="73152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flipV="1">
            <a:off x="73279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flipV="1">
            <a:off x="73406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flipV="1">
            <a:off x="73533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flipV="1">
            <a:off x="73660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flipV="1">
            <a:off x="73787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73914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flipV="1">
            <a:off x="74041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V="1">
            <a:off x="74168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flipV="1">
            <a:off x="74295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flipV="1">
            <a:off x="74422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flipV="1">
            <a:off x="74549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flipV="1">
            <a:off x="74676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flipV="1">
            <a:off x="74803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V="1">
            <a:off x="74930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flipV="1">
            <a:off x="75057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flipV="1">
            <a:off x="75184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75311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75438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75565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75692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75819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75946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76073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76200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76327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76454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76581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76708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76835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76962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77089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77216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77343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a:off x="77470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a:off x="77597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7772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7785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7797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7810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7823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7835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7848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7861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7874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7886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78994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7912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7924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79375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79502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79629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7975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7988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8001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80137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8026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8039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8051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8064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8077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8089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8102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8115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8128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8140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flipV="1">
            <a:off x="81534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flipV="1">
            <a:off x="81661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81788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flipV="1">
            <a:off x="81915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flipV="1">
            <a:off x="82042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flipV="1">
            <a:off x="82169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flipV="1">
            <a:off x="82296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flipV="1">
            <a:off x="82423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82550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82677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V="1">
            <a:off x="82804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V="1">
            <a:off x="82931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83058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V="1">
            <a:off x="83185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V="1">
            <a:off x="83312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V="1">
            <a:off x="83439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V="1">
            <a:off x="83566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V="1">
            <a:off x="83693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V="1">
            <a:off x="83820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83947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a:off x="84074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84201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84328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a:off x="84455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a:off x="84582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84709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a:off x="84836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84963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85090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85217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85344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85471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85598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85725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85852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85979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86106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86233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8636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8648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8661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8674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8686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8699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8712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8724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8737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8750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87630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8775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a:off x="8788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a:off x="8801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8813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a:off x="88265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a:off x="88392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a:off x="88519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a:off x="8864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V="1">
            <a:off x="88773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a:off x="8890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8902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8915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a:off x="8928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8940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a:off x="8953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8966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8978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a:off x="8991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a:off x="9004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flipV="1">
            <a:off x="90170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flipV="1">
            <a:off x="90297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flipV="1">
            <a:off x="90424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flipV="1">
            <a:off x="90551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flipV="1">
            <a:off x="90678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flipV="1">
            <a:off x="90805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flipV="1">
            <a:off x="90932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flipV="1">
            <a:off x="91059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flipV="1">
            <a:off x="91186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V="1">
            <a:off x="91313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flipV="1">
            <a:off x="91440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flipV="1">
            <a:off x="91567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flipV="1">
            <a:off x="91694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flipV="1">
            <a:off x="91821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V="1">
            <a:off x="91948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flipV="1">
            <a:off x="92075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V="1">
            <a:off x="92202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V="1">
            <a:off x="92329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92456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a:off x="92583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a:off x="92710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a:off x="92837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a:off x="92964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93091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a:off x="93218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a:off x="93345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a:off x="93472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a:off x="93599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93726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93853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a:off x="93980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94107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a:off x="94234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94361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94488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94615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94742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a:off x="94869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9499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9512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9525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9537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9550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9563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9575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9588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9601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9613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96266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a:off x="9639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a:off x="9652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a:off x="9664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a:off x="9677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9690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a:off x="9702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a:off x="97155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97282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V="1">
            <a:off x="97409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a:off x="9753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a:off x="9766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a:off x="9779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a:off x="9791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a:off x="9804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a:off x="9817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a:off x="9829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a:off x="9842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a:off x="9855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a:off x="9867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flipV="1">
            <a:off x="98806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flipV="1">
            <a:off x="98933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flipV="1">
            <a:off x="99060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flipV="1">
            <a:off x="99187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flipV="1">
            <a:off x="99314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flipV="1">
            <a:off x="99441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flipV="1">
            <a:off x="99568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flipV="1">
            <a:off x="99695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flipV="1">
            <a:off x="99822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flipV="1">
            <a:off x="99949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flipV="1">
            <a:off x="100076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V="1">
            <a:off x="100203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V="1">
            <a:off x="100330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flipV="1">
            <a:off x="100457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V="1">
            <a:off x="100584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flipV="1">
            <a:off x="100711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V="1">
            <a:off x="100838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V="1">
            <a:off x="100965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flipV="1">
            <a:off x="101092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a:off x="101219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a:off x="101346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a:off x="101473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a:off x="101600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a:off x="101727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a:off x="101854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a:off x="101981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a:off x="102108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a:off x="102235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102362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102489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102616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102743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102870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102997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a:off x="103124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a:off x="103251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103378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a:off x="103505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10363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a:off x="10375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10388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a:off x="10401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10414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a:off x="10426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10439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10452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10464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10477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a:off x="104902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a:off x="105029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a:off x="105156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a:off x="105283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a:off x="105410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a:off x="105537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a:off x="105664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a:off x="105791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a:off x="10591800" y="4025900"/>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V="1">
            <a:off x="10604500" y="4025899"/>
            <a:ext cx="12700" cy="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a:off x="106172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a:off x="106299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a:off x="106426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a:off x="106553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a:off x="106680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a:off x="106807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a:off x="106934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a:off x="107061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a:off x="107188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10731500" y="4025899"/>
            <a:ext cx="12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flipV="1">
            <a:off x="10744200" y="4025897"/>
            <a:ext cx="12700" cy="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flipV="1">
            <a:off x="10756900" y="4025888"/>
            <a:ext cx="12700" cy="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flipV="1">
            <a:off x="10769600" y="4025856"/>
            <a:ext cx="12700" cy="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flipV="1">
            <a:off x="10782300" y="4025750"/>
            <a:ext cx="12700" cy="1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flipV="1">
            <a:off x="10795000" y="4025424"/>
            <a:ext cx="12700" cy="3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flipV="1">
            <a:off x="108077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flipV="1">
            <a:off x="108204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flipV="1">
            <a:off x="108331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flipV="1">
            <a:off x="108458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flipV="1">
            <a:off x="108585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flipV="1">
            <a:off x="108712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flipV="1">
            <a:off x="108839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flipV="1">
            <a:off x="108966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flipV="1">
            <a:off x="109093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flipV="1">
            <a:off x="109220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flipV="1">
            <a:off x="109347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flipV="1">
            <a:off x="109474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flipV="1">
            <a:off x="109601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flipV="1">
            <a:off x="109728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a:off x="10985500" y="2816860"/>
            <a:ext cx="12700" cy="4740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a:off x="10998200" y="2864267"/>
            <a:ext cx="12700" cy="131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a:off x="11010900" y="2995624"/>
            <a:ext cx="12700" cy="1867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a:off x="11023600" y="3182381"/>
            <a:ext cx="12700" cy="20600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a:off x="11036300" y="3388382"/>
            <a:ext cx="12700" cy="19273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a:off x="11049000" y="3581119"/>
            <a:ext cx="12700" cy="158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a:off x="11061700" y="3739444"/>
            <a:ext cx="12700" cy="1161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a:off x="11074400" y="3855596"/>
            <a:ext cx="12700" cy="768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a:off x="11087100" y="3932435"/>
            <a:ext cx="12700" cy="4611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a:off x="11099800" y="3978549"/>
            <a:ext cx="12700" cy="2520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a:off x="11112500" y="4003755"/>
            <a:ext cx="12700" cy="1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11125200" y="4016340"/>
            <a:ext cx="12700" cy="575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a:off x="11137900" y="4022090"/>
            <a:ext cx="12700" cy="240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11150600" y="4024498"/>
            <a:ext cx="12700" cy="9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a:off x="7086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a:off x="7099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7112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a:off x="7124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a:off x="7137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a:off x="7150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a:off x="7162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7175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a:off x="7188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7200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a:off x="7213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7226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a:off x="7239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a:off x="7251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a:off x="7264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7277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a:off x="7289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7302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7315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7327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7340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7353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flipV="1">
            <a:off x="73660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7378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7391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7404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7416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7429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7442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7454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7467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7480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7493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flipV="1">
            <a:off x="75057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flipV="1">
            <a:off x="75184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flipV="1">
            <a:off x="75311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flipV="1">
            <a:off x="75438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flipV="1">
            <a:off x="75565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flipV="1">
            <a:off x="75692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flipV="1">
            <a:off x="75819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flipV="1">
            <a:off x="75946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flipV="1">
            <a:off x="76073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flipV="1">
            <a:off x="76200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flipV="1">
            <a:off x="76327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flipV="1">
            <a:off x="76454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flipV="1">
            <a:off x="76581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flipV="1">
            <a:off x="76708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76835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flipV="1">
            <a:off x="76962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flipV="1">
            <a:off x="77089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flipV="1">
            <a:off x="77216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77343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a:off x="77470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a:off x="77597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a:off x="77724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a:off x="77851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a:off x="77978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a:off x="78105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a:off x="78232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a:off x="78359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a:off x="78486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a:off x="78613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a:off x="78740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a:off x="78867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a:off x="78994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79121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79248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79375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79502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a:off x="79629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79756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a:off x="7988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8001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a:off x="8013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8026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8039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8051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8064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8077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8089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8102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a:off x="81153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8128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a:off x="8140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8153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8166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8178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a:off x="8191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8204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8216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flipV="1">
            <a:off x="82296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8242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8255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a:off x="8267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8280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8293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8305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8318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8331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a:off x="8343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8356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flipV="1">
            <a:off x="83693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flipV="1">
            <a:off x="83820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flipV="1">
            <a:off x="83947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flipV="1">
            <a:off x="84074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flipV="1">
            <a:off x="84201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flipV="1">
            <a:off x="84328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flipV="1">
            <a:off x="84455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flipV="1">
            <a:off x="84582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flipV="1">
            <a:off x="84709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flipV="1">
            <a:off x="84836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flipV="1">
            <a:off x="84963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flipV="1">
            <a:off x="85090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flipV="1">
            <a:off x="85217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flipV="1">
            <a:off x="85344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flipV="1">
            <a:off x="85471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flipV="1">
            <a:off x="85598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flipV="1">
            <a:off x="85725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flipV="1">
            <a:off x="85852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flipV="1">
            <a:off x="85979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a:off x="86106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a:off x="86233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86360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86487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4" name="Connector 793"/>
          <p:cNvCxnSpPr/>
          <p:nvPr/>
        </p:nvCxnSpPr>
        <p:spPr>
          <a:xfrm>
            <a:off x="86614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a:off x="86741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a:off x="86868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a:off x="86995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8" name="Connector 797"/>
          <p:cNvCxnSpPr/>
          <p:nvPr/>
        </p:nvCxnSpPr>
        <p:spPr>
          <a:xfrm>
            <a:off x="87122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799" name="Connector 798"/>
          <p:cNvCxnSpPr/>
          <p:nvPr/>
        </p:nvCxnSpPr>
        <p:spPr>
          <a:xfrm>
            <a:off x="87249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0" name="Connector 799"/>
          <p:cNvCxnSpPr/>
          <p:nvPr/>
        </p:nvCxnSpPr>
        <p:spPr>
          <a:xfrm>
            <a:off x="87376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1" name="Connector 800"/>
          <p:cNvCxnSpPr/>
          <p:nvPr/>
        </p:nvCxnSpPr>
        <p:spPr>
          <a:xfrm>
            <a:off x="87503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2" name="Connector 801"/>
          <p:cNvCxnSpPr/>
          <p:nvPr/>
        </p:nvCxnSpPr>
        <p:spPr>
          <a:xfrm>
            <a:off x="87630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3" name="Connector 802"/>
          <p:cNvCxnSpPr/>
          <p:nvPr/>
        </p:nvCxnSpPr>
        <p:spPr>
          <a:xfrm>
            <a:off x="87757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4" name="Connector 803"/>
          <p:cNvCxnSpPr/>
          <p:nvPr/>
        </p:nvCxnSpPr>
        <p:spPr>
          <a:xfrm>
            <a:off x="87884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5" name="Connector 804"/>
          <p:cNvCxnSpPr/>
          <p:nvPr/>
        </p:nvCxnSpPr>
        <p:spPr>
          <a:xfrm>
            <a:off x="88011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6" name="Connector 805"/>
          <p:cNvCxnSpPr/>
          <p:nvPr/>
        </p:nvCxnSpPr>
        <p:spPr>
          <a:xfrm>
            <a:off x="88138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7" name="Connector 806"/>
          <p:cNvCxnSpPr/>
          <p:nvPr/>
        </p:nvCxnSpPr>
        <p:spPr>
          <a:xfrm>
            <a:off x="88265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8" name="Connector 807"/>
          <p:cNvCxnSpPr/>
          <p:nvPr/>
        </p:nvCxnSpPr>
        <p:spPr>
          <a:xfrm>
            <a:off x="88392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09" name="Connector 808"/>
          <p:cNvCxnSpPr/>
          <p:nvPr/>
        </p:nvCxnSpPr>
        <p:spPr>
          <a:xfrm>
            <a:off x="8851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0" name="Connector 809"/>
          <p:cNvCxnSpPr/>
          <p:nvPr/>
        </p:nvCxnSpPr>
        <p:spPr>
          <a:xfrm>
            <a:off x="8864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1" name="Connector 810"/>
          <p:cNvCxnSpPr/>
          <p:nvPr/>
        </p:nvCxnSpPr>
        <p:spPr>
          <a:xfrm>
            <a:off x="8877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2" name="Connector 811"/>
          <p:cNvCxnSpPr/>
          <p:nvPr/>
        </p:nvCxnSpPr>
        <p:spPr>
          <a:xfrm>
            <a:off x="8890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3" name="Connector 812"/>
          <p:cNvCxnSpPr/>
          <p:nvPr/>
        </p:nvCxnSpPr>
        <p:spPr>
          <a:xfrm>
            <a:off x="8902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4" name="Connector 813"/>
          <p:cNvCxnSpPr/>
          <p:nvPr/>
        </p:nvCxnSpPr>
        <p:spPr>
          <a:xfrm>
            <a:off x="8915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5" name="Connector 814"/>
          <p:cNvCxnSpPr/>
          <p:nvPr/>
        </p:nvCxnSpPr>
        <p:spPr>
          <a:xfrm>
            <a:off x="8928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6" name="Connector 815"/>
          <p:cNvCxnSpPr/>
          <p:nvPr/>
        </p:nvCxnSpPr>
        <p:spPr>
          <a:xfrm>
            <a:off x="8940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7" name="Connector 816"/>
          <p:cNvCxnSpPr/>
          <p:nvPr/>
        </p:nvCxnSpPr>
        <p:spPr>
          <a:xfrm>
            <a:off x="8953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8" name="Connector 817"/>
          <p:cNvCxnSpPr/>
          <p:nvPr/>
        </p:nvCxnSpPr>
        <p:spPr>
          <a:xfrm>
            <a:off x="8966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19" name="Connector 818"/>
          <p:cNvCxnSpPr/>
          <p:nvPr/>
        </p:nvCxnSpPr>
        <p:spPr>
          <a:xfrm>
            <a:off x="89789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0" name="Connector 819"/>
          <p:cNvCxnSpPr/>
          <p:nvPr/>
        </p:nvCxnSpPr>
        <p:spPr>
          <a:xfrm>
            <a:off x="8991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1" name="Connector 820"/>
          <p:cNvCxnSpPr/>
          <p:nvPr/>
        </p:nvCxnSpPr>
        <p:spPr>
          <a:xfrm>
            <a:off x="9004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2" name="Connector 821"/>
          <p:cNvCxnSpPr/>
          <p:nvPr/>
        </p:nvCxnSpPr>
        <p:spPr>
          <a:xfrm>
            <a:off x="9017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3" name="Connector 822"/>
          <p:cNvCxnSpPr/>
          <p:nvPr/>
        </p:nvCxnSpPr>
        <p:spPr>
          <a:xfrm>
            <a:off x="9029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4" name="Connector 823"/>
          <p:cNvCxnSpPr/>
          <p:nvPr/>
        </p:nvCxnSpPr>
        <p:spPr>
          <a:xfrm>
            <a:off x="9042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5" name="Connector 824"/>
          <p:cNvCxnSpPr/>
          <p:nvPr/>
        </p:nvCxnSpPr>
        <p:spPr>
          <a:xfrm>
            <a:off x="9055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6" name="Connector 825"/>
          <p:cNvCxnSpPr/>
          <p:nvPr/>
        </p:nvCxnSpPr>
        <p:spPr>
          <a:xfrm>
            <a:off x="9067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7" name="Connector 826"/>
          <p:cNvCxnSpPr/>
          <p:nvPr/>
        </p:nvCxnSpPr>
        <p:spPr>
          <a:xfrm>
            <a:off x="9080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8" name="Connector 827"/>
          <p:cNvCxnSpPr/>
          <p:nvPr/>
        </p:nvCxnSpPr>
        <p:spPr>
          <a:xfrm flipV="1">
            <a:off x="90932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29" name="Connector 828"/>
          <p:cNvCxnSpPr/>
          <p:nvPr/>
        </p:nvCxnSpPr>
        <p:spPr>
          <a:xfrm>
            <a:off x="9105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0" name="Connector 829"/>
          <p:cNvCxnSpPr/>
          <p:nvPr/>
        </p:nvCxnSpPr>
        <p:spPr>
          <a:xfrm>
            <a:off x="9118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1" name="Connector 830"/>
          <p:cNvCxnSpPr/>
          <p:nvPr/>
        </p:nvCxnSpPr>
        <p:spPr>
          <a:xfrm>
            <a:off x="9131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2" name="Connector 831"/>
          <p:cNvCxnSpPr/>
          <p:nvPr/>
        </p:nvCxnSpPr>
        <p:spPr>
          <a:xfrm>
            <a:off x="9144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3" name="Connector 832"/>
          <p:cNvCxnSpPr/>
          <p:nvPr/>
        </p:nvCxnSpPr>
        <p:spPr>
          <a:xfrm>
            <a:off x="9156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4" name="Connector 833"/>
          <p:cNvCxnSpPr/>
          <p:nvPr/>
        </p:nvCxnSpPr>
        <p:spPr>
          <a:xfrm>
            <a:off x="9169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5" name="Connector 834"/>
          <p:cNvCxnSpPr/>
          <p:nvPr/>
        </p:nvCxnSpPr>
        <p:spPr>
          <a:xfrm>
            <a:off x="9182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6" name="Connector 835"/>
          <p:cNvCxnSpPr/>
          <p:nvPr/>
        </p:nvCxnSpPr>
        <p:spPr>
          <a:xfrm>
            <a:off x="9194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7" name="Connector 836"/>
          <p:cNvCxnSpPr/>
          <p:nvPr/>
        </p:nvCxnSpPr>
        <p:spPr>
          <a:xfrm>
            <a:off x="9207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8" name="Connector 837"/>
          <p:cNvCxnSpPr/>
          <p:nvPr/>
        </p:nvCxnSpPr>
        <p:spPr>
          <a:xfrm>
            <a:off x="9220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39" name="Connector 838"/>
          <p:cNvCxnSpPr/>
          <p:nvPr/>
        </p:nvCxnSpPr>
        <p:spPr>
          <a:xfrm flipV="1">
            <a:off x="92329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0" name="Connector 839"/>
          <p:cNvCxnSpPr/>
          <p:nvPr/>
        </p:nvCxnSpPr>
        <p:spPr>
          <a:xfrm flipV="1">
            <a:off x="92456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1" name="Connector 840"/>
          <p:cNvCxnSpPr/>
          <p:nvPr/>
        </p:nvCxnSpPr>
        <p:spPr>
          <a:xfrm flipV="1">
            <a:off x="92583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2" name="Connector 841"/>
          <p:cNvCxnSpPr/>
          <p:nvPr/>
        </p:nvCxnSpPr>
        <p:spPr>
          <a:xfrm flipV="1">
            <a:off x="92710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3" name="Connector 842"/>
          <p:cNvCxnSpPr/>
          <p:nvPr/>
        </p:nvCxnSpPr>
        <p:spPr>
          <a:xfrm flipV="1">
            <a:off x="92837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4" name="Connector 843"/>
          <p:cNvCxnSpPr/>
          <p:nvPr/>
        </p:nvCxnSpPr>
        <p:spPr>
          <a:xfrm flipV="1">
            <a:off x="92964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5" name="Connector 844"/>
          <p:cNvCxnSpPr/>
          <p:nvPr/>
        </p:nvCxnSpPr>
        <p:spPr>
          <a:xfrm flipV="1">
            <a:off x="93091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6" name="Connector 845"/>
          <p:cNvCxnSpPr/>
          <p:nvPr/>
        </p:nvCxnSpPr>
        <p:spPr>
          <a:xfrm flipV="1">
            <a:off x="93218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7" name="Connector 846"/>
          <p:cNvCxnSpPr/>
          <p:nvPr/>
        </p:nvCxnSpPr>
        <p:spPr>
          <a:xfrm flipV="1">
            <a:off x="93345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8" name="Connector 847"/>
          <p:cNvCxnSpPr/>
          <p:nvPr/>
        </p:nvCxnSpPr>
        <p:spPr>
          <a:xfrm flipV="1">
            <a:off x="93472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49" name="Connector 848"/>
          <p:cNvCxnSpPr/>
          <p:nvPr/>
        </p:nvCxnSpPr>
        <p:spPr>
          <a:xfrm flipV="1">
            <a:off x="93599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0" name="Connector 849"/>
          <p:cNvCxnSpPr/>
          <p:nvPr/>
        </p:nvCxnSpPr>
        <p:spPr>
          <a:xfrm flipV="1">
            <a:off x="93726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1" name="Connector 850"/>
          <p:cNvCxnSpPr/>
          <p:nvPr/>
        </p:nvCxnSpPr>
        <p:spPr>
          <a:xfrm flipV="1">
            <a:off x="93853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2" name="Connector 851"/>
          <p:cNvCxnSpPr/>
          <p:nvPr/>
        </p:nvCxnSpPr>
        <p:spPr>
          <a:xfrm flipV="1">
            <a:off x="93980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flipV="1">
            <a:off x="94107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flipV="1">
            <a:off x="94234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5" name="Connector 854"/>
          <p:cNvCxnSpPr/>
          <p:nvPr/>
        </p:nvCxnSpPr>
        <p:spPr>
          <a:xfrm flipV="1">
            <a:off x="94361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6" name="Connector 855"/>
          <p:cNvCxnSpPr/>
          <p:nvPr/>
        </p:nvCxnSpPr>
        <p:spPr>
          <a:xfrm flipV="1">
            <a:off x="94488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7" name="Connector 856"/>
          <p:cNvCxnSpPr/>
          <p:nvPr/>
        </p:nvCxnSpPr>
        <p:spPr>
          <a:xfrm flipV="1">
            <a:off x="94615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8" name="Connector 857"/>
          <p:cNvCxnSpPr/>
          <p:nvPr/>
        </p:nvCxnSpPr>
        <p:spPr>
          <a:xfrm>
            <a:off x="94742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59" name="Connector 858"/>
          <p:cNvCxnSpPr/>
          <p:nvPr/>
        </p:nvCxnSpPr>
        <p:spPr>
          <a:xfrm>
            <a:off x="94869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0" name="Connector 859"/>
          <p:cNvCxnSpPr/>
          <p:nvPr/>
        </p:nvCxnSpPr>
        <p:spPr>
          <a:xfrm>
            <a:off x="94996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1" name="Connector 860"/>
          <p:cNvCxnSpPr/>
          <p:nvPr/>
        </p:nvCxnSpPr>
        <p:spPr>
          <a:xfrm>
            <a:off x="95123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2" name="Connector 861"/>
          <p:cNvCxnSpPr/>
          <p:nvPr/>
        </p:nvCxnSpPr>
        <p:spPr>
          <a:xfrm>
            <a:off x="95250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3" name="Connector 862"/>
          <p:cNvCxnSpPr/>
          <p:nvPr/>
        </p:nvCxnSpPr>
        <p:spPr>
          <a:xfrm>
            <a:off x="95377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4" name="Connector 863"/>
          <p:cNvCxnSpPr/>
          <p:nvPr/>
        </p:nvCxnSpPr>
        <p:spPr>
          <a:xfrm>
            <a:off x="95504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5" name="Connector 864"/>
          <p:cNvCxnSpPr/>
          <p:nvPr/>
        </p:nvCxnSpPr>
        <p:spPr>
          <a:xfrm>
            <a:off x="95631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6" name="Connector 865"/>
          <p:cNvCxnSpPr/>
          <p:nvPr/>
        </p:nvCxnSpPr>
        <p:spPr>
          <a:xfrm>
            <a:off x="95758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7" name="Connector 866"/>
          <p:cNvCxnSpPr/>
          <p:nvPr/>
        </p:nvCxnSpPr>
        <p:spPr>
          <a:xfrm>
            <a:off x="95885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8" name="Connector 867"/>
          <p:cNvCxnSpPr/>
          <p:nvPr/>
        </p:nvCxnSpPr>
        <p:spPr>
          <a:xfrm>
            <a:off x="96012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69" name="Connector 868"/>
          <p:cNvCxnSpPr/>
          <p:nvPr/>
        </p:nvCxnSpPr>
        <p:spPr>
          <a:xfrm>
            <a:off x="96139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0" name="Connector 869"/>
          <p:cNvCxnSpPr/>
          <p:nvPr/>
        </p:nvCxnSpPr>
        <p:spPr>
          <a:xfrm>
            <a:off x="96266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1" name="Connector 870"/>
          <p:cNvCxnSpPr/>
          <p:nvPr/>
        </p:nvCxnSpPr>
        <p:spPr>
          <a:xfrm>
            <a:off x="96393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2" name="Connector 871"/>
          <p:cNvCxnSpPr/>
          <p:nvPr/>
        </p:nvCxnSpPr>
        <p:spPr>
          <a:xfrm>
            <a:off x="96520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3" name="Connector 872"/>
          <p:cNvCxnSpPr/>
          <p:nvPr/>
        </p:nvCxnSpPr>
        <p:spPr>
          <a:xfrm>
            <a:off x="96647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4" name="Connector 873"/>
          <p:cNvCxnSpPr/>
          <p:nvPr/>
        </p:nvCxnSpPr>
        <p:spPr>
          <a:xfrm>
            <a:off x="96774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5" name="Connector 874"/>
          <p:cNvCxnSpPr/>
          <p:nvPr/>
        </p:nvCxnSpPr>
        <p:spPr>
          <a:xfrm>
            <a:off x="96901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6" name="Connector 875"/>
          <p:cNvCxnSpPr/>
          <p:nvPr/>
        </p:nvCxnSpPr>
        <p:spPr>
          <a:xfrm>
            <a:off x="97028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7" name="Connector 876"/>
          <p:cNvCxnSpPr/>
          <p:nvPr/>
        </p:nvCxnSpPr>
        <p:spPr>
          <a:xfrm>
            <a:off x="9715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8" name="Connector 877"/>
          <p:cNvCxnSpPr/>
          <p:nvPr/>
        </p:nvCxnSpPr>
        <p:spPr>
          <a:xfrm>
            <a:off x="9728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79" name="Connector 878"/>
          <p:cNvCxnSpPr/>
          <p:nvPr/>
        </p:nvCxnSpPr>
        <p:spPr>
          <a:xfrm>
            <a:off x="9740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0" name="Connector 879"/>
          <p:cNvCxnSpPr/>
          <p:nvPr/>
        </p:nvCxnSpPr>
        <p:spPr>
          <a:xfrm>
            <a:off x="9753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1" name="Connector 880"/>
          <p:cNvCxnSpPr/>
          <p:nvPr/>
        </p:nvCxnSpPr>
        <p:spPr>
          <a:xfrm>
            <a:off x="9766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2" name="Connector 881"/>
          <p:cNvCxnSpPr/>
          <p:nvPr/>
        </p:nvCxnSpPr>
        <p:spPr>
          <a:xfrm>
            <a:off x="9779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3" name="Connector 882"/>
          <p:cNvCxnSpPr/>
          <p:nvPr/>
        </p:nvCxnSpPr>
        <p:spPr>
          <a:xfrm>
            <a:off x="9791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4" name="Connector 883"/>
          <p:cNvCxnSpPr/>
          <p:nvPr/>
        </p:nvCxnSpPr>
        <p:spPr>
          <a:xfrm>
            <a:off x="9804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5" name="Connector 884"/>
          <p:cNvCxnSpPr/>
          <p:nvPr/>
        </p:nvCxnSpPr>
        <p:spPr>
          <a:xfrm>
            <a:off x="9817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6" name="Connector 885"/>
          <p:cNvCxnSpPr/>
          <p:nvPr/>
        </p:nvCxnSpPr>
        <p:spPr>
          <a:xfrm>
            <a:off x="9829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7" name="Connector 886"/>
          <p:cNvCxnSpPr/>
          <p:nvPr/>
        </p:nvCxnSpPr>
        <p:spPr>
          <a:xfrm>
            <a:off x="98425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8" name="Connector 887"/>
          <p:cNvCxnSpPr/>
          <p:nvPr/>
        </p:nvCxnSpPr>
        <p:spPr>
          <a:xfrm>
            <a:off x="9855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89" name="Connector 888"/>
          <p:cNvCxnSpPr/>
          <p:nvPr/>
        </p:nvCxnSpPr>
        <p:spPr>
          <a:xfrm>
            <a:off x="9867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0" name="Connector 889"/>
          <p:cNvCxnSpPr/>
          <p:nvPr/>
        </p:nvCxnSpPr>
        <p:spPr>
          <a:xfrm>
            <a:off x="9880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1" name="Connector 890"/>
          <p:cNvCxnSpPr/>
          <p:nvPr/>
        </p:nvCxnSpPr>
        <p:spPr>
          <a:xfrm>
            <a:off x="9893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2" name="Connector 891"/>
          <p:cNvCxnSpPr/>
          <p:nvPr/>
        </p:nvCxnSpPr>
        <p:spPr>
          <a:xfrm>
            <a:off x="9906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3" name="Connector 892"/>
          <p:cNvCxnSpPr/>
          <p:nvPr/>
        </p:nvCxnSpPr>
        <p:spPr>
          <a:xfrm>
            <a:off x="9918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4" name="Connector 893"/>
          <p:cNvCxnSpPr/>
          <p:nvPr/>
        </p:nvCxnSpPr>
        <p:spPr>
          <a:xfrm>
            <a:off x="9931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5" name="Connector 894"/>
          <p:cNvCxnSpPr/>
          <p:nvPr/>
        </p:nvCxnSpPr>
        <p:spPr>
          <a:xfrm>
            <a:off x="9944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6" name="Connector 895"/>
          <p:cNvCxnSpPr/>
          <p:nvPr/>
        </p:nvCxnSpPr>
        <p:spPr>
          <a:xfrm flipV="1">
            <a:off x="99568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7" name="Connector 896"/>
          <p:cNvCxnSpPr/>
          <p:nvPr/>
        </p:nvCxnSpPr>
        <p:spPr>
          <a:xfrm>
            <a:off x="9969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8" name="Connector 897"/>
          <p:cNvCxnSpPr/>
          <p:nvPr/>
        </p:nvCxnSpPr>
        <p:spPr>
          <a:xfrm>
            <a:off x="9982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899" name="Connector 898"/>
          <p:cNvCxnSpPr/>
          <p:nvPr/>
        </p:nvCxnSpPr>
        <p:spPr>
          <a:xfrm>
            <a:off x="9994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0" name="Connector 899"/>
          <p:cNvCxnSpPr/>
          <p:nvPr/>
        </p:nvCxnSpPr>
        <p:spPr>
          <a:xfrm>
            <a:off x="10007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1" name="Connector 900"/>
          <p:cNvCxnSpPr/>
          <p:nvPr/>
        </p:nvCxnSpPr>
        <p:spPr>
          <a:xfrm>
            <a:off x="10020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a:off x="10033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a:off x="10045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a:off x="10058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5" name="Connector 904"/>
          <p:cNvCxnSpPr/>
          <p:nvPr/>
        </p:nvCxnSpPr>
        <p:spPr>
          <a:xfrm>
            <a:off x="10071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a:off x="10083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7" name="Connector 906"/>
          <p:cNvCxnSpPr/>
          <p:nvPr/>
        </p:nvCxnSpPr>
        <p:spPr>
          <a:xfrm flipV="1">
            <a:off x="100965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8" name="Connector 907"/>
          <p:cNvCxnSpPr/>
          <p:nvPr/>
        </p:nvCxnSpPr>
        <p:spPr>
          <a:xfrm flipV="1">
            <a:off x="101092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flipV="1">
            <a:off x="101219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flipV="1">
            <a:off x="101346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1" name="Connector 910"/>
          <p:cNvCxnSpPr/>
          <p:nvPr/>
        </p:nvCxnSpPr>
        <p:spPr>
          <a:xfrm flipV="1">
            <a:off x="101473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2" name="Connector 911"/>
          <p:cNvCxnSpPr/>
          <p:nvPr/>
        </p:nvCxnSpPr>
        <p:spPr>
          <a:xfrm flipV="1">
            <a:off x="101600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flipV="1">
            <a:off x="101727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flipV="1">
            <a:off x="101854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flipV="1">
            <a:off x="101981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flipV="1">
            <a:off x="102108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7" name="Connector 916"/>
          <p:cNvCxnSpPr/>
          <p:nvPr/>
        </p:nvCxnSpPr>
        <p:spPr>
          <a:xfrm flipV="1">
            <a:off x="102235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8" name="Connector 917"/>
          <p:cNvCxnSpPr/>
          <p:nvPr/>
        </p:nvCxnSpPr>
        <p:spPr>
          <a:xfrm flipV="1">
            <a:off x="102362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flipV="1">
            <a:off x="102489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0" name="Connector 919"/>
          <p:cNvCxnSpPr/>
          <p:nvPr/>
        </p:nvCxnSpPr>
        <p:spPr>
          <a:xfrm flipV="1">
            <a:off x="102616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1" name="Connector 920"/>
          <p:cNvCxnSpPr/>
          <p:nvPr/>
        </p:nvCxnSpPr>
        <p:spPr>
          <a:xfrm flipV="1">
            <a:off x="102743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flipV="1">
            <a:off x="102870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3" name="Connector 922"/>
          <p:cNvCxnSpPr/>
          <p:nvPr/>
        </p:nvCxnSpPr>
        <p:spPr>
          <a:xfrm flipV="1">
            <a:off x="102997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4" name="Connector 923"/>
          <p:cNvCxnSpPr/>
          <p:nvPr/>
        </p:nvCxnSpPr>
        <p:spPr>
          <a:xfrm flipV="1">
            <a:off x="103124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5" name="Connector 924"/>
          <p:cNvCxnSpPr/>
          <p:nvPr/>
        </p:nvCxnSpPr>
        <p:spPr>
          <a:xfrm flipV="1">
            <a:off x="103251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6" name="Connector 925"/>
          <p:cNvCxnSpPr/>
          <p:nvPr/>
        </p:nvCxnSpPr>
        <p:spPr>
          <a:xfrm>
            <a:off x="10337800" y="2816860"/>
            <a:ext cx="12700" cy="4740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7" name="Connector 926"/>
          <p:cNvCxnSpPr/>
          <p:nvPr/>
        </p:nvCxnSpPr>
        <p:spPr>
          <a:xfrm>
            <a:off x="10350500" y="2864267"/>
            <a:ext cx="12700" cy="1313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a:off x="10363200" y="2995624"/>
            <a:ext cx="12700" cy="18675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10375900" y="3182381"/>
            <a:ext cx="12700" cy="20600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0388600" y="3388382"/>
            <a:ext cx="12700" cy="192737"/>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0401300" y="3581119"/>
            <a:ext cx="12700" cy="15832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10414000" y="3739444"/>
            <a:ext cx="12700" cy="11615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3" name="Connector 932"/>
          <p:cNvCxnSpPr/>
          <p:nvPr/>
        </p:nvCxnSpPr>
        <p:spPr>
          <a:xfrm>
            <a:off x="10426700" y="3855596"/>
            <a:ext cx="12700" cy="7683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4" name="Connector 933"/>
          <p:cNvCxnSpPr/>
          <p:nvPr/>
        </p:nvCxnSpPr>
        <p:spPr>
          <a:xfrm>
            <a:off x="10439400" y="3932435"/>
            <a:ext cx="12700" cy="46114"/>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a:off x="10452100" y="3978549"/>
            <a:ext cx="12700" cy="252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6" name="Connector 935"/>
          <p:cNvCxnSpPr/>
          <p:nvPr/>
        </p:nvCxnSpPr>
        <p:spPr>
          <a:xfrm>
            <a:off x="10464800" y="4003755"/>
            <a:ext cx="12700" cy="12585"/>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7" name="Connector 936"/>
          <p:cNvCxnSpPr/>
          <p:nvPr/>
        </p:nvCxnSpPr>
        <p:spPr>
          <a:xfrm>
            <a:off x="10477500" y="4016340"/>
            <a:ext cx="12700" cy="575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8" name="Connector 937"/>
          <p:cNvCxnSpPr/>
          <p:nvPr/>
        </p:nvCxnSpPr>
        <p:spPr>
          <a:xfrm>
            <a:off x="10490200" y="4022090"/>
            <a:ext cx="12700" cy="2408"/>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39" name="Connector 938"/>
          <p:cNvCxnSpPr/>
          <p:nvPr/>
        </p:nvCxnSpPr>
        <p:spPr>
          <a:xfrm>
            <a:off x="10502900" y="4024498"/>
            <a:ext cx="12700" cy="9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0" name="Connector 939"/>
          <p:cNvCxnSpPr/>
          <p:nvPr/>
        </p:nvCxnSpPr>
        <p:spPr>
          <a:xfrm>
            <a:off x="10515600" y="4025424"/>
            <a:ext cx="12700" cy="32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1" name="Connector 940"/>
          <p:cNvCxnSpPr/>
          <p:nvPr/>
        </p:nvCxnSpPr>
        <p:spPr>
          <a:xfrm>
            <a:off x="10528300" y="4025750"/>
            <a:ext cx="12700" cy="106"/>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2" name="Connector 941"/>
          <p:cNvCxnSpPr/>
          <p:nvPr/>
        </p:nvCxnSpPr>
        <p:spPr>
          <a:xfrm>
            <a:off x="10541000" y="4025856"/>
            <a:ext cx="12700" cy="3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3" name="Connector 942"/>
          <p:cNvCxnSpPr/>
          <p:nvPr/>
        </p:nvCxnSpPr>
        <p:spPr>
          <a:xfrm>
            <a:off x="10553700" y="4025888"/>
            <a:ext cx="12700" cy="9"/>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4" name="Connector 943"/>
          <p:cNvCxnSpPr/>
          <p:nvPr/>
        </p:nvCxnSpPr>
        <p:spPr>
          <a:xfrm>
            <a:off x="10566400" y="4025897"/>
            <a:ext cx="12700" cy="2"/>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5" name="Connector 944"/>
          <p:cNvCxnSpPr/>
          <p:nvPr/>
        </p:nvCxnSpPr>
        <p:spPr>
          <a:xfrm>
            <a:off x="105791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6" name="Connector 945"/>
          <p:cNvCxnSpPr/>
          <p:nvPr/>
        </p:nvCxnSpPr>
        <p:spPr>
          <a:xfrm>
            <a:off x="105918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7" name="Connector 946"/>
          <p:cNvCxnSpPr/>
          <p:nvPr/>
        </p:nvCxnSpPr>
        <p:spPr>
          <a:xfrm>
            <a:off x="106045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8" name="Connector 947"/>
          <p:cNvCxnSpPr/>
          <p:nvPr/>
        </p:nvCxnSpPr>
        <p:spPr>
          <a:xfrm>
            <a:off x="106172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49" name="Connector 948"/>
          <p:cNvCxnSpPr/>
          <p:nvPr/>
        </p:nvCxnSpPr>
        <p:spPr>
          <a:xfrm>
            <a:off x="106299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0" name="Connector 949"/>
          <p:cNvCxnSpPr/>
          <p:nvPr/>
        </p:nvCxnSpPr>
        <p:spPr>
          <a:xfrm>
            <a:off x="106426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1" name="Connector 950"/>
          <p:cNvCxnSpPr/>
          <p:nvPr/>
        </p:nvCxnSpPr>
        <p:spPr>
          <a:xfrm>
            <a:off x="106553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2" name="Connector 951"/>
          <p:cNvCxnSpPr/>
          <p:nvPr/>
        </p:nvCxnSpPr>
        <p:spPr>
          <a:xfrm>
            <a:off x="106680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3" name="Connector 952"/>
          <p:cNvCxnSpPr/>
          <p:nvPr/>
        </p:nvCxnSpPr>
        <p:spPr>
          <a:xfrm>
            <a:off x="106807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4" name="Connector 953"/>
          <p:cNvCxnSpPr/>
          <p:nvPr/>
        </p:nvCxnSpPr>
        <p:spPr>
          <a:xfrm>
            <a:off x="10693400" y="4025899"/>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5" name="Connector 954"/>
          <p:cNvCxnSpPr/>
          <p:nvPr/>
        </p:nvCxnSpPr>
        <p:spPr>
          <a:xfrm>
            <a:off x="10706100" y="4025899"/>
            <a:ext cx="12700" cy="1"/>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6" name="Connector 955"/>
          <p:cNvCxnSpPr/>
          <p:nvPr/>
        </p:nvCxnSpPr>
        <p:spPr>
          <a:xfrm>
            <a:off x="10718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7" name="Connector 956"/>
          <p:cNvCxnSpPr/>
          <p:nvPr/>
        </p:nvCxnSpPr>
        <p:spPr>
          <a:xfrm>
            <a:off x="10731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8" name="Connector 957"/>
          <p:cNvCxnSpPr/>
          <p:nvPr/>
        </p:nvCxnSpPr>
        <p:spPr>
          <a:xfrm>
            <a:off x="10744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59" name="Connector 958"/>
          <p:cNvCxnSpPr/>
          <p:nvPr/>
        </p:nvCxnSpPr>
        <p:spPr>
          <a:xfrm>
            <a:off x="10756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0" name="Connector 959"/>
          <p:cNvCxnSpPr/>
          <p:nvPr/>
        </p:nvCxnSpPr>
        <p:spPr>
          <a:xfrm>
            <a:off x="10769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1" name="Connector 960"/>
          <p:cNvCxnSpPr/>
          <p:nvPr/>
        </p:nvCxnSpPr>
        <p:spPr>
          <a:xfrm>
            <a:off x="10782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2" name="Connector 961"/>
          <p:cNvCxnSpPr/>
          <p:nvPr/>
        </p:nvCxnSpPr>
        <p:spPr>
          <a:xfrm>
            <a:off x="10795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3" name="Connector 962"/>
          <p:cNvCxnSpPr/>
          <p:nvPr/>
        </p:nvCxnSpPr>
        <p:spPr>
          <a:xfrm>
            <a:off x="10807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4" name="Connector 963"/>
          <p:cNvCxnSpPr/>
          <p:nvPr/>
        </p:nvCxnSpPr>
        <p:spPr>
          <a:xfrm>
            <a:off x="10820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5" name="Connector 964"/>
          <p:cNvCxnSpPr/>
          <p:nvPr/>
        </p:nvCxnSpPr>
        <p:spPr>
          <a:xfrm>
            <a:off x="10833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6" name="Connector 965"/>
          <p:cNvCxnSpPr/>
          <p:nvPr/>
        </p:nvCxnSpPr>
        <p:spPr>
          <a:xfrm>
            <a:off x="10845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7" name="Connector 966"/>
          <p:cNvCxnSpPr/>
          <p:nvPr/>
        </p:nvCxnSpPr>
        <p:spPr>
          <a:xfrm>
            <a:off x="10858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8" name="Connector 967"/>
          <p:cNvCxnSpPr/>
          <p:nvPr/>
        </p:nvCxnSpPr>
        <p:spPr>
          <a:xfrm>
            <a:off x="10871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69" name="Connector 968"/>
          <p:cNvCxnSpPr/>
          <p:nvPr/>
        </p:nvCxnSpPr>
        <p:spPr>
          <a:xfrm>
            <a:off x="10883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0" name="Connector 969"/>
          <p:cNvCxnSpPr/>
          <p:nvPr/>
        </p:nvCxnSpPr>
        <p:spPr>
          <a:xfrm>
            <a:off x="10896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1" name="Connector 970"/>
          <p:cNvCxnSpPr/>
          <p:nvPr/>
        </p:nvCxnSpPr>
        <p:spPr>
          <a:xfrm>
            <a:off x="10909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2" name="Connector 971"/>
          <p:cNvCxnSpPr/>
          <p:nvPr/>
        </p:nvCxnSpPr>
        <p:spPr>
          <a:xfrm>
            <a:off x="10922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3" name="Connector 972"/>
          <p:cNvCxnSpPr/>
          <p:nvPr/>
        </p:nvCxnSpPr>
        <p:spPr>
          <a:xfrm>
            <a:off x="10934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4" name="Connector 973"/>
          <p:cNvCxnSpPr/>
          <p:nvPr/>
        </p:nvCxnSpPr>
        <p:spPr>
          <a:xfrm>
            <a:off x="10947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5" name="Connector 974"/>
          <p:cNvCxnSpPr/>
          <p:nvPr/>
        </p:nvCxnSpPr>
        <p:spPr>
          <a:xfrm>
            <a:off x="10960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6" name="Connector 975"/>
          <p:cNvCxnSpPr/>
          <p:nvPr/>
        </p:nvCxnSpPr>
        <p:spPr>
          <a:xfrm>
            <a:off x="10972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7" name="Connector 976"/>
          <p:cNvCxnSpPr/>
          <p:nvPr/>
        </p:nvCxnSpPr>
        <p:spPr>
          <a:xfrm>
            <a:off x="10985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8" name="Connector 977"/>
          <p:cNvCxnSpPr/>
          <p:nvPr/>
        </p:nvCxnSpPr>
        <p:spPr>
          <a:xfrm>
            <a:off x="10998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79" name="Connector 978"/>
          <p:cNvCxnSpPr/>
          <p:nvPr/>
        </p:nvCxnSpPr>
        <p:spPr>
          <a:xfrm>
            <a:off x="11010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0" name="Connector 979"/>
          <p:cNvCxnSpPr/>
          <p:nvPr/>
        </p:nvCxnSpPr>
        <p:spPr>
          <a:xfrm>
            <a:off x="11023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1" name="Connector 980"/>
          <p:cNvCxnSpPr/>
          <p:nvPr/>
        </p:nvCxnSpPr>
        <p:spPr>
          <a:xfrm>
            <a:off x="110363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2" name="Connector 981"/>
          <p:cNvCxnSpPr/>
          <p:nvPr/>
        </p:nvCxnSpPr>
        <p:spPr>
          <a:xfrm>
            <a:off x="110490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3" name="Connector 982"/>
          <p:cNvCxnSpPr/>
          <p:nvPr/>
        </p:nvCxnSpPr>
        <p:spPr>
          <a:xfrm>
            <a:off x="110617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4" name="Connector 983"/>
          <p:cNvCxnSpPr/>
          <p:nvPr/>
        </p:nvCxnSpPr>
        <p:spPr>
          <a:xfrm>
            <a:off x="110744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5" name="Connector 984"/>
          <p:cNvCxnSpPr/>
          <p:nvPr/>
        </p:nvCxnSpPr>
        <p:spPr>
          <a:xfrm>
            <a:off x="110871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6" name="Connector 985"/>
          <p:cNvCxnSpPr/>
          <p:nvPr/>
        </p:nvCxnSpPr>
        <p:spPr>
          <a:xfrm>
            <a:off x="110998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7" name="Connector 986"/>
          <p:cNvCxnSpPr/>
          <p:nvPr/>
        </p:nvCxnSpPr>
        <p:spPr>
          <a:xfrm>
            <a:off x="111125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8" name="Connector 987"/>
          <p:cNvCxnSpPr/>
          <p:nvPr/>
        </p:nvCxnSpPr>
        <p:spPr>
          <a:xfrm>
            <a:off x="111252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89" name="Connector 988"/>
          <p:cNvCxnSpPr/>
          <p:nvPr/>
        </p:nvCxnSpPr>
        <p:spPr>
          <a:xfrm>
            <a:off x="111379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90" name="Connector 989"/>
          <p:cNvCxnSpPr/>
          <p:nvPr/>
        </p:nvCxnSpPr>
        <p:spPr>
          <a:xfrm>
            <a:off x="11150600" y="4025900"/>
            <a:ext cx="12700" cy="0"/>
          </a:xfrm>
          <a:prstGeom prst="line">
            <a:avLst/>
          </a:prstGeom>
          <a:ln w="254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991" name="Connector 990"/>
          <p:cNvCxnSpPr/>
          <p:nvPr/>
        </p:nvCxnSpPr>
        <p:spPr>
          <a:xfrm>
            <a:off x="7086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2" name="Connector 991"/>
          <p:cNvCxnSpPr/>
          <p:nvPr/>
        </p:nvCxnSpPr>
        <p:spPr>
          <a:xfrm>
            <a:off x="7099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3" name="Connector 992"/>
          <p:cNvCxnSpPr/>
          <p:nvPr/>
        </p:nvCxnSpPr>
        <p:spPr>
          <a:xfrm>
            <a:off x="7112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4" name="Connector 993"/>
          <p:cNvCxnSpPr/>
          <p:nvPr/>
        </p:nvCxnSpPr>
        <p:spPr>
          <a:xfrm>
            <a:off x="7124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5" name="Connector 994"/>
          <p:cNvCxnSpPr/>
          <p:nvPr/>
        </p:nvCxnSpPr>
        <p:spPr>
          <a:xfrm>
            <a:off x="7137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6" name="Connector 995"/>
          <p:cNvCxnSpPr/>
          <p:nvPr/>
        </p:nvCxnSpPr>
        <p:spPr>
          <a:xfrm>
            <a:off x="7150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7" name="Connector 996"/>
          <p:cNvCxnSpPr/>
          <p:nvPr/>
        </p:nvCxnSpPr>
        <p:spPr>
          <a:xfrm>
            <a:off x="7162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8" name="Connector 997"/>
          <p:cNvCxnSpPr/>
          <p:nvPr/>
        </p:nvCxnSpPr>
        <p:spPr>
          <a:xfrm>
            <a:off x="7175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999" name="Connector 998"/>
          <p:cNvCxnSpPr/>
          <p:nvPr/>
        </p:nvCxnSpPr>
        <p:spPr>
          <a:xfrm>
            <a:off x="7188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0" name="Connector 999"/>
          <p:cNvCxnSpPr/>
          <p:nvPr/>
        </p:nvCxnSpPr>
        <p:spPr>
          <a:xfrm>
            <a:off x="7200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1" name="Connector 1000"/>
          <p:cNvCxnSpPr/>
          <p:nvPr/>
        </p:nvCxnSpPr>
        <p:spPr>
          <a:xfrm>
            <a:off x="7213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2" name="Connector 1001"/>
          <p:cNvCxnSpPr/>
          <p:nvPr/>
        </p:nvCxnSpPr>
        <p:spPr>
          <a:xfrm>
            <a:off x="7226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3" name="Connector 1002"/>
          <p:cNvCxnSpPr/>
          <p:nvPr/>
        </p:nvCxnSpPr>
        <p:spPr>
          <a:xfrm>
            <a:off x="7239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7251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7264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6" name="Connector 1005"/>
          <p:cNvCxnSpPr/>
          <p:nvPr/>
        </p:nvCxnSpPr>
        <p:spPr>
          <a:xfrm>
            <a:off x="7277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7" name="Connector 1006"/>
          <p:cNvCxnSpPr/>
          <p:nvPr/>
        </p:nvCxnSpPr>
        <p:spPr>
          <a:xfrm>
            <a:off x="7289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8" name="Connector 1007"/>
          <p:cNvCxnSpPr/>
          <p:nvPr/>
        </p:nvCxnSpPr>
        <p:spPr>
          <a:xfrm>
            <a:off x="7302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09" name="Connector 1008"/>
          <p:cNvCxnSpPr/>
          <p:nvPr/>
        </p:nvCxnSpPr>
        <p:spPr>
          <a:xfrm>
            <a:off x="7315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0" name="Connector 1009"/>
          <p:cNvCxnSpPr/>
          <p:nvPr/>
        </p:nvCxnSpPr>
        <p:spPr>
          <a:xfrm>
            <a:off x="7327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1" name="Connector 1010"/>
          <p:cNvCxnSpPr/>
          <p:nvPr/>
        </p:nvCxnSpPr>
        <p:spPr>
          <a:xfrm>
            <a:off x="7340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2" name="Connector 1011"/>
          <p:cNvCxnSpPr/>
          <p:nvPr/>
        </p:nvCxnSpPr>
        <p:spPr>
          <a:xfrm>
            <a:off x="7353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3" name="Connector 1012"/>
          <p:cNvCxnSpPr/>
          <p:nvPr/>
        </p:nvCxnSpPr>
        <p:spPr>
          <a:xfrm>
            <a:off x="7366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4" name="Connector 1013"/>
          <p:cNvCxnSpPr/>
          <p:nvPr/>
        </p:nvCxnSpPr>
        <p:spPr>
          <a:xfrm>
            <a:off x="7378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5" name="Connector 1014"/>
          <p:cNvCxnSpPr/>
          <p:nvPr/>
        </p:nvCxnSpPr>
        <p:spPr>
          <a:xfrm>
            <a:off x="7391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6" name="Connector 1015"/>
          <p:cNvCxnSpPr/>
          <p:nvPr/>
        </p:nvCxnSpPr>
        <p:spPr>
          <a:xfrm>
            <a:off x="7404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7" name="Connector 1016"/>
          <p:cNvCxnSpPr/>
          <p:nvPr/>
        </p:nvCxnSpPr>
        <p:spPr>
          <a:xfrm>
            <a:off x="7416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8" name="Connector 1017"/>
          <p:cNvCxnSpPr/>
          <p:nvPr/>
        </p:nvCxnSpPr>
        <p:spPr>
          <a:xfrm>
            <a:off x="7429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19" name="Connector 1018"/>
          <p:cNvCxnSpPr/>
          <p:nvPr/>
        </p:nvCxnSpPr>
        <p:spPr>
          <a:xfrm>
            <a:off x="7442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0" name="Connector 1019"/>
          <p:cNvCxnSpPr/>
          <p:nvPr/>
        </p:nvCxnSpPr>
        <p:spPr>
          <a:xfrm>
            <a:off x="7454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1" name="Connector 1020"/>
          <p:cNvCxnSpPr/>
          <p:nvPr/>
        </p:nvCxnSpPr>
        <p:spPr>
          <a:xfrm>
            <a:off x="7467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2" name="Connector 1021"/>
          <p:cNvCxnSpPr/>
          <p:nvPr/>
        </p:nvCxnSpPr>
        <p:spPr>
          <a:xfrm>
            <a:off x="7480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3" name="Connector 1022"/>
          <p:cNvCxnSpPr/>
          <p:nvPr/>
        </p:nvCxnSpPr>
        <p:spPr>
          <a:xfrm>
            <a:off x="7493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4" name="Connector 1023"/>
          <p:cNvCxnSpPr/>
          <p:nvPr/>
        </p:nvCxnSpPr>
        <p:spPr>
          <a:xfrm>
            <a:off x="7505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5" name="Connector 1024"/>
          <p:cNvCxnSpPr/>
          <p:nvPr/>
        </p:nvCxnSpPr>
        <p:spPr>
          <a:xfrm>
            <a:off x="7518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6" name="Connector 1025"/>
          <p:cNvCxnSpPr/>
          <p:nvPr/>
        </p:nvCxnSpPr>
        <p:spPr>
          <a:xfrm>
            <a:off x="7531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7" name="Connector 1026"/>
          <p:cNvCxnSpPr/>
          <p:nvPr/>
        </p:nvCxnSpPr>
        <p:spPr>
          <a:xfrm>
            <a:off x="7543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8" name="Connector 1027"/>
          <p:cNvCxnSpPr/>
          <p:nvPr/>
        </p:nvCxnSpPr>
        <p:spPr>
          <a:xfrm>
            <a:off x="7556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29" name="Connector 1028"/>
          <p:cNvCxnSpPr/>
          <p:nvPr/>
        </p:nvCxnSpPr>
        <p:spPr>
          <a:xfrm>
            <a:off x="7569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0" name="Connector 1029"/>
          <p:cNvCxnSpPr/>
          <p:nvPr/>
        </p:nvCxnSpPr>
        <p:spPr>
          <a:xfrm flipV="1">
            <a:off x="75819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1" name="Connector 1030"/>
          <p:cNvCxnSpPr/>
          <p:nvPr/>
        </p:nvCxnSpPr>
        <p:spPr>
          <a:xfrm>
            <a:off x="7594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2" name="Connector 1031"/>
          <p:cNvCxnSpPr/>
          <p:nvPr/>
        </p:nvCxnSpPr>
        <p:spPr>
          <a:xfrm>
            <a:off x="7607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3" name="Connector 1032"/>
          <p:cNvCxnSpPr/>
          <p:nvPr/>
        </p:nvCxnSpPr>
        <p:spPr>
          <a:xfrm>
            <a:off x="7620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4" name="Connector 1033"/>
          <p:cNvCxnSpPr/>
          <p:nvPr/>
        </p:nvCxnSpPr>
        <p:spPr>
          <a:xfrm>
            <a:off x="7632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5" name="Connector 1034"/>
          <p:cNvCxnSpPr/>
          <p:nvPr/>
        </p:nvCxnSpPr>
        <p:spPr>
          <a:xfrm>
            <a:off x="7645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6" name="Connector 1035"/>
          <p:cNvCxnSpPr/>
          <p:nvPr/>
        </p:nvCxnSpPr>
        <p:spPr>
          <a:xfrm>
            <a:off x="7658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7" name="Connector 1036"/>
          <p:cNvCxnSpPr/>
          <p:nvPr/>
        </p:nvCxnSpPr>
        <p:spPr>
          <a:xfrm>
            <a:off x="7670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8" name="Connector 1037"/>
          <p:cNvCxnSpPr/>
          <p:nvPr/>
        </p:nvCxnSpPr>
        <p:spPr>
          <a:xfrm>
            <a:off x="7683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39" name="Connector 1038"/>
          <p:cNvCxnSpPr/>
          <p:nvPr/>
        </p:nvCxnSpPr>
        <p:spPr>
          <a:xfrm>
            <a:off x="7696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0" name="Connector 1039"/>
          <p:cNvCxnSpPr/>
          <p:nvPr/>
        </p:nvCxnSpPr>
        <p:spPr>
          <a:xfrm>
            <a:off x="7708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1" name="Connector 1040"/>
          <p:cNvCxnSpPr/>
          <p:nvPr/>
        </p:nvCxnSpPr>
        <p:spPr>
          <a:xfrm flipV="1">
            <a:off x="77216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2" name="Connector 1041"/>
          <p:cNvCxnSpPr/>
          <p:nvPr/>
        </p:nvCxnSpPr>
        <p:spPr>
          <a:xfrm flipV="1">
            <a:off x="77343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3" name="Connector 1042"/>
          <p:cNvCxnSpPr/>
          <p:nvPr/>
        </p:nvCxnSpPr>
        <p:spPr>
          <a:xfrm flipV="1">
            <a:off x="77470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4" name="Connector 1043"/>
          <p:cNvCxnSpPr/>
          <p:nvPr/>
        </p:nvCxnSpPr>
        <p:spPr>
          <a:xfrm flipV="1">
            <a:off x="77597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5" name="Connector 1044"/>
          <p:cNvCxnSpPr/>
          <p:nvPr/>
        </p:nvCxnSpPr>
        <p:spPr>
          <a:xfrm flipV="1">
            <a:off x="77724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6" name="Connector 1045"/>
          <p:cNvCxnSpPr/>
          <p:nvPr/>
        </p:nvCxnSpPr>
        <p:spPr>
          <a:xfrm flipV="1">
            <a:off x="77851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7" name="Connector 1046"/>
          <p:cNvCxnSpPr/>
          <p:nvPr/>
        </p:nvCxnSpPr>
        <p:spPr>
          <a:xfrm flipV="1">
            <a:off x="77978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8" name="Connector 1047"/>
          <p:cNvCxnSpPr/>
          <p:nvPr/>
        </p:nvCxnSpPr>
        <p:spPr>
          <a:xfrm flipV="1">
            <a:off x="78105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49" name="Connector 1048"/>
          <p:cNvCxnSpPr/>
          <p:nvPr/>
        </p:nvCxnSpPr>
        <p:spPr>
          <a:xfrm flipV="1">
            <a:off x="78232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0" name="Connector 1049"/>
          <p:cNvCxnSpPr/>
          <p:nvPr/>
        </p:nvCxnSpPr>
        <p:spPr>
          <a:xfrm flipV="1">
            <a:off x="78359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1" name="Connector 1050"/>
          <p:cNvCxnSpPr/>
          <p:nvPr/>
        </p:nvCxnSpPr>
        <p:spPr>
          <a:xfrm flipV="1">
            <a:off x="78486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2" name="Connector 1051"/>
          <p:cNvCxnSpPr/>
          <p:nvPr/>
        </p:nvCxnSpPr>
        <p:spPr>
          <a:xfrm flipV="1">
            <a:off x="78613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3" name="Connector 1052"/>
          <p:cNvCxnSpPr/>
          <p:nvPr/>
        </p:nvCxnSpPr>
        <p:spPr>
          <a:xfrm flipV="1">
            <a:off x="78740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4" name="Connector 1053"/>
          <p:cNvCxnSpPr/>
          <p:nvPr/>
        </p:nvCxnSpPr>
        <p:spPr>
          <a:xfrm flipV="1">
            <a:off x="78867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5" name="Connector 1054"/>
          <p:cNvCxnSpPr/>
          <p:nvPr/>
        </p:nvCxnSpPr>
        <p:spPr>
          <a:xfrm flipV="1">
            <a:off x="78994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6" name="Connector 1055"/>
          <p:cNvCxnSpPr/>
          <p:nvPr/>
        </p:nvCxnSpPr>
        <p:spPr>
          <a:xfrm flipV="1">
            <a:off x="79121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7" name="Connector 1056"/>
          <p:cNvCxnSpPr/>
          <p:nvPr/>
        </p:nvCxnSpPr>
        <p:spPr>
          <a:xfrm flipV="1">
            <a:off x="79248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8" name="Connector 1057"/>
          <p:cNvCxnSpPr/>
          <p:nvPr/>
        </p:nvCxnSpPr>
        <p:spPr>
          <a:xfrm flipV="1">
            <a:off x="79375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59" name="Connector 1058"/>
          <p:cNvCxnSpPr/>
          <p:nvPr/>
        </p:nvCxnSpPr>
        <p:spPr>
          <a:xfrm flipV="1">
            <a:off x="79502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0" name="Connector 1059"/>
          <p:cNvCxnSpPr/>
          <p:nvPr/>
        </p:nvCxnSpPr>
        <p:spPr>
          <a:xfrm>
            <a:off x="79629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1" name="Connector 1060"/>
          <p:cNvCxnSpPr/>
          <p:nvPr/>
        </p:nvCxnSpPr>
        <p:spPr>
          <a:xfrm>
            <a:off x="79756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2" name="Connector 1061"/>
          <p:cNvCxnSpPr/>
          <p:nvPr/>
        </p:nvCxnSpPr>
        <p:spPr>
          <a:xfrm>
            <a:off x="79883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3" name="Connector 1062"/>
          <p:cNvCxnSpPr/>
          <p:nvPr/>
        </p:nvCxnSpPr>
        <p:spPr>
          <a:xfrm>
            <a:off x="80010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4" name="Connector 1063"/>
          <p:cNvCxnSpPr/>
          <p:nvPr/>
        </p:nvCxnSpPr>
        <p:spPr>
          <a:xfrm>
            <a:off x="80137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5" name="Connector 1064"/>
          <p:cNvCxnSpPr/>
          <p:nvPr/>
        </p:nvCxnSpPr>
        <p:spPr>
          <a:xfrm>
            <a:off x="80264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6" name="Connector 1065"/>
          <p:cNvCxnSpPr/>
          <p:nvPr/>
        </p:nvCxnSpPr>
        <p:spPr>
          <a:xfrm>
            <a:off x="80391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7" name="Connector 1066"/>
          <p:cNvCxnSpPr/>
          <p:nvPr/>
        </p:nvCxnSpPr>
        <p:spPr>
          <a:xfrm>
            <a:off x="80518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8" name="Connector 1067"/>
          <p:cNvCxnSpPr/>
          <p:nvPr/>
        </p:nvCxnSpPr>
        <p:spPr>
          <a:xfrm>
            <a:off x="80645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69" name="Connector 1068"/>
          <p:cNvCxnSpPr/>
          <p:nvPr/>
        </p:nvCxnSpPr>
        <p:spPr>
          <a:xfrm>
            <a:off x="80772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0" name="Connector 1069"/>
          <p:cNvCxnSpPr/>
          <p:nvPr/>
        </p:nvCxnSpPr>
        <p:spPr>
          <a:xfrm>
            <a:off x="80899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1" name="Connector 1070"/>
          <p:cNvCxnSpPr/>
          <p:nvPr/>
        </p:nvCxnSpPr>
        <p:spPr>
          <a:xfrm>
            <a:off x="81026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2" name="Connector 1071"/>
          <p:cNvCxnSpPr/>
          <p:nvPr/>
        </p:nvCxnSpPr>
        <p:spPr>
          <a:xfrm>
            <a:off x="81153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3" name="Connector 1072"/>
          <p:cNvCxnSpPr/>
          <p:nvPr/>
        </p:nvCxnSpPr>
        <p:spPr>
          <a:xfrm>
            <a:off x="81280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4" name="Connector 1073"/>
          <p:cNvCxnSpPr/>
          <p:nvPr/>
        </p:nvCxnSpPr>
        <p:spPr>
          <a:xfrm>
            <a:off x="81407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5" name="Connector 1074"/>
          <p:cNvCxnSpPr/>
          <p:nvPr/>
        </p:nvCxnSpPr>
        <p:spPr>
          <a:xfrm>
            <a:off x="81534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6" name="Connector 1075"/>
          <p:cNvCxnSpPr/>
          <p:nvPr/>
        </p:nvCxnSpPr>
        <p:spPr>
          <a:xfrm>
            <a:off x="81661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7" name="Connector 1076"/>
          <p:cNvCxnSpPr/>
          <p:nvPr/>
        </p:nvCxnSpPr>
        <p:spPr>
          <a:xfrm>
            <a:off x="81788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8" name="Connector 1077"/>
          <p:cNvCxnSpPr/>
          <p:nvPr/>
        </p:nvCxnSpPr>
        <p:spPr>
          <a:xfrm>
            <a:off x="81915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79" name="Connector 1078"/>
          <p:cNvCxnSpPr/>
          <p:nvPr/>
        </p:nvCxnSpPr>
        <p:spPr>
          <a:xfrm>
            <a:off x="8204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0" name="Connector 1079"/>
          <p:cNvCxnSpPr/>
          <p:nvPr/>
        </p:nvCxnSpPr>
        <p:spPr>
          <a:xfrm>
            <a:off x="8216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1" name="Connector 1080"/>
          <p:cNvCxnSpPr/>
          <p:nvPr/>
        </p:nvCxnSpPr>
        <p:spPr>
          <a:xfrm>
            <a:off x="8229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2" name="Connector 1081"/>
          <p:cNvCxnSpPr/>
          <p:nvPr/>
        </p:nvCxnSpPr>
        <p:spPr>
          <a:xfrm>
            <a:off x="8242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8255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8267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8280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6" name="Connector 1085"/>
          <p:cNvCxnSpPr/>
          <p:nvPr/>
        </p:nvCxnSpPr>
        <p:spPr>
          <a:xfrm>
            <a:off x="8293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7" name="Connector 1086"/>
          <p:cNvCxnSpPr/>
          <p:nvPr/>
        </p:nvCxnSpPr>
        <p:spPr>
          <a:xfrm>
            <a:off x="8305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8" name="Connector 1087"/>
          <p:cNvCxnSpPr/>
          <p:nvPr/>
        </p:nvCxnSpPr>
        <p:spPr>
          <a:xfrm>
            <a:off x="8318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89" name="Connector 1088"/>
          <p:cNvCxnSpPr/>
          <p:nvPr/>
        </p:nvCxnSpPr>
        <p:spPr>
          <a:xfrm>
            <a:off x="83312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0" name="Connector 1089"/>
          <p:cNvCxnSpPr/>
          <p:nvPr/>
        </p:nvCxnSpPr>
        <p:spPr>
          <a:xfrm>
            <a:off x="8343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1" name="Connector 1090"/>
          <p:cNvCxnSpPr/>
          <p:nvPr/>
        </p:nvCxnSpPr>
        <p:spPr>
          <a:xfrm>
            <a:off x="8356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2" name="Connector 1091"/>
          <p:cNvCxnSpPr/>
          <p:nvPr/>
        </p:nvCxnSpPr>
        <p:spPr>
          <a:xfrm>
            <a:off x="8369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3" name="Connector 1092"/>
          <p:cNvCxnSpPr/>
          <p:nvPr/>
        </p:nvCxnSpPr>
        <p:spPr>
          <a:xfrm>
            <a:off x="8382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4" name="Connector 1093"/>
          <p:cNvCxnSpPr/>
          <p:nvPr/>
        </p:nvCxnSpPr>
        <p:spPr>
          <a:xfrm>
            <a:off x="8394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5" name="Connector 1094"/>
          <p:cNvCxnSpPr/>
          <p:nvPr/>
        </p:nvCxnSpPr>
        <p:spPr>
          <a:xfrm>
            <a:off x="8407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6" name="Connector 1095"/>
          <p:cNvCxnSpPr/>
          <p:nvPr/>
        </p:nvCxnSpPr>
        <p:spPr>
          <a:xfrm>
            <a:off x="8420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7" name="Connector 1096"/>
          <p:cNvCxnSpPr/>
          <p:nvPr/>
        </p:nvCxnSpPr>
        <p:spPr>
          <a:xfrm>
            <a:off x="8432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8" name="Connector 1097"/>
          <p:cNvCxnSpPr/>
          <p:nvPr/>
        </p:nvCxnSpPr>
        <p:spPr>
          <a:xfrm flipV="1">
            <a:off x="84455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099" name="Connector 1098"/>
          <p:cNvCxnSpPr/>
          <p:nvPr/>
        </p:nvCxnSpPr>
        <p:spPr>
          <a:xfrm>
            <a:off x="8458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0" name="Connector 1099"/>
          <p:cNvCxnSpPr/>
          <p:nvPr/>
        </p:nvCxnSpPr>
        <p:spPr>
          <a:xfrm>
            <a:off x="8470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1" name="Connector 1100"/>
          <p:cNvCxnSpPr/>
          <p:nvPr/>
        </p:nvCxnSpPr>
        <p:spPr>
          <a:xfrm>
            <a:off x="8483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2" name="Connector 1101"/>
          <p:cNvCxnSpPr/>
          <p:nvPr/>
        </p:nvCxnSpPr>
        <p:spPr>
          <a:xfrm>
            <a:off x="8496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3" name="Connector 1102"/>
          <p:cNvCxnSpPr/>
          <p:nvPr/>
        </p:nvCxnSpPr>
        <p:spPr>
          <a:xfrm>
            <a:off x="8509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4" name="Connector 1103"/>
          <p:cNvCxnSpPr/>
          <p:nvPr/>
        </p:nvCxnSpPr>
        <p:spPr>
          <a:xfrm>
            <a:off x="8521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5" name="Connector 1104"/>
          <p:cNvCxnSpPr/>
          <p:nvPr/>
        </p:nvCxnSpPr>
        <p:spPr>
          <a:xfrm>
            <a:off x="8534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6" name="Connector 1105"/>
          <p:cNvCxnSpPr/>
          <p:nvPr/>
        </p:nvCxnSpPr>
        <p:spPr>
          <a:xfrm>
            <a:off x="8547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7" name="Connector 1106"/>
          <p:cNvCxnSpPr/>
          <p:nvPr/>
        </p:nvCxnSpPr>
        <p:spPr>
          <a:xfrm>
            <a:off x="8559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8" name="Connector 1107"/>
          <p:cNvCxnSpPr/>
          <p:nvPr/>
        </p:nvCxnSpPr>
        <p:spPr>
          <a:xfrm>
            <a:off x="8572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09" name="Connector 1108"/>
          <p:cNvCxnSpPr/>
          <p:nvPr/>
        </p:nvCxnSpPr>
        <p:spPr>
          <a:xfrm flipV="1">
            <a:off x="85852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0" name="Connector 1109"/>
          <p:cNvCxnSpPr/>
          <p:nvPr/>
        </p:nvCxnSpPr>
        <p:spPr>
          <a:xfrm flipV="1">
            <a:off x="85979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1" name="Connector 1110"/>
          <p:cNvCxnSpPr/>
          <p:nvPr/>
        </p:nvCxnSpPr>
        <p:spPr>
          <a:xfrm flipV="1">
            <a:off x="86106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2" name="Connector 1111"/>
          <p:cNvCxnSpPr/>
          <p:nvPr/>
        </p:nvCxnSpPr>
        <p:spPr>
          <a:xfrm flipV="1">
            <a:off x="86233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3" name="Connector 1112"/>
          <p:cNvCxnSpPr/>
          <p:nvPr/>
        </p:nvCxnSpPr>
        <p:spPr>
          <a:xfrm flipV="1">
            <a:off x="86360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4" name="Connector 1113"/>
          <p:cNvCxnSpPr/>
          <p:nvPr/>
        </p:nvCxnSpPr>
        <p:spPr>
          <a:xfrm flipV="1">
            <a:off x="86487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5" name="Connector 1114"/>
          <p:cNvCxnSpPr/>
          <p:nvPr/>
        </p:nvCxnSpPr>
        <p:spPr>
          <a:xfrm flipV="1">
            <a:off x="86614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6" name="Connector 1115"/>
          <p:cNvCxnSpPr/>
          <p:nvPr/>
        </p:nvCxnSpPr>
        <p:spPr>
          <a:xfrm flipV="1">
            <a:off x="86741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7" name="Connector 1116"/>
          <p:cNvCxnSpPr/>
          <p:nvPr/>
        </p:nvCxnSpPr>
        <p:spPr>
          <a:xfrm flipV="1">
            <a:off x="86868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8" name="Connector 1117"/>
          <p:cNvCxnSpPr/>
          <p:nvPr/>
        </p:nvCxnSpPr>
        <p:spPr>
          <a:xfrm flipV="1">
            <a:off x="86995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19" name="Connector 1118"/>
          <p:cNvCxnSpPr/>
          <p:nvPr/>
        </p:nvCxnSpPr>
        <p:spPr>
          <a:xfrm flipV="1">
            <a:off x="87122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0" name="Connector 1119"/>
          <p:cNvCxnSpPr/>
          <p:nvPr/>
        </p:nvCxnSpPr>
        <p:spPr>
          <a:xfrm flipV="1">
            <a:off x="87249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1" name="Connector 1120"/>
          <p:cNvCxnSpPr/>
          <p:nvPr/>
        </p:nvCxnSpPr>
        <p:spPr>
          <a:xfrm flipV="1">
            <a:off x="87376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2" name="Connector 1121"/>
          <p:cNvCxnSpPr/>
          <p:nvPr/>
        </p:nvCxnSpPr>
        <p:spPr>
          <a:xfrm flipV="1">
            <a:off x="87503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3" name="Connector 1122"/>
          <p:cNvCxnSpPr/>
          <p:nvPr/>
        </p:nvCxnSpPr>
        <p:spPr>
          <a:xfrm flipV="1">
            <a:off x="87630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4" name="Connector 1123"/>
          <p:cNvCxnSpPr/>
          <p:nvPr/>
        </p:nvCxnSpPr>
        <p:spPr>
          <a:xfrm flipV="1">
            <a:off x="87757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5" name="Connector 1124"/>
          <p:cNvCxnSpPr/>
          <p:nvPr/>
        </p:nvCxnSpPr>
        <p:spPr>
          <a:xfrm flipV="1">
            <a:off x="87884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6" name="Connector 1125"/>
          <p:cNvCxnSpPr/>
          <p:nvPr/>
        </p:nvCxnSpPr>
        <p:spPr>
          <a:xfrm flipV="1">
            <a:off x="88011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7" name="Connector 1126"/>
          <p:cNvCxnSpPr/>
          <p:nvPr/>
        </p:nvCxnSpPr>
        <p:spPr>
          <a:xfrm flipV="1">
            <a:off x="88138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8" name="Connector 1127"/>
          <p:cNvCxnSpPr/>
          <p:nvPr/>
        </p:nvCxnSpPr>
        <p:spPr>
          <a:xfrm>
            <a:off x="88265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29" name="Connector 1128"/>
          <p:cNvCxnSpPr/>
          <p:nvPr/>
        </p:nvCxnSpPr>
        <p:spPr>
          <a:xfrm>
            <a:off x="88392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0" name="Connector 1129"/>
          <p:cNvCxnSpPr/>
          <p:nvPr/>
        </p:nvCxnSpPr>
        <p:spPr>
          <a:xfrm>
            <a:off x="88519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1" name="Connector 1130"/>
          <p:cNvCxnSpPr/>
          <p:nvPr/>
        </p:nvCxnSpPr>
        <p:spPr>
          <a:xfrm>
            <a:off x="88646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2" name="Connector 1131"/>
          <p:cNvCxnSpPr/>
          <p:nvPr/>
        </p:nvCxnSpPr>
        <p:spPr>
          <a:xfrm>
            <a:off x="88773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3" name="Connector 1132"/>
          <p:cNvCxnSpPr/>
          <p:nvPr/>
        </p:nvCxnSpPr>
        <p:spPr>
          <a:xfrm>
            <a:off x="88900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4" name="Connector 1133"/>
          <p:cNvCxnSpPr/>
          <p:nvPr/>
        </p:nvCxnSpPr>
        <p:spPr>
          <a:xfrm>
            <a:off x="89027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5" name="Connector 1134"/>
          <p:cNvCxnSpPr/>
          <p:nvPr/>
        </p:nvCxnSpPr>
        <p:spPr>
          <a:xfrm>
            <a:off x="89154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6" name="Connector 1135"/>
          <p:cNvCxnSpPr/>
          <p:nvPr/>
        </p:nvCxnSpPr>
        <p:spPr>
          <a:xfrm>
            <a:off x="89281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7" name="Connector 1136"/>
          <p:cNvCxnSpPr/>
          <p:nvPr/>
        </p:nvCxnSpPr>
        <p:spPr>
          <a:xfrm>
            <a:off x="89408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8" name="Connector 1137"/>
          <p:cNvCxnSpPr/>
          <p:nvPr/>
        </p:nvCxnSpPr>
        <p:spPr>
          <a:xfrm>
            <a:off x="89535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39" name="Connector 1138"/>
          <p:cNvCxnSpPr/>
          <p:nvPr/>
        </p:nvCxnSpPr>
        <p:spPr>
          <a:xfrm>
            <a:off x="89662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0" name="Connector 1139"/>
          <p:cNvCxnSpPr/>
          <p:nvPr/>
        </p:nvCxnSpPr>
        <p:spPr>
          <a:xfrm>
            <a:off x="89789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1" name="Connector 1140"/>
          <p:cNvCxnSpPr/>
          <p:nvPr/>
        </p:nvCxnSpPr>
        <p:spPr>
          <a:xfrm>
            <a:off x="89916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2" name="Connector 1141"/>
          <p:cNvCxnSpPr/>
          <p:nvPr/>
        </p:nvCxnSpPr>
        <p:spPr>
          <a:xfrm>
            <a:off x="90043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3" name="Connector 1142"/>
          <p:cNvCxnSpPr/>
          <p:nvPr/>
        </p:nvCxnSpPr>
        <p:spPr>
          <a:xfrm>
            <a:off x="90170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4" name="Connector 1143"/>
          <p:cNvCxnSpPr/>
          <p:nvPr/>
        </p:nvCxnSpPr>
        <p:spPr>
          <a:xfrm>
            <a:off x="90297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5" name="Connector 1144"/>
          <p:cNvCxnSpPr/>
          <p:nvPr/>
        </p:nvCxnSpPr>
        <p:spPr>
          <a:xfrm>
            <a:off x="90424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6" name="Connector 1145"/>
          <p:cNvCxnSpPr/>
          <p:nvPr/>
        </p:nvCxnSpPr>
        <p:spPr>
          <a:xfrm>
            <a:off x="90551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7" name="Connector 1146"/>
          <p:cNvCxnSpPr/>
          <p:nvPr/>
        </p:nvCxnSpPr>
        <p:spPr>
          <a:xfrm>
            <a:off x="9067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8" name="Connector 1147"/>
          <p:cNvCxnSpPr/>
          <p:nvPr/>
        </p:nvCxnSpPr>
        <p:spPr>
          <a:xfrm>
            <a:off x="9080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49" name="Connector 1148"/>
          <p:cNvCxnSpPr/>
          <p:nvPr/>
        </p:nvCxnSpPr>
        <p:spPr>
          <a:xfrm>
            <a:off x="9093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0" name="Connector 1149"/>
          <p:cNvCxnSpPr/>
          <p:nvPr/>
        </p:nvCxnSpPr>
        <p:spPr>
          <a:xfrm>
            <a:off x="9105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1" name="Connector 1150"/>
          <p:cNvCxnSpPr/>
          <p:nvPr/>
        </p:nvCxnSpPr>
        <p:spPr>
          <a:xfrm>
            <a:off x="9118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2" name="Connector 1151"/>
          <p:cNvCxnSpPr/>
          <p:nvPr/>
        </p:nvCxnSpPr>
        <p:spPr>
          <a:xfrm>
            <a:off x="9131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3" name="Connector 1152"/>
          <p:cNvCxnSpPr/>
          <p:nvPr/>
        </p:nvCxnSpPr>
        <p:spPr>
          <a:xfrm>
            <a:off x="9144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9156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9169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6" name="Connector 1155"/>
          <p:cNvCxnSpPr/>
          <p:nvPr/>
        </p:nvCxnSpPr>
        <p:spPr>
          <a:xfrm>
            <a:off x="9182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7" name="Connector 1156"/>
          <p:cNvCxnSpPr/>
          <p:nvPr/>
        </p:nvCxnSpPr>
        <p:spPr>
          <a:xfrm>
            <a:off x="91948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8" name="Connector 1157"/>
          <p:cNvCxnSpPr/>
          <p:nvPr/>
        </p:nvCxnSpPr>
        <p:spPr>
          <a:xfrm>
            <a:off x="9207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59" name="Connector 1158"/>
          <p:cNvCxnSpPr/>
          <p:nvPr/>
        </p:nvCxnSpPr>
        <p:spPr>
          <a:xfrm>
            <a:off x="9220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0" name="Connector 1159"/>
          <p:cNvCxnSpPr/>
          <p:nvPr/>
        </p:nvCxnSpPr>
        <p:spPr>
          <a:xfrm>
            <a:off x="9232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1" name="Connector 1160"/>
          <p:cNvCxnSpPr/>
          <p:nvPr/>
        </p:nvCxnSpPr>
        <p:spPr>
          <a:xfrm>
            <a:off x="9245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2" name="Connector 1161"/>
          <p:cNvCxnSpPr/>
          <p:nvPr/>
        </p:nvCxnSpPr>
        <p:spPr>
          <a:xfrm>
            <a:off x="9258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3" name="Connector 1162"/>
          <p:cNvCxnSpPr/>
          <p:nvPr/>
        </p:nvCxnSpPr>
        <p:spPr>
          <a:xfrm>
            <a:off x="9271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4" name="Connector 1163"/>
          <p:cNvCxnSpPr/>
          <p:nvPr/>
        </p:nvCxnSpPr>
        <p:spPr>
          <a:xfrm>
            <a:off x="9283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5" name="Connector 1164"/>
          <p:cNvCxnSpPr/>
          <p:nvPr/>
        </p:nvCxnSpPr>
        <p:spPr>
          <a:xfrm>
            <a:off x="9296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6" name="Connector 1165"/>
          <p:cNvCxnSpPr/>
          <p:nvPr/>
        </p:nvCxnSpPr>
        <p:spPr>
          <a:xfrm flipV="1">
            <a:off x="93091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7" name="Connector 1166"/>
          <p:cNvCxnSpPr/>
          <p:nvPr/>
        </p:nvCxnSpPr>
        <p:spPr>
          <a:xfrm>
            <a:off x="9321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8" name="Connector 1167"/>
          <p:cNvCxnSpPr/>
          <p:nvPr/>
        </p:nvCxnSpPr>
        <p:spPr>
          <a:xfrm>
            <a:off x="9334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69" name="Connector 1168"/>
          <p:cNvCxnSpPr/>
          <p:nvPr/>
        </p:nvCxnSpPr>
        <p:spPr>
          <a:xfrm>
            <a:off x="9347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0" name="Connector 1169"/>
          <p:cNvCxnSpPr/>
          <p:nvPr/>
        </p:nvCxnSpPr>
        <p:spPr>
          <a:xfrm>
            <a:off x="9359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1" name="Connector 1170"/>
          <p:cNvCxnSpPr/>
          <p:nvPr/>
        </p:nvCxnSpPr>
        <p:spPr>
          <a:xfrm>
            <a:off x="9372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2" name="Connector 1171"/>
          <p:cNvCxnSpPr/>
          <p:nvPr/>
        </p:nvCxnSpPr>
        <p:spPr>
          <a:xfrm>
            <a:off x="9385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3" name="Connector 1172"/>
          <p:cNvCxnSpPr/>
          <p:nvPr/>
        </p:nvCxnSpPr>
        <p:spPr>
          <a:xfrm>
            <a:off x="9398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4" name="Connector 1173"/>
          <p:cNvCxnSpPr/>
          <p:nvPr/>
        </p:nvCxnSpPr>
        <p:spPr>
          <a:xfrm>
            <a:off x="9410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5" name="Connector 1174"/>
          <p:cNvCxnSpPr/>
          <p:nvPr/>
        </p:nvCxnSpPr>
        <p:spPr>
          <a:xfrm>
            <a:off x="9423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6" name="Connector 1175"/>
          <p:cNvCxnSpPr/>
          <p:nvPr/>
        </p:nvCxnSpPr>
        <p:spPr>
          <a:xfrm>
            <a:off x="9436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7" name="Connector 1176"/>
          <p:cNvCxnSpPr/>
          <p:nvPr/>
        </p:nvCxnSpPr>
        <p:spPr>
          <a:xfrm flipV="1">
            <a:off x="94488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8" name="Connector 1177"/>
          <p:cNvCxnSpPr/>
          <p:nvPr/>
        </p:nvCxnSpPr>
        <p:spPr>
          <a:xfrm flipV="1">
            <a:off x="94615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79" name="Connector 1178"/>
          <p:cNvCxnSpPr/>
          <p:nvPr/>
        </p:nvCxnSpPr>
        <p:spPr>
          <a:xfrm flipV="1">
            <a:off x="94742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0" name="Connector 1179"/>
          <p:cNvCxnSpPr/>
          <p:nvPr/>
        </p:nvCxnSpPr>
        <p:spPr>
          <a:xfrm flipV="1">
            <a:off x="94869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1" name="Connector 1180"/>
          <p:cNvCxnSpPr/>
          <p:nvPr/>
        </p:nvCxnSpPr>
        <p:spPr>
          <a:xfrm flipV="1">
            <a:off x="94996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2" name="Connector 1181"/>
          <p:cNvCxnSpPr/>
          <p:nvPr/>
        </p:nvCxnSpPr>
        <p:spPr>
          <a:xfrm flipV="1">
            <a:off x="95123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3" name="Connector 1182"/>
          <p:cNvCxnSpPr/>
          <p:nvPr/>
        </p:nvCxnSpPr>
        <p:spPr>
          <a:xfrm flipV="1">
            <a:off x="95250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4" name="Connector 1183"/>
          <p:cNvCxnSpPr/>
          <p:nvPr/>
        </p:nvCxnSpPr>
        <p:spPr>
          <a:xfrm flipV="1">
            <a:off x="95377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5" name="Connector 1184"/>
          <p:cNvCxnSpPr/>
          <p:nvPr/>
        </p:nvCxnSpPr>
        <p:spPr>
          <a:xfrm flipV="1">
            <a:off x="95504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6" name="Connector 1185"/>
          <p:cNvCxnSpPr/>
          <p:nvPr/>
        </p:nvCxnSpPr>
        <p:spPr>
          <a:xfrm flipV="1">
            <a:off x="95631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7" name="Connector 1186"/>
          <p:cNvCxnSpPr/>
          <p:nvPr/>
        </p:nvCxnSpPr>
        <p:spPr>
          <a:xfrm flipV="1">
            <a:off x="95758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8" name="Connector 1187"/>
          <p:cNvCxnSpPr/>
          <p:nvPr/>
        </p:nvCxnSpPr>
        <p:spPr>
          <a:xfrm flipV="1">
            <a:off x="95885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89" name="Connector 1188"/>
          <p:cNvCxnSpPr/>
          <p:nvPr/>
        </p:nvCxnSpPr>
        <p:spPr>
          <a:xfrm flipV="1">
            <a:off x="96012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0" name="Connector 1189"/>
          <p:cNvCxnSpPr/>
          <p:nvPr/>
        </p:nvCxnSpPr>
        <p:spPr>
          <a:xfrm flipV="1">
            <a:off x="96139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1" name="Connector 1190"/>
          <p:cNvCxnSpPr/>
          <p:nvPr/>
        </p:nvCxnSpPr>
        <p:spPr>
          <a:xfrm flipV="1">
            <a:off x="96266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2" name="Connector 1191"/>
          <p:cNvCxnSpPr/>
          <p:nvPr/>
        </p:nvCxnSpPr>
        <p:spPr>
          <a:xfrm flipV="1">
            <a:off x="96393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3" name="Connector 1192"/>
          <p:cNvCxnSpPr/>
          <p:nvPr/>
        </p:nvCxnSpPr>
        <p:spPr>
          <a:xfrm flipV="1">
            <a:off x="96520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4" name="Connector 1193"/>
          <p:cNvCxnSpPr/>
          <p:nvPr/>
        </p:nvCxnSpPr>
        <p:spPr>
          <a:xfrm flipV="1">
            <a:off x="96647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5" name="Connector 1194"/>
          <p:cNvCxnSpPr/>
          <p:nvPr/>
        </p:nvCxnSpPr>
        <p:spPr>
          <a:xfrm flipV="1">
            <a:off x="96774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6" name="Connector 1195"/>
          <p:cNvCxnSpPr/>
          <p:nvPr/>
        </p:nvCxnSpPr>
        <p:spPr>
          <a:xfrm>
            <a:off x="96901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7" name="Connector 1196"/>
          <p:cNvCxnSpPr/>
          <p:nvPr/>
        </p:nvCxnSpPr>
        <p:spPr>
          <a:xfrm>
            <a:off x="97028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8" name="Connector 1197"/>
          <p:cNvCxnSpPr/>
          <p:nvPr/>
        </p:nvCxnSpPr>
        <p:spPr>
          <a:xfrm>
            <a:off x="97155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99" name="Connector 1198"/>
          <p:cNvCxnSpPr/>
          <p:nvPr/>
        </p:nvCxnSpPr>
        <p:spPr>
          <a:xfrm>
            <a:off x="97282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0" name="Connector 1199"/>
          <p:cNvCxnSpPr/>
          <p:nvPr/>
        </p:nvCxnSpPr>
        <p:spPr>
          <a:xfrm>
            <a:off x="97409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1" name="Connector 1200"/>
          <p:cNvCxnSpPr/>
          <p:nvPr/>
        </p:nvCxnSpPr>
        <p:spPr>
          <a:xfrm>
            <a:off x="97536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2" name="Connector 1201"/>
          <p:cNvCxnSpPr/>
          <p:nvPr/>
        </p:nvCxnSpPr>
        <p:spPr>
          <a:xfrm>
            <a:off x="97663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3" name="Connector 1202"/>
          <p:cNvCxnSpPr/>
          <p:nvPr/>
        </p:nvCxnSpPr>
        <p:spPr>
          <a:xfrm>
            <a:off x="97790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4" name="Connector 1203"/>
          <p:cNvCxnSpPr/>
          <p:nvPr/>
        </p:nvCxnSpPr>
        <p:spPr>
          <a:xfrm>
            <a:off x="97917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5" name="Connector 1204"/>
          <p:cNvCxnSpPr/>
          <p:nvPr/>
        </p:nvCxnSpPr>
        <p:spPr>
          <a:xfrm>
            <a:off x="98044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6" name="Connector 1205"/>
          <p:cNvCxnSpPr/>
          <p:nvPr/>
        </p:nvCxnSpPr>
        <p:spPr>
          <a:xfrm>
            <a:off x="98171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7" name="Connector 1206"/>
          <p:cNvCxnSpPr/>
          <p:nvPr/>
        </p:nvCxnSpPr>
        <p:spPr>
          <a:xfrm>
            <a:off x="98298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8" name="Connector 1207"/>
          <p:cNvCxnSpPr/>
          <p:nvPr/>
        </p:nvCxnSpPr>
        <p:spPr>
          <a:xfrm>
            <a:off x="98425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09" name="Connector 1208"/>
          <p:cNvCxnSpPr/>
          <p:nvPr/>
        </p:nvCxnSpPr>
        <p:spPr>
          <a:xfrm>
            <a:off x="98552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0" name="Connector 1209"/>
          <p:cNvCxnSpPr/>
          <p:nvPr/>
        </p:nvCxnSpPr>
        <p:spPr>
          <a:xfrm>
            <a:off x="98679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1" name="Connector 1210"/>
          <p:cNvCxnSpPr/>
          <p:nvPr/>
        </p:nvCxnSpPr>
        <p:spPr>
          <a:xfrm>
            <a:off x="98806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2" name="Connector 1211"/>
          <p:cNvCxnSpPr/>
          <p:nvPr/>
        </p:nvCxnSpPr>
        <p:spPr>
          <a:xfrm>
            <a:off x="98933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3" name="Connector 1212"/>
          <p:cNvCxnSpPr/>
          <p:nvPr/>
        </p:nvCxnSpPr>
        <p:spPr>
          <a:xfrm>
            <a:off x="99060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4" name="Connector 1213"/>
          <p:cNvCxnSpPr/>
          <p:nvPr/>
        </p:nvCxnSpPr>
        <p:spPr>
          <a:xfrm>
            <a:off x="99187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5" name="Connector 1214"/>
          <p:cNvCxnSpPr/>
          <p:nvPr/>
        </p:nvCxnSpPr>
        <p:spPr>
          <a:xfrm>
            <a:off x="9931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6" name="Connector 1215"/>
          <p:cNvCxnSpPr/>
          <p:nvPr/>
        </p:nvCxnSpPr>
        <p:spPr>
          <a:xfrm>
            <a:off x="9944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7" name="Connector 1216"/>
          <p:cNvCxnSpPr/>
          <p:nvPr/>
        </p:nvCxnSpPr>
        <p:spPr>
          <a:xfrm>
            <a:off x="9956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8" name="Connector 1217"/>
          <p:cNvCxnSpPr/>
          <p:nvPr/>
        </p:nvCxnSpPr>
        <p:spPr>
          <a:xfrm>
            <a:off x="9969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19" name="Connector 1218"/>
          <p:cNvCxnSpPr/>
          <p:nvPr/>
        </p:nvCxnSpPr>
        <p:spPr>
          <a:xfrm>
            <a:off x="9982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0" name="Connector 1219"/>
          <p:cNvCxnSpPr/>
          <p:nvPr/>
        </p:nvCxnSpPr>
        <p:spPr>
          <a:xfrm>
            <a:off x="9994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1" name="Connector 1220"/>
          <p:cNvCxnSpPr/>
          <p:nvPr/>
        </p:nvCxnSpPr>
        <p:spPr>
          <a:xfrm>
            <a:off x="10007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2" name="Connector 1221"/>
          <p:cNvCxnSpPr/>
          <p:nvPr/>
        </p:nvCxnSpPr>
        <p:spPr>
          <a:xfrm>
            <a:off x="10020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3" name="Connector 1222"/>
          <p:cNvCxnSpPr/>
          <p:nvPr/>
        </p:nvCxnSpPr>
        <p:spPr>
          <a:xfrm>
            <a:off x="10033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4" name="Connector 1223"/>
          <p:cNvCxnSpPr/>
          <p:nvPr/>
        </p:nvCxnSpPr>
        <p:spPr>
          <a:xfrm>
            <a:off x="10045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5" name="Connector 1224"/>
          <p:cNvCxnSpPr/>
          <p:nvPr/>
        </p:nvCxnSpPr>
        <p:spPr>
          <a:xfrm>
            <a:off x="100584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0071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0083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8" name="Connector 1227"/>
          <p:cNvCxnSpPr/>
          <p:nvPr/>
        </p:nvCxnSpPr>
        <p:spPr>
          <a:xfrm>
            <a:off x="10096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29" name="Connector 1228"/>
          <p:cNvCxnSpPr/>
          <p:nvPr/>
        </p:nvCxnSpPr>
        <p:spPr>
          <a:xfrm>
            <a:off x="10109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0" name="Connector 1229"/>
          <p:cNvCxnSpPr/>
          <p:nvPr/>
        </p:nvCxnSpPr>
        <p:spPr>
          <a:xfrm>
            <a:off x="10121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1" name="Connector 1230"/>
          <p:cNvCxnSpPr/>
          <p:nvPr/>
        </p:nvCxnSpPr>
        <p:spPr>
          <a:xfrm>
            <a:off x="10134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2" name="Connector 1231"/>
          <p:cNvCxnSpPr/>
          <p:nvPr/>
        </p:nvCxnSpPr>
        <p:spPr>
          <a:xfrm>
            <a:off x="10147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3" name="Connector 1232"/>
          <p:cNvCxnSpPr/>
          <p:nvPr/>
        </p:nvCxnSpPr>
        <p:spPr>
          <a:xfrm>
            <a:off x="10160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4" name="Connector 1233"/>
          <p:cNvCxnSpPr/>
          <p:nvPr/>
        </p:nvCxnSpPr>
        <p:spPr>
          <a:xfrm flipV="1">
            <a:off x="101727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5" name="Connector 1234"/>
          <p:cNvCxnSpPr/>
          <p:nvPr/>
        </p:nvCxnSpPr>
        <p:spPr>
          <a:xfrm>
            <a:off x="10185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6" name="Connector 1235"/>
          <p:cNvCxnSpPr/>
          <p:nvPr/>
        </p:nvCxnSpPr>
        <p:spPr>
          <a:xfrm>
            <a:off x="10198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7" name="Connector 1236"/>
          <p:cNvCxnSpPr/>
          <p:nvPr/>
        </p:nvCxnSpPr>
        <p:spPr>
          <a:xfrm>
            <a:off x="10210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8" name="Connector 1237"/>
          <p:cNvCxnSpPr/>
          <p:nvPr/>
        </p:nvCxnSpPr>
        <p:spPr>
          <a:xfrm>
            <a:off x="10223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39" name="Connector 1238"/>
          <p:cNvCxnSpPr/>
          <p:nvPr/>
        </p:nvCxnSpPr>
        <p:spPr>
          <a:xfrm>
            <a:off x="10236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0" name="Connector 1239"/>
          <p:cNvCxnSpPr/>
          <p:nvPr/>
        </p:nvCxnSpPr>
        <p:spPr>
          <a:xfrm>
            <a:off x="10248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1" name="Connector 1240"/>
          <p:cNvCxnSpPr/>
          <p:nvPr/>
        </p:nvCxnSpPr>
        <p:spPr>
          <a:xfrm>
            <a:off x="10261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2" name="Connector 1241"/>
          <p:cNvCxnSpPr/>
          <p:nvPr/>
        </p:nvCxnSpPr>
        <p:spPr>
          <a:xfrm>
            <a:off x="10274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3" name="Connector 1242"/>
          <p:cNvCxnSpPr/>
          <p:nvPr/>
        </p:nvCxnSpPr>
        <p:spPr>
          <a:xfrm>
            <a:off x="10287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4" name="Connector 1243"/>
          <p:cNvCxnSpPr/>
          <p:nvPr/>
        </p:nvCxnSpPr>
        <p:spPr>
          <a:xfrm>
            <a:off x="10299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5" name="Connector 1244"/>
          <p:cNvCxnSpPr/>
          <p:nvPr/>
        </p:nvCxnSpPr>
        <p:spPr>
          <a:xfrm flipV="1">
            <a:off x="103124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6" name="Connector 1245"/>
          <p:cNvCxnSpPr/>
          <p:nvPr/>
        </p:nvCxnSpPr>
        <p:spPr>
          <a:xfrm flipV="1">
            <a:off x="103251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7" name="Connector 1246"/>
          <p:cNvCxnSpPr/>
          <p:nvPr/>
        </p:nvCxnSpPr>
        <p:spPr>
          <a:xfrm flipV="1">
            <a:off x="103378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8" name="Connector 1247"/>
          <p:cNvCxnSpPr/>
          <p:nvPr/>
        </p:nvCxnSpPr>
        <p:spPr>
          <a:xfrm flipV="1">
            <a:off x="103505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49" name="Connector 1248"/>
          <p:cNvCxnSpPr/>
          <p:nvPr/>
        </p:nvCxnSpPr>
        <p:spPr>
          <a:xfrm flipV="1">
            <a:off x="103632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0" name="Connector 1249"/>
          <p:cNvCxnSpPr/>
          <p:nvPr/>
        </p:nvCxnSpPr>
        <p:spPr>
          <a:xfrm flipV="1">
            <a:off x="103759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1" name="Connector 1250"/>
          <p:cNvCxnSpPr/>
          <p:nvPr/>
        </p:nvCxnSpPr>
        <p:spPr>
          <a:xfrm flipV="1">
            <a:off x="103886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2" name="Connector 1251"/>
          <p:cNvCxnSpPr/>
          <p:nvPr/>
        </p:nvCxnSpPr>
        <p:spPr>
          <a:xfrm flipV="1">
            <a:off x="104013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3" name="Connector 1252"/>
          <p:cNvCxnSpPr/>
          <p:nvPr/>
        </p:nvCxnSpPr>
        <p:spPr>
          <a:xfrm flipV="1">
            <a:off x="104140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4" name="Connector 1253"/>
          <p:cNvCxnSpPr/>
          <p:nvPr/>
        </p:nvCxnSpPr>
        <p:spPr>
          <a:xfrm flipV="1">
            <a:off x="104267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5" name="Connector 1254"/>
          <p:cNvCxnSpPr/>
          <p:nvPr/>
        </p:nvCxnSpPr>
        <p:spPr>
          <a:xfrm flipV="1">
            <a:off x="104394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6" name="Connector 1255"/>
          <p:cNvCxnSpPr/>
          <p:nvPr/>
        </p:nvCxnSpPr>
        <p:spPr>
          <a:xfrm flipV="1">
            <a:off x="104521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7" name="Connector 1256"/>
          <p:cNvCxnSpPr/>
          <p:nvPr/>
        </p:nvCxnSpPr>
        <p:spPr>
          <a:xfrm flipV="1">
            <a:off x="104648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8" name="Connector 1257"/>
          <p:cNvCxnSpPr/>
          <p:nvPr/>
        </p:nvCxnSpPr>
        <p:spPr>
          <a:xfrm flipV="1">
            <a:off x="104775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59" name="Connector 1258"/>
          <p:cNvCxnSpPr/>
          <p:nvPr/>
        </p:nvCxnSpPr>
        <p:spPr>
          <a:xfrm flipV="1">
            <a:off x="104902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0" name="Connector 1259"/>
          <p:cNvCxnSpPr/>
          <p:nvPr/>
        </p:nvCxnSpPr>
        <p:spPr>
          <a:xfrm flipV="1">
            <a:off x="105029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1" name="Connector 1260"/>
          <p:cNvCxnSpPr/>
          <p:nvPr/>
        </p:nvCxnSpPr>
        <p:spPr>
          <a:xfrm flipV="1">
            <a:off x="105156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2" name="Connector 1261"/>
          <p:cNvCxnSpPr/>
          <p:nvPr/>
        </p:nvCxnSpPr>
        <p:spPr>
          <a:xfrm flipV="1">
            <a:off x="105283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3" name="Connector 1262"/>
          <p:cNvCxnSpPr/>
          <p:nvPr/>
        </p:nvCxnSpPr>
        <p:spPr>
          <a:xfrm flipV="1">
            <a:off x="105410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4" name="Connector 1263"/>
          <p:cNvCxnSpPr/>
          <p:nvPr/>
        </p:nvCxnSpPr>
        <p:spPr>
          <a:xfrm>
            <a:off x="10553700" y="2816860"/>
            <a:ext cx="12700" cy="4740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5" name="Connector 1264"/>
          <p:cNvCxnSpPr/>
          <p:nvPr/>
        </p:nvCxnSpPr>
        <p:spPr>
          <a:xfrm>
            <a:off x="10566400" y="2864267"/>
            <a:ext cx="12700" cy="1313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6" name="Connector 1265"/>
          <p:cNvCxnSpPr/>
          <p:nvPr/>
        </p:nvCxnSpPr>
        <p:spPr>
          <a:xfrm>
            <a:off x="10579100" y="2995624"/>
            <a:ext cx="12700" cy="18675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7" name="Connector 1266"/>
          <p:cNvCxnSpPr/>
          <p:nvPr/>
        </p:nvCxnSpPr>
        <p:spPr>
          <a:xfrm>
            <a:off x="10591800" y="3182381"/>
            <a:ext cx="12700" cy="20600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8" name="Connector 1267"/>
          <p:cNvCxnSpPr/>
          <p:nvPr/>
        </p:nvCxnSpPr>
        <p:spPr>
          <a:xfrm>
            <a:off x="10604500" y="3388382"/>
            <a:ext cx="12700" cy="192737"/>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69" name="Connector 1268"/>
          <p:cNvCxnSpPr/>
          <p:nvPr/>
        </p:nvCxnSpPr>
        <p:spPr>
          <a:xfrm>
            <a:off x="10617200" y="3581119"/>
            <a:ext cx="12700" cy="15832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0" name="Connector 1269"/>
          <p:cNvCxnSpPr/>
          <p:nvPr/>
        </p:nvCxnSpPr>
        <p:spPr>
          <a:xfrm>
            <a:off x="10629900" y="3739444"/>
            <a:ext cx="12700" cy="11615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1" name="Connector 1270"/>
          <p:cNvCxnSpPr/>
          <p:nvPr/>
        </p:nvCxnSpPr>
        <p:spPr>
          <a:xfrm>
            <a:off x="10642600" y="3855596"/>
            <a:ext cx="12700" cy="7683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2" name="Connector 1271"/>
          <p:cNvCxnSpPr/>
          <p:nvPr/>
        </p:nvCxnSpPr>
        <p:spPr>
          <a:xfrm>
            <a:off x="10655300" y="3932435"/>
            <a:ext cx="12700" cy="46114"/>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3" name="Connector 1272"/>
          <p:cNvCxnSpPr/>
          <p:nvPr/>
        </p:nvCxnSpPr>
        <p:spPr>
          <a:xfrm>
            <a:off x="10668000" y="3978549"/>
            <a:ext cx="12700" cy="252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4" name="Connector 1273"/>
          <p:cNvCxnSpPr/>
          <p:nvPr/>
        </p:nvCxnSpPr>
        <p:spPr>
          <a:xfrm>
            <a:off x="10680700" y="4003755"/>
            <a:ext cx="12700" cy="12585"/>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5" name="Connector 1274"/>
          <p:cNvCxnSpPr/>
          <p:nvPr/>
        </p:nvCxnSpPr>
        <p:spPr>
          <a:xfrm>
            <a:off x="10693400" y="4016340"/>
            <a:ext cx="12700" cy="575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6" name="Connector 1275"/>
          <p:cNvCxnSpPr/>
          <p:nvPr/>
        </p:nvCxnSpPr>
        <p:spPr>
          <a:xfrm>
            <a:off x="10706100" y="4022090"/>
            <a:ext cx="12700" cy="2408"/>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7" name="Connector 1276"/>
          <p:cNvCxnSpPr/>
          <p:nvPr/>
        </p:nvCxnSpPr>
        <p:spPr>
          <a:xfrm>
            <a:off x="10718800" y="4024498"/>
            <a:ext cx="12700" cy="9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8" name="Connector 1277"/>
          <p:cNvCxnSpPr/>
          <p:nvPr/>
        </p:nvCxnSpPr>
        <p:spPr>
          <a:xfrm>
            <a:off x="10731500" y="4025424"/>
            <a:ext cx="12700" cy="32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79" name="Connector 1278"/>
          <p:cNvCxnSpPr/>
          <p:nvPr/>
        </p:nvCxnSpPr>
        <p:spPr>
          <a:xfrm>
            <a:off x="10744200" y="4025750"/>
            <a:ext cx="12700" cy="106"/>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0" name="Connector 1279"/>
          <p:cNvCxnSpPr/>
          <p:nvPr/>
        </p:nvCxnSpPr>
        <p:spPr>
          <a:xfrm>
            <a:off x="10756900" y="4025856"/>
            <a:ext cx="12700" cy="3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1" name="Connector 1280"/>
          <p:cNvCxnSpPr/>
          <p:nvPr/>
        </p:nvCxnSpPr>
        <p:spPr>
          <a:xfrm>
            <a:off x="10769600" y="4025888"/>
            <a:ext cx="12700" cy="9"/>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2" name="Connector 1281"/>
          <p:cNvCxnSpPr/>
          <p:nvPr/>
        </p:nvCxnSpPr>
        <p:spPr>
          <a:xfrm>
            <a:off x="10782300" y="4025897"/>
            <a:ext cx="12700" cy="2"/>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3" name="Connector 1282"/>
          <p:cNvCxnSpPr/>
          <p:nvPr/>
        </p:nvCxnSpPr>
        <p:spPr>
          <a:xfrm>
            <a:off x="107950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4" name="Connector 1283"/>
          <p:cNvCxnSpPr/>
          <p:nvPr/>
        </p:nvCxnSpPr>
        <p:spPr>
          <a:xfrm>
            <a:off x="108077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5" name="Connector 1284"/>
          <p:cNvCxnSpPr/>
          <p:nvPr/>
        </p:nvCxnSpPr>
        <p:spPr>
          <a:xfrm>
            <a:off x="108204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6" name="Connector 1285"/>
          <p:cNvCxnSpPr/>
          <p:nvPr/>
        </p:nvCxnSpPr>
        <p:spPr>
          <a:xfrm>
            <a:off x="108331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7" name="Connector 1286"/>
          <p:cNvCxnSpPr/>
          <p:nvPr/>
        </p:nvCxnSpPr>
        <p:spPr>
          <a:xfrm>
            <a:off x="108458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8" name="Connector 1287"/>
          <p:cNvCxnSpPr/>
          <p:nvPr/>
        </p:nvCxnSpPr>
        <p:spPr>
          <a:xfrm>
            <a:off x="108585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89" name="Connector 1288"/>
          <p:cNvCxnSpPr/>
          <p:nvPr/>
        </p:nvCxnSpPr>
        <p:spPr>
          <a:xfrm>
            <a:off x="108712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0" name="Connector 1289"/>
          <p:cNvCxnSpPr/>
          <p:nvPr/>
        </p:nvCxnSpPr>
        <p:spPr>
          <a:xfrm>
            <a:off x="108839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1" name="Connector 1290"/>
          <p:cNvCxnSpPr/>
          <p:nvPr/>
        </p:nvCxnSpPr>
        <p:spPr>
          <a:xfrm>
            <a:off x="108966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2" name="Connector 1291"/>
          <p:cNvCxnSpPr/>
          <p:nvPr/>
        </p:nvCxnSpPr>
        <p:spPr>
          <a:xfrm>
            <a:off x="10909300" y="4025899"/>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3" name="Connector 1292"/>
          <p:cNvCxnSpPr/>
          <p:nvPr/>
        </p:nvCxnSpPr>
        <p:spPr>
          <a:xfrm>
            <a:off x="10922000" y="4025899"/>
            <a:ext cx="12700" cy="1"/>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4" name="Connector 1293"/>
          <p:cNvCxnSpPr/>
          <p:nvPr/>
        </p:nvCxnSpPr>
        <p:spPr>
          <a:xfrm>
            <a:off x="10934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5" name="Connector 1294"/>
          <p:cNvCxnSpPr/>
          <p:nvPr/>
        </p:nvCxnSpPr>
        <p:spPr>
          <a:xfrm>
            <a:off x="10947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6" name="Connector 1295"/>
          <p:cNvCxnSpPr/>
          <p:nvPr/>
        </p:nvCxnSpPr>
        <p:spPr>
          <a:xfrm>
            <a:off x="10960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7" name="Connector 1296"/>
          <p:cNvCxnSpPr/>
          <p:nvPr/>
        </p:nvCxnSpPr>
        <p:spPr>
          <a:xfrm>
            <a:off x="10972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8" name="Connector 1297"/>
          <p:cNvCxnSpPr/>
          <p:nvPr/>
        </p:nvCxnSpPr>
        <p:spPr>
          <a:xfrm>
            <a:off x="10985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99" name="Connector 1298"/>
          <p:cNvCxnSpPr/>
          <p:nvPr/>
        </p:nvCxnSpPr>
        <p:spPr>
          <a:xfrm>
            <a:off x="10998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1010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1023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2" name="Connector 1301"/>
          <p:cNvCxnSpPr/>
          <p:nvPr/>
        </p:nvCxnSpPr>
        <p:spPr>
          <a:xfrm>
            <a:off x="110363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3" name="Connector 1302"/>
          <p:cNvCxnSpPr/>
          <p:nvPr/>
        </p:nvCxnSpPr>
        <p:spPr>
          <a:xfrm>
            <a:off x="110490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4" name="Connector 1303"/>
          <p:cNvCxnSpPr/>
          <p:nvPr/>
        </p:nvCxnSpPr>
        <p:spPr>
          <a:xfrm>
            <a:off x="110617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5" name="Connector 1304"/>
          <p:cNvCxnSpPr/>
          <p:nvPr/>
        </p:nvCxnSpPr>
        <p:spPr>
          <a:xfrm>
            <a:off x="110744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6" name="Connector 1305"/>
          <p:cNvCxnSpPr/>
          <p:nvPr/>
        </p:nvCxnSpPr>
        <p:spPr>
          <a:xfrm>
            <a:off x="110871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7" name="Connector 1306"/>
          <p:cNvCxnSpPr/>
          <p:nvPr/>
        </p:nvCxnSpPr>
        <p:spPr>
          <a:xfrm>
            <a:off x="110998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8" name="Connector 1307"/>
          <p:cNvCxnSpPr/>
          <p:nvPr/>
        </p:nvCxnSpPr>
        <p:spPr>
          <a:xfrm>
            <a:off x="111125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09" name="Connector 1308"/>
          <p:cNvCxnSpPr/>
          <p:nvPr/>
        </p:nvCxnSpPr>
        <p:spPr>
          <a:xfrm>
            <a:off x="111252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10" name="Connector 1309"/>
          <p:cNvCxnSpPr/>
          <p:nvPr/>
        </p:nvCxnSpPr>
        <p:spPr>
          <a:xfrm>
            <a:off x="111379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11" name="Connector 1310"/>
          <p:cNvCxnSpPr/>
          <p:nvPr/>
        </p:nvCxnSpPr>
        <p:spPr>
          <a:xfrm>
            <a:off x="11150600" y="4025900"/>
            <a:ext cx="127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1312" name="TextBox 1311"/>
          <p:cNvSpPr txBox="1"/>
          <p:nvPr/>
        </p:nvSpPr>
        <p:spPr>
          <a:xfrm>
            <a:off x="7315200" y="4445000"/>
            <a:ext cx="4000500" cy="466725"/>
          </a:xfrm>
          <a:prstGeom prst="rect">
            <a:avLst/>
          </a:prstGeom>
          <a:noFill/>
        </p:spPr>
        <p:txBody>
          <a:bodyPr wrap="none" lIns="0" rIns="0" tIns="0" bIns="0">
            <a:spAutoFit/>
          </a:bodyPr>
          <a:lstStyle/>
          <a:p>
            <a:pPr>
              <a:lnSpc>
                <a:spcPct val="115000"/>
              </a:lnSpc>
              <a:spcBef>
                <a:spcPts val="0"/>
              </a:spcBef>
              <a:spcAft>
                <a:spcPts val="0"/>
              </a:spcAft>
              <a:defRPr sz="2500" b="1">
                <a:solidFill>
                  <a:srgbClr val="8061AC"/>
                </a:solidFill>
                <a:latin typeface="DejaVu Sans"/>
              </a:defRPr>
            </a:pPr>
            <a:r>
              <a:t>A T G C T A G</a:t>
            </a:r>
          </a:p>
        </p:txBody>
      </p:sp>
      <p:sp>
        <p:nvSpPr>
          <p:cNvPr id="1313" name="Rounded Rectangle 131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TextBox 131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Ideal para una región definida y limpia; un cromatograma mezclado es difícil de interpretar.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SEGUNDA GENERACIÓN · SEQUENCING BY SYNTHESIS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Illumina: añadir, fotografiar y volver a empezar</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[2–3,15]</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04</a:t>
            </a:r>
          </a:p>
        </p:txBody>
      </p:sp>
      <p:sp>
        <p:nvSpPr>
          <p:cNvPr id="7" name="Rounded Rectangle 6"/>
          <p:cNvSpPr/>
          <p:nvPr/>
        </p:nvSpPr>
        <p:spPr>
          <a:xfrm>
            <a:off x="6096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1. Fragmentos</a:t>
            </a:r>
          </a:p>
        </p:txBody>
      </p:sp>
      <p:sp>
        <p:nvSpPr>
          <p:cNvPr id="9" name="Rounded Rectangle 8"/>
          <p:cNvSpPr/>
          <p:nvPr/>
        </p:nvSpPr>
        <p:spPr>
          <a:xfrm>
            <a:off x="34290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41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2. Clusters</a:t>
            </a:r>
          </a:p>
        </p:txBody>
      </p:sp>
      <p:sp>
        <p:nvSpPr>
          <p:cNvPr id="11" name="Rounded Rectangle 10"/>
          <p:cNvSpPr/>
          <p:nvPr/>
        </p:nvSpPr>
        <p:spPr>
          <a:xfrm>
            <a:off x="62484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35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3. Una base</a:t>
            </a:r>
          </a:p>
        </p:txBody>
      </p:sp>
      <p:sp>
        <p:nvSpPr>
          <p:cNvPr id="13" name="Rounded Rectangle 12"/>
          <p:cNvSpPr/>
          <p:nvPr/>
        </p:nvSpPr>
        <p:spPr>
          <a:xfrm>
            <a:off x="9067800" y="1879600"/>
            <a:ext cx="2501900" cy="330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2900" y="2108200"/>
            <a:ext cx="21971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4. Imagen</a:t>
            </a:r>
          </a:p>
        </p:txBody>
      </p:sp>
      <p:cxnSp>
        <p:nvCxnSpPr>
          <p:cNvPr id="15" name="Connector 14"/>
          <p:cNvCxnSpPr/>
          <p:nvPr/>
        </p:nvCxnSpPr>
        <p:spPr>
          <a:xfrm>
            <a:off x="927100" y="2870200"/>
            <a:ext cx="2159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 y="2870200"/>
            <a:ext cx="12700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13000" y="2870200"/>
            <a:ext cx="3302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27100" y="3327400"/>
            <a:ext cx="2159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43000" y="3327400"/>
            <a:ext cx="12700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13000" y="3327400"/>
            <a:ext cx="3302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7100" y="3784600"/>
            <a:ext cx="215900" cy="0"/>
          </a:xfrm>
          <a:prstGeom prst="line">
            <a:avLst/>
          </a:prstGeom>
          <a:ln w="762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43000" y="3784600"/>
            <a:ext cx="12700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413000" y="3784600"/>
            <a:ext cx="3302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784600" y="2971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84600" y="31369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784600" y="33020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84600" y="34671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949700" y="2971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949700" y="31369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49700" y="33020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49700" y="34671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14800" y="2971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114800" y="31369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14800" y="33020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114800" y="34671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279900" y="2971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279900" y="31369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279900" y="33020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279900" y="34671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60900" y="35306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660900" y="36957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660900" y="38608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60900" y="40259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26000" y="35306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826000" y="36957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26000" y="38608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826000" y="40259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991100" y="35306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991100" y="36957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991100" y="38608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991100" y="40259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156200" y="3530600"/>
            <a:ext cx="101600" cy="101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156200" y="3695700"/>
            <a:ext cx="101600" cy="101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156200" y="3860800"/>
            <a:ext cx="101600" cy="101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156200" y="4025900"/>
            <a:ext cx="101600" cy="101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502400" y="3187700"/>
            <a:ext cx="17018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502400" y="3378200"/>
            <a:ext cx="17018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5913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7564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9215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0866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2517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4168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5819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7470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121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077200" y="31877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8293100" y="31623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27800" y="4013200"/>
            <a:ext cx="20447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Bloqueo reversible</a:t>
            </a:r>
          </a:p>
        </p:txBody>
      </p:sp>
      <p:sp>
        <p:nvSpPr>
          <p:cNvPr id="70" name="Oval 69"/>
          <p:cNvSpPr/>
          <p:nvPr/>
        </p:nvSpPr>
        <p:spPr>
          <a:xfrm>
            <a:off x="9372600" y="2882900"/>
            <a:ext cx="228600" cy="228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372600" y="3327400"/>
            <a:ext cx="228600" cy="228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372600" y="37719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804400" y="2882900"/>
            <a:ext cx="228600" cy="228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804400" y="33274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804400" y="3771900"/>
            <a:ext cx="228600" cy="228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236200" y="2882900"/>
            <a:ext cx="228600" cy="2286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0236200" y="3327400"/>
            <a:ext cx="228600" cy="228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236200" y="3771900"/>
            <a:ext cx="228600" cy="228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668000" y="2882900"/>
            <a:ext cx="228600" cy="2286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668000" y="3327400"/>
            <a:ext cx="228600" cy="2286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668000" y="3771900"/>
            <a:ext cx="228600" cy="2286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347200" y="4597400"/>
            <a:ext cx="1981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Detectar señal</a:t>
            </a:r>
          </a:p>
        </p:txBody>
      </p:sp>
      <p:sp>
        <p:nvSpPr>
          <p:cNvPr id="83" name="Rounded Rectangle 8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Cada ciclo informa una posición por cluster. Se retira el bloqueo y el ciclo se repite.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TÉCNICO · ILLUMINA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Paired-end: dos extremos del mismo fragmento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[15–16]</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05</a:t>
            </a:r>
          </a:p>
        </p:txBody>
      </p:sp>
      <p:cxnSp>
        <p:nvCxnSpPr>
          <p:cNvPr id="7" name="Connector 6"/>
          <p:cNvCxnSpPr/>
          <p:nvPr/>
        </p:nvCxnSpPr>
        <p:spPr>
          <a:xfrm>
            <a:off x="1333500" y="2921000"/>
            <a:ext cx="9525000" cy="0"/>
          </a:xfrm>
          <a:prstGeom prst="line">
            <a:avLst/>
          </a:prstGeom>
          <a:ln w="2286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33500" y="2921000"/>
            <a:ext cx="2857500" cy="0"/>
          </a:xfrm>
          <a:prstGeom prst="line">
            <a:avLst/>
          </a:prstGeom>
          <a:ln w="2286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1000" y="2921000"/>
            <a:ext cx="2857500" cy="0"/>
          </a:xfrm>
          <a:prstGeom prst="line">
            <a:avLst/>
          </a:prstGeom>
          <a:ln w="2286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36700" y="2514600"/>
            <a:ext cx="24257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73500" y="2451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873500" y="2514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8242300" y="2514600"/>
            <a:ext cx="2425700" cy="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242300" y="2451100"/>
            <a:ext cx="88900" cy="6350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8242300" y="2514600"/>
            <a:ext cx="88900" cy="6350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09700" y="3390900"/>
            <a:ext cx="30099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R1: 150 pb</a:t>
            </a:r>
          </a:p>
        </p:txBody>
      </p:sp>
      <p:sp>
        <p:nvSpPr>
          <p:cNvPr id="17" name="TextBox 16"/>
          <p:cNvSpPr txBox="1"/>
          <p:nvPr/>
        </p:nvSpPr>
        <p:spPr>
          <a:xfrm>
            <a:off x="7962900" y="3390900"/>
            <a:ext cx="30099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R2: 150 pb</a:t>
            </a:r>
          </a:p>
        </p:txBody>
      </p:sp>
      <p:sp>
        <p:nvSpPr>
          <p:cNvPr id="18" name="TextBox 17"/>
          <p:cNvSpPr txBox="1"/>
          <p:nvPr/>
        </p:nvSpPr>
        <p:spPr>
          <a:xfrm>
            <a:off x="4610100" y="3314700"/>
            <a:ext cx="3060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57717D"/>
                </a:solidFill>
                <a:latin typeface="DejaVu Sans"/>
              </a:defRPr>
            </a:pPr>
            <a:r>
              <a:t>200 pb sin leer</a:t>
            </a:r>
          </a:p>
        </p:txBody>
      </p:sp>
      <p:sp>
        <p:nvSpPr>
          <p:cNvPr id="19" name="Rounded Rectangle 18"/>
          <p:cNvSpPr/>
          <p:nvPr/>
        </p:nvSpPr>
        <p:spPr>
          <a:xfrm>
            <a:off x="977900" y="4368800"/>
            <a:ext cx="4851400" cy="1168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4508500"/>
            <a:ext cx="45212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Inserto: 500 pb</a:t>
            </a:r>
          </a:p>
        </p:txBody>
      </p:sp>
      <p:sp>
        <p:nvSpPr>
          <p:cNvPr id="21" name="TextBox 20"/>
          <p:cNvSpPr txBox="1"/>
          <p:nvPr/>
        </p:nvSpPr>
        <p:spPr>
          <a:xfrm>
            <a:off x="1143000" y="4927600"/>
            <a:ext cx="4521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Datos: 150 + 150 = 300 bases/par</a:t>
            </a:r>
          </a:p>
        </p:txBody>
      </p:sp>
      <p:sp>
        <p:nvSpPr>
          <p:cNvPr id="22" name="Rounded Rectangle 21"/>
          <p:cNvSpPr/>
          <p:nvPr/>
        </p:nvSpPr>
        <p:spPr>
          <a:xfrm>
            <a:off x="6248400" y="4368800"/>
            <a:ext cx="4851400" cy="1168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3500" y="4508500"/>
            <a:ext cx="45212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Índices i7 / i5</a:t>
            </a:r>
          </a:p>
        </p:txBody>
      </p:sp>
      <p:sp>
        <p:nvSpPr>
          <p:cNvPr id="24" name="TextBox 23"/>
          <p:cNvSpPr txBox="1"/>
          <p:nvPr/>
        </p:nvSpPr>
        <p:spPr>
          <a:xfrm>
            <a:off x="6413500" y="4927600"/>
            <a:ext cx="45212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Identifican la muestra; preferir UDI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TERCERA GENERACIÓN · OXFORD NANOPORE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Nanopore: el ADN modifica una corriente</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06</a:t>
            </a:r>
          </a:p>
        </p:txBody>
      </p:sp>
      <p:sp>
        <p:nvSpPr>
          <p:cNvPr id="7" name="Rectangle 6"/>
          <p:cNvSpPr/>
          <p:nvPr/>
        </p:nvSpPr>
        <p:spPr>
          <a:xfrm>
            <a:off x="723900" y="3238500"/>
            <a:ext cx="3860800" cy="292100"/>
          </a:xfrm>
          <a:prstGeom prst="rect">
            <a:avLst/>
          </a:prstGeom>
          <a:solidFill>
            <a:srgbClr val="A4C9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3900" y="3924300"/>
            <a:ext cx="3860800" cy="292100"/>
          </a:xfrm>
          <a:prstGeom prst="rect">
            <a:avLst/>
          </a:prstGeom>
          <a:solidFill>
            <a:srgbClr val="A4C9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60600" y="3035300"/>
            <a:ext cx="863600" cy="14097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78100" y="3086100"/>
            <a:ext cx="22860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679700" y="1993900"/>
            <a:ext cx="109325"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789025" y="2133600"/>
            <a:ext cx="4301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782640" y="2273300"/>
            <a:ext cx="49395"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670803" y="2413000"/>
            <a:ext cx="111837"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564363" y="2552700"/>
            <a:ext cx="10644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527884" y="2692400"/>
            <a:ext cx="3647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527884" y="2832100"/>
            <a:ext cx="5561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583494" y="2971800"/>
            <a:ext cx="113968"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697462" y="3111500"/>
            <a:ext cx="103192"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800654" y="3251200"/>
            <a:ext cx="29824"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768841" y="3390900"/>
            <a:ext cx="61637"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653132" y="3530600"/>
            <a:ext cx="11570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553539" y="3670300"/>
            <a:ext cx="99593"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30473" y="3810000"/>
            <a:ext cx="23066"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530473" y="3949700"/>
            <a:ext cx="67453"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597926" y="4089400"/>
            <a:ext cx="117056"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714982" y="4229100"/>
            <a:ext cx="95654"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810636" y="4368800"/>
            <a:ext cx="16230"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753827" y="4508500"/>
            <a:ext cx="7303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2635823" y="4648200"/>
            <a:ext cx="118004"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544434" y="4787900"/>
            <a:ext cx="91389"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535096" y="4927600"/>
            <a:ext cx="9338" cy="13970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260600" y="2336800"/>
            <a:ext cx="850900" cy="482600"/>
          </a:xfrm>
          <a:prstGeom prst="ellipse">
            <a:avLst/>
          </a:prstGeom>
          <a:solidFill>
            <a:srgbClr val="D7C7E6"/>
          </a:solidFill>
          <a:ln>
            <a:solidFill>
              <a:srgbClr val="80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7100" y="4635500"/>
            <a:ext cx="3479800" cy="638556"/>
          </a:xfrm>
          <a:prstGeom prst="rect">
            <a:avLst/>
          </a:prstGeom>
          <a:noFill/>
        </p:spPr>
        <p:txBody>
          <a:bodyPr wrap="none" lIns="0" rIns="0" tIns="0" bIns="0">
            <a:spAutoFit/>
          </a:bodyPr>
          <a:lstStyle/>
          <a:p>
            <a:pPr>
              <a:lnSpc>
                <a:spcPct val="115000"/>
              </a:lnSpc>
              <a:spcBef>
                <a:spcPts val="0"/>
              </a:spcBef>
              <a:spcAft>
                <a:spcPts val="0"/>
              </a:spcAft>
              <a:defRPr sz="1800" b="1">
                <a:solidFill>
                  <a:srgbClr val="007F86"/>
                </a:solidFill>
                <a:latin typeface="DejaVu Sans"/>
              </a:defRPr>
            </a:pPr>
            <a:r>
              <a:t>Motor + poro +</a:t>
            </a:r>
          </a:p>
          <a:p>
            <a:pPr>
              <a:lnSpc>
                <a:spcPct val="115000"/>
              </a:lnSpc>
              <a:spcBef>
                <a:spcPts val="0"/>
              </a:spcBef>
              <a:spcAft>
                <a:spcPts val="0"/>
              </a:spcAft>
              <a:defRPr sz="1800" b="1">
                <a:solidFill>
                  <a:srgbClr val="007F86"/>
                </a:solidFill>
                <a:latin typeface="DejaVu Sans"/>
              </a:defRPr>
            </a:pPr>
            <a:r>
              <a:t>membrana</a:t>
            </a:r>
          </a:p>
        </p:txBody>
      </p:sp>
      <p:cxnSp>
        <p:nvCxnSpPr>
          <p:cNvPr id="35" name="Connector 34"/>
          <p:cNvCxnSpPr/>
          <p:nvPr/>
        </p:nvCxnSpPr>
        <p:spPr>
          <a:xfrm>
            <a:off x="4787900" y="3683000"/>
            <a:ext cx="5461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245100" y="3619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245100" y="3683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613400" y="3429000"/>
            <a:ext cx="63500" cy="27335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676900" y="3558926"/>
            <a:ext cx="63500" cy="14342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740400" y="3558926"/>
            <a:ext cx="63500" cy="14788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803900" y="3391294"/>
            <a:ext cx="63500" cy="31551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867400" y="3163419"/>
            <a:ext cx="63500" cy="22787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30900" y="3163419"/>
            <a:ext cx="63500" cy="13258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94400" y="3150476"/>
            <a:ext cx="63500" cy="14552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057900" y="3150476"/>
            <a:ext cx="63500" cy="35319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21400" y="3503668"/>
            <a:ext cx="63500" cy="1803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84900" y="3568014"/>
            <a:ext cx="63500" cy="11599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248400" y="3568014"/>
            <a:ext cx="63500" cy="13614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311900" y="3318833"/>
            <a:ext cx="63500" cy="38532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375400" y="3186772"/>
            <a:ext cx="63500" cy="13206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438900" y="3186772"/>
            <a:ext cx="63500" cy="9447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502400" y="3161509"/>
            <a:ext cx="63500" cy="11973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565900" y="3161509"/>
            <a:ext cx="63500" cy="41101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629400" y="3572519"/>
            <a:ext cx="63500" cy="8434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692900" y="3587868"/>
            <a:ext cx="63500" cy="6899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756400" y="3587868"/>
            <a:ext cx="63500" cy="9654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819900" y="3254890"/>
            <a:ext cx="63500" cy="42952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883400" y="3216422"/>
            <a:ext cx="63500" cy="3846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946900" y="3216422"/>
            <a:ext cx="63500" cy="4064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010400" y="3190055"/>
            <a:ext cx="63500" cy="67016"/>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073900" y="3190055"/>
            <a:ext cx="63500" cy="44034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137400" y="3626040"/>
            <a:ext cx="63500" cy="4357"/>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7200900" y="3615412"/>
            <a:ext cx="63500" cy="10628"/>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264400" y="3615412"/>
            <a:ext cx="63500" cy="3180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327900" y="3204061"/>
            <a:ext cx="63500" cy="44316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391400" y="3204061"/>
            <a:ext cx="63500" cy="4303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454900" y="3227263"/>
            <a:ext cx="63500" cy="19831"/>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18400" y="3227263"/>
            <a:ext cx="63500" cy="823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581900" y="3235495"/>
            <a:ext cx="63500" cy="43789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645400" y="3596794"/>
            <a:ext cx="63500" cy="76600"/>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708900" y="3596794"/>
            <a:ext cx="63500" cy="4947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7772400" y="3594163"/>
            <a:ext cx="63500" cy="52104"/>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7835900" y="3169458"/>
            <a:ext cx="63500" cy="424705"/>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99400" y="3169458"/>
            <a:ext cx="63500" cy="1042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962900" y="3196655"/>
            <a:ext cx="63500" cy="77072"/>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026400" y="3196655"/>
            <a:ext cx="63500" cy="98669"/>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089900" y="3295324"/>
            <a:ext cx="63500" cy="403953"/>
          </a:xfrm>
          <a:prstGeom prst="line">
            <a:avLst/>
          </a:prstGeom>
          <a:ln w="25400">
            <a:solidFill>
              <a:srgbClr val="4276C8"/>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638800" y="4635500"/>
            <a:ext cx="27305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4276C8"/>
                </a:solidFill>
                <a:latin typeface="DejaVu Sans"/>
              </a:defRPr>
            </a:pPr>
            <a:r>
              <a:t>Señal de corriente</a:t>
            </a:r>
          </a:p>
        </p:txBody>
      </p:sp>
      <p:cxnSp>
        <p:nvCxnSpPr>
          <p:cNvPr id="79" name="Connector 78"/>
          <p:cNvCxnSpPr/>
          <p:nvPr/>
        </p:nvCxnSpPr>
        <p:spPr>
          <a:xfrm>
            <a:off x="8483600" y="3683000"/>
            <a:ext cx="4826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77300" y="3619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877300" y="3683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9258300" y="2540000"/>
            <a:ext cx="1993900" cy="16129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423400" y="2768600"/>
            <a:ext cx="1689100" cy="372999"/>
          </a:xfrm>
          <a:prstGeom prst="rect">
            <a:avLst/>
          </a:prstGeom>
          <a:noFill/>
        </p:spPr>
        <p:txBody>
          <a:bodyPr wrap="none" lIns="0" rIns="0" tIns="0" bIns="0">
            <a:spAutoFit/>
          </a:bodyPr>
          <a:lstStyle/>
          <a:p>
            <a:pPr>
              <a:lnSpc>
                <a:spcPct val="115000"/>
              </a:lnSpc>
              <a:spcBef>
                <a:spcPts val="0"/>
              </a:spcBef>
              <a:spcAft>
                <a:spcPts val="0"/>
              </a:spcAft>
              <a:defRPr sz="1900" b="1">
                <a:solidFill>
                  <a:srgbClr val="8061AC"/>
                </a:solidFill>
                <a:latin typeface="DejaVu Sans"/>
              </a:defRPr>
            </a:pPr>
            <a:r>
              <a:t>Basecaller</a:t>
            </a:r>
          </a:p>
        </p:txBody>
      </p:sp>
      <p:sp>
        <p:nvSpPr>
          <p:cNvPr id="84" name="TextBox 83"/>
          <p:cNvSpPr txBox="1"/>
          <p:nvPr/>
        </p:nvSpPr>
        <p:spPr>
          <a:xfrm>
            <a:off x="9423400" y="3378200"/>
            <a:ext cx="16891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A T G C A</a:t>
            </a:r>
          </a:p>
        </p:txBody>
      </p:sp>
      <p:sp>
        <p:nvSpPr>
          <p:cNvPr id="85" name="Rounded Rectangle 8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señal se conserva en POD5; la secuencia y sus calidades se usan para el análisis.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TERCERA GENERACIÓN · COMPARACIÓN BREVE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PacBio HiFi: volver a mirar la misma molécula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07</a:t>
            </a:r>
          </a:p>
        </p:txBody>
      </p:sp>
      <p:sp>
        <p:nvSpPr>
          <p:cNvPr id="7" name="Oval 6"/>
          <p:cNvSpPr/>
          <p:nvPr/>
        </p:nvSpPr>
        <p:spPr>
          <a:xfrm>
            <a:off x="1270000" y="2362200"/>
            <a:ext cx="2768600" cy="1854200"/>
          </a:xfrm>
          <a:prstGeom prst="ellipse">
            <a:avLst/>
          </a:prstGeom>
          <a:solidFill>
            <a:srgbClr val="FFFFFF"/>
          </a:solidFill>
          <a:ln>
            <a:solidFill>
              <a:srgbClr val="80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689100" y="2578100"/>
            <a:ext cx="1892300" cy="0"/>
          </a:xfrm>
          <a:prstGeom prst="line">
            <a:avLst/>
          </a:prstGeom>
          <a:ln w="762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689100" y="4013200"/>
            <a:ext cx="18923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49600" y="3251200"/>
            <a:ext cx="444500" cy="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149600" y="3187700"/>
            <a:ext cx="88900" cy="6350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149600" y="3251200"/>
            <a:ext cx="88900" cy="63500"/>
          </a:xfrm>
          <a:prstGeom prst="line">
            <a:avLst/>
          </a:prstGeom>
          <a:ln w="25400">
            <a:solidFill>
              <a:srgbClr val="8061A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11300" y="4508500"/>
            <a:ext cx="3060700"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8061AC"/>
                </a:solidFill>
                <a:latin typeface="DejaVu Sans"/>
              </a:defRPr>
            </a:pPr>
            <a:r>
              <a:t>Plantilla SMRTbell</a:t>
            </a:r>
          </a:p>
        </p:txBody>
      </p:sp>
      <p:cxnSp>
        <p:nvCxnSpPr>
          <p:cNvPr id="14" name="Connector 13"/>
          <p:cNvCxnSpPr/>
          <p:nvPr/>
        </p:nvCxnSpPr>
        <p:spPr>
          <a:xfrm>
            <a:off x="4419600" y="3289300"/>
            <a:ext cx="622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53000" y="3225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953000" y="3289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86400" y="24384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02300" y="26162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18200" y="27940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86400" y="29718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2300" y="31496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18200" y="33274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486400" y="3505200"/>
            <a:ext cx="22987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73700" y="4508500"/>
            <a:ext cx="2933700"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4276C8"/>
                </a:solidFill>
                <a:latin typeface="DejaVu Sans"/>
              </a:defRPr>
            </a:pPr>
            <a:r>
              <a:t>Varias pasadas</a:t>
            </a:r>
          </a:p>
        </p:txBody>
      </p:sp>
      <p:cxnSp>
        <p:nvCxnSpPr>
          <p:cNvPr id="25" name="Connector 24"/>
          <p:cNvCxnSpPr/>
          <p:nvPr/>
        </p:nvCxnSpPr>
        <p:spPr>
          <a:xfrm>
            <a:off x="8356600" y="3289300"/>
            <a:ext cx="4699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737600" y="3225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737600" y="3289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71000" y="3149600"/>
            <a:ext cx="18415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71000" y="3340100"/>
            <a:ext cx="18415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3599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5250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6901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552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0203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854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505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5156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6807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8458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010900" y="31496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055100" y="4508500"/>
            <a:ext cx="2641600" cy="404241"/>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Consenso HiFi</a:t>
            </a:r>
          </a:p>
        </p:txBody>
      </p:sp>
      <p:sp>
        <p:nvSpPr>
          <p:cNvPr id="42" name="Rounded Rectangle 4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Lecturas largas pueden ser precisas: “tercera generación” no significa una tasa de error fija.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APLICACIONES Y LÍMITES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Illumina y Nanopore: elegir por el resultado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[4–5,9–10,15–18]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08</a:t>
            </a:r>
          </a:p>
        </p:txBody>
      </p:sp>
      <p:sp>
        <p:nvSpPr>
          <p:cNvPr id="7" name="Rectangle 6"/>
          <p:cNvSpPr/>
          <p:nvPr/>
        </p:nvSpPr>
        <p:spPr>
          <a:xfrm>
            <a:off x="609600" y="1905000"/>
            <a:ext cx="3048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2819400" cy="304800"/>
          </a:xfrm>
          <a:prstGeom prst="rect">
            <a:avLst/>
          </a:prstGeom>
          <a:noFill/>
        </p:spPr>
        <p:txBody>
          <a:bodyPr wrap="none" lIns="0" rIns="0" tIns="0" bIns="0">
            <a:spAutoFit/>
          </a:bodyPr>
          <a:lstStyle/>
          <a:p>
            <a:pPr>
              <a:lnSpc>
                <a:spcPct val="115000"/>
              </a:lnSpc>
              <a:spcBef>
                <a:spcPts val="0"/>
              </a:spcBef>
              <a:spcAft>
                <a:spcPts val="0"/>
              </a:spcAft>
              <a:defRPr sz="1450" b="1">
                <a:solidFill>
                  <a:srgbClr val="FFFFFF"/>
                </a:solidFill>
                <a:latin typeface="DejaVu Sans"/>
              </a:defRPr>
            </a:pPr>
            <a:r>
              <a:t>Necesidad</a:t>
            </a:r>
          </a:p>
        </p:txBody>
      </p:sp>
      <p:sp>
        <p:nvSpPr>
          <p:cNvPr id="9" name="Rectangle 8"/>
          <p:cNvSpPr/>
          <p:nvPr/>
        </p:nvSpPr>
        <p:spPr>
          <a:xfrm>
            <a:off x="3657600" y="1905000"/>
            <a:ext cx="39624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900" y="2006600"/>
            <a:ext cx="3733800" cy="304800"/>
          </a:xfrm>
          <a:prstGeom prst="rect">
            <a:avLst/>
          </a:prstGeom>
          <a:noFill/>
        </p:spPr>
        <p:txBody>
          <a:bodyPr wrap="none" lIns="0" rIns="0" tIns="0" bIns="0">
            <a:spAutoFit/>
          </a:bodyPr>
          <a:lstStyle/>
          <a:p>
            <a:pPr>
              <a:lnSpc>
                <a:spcPct val="115000"/>
              </a:lnSpc>
              <a:spcBef>
                <a:spcPts val="0"/>
              </a:spcBef>
              <a:spcAft>
                <a:spcPts val="0"/>
              </a:spcAft>
              <a:defRPr sz="1450" b="1">
                <a:solidFill>
                  <a:srgbClr val="FFFFFF"/>
                </a:solidFill>
                <a:latin typeface="DejaVu Sans"/>
              </a:defRPr>
            </a:pPr>
            <a:r>
              <a:t>Illumina</a:t>
            </a:r>
          </a:p>
        </p:txBody>
      </p:sp>
      <p:sp>
        <p:nvSpPr>
          <p:cNvPr id="11" name="Rectangle 10"/>
          <p:cNvSpPr/>
          <p:nvPr/>
        </p:nvSpPr>
        <p:spPr>
          <a:xfrm>
            <a:off x="7620000" y="1905000"/>
            <a:ext cx="39624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34300" y="2006600"/>
            <a:ext cx="3733800" cy="304800"/>
          </a:xfrm>
          <a:prstGeom prst="rect">
            <a:avLst/>
          </a:prstGeom>
          <a:noFill/>
        </p:spPr>
        <p:txBody>
          <a:bodyPr wrap="none" lIns="0" rIns="0" tIns="0" bIns="0">
            <a:spAutoFit/>
          </a:bodyPr>
          <a:lstStyle/>
          <a:p>
            <a:pPr>
              <a:lnSpc>
                <a:spcPct val="115000"/>
              </a:lnSpc>
              <a:spcBef>
                <a:spcPts val="0"/>
              </a:spcBef>
              <a:spcAft>
                <a:spcPts val="0"/>
              </a:spcAft>
              <a:defRPr sz="1450" b="1">
                <a:solidFill>
                  <a:srgbClr val="FFFFFF"/>
                </a:solidFill>
                <a:latin typeface="DejaVu Sans"/>
              </a:defRPr>
            </a:pPr>
            <a:r>
              <a:t>Nanopore</a:t>
            </a:r>
          </a:p>
        </p:txBody>
      </p:sp>
      <p:sp>
        <p:nvSpPr>
          <p:cNvPr id="13" name="Rectangle 12"/>
          <p:cNvSpPr/>
          <p:nvPr/>
        </p:nvSpPr>
        <p:spPr>
          <a:xfrm>
            <a:off x="609600" y="2387600"/>
            <a:ext cx="30480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476500"/>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Muchas bases cortas precisas</a:t>
            </a:r>
          </a:p>
        </p:txBody>
      </p:sp>
      <p:sp>
        <p:nvSpPr>
          <p:cNvPr id="15" name="Rectangle 14"/>
          <p:cNvSpPr/>
          <p:nvPr/>
        </p:nvSpPr>
        <p:spPr>
          <a:xfrm>
            <a:off x="3657600" y="2387600"/>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900" y="2476500"/>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Perfiles, SNV y conteos con diseño</a:t>
            </a:r>
          </a:p>
          <a:p>
            <a:pPr>
              <a:lnSpc>
                <a:spcPct val="115000"/>
              </a:lnSpc>
              <a:spcBef>
                <a:spcPts val="0"/>
              </a:spcBef>
              <a:spcAft>
                <a:spcPts val="0"/>
              </a:spcAft>
              <a:defRPr sz="1450" b="0">
                <a:solidFill>
                  <a:srgbClr val="183443"/>
                </a:solidFill>
                <a:latin typeface="DejaVu Sans"/>
              </a:defRPr>
            </a:pPr>
            <a:r>
              <a:t>adecuado</a:t>
            </a:r>
          </a:p>
        </p:txBody>
      </p:sp>
      <p:sp>
        <p:nvSpPr>
          <p:cNvPr id="17" name="Rectangle 16"/>
          <p:cNvSpPr/>
          <p:nvPr/>
        </p:nvSpPr>
        <p:spPr>
          <a:xfrm>
            <a:off x="7620000" y="2387600"/>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34300" y="2476500"/>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Posible; evaluar química/modelo y</a:t>
            </a:r>
          </a:p>
          <a:p>
            <a:pPr>
              <a:lnSpc>
                <a:spcPct val="115000"/>
              </a:lnSpc>
              <a:spcBef>
                <a:spcPts val="0"/>
              </a:spcBef>
              <a:spcAft>
                <a:spcPts val="0"/>
              </a:spcAft>
              <a:defRPr sz="1450" b="0">
                <a:solidFill>
                  <a:srgbClr val="183443"/>
                </a:solidFill>
                <a:latin typeface="DejaVu Sans"/>
              </a:defRPr>
            </a:pPr>
            <a:r>
              <a:t>cobertura</a:t>
            </a:r>
          </a:p>
        </p:txBody>
      </p:sp>
      <p:sp>
        <p:nvSpPr>
          <p:cNvPr id="19" name="Rectangle 18"/>
          <p:cNvSpPr/>
          <p:nvPr/>
        </p:nvSpPr>
        <p:spPr>
          <a:xfrm>
            <a:off x="609600" y="3060192"/>
            <a:ext cx="30480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3149092"/>
            <a:ext cx="28194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Resolver repeticiones y</a:t>
            </a:r>
          </a:p>
          <a:p>
            <a:pPr>
              <a:lnSpc>
                <a:spcPct val="115000"/>
              </a:lnSpc>
              <a:spcBef>
                <a:spcPts val="0"/>
              </a:spcBef>
              <a:spcAft>
                <a:spcPts val="0"/>
              </a:spcAft>
              <a:defRPr sz="1450" b="0">
                <a:solidFill>
                  <a:srgbClr val="183443"/>
                </a:solidFill>
                <a:latin typeface="DejaVu Sans"/>
              </a:defRPr>
            </a:pPr>
            <a:r>
              <a:t>contexto</a:t>
            </a:r>
          </a:p>
        </p:txBody>
      </p:sp>
      <p:sp>
        <p:nvSpPr>
          <p:cNvPr id="21" name="Rectangle 20"/>
          <p:cNvSpPr/>
          <p:nvPr/>
        </p:nvSpPr>
        <p:spPr>
          <a:xfrm>
            <a:off x="3657600" y="3060192"/>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1900" y="3149092"/>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Las regiones largas pueden quedar</a:t>
            </a:r>
          </a:p>
          <a:p>
            <a:pPr>
              <a:lnSpc>
                <a:spcPct val="115000"/>
              </a:lnSpc>
              <a:spcBef>
                <a:spcPts val="0"/>
              </a:spcBef>
              <a:spcAft>
                <a:spcPts val="0"/>
              </a:spcAft>
              <a:defRPr sz="1450" b="0">
                <a:solidFill>
                  <a:srgbClr val="183443"/>
                </a:solidFill>
                <a:latin typeface="DejaVu Sans"/>
              </a:defRPr>
            </a:pPr>
            <a:r>
              <a:t>fragmentadas</a:t>
            </a:r>
          </a:p>
        </p:txBody>
      </p:sp>
      <p:sp>
        <p:nvSpPr>
          <p:cNvPr id="23" name="Rectangle 22"/>
          <p:cNvSpPr/>
          <p:nvPr/>
        </p:nvSpPr>
        <p:spPr>
          <a:xfrm>
            <a:off x="7620000" y="3060192"/>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34300" y="3149092"/>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Lecturas largas pueden enlazar</a:t>
            </a:r>
          </a:p>
          <a:p>
            <a:pPr>
              <a:lnSpc>
                <a:spcPct val="115000"/>
              </a:lnSpc>
              <a:spcBef>
                <a:spcPts val="0"/>
              </a:spcBef>
              <a:spcAft>
                <a:spcPts val="0"/>
              </a:spcAft>
              <a:defRPr sz="1450" b="0">
                <a:solidFill>
                  <a:srgbClr val="183443"/>
                </a:solidFill>
                <a:latin typeface="DejaVu Sans"/>
              </a:defRPr>
            </a:pPr>
            <a:r>
              <a:t>regiones</a:t>
            </a:r>
          </a:p>
        </p:txBody>
      </p:sp>
      <p:sp>
        <p:nvSpPr>
          <p:cNvPr id="25" name="Rectangle 24"/>
          <p:cNvSpPr/>
          <p:nvPr/>
        </p:nvSpPr>
        <p:spPr>
          <a:xfrm>
            <a:off x="609600" y="3732784"/>
            <a:ext cx="3048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3821684"/>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Respuesta durante la corrida</a:t>
            </a:r>
          </a:p>
        </p:txBody>
      </p:sp>
      <p:sp>
        <p:nvSpPr>
          <p:cNvPr id="27" name="Rectangle 26"/>
          <p:cNvSpPr/>
          <p:nvPr/>
        </p:nvSpPr>
        <p:spPr>
          <a:xfrm>
            <a:off x="3657600" y="3732784"/>
            <a:ext cx="39624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71900" y="3821684"/>
            <a:ext cx="37338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Planificar duración del ciclo y lote</a:t>
            </a:r>
          </a:p>
        </p:txBody>
      </p:sp>
      <p:sp>
        <p:nvSpPr>
          <p:cNvPr id="29" name="Rectangle 28"/>
          <p:cNvSpPr/>
          <p:nvPr/>
        </p:nvSpPr>
        <p:spPr>
          <a:xfrm>
            <a:off x="7620000" y="3732784"/>
            <a:ext cx="39624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34300" y="3821684"/>
            <a:ext cx="37338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Flujo de datos progresivo</a:t>
            </a:r>
          </a:p>
        </p:txBody>
      </p:sp>
      <p:sp>
        <p:nvSpPr>
          <p:cNvPr id="31" name="Rectangle 30"/>
          <p:cNvSpPr/>
          <p:nvPr/>
        </p:nvSpPr>
        <p:spPr>
          <a:xfrm>
            <a:off x="609600" y="4215384"/>
            <a:ext cx="30480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4304284"/>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Variantes / modificaciones</a:t>
            </a:r>
          </a:p>
        </p:txBody>
      </p:sp>
      <p:sp>
        <p:nvSpPr>
          <p:cNvPr id="33" name="Rectangle 32"/>
          <p:cNvSpPr/>
          <p:nvPr/>
        </p:nvSpPr>
        <p:spPr>
          <a:xfrm>
            <a:off x="3657600" y="4215384"/>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71900" y="4304284"/>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Seleccionar ensayo compatible con el</a:t>
            </a:r>
          </a:p>
          <a:p>
            <a:pPr>
              <a:lnSpc>
                <a:spcPct val="115000"/>
              </a:lnSpc>
              <a:spcBef>
                <a:spcPts val="0"/>
              </a:spcBef>
              <a:spcAft>
                <a:spcPts val="0"/>
              </a:spcAft>
              <a:defRPr sz="1450" b="0">
                <a:solidFill>
                  <a:srgbClr val="183443"/>
                </a:solidFill>
                <a:latin typeface="DejaVu Sans"/>
              </a:defRPr>
            </a:pPr>
            <a:r>
              <a:t>objetivo</a:t>
            </a:r>
          </a:p>
        </p:txBody>
      </p:sp>
      <p:sp>
        <p:nvSpPr>
          <p:cNvPr id="35" name="Rectangle 34"/>
          <p:cNvSpPr/>
          <p:nvPr/>
        </p:nvSpPr>
        <p:spPr>
          <a:xfrm>
            <a:off x="7620000" y="4215384"/>
            <a:ext cx="3962400" cy="672592"/>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34300" y="4304284"/>
            <a:ext cx="37338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ADN nativo y modelos compatibles</a:t>
            </a:r>
          </a:p>
        </p:txBody>
      </p:sp>
      <p:sp>
        <p:nvSpPr>
          <p:cNvPr id="37" name="Rectangle 36"/>
          <p:cNvSpPr/>
          <p:nvPr/>
        </p:nvSpPr>
        <p:spPr>
          <a:xfrm>
            <a:off x="609600" y="4887976"/>
            <a:ext cx="30480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3900" y="4976876"/>
            <a:ext cx="2819400" cy="304800"/>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Metagenómica / MAGs</a:t>
            </a:r>
          </a:p>
        </p:txBody>
      </p:sp>
      <p:sp>
        <p:nvSpPr>
          <p:cNvPr id="39" name="Rectangle 38"/>
          <p:cNvSpPr/>
          <p:nvPr/>
        </p:nvSpPr>
        <p:spPr>
          <a:xfrm>
            <a:off x="3657600" y="4887976"/>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71900" y="4976876"/>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Profundidad y abundancias; posible</a:t>
            </a:r>
          </a:p>
          <a:p>
            <a:pPr>
              <a:lnSpc>
                <a:spcPct val="115000"/>
              </a:lnSpc>
              <a:spcBef>
                <a:spcPts val="0"/>
              </a:spcBef>
              <a:spcAft>
                <a:spcPts val="0"/>
              </a:spcAft>
              <a:defRPr sz="1450" b="0">
                <a:solidFill>
                  <a:srgbClr val="183443"/>
                </a:solidFill>
                <a:latin typeface="DejaVu Sans"/>
              </a:defRPr>
            </a:pPr>
            <a:r>
              <a:t>fragmentación</a:t>
            </a:r>
          </a:p>
        </p:txBody>
      </p:sp>
      <p:sp>
        <p:nvSpPr>
          <p:cNvPr id="41" name="Rectangle 40"/>
          <p:cNvSpPr/>
          <p:nvPr/>
        </p:nvSpPr>
        <p:spPr>
          <a:xfrm>
            <a:off x="7620000" y="4887976"/>
            <a:ext cx="3962400" cy="672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4300" y="4976876"/>
            <a:ext cx="3733800" cy="529209"/>
          </a:xfrm>
          <a:prstGeom prst="rect">
            <a:avLst/>
          </a:prstGeom>
          <a:noFill/>
        </p:spPr>
        <p:txBody>
          <a:bodyPr wrap="none" lIns="0" rIns="0" tIns="0" bIns="0">
            <a:spAutoFit/>
          </a:bodyPr>
          <a:lstStyle/>
          <a:p>
            <a:pPr>
              <a:lnSpc>
                <a:spcPct val="115000"/>
              </a:lnSpc>
              <a:spcBef>
                <a:spcPts val="0"/>
              </a:spcBef>
              <a:spcAft>
                <a:spcPts val="0"/>
              </a:spcAft>
              <a:defRPr sz="1450" b="0">
                <a:solidFill>
                  <a:srgbClr val="183443"/>
                </a:solidFill>
                <a:latin typeface="DejaVu Sans"/>
              </a:defRPr>
            </a:pPr>
            <a:r>
              <a:t>Continuidad; exige ADN e inferencia</a:t>
            </a:r>
          </a:p>
          <a:p>
            <a:pPr>
              <a:lnSpc>
                <a:spcPct val="115000"/>
              </a:lnSpc>
              <a:spcBef>
                <a:spcPts val="0"/>
              </a:spcBef>
              <a:spcAft>
                <a:spcPts val="0"/>
              </a:spcAft>
              <a:defRPr sz="1450" b="0">
                <a:solidFill>
                  <a:srgbClr val="183443"/>
                </a:solidFill>
                <a:latin typeface="DejaVu Sans"/>
              </a:defRPr>
            </a:pPr>
            <a:r>
              <a:t>validados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EXPERIMENTAL</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Antes del kit: diseñar una comparación justa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[10,14]</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09</a:t>
            </a:r>
          </a:p>
        </p:txBody>
      </p:sp>
      <p:sp>
        <p:nvSpPr>
          <p:cNvPr id="7" name="TextBox 6"/>
          <p:cNvSpPr txBox="1"/>
          <p:nvPr/>
        </p:nvSpPr>
        <p:spPr>
          <a:xfrm>
            <a:off x="825500" y="2032000"/>
            <a:ext cx="20320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Sitio A</a:t>
            </a:r>
          </a:p>
        </p:txBody>
      </p:sp>
      <p:sp>
        <p:nvSpPr>
          <p:cNvPr id="8" name="Rounded Rectangle 7"/>
          <p:cNvSpPr/>
          <p:nvPr/>
        </p:nvSpPr>
        <p:spPr>
          <a:xfrm>
            <a:off x="3314700" y="19050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78200" y="20701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16300" y="2305050"/>
            <a:ext cx="241300" cy="2349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39090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53695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76600" y="28575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A1</a:t>
            </a:r>
          </a:p>
        </p:txBody>
      </p:sp>
      <p:sp>
        <p:nvSpPr>
          <p:cNvPr id="14" name="Rounded Rectangle 13"/>
          <p:cNvSpPr/>
          <p:nvPr/>
        </p:nvSpPr>
        <p:spPr>
          <a:xfrm>
            <a:off x="4445000" y="19050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08500" y="20701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46600" y="2305050"/>
            <a:ext cx="241300" cy="2349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452120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66725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06900" y="28575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A2</a:t>
            </a:r>
          </a:p>
        </p:txBody>
      </p:sp>
      <p:sp>
        <p:nvSpPr>
          <p:cNvPr id="20" name="Rounded Rectangle 19"/>
          <p:cNvSpPr/>
          <p:nvPr/>
        </p:nvSpPr>
        <p:spPr>
          <a:xfrm>
            <a:off x="5575300" y="19050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38800" y="20701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76900" y="2305050"/>
            <a:ext cx="241300" cy="2349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65150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797550" y="25400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537200" y="28575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A3</a:t>
            </a:r>
          </a:p>
        </p:txBody>
      </p:sp>
      <p:sp>
        <p:nvSpPr>
          <p:cNvPr id="26" name="TextBox 25"/>
          <p:cNvSpPr txBox="1"/>
          <p:nvPr/>
        </p:nvSpPr>
        <p:spPr>
          <a:xfrm>
            <a:off x="825500" y="3327400"/>
            <a:ext cx="20320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8061AC"/>
                </a:solidFill>
                <a:latin typeface="DejaVu Sans"/>
              </a:defRPr>
            </a:pPr>
            <a:r>
              <a:t>Sitio B</a:t>
            </a:r>
          </a:p>
        </p:txBody>
      </p:sp>
      <p:sp>
        <p:nvSpPr>
          <p:cNvPr id="27" name="Rounded Rectangle 26"/>
          <p:cNvSpPr/>
          <p:nvPr/>
        </p:nvSpPr>
        <p:spPr>
          <a:xfrm>
            <a:off x="3314700" y="32004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378200" y="33655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16300" y="3600450"/>
            <a:ext cx="241300" cy="2349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339090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53695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276600" y="41529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8061AC"/>
                </a:solidFill>
                <a:latin typeface="DejaVu Sans"/>
              </a:defRPr>
            </a:pPr>
            <a:r>
              <a:t>B1</a:t>
            </a:r>
          </a:p>
        </p:txBody>
      </p:sp>
      <p:sp>
        <p:nvSpPr>
          <p:cNvPr id="33" name="Rounded Rectangle 32"/>
          <p:cNvSpPr/>
          <p:nvPr/>
        </p:nvSpPr>
        <p:spPr>
          <a:xfrm>
            <a:off x="4445000" y="32004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08500" y="33655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46600" y="3600450"/>
            <a:ext cx="241300" cy="2349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452120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66725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406900" y="41529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8061AC"/>
                </a:solidFill>
                <a:latin typeface="DejaVu Sans"/>
              </a:defRPr>
            </a:pPr>
            <a:r>
              <a:t>B2</a:t>
            </a:r>
          </a:p>
        </p:txBody>
      </p:sp>
      <p:sp>
        <p:nvSpPr>
          <p:cNvPr id="39" name="Rounded Rectangle 38"/>
          <p:cNvSpPr/>
          <p:nvPr/>
        </p:nvSpPr>
        <p:spPr>
          <a:xfrm>
            <a:off x="5575300" y="3200400"/>
            <a:ext cx="4445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638800" y="3365500"/>
            <a:ext cx="317500" cy="4699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76900" y="3600450"/>
            <a:ext cx="241300" cy="2349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565150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797550" y="3835400"/>
            <a:ext cx="1460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537200" y="4152900"/>
            <a:ext cx="9398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8061AC"/>
                </a:solidFill>
                <a:latin typeface="DejaVu Sans"/>
              </a:defRPr>
            </a:pPr>
            <a:r>
              <a:t>B3</a:t>
            </a:r>
          </a:p>
        </p:txBody>
      </p:sp>
      <p:cxnSp>
        <p:nvCxnSpPr>
          <p:cNvPr id="45" name="Connector 44"/>
          <p:cNvCxnSpPr/>
          <p:nvPr/>
        </p:nvCxnSpPr>
        <p:spPr>
          <a:xfrm>
            <a:off x="7137400" y="3162300"/>
            <a:ext cx="5461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594600" y="309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7594600" y="3162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077200" y="1993900"/>
            <a:ext cx="31877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42300" y="2133600"/>
            <a:ext cx="28575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Balancear lotes</a:t>
            </a:r>
          </a:p>
        </p:txBody>
      </p:sp>
      <p:sp>
        <p:nvSpPr>
          <p:cNvPr id="50" name="TextBox 49"/>
          <p:cNvSpPr txBox="1"/>
          <p:nvPr/>
        </p:nvSpPr>
        <p:spPr>
          <a:xfrm>
            <a:off x="8242300" y="2552700"/>
            <a:ext cx="28575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Mezclar A y B en cada lote</a:t>
            </a:r>
          </a:p>
        </p:txBody>
      </p:sp>
      <p:sp>
        <p:nvSpPr>
          <p:cNvPr id="51" name="Rounded Rectangle 50"/>
          <p:cNvSpPr/>
          <p:nvPr/>
        </p:nvSpPr>
        <p:spPr>
          <a:xfrm>
            <a:off x="8077200" y="3670300"/>
            <a:ext cx="31877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42300" y="3810000"/>
            <a:ext cx="28575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Metadatos</a:t>
            </a:r>
          </a:p>
        </p:txBody>
      </p:sp>
      <p:sp>
        <p:nvSpPr>
          <p:cNvPr id="53" name="TextBox 52"/>
          <p:cNvSpPr txBox="1"/>
          <p:nvPr/>
        </p:nvSpPr>
        <p:spPr>
          <a:xfrm>
            <a:off x="8242300" y="4229100"/>
            <a:ext cx="28575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Sitio, fecha, matriz y</a:t>
            </a:r>
          </a:p>
          <a:p>
            <a:pPr>
              <a:lnSpc>
                <a:spcPct val="115000"/>
              </a:lnSpc>
              <a:spcBef>
                <a:spcPts val="0"/>
              </a:spcBef>
              <a:spcAft>
                <a:spcPts val="0"/>
              </a:spcAft>
              <a:defRPr sz="1600" b="0">
                <a:solidFill>
                  <a:srgbClr val="183443"/>
                </a:solidFill>
                <a:latin typeface="DejaVu Sans"/>
              </a:defRPr>
            </a:pPr>
            <a:r>
              <a:t>extracción</a:t>
            </a:r>
          </a:p>
        </p:txBody>
      </p:sp>
      <p:sp>
        <p:nvSpPr>
          <p:cNvPr id="54" name="Rounded Rectangle 5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Más lecturas de una única muestra no sustituyen réplicas biológicas.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ADN Y PREPARACIÓN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La muestra fija el techo de las lecturas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[4,8,14]</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10</a:t>
            </a:r>
          </a:p>
        </p:txBody>
      </p:sp>
      <p:sp>
        <p:nvSpPr>
          <p:cNvPr id="7" name="Oval 6"/>
          <p:cNvSpPr/>
          <p:nvPr/>
        </p:nvSpPr>
        <p:spPr>
          <a:xfrm>
            <a:off x="774700" y="2616200"/>
            <a:ext cx="1092200" cy="1092200"/>
          </a:xfrm>
          <a:prstGeom prst="ellipse">
            <a:avLst/>
          </a:prstGeom>
          <a:solidFill>
            <a:srgbClr val="CBE9E7"/>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360" y="2916555"/>
            <a:ext cx="464184" cy="464184"/>
          </a:xfrm>
          <a:prstGeom prst="ellipse">
            <a:avLst/>
          </a:prstGeom>
          <a:solidFill>
            <a:srgbClr val="92B9D8"/>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5835" y="327152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21155" y="327152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02715" y="3544570"/>
            <a:ext cx="203200" cy="114300"/>
          </a:xfrm>
          <a:prstGeom prst="ellipse">
            <a:avLst/>
          </a:prstGeom>
          <a:solidFill>
            <a:srgbClr val="91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057400" y="3162300"/>
            <a:ext cx="5080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76500" y="309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476500" y="3162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57500" y="2603500"/>
            <a:ext cx="30988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57500" y="2794000"/>
            <a:ext cx="30988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9464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115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766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417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068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719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370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021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672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23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974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7625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9276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0927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2578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229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880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53100" y="2603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921000" y="35179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921000" y="37084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0099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1750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3401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052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03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8354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508500" y="35179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508500" y="37084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5974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7625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276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0927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2578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422900" y="35179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921000" y="39624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921000" y="41529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0099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1750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3401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5052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6703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8354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508500" y="3962400"/>
            <a:ext cx="10541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508500" y="4152900"/>
            <a:ext cx="10541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5974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7625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9276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0927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2578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422900" y="39624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857500" y="4635500"/>
            <a:ext cx="3479800" cy="732282"/>
          </a:xfrm>
          <a:prstGeom prst="rect">
            <a:avLst/>
          </a:prstGeom>
          <a:noFill/>
        </p:spPr>
        <p:txBody>
          <a:bodyPr wrap="none" lIns="0" rIns="0" tIns="0" bIns="0">
            <a:spAutoFit/>
          </a:bodyPr>
          <a:lstStyle/>
          <a:p>
            <a:pPr>
              <a:lnSpc>
                <a:spcPct val="115000"/>
              </a:lnSpc>
              <a:spcBef>
                <a:spcPts val="0"/>
              </a:spcBef>
              <a:spcAft>
                <a:spcPts val="0"/>
              </a:spcAft>
              <a:defRPr sz="2100" b="1">
                <a:solidFill>
                  <a:srgbClr val="007F86"/>
                </a:solidFill>
                <a:latin typeface="DejaVu Sans"/>
              </a:defRPr>
            </a:pPr>
            <a:r>
              <a:t>Integridad +</a:t>
            </a:r>
          </a:p>
          <a:p>
            <a:pPr>
              <a:lnSpc>
                <a:spcPct val="115000"/>
              </a:lnSpc>
              <a:spcBef>
                <a:spcPts val="0"/>
              </a:spcBef>
              <a:spcAft>
                <a:spcPts val="0"/>
              </a:spcAft>
              <a:defRPr sz="2100" b="1">
                <a:solidFill>
                  <a:srgbClr val="007F86"/>
                </a:solidFill>
                <a:latin typeface="DejaVu Sans"/>
              </a:defRPr>
            </a:pPr>
            <a:r>
              <a:t>representación</a:t>
            </a:r>
          </a:p>
        </p:txBody>
      </p:sp>
      <p:cxnSp>
        <p:nvCxnSpPr>
          <p:cNvPr id="68" name="Connector 67"/>
          <p:cNvCxnSpPr/>
          <p:nvPr/>
        </p:nvCxnSpPr>
        <p:spPr>
          <a:xfrm>
            <a:off x="6248400" y="3162300"/>
            <a:ext cx="4953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654800" y="309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654800" y="3162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7200900" y="2387600"/>
            <a:ext cx="6731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264400" y="2552700"/>
            <a:ext cx="546100" cy="9906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302500" y="2948940"/>
            <a:ext cx="469900" cy="59436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7277100" y="3543300"/>
            <a:ext cx="2603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537450" y="3543300"/>
            <a:ext cx="2603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76" name="Rounded Rectangle 75"/>
          <p:cNvSpPr/>
          <p:nvPr/>
        </p:nvSpPr>
        <p:spPr>
          <a:xfrm>
            <a:off x="8610600" y="1917700"/>
            <a:ext cx="27686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75700" y="2057400"/>
            <a:ext cx="24384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Illumina</a:t>
            </a:r>
          </a:p>
        </p:txBody>
      </p:sp>
      <p:sp>
        <p:nvSpPr>
          <p:cNvPr id="78" name="TextBox 77"/>
          <p:cNvSpPr txBox="1"/>
          <p:nvPr/>
        </p:nvSpPr>
        <p:spPr>
          <a:xfrm>
            <a:off x="8775700" y="2476500"/>
            <a:ext cx="24384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Fragmentar de forma</a:t>
            </a:r>
          </a:p>
          <a:p>
            <a:pPr>
              <a:lnSpc>
                <a:spcPct val="115000"/>
              </a:lnSpc>
              <a:spcBef>
                <a:spcPts val="0"/>
              </a:spcBef>
              <a:spcAft>
                <a:spcPts val="0"/>
              </a:spcAft>
              <a:defRPr sz="1600" b="0">
                <a:solidFill>
                  <a:srgbClr val="183443"/>
                </a:solidFill>
                <a:latin typeface="DejaVu Sans"/>
              </a:defRPr>
            </a:pPr>
            <a:r>
              <a:t>controlada</a:t>
            </a:r>
          </a:p>
        </p:txBody>
      </p:sp>
      <p:sp>
        <p:nvSpPr>
          <p:cNvPr id="79" name="Rounded Rectangle 78"/>
          <p:cNvSpPr/>
          <p:nvPr/>
        </p:nvSpPr>
        <p:spPr>
          <a:xfrm>
            <a:off x="8610600" y="3644900"/>
            <a:ext cx="27686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775700" y="3784600"/>
            <a:ext cx="24384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Nanopore</a:t>
            </a:r>
          </a:p>
        </p:txBody>
      </p:sp>
      <p:sp>
        <p:nvSpPr>
          <p:cNvPr id="81" name="TextBox 80"/>
          <p:cNvSpPr txBox="1"/>
          <p:nvPr/>
        </p:nvSpPr>
        <p:spPr>
          <a:xfrm>
            <a:off x="8775700" y="4203700"/>
            <a:ext cx="24384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Preservar longitud útil</a:t>
            </a:r>
          </a:p>
        </p:txBody>
      </p:sp>
      <p:sp>
        <p:nvSpPr>
          <p:cNvPr id="82" name="Rounded Rectangle 8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Medir cantidad, tamaño e inhibición. HMW = ADN de alto peso molecular, no solo mucho ADN.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DISEÑO TÉCNICO</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Bibliotecas: misma muestra, preparaciones</a:t>
            </a:r>
          </a:p>
          <a:p>
            <a:pPr>
              <a:lnSpc>
                <a:spcPct val="115000"/>
              </a:lnSpc>
              <a:spcBef>
                <a:spcPts val="0"/>
              </a:spcBef>
              <a:spcAft>
                <a:spcPts val="0"/>
              </a:spcAft>
              <a:defRPr sz="2900" b="1">
                <a:solidFill>
                  <a:srgbClr val="183443"/>
                </a:solidFill>
                <a:latin typeface="DejaVu Sans"/>
              </a:defRPr>
            </a:pPr>
            <a:r>
              <a:t>distintas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[4–5,15–18]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11</a:t>
            </a:r>
          </a:p>
        </p:txBody>
      </p:sp>
      <p:cxnSp>
        <p:nvCxnSpPr>
          <p:cNvPr id="7" name="Connector 6"/>
          <p:cNvCxnSpPr/>
          <p:nvPr/>
        </p:nvCxnSpPr>
        <p:spPr>
          <a:xfrm>
            <a:off x="939800" y="2781300"/>
            <a:ext cx="2286000" cy="0"/>
          </a:xfrm>
          <a:prstGeom prst="line">
            <a:avLst/>
          </a:prstGeom>
          <a:ln w="889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17900" y="2781300"/>
            <a:ext cx="444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735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8735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9800" y="4368800"/>
            <a:ext cx="2286000" cy="0"/>
          </a:xfrm>
          <a:prstGeom prst="line">
            <a:avLst/>
          </a:prstGeom>
          <a:ln w="889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17900" y="4368800"/>
            <a:ext cx="444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73500" y="4305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873500" y="436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799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8768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737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70600" y="2781300"/>
            <a:ext cx="431800" cy="0"/>
          </a:xfrm>
          <a:prstGeom prst="line">
            <a:avLst/>
          </a:prstGeom>
          <a:ln w="762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279900" y="4368800"/>
            <a:ext cx="2514600" cy="0"/>
          </a:xfrm>
          <a:prstGeom prst="line">
            <a:avLst/>
          </a:prstGeom>
          <a:ln w="76200">
            <a:solidFill>
              <a:srgbClr val="8061AC"/>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794500" y="4216400"/>
            <a:ext cx="304800" cy="3048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7200900" y="2781300"/>
            <a:ext cx="4572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692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5692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200900" y="4368800"/>
            <a:ext cx="4572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69200" y="4305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569200" y="4368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988300" y="2006600"/>
            <a:ext cx="3429000" cy="124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53400" y="2146300"/>
            <a:ext cx="3098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Illumina</a:t>
            </a:r>
          </a:p>
        </p:txBody>
      </p:sp>
      <p:sp>
        <p:nvSpPr>
          <p:cNvPr id="29" name="TextBox 28"/>
          <p:cNvSpPr txBox="1"/>
          <p:nvPr/>
        </p:nvSpPr>
        <p:spPr>
          <a:xfrm>
            <a:off x="8153400" y="2565400"/>
            <a:ext cx="3098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Inserto + adaptadores + UDI</a:t>
            </a:r>
          </a:p>
        </p:txBody>
      </p:sp>
      <p:sp>
        <p:nvSpPr>
          <p:cNvPr id="30" name="Rounded Rectangle 29"/>
          <p:cNvSpPr/>
          <p:nvPr/>
        </p:nvSpPr>
        <p:spPr>
          <a:xfrm>
            <a:off x="7988300" y="3657600"/>
            <a:ext cx="3429000" cy="1244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3400" y="3797300"/>
            <a:ext cx="3098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Nanopore</a:t>
            </a:r>
          </a:p>
        </p:txBody>
      </p:sp>
      <p:sp>
        <p:nvSpPr>
          <p:cNvPr id="32" name="TextBox 31"/>
          <p:cNvSpPr txBox="1"/>
          <p:nvPr/>
        </p:nvSpPr>
        <p:spPr>
          <a:xfrm>
            <a:off x="8153400" y="4216400"/>
            <a:ext cx="30988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ADN largo +</a:t>
            </a:r>
          </a:p>
          <a:p>
            <a:pPr>
              <a:lnSpc>
                <a:spcPct val="115000"/>
              </a:lnSpc>
              <a:spcBef>
                <a:spcPts val="0"/>
              </a:spcBef>
              <a:spcAft>
                <a:spcPts val="0"/>
              </a:spcAft>
              <a:defRPr sz="1600" b="0">
                <a:solidFill>
                  <a:srgbClr val="183443"/>
                </a:solidFill>
                <a:latin typeface="DejaVu Sans"/>
              </a:defRPr>
            </a:pPr>
            <a:r>
              <a:t>adaptador/motor</a:t>
            </a:r>
          </a:p>
        </p:txBody>
      </p:sp>
      <p:sp>
        <p:nvSpPr>
          <p:cNvPr id="33" name="TextBox 32"/>
          <p:cNvSpPr txBox="1"/>
          <p:nvPr/>
        </p:nvSpPr>
        <p:spPr>
          <a:xfrm>
            <a:off x="939800" y="2108200"/>
            <a:ext cx="2413000" cy="372999"/>
          </a:xfrm>
          <a:prstGeom prst="rect">
            <a:avLst/>
          </a:prstGeom>
          <a:noFill/>
        </p:spPr>
        <p:txBody>
          <a:bodyPr wrap="none" lIns="0" rIns="0" tIns="0" bIns="0">
            <a:spAutoFit/>
          </a:bodyPr>
          <a:lstStyle/>
          <a:p>
            <a:pPr>
              <a:lnSpc>
                <a:spcPct val="115000"/>
              </a:lnSpc>
              <a:spcBef>
                <a:spcPts val="0"/>
              </a:spcBef>
              <a:spcAft>
                <a:spcPts val="0"/>
              </a:spcAft>
              <a:defRPr sz="1900" b="1">
                <a:solidFill>
                  <a:srgbClr val="007F86"/>
                </a:solidFill>
                <a:latin typeface="DejaVu Sans"/>
              </a:defRPr>
            </a:pPr>
            <a:r>
              <a:t>ADN extraído</a:t>
            </a:r>
          </a:p>
        </p:txBody>
      </p:sp>
      <p:sp>
        <p:nvSpPr>
          <p:cNvPr id="34" name="TextBox 33"/>
          <p:cNvSpPr txBox="1"/>
          <p:nvPr/>
        </p:nvSpPr>
        <p:spPr>
          <a:xfrm>
            <a:off x="4165600" y="3289300"/>
            <a:ext cx="3060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Fragmentar o preservar</a:t>
            </a:r>
          </a:p>
        </p:txBody>
      </p:sp>
      <p:sp>
        <p:nvSpPr>
          <p:cNvPr id="35" name="Rounded Rectangle 3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Decidir PCR o ADN nativo antes de empezar: cambia sesgos, entradas y modificaciones</a:t>
            </a:r>
          </a:p>
          <a:p>
            <a:pPr>
              <a:lnSpc>
                <a:spcPct val="115000"/>
              </a:lnSpc>
              <a:spcBef>
                <a:spcPts val="0"/>
              </a:spcBef>
              <a:spcAft>
                <a:spcPts val="0"/>
              </a:spcAft>
              <a:defRPr sz="1500" b="1">
                <a:solidFill>
                  <a:srgbClr val="007F86"/>
                </a:solidFill>
                <a:latin typeface="DejaVu Sans"/>
              </a:defRPr>
            </a:pPr>
            <a:r>
              <a:t>observables.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PLANIFICAR BASES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Cálculo 1: pares de lecturas no son lecturas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[15] · Ejemplo didáctico PE150.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12</a:t>
            </a:r>
          </a:p>
        </p:txBody>
      </p:sp>
      <p:sp>
        <p:nvSpPr>
          <p:cNvPr id="7" name="Rounded Rectangle 6"/>
          <p:cNvSpPr/>
          <p:nvPr/>
        </p:nvSpPr>
        <p:spPr>
          <a:xfrm>
            <a:off x="749300" y="1917700"/>
            <a:ext cx="4762500" cy="1257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57400"/>
            <a:ext cx="4432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10 millones de pares</a:t>
            </a:r>
          </a:p>
        </p:txBody>
      </p:sp>
      <p:sp>
        <p:nvSpPr>
          <p:cNvPr id="9" name="TextBox 8"/>
          <p:cNvSpPr txBox="1"/>
          <p:nvPr/>
        </p:nvSpPr>
        <p:spPr>
          <a:xfrm>
            <a:off x="914400" y="2476500"/>
            <a:ext cx="4432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R1 + R2 = 2 lecturas por fragmento</a:t>
            </a:r>
          </a:p>
        </p:txBody>
      </p:sp>
      <p:sp>
        <p:nvSpPr>
          <p:cNvPr id="10" name="Rounded Rectangle 9"/>
          <p:cNvSpPr/>
          <p:nvPr/>
        </p:nvSpPr>
        <p:spPr>
          <a:xfrm>
            <a:off x="6223000" y="1917700"/>
            <a:ext cx="5041900" cy="1257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8100" y="2057400"/>
            <a:ext cx="4711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2 × 150 bases por par</a:t>
            </a:r>
          </a:p>
        </p:txBody>
      </p:sp>
      <p:sp>
        <p:nvSpPr>
          <p:cNvPr id="12" name="TextBox 11"/>
          <p:cNvSpPr txBox="1"/>
          <p:nvPr/>
        </p:nvSpPr>
        <p:spPr>
          <a:xfrm>
            <a:off x="6388100" y="2476500"/>
            <a:ext cx="47117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300 bases biológicas nominales</a:t>
            </a:r>
          </a:p>
        </p:txBody>
      </p:sp>
      <p:cxnSp>
        <p:nvCxnSpPr>
          <p:cNvPr id="13" name="Connector 12"/>
          <p:cNvCxnSpPr/>
          <p:nvPr/>
        </p:nvCxnSpPr>
        <p:spPr>
          <a:xfrm>
            <a:off x="1003300" y="3568700"/>
            <a:ext cx="125349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19200" y="3746500"/>
            <a:ext cx="1611629"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35100" y="3924300"/>
            <a:ext cx="196977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3300" y="4102100"/>
            <a:ext cx="125349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219200" y="4279900"/>
            <a:ext cx="1611629"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21300" y="4000500"/>
            <a:ext cx="5969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29300" y="39370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829300" y="40005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73800" y="3543300"/>
            <a:ext cx="49276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10⁷ × 300 = 3 × 10⁹ bases</a:t>
            </a:r>
          </a:p>
        </p:txBody>
      </p:sp>
      <p:sp>
        <p:nvSpPr>
          <p:cNvPr id="22" name="TextBox 21"/>
          <p:cNvSpPr txBox="1"/>
          <p:nvPr/>
        </p:nvSpPr>
        <p:spPr>
          <a:xfrm>
            <a:off x="6273800" y="4292600"/>
            <a:ext cx="49276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3 Gb nominales por muestra</a:t>
            </a:r>
          </a:p>
        </p:txBody>
      </p:sp>
      <p:sp>
        <p:nvSpPr>
          <p:cNvPr id="23" name="Rounded Rectangle 22"/>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Si pasa el 80 % de las bases: 3 × 0,80 = 2,4 Gb útiles. Es un supuesto del ejemplo.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PLANIFICAR METAGENÓMICA Y MAGS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Cálculo 2: la cobertura pertenece a cada genoma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[7–10] · Modelo idealizado para diseño.</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13</a:t>
            </a:r>
          </a:p>
        </p:txBody>
      </p:sp>
      <p:sp>
        <p:nvSpPr>
          <p:cNvPr id="7" name="TextBox 6"/>
          <p:cNvSpPr txBox="1"/>
          <p:nvPr/>
        </p:nvSpPr>
        <p:spPr>
          <a:xfrm>
            <a:off x="774700" y="1816100"/>
            <a:ext cx="106045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007F86"/>
                </a:solidFill>
                <a:latin typeface="DejaVu Sans"/>
              </a:defRPr>
            </a:pPr>
            <a:r>
              <a:t>Cᵢ ≈ bases útiles × fracción de la especie / tamaño de genoma</a:t>
            </a:r>
          </a:p>
        </p:txBody>
      </p:sp>
      <p:sp>
        <p:nvSpPr>
          <p:cNvPr id="8" name="Rounded Rectangle 7"/>
          <p:cNvSpPr/>
          <p:nvPr/>
        </p:nvSpPr>
        <p:spPr>
          <a:xfrm>
            <a:off x="774700" y="26035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9800" y="27432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Metagenoma</a:t>
            </a:r>
          </a:p>
        </p:txBody>
      </p:sp>
      <p:sp>
        <p:nvSpPr>
          <p:cNvPr id="10" name="TextBox 9"/>
          <p:cNvSpPr txBox="1"/>
          <p:nvPr/>
        </p:nvSpPr>
        <p:spPr>
          <a:xfrm>
            <a:off x="939800" y="31623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 Gb</a:t>
            </a:r>
          </a:p>
        </p:txBody>
      </p:sp>
      <p:sp>
        <p:nvSpPr>
          <p:cNvPr id="11" name="Rounded Rectangle 10"/>
          <p:cNvSpPr/>
          <p:nvPr/>
        </p:nvSpPr>
        <p:spPr>
          <a:xfrm>
            <a:off x="4457700" y="26035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2800" y="27432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Especie rara</a:t>
            </a:r>
          </a:p>
        </p:txBody>
      </p:sp>
      <p:sp>
        <p:nvSpPr>
          <p:cNvPr id="13" name="TextBox 12"/>
          <p:cNvSpPr txBox="1"/>
          <p:nvPr/>
        </p:nvSpPr>
        <p:spPr>
          <a:xfrm>
            <a:off x="4622800" y="31623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0,1 % = 0,001</a:t>
            </a:r>
          </a:p>
        </p:txBody>
      </p:sp>
      <p:sp>
        <p:nvSpPr>
          <p:cNvPr id="14" name="Rounded Rectangle 13"/>
          <p:cNvSpPr/>
          <p:nvPr/>
        </p:nvSpPr>
        <p:spPr>
          <a:xfrm>
            <a:off x="8140700" y="26035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7432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Su genoma</a:t>
            </a:r>
          </a:p>
        </p:txBody>
      </p:sp>
      <p:sp>
        <p:nvSpPr>
          <p:cNvPr id="16" name="TextBox 15"/>
          <p:cNvSpPr txBox="1"/>
          <p:nvPr/>
        </p:nvSpPr>
        <p:spPr>
          <a:xfrm>
            <a:off x="8305800" y="31623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4 Mb</a:t>
            </a:r>
          </a:p>
        </p:txBody>
      </p:sp>
      <p:sp>
        <p:nvSpPr>
          <p:cNvPr id="17" name="TextBox 16"/>
          <p:cNvSpPr txBox="1"/>
          <p:nvPr/>
        </p:nvSpPr>
        <p:spPr>
          <a:xfrm>
            <a:off x="850900" y="4356100"/>
            <a:ext cx="10452100" cy="497967"/>
          </a:xfrm>
          <a:prstGeom prst="rect">
            <a:avLst/>
          </a:prstGeom>
          <a:noFill/>
        </p:spPr>
        <p:txBody>
          <a:bodyPr wrap="none" lIns="0" rIns="0" tIns="0" bIns="0">
            <a:spAutoFit/>
          </a:bodyPr>
          <a:lstStyle/>
          <a:p>
            <a:pPr>
              <a:lnSpc>
                <a:spcPct val="115000"/>
              </a:lnSpc>
              <a:spcBef>
                <a:spcPts val="0"/>
              </a:spcBef>
              <a:spcAft>
                <a:spcPts val="0"/>
              </a:spcAft>
              <a:defRPr sz="2700" b="1">
                <a:solidFill>
                  <a:srgbClr val="4276C8"/>
                </a:solidFill>
                <a:latin typeface="DejaVu Sans"/>
              </a:defRPr>
            </a:pPr>
            <a:r>
              <a:t>C ≈ (30 × 10⁹ × 0,001) / (4 × 10⁶) = 7,5×</a:t>
            </a:r>
          </a:p>
        </p:txBody>
      </p:sp>
      <p:sp>
        <p:nvSpPr>
          <p:cNvPr id="18" name="Rounded Rectangle 17"/>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Para llegar a 30× ideales a esa abundancia: ≈120 Gb útiles. El objetivo se valida en un piloto.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CALIDAD DE DATOS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Tres métricas que contestan preguntas distintas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[4,10–12,17]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14</a:t>
            </a:r>
          </a:p>
        </p:txBody>
      </p:sp>
      <p:sp>
        <p:nvSpPr>
          <p:cNvPr id="7" name="Rounded Rectangle 6"/>
          <p:cNvSpPr/>
          <p:nvPr/>
        </p:nvSpPr>
        <p:spPr>
          <a:xfrm>
            <a:off x="609600" y="1905000"/>
            <a:ext cx="3378200" cy="3505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06900" y="1905000"/>
            <a:ext cx="3378200" cy="3505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04200" y="1905000"/>
            <a:ext cx="3378200" cy="3505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108200"/>
            <a:ext cx="29718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Q-score</a:t>
            </a:r>
          </a:p>
        </p:txBody>
      </p:sp>
      <p:sp>
        <p:nvSpPr>
          <p:cNvPr id="11" name="TextBox 10"/>
          <p:cNvSpPr txBox="1"/>
          <p:nvPr/>
        </p:nvSpPr>
        <p:spPr>
          <a:xfrm>
            <a:off x="825500" y="2806700"/>
            <a:ext cx="2971800" cy="732282"/>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Q30 → error nominal</a:t>
            </a:r>
          </a:p>
          <a:p>
            <a:pPr>
              <a:lnSpc>
                <a:spcPct val="115000"/>
              </a:lnSpc>
              <a:spcBef>
                <a:spcPts val="0"/>
              </a:spcBef>
              <a:spcAft>
                <a:spcPts val="0"/>
              </a:spcAft>
              <a:defRPr sz="2100" b="0">
                <a:solidFill>
                  <a:srgbClr val="183443"/>
                </a:solidFill>
                <a:latin typeface="DejaVu Sans"/>
              </a:defRPr>
            </a:pPr>
            <a:r>
              <a:t>0,1 % por base</a:t>
            </a:r>
          </a:p>
        </p:txBody>
      </p:sp>
      <p:sp>
        <p:nvSpPr>
          <p:cNvPr id="12" name="TextBox 11"/>
          <p:cNvSpPr txBox="1"/>
          <p:nvPr/>
        </p:nvSpPr>
        <p:spPr>
          <a:xfrm>
            <a:off x="825500" y="4140200"/>
            <a:ext cx="2971800" cy="607314"/>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Comparar calidad bruta</a:t>
            </a:r>
          </a:p>
          <a:p>
            <a:pPr>
              <a:lnSpc>
                <a:spcPct val="115000"/>
              </a:lnSpc>
              <a:spcBef>
                <a:spcPts val="0"/>
              </a:spcBef>
              <a:spcAft>
                <a:spcPts val="0"/>
              </a:spcAft>
              <a:defRPr sz="1700" b="0">
                <a:solidFill>
                  <a:srgbClr val="183443"/>
                </a:solidFill>
                <a:latin typeface="DejaVu Sans"/>
              </a:defRPr>
            </a:pPr>
            <a:r>
              <a:t>y consenso por separado.</a:t>
            </a:r>
          </a:p>
        </p:txBody>
      </p:sp>
      <p:sp>
        <p:nvSpPr>
          <p:cNvPr id="13" name="TextBox 12"/>
          <p:cNvSpPr txBox="1"/>
          <p:nvPr/>
        </p:nvSpPr>
        <p:spPr>
          <a:xfrm>
            <a:off x="4635500" y="2108200"/>
            <a:ext cx="29591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4276C8"/>
                </a:solidFill>
                <a:latin typeface="DejaVu Sans"/>
              </a:defRPr>
            </a:pPr>
            <a:r>
              <a:t>N50</a:t>
            </a:r>
          </a:p>
        </p:txBody>
      </p:sp>
      <p:cxnSp>
        <p:nvCxnSpPr>
          <p:cNvPr id="14" name="Connector 13"/>
          <p:cNvCxnSpPr/>
          <p:nvPr/>
        </p:nvCxnSpPr>
        <p:spPr>
          <a:xfrm>
            <a:off x="4648200" y="2997200"/>
            <a:ext cx="2197100" cy="0"/>
          </a:xfrm>
          <a:prstGeom prst="line">
            <a:avLst/>
          </a:prstGeom>
          <a:ln w="1143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648200" y="3378200"/>
            <a:ext cx="1752600" cy="0"/>
          </a:xfrm>
          <a:prstGeom prst="line">
            <a:avLst/>
          </a:prstGeom>
          <a:ln w="1143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48200" y="3759200"/>
            <a:ext cx="444500" cy="0"/>
          </a:xfrm>
          <a:prstGeom prst="line">
            <a:avLst/>
          </a:prstGeom>
          <a:ln w="114300">
            <a:solidFill>
              <a:srgbClr val="4276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35500" y="4445000"/>
            <a:ext cx="2971800" cy="638556"/>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Continuidad, no</a:t>
            </a:r>
          </a:p>
          <a:p>
            <a:pPr>
              <a:lnSpc>
                <a:spcPct val="115000"/>
              </a:lnSpc>
              <a:spcBef>
                <a:spcPts val="0"/>
              </a:spcBef>
              <a:spcAft>
                <a:spcPts val="0"/>
              </a:spcAft>
              <a:defRPr sz="1800" b="0">
                <a:solidFill>
                  <a:srgbClr val="183443"/>
                </a:solidFill>
                <a:latin typeface="DejaVu Sans"/>
              </a:defRPr>
            </a:pPr>
            <a:r>
              <a:t>exactitud.</a:t>
            </a:r>
          </a:p>
        </p:txBody>
      </p:sp>
      <p:sp>
        <p:nvSpPr>
          <p:cNvPr id="18" name="TextBox 17"/>
          <p:cNvSpPr txBox="1"/>
          <p:nvPr/>
        </p:nvSpPr>
        <p:spPr>
          <a:xfrm>
            <a:off x="8420100" y="2108200"/>
            <a:ext cx="29718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8061AC"/>
                </a:solidFill>
                <a:latin typeface="DejaVu Sans"/>
              </a:defRPr>
            </a:pPr>
            <a:r>
              <a:t>Cobertura</a:t>
            </a:r>
          </a:p>
        </p:txBody>
      </p:sp>
      <p:cxnSp>
        <p:nvCxnSpPr>
          <p:cNvPr id="19" name="Connector 18"/>
          <p:cNvCxnSpPr/>
          <p:nvPr/>
        </p:nvCxnSpPr>
        <p:spPr>
          <a:xfrm>
            <a:off x="8585200" y="2959100"/>
            <a:ext cx="12827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928100" y="3073400"/>
            <a:ext cx="11684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71000" y="3187700"/>
            <a:ext cx="10541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13900" y="3302000"/>
            <a:ext cx="9398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956800" y="3416300"/>
            <a:ext cx="825500" cy="0"/>
          </a:xfrm>
          <a:prstGeom prst="line">
            <a:avLst/>
          </a:prstGeom>
          <a:ln w="508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85200" y="3530600"/>
            <a:ext cx="2603500" cy="0"/>
          </a:xfrm>
          <a:prstGeom prst="line">
            <a:avLst/>
          </a:prstGeom>
          <a:ln w="76200">
            <a:solidFill>
              <a:srgbClr val="DFEBE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420100" y="4140200"/>
            <a:ext cx="2971800" cy="607314"/>
          </a:xfrm>
          <a:prstGeom prst="rect">
            <a:avLst/>
          </a:prstGeom>
          <a:noFill/>
        </p:spPr>
        <p:txBody>
          <a:bodyPr wrap="none" lIns="0" rIns="0" tIns="0" bIns="0">
            <a:spAutoFit/>
          </a:bodyPr>
          <a:lstStyle/>
          <a:p>
            <a:pPr>
              <a:lnSpc>
                <a:spcPct val="115000"/>
              </a:lnSpc>
              <a:spcBef>
                <a:spcPts val="0"/>
              </a:spcBef>
              <a:spcAft>
                <a:spcPts val="0"/>
              </a:spcAft>
              <a:defRPr sz="1700" b="0">
                <a:solidFill>
                  <a:srgbClr val="183443"/>
                </a:solidFill>
                <a:latin typeface="DejaVu Sans"/>
              </a:defRPr>
            </a:pPr>
            <a:r>
              <a:t>Profundidad + amplitud:</a:t>
            </a:r>
          </a:p>
          <a:p>
            <a:pPr>
              <a:lnSpc>
                <a:spcPct val="115000"/>
              </a:lnSpc>
              <a:spcBef>
                <a:spcPts val="0"/>
              </a:spcBef>
              <a:spcAft>
                <a:spcPts val="0"/>
              </a:spcAft>
              <a:defRPr sz="1700" b="0">
                <a:solidFill>
                  <a:srgbClr val="183443"/>
                </a:solidFill>
                <a:latin typeface="DejaVu Sans"/>
              </a:defRPr>
            </a:pPr>
            <a:r>
              <a:t>¿cuánto y qué fracción?</a:t>
            </a:r>
          </a:p>
        </p:txBody>
      </p:sp>
      <p:sp>
        <p:nvSpPr>
          <p:cNvPr id="26" name="Rounded Rectangle 25"/>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Un ensamblaje largo puede estar equivocado; una buena media puede ocultar regiones sin</a:t>
            </a:r>
          </a:p>
          <a:p>
            <a:pPr>
              <a:lnSpc>
                <a:spcPct val="115000"/>
              </a:lnSpc>
              <a:spcBef>
                <a:spcPts val="0"/>
              </a:spcBef>
              <a:spcAft>
                <a:spcPts val="0"/>
              </a:spcAft>
              <a:defRPr sz="1500" b="1">
                <a:solidFill>
                  <a:srgbClr val="007F86"/>
                </a:solidFill>
                <a:latin typeface="DejaVu Sans"/>
              </a:defRPr>
            </a:pPr>
            <a:r>
              <a:t>cubrir.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DEL PILOTO A UNA SOP REPRODUCIBLE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Estandarizar es controlar el proceso completo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[11,14–17]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15</a:t>
            </a:r>
          </a:p>
        </p:txBody>
      </p:sp>
      <p:sp>
        <p:nvSpPr>
          <p:cNvPr id="7" name="Rounded Rectangle 6"/>
          <p:cNvSpPr/>
          <p:nvPr/>
        </p:nvSpPr>
        <p:spPr>
          <a:xfrm>
            <a:off x="6096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2000" y="2247900"/>
            <a:ext cx="254000" cy="254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Piloto</a:t>
            </a:r>
          </a:p>
          <a:p>
            <a:pPr>
              <a:lnSpc>
                <a:spcPct val="115000"/>
              </a:lnSpc>
              <a:spcBef>
                <a:spcPts val="0"/>
              </a:spcBef>
              <a:spcAft>
                <a:spcPts val="0"/>
              </a:spcAft>
              <a:defRPr sz="1700" b="1">
                <a:solidFill>
                  <a:srgbClr val="183443"/>
                </a:solidFill>
                <a:latin typeface="DejaVu Sans"/>
              </a:defRPr>
            </a:pPr>
            <a:r>
              <a:t>y matriz</a:t>
            </a:r>
          </a:p>
        </p:txBody>
      </p:sp>
      <p:cxnSp>
        <p:nvCxnSpPr>
          <p:cNvPr id="10" name="Connector 9"/>
          <p:cNvCxnSpPr/>
          <p:nvPr/>
        </p:nvCxnSpPr>
        <p:spPr>
          <a:xfrm>
            <a:off x="3086100" y="27813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147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544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6800" y="2247900"/>
            <a:ext cx="254000" cy="254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22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Controles</a:t>
            </a:r>
          </a:p>
          <a:p>
            <a:pPr>
              <a:lnSpc>
                <a:spcPct val="115000"/>
              </a:lnSpc>
              <a:spcBef>
                <a:spcPts val="0"/>
              </a:spcBef>
              <a:spcAft>
                <a:spcPts val="0"/>
              </a:spcAft>
              <a:defRPr sz="1700" b="1">
                <a:solidFill>
                  <a:srgbClr val="183443"/>
                </a:solidFill>
                <a:latin typeface="DejaVu Sans"/>
              </a:defRPr>
            </a:pPr>
            <a:r>
              <a:t>y criterios</a:t>
            </a:r>
          </a:p>
        </p:txBody>
      </p:sp>
      <p:cxnSp>
        <p:nvCxnSpPr>
          <p:cNvPr id="16" name="Connector 15"/>
          <p:cNvCxnSpPr/>
          <p:nvPr/>
        </p:nvCxnSpPr>
        <p:spPr>
          <a:xfrm>
            <a:off x="5930900" y="27813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595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595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92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1600" y="2247900"/>
            <a:ext cx="254000" cy="254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SOP</a:t>
            </a:r>
          </a:p>
          <a:p>
            <a:pPr>
              <a:lnSpc>
                <a:spcPct val="115000"/>
              </a:lnSpc>
              <a:spcBef>
                <a:spcPts val="0"/>
              </a:spcBef>
              <a:spcAft>
                <a:spcPts val="0"/>
              </a:spcAft>
              <a:defRPr sz="1700" b="1">
                <a:solidFill>
                  <a:srgbClr val="183443"/>
                </a:solidFill>
                <a:latin typeface="DejaVu Sans"/>
              </a:defRPr>
            </a:pPr>
            <a:r>
              <a:t>versionada</a:t>
            </a:r>
          </a:p>
        </p:txBody>
      </p:sp>
      <p:cxnSp>
        <p:nvCxnSpPr>
          <p:cNvPr id="22" name="Connector 21"/>
          <p:cNvCxnSpPr/>
          <p:nvPr/>
        </p:nvCxnSpPr>
        <p:spPr>
          <a:xfrm>
            <a:off x="8775700" y="2781300"/>
            <a:ext cx="3175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04300" y="27178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04300" y="27813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0" y="2082800"/>
            <a:ext cx="24384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6400" y="2247900"/>
            <a:ext cx="254000" cy="254000"/>
          </a:xfrm>
          <a:prstGeom prst="ellipse">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1800" y="2667000"/>
            <a:ext cx="2082800" cy="607314"/>
          </a:xfrm>
          <a:prstGeom prst="rect">
            <a:avLst/>
          </a:prstGeom>
          <a:noFill/>
        </p:spPr>
        <p:txBody>
          <a:bodyPr wrap="none" lIns="0" rIns="0" tIns="0" bIns="0">
            <a:spAutoFit/>
          </a:bodyPr>
          <a:lstStyle/>
          <a:p>
            <a:pPr>
              <a:lnSpc>
                <a:spcPct val="115000"/>
              </a:lnSpc>
              <a:spcBef>
                <a:spcPts val="0"/>
              </a:spcBef>
              <a:spcAft>
                <a:spcPts val="0"/>
              </a:spcAft>
              <a:defRPr sz="1700" b="1">
                <a:solidFill>
                  <a:srgbClr val="183443"/>
                </a:solidFill>
                <a:latin typeface="DejaVu Sans"/>
              </a:defRPr>
            </a:pPr>
            <a:r>
              <a:t>Verificar</a:t>
            </a:r>
          </a:p>
          <a:p>
            <a:pPr>
              <a:lnSpc>
                <a:spcPct val="115000"/>
              </a:lnSpc>
              <a:spcBef>
                <a:spcPts val="0"/>
              </a:spcBef>
              <a:spcAft>
                <a:spcPts val="0"/>
              </a:spcAft>
              <a:defRPr sz="1700" b="1">
                <a:solidFill>
                  <a:srgbClr val="183443"/>
                </a:solidFill>
                <a:latin typeface="DejaVu Sans"/>
              </a:defRPr>
            </a:pPr>
            <a:r>
              <a:t>cada lote</a:t>
            </a:r>
          </a:p>
        </p:txBody>
      </p:sp>
      <p:sp>
        <p:nvSpPr>
          <p:cNvPr id="28" name="Rounded Rectangle 27"/>
          <p:cNvSpPr/>
          <p:nvPr/>
        </p:nvSpPr>
        <p:spPr>
          <a:xfrm>
            <a:off x="660400" y="4165600"/>
            <a:ext cx="3340100" cy="1155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500" y="4305300"/>
            <a:ext cx="3009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Blanco</a:t>
            </a:r>
          </a:p>
        </p:txBody>
      </p:sp>
      <p:sp>
        <p:nvSpPr>
          <p:cNvPr id="30" name="TextBox 29"/>
          <p:cNvSpPr txBox="1"/>
          <p:nvPr/>
        </p:nvSpPr>
        <p:spPr>
          <a:xfrm>
            <a:off x="825500" y="4724400"/>
            <a:ext cx="3009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¿Contaminación?</a:t>
            </a:r>
          </a:p>
        </p:txBody>
      </p:sp>
      <p:sp>
        <p:nvSpPr>
          <p:cNvPr id="31" name="Rounded Rectangle 30"/>
          <p:cNvSpPr/>
          <p:nvPr/>
        </p:nvSpPr>
        <p:spPr>
          <a:xfrm>
            <a:off x="4419600" y="4165600"/>
            <a:ext cx="3340100" cy="1155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84700" y="4305300"/>
            <a:ext cx="3009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Mock conocido</a:t>
            </a:r>
          </a:p>
        </p:txBody>
      </p:sp>
      <p:sp>
        <p:nvSpPr>
          <p:cNvPr id="33" name="TextBox 32"/>
          <p:cNvSpPr txBox="1"/>
          <p:nvPr/>
        </p:nvSpPr>
        <p:spPr>
          <a:xfrm>
            <a:off x="4584700" y="4724400"/>
            <a:ext cx="3009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¿Sesgo y recuperación?</a:t>
            </a:r>
          </a:p>
        </p:txBody>
      </p:sp>
      <p:sp>
        <p:nvSpPr>
          <p:cNvPr id="34" name="Rounded Rectangle 33"/>
          <p:cNvSpPr/>
          <p:nvPr/>
        </p:nvSpPr>
        <p:spPr>
          <a:xfrm>
            <a:off x="8178800" y="4165600"/>
            <a:ext cx="3340100" cy="1155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43900" y="4305300"/>
            <a:ext cx="3009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Réplica técnica</a:t>
            </a:r>
          </a:p>
        </p:txBody>
      </p:sp>
      <p:sp>
        <p:nvSpPr>
          <p:cNvPr id="36" name="TextBox 35"/>
          <p:cNvSpPr txBox="1"/>
          <p:nvPr/>
        </p:nvSpPr>
        <p:spPr>
          <a:xfrm>
            <a:off x="8343900" y="4724400"/>
            <a:ext cx="3009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¿Se repite el resultado?</a:t>
            </a:r>
          </a:p>
        </p:txBody>
      </p:sp>
      <p:sp>
        <p:nvSpPr>
          <p:cNvPr id="37" name="Rounded Rectangle 36"/>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Registrar kit/lote, química, modelo de basecalling, software, bases de datos y parámetros.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APLICABILIDAD EN COMUNIDADES MICROBIANAS</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Un marcador y un metagenoma no entregan lo</a:t>
            </a:r>
          </a:p>
          <a:p>
            <a:pPr>
              <a:lnSpc>
                <a:spcPct val="115000"/>
              </a:lnSpc>
              <a:spcBef>
                <a:spcPts val="0"/>
              </a:spcBef>
              <a:spcAft>
                <a:spcPts val="0"/>
              </a:spcAft>
              <a:defRPr sz="2900" b="1">
                <a:solidFill>
                  <a:srgbClr val="183443"/>
                </a:solidFill>
                <a:latin typeface="DejaVu Sans"/>
              </a:defRPr>
            </a:pPr>
            <a:r>
              <a:t>mismo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[2,7–10]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16</a:t>
            </a:r>
          </a:p>
        </p:txBody>
      </p:sp>
      <p:sp>
        <p:nvSpPr>
          <p:cNvPr id="7" name="Rounded Rectangle 6"/>
          <p:cNvSpPr/>
          <p:nvPr/>
        </p:nvSpPr>
        <p:spPr>
          <a:xfrm>
            <a:off x="635000" y="1841500"/>
            <a:ext cx="5181600" cy="3543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1841500"/>
            <a:ext cx="5181600" cy="3543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 y="2070100"/>
            <a:ext cx="46863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4276C8"/>
                </a:solidFill>
                <a:latin typeface="DejaVu Sans"/>
              </a:defRPr>
            </a:pPr>
            <a:r>
              <a:t>Amplicones 16S / ITS</a:t>
            </a:r>
          </a:p>
        </p:txBody>
      </p:sp>
      <p:cxnSp>
        <p:nvCxnSpPr>
          <p:cNvPr id="10" name="Connector 9"/>
          <p:cNvCxnSpPr/>
          <p:nvPr/>
        </p:nvCxnSpPr>
        <p:spPr>
          <a:xfrm>
            <a:off x="1028700" y="2984500"/>
            <a:ext cx="3937000" cy="0"/>
          </a:xfrm>
          <a:prstGeom prst="line">
            <a:avLst/>
          </a:prstGeom>
          <a:ln w="508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8700" y="3175000"/>
            <a:ext cx="3937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76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827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478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6129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780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9431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082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2733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384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6035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686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9337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988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639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4290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941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592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9243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0894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545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196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5847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49800" y="2984500"/>
            <a:ext cx="0" cy="190500"/>
          </a:xfrm>
          <a:prstGeom prst="line">
            <a:avLst/>
          </a:prstGeom>
          <a:ln w="25400">
            <a:solidFill>
              <a:srgbClr val="DFE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63800" y="2984500"/>
            <a:ext cx="749300" cy="0"/>
          </a:xfrm>
          <a:prstGeom prst="line">
            <a:avLst/>
          </a:prstGeom>
          <a:ln w="127000">
            <a:solidFill>
              <a:srgbClr val="DA765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76300" y="3810000"/>
            <a:ext cx="4686300" cy="701040"/>
          </a:xfrm>
          <a:prstGeom prst="rect">
            <a:avLst/>
          </a:prstGeom>
          <a:noFill/>
        </p:spPr>
        <p:txBody>
          <a:bodyPr wrap="none" lIns="0" rIns="0" tIns="0" bIns="0">
            <a:spAutoFit/>
          </a:bodyPr>
          <a:lstStyle/>
          <a:p>
            <a:pPr>
              <a:lnSpc>
                <a:spcPct val="115000"/>
              </a:lnSpc>
              <a:spcBef>
                <a:spcPts val="0"/>
              </a:spcBef>
              <a:spcAft>
                <a:spcPts val="0"/>
              </a:spcAft>
              <a:defRPr sz="2000" b="0">
                <a:solidFill>
                  <a:srgbClr val="183443"/>
                </a:solidFill>
                <a:latin typeface="DejaVu Sans"/>
              </a:defRPr>
            </a:pPr>
            <a:r>
              <a:t>Una región elegida por primers.</a:t>
            </a:r>
          </a:p>
          <a:p>
            <a:pPr>
              <a:lnSpc>
                <a:spcPct val="115000"/>
              </a:lnSpc>
              <a:spcBef>
                <a:spcPts val="0"/>
              </a:spcBef>
              <a:spcAft>
                <a:spcPts val="0"/>
              </a:spcAft>
              <a:defRPr sz="2000" b="0">
                <a:solidFill>
                  <a:srgbClr val="183443"/>
                </a:solidFill>
                <a:latin typeface="DejaVu Sans"/>
              </a:defRPr>
            </a:pPr>
            <a:r>
              <a:t>Perfil taxonómico del marcador.</a:t>
            </a:r>
          </a:p>
        </p:txBody>
      </p:sp>
      <p:sp>
        <p:nvSpPr>
          <p:cNvPr id="37" name="TextBox 36"/>
          <p:cNvSpPr txBox="1"/>
          <p:nvPr/>
        </p:nvSpPr>
        <p:spPr>
          <a:xfrm>
            <a:off x="6464300" y="2070100"/>
            <a:ext cx="46863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Shotgun</a:t>
            </a:r>
          </a:p>
        </p:txBody>
      </p:sp>
      <p:cxnSp>
        <p:nvCxnSpPr>
          <p:cNvPr id="38" name="Connector 37"/>
          <p:cNvCxnSpPr/>
          <p:nvPr/>
        </p:nvCxnSpPr>
        <p:spPr>
          <a:xfrm>
            <a:off x="6642100" y="28575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858000" y="30353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73900" y="32131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642100" y="3390900"/>
            <a:ext cx="1003300" cy="0"/>
          </a:xfrm>
          <a:prstGeom prst="line">
            <a:avLst/>
          </a:prstGeom>
          <a:ln w="635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48600" y="28575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064500" y="30353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280400" y="32131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848600" y="3390900"/>
            <a:ext cx="1003300" cy="0"/>
          </a:xfrm>
          <a:prstGeom prst="line">
            <a:avLst/>
          </a:prstGeom>
          <a:ln w="635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055100" y="28575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71000" y="30353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86900" y="32131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055100" y="3390900"/>
            <a:ext cx="1003300" cy="0"/>
          </a:xfrm>
          <a:prstGeom prst="line">
            <a:avLst/>
          </a:prstGeom>
          <a:ln w="63500">
            <a:solidFill>
              <a:srgbClr val="8061AC"/>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64300" y="4051300"/>
            <a:ext cx="4686300" cy="701040"/>
          </a:xfrm>
          <a:prstGeom prst="rect">
            <a:avLst/>
          </a:prstGeom>
          <a:noFill/>
        </p:spPr>
        <p:txBody>
          <a:bodyPr wrap="none" lIns="0" rIns="0" tIns="0" bIns="0">
            <a:spAutoFit/>
          </a:bodyPr>
          <a:lstStyle/>
          <a:p>
            <a:pPr>
              <a:lnSpc>
                <a:spcPct val="115000"/>
              </a:lnSpc>
              <a:spcBef>
                <a:spcPts val="0"/>
              </a:spcBef>
              <a:spcAft>
                <a:spcPts val="0"/>
              </a:spcAft>
              <a:defRPr sz="2000" b="0">
                <a:solidFill>
                  <a:srgbClr val="183443"/>
                </a:solidFill>
                <a:latin typeface="DejaVu Sans"/>
              </a:defRPr>
            </a:pPr>
            <a:r>
              <a:t>ADN de la comunidad.</a:t>
            </a:r>
          </a:p>
          <a:p>
            <a:pPr>
              <a:lnSpc>
                <a:spcPct val="115000"/>
              </a:lnSpc>
              <a:spcBef>
                <a:spcPts val="0"/>
              </a:spcBef>
              <a:spcAft>
                <a:spcPts val="0"/>
              </a:spcAft>
              <a:defRPr sz="2000" b="0">
                <a:solidFill>
                  <a:srgbClr val="183443"/>
                </a:solidFill>
                <a:latin typeface="DejaVu Sans"/>
              </a:defRPr>
            </a:pPr>
            <a:r>
              <a:t>Taxones, genes y posibles MAGs.</a:t>
            </a:r>
          </a:p>
        </p:txBody>
      </p:sp>
      <p:sp>
        <p:nvSpPr>
          <p:cNvPr id="51" name="Rounded Rectangle 50"/>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Secuenciar 16S completo con Nanopore sigue siendo un estudio de marcador; no produce MAGs</a:t>
            </a:r>
          </a:p>
          <a:p>
            <a:pPr>
              <a:lnSpc>
                <a:spcPct val="115000"/>
              </a:lnSpc>
              <a:spcBef>
                <a:spcPts val="0"/>
              </a:spcBef>
              <a:spcAft>
                <a:spcPts val="0"/>
              </a:spcAft>
              <a:defRPr sz="1500" b="1">
                <a:solidFill>
                  <a:srgbClr val="007F86"/>
                </a:solidFill>
                <a:latin typeface="DejaVu Sans"/>
              </a:defRPr>
            </a:pPr>
            <a:r>
              <a:t>por sí solo.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RUTA BIOINFORMÁTICA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Dos plataformas llegan a una pregunta común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[4,7–10,17]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17</a:t>
            </a:r>
          </a:p>
        </p:txBody>
      </p:sp>
      <p:sp>
        <p:nvSpPr>
          <p:cNvPr id="7" name="Rounded Rectangle 6"/>
          <p:cNvSpPr/>
          <p:nvPr/>
        </p:nvSpPr>
        <p:spPr>
          <a:xfrm>
            <a:off x="685800" y="1930400"/>
            <a:ext cx="3175000" cy="1130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900" y="20701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Illumina</a:t>
            </a:r>
          </a:p>
        </p:txBody>
      </p:sp>
      <p:sp>
        <p:nvSpPr>
          <p:cNvPr id="9" name="TextBox 8"/>
          <p:cNvSpPr txBox="1"/>
          <p:nvPr/>
        </p:nvSpPr>
        <p:spPr>
          <a:xfrm>
            <a:off x="850900" y="2489200"/>
            <a:ext cx="284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Índices → R1/R2 FASTQ</a:t>
            </a:r>
          </a:p>
        </p:txBody>
      </p:sp>
      <p:sp>
        <p:nvSpPr>
          <p:cNvPr id="10" name="Rounded Rectangle 9"/>
          <p:cNvSpPr/>
          <p:nvPr/>
        </p:nvSpPr>
        <p:spPr>
          <a:xfrm>
            <a:off x="685800" y="3505200"/>
            <a:ext cx="3175000" cy="1333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900" y="3644900"/>
            <a:ext cx="284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Nanopore</a:t>
            </a:r>
          </a:p>
        </p:txBody>
      </p:sp>
      <p:sp>
        <p:nvSpPr>
          <p:cNvPr id="12" name="TextBox 11"/>
          <p:cNvSpPr txBox="1"/>
          <p:nvPr/>
        </p:nvSpPr>
        <p:spPr>
          <a:xfrm>
            <a:off x="850900" y="4064000"/>
            <a:ext cx="28448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POD5 → basecalling →</a:t>
            </a:r>
          </a:p>
          <a:p>
            <a:pPr>
              <a:lnSpc>
                <a:spcPct val="115000"/>
              </a:lnSpc>
              <a:spcBef>
                <a:spcPts val="0"/>
              </a:spcBef>
              <a:spcAft>
                <a:spcPts val="0"/>
              </a:spcAft>
              <a:defRPr sz="1600" b="0">
                <a:solidFill>
                  <a:srgbClr val="183443"/>
                </a:solidFill>
                <a:latin typeface="DejaVu Sans"/>
              </a:defRPr>
            </a:pPr>
            <a:r>
              <a:t>BAM/FASTQ</a:t>
            </a:r>
          </a:p>
        </p:txBody>
      </p:sp>
      <p:cxnSp>
        <p:nvCxnSpPr>
          <p:cNvPr id="13" name="Connector 12"/>
          <p:cNvCxnSpPr/>
          <p:nvPr/>
        </p:nvCxnSpPr>
        <p:spPr>
          <a:xfrm>
            <a:off x="4051300" y="2476500"/>
            <a:ext cx="1168400" cy="6731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105442" y="3149600"/>
            <a:ext cx="114258" cy="312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65087" y="3049190"/>
            <a:ext cx="54613" cy="10041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051300" y="3149600"/>
            <a:ext cx="1168400" cy="9779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183319" y="3149600"/>
            <a:ext cx="36381" cy="10835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106630" y="3149600"/>
            <a:ext cx="113070" cy="16727"/>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97500" y="2489200"/>
            <a:ext cx="26289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2600" y="2628900"/>
            <a:ext cx="22987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QC común</a:t>
            </a:r>
          </a:p>
        </p:txBody>
      </p:sp>
      <p:sp>
        <p:nvSpPr>
          <p:cNvPr id="21" name="TextBox 20"/>
          <p:cNvSpPr txBox="1"/>
          <p:nvPr/>
        </p:nvSpPr>
        <p:spPr>
          <a:xfrm>
            <a:off x="5562600" y="3048000"/>
            <a:ext cx="22987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Adaptadores, calidad</a:t>
            </a:r>
          </a:p>
          <a:p>
            <a:pPr>
              <a:lnSpc>
                <a:spcPct val="115000"/>
              </a:lnSpc>
              <a:spcBef>
                <a:spcPts val="0"/>
              </a:spcBef>
              <a:spcAft>
                <a:spcPts val="0"/>
              </a:spcAft>
              <a:defRPr sz="1600" b="0">
                <a:solidFill>
                  <a:srgbClr val="183443"/>
                </a:solidFill>
                <a:latin typeface="DejaVu Sans"/>
              </a:defRPr>
            </a:pPr>
            <a:r>
              <a:t>y hospedero</a:t>
            </a:r>
          </a:p>
        </p:txBody>
      </p:sp>
      <p:cxnSp>
        <p:nvCxnSpPr>
          <p:cNvPr id="22" name="Connector 21"/>
          <p:cNvCxnSpPr/>
          <p:nvPr/>
        </p:nvCxnSpPr>
        <p:spPr>
          <a:xfrm flipV="1">
            <a:off x="8216900" y="2476500"/>
            <a:ext cx="762000" cy="6731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945420" y="2476500"/>
            <a:ext cx="33480" cy="10928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866316" y="2476500"/>
            <a:ext cx="112584" cy="19735"/>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216900" y="3149600"/>
            <a:ext cx="762000" cy="1206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876353" y="4305614"/>
            <a:ext cx="102547" cy="50486"/>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977377" y="4241810"/>
            <a:ext cx="1523" cy="11429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69400" y="1917700"/>
            <a:ext cx="2336800" cy="11303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34500" y="2057400"/>
            <a:ext cx="20066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Perfil</a:t>
            </a:r>
          </a:p>
        </p:txBody>
      </p:sp>
      <p:sp>
        <p:nvSpPr>
          <p:cNvPr id="30" name="TextBox 29"/>
          <p:cNvSpPr txBox="1"/>
          <p:nvPr/>
        </p:nvSpPr>
        <p:spPr>
          <a:xfrm>
            <a:off x="9334500" y="2476500"/>
            <a:ext cx="2006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Taxones y genes</a:t>
            </a:r>
          </a:p>
        </p:txBody>
      </p:sp>
      <p:sp>
        <p:nvSpPr>
          <p:cNvPr id="31" name="Rounded Rectangle 30"/>
          <p:cNvSpPr/>
          <p:nvPr/>
        </p:nvSpPr>
        <p:spPr>
          <a:xfrm>
            <a:off x="9169400" y="3810000"/>
            <a:ext cx="2336800" cy="14605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34500" y="3949700"/>
            <a:ext cx="20066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Ensamblar</a:t>
            </a:r>
          </a:p>
        </p:txBody>
      </p:sp>
      <p:sp>
        <p:nvSpPr>
          <p:cNvPr id="33" name="TextBox 32"/>
          <p:cNvSpPr txBox="1"/>
          <p:nvPr/>
        </p:nvSpPr>
        <p:spPr>
          <a:xfrm>
            <a:off x="9334500" y="4368800"/>
            <a:ext cx="20066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 bins →</a:t>
            </a:r>
          </a:p>
          <a:p>
            <a:pPr>
              <a:lnSpc>
                <a:spcPct val="115000"/>
              </a:lnSpc>
              <a:spcBef>
                <a:spcPts val="0"/>
              </a:spcBef>
              <a:spcAft>
                <a:spcPts val="0"/>
              </a:spcAft>
              <a:defRPr sz="1600" b="0">
                <a:solidFill>
                  <a:srgbClr val="183443"/>
                </a:solidFill>
                <a:latin typeface="DejaVu Sans"/>
              </a:defRPr>
            </a:pPr>
            <a:r>
              <a:t>MAGs</a:t>
            </a:r>
          </a:p>
        </p:txBody>
      </p:sp>
      <p:sp>
        <p:nvSpPr>
          <p:cNvPr id="34" name="Rounded Rectangle 3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Elegir la rama por la pregunta; obtener un perfil taxonómico no exige reconstruir genomas.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ENSAMBLAJE · POR QUÉ COMBINAR LECTURAS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Una lectura larga puede cruzar una repetición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[7–10]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18</a:t>
            </a:r>
          </a:p>
        </p:txBody>
      </p:sp>
      <p:sp>
        <p:nvSpPr>
          <p:cNvPr id="7" name="Rectangle 6"/>
          <p:cNvSpPr/>
          <p:nvPr/>
        </p:nvSpPr>
        <p:spPr>
          <a:xfrm>
            <a:off x="825500" y="1993900"/>
            <a:ext cx="2794000" cy="457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7900" y="2057400"/>
            <a:ext cx="25400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A</a:t>
            </a:r>
          </a:p>
        </p:txBody>
      </p:sp>
      <p:sp>
        <p:nvSpPr>
          <p:cNvPr id="9" name="Rectangle 8"/>
          <p:cNvSpPr/>
          <p:nvPr/>
        </p:nvSpPr>
        <p:spPr>
          <a:xfrm>
            <a:off x="3619500" y="1993900"/>
            <a:ext cx="2070100" cy="457200"/>
          </a:xfrm>
          <a:prstGeom prst="rect">
            <a:avLst/>
          </a:prstGeom>
          <a:solidFill>
            <a:srgbClr val="D1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900" y="2057400"/>
            <a:ext cx="18161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Repetición</a:t>
            </a:r>
          </a:p>
        </p:txBody>
      </p:sp>
      <p:sp>
        <p:nvSpPr>
          <p:cNvPr id="11" name="Rectangle 10"/>
          <p:cNvSpPr/>
          <p:nvPr/>
        </p:nvSpPr>
        <p:spPr>
          <a:xfrm>
            <a:off x="5689600" y="1993900"/>
            <a:ext cx="2794000" cy="45720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42000" y="2057400"/>
            <a:ext cx="2540000" cy="357378"/>
          </a:xfrm>
          <a:prstGeom prst="rect">
            <a:avLst/>
          </a:prstGeom>
          <a:noFill/>
        </p:spPr>
        <p:txBody>
          <a:bodyPr wrap="none" lIns="0" rIns="0" tIns="0" bIns="0">
            <a:spAutoFit/>
          </a:bodyPr>
          <a:lstStyle/>
          <a:p>
            <a:pPr>
              <a:lnSpc>
                <a:spcPct val="115000"/>
              </a:lnSpc>
              <a:spcBef>
                <a:spcPts val="0"/>
              </a:spcBef>
              <a:spcAft>
                <a:spcPts val="0"/>
              </a:spcAft>
              <a:defRPr sz="1800" b="1">
                <a:solidFill>
                  <a:srgbClr val="FFFFFF"/>
                </a:solidFill>
                <a:latin typeface="DejaVu Sans"/>
              </a:defRPr>
            </a:pPr>
            <a:r>
              <a:t>B</a:t>
            </a:r>
          </a:p>
        </p:txBody>
      </p:sp>
      <p:cxnSp>
        <p:nvCxnSpPr>
          <p:cNvPr id="13" name="Connector 12"/>
          <p:cNvCxnSpPr/>
          <p:nvPr/>
        </p:nvCxnSpPr>
        <p:spPr>
          <a:xfrm>
            <a:off x="9017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03400" y="3251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051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606800" y="3251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5085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10200" y="3251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11900" y="2997200"/>
            <a:ext cx="1422400" cy="0"/>
          </a:xfrm>
          <a:prstGeom prst="line">
            <a:avLst/>
          </a:prstGeom>
          <a:ln w="88900">
            <a:solidFill>
              <a:srgbClr val="57717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67800" y="2908300"/>
            <a:ext cx="2501900" cy="638556"/>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Cortas: pueden</a:t>
            </a:r>
          </a:p>
          <a:p>
            <a:pPr>
              <a:lnSpc>
                <a:spcPct val="115000"/>
              </a:lnSpc>
              <a:spcBef>
                <a:spcPts val="0"/>
              </a:spcBef>
              <a:spcAft>
                <a:spcPts val="0"/>
              </a:spcAft>
              <a:defRPr sz="1800" b="0">
                <a:solidFill>
                  <a:srgbClr val="183443"/>
                </a:solidFill>
                <a:latin typeface="DejaVu Sans"/>
              </a:defRPr>
            </a:pPr>
            <a:r>
              <a:t>no enlazar flancos</a:t>
            </a:r>
          </a:p>
        </p:txBody>
      </p:sp>
      <p:cxnSp>
        <p:nvCxnSpPr>
          <p:cNvPr id="21" name="Connector 20"/>
          <p:cNvCxnSpPr/>
          <p:nvPr/>
        </p:nvCxnSpPr>
        <p:spPr>
          <a:xfrm>
            <a:off x="965200" y="4000500"/>
            <a:ext cx="7378700" cy="0"/>
          </a:xfrm>
          <a:prstGeom prst="line">
            <a:avLst/>
          </a:prstGeom>
          <a:ln w="114300">
            <a:solidFill>
              <a:srgbClr val="8061A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67800" y="3695700"/>
            <a:ext cx="2501900" cy="919734"/>
          </a:xfrm>
          <a:prstGeom prst="rect">
            <a:avLst/>
          </a:prstGeom>
          <a:noFill/>
        </p:spPr>
        <p:txBody>
          <a:bodyPr wrap="none" lIns="0" rIns="0" tIns="0" bIns="0">
            <a:spAutoFit/>
          </a:bodyPr>
          <a:lstStyle/>
          <a:p>
            <a:pPr>
              <a:lnSpc>
                <a:spcPct val="115000"/>
              </a:lnSpc>
              <a:spcBef>
                <a:spcPts val="0"/>
              </a:spcBef>
              <a:spcAft>
                <a:spcPts val="0"/>
              </a:spcAft>
              <a:defRPr sz="1800" b="1">
                <a:solidFill>
                  <a:srgbClr val="8061AC"/>
                </a:solidFill>
                <a:latin typeface="DejaVu Sans"/>
              </a:defRPr>
            </a:pPr>
            <a:r>
              <a:t>Larga: une A y B</a:t>
            </a:r>
          </a:p>
          <a:p>
            <a:pPr>
              <a:lnSpc>
                <a:spcPct val="115000"/>
              </a:lnSpc>
              <a:spcBef>
                <a:spcPts val="0"/>
              </a:spcBef>
              <a:spcAft>
                <a:spcPts val="0"/>
              </a:spcAft>
              <a:defRPr sz="1800" b="1">
                <a:solidFill>
                  <a:srgbClr val="8061AC"/>
                </a:solidFill>
                <a:latin typeface="DejaVu Sans"/>
              </a:defRPr>
            </a:pPr>
            <a:r>
              <a:t>a través del</a:t>
            </a:r>
          </a:p>
          <a:p>
            <a:pPr>
              <a:lnSpc>
                <a:spcPct val="115000"/>
              </a:lnSpc>
              <a:spcBef>
                <a:spcPts val="0"/>
              </a:spcBef>
              <a:spcAft>
                <a:spcPts val="0"/>
              </a:spcAft>
              <a:defRPr sz="1800" b="1">
                <a:solidFill>
                  <a:srgbClr val="8061AC"/>
                </a:solidFill>
                <a:latin typeface="DejaVu Sans"/>
              </a:defRPr>
            </a:pPr>
            <a:r>
              <a:t>repetido</a:t>
            </a:r>
          </a:p>
        </p:txBody>
      </p:sp>
      <p:cxnSp>
        <p:nvCxnSpPr>
          <p:cNvPr id="23" name="Connector 22"/>
          <p:cNvCxnSpPr/>
          <p:nvPr/>
        </p:nvCxnSpPr>
        <p:spPr>
          <a:xfrm>
            <a:off x="965200" y="4775200"/>
            <a:ext cx="7378700" cy="0"/>
          </a:xfrm>
          <a:prstGeom prst="line">
            <a:avLst/>
          </a:prstGeom>
          <a:ln w="139700">
            <a:solidFill>
              <a:srgbClr val="007F8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2800" y="5105400"/>
            <a:ext cx="7937500" cy="638556"/>
          </a:xfrm>
          <a:prstGeom prst="rect">
            <a:avLst/>
          </a:prstGeom>
          <a:noFill/>
        </p:spPr>
        <p:txBody>
          <a:bodyPr wrap="none" lIns="0" rIns="0" tIns="0" bIns="0">
            <a:spAutoFit/>
          </a:bodyPr>
          <a:lstStyle/>
          <a:p>
            <a:pPr>
              <a:lnSpc>
                <a:spcPct val="115000"/>
              </a:lnSpc>
              <a:spcBef>
                <a:spcPts val="0"/>
              </a:spcBef>
              <a:spcAft>
                <a:spcPts val="0"/>
              </a:spcAft>
              <a:defRPr sz="1800" b="1">
                <a:solidFill>
                  <a:srgbClr val="007F86"/>
                </a:solidFill>
                <a:latin typeface="DejaVu Sans"/>
              </a:defRPr>
            </a:pPr>
            <a:r>
              <a:t>Ensamblar → revisar alineamientos → pulir cuando</a:t>
            </a:r>
          </a:p>
          <a:p>
            <a:pPr>
              <a:lnSpc>
                <a:spcPct val="115000"/>
              </a:lnSpc>
              <a:spcBef>
                <a:spcPts val="0"/>
              </a:spcBef>
              <a:spcAft>
                <a:spcPts val="0"/>
              </a:spcAft>
              <a:defRPr sz="1800" b="1">
                <a:solidFill>
                  <a:srgbClr val="007F86"/>
                </a:solidFill>
                <a:latin typeface="DejaVu Sans"/>
              </a:defRPr>
            </a:pPr>
            <a:r>
              <a:t>corresponda</a:t>
            </a:r>
          </a:p>
        </p:txBody>
      </p:sp>
      <p:sp>
        <p:nvSpPr>
          <p:cNvPr id="25" name="Rounded Rectangle 24"/>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No hay garantía de cierre: abundancia, mezcla de cepas, errores y cobertura siguen importando.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DE UN METAGENOMA A VARIOS BORRADORES</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Binning: agrupar contigs que podrían ser un</a:t>
            </a:r>
          </a:p>
          <a:p>
            <a:pPr>
              <a:lnSpc>
                <a:spcPct val="115000"/>
              </a:lnSpc>
              <a:spcBef>
                <a:spcPts val="0"/>
              </a:spcBef>
              <a:spcAft>
                <a:spcPts val="0"/>
              </a:spcAft>
              <a:defRPr sz="2900" b="1">
                <a:solidFill>
                  <a:srgbClr val="183443"/>
                </a:solidFill>
                <a:latin typeface="DejaVu Sans"/>
              </a:defRPr>
            </a:pPr>
            <a:r>
              <a:t>genoma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[7–9,11–13]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19</a:t>
            </a:r>
          </a:p>
        </p:txBody>
      </p:sp>
      <p:cxnSp>
        <p:nvCxnSpPr>
          <p:cNvPr id="7" name="Connector 6"/>
          <p:cNvCxnSpPr/>
          <p:nvPr/>
        </p:nvCxnSpPr>
        <p:spPr>
          <a:xfrm>
            <a:off x="1143000" y="4927600"/>
            <a:ext cx="6045200" cy="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43000" y="2006600"/>
            <a:ext cx="0" cy="2921000"/>
          </a:xfrm>
          <a:prstGeom prst="line">
            <a:avLst/>
          </a:prstGeom>
          <a:ln w="25400">
            <a:solidFill>
              <a:srgbClr val="57717D"/>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85712" y="3785748"/>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91752" y="3724075"/>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552959" y="3758885"/>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61902" y="377746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043939" y="3552666"/>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294028" y="4166515"/>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20789" y="3868604"/>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74684" y="4118982"/>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10365" y="3643409"/>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64232" y="3735179"/>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6715" y="3503457"/>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408957" y="3968822"/>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645155" y="3876500"/>
            <a:ext cx="127000" cy="1270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06640" y="2519205"/>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88625" y="3000215"/>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49939" y="2586989"/>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391060" y="2622301"/>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75689" y="2529315"/>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88869" y="2976146"/>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592" y="2950908"/>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802" y="2878760"/>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18279" y="2779530"/>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15993" y="2553129"/>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818135" y="2519464"/>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91454" y="2535542"/>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67937" y="2378026"/>
            <a:ext cx="127000" cy="1270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760732" y="4072397"/>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706617" y="4037226"/>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68318" y="3949132"/>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088981" y="3665179"/>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41094" y="4202318"/>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61760" y="3914780"/>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897863" y="4215677"/>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005238" y="4089941"/>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521802" y="3706901"/>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281900" y="3906830"/>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250324" y="3827707"/>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392104" y="3541498"/>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711584" y="3976120"/>
            <a:ext cx="127000" cy="1270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463800" y="5168900"/>
            <a:ext cx="4432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Composición (ejemplo: GC)</a:t>
            </a:r>
          </a:p>
        </p:txBody>
      </p:sp>
      <p:sp>
        <p:nvSpPr>
          <p:cNvPr id="49" name="TextBox 48"/>
          <p:cNvSpPr txBox="1"/>
          <p:nvPr/>
        </p:nvSpPr>
        <p:spPr>
          <a:xfrm>
            <a:off x="800100" y="1612900"/>
            <a:ext cx="33020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Cobertura relativa</a:t>
            </a:r>
          </a:p>
        </p:txBody>
      </p:sp>
      <p:cxnSp>
        <p:nvCxnSpPr>
          <p:cNvPr id="50" name="Connector 49"/>
          <p:cNvCxnSpPr/>
          <p:nvPr/>
        </p:nvCxnSpPr>
        <p:spPr>
          <a:xfrm>
            <a:off x="7505700" y="3467100"/>
            <a:ext cx="609600" cy="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026400" y="34036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026400" y="3467100"/>
            <a:ext cx="88900" cy="63500"/>
          </a:xfrm>
          <a:prstGeom prst="line">
            <a:avLst/>
          </a:prstGeom>
          <a:ln w="25400">
            <a:solidFill>
              <a:srgbClr val="007F86"/>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547100" y="2032000"/>
            <a:ext cx="2743200" cy="939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12200" y="2171700"/>
            <a:ext cx="2413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Bin A</a:t>
            </a:r>
          </a:p>
        </p:txBody>
      </p:sp>
      <p:sp>
        <p:nvSpPr>
          <p:cNvPr id="55" name="TextBox 54"/>
          <p:cNvSpPr txBox="1"/>
          <p:nvPr/>
        </p:nvSpPr>
        <p:spPr>
          <a:xfrm>
            <a:off x="8712200" y="2590800"/>
            <a:ext cx="2413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agrupados</a:t>
            </a:r>
          </a:p>
        </p:txBody>
      </p:sp>
      <p:sp>
        <p:nvSpPr>
          <p:cNvPr id="56" name="Rounded Rectangle 55"/>
          <p:cNvSpPr/>
          <p:nvPr/>
        </p:nvSpPr>
        <p:spPr>
          <a:xfrm>
            <a:off x="8547100" y="3136900"/>
            <a:ext cx="2743200" cy="939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12200" y="3276600"/>
            <a:ext cx="2413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Bin B</a:t>
            </a:r>
          </a:p>
        </p:txBody>
      </p:sp>
      <p:sp>
        <p:nvSpPr>
          <p:cNvPr id="58" name="TextBox 57"/>
          <p:cNvSpPr txBox="1"/>
          <p:nvPr/>
        </p:nvSpPr>
        <p:spPr>
          <a:xfrm>
            <a:off x="8712200" y="3695700"/>
            <a:ext cx="2413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agrupados</a:t>
            </a:r>
          </a:p>
        </p:txBody>
      </p:sp>
      <p:sp>
        <p:nvSpPr>
          <p:cNvPr id="59" name="Rounded Rectangle 58"/>
          <p:cNvSpPr/>
          <p:nvPr/>
        </p:nvSpPr>
        <p:spPr>
          <a:xfrm>
            <a:off x="8547100" y="4241800"/>
            <a:ext cx="2743200" cy="939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12200" y="4381500"/>
            <a:ext cx="2413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Bin C</a:t>
            </a:r>
          </a:p>
        </p:txBody>
      </p:sp>
      <p:sp>
        <p:nvSpPr>
          <p:cNvPr id="61" name="TextBox 60"/>
          <p:cNvSpPr txBox="1"/>
          <p:nvPr/>
        </p:nvSpPr>
        <p:spPr>
          <a:xfrm>
            <a:off x="8712200" y="4800600"/>
            <a:ext cx="2413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Contigs agrupados</a:t>
            </a:r>
          </a:p>
        </p:txBody>
      </p:sp>
      <p:sp>
        <p:nvSpPr>
          <p:cNvPr id="62" name="Rounded Rectangle 61"/>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agrupación necesita después controles de completitud, contaminación y coherencia.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CRITERIOS MIMAG · BACTERIAS Y ARQUEAS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¿Cuándo merece llamarse MAG de alta calidad?</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20</a:t>
            </a:r>
          </a:p>
        </p:txBody>
      </p:sp>
      <p:sp>
        <p:nvSpPr>
          <p:cNvPr id="7" name="Rounded Rectangle 6"/>
          <p:cNvSpPr/>
          <p:nvPr/>
        </p:nvSpPr>
        <p:spPr>
          <a:xfrm>
            <a:off x="723900" y="1930400"/>
            <a:ext cx="5143500" cy="13589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20701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Completitud &gt;90 %</a:t>
            </a:r>
          </a:p>
        </p:txBody>
      </p:sp>
      <p:sp>
        <p:nvSpPr>
          <p:cNvPr id="9" name="TextBox 8"/>
          <p:cNvSpPr txBox="1"/>
          <p:nvPr/>
        </p:nvSpPr>
        <p:spPr>
          <a:xfrm>
            <a:off x="889000" y="2489200"/>
            <a:ext cx="48133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¿Qué fracción del genoma se estima</a:t>
            </a:r>
          </a:p>
          <a:p>
            <a:pPr>
              <a:lnSpc>
                <a:spcPct val="115000"/>
              </a:lnSpc>
              <a:spcBef>
                <a:spcPts val="0"/>
              </a:spcBef>
              <a:spcAft>
                <a:spcPts val="0"/>
              </a:spcAft>
              <a:defRPr sz="1600" b="0">
                <a:solidFill>
                  <a:srgbClr val="183443"/>
                </a:solidFill>
                <a:latin typeface="DejaVu Sans"/>
              </a:defRPr>
            </a:pPr>
            <a:r>
              <a:t>recuperada?</a:t>
            </a:r>
          </a:p>
        </p:txBody>
      </p:sp>
      <p:sp>
        <p:nvSpPr>
          <p:cNvPr id="10" name="Rounded Rectangle 9"/>
          <p:cNvSpPr/>
          <p:nvPr/>
        </p:nvSpPr>
        <p:spPr>
          <a:xfrm>
            <a:off x="6299200" y="1930400"/>
            <a:ext cx="5143500" cy="13589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300" y="20701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Contaminación &lt;5 %</a:t>
            </a:r>
          </a:p>
        </p:txBody>
      </p:sp>
      <p:sp>
        <p:nvSpPr>
          <p:cNvPr id="12" name="TextBox 11"/>
          <p:cNvSpPr txBox="1"/>
          <p:nvPr/>
        </p:nvSpPr>
        <p:spPr>
          <a:xfrm>
            <a:off x="6464300" y="2489200"/>
            <a:ext cx="4813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¿Hay mezcla de secuencias ajenas?</a:t>
            </a:r>
          </a:p>
        </p:txBody>
      </p:sp>
      <p:sp>
        <p:nvSpPr>
          <p:cNvPr id="13" name="Rounded Rectangle 12"/>
          <p:cNvSpPr/>
          <p:nvPr/>
        </p:nvSpPr>
        <p:spPr>
          <a:xfrm>
            <a:off x="723900" y="3644900"/>
            <a:ext cx="51435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 y="37846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rRNA 23S, 16S y 5S</a:t>
            </a:r>
          </a:p>
        </p:txBody>
      </p:sp>
      <p:sp>
        <p:nvSpPr>
          <p:cNvPr id="15" name="TextBox 14"/>
          <p:cNvSpPr txBox="1"/>
          <p:nvPr/>
        </p:nvSpPr>
        <p:spPr>
          <a:xfrm>
            <a:off x="889000" y="4203700"/>
            <a:ext cx="4813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Y tRNA para al menos 18 aminoácidos</a:t>
            </a:r>
          </a:p>
        </p:txBody>
      </p:sp>
      <p:sp>
        <p:nvSpPr>
          <p:cNvPr id="16" name="Rounded Rectangle 15"/>
          <p:cNvSpPr/>
          <p:nvPr/>
        </p:nvSpPr>
        <p:spPr>
          <a:xfrm>
            <a:off x="6299200" y="3644900"/>
            <a:ext cx="5143500" cy="1435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300" y="3784600"/>
            <a:ext cx="4813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Evaluar por vías distintas</a:t>
            </a:r>
          </a:p>
        </p:txBody>
      </p:sp>
      <p:sp>
        <p:nvSpPr>
          <p:cNvPr id="18" name="TextBox 17"/>
          <p:cNvSpPr txBox="1"/>
          <p:nvPr/>
        </p:nvSpPr>
        <p:spPr>
          <a:xfrm>
            <a:off x="6464300" y="4203700"/>
            <a:ext cx="4813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CheckM2 + quimerismo + alineamientos</a:t>
            </a:r>
          </a:p>
        </p:txBody>
      </p:sp>
      <p:sp>
        <p:nvSpPr>
          <p:cNvPr id="19" name="Rounded Rectangle 18"/>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Alta completitud y baja contaminación por sí solas no cumplen toda la categoría HQ de MIMAG.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QUÉ SE PUEDE CONCLUIR DE UN MAG</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Asignar nombre y función sin prometer actividad</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[7–13]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21</a:t>
            </a:r>
          </a:p>
        </p:txBody>
      </p:sp>
      <p:sp>
        <p:nvSpPr>
          <p:cNvPr id="7" name="Rounded Rectangle 6"/>
          <p:cNvSpPr/>
          <p:nvPr/>
        </p:nvSpPr>
        <p:spPr>
          <a:xfrm>
            <a:off x="609600" y="1968500"/>
            <a:ext cx="33655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1082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Identidad</a:t>
            </a:r>
          </a:p>
        </p:txBody>
      </p:sp>
      <p:sp>
        <p:nvSpPr>
          <p:cNvPr id="9" name="TextBox 8"/>
          <p:cNvSpPr txBox="1"/>
          <p:nvPr/>
        </p:nvSpPr>
        <p:spPr>
          <a:xfrm>
            <a:off x="774700" y="2527300"/>
            <a:ext cx="3035300" cy="576072"/>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Taxonomía y comparación</a:t>
            </a:r>
          </a:p>
          <a:p>
            <a:pPr>
              <a:lnSpc>
                <a:spcPct val="115000"/>
              </a:lnSpc>
              <a:spcBef>
                <a:spcPts val="0"/>
              </a:spcBef>
              <a:spcAft>
                <a:spcPts val="0"/>
              </a:spcAft>
              <a:defRPr sz="1600" b="0">
                <a:solidFill>
                  <a:srgbClr val="183443"/>
                </a:solidFill>
                <a:latin typeface="DejaVu Sans"/>
              </a:defRPr>
            </a:pPr>
            <a:r>
              <a:t>genómica</a:t>
            </a:r>
          </a:p>
        </p:txBody>
      </p:sp>
      <p:sp>
        <p:nvSpPr>
          <p:cNvPr id="10" name="Rounded Rectangle 9"/>
          <p:cNvSpPr/>
          <p:nvPr/>
        </p:nvSpPr>
        <p:spPr>
          <a:xfrm>
            <a:off x="4406900" y="1968500"/>
            <a:ext cx="33655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1082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Potencial</a:t>
            </a:r>
          </a:p>
        </p:txBody>
      </p:sp>
      <p:sp>
        <p:nvSpPr>
          <p:cNvPr id="12" name="TextBox 11"/>
          <p:cNvSpPr txBox="1"/>
          <p:nvPr/>
        </p:nvSpPr>
        <p:spPr>
          <a:xfrm>
            <a:off x="4572000" y="2527300"/>
            <a:ext cx="3035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Genes y rutas presentes</a:t>
            </a:r>
          </a:p>
        </p:txBody>
      </p:sp>
      <p:sp>
        <p:nvSpPr>
          <p:cNvPr id="13" name="Rounded Rectangle 12"/>
          <p:cNvSpPr/>
          <p:nvPr/>
        </p:nvSpPr>
        <p:spPr>
          <a:xfrm>
            <a:off x="8204200" y="1968500"/>
            <a:ext cx="3365500" cy="142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300" y="21082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Abundancia</a:t>
            </a:r>
          </a:p>
        </p:txBody>
      </p:sp>
      <p:sp>
        <p:nvSpPr>
          <p:cNvPr id="15" name="TextBox 14"/>
          <p:cNvSpPr txBox="1"/>
          <p:nvPr/>
        </p:nvSpPr>
        <p:spPr>
          <a:xfrm>
            <a:off x="8369300" y="2527300"/>
            <a:ext cx="30353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Volver a mapear las lecturas</a:t>
            </a:r>
          </a:p>
        </p:txBody>
      </p:sp>
      <p:cxnSp>
        <p:nvCxnSpPr>
          <p:cNvPr id="16" name="Connector 15"/>
          <p:cNvCxnSpPr/>
          <p:nvPr/>
        </p:nvCxnSpPr>
        <p:spPr>
          <a:xfrm>
            <a:off x="1143000" y="4089400"/>
            <a:ext cx="2349500" cy="0"/>
          </a:xfrm>
          <a:prstGeom prst="line">
            <a:avLst/>
          </a:prstGeom>
          <a:ln w="1016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43000" y="4368800"/>
            <a:ext cx="2349500" cy="0"/>
          </a:xfrm>
          <a:prstGeom prst="line">
            <a:avLst/>
          </a:prstGeom>
          <a:ln w="1016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43000" y="4648200"/>
            <a:ext cx="2349500" cy="0"/>
          </a:xfrm>
          <a:prstGeom prst="line">
            <a:avLst/>
          </a:prstGeom>
          <a:ln w="101600">
            <a:solidFill>
              <a:srgbClr val="8061A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699000" y="4165600"/>
            <a:ext cx="685800" cy="3175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11700" y="4635500"/>
            <a:ext cx="889000" cy="304800"/>
          </a:xfrm>
          <a:prstGeom prst="rect">
            <a:avLst/>
          </a:prstGeom>
          <a:noFill/>
        </p:spPr>
        <p:txBody>
          <a:bodyPr wrap="none" lIns="0" rIns="0" tIns="0" bIns="0">
            <a:spAutoFit/>
          </a:bodyPr>
          <a:lstStyle/>
          <a:p>
            <a:pPr>
              <a:lnSpc>
                <a:spcPct val="115000"/>
              </a:lnSpc>
              <a:spcBef>
                <a:spcPts val="0"/>
              </a:spcBef>
              <a:spcAft>
                <a:spcPts val="0"/>
              </a:spcAft>
              <a:defRPr sz="1400" b="0">
                <a:solidFill>
                  <a:srgbClr val="183443"/>
                </a:solidFill>
                <a:latin typeface="DejaVu Sans"/>
              </a:defRPr>
            </a:pPr>
            <a:r>
              <a:t>gen A</a:t>
            </a:r>
          </a:p>
        </p:txBody>
      </p:sp>
      <p:sp>
        <p:nvSpPr>
          <p:cNvPr id="21" name="Rectangle 20"/>
          <p:cNvSpPr/>
          <p:nvPr/>
        </p:nvSpPr>
        <p:spPr>
          <a:xfrm>
            <a:off x="5499100" y="4165600"/>
            <a:ext cx="685800" cy="31750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11800" y="4635500"/>
            <a:ext cx="889000" cy="304800"/>
          </a:xfrm>
          <a:prstGeom prst="rect">
            <a:avLst/>
          </a:prstGeom>
          <a:noFill/>
        </p:spPr>
        <p:txBody>
          <a:bodyPr wrap="none" lIns="0" rIns="0" tIns="0" bIns="0">
            <a:spAutoFit/>
          </a:bodyPr>
          <a:lstStyle/>
          <a:p>
            <a:pPr>
              <a:lnSpc>
                <a:spcPct val="115000"/>
              </a:lnSpc>
              <a:spcBef>
                <a:spcPts val="0"/>
              </a:spcBef>
              <a:spcAft>
                <a:spcPts val="0"/>
              </a:spcAft>
              <a:defRPr sz="1400" b="0">
                <a:solidFill>
                  <a:srgbClr val="183443"/>
                </a:solidFill>
                <a:latin typeface="DejaVu Sans"/>
              </a:defRPr>
            </a:pPr>
            <a:r>
              <a:t>gen B</a:t>
            </a:r>
          </a:p>
        </p:txBody>
      </p:sp>
      <p:sp>
        <p:nvSpPr>
          <p:cNvPr id="23" name="Rectangle 22"/>
          <p:cNvSpPr/>
          <p:nvPr/>
        </p:nvSpPr>
        <p:spPr>
          <a:xfrm>
            <a:off x="6299200" y="4165600"/>
            <a:ext cx="685800" cy="31750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1900" y="4635500"/>
            <a:ext cx="889000" cy="304800"/>
          </a:xfrm>
          <a:prstGeom prst="rect">
            <a:avLst/>
          </a:prstGeom>
          <a:noFill/>
        </p:spPr>
        <p:txBody>
          <a:bodyPr wrap="none" lIns="0" rIns="0" tIns="0" bIns="0">
            <a:spAutoFit/>
          </a:bodyPr>
          <a:lstStyle/>
          <a:p>
            <a:pPr>
              <a:lnSpc>
                <a:spcPct val="115000"/>
              </a:lnSpc>
              <a:spcBef>
                <a:spcPts val="0"/>
              </a:spcBef>
              <a:spcAft>
                <a:spcPts val="0"/>
              </a:spcAft>
              <a:defRPr sz="1400" b="0">
                <a:solidFill>
                  <a:srgbClr val="183443"/>
                </a:solidFill>
                <a:latin typeface="DejaVu Sans"/>
              </a:defRPr>
            </a:pPr>
            <a:r>
              <a:t>gen C</a:t>
            </a:r>
          </a:p>
        </p:txBody>
      </p:sp>
      <p:cxnSp>
        <p:nvCxnSpPr>
          <p:cNvPr id="25" name="Connector 24"/>
          <p:cNvCxnSpPr/>
          <p:nvPr/>
        </p:nvCxnSpPr>
        <p:spPr>
          <a:xfrm>
            <a:off x="8686800" y="4165600"/>
            <a:ext cx="16002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15400" y="4292600"/>
            <a:ext cx="15240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44000" y="4419600"/>
            <a:ext cx="14478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72600" y="4546600"/>
            <a:ext cx="13716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01200" y="4673600"/>
            <a:ext cx="1295400" cy="0"/>
          </a:xfrm>
          <a:prstGeom prst="line">
            <a:avLst/>
          </a:prstGeom>
          <a:ln w="50800">
            <a:solidFill>
              <a:srgbClr val="4276C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ADN y genes indican potencial. Para actividad: otra evidencia, como RNA, proteínas o ensayos.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DE LA PRUEBA DE CONCEPTO AL ECOSISTEMA</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Tus artículos: tres aplicaciones con contexto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[6–8]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22</a:t>
            </a:r>
          </a:p>
        </p:txBody>
      </p:sp>
      <p:sp>
        <p:nvSpPr>
          <p:cNvPr id="7" name="Rounded Rectangle 6"/>
          <p:cNvSpPr/>
          <p:nvPr/>
        </p:nvSpPr>
        <p:spPr>
          <a:xfrm>
            <a:off x="609600" y="1930400"/>
            <a:ext cx="3365500" cy="284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0701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2015 · clínica</a:t>
            </a:r>
          </a:p>
        </p:txBody>
      </p:sp>
      <p:sp>
        <p:nvSpPr>
          <p:cNvPr id="9" name="TextBox 8"/>
          <p:cNvSpPr txBox="1"/>
          <p:nvPr/>
        </p:nvSpPr>
        <p:spPr>
          <a:xfrm>
            <a:off x="774700" y="2489200"/>
            <a:ext cx="3035300" cy="826007"/>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Greninger:</a:t>
            </a:r>
          </a:p>
          <a:p>
            <a:pPr>
              <a:lnSpc>
                <a:spcPct val="115000"/>
              </a:lnSpc>
              <a:spcBef>
                <a:spcPts val="0"/>
              </a:spcBef>
              <a:spcAft>
                <a:spcPts val="0"/>
              </a:spcAft>
              <a:defRPr sz="1600" b="0">
                <a:solidFill>
                  <a:srgbClr val="183443"/>
                </a:solidFill>
                <a:latin typeface="DejaVu Sans"/>
              </a:defRPr>
            </a:pPr>
            <a:r>
              <a:t>identificar virus durante</a:t>
            </a:r>
          </a:p>
          <a:p>
            <a:pPr>
              <a:lnSpc>
                <a:spcPct val="115000"/>
              </a:lnSpc>
              <a:spcBef>
                <a:spcPts val="0"/>
              </a:spcBef>
              <a:spcAft>
                <a:spcPts val="0"/>
              </a:spcAft>
              <a:defRPr sz="1600" b="0">
                <a:solidFill>
                  <a:srgbClr val="183443"/>
                </a:solidFill>
                <a:latin typeface="DejaVu Sans"/>
              </a:defRPr>
            </a:pPr>
            <a:r>
              <a:t>adquisición de datos.</a:t>
            </a:r>
          </a:p>
        </p:txBody>
      </p:sp>
      <p:sp>
        <p:nvSpPr>
          <p:cNvPr id="10" name="Rounded Rectangle 9"/>
          <p:cNvSpPr/>
          <p:nvPr/>
        </p:nvSpPr>
        <p:spPr>
          <a:xfrm>
            <a:off x="4406900" y="1930400"/>
            <a:ext cx="3365500" cy="284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0701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2021 · lodos</a:t>
            </a:r>
          </a:p>
        </p:txBody>
      </p:sp>
      <p:sp>
        <p:nvSpPr>
          <p:cNvPr id="12" name="TextBox 11"/>
          <p:cNvSpPr txBox="1"/>
          <p:nvPr/>
        </p:nvSpPr>
        <p:spPr>
          <a:xfrm>
            <a:off x="4572000" y="2489200"/>
            <a:ext cx="3035300" cy="826007"/>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Singleton:</a:t>
            </a:r>
          </a:p>
          <a:p>
            <a:pPr>
              <a:lnSpc>
                <a:spcPct val="115000"/>
              </a:lnSpc>
              <a:spcBef>
                <a:spcPts val="0"/>
              </a:spcBef>
              <a:spcAft>
                <a:spcPts val="0"/>
              </a:spcAft>
              <a:defRPr sz="1600" b="0">
                <a:solidFill>
                  <a:srgbClr val="183443"/>
                </a:solidFill>
                <a:latin typeface="DejaVu Sans"/>
              </a:defRPr>
            </a:pPr>
            <a:r>
              <a:t>1 083 MAGs HQ de 23</a:t>
            </a:r>
          </a:p>
          <a:p>
            <a:pPr>
              <a:lnSpc>
                <a:spcPct val="115000"/>
              </a:lnSpc>
              <a:spcBef>
                <a:spcPts val="0"/>
              </a:spcBef>
              <a:spcAft>
                <a:spcPts val="0"/>
              </a:spcAft>
              <a:defRPr sz="1600" b="0">
                <a:solidFill>
                  <a:srgbClr val="183443"/>
                </a:solidFill>
                <a:latin typeface="DejaVu Sans"/>
              </a:defRPr>
            </a:pPr>
            <a:r>
              <a:t>plantas de tratamiento.</a:t>
            </a:r>
          </a:p>
        </p:txBody>
      </p:sp>
      <p:sp>
        <p:nvSpPr>
          <p:cNvPr id="13" name="Rounded Rectangle 12"/>
          <p:cNvSpPr/>
          <p:nvPr/>
        </p:nvSpPr>
        <p:spPr>
          <a:xfrm>
            <a:off x="8204200" y="1930400"/>
            <a:ext cx="3365500" cy="284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300" y="2070100"/>
            <a:ext cx="30353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2024 · termales</a:t>
            </a:r>
          </a:p>
        </p:txBody>
      </p:sp>
      <p:sp>
        <p:nvSpPr>
          <p:cNvPr id="15" name="TextBox 14"/>
          <p:cNvSpPr txBox="1"/>
          <p:nvPr/>
        </p:nvSpPr>
        <p:spPr>
          <a:xfrm>
            <a:off x="8369300" y="2489200"/>
            <a:ext cx="3035300" cy="826007"/>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Liew:</a:t>
            </a:r>
          </a:p>
          <a:p>
            <a:pPr>
              <a:lnSpc>
                <a:spcPct val="115000"/>
              </a:lnSpc>
              <a:spcBef>
                <a:spcPts val="0"/>
              </a:spcBef>
              <a:spcAft>
                <a:spcPts val="0"/>
              </a:spcAft>
              <a:defRPr sz="1600" b="0">
                <a:solidFill>
                  <a:srgbClr val="183443"/>
                </a:solidFill>
                <a:latin typeface="DejaVu Sans"/>
              </a:defRPr>
            </a:pPr>
            <a:r>
              <a:t>Illumina + Nanopore para</a:t>
            </a:r>
          </a:p>
          <a:p>
            <a:pPr>
              <a:lnSpc>
                <a:spcPct val="115000"/>
              </a:lnSpc>
              <a:spcBef>
                <a:spcPts val="0"/>
              </a:spcBef>
              <a:spcAft>
                <a:spcPts val="0"/>
              </a:spcAft>
              <a:defRPr sz="1600" b="0">
                <a:solidFill>
                  <a:srgbClr val="183443"/>
                </a:solidFill>
                <a:latin typeface="DejaVu Sans"/>
              </a:defRPr>
            </a:pPr>
            <a:r>
              <a:t>recuperar MAGs y genes.</a:t>
            </a:r>
          </a:p>
        </p:txBody>
      </p:sp>
      <p:sp>
        <p:nvSpPr>
          <p:cNvPr id="16" name="Rounded Rectangle 15"/>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La enseñanza: velocidad, continuidad y función requieren diseños y validaciones diferentes.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EVIDENCIA RECIENTE · 2025–2026</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Actualización: posibilidades nuevas, validación local</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[9–10]</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23</a:t>
            </a:r>
          </a:p>
        </p:txBody>
      </p:sp>
      <p:sp>
        <p:nvSpPr>
          <p:cNvPr id="7" name="Rounded Rectangle 6"/>
          <p:cNvSpPr/>
          <p:nvPr/>
        </p:nvSpPr>
        <p:spPr>
          <a:xfrm>
            <a:off x="660400" y="1866900"/>
            <a:ext cx="5156200" cy="355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0" y="1866900"/>
            <a:ext cx="5156200" cy="355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1400" y="2755900"/>
            <a:ext cx="558800" cy="279400"/>
          </a:xfrm>
          <a:prstGeom prst="ellipse">
            <a:avLst/>
          </a:prstGeom>
          <a:solidFill>
            <a:srgbClr val="D5ECE8"/>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1155700" y="2667000"/>
            <a:ext cx="63500" cy="88900"/>
          </a:xfrm>
          <a:prstGeom prst="line">
            <a:avLst/>
          </a:prstGeom>
          <a:ln w="127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320800" y="2667000"/>
            <a:ext cx="63500" cy="88900"/>
          </a:xfrm>
          <a:prstGeom prst="line">
            <a:avLst/>
          </a:prstGeom>
          <a:ln w="12700">
            <a:solidFill>
              <a:srgbClr val="007F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485900" y="2667000"/>
            <a:ext cx="63500" cy="88900"/>
          </a:xfrm>
          <a:prstGeom prst="line">
            <a:avLst/>
          </a:prstGeom>
          <a:ln w="12700">
            <a:solidFill>
              <a:srgbClr val="007F8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120900" y="2755900"/>
            <a:ext cx="558800" cy="279400"/>
          </a:xfrm>
          <a:prstGeom prst="ellipse">
            <a:avLst/>
          </a:prstGeom>
          <a:solidFill>
            <a:srgbClr val="D5ECE8"/>
          </a:solidFill>
          <a:ln>
            <a:solidFill>
              <a:srgbClr val="427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2235200" y="2667000"/>
            <a:ext cx="63500" cy="88900"/>
          </a:xfrm>
          <a:prstGeom prst="line">
            <a:avLst/>
          </a:prstGeom>
          <a:ln w="127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400300" y="2667000"/>
            <a:ext cx="63500" cy="88900"/>
          </a:xfrm>
          <a:prstGeom prst="line">
            <a:avLst/>
          </a:prstGeom>
          <a:ln w="12700">
            <a:solidFill>
              <a:srgbClr val="427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565400" y="2667000"/>
            <a:ext cx="63500" cy="88900"/>
          </a:xfrm>
          <a:prstGeom prst="line">
            <a:avLst/>
          </a:prstGeom>
          <a:ln w="12700">
            <a:solidFill>
              <a:srgbClr val="4276C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200400" y="2755900"/>
            <a:ext cx="558800" cy="279400"/>
          </a:xfrm>
          <a:prstGeom prst="ellipse">
            <a:avLst/>
          </a:prstGeom>
          <a:solidFill>
            <a:srgbClr val="D5ECE8"/>
          </a:solidFill>
          <a:ln>
            <a:solidFill>
              <a:srgbClr val="80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314700" y="2667000"/>
            <a:ext cx="63500" cy="88900"/>
          </a:xfrm>
          <a:prstGeom prst="line">
            <a:avLst/>
          </a:prstGeom>
          <a:ln w="127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479800" y="2667000"/>
            <a:ext cx="63500" cy="88900"/>
          </a:xfrm>
          <a:prstGeom prst="line">
            <a:avLst/>
          </a:prstGeom>
          <a:ln w="12700">
            <a:solidFill>
              <a:srgbClr val="8061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44900" y="2667000"/>
            <a:ext cx="63500" cy="88900"/>
          </a:xfrm>
          <a:prstGeom prst="line">
            <a:avLst/>
          </a:prstGeom>
          <a:ln w="12700">
            <a:solidFill>
              <a:srgbClr val="8061AC"/>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279900" y="2755900"/>
            <a:ext cx="558800" cy="279400"/>
          </a:xfrm>
          <a:prstGeom prst="ellipse">
            <a:avLst/>
          </a:prstGeom>
          <a:solidFill>
            <a:srgbClr val="D5ECE8"/>
          </a:solidFill>
          <a:ln>
            <a:solidFill>
              <a:srgbClr val="DA7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394200" y="2667000"/>
            <a:ext cx="63500" cy="8890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559300" y="2667000"/>
            <a:ext cx="63500" cy="8890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24400" y="2667000"/>
            <a:ext cx="63500" cy="88900"/>
          </a:xfrm>
          <a:prstGeom prst="line">
            <a:avLst/>
          </a:prstGeom>
          <a:ln w="12700">
            <a:solidFill>
              <a:srgbClr val="DA765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89000" y="2070100"/>
            <a:ext cx="46863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Sereika et al., 2025</a:t>
            </a:r>
          </a:p>
        </p:txBody>
      </p:sp>
      <p:sp>
        <p:nvSpPr>
          <p:cNvPr id="26" name="TextBox 25"/>
          <p:cNvSpPr txBox="1"/>
          <p:nvPr/>
        </p:nvSpPr>
        <p:spPr>
          <a:xfrm>
            <a:off x="889000" y="3581400"/>
            <a:ext cx="4686300" cy="1060323"/>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154 muestras ambientales:</a:t>
            </a:r>
          </a:p>
          <a:p>
            <a:pPr>
              <a:lnSpc>
                <a:spcPct val="115000"/>
              </a:lnSpc>
              <a:spcBef>
                <a:spcPts val="0"/>
              </a:spcBef>
              <a:spcAft>
                <a:spcPts val="0"/>
              </a:spcAft>
              <a:defRPr sz="2100" b="0">
                <a:solidFill>
                  <a:srgbClr val="183443"/>
                </a:solidFill>
                <a:latin typeface="DejaVu Sans"/>
              </a:defRPr>
            </a:pPr>
            <a:r>
              <a:t>lecturas largas amplían los</a:t>
            </a:r>
          </a:p>
          <a:p>
            <a:pPr>
              <a:lnSpc>
                <a:spcPct val="115000"/>
              </a:lnSpc>
              <a:spcBef>
                <a:spcPts val="0"/>
              </a:spcBef>
              <a:spcAft>
                <a:spcPts val="0"/>
              </a:spcAft>
              <a:defRPr sz="2100" b="0">
                <a:solidFill>
                  <a:srgbClr val="183443"/>
                </a:solidFill>
                <a:latin typeface="DejaVu Sans"/>
              </a:defRPr>
            </a:pPr>
            <a:r>
              <a:t>catálogos genómicos.</a:t>
            </a:r>
          </a:p>
        </p:txBody>
      </p:sp>
      <p:sp>
        <p:nvSpPr>
          <p:cNvPr id="27" name="Rounded Rectangle 26"/>
          <p:cNvSpPr/>
          <p:nvPr/>
        </p:nvSpPr>
        <p:spPr>
          <a:xfrm>
            <a:off x="66548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7183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56400" y="3003550"/>
            <a:ext cx="165100" cy="22225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7310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8389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454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7089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47000" y="3003550"/>
            <a:ext cx="165100" cy="222250"/>
          </a:xfrm>
          <a:prstGeom prst="rect">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77216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8295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6360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995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737600" y="3003550"/>
            <a:ext cx="165100" cy="222250"/>
          </a:xfrm>
          <a:prstGeom prst="rect">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87122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88201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626600" y="2616200"/>
            <a:ext cx="368300" cy="139700"/>
          </a:xfrm>
          <a:prstGeom prst="roundRect">
            <a:avLst/>
          </a:prstGeom>
          <a:solidFill>
            <a:srgbClr val="DFEBEF"/>
          </a:solidFill>
          <a:ln>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690100" y="2781300"/>
            <a:ext cx="241300" cy="444500"/>
          </a:xfrm>
          <a:prstGeom prst="roundRect">
            <a:avLst/>
          </a:prstGeom>
          <a:solidFill>
            <a:srgbClr val="FFFFFF"/>
          </a:solidFill>
          <a:ln>
            <a:solidFill>
              <a:srgbClr val="AAC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28200" y="3003550"/>
            <a:ext cx="165100" cy="222250"/>
          </a:xfrm>
          <a:prstGeom prst="rect">
            <a:avLst/>
          </a:prstGeom>
          <a:solidFill>
            <a:srgbClr val="DA7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970280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810750" y="3225800"/>
            <a:ext cx="107950" cy="215900"/>
          </a:xfrm>
          <a:prstGeom prst="line">
            <a:avLst/>
          </a:prstGeom>
          <a:ln w="25400">
            <a:solidFill>
              <a:srgbClr val="AAC2CB"/>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77000" y="2070100"/>
            <a:ext cx="46863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Visci et al., 2026</a:t>
            </a:r>
          </a:p>
        </p:txBody>
      </p:sp>
      <p:sp>
        <p:nvSpPr>
          <p:cNvPr id="48" name="TextBox 47"/>
          <p:cNvSpPr txBox="1"/>
          <p:nvPr/>
        </p:nvSpPr>
        <p:spPr>
          <a:xfrm>
            <a:off x="6477000" y="3835400"/>
            <a:ext cx="4686300" cy="1060323"/>
          </a:xfrm>
          <a:prstGeom prst="rect">
            <a:avLst/>
          </a:prstGeom>
          <a:noFill/>
        </p:spPr>
        <p:txBody>
          <a:bodyPr wrap="none" lIns="0" rIns="0" tIns="0" bIns="0">
            <a:spAutoFit/>
          </a:bodyPr>
          <a:lstStyle/>
          <a:p>
            <a:pPr>
              <a:lnSpc>
                <a:spcPct val="115000"/>
              </a:lnSpc>
              <a:spcBef>
                <a:spcPts val="0"/>
              </a:spcBef>
              <a:spcAft>
                <a:spcPts val="0"/>
              </a:spcAft>
              <a:defRPr sz="2100" b="0">
                <a:solidFill>
                  <a:srgbClr val="183443"/>
                </a:solidFill>
                <a:latin typeface="DejaVu Sans"/>
              </a:defRPr>
            </a:pPr>
            <a:r>
              <a:t>Mock de 20 especies:</a:t>
            </a:r>
          </a:p>
          <a:p>
            <a:pPr>
              <a:lnSpc>
                <a:spcPct val="115000"/>
              </a:lnSpc>
              <a:spcBef>
                <a:spcPts val="0"/>
              </a:spcBef>
              <a:spcAft>
                <a:spcPts val="0"/>
              </a:spcAft>
              <a:defRPr sz="2100" b="0">
                <a:solidFill>
                  <a:srgbClr val="183443"/>
                </a:solidFill>
                <a:latin typeface="DejaVu Sans"/>
              </a:defRPr>
            </a:pPr>
            <a:r>
              <a:t>la estrategia y el ensamblador</a:t>
            </a:r>
          </a:p>
          <a:p>
            <a:pPr>
              <a:lnSpc>
                <a:spcPct val="115000"/>
              </a:lnSpc>
              <a:spcBef>
                <a:spcPts val="0"/>
              </a:spcBef>
              <a:spcAft>
                <a:spcPts val="0"/>
              </a:spcAft>
              <a:defRPr sz="2100" b="0">
                <a:solidFill>
                  <a:srgbClr val="183443"/>
                </a:solidFill>
                <a:latin typeface="DejaVu Sans"/>
              </a:defRPr>
            </a:pPr>
            <a:r>
              <a:t>cambian el resultado.</a:t>
            </a:r>
          </a:p>
        </p:txBody>
      </p:sp>
      <p:sp>
        <p:nvSpPr>
          <p:cNvPr id="49" name="Rounded Rectangle 48"/>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0100" y="5816600"/>
            <a:ext cx="10579100" cy="544830"/>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Actualizar el protocolo no es copiar una cifra de precisión: es verificar la química y el análisis</a:t>
            </a:r>
          </a:p>
          <a:p>
            <a:pPr>
              <a:lnSpc>
                <a:spcPct val="115000"/>
              </a:lnSpc>
              <a:spcBef>
                <a:spcPts val="0"/>
              </a:spcBef>
              <a:spcAft>
                <a:spcPts val="0"/>
              </a:spcAft>
              <a:defRPr sz="1500" b="1">
                <a:solidFill>
                  <a:srgbClr val="007F86"/>
                </a:solidFill>
                <a:latin typeface="DejaVu Sans"/>
              </a:defRPr>
            </a:pPr>
            <a:r>
              <a:t>usados.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CASO INTEGRADOR</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Tu turno: diseña el estudio de agua y sedimento</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Cálculo didáctico · síntesis de [7–17].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24</a:t>
            </a:r>
          </a:p>
        </p:txBody>
      </p:sp>
      <p:sp>
        <p:nvSpPr>
          <p:cNvPr id="7" name="Rounded Rectangle 6"/>
          <p:cNvSpPr/>
          <p:nvPr/>
        </p:nvSpPr>
        <p:spPr>
          <a:xfrm>
            <a:off x="660400" y="1879600"/>
            <a:ext cx="5156200" cy="121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019300"/>
            <a:ext cx="482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Objetivo biológico</a:t>
            </a:r>
          </a:p>
        </p:txBody>
      </p:sp>
      <p:sp>
        <p:nvSpPr>
          <p:cNvPr id="9" name="TextBox 8"/>
          <p:cNvSpPr txBox="1"/>
          <p:nvPr/>
        </p:nvSpPr>
        <p:spPr>
          <a:xfrm>
            <a:off x="825500" y="2438400"/>
            <a:ext cx="4826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Comparar genes y recuperar MAGs</a:t>
            </a:r>
          </a:p>
        </p:txBody>
      </p:sp>
      <p:sp>
        <p:nvSpPr>
          <p:cNvPr id="10" name="Rounded Rectangle 9"/>
          <p:cNvSpPr/>
          <p:nvPr/>
        </p:nvSpPr>
        <p:spPr>
          <a:xfrm>
            <a:off x="6248400" y="1879600"/>
            <a:ext cx="5156200" cy="121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3500" y="2019300"/>
            <a:ext cx="48260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Datos del piloto</a:t>
            </a:r>
          </a:p>
        </p:txBody>
      </p:sp>
      <p:sp>
        <p:nvSpPr>
          <p:cNvPr id="12" name="TextBox 11"/>
          <p:cNvSpPr txBox="1"/>
          <p:nvPr/>
        </p:nvSpPr>
        <p:spPr>
          <a:xfrm>
            <a:off x="6413500" y="2438400"/>
            <a:ext cx="4826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 Gb útiles; especie al 0,1 %; 4 Mb</a:t>
            </a:r>
          </a:p>
        </p:txBody>
      </p:sp>
      <p:sp>
        <p:nvSpPr>
          <p:cNvPr id="13" name="TextBox 12"/>
          <p:cNvSpPr txBox="1"/>
          <p:nvPr/>
        </p:nvSpPr>
        <p:spPr>
          <a:xfrm>
            <a:off x="850900" y="3568700"/>
            <a:ext cx="10312400" cy="1200912"/>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1. ¿Amplicones o shotgun?</a:t>
            </a:r>
          </a:p>
          <a:p>
            <a:pPr>
              <a:lnSpc>
                <a:spcPct val="115000"/>
              </a:lnSpc>
              <a:spcBef>
                <a:spcPts val="0"/>
              </a:spcBef>
              <a:spcAft>
                <a:spcPts val="0"/>
              </a:spcAft>
              <a:defRPr sz="2400" b="1">
                <a:solidFill>
                  <a:srgbClr val="007F86"/>
                </a:solidFill>
                <a:latin typeface="DejaVu Sans"/>
              </a:defRPr>
            </a:pPr>
            <a:r>
              <a:t>2. ¿Illumina, Nanopore o combinación?</a:t>
            </a:r>
          </a:p>
          <a:p>
            <a:pPr>
              <a:lnSpc>
                <a:spcPct val="115000"/>
              </a:lnSpc>
              <a:spcBef>
                <a:spcPts val="0"/>
              </a:spcBef>
              <a:spcAft>
                <a:spcPts val="0"/>
              </a:spcAft>
              <a:defRPr sz="2400" b="1">
                <a:solidFill>
                  <a:srgbClr val="007F86"/>
                </a:solidFill>
                <a:latin typeface="DejaVu Sans"/>
              </a:defRPr>
            </a:pPr>
            <a:r>
              <a:t>3. ¿Qué controles y cobertura esperarías?</a:t>
            </a:r>
          </a:p>
        </p:txBody>
      </p:sp>
      <p:sp>
        <p:nvSpPr>
          <p:cNvPr id="14" name="Rounded Rectangle 1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Respuesta orientativa: shotgun + controles; ≈7,5× para esa especie. No garantiza un MAG.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CIERRE</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La decisión técnica empieza y termina en la</a:t>
            </a:r>
          </a:p>
          <a:p>
            <a:pPr>
              <a:lnSpc>
                <a:spcPct val="115000"/>
              </a:lnSpc>
              <a:spcBef>
                <a:spcPts val="0"/>
              </a:spcBef>
              <a:spcAft>
                <a:spcPts val="0"/>
              </a:spcAft>
              <a:defRPr sz="2900" b="1">
                <a:solidFill>
                  <a:srgbClr val="183443"/>
                </a:solidFill>
                <a:latin typeface="DejaVu Sans"/>
              </a:defRPr>
            </a:pPr>
            <a:r>
              <a:t>pregunta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[4,9–18]</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25</a:t>
            </a:r>
          </a:p>
        </p:txBody>
      </p:sp>
      <p:sp>
        <p:nvSpPr>
          <p:cNvPr id="7" name="Rounded Rectangle 6"/>
          <p:cNvSpPr/>
          <p:nvPr/>
        </p:nvSpPr>
        <p:spPr>
          <a:xfrm>
            <a:off x="660400" y="1892300"/>
            <a:ext cx="10769600" cy="1041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2800" y="2108200"/>
            <a:ext cx="457200" cy="4572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2133600"/>
            <a:ext cx="38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FFFFFF"/>
                </a:solidFill>
                <a:latin typeface="DejaVu Sans"/>
              </a:defRPr>
            </a:pPr>
            <a:r>
              <a:t>1</a:t>
            </a:r>
          </a:p>
        </p:txBody>
      </p:sp>
      <p:sp>
        <p:nvSpPr>
          <p:cNvPr id="10" name="TextBox 9"/>
          <p:cNvSpPr txBox="1"/>
          <p:nvPr/>
        </p:nvSpPr>
        <p:spPr>
          <a:xfrm>
            <a:off x="1549400" y="2006600"/>
            <a:ext cx="95377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007F86"/>
                </a:solidFill>
                <a:latin typeface="DejaVu Sans"/>
              </a:defRPr>
            </a:pPr>
            <a:r>
              <a:t>Qué quiero inferir</a:t>
            </a:r>
          </a:p>
        </p:txBody>
      </p:sp>
      <p:sp>
        <p:nvSpPr>
          <p:cNvPr id="11" name="TextBox 10"/>
          <p:cNvSpPr txBox="1"/>
          <p:nvPr/>
        </p:nvSpPr>
        <p:spPr>
          <a:xfrm>
            <a:off x="1549400" y="2463800"/>
            <a:ext cx="9537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Presencia, abundancia, estructura o genomas.</a:t>
            </a:r>
          </a:p>
        </p:txBody>
      </p:sp>
      <p:sp>
        <p:nvSpPr>
          <p:cNvPr id="12" name="Rounded Rectangle 11"/>
          <p:cNvSpPr/>
          <p:nvPr/>
        </p:nvSpPr>
        <p:spPr>
          <a:xfrm>
            <a:off x="660400" y="3136900"/>
            <a:ext cx="10769600" cy="1041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2800" y="3352800"/>
            <a:ext cx="457200" cy="457200"/>
          </a:xfrm>
          <a:prstGeom prst="ellipse">
            <a:avLst/>
          </a:prstGeom>
          <a:solidFill>
            <a:srgbClr val="42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500" y="3378200"/>
            <a:ext cx="38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FFFFFF"/>
                </a:solidFill>
                <a:latin typeface="DejaVu Sans"/>
              </a:defRPr>
            </a:pPr>
            <a:r>
              <a:t>2</a:t>
            </a:r>
          </a:p>
        </p:txBody>
      </p:sp>
      <p:sp>
        <p:nvSpPr>
          <p:cNvPr id="15" name="TextBox 14"/>
          <p:cNvSpPr txBox="1"/>
          <p:nvPr/>
        </p:nvSpPr>
        <p:spPr>
          <a:xfrm>
            <a:off x="1549400" y="3251200"/>
            <a:ext cx="95377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4276C8"/>
                </a:solidFill>
                <a:latin typeface="DejaVu Sans"/>
              </a:defRPr>
            </a:pPr>
            <a:r>
              <a:t>Qué datos necesito</a:t>
            </a:r>
          </a:p>
        </p:txBody>
      </p:sp>
      <p:sp>
        <p:nvSpPr>
          <p:cNvPr id="16" name="TextBox 15"/>
          <p:cNvSpPr txBox="1"/>
          <p:nvPr/>
        </p:nvSpPr>
        <p:spPr>
          <a:xfrm>
            <a:off x="1549400" y="3708400"/>
            <a:ext cx="9537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Longitud, bases útiles, calidad y controles.</a:t>
            </a:r>
          </a:p>
        </p:txBody>
      </p:sp>
      <p:sp>
        <p:nvSpPr>
          <p:cNvPr id="17" name="Rounded Rectangle 16"/>
          <p:cNvSpPr/>
          <p:nvPr/>
        </p:nvSpPr>
        <p:spPr>
          <a:xfrm>
            <a:off x="660400" y="4381500"/>
            <a:ext cx="10769600" cy="1041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2800" y="4597400"/>
            <a:ext cx="457200" cy="457200"/>
          </a:xfrm>
          <a:prstGeom prst="ellipse">
            <a:avLst/>
          </a:prstGeom>
          <a:solidFill>
            <a:srgbClr val="80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2500" y="4622800"/>
            <a:ext cx="381000" cy="419862"/>
          </a:xfrm>
          <a:prstGeom prst="rect">
            <a:avLst/>
          </a:prstGeom>
          <a:noFill/>
        </p:spPr>
        <p:txBody>
          <a:bodyPr wrap="none" lIns="0" rIns="0" tIns="0" bIns="0">
            <a:spAutoFit/>
          </a:bodyPr>
          <a:lstStyle/>
          <a:p>
            <a:pPr>
              <a:lnSpc>
                <a:spcPct val="115000"/>
              </a:lnSpc>
              <a:spcBef>
                <a:spcPts val="0"/>
              </a:spcBef>
              <a:spcAft>
                <a:spcPts val="0"/>
              </a:spcAft>
              <a:defRPr sz="2200" b="1">
                <a:solidFill>
                  <a:srgbClr val="FFFFFF"/>
                </a:solidFill>
                <a:latin typeface="DejaVu Sans"/>
              </a:defRPr>
            </a:pPr>
            <a:r>
              <a:t>3</a:t>
            </a:r>
          </a:p>
        </p:txBody>
      </p:sp>
      <p:sp>
        <p:nvSpPr>
          <p:cNvPr id="20" name="TextBox 19"/>
          <p:cNvSpPr txBox="1"/>
          <p:nvPr/>
        </p:nvSpPr>
        <p:spPr>
          <a:xfrm>
            <a:off x="1549400" y="4495800"/>
            <a:ext cx="9537700" cy="435483"/>
          </a:xfrm>
          <a:prstGeom prst="rect">
            <a:avLst/>
          </a:prstGeom>
          <a:noFill/>
        </p:spPr>
        <p:txBody>
          <a:bodyPr wrap="none" lIns="0" rIns="0" tIns="0" bIns="0">
            <a:spAutoFit/>
          </a:bodyPr>
          <a:lstStyle/>
          <a:p>
            <a:pPr>
              <a:lnSpc>
                <a:spcPct val="115000"/>
              </a:lnSpc>
              <a:spcBef>
                <a:spcPts val="0"/>
              </a:spcBef>
              <a:spcAft>
                <a:spcPts val="0"/>
              </a:spcAft>
              <a:defRPr sz="2300" b="1">
                <a:solidFill>
                  <a:srgbClr val="8061AC"/>
                </a:solidFill>
                <a:latin typeface="DejaVu Sans"/>
              </a:defRPr>
            </a:pPr>
            <a:r>
              <a:t>Cómo lo demuestro</a:t>
            </a:r>
          </a:p>
        </p:txBody>
      </p:sp>
      <p:sp>
        <p:nvSpPr>
          <p:cNvPr id="21" name="TextBox 20"/>
          <p:cNvSpPr txBox="1"/>
          <p:nvPr/>
        </p:nvSpPr>
        <p:spPr>
          <a:xfrm>
            <a:off x="1549400" y="4953000"/>
            <a:ext cx="9537700" cy="357378"/>
          </a:xfrm>
          <a:prstGeom prst="rect">
            <a:avLst/>
          </a:prstGeom>
          <a:noFill/>
        </p:spPr>
        <p:txBody>
          <a:bodyPr wrap="none" lIns="0" rIns="0" tIns="0" bIns="0">
            <a:spAutoFit/>
          </a:bodyPr>
          <a:lstStyle/>
          <a:p>
            <a:pPr>
              <a:lnSpc>
                <a:spcPct val="115000"/>
              </a:lnSpc>
              <a:spcBef>
                <a:spcPts val="0"/>
              </a:spcBef>
              <a:spcAft>
                <a:spcPts val="0"/>
              </a:spcAft>
              <a:defRPr sz="1800" b="0">
                <a:solidFill>
                  <a:srgbClr val="183443"/>
                </a:solidFill>
                <a:latin typeface="DejaVu Sans"/>
              </a:defRPr>
            </a:pPr>
            <a:r>
              <a:t>Protocolo validado, QC y límites de la conclusión.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CÁLCULO DE NORMALIZACIÓN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Anexo: convertir masa en moléculas de biblioteca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Ejemplo de ADN ds · revisar longitud total y kit.</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26</a:t>
            </a:r>
          </a:p>
        </p:txBody>
      </p:sp>
      <p:sp>
        <p:nvSpPr>
          <p:cNvPr id="7" name="TextBox 6"/>
          <p:cNvSpPr txBox="1"/>
          <p:nvPr/>
        </p:nvSpPr>
        <p:spPr>
          <a:xfrm>
            <a:off x="762000" y="1943100"/>
            <a:ext cx="10642600" cy="451103"/>
          </a:xfrm>
          <a:prstGeom prst="rect">
            <a:avLst/>
          </a:prstGeom>
          <a:noFill/>
        </p:spPr>
        <p:txBody>
          <a:bodyPr wrap="none" lIns="0" rIns="0" tIns="0" bIns="0">
            <a:spAutoFit/>
          </a:bodyPr>
          <a:lstStyle/>
          <a:p>
            <a:pPr>
              <a:lnSpc>
                <a:spcPct val="115000"/>
              </a:lnSpc>
              <a:spcBef>
                <a:spcPts val="0"/>
              </a:spcBef>
              <a:spcAft>
                <a:spcPts val="0"/>
              </a:spcAft>
              <a:defRPr sz="2400" b="1">
                <a:solidFill>
                  <a:srgbClr val="007F86"/>
                </a:solidFill>
                <a:latin typeface="DejaVu Sans"/>
              </a:defRPr>
            </a:pPr>
            <a:r>
              <a:t>nM = (ng/µL × 10⁶) / (660 × longitud total en pb)</a:t>
            </a:r>
          </a:p>
        </p:txBody>
      </p:sp>
      <p:sp>
        <p:nvSpPr>
          <p:cNvPr id="8" name="Rounded Rectangle 7"/>
          <p:cNvSpPr/>
          <p:nvPr/>
        </p:nvSpPr>
        <p:spPr>
          <a:xfrm>
            <a:off x="774700" y="2806700"/>
            <a:ext cx="49911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9800" y="2946400"/>
            <a:ext cx="4660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10 ng/µL · 500 pb</a:t>
            </a:r>
          </a:p>
        </p:txBody>
      </p:sp>
      <p:sp>
        <p:nvSpPr>
          <p:cNvPr id="10" name="TextBox 9"/>
          <p:cNvSpPr txBox="1"/>
          <p:nvPr/>
        </p:nvSpPr>
        <p:spPr>
          <a:xfrm>
            <a:off x="939800" y="3365500"/>
            <a:ext cx="4660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≈30,3 nM de biblioteca de ADN ds</a:t>
            </a:r>
          </a:p>
        </p:txBody>
      </p:sp>
      <p:sp>
        <p:nvSpPr>
          <p:cNvPr id="11" name="Rounded Rectangle 10"/>
          <p:cNvSpPr/>
          <p:nvPr/>
        </p:nvSpPr>
        <p:spPr>
          <a:xfrm>
            <a:off x="6311900" y="2806700"/>
            <a:ext cx="4991100" cy="1397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7000" y="2946400"/>
            <a:ext cx="46609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Preparar 20 µL a 4 nM</a:t>
            </a:r>
          </a:p>
        </p:txBody>
      </p:sp>
      <p:sp>
        <p:nvSpPr>
          <p:cNvPr id="13" name="TextBox 12"/>
          <p:cNvSpPr txBox="1"/>
          <p:nvPr/>
        </p:nvSpPr>
        <p:spPr>
          <a:xfrm>
            <a:off x="6477000" y="3365500"/>
            <a:ext cx="46609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V₁ = 4 × 20 / 30,3 = 2,64 µL</a:t>
            </a:r>
          </a:p>
        </p:txBody>
      </p:sp>
      <p:sp>
        <p:nvSpPr>
          <p:cNvPr id="14" name="Rounded Rectangle 13"/>
          <p:cNvSpPr/>
          <p:nvPr/>
        </p:nvSpPr>
        <p:spPr>
          <a:xfrm>
            <a:off x="609600" y="5689600"/>
            <a:ext cx="10972800" cy="571500"/>
          </a:xfrm>
          <a:prstGeom prst="roundRect">
            <a:avLst/>
          </a:prstGeom>
          <a:solidFill>
            <a:srgbClr val="E1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5816600"/>
            <a:ext cx="105791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007F86"/>
                </a:solidFill>
                <a:latin typeface="DejaVu Sans"/>
              </a:defRPr>
            </a:pPr>
            <a:r>
              <a:t>Añadir 17,36 µL de diluyente. Incluir adaptadores al definir la longitud de la biblioteca.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COMPATIBILIDAD Y TRAZABILIDAD</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Anexo: qué registrar en una corrida Nanopore</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[4–5,17]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27</a:t>
            </a:r>
          </a:p>
        </p:txBody>
      </p:sp>
      <p:sp>
        <p:nvSpPr>
          <p:cNvPr id="7" name="Rectangle 6"/>
          <p:cNvSpPr/>
          <p:nvPr/>
        </p:nvSpPr>
        <p:spPr>
          <a:xfrm>
            <a:off x="609600" y="1905000"/>
            <a:ext cx="4572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43434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Registrar</a:t>
            </a:r>
          </a:p>
        </p:txBody>
      </p:sp>
      <p:sp>
        <p:nvSpPr>
          <p:cNvPr id="9" name="Rectangle 8"/>
          <p:cNvSpPr/>
          <p:nvPr/>
        </p:nvSpPr>
        <p:spPr>
          <a:xfrm>
            <a:off x="5181600" y="1905000"/>
            <a:ext cx="64008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95900" y="2006600"/>
            <a:ext cx="61722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Por qué afecta el análisis</a:t>
            </a:r>
          </a:p>
        </p:txBody>
      </p:sp>
      <p:sp>
        <p:nvSpPr>
          <p:cNvPr id="11" name="Rectangle 10"/>
          <p:cNvSpPr/>
          <p:nvPr/>
        </p:nvSpPr>
        <p:spPr>
          <a:xfrm>
            <a:off x="609600" y="2387600"/>
            <a:ext cx="4572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476500"/>
            <a:ext cx="4343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Flow cell y química exactas</a:t>
            </a:r>
          </a:p>
        </p:txBody>
      </p:sp>
      <p:sp>
        <p:nvSpPr>
          <p:cNvPr id="13" name="Rectangle 12"/>
          <p:cNvSpPr/>
          <p:nvPr/>
        </p:nvSpPr>
        <p:spPr>
          <a:xfrm>
            <a:off x="5181600" y="2387600"/>
            <a:ext cx="6400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95900" y="2476500"/>
            <a:ext cx="6172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Determinan señal y modelos compatibles</a:t>
            </a:r>
          </a:p>
        </p:txBody>
      </p:sp>
      <p:sp>
        <p:nvSpPr>
          <p:cNvPr id="15" name="Rectangle 14"/>
          <p:cNvSpPr/>
          <p:nvPr/>
        </p:nvSpPr>
        <p:spPr>
          <a:xfrm>
            <a:off x="609600" y="2870200"/>
            <a:ext cx="4572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2959100"/>
            <a:ext cx="4343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Kit, barcodes y tratamiento de ADN</a:t>
            </a:r>
          </a:p>
        </p:txBody>
      </p:sp>
      <p:sp>
        <p:nvSpPr>
          <p:cNvPr id="17" name="Rectangle 16"/>
          <p:cNvSpPr/>
          <p:nvPr/>
        </p:nvSpPr>
        <p:spPr>
          <a:xfrm>
            <a:off x="5181600" y="2870200"/>
            <a:ext cx="64008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95900" y="2959100"/>
            <a:ext cx="6172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Cambian integridad, rendimiento y sesgos</a:t>
            </a:r>
          </a:p>
        </p:txBody>
      </p:sp>
      <p:sp>
        <p:nvSpPr>
          <p:cNvPr id="19" name="Rectangle 18"/>
          <p:cNvSpPr/>
          <p:nvPr/>
        </p:nvSpPr>
        <p:spPr>
          <a:xfrm>
            <a:off x="609600" y="3352800"/>
            <a:ext cx="4572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3441700"/>
            <a:ext cx="4343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Dorado y modelo completo/versionado</a:t>
            </a:r>
          </a:p>
        </p:txBody>
      </p:sp>
      <p:sp>
        <p:nvSpPr>
          <p:cNvPr id="21" name="Rectangle 20"/>
          <p:cNvSpPr/>
          <p:nvPr/>
        </p:nvSpPr>
        <p:spPr>
          <a:xfrm>
            <a:off x="5181600" y="3352800"/>
            <a:ext cx="6400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95900" y="3441700"/>
            <a:ext cx="6172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FAST/HAC/SUP son decisiones de cómputo y precisión</a:t>
            </a:r>
          </a:p>
        </p:txBody>
      </p:sp>
      <p:sp>
        <p:nvSpPr>
          <p:cNvPr id="23" name="Rectangle 22"/>
          <p:cNvSpPr/>
          <p:nvPr/>
        </p:nvSpPr>
        <p:spPr>
          <a:xfrm>
            <a:off x="609600" y="3835400"/>
            <a:ext cx="4572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3924300"/>
            <a:ext cx="4343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Simplex / duplex y señal POD5</a:t>
            </a:r>
          </a:p>
        </p:txBody>
      </p:sp>
      <p:sp>
        <p:nvSpPr>
          <p:cNvPr id="25" name="Rectangle 24"/>
          <p:cNvSpPr/>
          <p:nvPr/>
        </p:nvSpPr>
        <p:spPr>
          <a:xfrm>
            <a:off x="5181600" y="3835400"/>
            <a:ext cx="64008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95900" y="3924300"/>
            <a:ext cx="6172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Declarar cómo se obtuvo el consenso; conservar señal</a:t>
            </a:r>
          </a:p>
        </p:txBody>
      </p:sp>
      <p:sp>
        <p:nvSpPr>
          <p:cNvPr id="27" name="Rectangle 26"/>
          <p:cNvSpPr/>
          <p:nvPr/>
        </p:nvSpPr>
        <p:spPr>
          <a:xfrm>
            <a:off x="609600" y="4318000"/>
            <a:ext cx="45720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900" y="4406900"/>
            <a:ext cx="4343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Filtrado, demultiplexado y base de datos</a:t>
            </a:r>
          </a:p>
        </p:txBody>
      </p:sp>
      <p:sp>
        <p:nvSpPr>
          <p:cNvPr id="29" name="Rectangle 28"/>
          <p:cNvSpPr/>
          <p:nvPr/>
        </p:nvSpPr>
        <p:spPr>
          <a:xfrm>
            <a:off x="5181600" y="4318000"/>
            <a:ext cx="6400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95900" y="4406900"/>
            <a:ext cx="6172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Permiten reproducir y comparar lotes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PLANTILLA DE SOP · ADAPTAR A CADA MATRIZ</a:t>
            </a:r>
          </a:p>
        </p:txBody>
      </p:sp>
      <p:sp>
        <p:nvSpPr>
          <p:cNvPr id="4" name="TextBox 3"/>
          <p:cNvSpPr txBox="1"/>
          <p:nvPr/>
        </p:nvSpPr>
        <p:spPr>
          <a:xfrm>
            <a:off x="609600" y="673100"/>
            <a:ext cx="10972800" cy="982218"/>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Anexo: criterios de aceptación antes de producir</a:t>
            </a:r>
          </a:p>
          <a:p>
            <a:pPr>
              <a:lnSpc>
                <a:spcPct val="115000"/>
              </a:lnSpc>
              <a:spcBef>
                <a:spcPts val="0"/>
              </a:spcBef>
              <a:spcAft>
                <a:spcPts val="0"/>
              </a:spcAft>
              <a:defRPr sz="2900" b="1">
                <a:solidFill>
                  <a:srgbClr val="183443"/>
                </a:solidFill>
                <a:latin typeface="DejaVu Sans"/>
              </a:defRPr>
            </a:pPr>
            <a:r>
              <a:t>datos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[11,14–17]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28</a:t>
            </a:r>
          </a:p>
        </p:txBody>
      </p:sp>
      <p:sp>
        <p:nvSpPr>
          <p:cNvPr id="7" name="Rectangle 6"/>
          <p:cNvSpPr/>
          <p:nvPr/>
        </p:nvSpPr>
        <p:spPr>
          <a:xfrm>
            <a:off x="609600" y="1905000"/>
            <a:ext cx="22225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19939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Etapa</a:t>
            </a:r>
          </a:p>
        </p:txBody>
      </p:sp>
      <p:sp>
        <p:nvSpPr>
          <p:cNvPr id="9" name="Rectangle 8"/>
          <p:cNvSpPr/>
          <p:nvPr/>
        </p:nvSpPr>
        <p:spPr>
          <a:xfrm>
            <a:off x="2832100" y="1905000"/>
            <a:ext cx="51943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6400" y="2006600"/>
            <a:ext cx="49657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Definir en el piloto</a:t>
            </a:r>
          </a:p>
        </p:txBody>
      </p:sp>
      <p:sp>
        <p:nvSpPr>
          <p:cNvPr id="11" name="Rectangle 10"/>
          <p:cNvSpPr/>
          <p:nvPr/>
        </p:nvSpPr>
        <p:spPr>
          <a:xfrm>
            <a:off x="8026400" y="1905000"/>
            <a:ext cx="35560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40700" y="2006600"/>
            <a:ext cx="33274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Si no cumple</a:t>
            </a:r>
          </a:p>
        </p:txBody>
      </p:sp>
      <p:sp>
        <p:nvSpPr>
          <p:cNvPr id="13" name="Rectangle 12"/>
          <p:cNvSpPr/>
          <p:nvPr/>
        </p:nvSpPr>
        <p:spPr>
          <a:xfrm>
            <a:off x="609600" y="2387600"/>
            <a:ext cx="2222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47650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Extracción</a:t>
            </a:r>
          </a:p>
        </p:txBody>
      </p:sp>
      <p:sp>
        <p:nvSpPr>
          <p:cNvPr id="15" name="Rectangle 14"/>
          <p:cNvSpPr/>
          <p:nvPr/>
        </p:nvSpPr>
        <p:spPr>
          <a:xfrm>
            <a:off x="2832100" y="2387600"/>
            <a:ext cx="51943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46400" y="2476500"/>
            <a:ext cx="4965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Masa útil, tamaño y control de inhibición</a:t>
            </a:r>
          </a:p>
        </p:txBody>
      </p:sp>
      <p:sp>
        <p:nvSpPr>
          <p:cNvPr id="17" name="Rectangle 16"/>
          <p:cNvSpPr/>
          <p:nvPr/>
        </p:nvSpPr>
        <p:spPr>
          <a:xfrm>
            <a:off x="8026400" y="2387600"/>
            <a:ext cx="35560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0700" y="2476500"/>
            <a:ext cx="33274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Reextraer o modificar</a:t>
            </a:r>
          </a:p>
          <a:p>
            <a:pPr>
              <a:lnSpc>
                <a:spcPct val="115000"/>
              </a:lnSpc>
              <a:spcBef>
                <a:spcPts val="0"/>
              </a:spcBef>
              <a:spcAft>
                <a:spcPts val="0"/>
              </a:spcAft>
              <a:defRPr sz="1500" b="0">
                <a:solidFill>
                  <a:srgbClr val="183443"/>
                </a:solidFill>
                <a:latin typeface="DejaVu Sans"/>
              </a:defRPr>
            </a:pPr>
            <a:r>
              <a:t>lisis/limpieza</a:t>
            </a:r>
          </a:p>
        </p:txBody>
      </p:sp>
      <p:sp>
        <p:nvSpPr>
          <p:cNvPr id="19" name="Rectangle 18"/>
          <p:cNvSpPr/>
          <p:nvPr/>
        </p:nvSpPr>
        <p:spPr>
          <a:xfrm>
            <a:off x="609600" y="3075940"/>
            <a:ext cx="22225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316484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Biblioteca</a:t>
            </a:r>
          </a:p>
        </p:txBody>
      </p:sp>
      <p:sp>
        <p:nvSpPr>
          <p:cNvPr id="21" name="Rectangle 20"/>
          <p:cNvSpPr/>
          <p:nvPr/>
        </p:nvSpPr>
        <p:spPr>
          <a:xfrm>
            <a:off x="2832100" y="3075940"/>
            <a:ext cx="51943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46400" y="3164840"/>
            <a:ext cx="4965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Tamaño, concentración y adaptadores</a:t>
            </a:r>
          </a:p>
        </p:txBody>
      </p:sp>
      <p:sp>
        <p:nvSpPr>
          <p:cNvPr id="23" name="Rectangle 22"/>
          <p:cNvSpPr/>
          <p:nvPr/>
        </p:nvSpPr>
        <p:spPr>
          <a:xfrm>
            <a:off x="8026400" y="3075940"/>
            <a:ext cx="35560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40700" y="3164840"/>
            <a:ext cx="33274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Revisar entrada y preparación</a:t>
            </a:r>
          </a:p>
        </p:txBody>
      </p:sp>
      <p:sp>
        <p:nvSpPr>
          <p:cNvPr id="25" name="Rectangle 24"/>
          <p:cNvSpPr/>
          <p:nvPr/>
        </p:nvSpPr>
        <p:spPr>
          <a:xfrm>
            <a:off x="609600" y="3558540"/>
            <a:ext cx="2222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364744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Corrida</a:t>
            </a:r>
          </a:p>
        </p:txBody>
      </p:sp>
      <p:sp>
        <p:nvSpPr>
          <p:cNvPr id="27" name="Rectangle 26"/>
          <p:cNvSpPr/>
          <p:nvPr/>
        </p:nvSpPr>
        <p:spPr>
          <a:xfrm>
            <a:off x="2832100" y="3558540"/>
            <a:ext cx="51943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46400" y="3647440"/>
            <a:ext cx="4965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Bases útiles y métricas de calidad por muestra</a:t>
            </a:r>
          </a:p>
        </p:txBody>
      </p:sp>
      <p:sp>
        <p:nvSpPr>
          <p:cNvPr id="29" name="Rectangle 28"/>
          <p:cNvSpPr/>
          <p:nvPr/>
        </p:nvSpPr>
        <p:spPr>
          <a:xfrm>
            <a:off x="8026400" y="3558540"/>
            <a:ext cx="35560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40700" y="3647440"/>
            <a:ext cx="33274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Rebalancear, repetir o secuenciar</a:t>
            </a:r>
          </a:p>
          <a:p>
            <a:pPr>
              <a:lnSpc>
                <a:spcPct val="115000"/>
              </a:lnSpc>
              <a:spcBef>
                <a:spcPts val="0"/>
              </a:spcBef>
              <a:spcAft>
                <a:spcPts val="0"/>
              </a:spcAft>
              <a:defRPr sz="1500" b="0">
                <a:solidFill>
                  <a:srgbClr val="183443"/>
                </a:solidFill>
                <a:latin typeface="DejaVu Sans"/>
              </a:defRPr>
            </a:pPr>
            <a:r>
              <a:t>más</a:t>
            </a:r>
          </a:p>
        </p:txBody>
      </p:sp>
      <p:sp>
        <p:nvSpPr>
          <p:cNvPr id="31" name="Rectangle 30"/>
          <p:cNvSpPr/>
          <p:nvPr/>
        </p:nvSpPr>
        <p:spPr>
          <a:xfrm>
            <a:off x="609600" y="4246880"/>
            <a:ext cx="2222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433578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Blancos / mock</a:t>
            </a:r>
          </a:p>
        </p:txBody>
      </p:sp>
      <p:sp>
        <p:nvSpPr>
          <p:cNvPr id="33" name="Rectangle 32"/>
          <p:cNvSpPr/>
          <p:nvPr/>
        </p:nvSpPr>
        <p:spPr>
          <a:xfrm>
            <a:off x="2832100" y="4246880"/>
            <a:ext cx="51943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46400" y="4335780"/>
            <a:ext cx="4965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Contaminación, recuperación y sesgo tolerables</a:t>
            </a:r>
          </a:p>
        </p:txBody>
      </p:sp>
      <p:sp>
        <p:nvSpPr>
          <p:cNvPr id="35" name="Rectangle 34"/>
          <p:cNvSpPr/>
          <p:nvPr/>
        </p:nvSpPr>
        <p:spPr>
          <a:xfrm>
            <a:off x="8026400" y="4246880"/>
            <a:ext cx="35560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40700" y="4335780"/>
            <a:ext cx="33274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Investigar lote antes de</a:t>
            </a:r>
          </a:p>
          <a:p>
            <a:pPr>
              <a:lnSpc>
                <a:spcPct val="115000"/>
              </a:lnSpc>
              <a:spcBef>
                <a:spcPts val="0"/>
              </a:spcBef>
              <a:spcAft>
                <a:spcPts val="0"/>
              </a:spcAft>
              <a:defRPr sz="1500" b="0">
                <a:solidFill>
                  <a:srgbClr val="183443"/>
                </a:solidFill>
                <a:latin typeface="DejaVu Sans"/>
              </a:defRPr>
            </a:pPr>
            <a:r>
              <a:t>interpretar</a:t>
            </a:r>
          </a:p>
        </p:txBody>
      </p:sp>
      <p:sp>
        <p:nvSpPr>
          <p:cNvPr id="37" name="Rectangle 36"/>
          <p:cNvSpPr/>
          <p:nvPr/>
        </p:nvSpPr>
        <p:spPr>
          <a:xfrm>
            <a:off x="609600" y="4935220"/>
            <a:ext cx="2222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3900" y="5024120"/>
            <a:ext cx="1993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MAGs</a:t>
            </a:r>
          </a:p>
        </p:txBody>
      </p:sp>
      <p:sp>
        <p:nvSpPr>
          <p:cNvPr id="39" name="Rectangle 38"/>
          <p:cNvSpPr/>
          <p:nvPr/>
        </p:nvSpPr>
        <p:spPr>
          <a:xfrm>
            <a:off x="2832100" y="4935220"/>
            <a:ext cx="51943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46400" y="5024120"/>
            <a:ext cx="49657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Categoría MIMAG y verificaciones adicionales</a:t>
            </a:r>
          </a:p>
        </p:txBody>
      </p:sp>
      <p:sp>
        <p:nvSpPr>
          <p:cNvPr id="41" name="Rectangle 40"/>
          <p:cNvSpPr/>
          <p:nvPr/>
        </p:nvSpPr>
        <p:spPr>
          <a:xfrm>
            <a:off x="8026400" y="4935220"/>
            <a:ext cx="35560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40700" y="5024120"/>
            <a:ext cx="33274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Refinar o reportar menor</a:t>
            </a:r>
          </a:p>
          <a:p>
            <a:pPr>
              <a:lnSpc>
                <a:spcPct val="115000"/>
              </a:lnSpc>
              <a:spcBef>
                <a:spcPts val="0"/>
              </a:spcBef>
              <a:spcAft>
                <a:spcPts val="0"/>
              </a:spcAft>
              <a:defRPr sz="1500" b="0">
                <a:solidFill>
                  <a:srgbClr val="183443"/>
                </a:solidFill>
                <a:latin typeface="DejaVu Sans"/>
              </a:defRPr>
            </a:pPr>
            <a:r>
              <a:t>categoría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NO CONSTITUYEN UN PIPELINE UNIVERSAL</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Anexo: ejemplos de herramientas por etapa</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[4,7–13,17]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29</a:t>
            </a:r>
          </a:p>
        </p:txBody>
      </p:sp>
      <p:sp>
        <p:nvSpPr>
          <p:cNvPr id="7" name="Rectangle 6"/>
          <p:cNvSpPr/>
          <p:nvPr/>
        </p:nvSpPr>
        <p:spPr>
          <a:xfrm>
            <a:off x="609600" y="1905000"/>
            <a:ext cx="28956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26670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Tarea</a:t>
            </a:r>
          </a:p>
        </p:txBody>
      </p:sp>
      <p:sp>
        <p:nvSpPr>
          <p:cNvPr id="9" name="Rectangle 8"/>
          <p:cNvSpPr/>
          <p:nvPr/>
        </p:nvSpPr>
        <p:spPr>
          <a:xfrm>
            <a:off x="3505200" y="1905000"/>
            <a:ext cx="80772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9500" y="2006600"/>
            <a:ext cx="7848600" cy="326136"/>
          </a:xfrm>
          <a:prstGeom prst="rect">
            <a:avLst/>
          </a:prstGeom>
          <a:noFill/>
        </p:spPr>
        <p:txBody>
          <a:bodyPr wrap="none" lIns="0" rIns="0" tIns="0" bIns="0">
            <a:spAutoFit/>
          </a:bodyPr>
          <a:lstStyle/>
          <a:p>
            <a:pPr>
              <a:lnSpc>
                <a:spcPct val="115000"/>
              </a:lnSpc>
              <a:spcBef>
                <a:spcPts val="0"/>
              </a:spcBef>
              <a:spcAft>
                <a:spcPts val="0"/>
              </a:spcAft>
              <a:defRPr sz="1600" b="1">
                <a:solidFill>
                  <a:srgbClr val="FFFFFF"/>
                </a:solidFill>
                <a:latin typeface="DejaVu Sans"/>
              </a:defRPr>
            </a:pPr>
            <a:r>
              <a:t>Ejemplos y verificación</a:t>
            </a:r>
          </a:p>
        </p:txBody>
      </p:sp>
      <p:sp>
        <p:nvSpPr>
          <p:cNvPr id="11" name="Rectangle 10"/>
          <p:cNvSpPr/>
          <p:nvPr/>
        </p:nvSpPr>
        <p:spPr>
          <a:xfrm>
            <a:off x="609600" y="2387600"/>
            <a:ext cx="28956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476500"/>
            <a:ext cx="2667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QC / señal</a:t>
            </a:r>
          </a:p>
        </p:txBody>
      </p:sp>
      <p:sp>
        <p:nvSpPr>
          <p:cNvPr id="13" name="Rectangle 12"/>
          <p:cNvSpPr/>
          <p:nvPr/>
        </p:nvSpPr>
        <p:spPr>
          <a:xfrm>
            <a:off x="3505200" y="2387600"/>
            <a:ext cx="8077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9500" y="2476500"/>
            <a:ext cx="7848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FastQC, fastp; Dorado para ONT. Registrar pérdidas y modelos.</a:t>
            </a:r>
          </a:p>
        </p:txBody>
      </p:sp>
      <p:sp>
        <p:nvSpPr>
          <p:cNvPr id="15" name="Rectangle 14"/>
          <p:cNvSpPr/>
          <p:nvPr/>
        </p:nvSpPr>
        <p:spPr>
          <a:xfrm>
            <a:off x="609600" y="2870200"/>
            <a:ext cx="28956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2959100"/>
            <a:ext cx="2667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Ensamblaje</a:t>
            </a:r>
          </a:p>
        </p:txBody>
      </p:sp>
      <p:sp>
        <p:nvSpPr>
          <p:cNvPr id="17" name="Rectangle 16"/>
          <p:cNvSpPr/>
          <p:nvPr/>
        </p:nvSpPr>
        <p:spPr>
          <a:xfrm>
            <a:off x="3505200" y="2870200"/>
            <a:ext cx="80772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9500" y="2959100"/>
            <a:ext cx="7848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MEGAHIT (cortas), metaFlye (largas); escoger según datos.</a:t>
            </a:r>
          </a:p>
        </p:txBody>
      </p:sp>
      <p:sp>
        <p:nvSpPr>
          <p:cNvPr id="19" name="Rectangle 18"/>
          <p:cNvSpPr/>
          <p:nvPr/>
        </p:nvSpPr>
        <p:spPr>
          <a:xfrm>
            <a:off x="609600" y="3352800"/>
            <a:ext cx="28956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3441700"/>
            <a:ext cx="2667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Binning / refinamiento</a:t>
            </a:r>
          </a:p>
        </p:txBody>
      </p:sp>
      <p:sp>
        <p:nvSpPr>
          <p:cNvPr id="21" name="Rectangle 20"/>
          <p:cNvSpPr/>
          <p:nvPr/>
        </p:nvSpPr>
        <p:spPr>
          <a:xfrm>
            <a:off x="3505200" y="3352800"/>
            <a:ext cx="8077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9500" y="3441700"/>
            <a:ext cx="7848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MetaBAT2, otros métodos y curación; usar cobertura por muestra.</a:t>
            </a:r>
          </a:p>
        </p:txBody>
      </p:sp>
      <p:sp>
        <p:nvSpPr>
          <p:cNvPr id="23" name="Rectangle 22"/>
          <p:cNvSpPr/>
          <p:nvPr/>
        </p:nvSpPr>
        <p:spPr>
          <a:xfrm>
            <a:off x="609600" y="3835400"/>
            <a:ext cx="28956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3924300"/>
            <a:ext cx="2667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Calidad / taxonomía</a:t>
            </a:r>
          </a:p>
        </p:txBody>
      </p:sp>
      <p:sp>
        <p:nvSpPr>
          <p:cNvPr id="25" name="Rectangle 24"/>
          <p:cNvSpPr/>
          <p:nvPr/>
        </p:nvSpPr>
        <p:spPr>
          <a:xfrm>
            <a:off x="3505200" y="3835400"/>
            <a:ext cx="8077200" cy="48260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9500" y="3924300"/>
            <a:ext cx="7848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CheckM2, GUNC; GTDB-Tk con versión de base de datos.</a:t>
            </a:r>
          </a:p>
        </p:txBody>
      </p:sp>
      <p:sp>
        <p:nvSpPr>
          <p:cNvPr id="27" name="Rectangle 26"/>
          <p:cNvSpPr/>
          <p:nvPr/>
        </p:nvSpPr>
        <p:spPr>
          <a:xfrm>
            <a:off x="609600" y="4318000"/>
            <a:ext cx="28956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900" y="4406900"/>
            <a:ext cx="26670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Anotación / abundancia</a:t>
            </a:r>
          </a:p>
        </p:txBody>
      </p:sp>
      <p:sp>
        <p:nvSpPr>
          <p:cNvPr id="29" name="Rectangle 28"/>
          <p:cNvSpPr/>
          <p:nvPr/>
        </p:nvSpPr>
        <p:spPr>
          <a:xfrm>
            <a:off x="3505200" y="4318000"/>
            <a:ext cx="8077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9500" y="4406900"/>
            <a:ext cx="78486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Bases funcionales fechadas; remapear y revisar ambigüedades.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TRES RESÚMENES, TRES LIMITACIONES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Anexo: N50, completitud y contaminación</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[11–13]</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30</a:t>
            </a:r>
          </a:p>
        </p:txBody>
      </p:sp>
      <p:sp>
        <p:nvSpPr>
          <p:cNvPr id="7" name="Rectangle 6"/>
          <p:cNvSpPr/>
          <p:nvPr/>
        </p:nvSpPr>
        <p:spPr>
          <a:xfrm>
            <a:off x="609600" y="1905000"/>
            <a:ext cx="36195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006600"/>
            <a:ext cx="33909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Ejemplo</a:t>
            </a:r>
          </a:p>
        </p:txBody>
      </p:sp>
      <p:sp>
        <p:nvSpPr>
          <p:cNvPr id="9" name="Rectangle 8"/>
          <p:cNvSpPr/>
          <p:nvPr/>
        </p:nvSpPr>
        <p:spPr>
          <a:xfrm>
            <a:off x="4229100" y="1905000"/>
            <a:ext cx="36195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2006600"/>
            <a:ext cx="33909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Lectura razonable</a:t>
            </a:r>
          </a:p>
        </p:txBody>
      </p:sp>
      <p:sp>
        <p:nvSpPr>
          <p:cNvPr id="11" name="Rectangle 10"/>
          <p:cNvSpPr/>
          <p:nvPr/>
        </p:nvSpPr>
        <p:spPr>
          <a:xfrm>
            <a:off x="7848600" y="1905000"/>
            <a:ext cx="3733800" cy="4826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62900" y="2006600"/>
            <a:ext cx="3505200" cy="310515"/>
          </a:xfrm>
          <a:prstGeom prst="rect">
            <a:avLst/>
          </a:prstGeom>
          <a:noFill/>
        </p:spPr>
        <p:txBody>
          <a:bodyPr wrap="none" lIns="0" rIns="0" tIns="0" bIns="0">
            <a:spAutoFit/>
          </a:bodyPr>
          <a:lstStyle/>
          <a:p>
            <a:pPr>
              <a:lnSpc>
                <a:spcPct val="115000"/>
              </a:lnSpc>
              <a:spcBef>
                <a:spcPts val="0"/>
              </a:spcBef>
              <a:spcAft>
                <a:spcPts val="0"/>
              </a:spcAft>
              <a:defRPr sz="1500" b="1">
                <a:solidFill>
                  <a:srgbClr val="FFFFFF"/>
                </a:solidFill>
                <a:latin typeface="DejaVu Sans"/>
              </a:defRPr>
            </a:pPr>
            <a:r>
              <a:t>Lo que no demuestra</a:t>
            </a:r>
          </a:p>
        </p:txBody>
      </p:sp>
      <p:sp>
        <p:nvSpPr>
          <p:cNvPr id="13" name="Rectangle 12"/>
          <p:cNvSpPr/>
          <p:nvPr/>
        </p:nvSpPr>
        <p:spPr>
          <a:xfrm>
            <a:off x="609600" y="2387600"/>
            <a:ext cx="3619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476500"/>
            <a:ext cx="3390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Contigs 10, 8 y 2 kb</a:t>
            </a:r>
          </a:p>
        </p:txBody>
      </p:sp>
      <p:sp>
        <p:nvSpPr>
          <p:cNvPr id="15" name="Rectangle 14"/>
          <p:cNvSpPr/>
          <p:nvPr/>
        </p:nvSpPr>
        <p:spPr>
          <a:xfrm>
            <a:off x="4229100" y="2387600"/>
            <a:ext cx="3619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476500"/>
            <a:ext cx="3390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Total 20 kb; N50 = 10 kb</a:t>
            </a:r>
          </a:p>
        </p:txBody>
      </p:sp>
      <p:sp>
        <p:nvSpPr>
          <p:cNvPr id="17" name="Rectangle 16"/>
          <p:cNvSpPr/>
          <p:nvPr/>
        </p:nvSpPr>
        <p:spPr>
          <a:xfrm>
            <a:off x="7848600" y="2387600"/>
            <a:ext cx="37338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62900" y="2476500"/>
            <a:ext cx="3505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Que los contigs sean correctos</a:t>
            </a:r>
          </a:p>
        </p:txBody>
      </p:sp>
      <p:sp>
        <p:nvSpPr>
          <p:cNvPr id="19" name="Rectangle 18"/>
          <p:cNvSpPr/>
          <p:nvPr/>
        </p:nvSpPr>
        <p:spPr>
          <a:xfrm>
            <a:off x="609600" y="2870200"/>
            <a:ext cx="3619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2959100"/>
            <a:ext cx="3390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MAG estimado 95 % / 2 %</a:t>
            </a:r>
          </a:p>
        </p:txBody>
      </p:sp>
      <p:sp>
        <p:nvSpPr>
          <p:cNvPr id="21" name="Rectangle 20"/>
          <p:cNvSpPr/>
          <p:nvPr/>
        </p:nvSpPr>
        <p:spPr>
          <a:xfrm>
            <a:off x="4229100" y="2870200"/>
            <a:ext cx="3619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2959100"/>
            <a:ext cx="33909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Alta completitud y baja</a:t>
            </a:r>
          </a:p>
          <a:p>
            <a:pPr>
              <a:lnSpc>
                <a:spcPct val="115000"/>
              </a:lnSpc>
              <a:spcBef>
                <a:spcPts val="0"/>
              </a:spcBef>
              <a:spcAft>
                <a:spcPts val="0"/>
              </a:spcAft>
              <a:defRPr sz="1500" b="0">
                <a:solidFill>
                  <a:srgbClr val="183443"/>
                </a:solidFill>
                <a:latin typeface="DejaVu Sans"/>
              </a:defRPr>
            </a:pPr>
            <a:r>
              <a:t>contaminación estimadas</a:t>
            </a:r>
          </a:p>
        </p:txBody>
      </p:sp>
      <p:sp>
        <p:nvSpPr>
          <p:cNvPr id="23" name="Rectangle 22"/>
          <p:cNvSpPr/>
          <p:nvPr/>
        </p:nvSpPr>
        <p:spPr>
          <a:xfrm>
            <a:off x="7848600" y="2870200"/>
            <a:ext cx="37338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62900" y="2959100"/>
            <a:ext cx="3505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HQ sin comprobar rRNA y tRNA</a:t>
            </a:r>
          </a:p>
        </p:txBody>
      </p:sp>
      <p:sp>
        <p:nvSpPr>
          <p:cNvPr id="25" name="Rectangle 24"/>
          <p:cNvSpPr/>
          <p:nvPr/>
        </p:nvSpPr>
        <p:spPr>
          <a:xfrm>
            <a:off x="609600" y="3558540"/>
            <a:ext cx="3619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3647440"/>
            <a:ext cx="33909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Gen no hallado en MAG</a:t>
            </a:r>
          </a:p>
          <a:p>
            <a:pPr>
              <a:lnSpc>
                <a:spcPct val="115000"/>
              </a:lnSpc>
              <a:spcBef>
                <a:spcPts val="0"/>
              </a:spcBef>
              <a:spcAft>
                <a:spcPts val="0"/>
              </a:spcAft>
              <a:defRPr sz="1500" b="0">
                <a:solidFill>
                  <a:srgbClr val="183443"/>
                </a:solidFill>
                <a:latin typeface="DejaVu Sans"/>
              </a:defRPr>
            </a:pPr>
            <a:r>
              <a:t>incompleto</a:t>
            </a:r>
          </a:p>
        </p:txBody>
      </p:sp>
      <p:sp>
        <p:nvSpPr>
          <p:cNvPr id="27" name="Rectangle 26"/>
          <p:cNvSpPr/>
          <p:nvPr/>
        </p:nvSpPr>
        <p:spPr>
          <a:xfrm>
            <a:off x="4229100" y="3558540"/>
            <a:ext cx="36195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3647440"/>
            <a:ext cx="3390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No se detectó en este borrador</a:t>
            </a:r>
          </a:p>
        </p:txBody>
      </p:sp>
      <p:sp>
        <p:nvSpPr>
          <p:cNvPr id="29" name="Rectangle 28"/>
          <p:cNvSpPr/>
          <p:nvPr/>
        </p:nvSpPr>
        <p:spPr>
          <a:xfrm>
            <a:off x="7848600" y="3558540"/>
            <a:ext cx="3733800" cy="6883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62900" y="3647440"/>
            <a:ext cx="35052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Ausencia real en el organismo</a:t>
            </a:r>
          </a:p>
        </p:txBody>
      </p:sp>
      <p:sp>
        <p:nvSpPr>
          <p:cNvPr id="31" name="Rectangle 30"/>
          <p:cNvSpPr/>
          <p:nvPr/>
        </p:nvSpPr>
        <p:spPr>
          <a:xfrm>
            <a:off x="609600" y="4246880"/>
            <a:ext cx="3619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900" y="4335780"/>
            <a:ext cx="3390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Contig circular</a:t>
            </a:r>
          </a:p>
        </p:txBody>
      </p:sp>
      <p:sp>
        <p:nvSpPr>
          <p:cNvPr id="33" name="Rectangle 32"/>
          <p:cNvSpPr/>
          <p:nvPr/>
        </p:nvSpPr>
        <p:spPr>
          <a:xfrm>
            <a:off x="4229100" y="4246880"/>
            <a:ext cx="36195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43400" y="4335780"/>
            <a:ext cx="3390900" cy="310515"/>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Una estructura cerrada propuesta</a:t>
            </a:r>
          </a:p>
        </p:txBody>
      </p:sp>
      <p:sp>
        <p:nvSpPr>
          <p:cNvPr id="35" name="Rectangle 34"/>
          <p:cNvSpPr/>
          <p:nvPr/>
        </p:nvSpPr>
        <p:spPr>
          <a:xfrm>
            <a:off x="7848600" y="4246880"/>
            <a:ext cx="3733800" cy="688340"/>
          </a:xfrm>
          <a:prstGeom prst="rect">
            <a:avLst/>
          </a:prstGeom>
          <a:solidFill>
            <a:srgbClr val="E8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62900" y="4335780"/>
            <a:ext cx="3505200" cy="544830"/>
          </a:xfrm>
          <a:prstGeom prst="rect">
            <a:avLst/>
          </a:prstGeom>
          <a:noFill/>
        </p:spPr>
        <p:txBody>
          <a:bodyPr wrap="none" lIns="0" rIns="0" tIns="0" bIns="0">
            <a:spAutoFit/>
          </a:bodyPr>
          <a:lstStyle/>
          <a:p>
            <a:pPr>
              <a:lnSpc>
                <a:spcPct val="115000"/>
              </a:lnSpc>
              <a:spcBef>
                <a:spcPts val="0"/>
              </a:spcBef>
              <a:spcAft>
                <a:spcPts val="0"/>
              </a:spcAft>
              <a:defRPr sz="1500" b="0">
                <a:solidFill>
                  <a:srgbClr val="183443"/>
                </a:solidFill>
                <a:latin typeface="DejaVu Sans"/>
              </a:defRPr>
            </a:pPr>
            <a:r>
              <a:t>Pertenencia, exactitud ni ausencia</a:t>
            </a:r>
          </a:p>
          <a:p>
            <a:pPr>
              <a:lnSpc>
                <a:spcPct val="115000"/>
              </a:lnSpc>
              <a:spcBef>
                <a:spcPts val="0"/>
              </a:spcBef>
              <a:spcAft>
                <a:spcPts val="0"/>
              </a:spcAft>
              <a:defRPr sz="1500" b="0">
                <a:solidFill>
                  <a:srgbClr val="183443"/>
                </a:solidFill>
                <a:latin typeface="DejaVu Sans"/>
              </a:defRPr>
            </a:pPr>
            <a:r>
              <a:t>de mezcla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PROFUNDIDAD, CONTROLES Y ALCANCE</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Anexo: ampliación del caso y respuestas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Ejercicio didáctico · [7–17].</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31</a:t>
            </a:r>
          </a:p>
        </p:txBody>
      </p:sp>
      <p:sp>
        <p:nvSpPr>
          <p:cNvPr id="7" name="Rounded Rectangle 6"/>
          <p:cNvSpPr/>
          <p:nvPr/>
        </p:nvSpPr>
        <p:spPr>
          <a:xfrm>
            <a:off x="647700" y="1879600"/>
            <a:ext cx="10795000" cy="111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019300"/>
            <a:ext cx="1046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007F86"/>
                </a:solidFill>
                <a:latin typeface="DejaVu Sans"/>
              </a:defRPr>
            </a:pPr>
            <a:r>
              <a:t>Si 30 Gb ya son útiles de la comunidad</a:t>
            </a:r>
          </a:p>
        </p:txBody>
      </p:sp>
      <p:sp>
        <p:nvSpPr>
          <p:cNvPr id="9" name="TextBox 8"/>
          <p:cNvSpPr txBox="1"/>
          <p:nvPr/>
        </p:nvSpPr>
        <p:spPr>
          <a:xfrm>
            <a:off x="812800" y="2438400"/>
            <a:ext cx="1046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C de la especie al 0,1 % y 4 Mb = 7,5×.</a:t>
            </a:r>
          </a:p>
        </p:txBody>
      </p:sp>
      <p:sp>
        <p:nvSpPr>
          <p:cNvPr id="10" name="Rounded Rectangle 9"/>
          <p:cNvSpPr/>
          <p:nvPr/>
        </p:nvSpPr>
        <p:spPr>
          <a:xfrm>
            <a:off x="647700" y="3213100"/>
            <a:ext cx="10795000" cy="1409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3352800"/>
            <a:ext cx="1046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4276C8"/>
                </a:solidFill>
                <a:latin typeface="DejaVu Sans"/>
              </a:defRPr>
            </a:pPr>
            <a:r>
              <a:t>Si son 30 Gb brutas, 80 % pasan QC y solo 10 % son microbianas</a:t>
            </a:r>
          </a:p>
        </p:txBody>
      </p:sp>
      <p:sp>
        <p:nvSpPr>
          <p:cNvPr id="12" name="TextBox 11"/>
          <p:cNvSpPr txBox="1"/>
          <p:nvPr/>
        </p:nvSpPr>
        <p:spPr>
          <a:xfrm>
            <a:off x="812800" y="3771900"/>
            <a:ext cx="1046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Bases microbianas = 30 × 0,8 × 0,1 = 2,4 Gb → C ≈0,6×.</a:t>
            </a:r>
          </a:p>
        </p:txBody>
      </p:sp>
      <p:sp>
        <p:nvSpPr>
          <p:cNvPr id="13" name="Rounded Rectangle 12"/>
          <p:cNvSpPr/>
          <p:nvPr/>
        </p:nvSpPr>
        <p:spPr>
          <a:xfrm>
            <a:off x="647700" y="4851400"/>
            <a:ext cx="10795000" cy="812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4991100"/>
            <a:ext cx="10464800" cy="388620"/>
          </a:xfrm>
          <a:prstGeom prst="rect">
            <a:avLst/>
          </a:prstGeom>
          <a:noFill/>
        </p:spPr>
        <p:txBody>
          <a:bodyPr wrap="none" lIns="0" rIns="0" tIns="0" bIns="0">
            <a:spAutoFit/>
          </a:bodyPr>
          <a:lstStyle/>
          <a:p>
            <a:pPr>
              <a:lnSpc>
                <a:spcPct val="115000"/>
              </a:lnSpc>
              <a:spcBef>
                <a:spcPts val="0"/>
              </a:spcBef>
              <a:spcAft>
                <a:spcPts val="0"/>
              </a:spcAft>
              <a:defRPr sz="2000" b="1">
                <a:solidFill>
                  <a:srgbClr val="8061AC"/>
                </a:solidFill>
                <a:latin typeface="DejaVu Sans"/>
              </a:defRPr>
            </a:pPr>
            <a:r>
              <a:t>Diseño propuesto</a:t>
            </a:r>
          </a:p>
        </p:txBody>
      </p:sp>
      <p:sp>
        <p:nvSpPr>
          <p:cNvPr id="15" name="TextBox 14"/>
          <p:cNvSpPr txBox="1"/>
          <p:nvPr/>
        </p:nvSpPr>
        <p:spPr>
          <a:xfrm>
            <a:off x="812800" y="5410200"/>
            <a:ext cx="10464800" cy="326136"/>
          </a:xfrm>
          <a:prstGeom prst="rect">
            <a:avLst/>
          </a:prstGeom>
          <a:noFill/>
        </p:spPr>
        <p:txBody>
          <a:bodyPr wrap="none" lIns="0" rIns="0" tIns="0" bIns="0">
            <a:spAutoFit/>
          </a:bodyPr>
          <a:lstStyle/>
          <a:p>
            <a:pPr>
              <a:lnSpc>
                <a:spcPct val="115000"/>
              </a:lnSpc>
              <a:spcBef>
                <a:spcPts val="0"/>
              </a:spcBef>
              <a:spcAft>
                <a:spcPts val="0"/>
              </a:spcAft>
              <a:defRPr sz="1600" b="0">
                <a:solidFill>
                  <a:srgbClr val="183443"/>
                </a:solidFill>
                <a:latin typeface="DejaVu Sans"/>
              </a:defRPr>
            </a:pPr>
            <a:r>
              <a:t>Shotgun + réplicas biológicas + blanco + mock + piloto de recuperación.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BIBLIOGRAFÍA · FUNDAMENTOS Y ARTÍCULOS COMPARTIDOS</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Referencias bibliográficas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Enlaces DOI y documentación completos en la guía docente.</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32</a:t>
            </a:r>
          </a:p>
        </p:txBody>
      </p:sp>
      <p:sp>
        <p:nvSpPr>
          <p:cNvPr id="7" name="TextBox 6"/>
          <p:cNvSpPr txBox="1"/>
          <p:nvPr/>
        </p:nvSpPr>
        <p:spPr>
          <a:xfrm>
            <a:off x="6223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3"/>
              </a:rPr>
              <a:t>[1] McGinn S, Gut IG (2013).</a:t>
            </a:r>
          </a:p>
        </p:txBody>
      </p:sp>
      <p:sp>
        <p:nvSpPr>
          <p:cNvPr id="8" name="TextBox 7"/>
          <p:cNvSpPr txBox="1"/>
          <p:nvPr/>
        </p:nvSpPr>
        <p:spPr>
          <a:xfrm>
            <a:off x="622300" y="182575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3"/>
              </a:rPr>
              <a:t>DNA sequencing—spanning the generations. New Biotechnol</a:t>
            </a:r>
          </a:p>
          <a:p>
            <a:pPr>
              <a:lnSpc>
                <a:spcPct val="115000"/>
              </a:lnSpc>
              <a:spcBef>
                <a:spcPts val="0"/>
              </a:spcBef>
              <a:spcAft>
                <a:spcPts val="0"/>
              </a:spcAft>
              <a:defRPr sz="1150" b="0">
                <a:solidFill>
                  <a:srgbClr val="183443"/>
                </a:solidFill>
                <a:latin typeface="DejaVu Sans"/>
              </a:defRPr>
            </a:pPr>
            <a:r>
              <a:rPr>
                <a:hlinkClick r:id="rId3"/>
              </a:rPr>
              <a:t>30:366–372.</a:t>
            </a:r>
          </a:p>
        </p:txBody>
      </p:sp>
      <p:sp>
        <p:nvSpPr>
          <p:cNvPr id="9" name="TextBox 8"/>
          <p:cNvSpPr txBox="1"/>
          <p:nvPr/>
        </p:nvSpPr>
        <p:spPr>
          <a:xfrm>
            <a:off x="622300" y="222313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3"/>
              </a:rPr>
              <a:t>DOI: 10.1016/j.nbt.2012.11.012</a:t>
            </a:r>
          </a:p>
        </p:txBody>
      </p:sp>
      <p:sp>
        <p:nvSpPr>
          <p:cNvPr id="10" name="TextBox 9"/>
          <p:cNvSpPr txBox="1"/>
          <p:nvPr/>
        </p:nvSpPr>
        <p:spPr>
          <a:xfrm>
            <a:off x="622300" y="251239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4"/>
              </a:rPr>
              <a:t>[2] Morozova O, Marra MA (2008).</a:t>
            </a:r>
          </a:p>
        </p:txBody>
      </p:sp>
      <p:sp>
        <p:nvSpPr>
          <p:cNvPr id="11" name="TextBox 10"/>
          <p:cNvSpPr txBox="1"/>
          <p:nvPr/>
        </p:nvSpPr>
        <p:spPr>
          <a:xfrm>
            <a:off x="622300" y="273794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4"/>
              </a:rPr>
              <a:t>Applications of next-generation sequencing technologies in functional</a:t>
            </a:r>
          </a:p>
          <a:p>
            <a:pPr>
              <a:lnSpc>
                <a:spcPct val="115000"/>
              </a:lnSpc>
              <a:spcBef>
                <a:spcPts val="0"/>
              </a:spcBef>
              <a:spcAft>
                <a:spcPts val="0"/>
              </a:spcAft>
              <a:defRPr sz="1150" b="0">
                <a:solidFill>
                  <a:srgbClr val="183443"/>
                </a:solidFill>
                <a:latin typeface="DejaVu Sans"/>
              </a:defRPr>
            </a:pPr>
            <a:r>
              <a:rPr>
                <a:hlinkClick r:id="rId4"/>
              </a:rPr>
              <a:t>genomics. Genomics 92:255–264.</a:t>
            </a:r>
          </a:p>
        </p:txBody>
      </p:sp>
      <p:sp>
        <p:nvSpPr>
          <p:cNvPr id="12" name="TextBox 11"/>
          <p:cNvSpPr txBox="1"/>
          <p:nvPr/>
        </p:nvSpPr>
        <p:spPr>
          <a:xfrm>
            <a:off x="622300" y="313532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4"/>
              </a:rPr>
              <a:t>DOI: 10.1016/j.ygeno.2008.07.001</a:t>
            </a:r>
          </a:p>
        </p:txBody>
      </p:sp>
      <p:sp>
        <p:nvSpPr>
          <p:cNvPr id="13" name="TextBox 12"/>
          <p:cNvSpPr txBox="1"/>
          <p:nvPr/>
        </p:nvSpPr>
        <p:spPr>
          <a:xfrm>
            <a:off x="622300" y="342458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5"/>
              </a:rPr>
              <a:t>[3] Su Z et al. (2011).</a:t>
            </a:r>
          </a:p>
        </p:txBody>
      </p:sp>
      <p:sp>
        <p:nvSpPr>
          <p:cNvPr id="14" name="TextBox 13"/>
          <p:cNvSpPr txBox="1"/>
          <p:nvPr/>
        </p:nvSpPr>
        <p:spPr>
          <a:xfrm>
            <a:off x="622300" y="365013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5"/>
              </a:rPr>
              <a:t>Next-generation sequencing and its applications in molecular</a:t>
            </a:r>
          </a:p>
          <a:p>
            <a:pPr>
              <a:lnSpc>
                <a:spcPct val="115000"/>
              </a:lnSpc>
              <a:spcBef>
                <a:spcPts val="0"/>
              </a:spcBef>
              <a:spcAft>
                <a:spcPts val="0"/>
              </a:spcAft>
              <a:defRPr sz="1150" b="0">
                <a:solidFill>
                  <a:srgbClr val="183443"/>
                </a:solidFill>
                <a:latin typeface="DejaVu Sans"/>
              </a:defRPr>
            </a:pPr>
            <a:r>
              <a:rPr>
                <a:hlinkClick r:id="rId5"/>
              </a:rPr>
              <a:t>diagnostics. Expert Rev Mol Diagn 11:333–343.</a:t>
            </a:r>
          </a:p>
        </p:txBody>
      </p:sp>
      <p:sp>
        <p:nvSpPr>
          <p:cNvPr id="15" name="TextBox 14"/>
          <p:cNvSpPr txBox="1"/>
          <p:nvPr/>
        </p:nvSpPr>
        <p:spPr>
          <a:xfrm>
            <a:off x="622300" y="404751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5"/>
              </a:rPr>
              <a:t>DOI: 10.1586/erm.11.3</a:t>
            </a:r>
          </a:p>
        </p:txBody>
      </p:sp>
      <p:sp>
        <p:nvSpPr>
          <p:cNvPr id="16" name="TextBox 15"/>
          <p:cNvSpPr txBox="1"/>
          <p:nvPr/>
        </p:nvSpPr>
        <p:spPr>
          <a:xfrm>
            <a:off x="622300" y="433677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6"/>
              </a:rPr>
              <a:t>[4] Wang Y et al. (2021).</a:t>
            </a:r>
          </a:p>
        </p:txBody>
      </p:sp>
      <p:sp>
        <p:nvSpPr>
          <p:cNvPr id="17" name="TextBox 16"/>
          <p:cNvSpPr txBox="1"/>
          <p:nvPr/>
        </p:nvSpPr>
        <p:spPr>
          <a:xfrm>
            <a:off x="622300" y="456232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6"/>
              </a:rPr>
              <a:t>Nanopore sequencing technology, bioinformatics and applications. Nat</a:t>
            </a:r>
          </a:p>
          <a:p>
            <a:pPr>
              <a:lnSpc>
                <a:spcPct val="115000"/>
              </a:lnSpc>
              <a:spcBef>
                <a:spcPts val="0"/>
              </a:spcBef>
              <a:spcAft>
                <a:spcPts val="0"/>
              </a:spcAft>
              <a:defRPr sz="1150" b="0">
                <a:solidFill>
                  <a:srgbClr val="183443"/>
                </a:solidFill>
                <a:latin typeface="DejaVu Sans"/>
              </a:defRPr>
            </a:pPr>
            <a:r>
              <a:rPr>
                <a:hlinkClick r:id="rId6"/>
              </a:rPr>
              <a:t>Biotechnol 39:1348–1365.</a:t>
            </a:r>
          </a:p>
        </p:txBody>
      </p:sp>
      <p:sp>
        <p:nvSpPr>
          <p:cNvPr id="18" name="TextBox 17"/>
          <p:cNvSpPr txBox="1"/>
          <p:nvPr/>
        </p:nvSpPr>
        <p:spPr>
          <a:xfrm>
            <a:off x="622300" y="495970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6"/>
              </a:rPr>
              <a:t>DOI: 10.1038/s41587-021-01108-x</a:t>
            </a:r>
          </a:p>
        </p:txBody>
      </p:sp>
      <p:sp>
        <p:nvSpPr>
          <p:cNvPr id="19" name="TextBox 18"/>
          <p:cNvSpPr txBox="1"/>
          <p:nvPr/>
        </p:nvSpPr>
        <p:spPr>
          <a:xfrm>
            <a:off x="622300" y="524896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7"/>
              </a:rPr>
              <a:t>[5] Zheng P et al. (2023).</a:t>
            </a:r>
          </a:p>
        </p:txBody>
      </p:sp>
      <p:sp>
        <p:nvSpPr>
          <p:cNvPr id="20" name="TextBox 19"/>
          <p:cNvSpPr txBox="1"/>
          <p:nvPr/>
        </p:nvSpPr>
        <p:spPr>
          <a:xfrm>
            <a:off x="622300" y="547451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7"/>
              </a:rPr>
              <a:t>Nanopore sequencing technology and its applications. MedComm</a:t>
            </a:r>
          </a:p>
          <a:p>
            <a:pPr>
              <a:lnSpc>
                <a:spcPct val="115000"/>
              </a:lnSpc>
              <a:spcBef>
                <a:spcPts val="0"/>
              </a:spcBef>
              <a:spcAft>
                <a:spcPts val="0"/>
              </a:spcAft>
              <a:defRPr sz="1150" b="0">
                <a:solidFill>
                  <a:srgbClr val="183443"/>
                </a:solidFill>
                <a:latin typeface="DejaVu Sans"/>
              </a:defRPr>
            </a:pPr>
            <a:r>
              <a:rPr>
                <a:hlinkClick r:id="rId7"/>
              </a:rPr>
              <a:t>4:e316.</a:t>
            </a:r>
          </a:p>
        </p:txBody>
      </p:sp>
      <p:sp>
        <p:nvSpPr>
          <p:cNvPr id="21" name="TextBox 20"/>
          <p:cNvSpPr txBox="1"/>
          <p:nvPr/>
        </p:nvSpPr>
        <p:spPr>
          <a:xfrm>
            <a:off x="622300" y="587189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7"/>
              </a:rPr>
              <a:t>DOI: 10.1002/mco2.316</a:t>
            </a:r>
          </a:p>
        </p:txBody>
      </p:sp>
      <p:sp>
        <p:nvSpPr>
          <p:cNvPr id="22" name="TextBox 21"/>
          <p:cNvSpPr txBox="1"/>
          <p:nvPr/>
        </p:nvSpPr>
        <p:spPr>
          <a:xfrm>
            <a:off x="62992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8"/>
              </a:rPr>
              <a:t>[6] Greninger AL et al. (2015).</a:t>
            </a:r>
          </a:p>
        </p:txBody>
      </p:sp>
      <p:sp>
        <p:nvSpPr>
          <p:cNvPr id="23" name="TextBox 22"/>
          <p:cNvSpPr txBox="1"/>
          <p:nvPr/>
        </p:nvSpPr>
        <p:spPr>
          <a:xfrm>
            <a:off x="6299200" y="1825752"/>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8"/>
              </a:rPr>
              <a:t>Rapid metagenomic identification of viral pathogens in clinical</a:t>
            </a:r>
          </a:p>
          <a:p>
            <a:pPr>
              <a:lnSpc>
                <a:spcPct val="115000"/>
              </a:lnSpc>
              <a:spcBef>
                <a:spcPts val="0"/>
              </a:spcBef>
              <a:spcAft>
                <a:spcPts val="0"/>
              </a:spcAft>
              <a:defRPr sz="1150" b="0">
                <a:solidFill>
                  <a:srgbClr val="183443"/>
                </a:solidFill>
                <a:latin typeface="DejaVu Sans"/>
              </a:defRPr>
            </a:pPr>
            <a:r>
              <a:rPr>
                <a:hlinkClick r:id="rId8"/>
              </a:rPr>
              <a:t>samples by real-time nanopore sequencing analysis. Genome Med</a:t>
            </a:r>
          </a:p>
          <a:p>
            <a:pPr>
              <a:lnSpc>
                <a:spcPct val="115000"/>
              </a:lnSpc>
              <a:spcBef>
                <a:spcPts val="0"/>
              </a:spcBef>
              <a:spcAft>
                <a:spcPts val="0"/>
              </a:spcAft>
              <a:defRPr sz="1150" b="0">
                <a:solidFill>
                  <a:srgbClr val="183443"/>
                </a:solidFill>
                <a:latin typeface="DejaVu Sans"/>
              </a:defRPr>
            </a:pPr>
            <a:r>
              <a:rPr>
                <a:hlinkClick r:id="rId8"/>
              </a:rPr>
              <a:t>7:99.</a:t>
            </a:r>
          </a:p>
        </p:txBody>
      </p:sp>
      <p:sp>
        <p:nvSpPr>
          <p:cNvPr id="24" name="TextBox 23"/>
          <p:cNvSpPr txBox="1"/>
          <p:nvPr/>
        </p:nvSpPr>
        <p:spPr>
          <a:xfrm>
            <a:off x="6299200" y="2402776"/>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8"/>
              </a:rPr>
              <a:t>DOI: 10.1186/s13073-015-0220-9</a:t>
            </a:r>
          </a:p>
        </p:txBody>
      </p:sp>
      <p:sp>
        <p:nvSpPr>
          <p:cNvPr id="25" name="TextBox 24"/>
          <p:cNvSpPr txBox="1"/>
          <p:nvPr/>
        </p:nvSpPr>
        <p:spPr>
          <a:xfrm>
            <a:off x="6299200" y="2692031"/>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9"/>
              </a:rPr>
              <a:t>[7] Singleton CM et al. (2021).</a:t>
            </a:r>
          </a:p>
        </p:txBody>
      </p:sp>
      <p:sp>
        <p:nvSpPr>
          <p:cNvPr id="26" name="TextBox 25"/>
          <p:cNvSpPr txBox="1"/>
          <p:nvPr/>
        </p:nvSpPr>
        <p:spPr>
          <a:xfrm>
            <a:off x="6299200" y="2917583"/>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9"/>
              </a:rPr>
              <a:t>Connecting structure to function with the recovery of over 1000</a:t>
            </a:r>
          </a:p>
          <a:p>
            <a:pPr>
              <a:lnSpc>
                <a:spcPct val="115000"/>
              </a:lnSpc>
              <a:spcBef>
                <a:spcPts val="0"/>
              </a:spcBef>
              <a:spcAft>
                <a:spcPts val="0"/>
              </a:spcAft>
              <a:defRPr sz="1150" b="0">
                <a:solidFill>
                  <a:srgbClr val="183443"/>
                </a:solidFill>
                <a:latin typeface="DejaVu Sans"/>
              </a:defRPr>
            </a:pPr>
            <a:r>
              <a:rPr>
                <a:hlinkClick r:id="rId9"/>
              </a:rPr>
              <a:t>high-quality metagenome-assembled genomes from activated sludge</a:t>
            </a:r>
          </a:p>
          <a:p>
            <a:pPr>
              <a:lnSpc>
                <a:spcPct val="115000"/>
              </a:lnSpc>
              <a:spcBef>
                <a:spcPts val="0"/>
              </a:spcBef>
              <a:spcAft>
                <a:spcPts val="0"/>
              </a:spcAft>
              <a:defRPr sz="1150" b="0">
                <a:solidFill>
                  <a:srgbClr val="183443"/>
                </a:solidFill>
                <a:latin typeface="DejaVu Sans"/>
              </a:defRPr>
            </a:pPr>
            <a:r>
              <a:rPr>
                <a:hlinkClick r:id="rId9"/>
              </a:rPr>
              <a:t>using long-read sequencing. Nat Commun 12:2009.</a:t>
            </a:r>
          </a:p>
        </p:txBody>
      </p:sp>
      <p:sp>
        <p:nvSpPr>
          <p:cNvPr id="27" name="TextBox 26"/>
          <p:cNvSpPr txBox="1"/>
          <p:nvPr/>
        </p:nvSpPr>
        <p:spPr>
          <a:xfrm>
            <a:off x="6299200" y="3494608"/>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9"/>
              </a:rPr>
              <a:t>DOI: 10.1038/s41467-021-22203-2</a:t>
            </a:r>
          </a:p>
        </p:txBody>
      </p:sp>
      <p:sp>
        <p:nvSpPr>
          <p:cNvPr id="28" name="TextBox 27"/>
          <p:cNvSpPr txBox="1"/>
          <p:nvPr/>
        </p:nvSpPr>
        <p:spPr>
          <a:xfrm>
            <a:off x="6299200" y="3783863"/>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0"/>
              </a:rPr>
              <a:t>[8] Liew KJ et al. (2024).</a:t>
            </a:r>
          </a:p>
        </p:txBody>
      </p:sp>
      <p:sp>
        <p:nvSpPr>
          <p:cNvPr id="29" name="TextBox 28"/>
          <p:cNvSpPr txBox="1"/>
          <p:nvPr/>
        </p:nvSpPr>
        <p:spPr>
          <a:xfrm>
            <a:off x="6299200" y="4009415"/>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0"/>
              </a:rPr>
              <a:t>Integrating multi-platform assembly to recover MAGs from hot spring</a:t>
            </a:r>
          </a:p>
          <a:p>
            <a:pPr>
              <a:lnSpc>
                <a:spcPct val="115000"/>
              </a:lnSpc>
              <a:spcBef>
                <a:spcPts val="0"/>
              </a:spcBef>
              <a:spcAft>
                <a:spcPts val="0"/>
              </a:spcAft>
              <a:defRPr sz="1150" b="0">
                <a:solidFill>
                  <a:srgbClr val="183443"/>
                </a:solidFill>
                <a:latin typeface="DejaVu Sans"/>
              </a:defRPr>
            </a:pPr>
            <a:r>
              <a:rPr>
                <a:hlinkClick r:id="rId10"/>
              </a:rPr>
              <a:t>biofilms: insights into microbial diversity, biofilm formation, and</a:t>
            </a:r>
          </a:p>
          <a:p>
            <a:pPr>
              <a:lnSpc>
                <a:spcPct val="115000"/>
              </a:lnSpc>
              <a:spcBef>
                <a:spcPts val="0"/>
              </a:spcBef>
              <a:spcAft>
                <a:spcPts val="0"/>
              </a:spcAft>
              <a:defRPr sz="1150" b="0">
                <a:solidFill>
                  <a:srgbClr val="183443"/>
                </a:solidFill>
                <a:latin typeface="DejaVu Sans"/>
              </a:defRPr>
            </a:pPr>
            <a:r>
              <a:rPr>
                <a:hlinkClick r:id="rId10"/>
              </a:rPr>
              <a:t>carbohydrate degradation. Environ Microbiome 19:29.</a:t>
            </a:r>
          </a:p>
        </p:txBody>
      </p:sp>
      <p:sp>
        <p:nvSpPr>
          <p:cNvPr id="30" name="TextBox 29"/>
          <p:cNvSpPr txBox="1"/>
          <p:nvPr/>
        </p:nvSpPr>
        <p:spPr>
          <a:xfrm>
            <a:off x="6299200" y="4586439"/>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10"/>
              </a:rPr>
              <a:t>DOI: 10.1186/s40793-024-00572-7</a:t>
            </a:r>
          </a:p>
        </p:txBody>
      </p:sp>
      <p:sp>
        <p:nvSpPr>
          <p:cNvPr id="31" name="TextBox 30"/>
          <p:cNvSpPr txBox="1"/>
          <p:nvPr/>
        </p:nvSpPr>
        <p:spPr>
          <a:xfrm>
            <a:off x="6299200" y="4875695"/>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1"/>
              </a:rPr>
              <a:t>[19] Sanger F, Nicklen S, Coulson AR (1977).</a:t>
            </a:r>
          </a:p>
        </p:txBody>
      </p:sp>
      <p:sp>
        <p:nvSpPr>
          <p:cNvPr id="32" name="TextBox 31"/>
          <p:cNvSpPr txBox="1"/>
          <p:nvPr/>
        </p:nvSpPr>
        <p:spPr>
          <a:xfrm>
            <a:off x="6299200" y="5101247"/>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1"/>
              </a:rPr>
              <a:t>DNA sequencing with chain-terminating inhibitors. PNAS</a:t>
            </a:r>
          </a:p>
          <a:p>
            <a:pPr>
              <a:lnSpc>
                <a:spcPct val="115000"/>
              </a:lnSpc>
              <a:spcBef>
                <a:spcPts val="0"/>
              </a:spcBef>
              <a:spcAft>
                <a:spcPts val="0"/>
              </a:spcAft>
              <a:defRPr sz="1150" b="0">
                <a:solidFill>
                  <a:srgbClr val="183443"/>
                </a:solidFill>
                <a:latin typeface="DejaVu Sans"/>
              </a:defRPr>
            </a:pPr>
            <a:r>
              <a:rPr>
                <a:hlinkClick r:id="rId11"/>
              </a:rPr>
              <a:t>74:5463–5467.</a:t>
            </a:r>
          </a:p>
        </p:txBody>
      </p:sp>
      <p:sp>
        <p:nvSpPr>
          <p:cNvPr id="33" name="TextBox 32"/>
          <p:cNvSpPr txBox="1"/>
          <p:nvPr/>
        </p:nvSpPr>
        <p:spPr>
          <a:xfrm>
            <a:off x="6299200" y="5498630"/>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11"/>
              </a:rPr>
              <a:t>DOI: 10.1073/pnas.74.12.5463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30200"/>
            <a:ext cx="109855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BIBLIOGRAFÍA · ACTUALIZACIÓN, ESTÁNDARES Y DOCUMENTACIÓN</a:t>
            </a:r>
          </a:p>
        </p:txBody>
      </p:sp>
      <p:sp>
        <p:nvSpPr>
          <p:cNvPr id="4" name="TextBox 3"/>
          <p:cNvSpPr txBox="1"/>
          <p:nvPr/>
        </p:nvSpPr>
        <p:spPr>
          <a:xfrm>
            <a:off x="609600" y="673100"/>
            <a:ext cx="10972800" cy="529209"/>
          </a:xfrm>
          <a:prstGeom prst="rect">
            <a:avLst/>
          </a:prstGeom>
          <a:noFill/>
        </p:spPr>
        <p:txBody>
          <a:bodyPr wrap="none" lIns="0" rIns="0" tIns="0" bIns="0">
            <a:spAutoFit/>
          </a:bodyPr>
          <a:lstStyle/>
          <a:p>
            <a:pPr>
              <a:lnSpc>
                <a:spcPct val="115000"/>
              </a:lnSpc>
              <a:spcBef>
                <a:spcPts val="0"/>
              </a:spcBef>
              <a:spcAft>
                <a:spcPts val="0"/>
              </a:spcAft>
              <a:defRPr sz="2900" b="1">
                <a:solidFill>
                  <a:srgbClr val="183443"/>
                </a:solidFill>
                <a:latin typeface="DejaVu Sans"/>
              </a:defRPr>
            </a:pPr>
            <a:r>
              <a:t>Referencias bibliográficas</a:t>
            </a:r>
          </a:p>
        </p:txBody>
      </p:sp>
      <p:sp>
        <p:nvSpPr>
          <p:cNvPr id="5" name="TextBox 4"/>
          <p:cNvSpPr txBox="1"/>
          <p:nvPr/>
        </p:nvSpPr>
        <p:spPr>
          <a:xfrm>
            <a:off x="609600" y="6502400"/>
            <a:ext cx="10223500" cy="304800"/>
          </a:xfrm>
          <a:prstGeom prst="rect">
            <a:avLst/>
          </a:prstGeom>
          <a:noFill/>
        </p:spPr>
        <p:txBody>
          <a:bodyPr wrap="none" lIns="0" rIns="0" tIns="0" bIns="0">
            <a:spAutoFit/>
          </a:bodyPr>
          <a:lstStyle/>
          <a:p>
            <a:pPr>
              <a:lnSpc>
                <a:spcPct val="115000"/>
              </a:lnSpc>
              <a:spcBef>
                <a:spcPts val="0"/>
              </a:spcBef>
              <a:spcAft>
                <a:spcPts val="0"/>
              </a:spcAft>
              <a:defRPr sz="900" b="0">
                <a:solidFill>
                  <a:srgbClr val="57717D"/>
                </a:solidFill>
                <a:latin typeface="DejaVu Sans"/>
              </a:defRPr>
            </a:pPr>
            <a:r>
              <a:t>Enlaces DOI y documentación completos en la guía docente.</a:t>
            </a:r>
          </a:p>
        </p:txBody>
      </p:sp>
      <p:sp>
        <p:nvSpPr>
          <p:cNvPr id="6" name="TextBox 5"/>
          <p:cNvSpPr txBox="1"/>
          <p:nvPr/>
        </p:nvSpPr>
        <p:spPr>
          <a:xfrm>
            <a:off x="11112500" y="6464300"/>
            <a:ext cx="5080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t>33</a:t>
            </a:r>
          </a:p>
        </p:txBody>
      </p:sp>
      <p:sp>
        <p:nvSpPr>
          <p:cNvPr id="7" name="TextBox 6"/>
          <p:cNvSpPr txBox="1"/>
          <p:nvPr/>
        </p:nvSpPr>
        <p:spPr>
          <a:xfrm>
            <a:off x="6223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3"/>
              </a:rPr>
              <a:t>[9] Sereika M et al. (2025).</a:t>
            </a:r>
          </a:p>
        </p:txBody>
      </p:sp>
      <p:sp>
        <p:nvSpPr>
          <p:cNvPr id="8" name="TextBox 7"/>
          <p:cNvSpPr txBox="1"/>
          <p:nvPr/>
        </p:nvSpPr>
        <p:spPr>
          <a:xfrm>
            <a:off x="622300" y="182575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3"/>
              </a:rPr>
              <a:t>Genome-resolved long-read sequencing expands known microbial</a:t>
            </a:r>
          </a:p>
          <a:p>
            <a:pPr>
              <a:lnSpc>
                <a:spcPct val="115000"/>
              </a:lnSpc>
              <a:spcBef>
                <a:spcPts val="0"/>
              </a:spcBef>
              <a:spcAft>
                <a:spcPts val="0"/>
              </a:spcAft>
              <a:defRPr sz="1150" b="0">
                <a:solidFill>
                  <a:srgbClr val="183443"/>
                </a:solidFill>
                <a:latin typeface="DejaVu Sans"/>
              </a:defRPr>
            </a:pPr>
            <a:r>
              <a:rPr>
                <a:hlinkClick r:id="rId3"/>
              </a:rPr>
              <a:t>diversity across terrestrial habitats. Nat Microbiol 10:2018–2030.</a:t>
            </a:r>
          </a:p>
        </p:txBody>
      </p:sp>
      <p:sp>
        <p:nvSpPr>
          <p:cNvPr id="9" name="TextBox 8"/>
          <p:cNvSpPr txBox="1"/>
          <p:nvPr/>
        </p:nvSpPr>
        <p:spPr>
          <a:xfrm>
            <a:off x="622300" y="222313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3"/>
              </a:rPr>
              <a:t>DOI: 10.1038/s41564-025-02062-z</a:t>
            </a:r>
          </a:p>
        </p:txBody>
      </p:sp>
      <p:sp>
        <p:nvSpPr>
          <p:cNvPr id="10" name="TextBox 9"/>
          <p:cNvSpPr txBox="1"/>
          <p:nvPr/>
        </p:nvSpPr>
        <p:spPr>
          <a:xfrm>
            <a:off x="622300" y="251239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4"/>
              </a:rPr>
              <a:t>[10] Visci G et al. (2026).</a:t>
            </a:r>
          </a:p>
        </p:txBody>
      </p:sp>
      <p:sp>
        <p:nvSpPr>
          <p:cNvPr id="11" name="TextBox 10"/>
          <p:cNvSpPr txBox="1"/>
          <p:nvPr/>
        </p:nvSpPr>
        <p:spPr>
          <a:xfrm>
            <a:off x="622300" y="273794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4"/>
              </a:rPr>
              <a:t>Benchmarking short- and long-read sequencing technologies for</a:t>
            </a:r>
          </a:p>
          <a:p>
            <a:pPr>
              <a:lnSpc>
                <a:spcPct val="115000"/>
              </a:lnSpc>
              <a:spcBef>
                <a:spcPts val="0"/>
              </a:spcBef>
              <a:spcAft>
                <a:spcPts val="0"/>
              </a:spcAft>
              <a:defRPr sz="1150" b="0">
                <a:solidFill>
                  <a:srgbClr val="183443"/>
                </a:solidFill>
                <a:latin typeface="DejaVu Sans"/>
              </a:defRPr>
            </a:pPr>
            <a:r>
              <a:rPr>
                <a:hlinkClick r:id="rId4"/>
              </a:rPr>
              <a:t>metagenomic profiling of microbiomes. Sci Rep 16:22610.</a:t>
            </a:r>
          </a:p>
        </p:txBody>
      </p:sp>
      <p:sp>
        <p:nvSpPr>
          <p:cNvPr id="12" name="TextBox 11"/>
          <p:cNvSpPr txBox="1"/>
          <p:nvPr/>
        </p:nvSpPr>
        <p:spPr>
          <a:xfrm>
            <a:off x="622300" y="313532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4"/>
              </a:rPr>
              <a:t>DOI: 10.1038/s41598-026-49725-3</a:t>
            </a:r>
          </a:p>
        </p:txBody>
      </p:sp>
      <p:sp>
        <p:nvSpPr>
          <p:cNvPr id="13" name="TextBox 12"/>
          <p:cNvSpPr txBox="1"/>
          <p:nvPr/>
        </p:nvSpPr>
        <p:spPr>
          <a:xfrm>
            <a:off x="622300" y="342458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5"/>
              </a:rPr>
              <a:t>[11] Bowers RM et al. (2017).</a:t>
            </a:r>
          </a:p>
        </p:txBody>
      </p:sp>
      <p:sp>
        <p:nvSpPr>
          <p:cNvPr id="14" name="TextBox 13"/>
          <p:cNvSpPr txBox="1"/>
          <p:nvPr/>
        </p:nvSpPr>
        <p:spPr>
          <a:xfrm>
            <a:off x="622300" y="3650132"/>
            <a:ext cx="5257800" cy="615124"/>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5"/>
              </a:rPr>
              <a:t>Minimum information about a single amplified genome (MISAG) and a</a:t>
            </a:r>
          </a:p>
          <a:p>
            <a:pPr>
              <a:lnSpc>
                <a:spcPct val="115000"/>
              </a:lnSpc>
              <a:spcBef>
                <a:spcPts val="0"/>
              </a:spcBef>
              <a:spcAft>
                <a:spcPts val="0"/>
              </a:spcAft>
              <a:defRPr sz="1150" b="0">
                <a:solidFill>
                  <a:srgbClr val="183443"/>
                </a:solidFill>
                <a:latin typeface="DejaVu Sans"/>
              </a:defRPr>
            </a:pPr>
            <a:r>
              <a:rPr>
                <a:hlinkClick r:id="rId5"/>
              </a:rPr>
              <a:t>metagenome-assembled genome (MIMAG) of bacteria and archaea.</a:t>
            </a:r>
          </a:p>
          <a:p>
            <a:pPr>
              <a:lnSpc>
                <a:spcPct val="115000"/>
              </a:lnSpc>
              <a:spcBef>
                <a:spcPts val="0"/>
              </a:spcBef>
              <a:spcAft>
                <a:spcPts val="0"/>
              </a:spcAft>
              <a:defRPr sz="1150" b="0">
                <a:solidFill>
                  <a:srgbClr val="183443"/>
                </a:solidFill>
                <a:latin typeface="DejaVu Sans"/>
              </a:defRPr>
            </a:pPr>
            <a:r>
              <a:rPr>
                <a:hlinkClick r:id="rId5"/>
              </a:rPr>
              <a:t>Nat Biotechnol 35:725–731.</a:t>
            </a:r>
          </a:p>
        </p:txBody>
      </p:sp>
      <p:sp>
        <p:nvSpPr>
          <p:cNvPr id="15" name="TextBox 14"/>
          <p:cNvSpPr txBox="1"/>
          <p:nvPr/>
        </p:nvSpPr>
        <p:spPr>
          <a:xfrm>
            <a:off x="622300" y="4227156"/>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5"/>
              </a:rPr>
              <a:t>DOI: 10.1038/nbt.3893</a:t>
            </a:r>
          </a:p>
        </p:txBody>
      </p:sp>
      <p:sp>
        <p:nvSpPr>
          <p:cNvPr id="16" name="TextBox 15"/>
          <p:cNvSpPr txBox="1"/>
          <p:nvPr/>
        </p:nvSpPr>
        <p:spPr>
          <a:xfrm>
            <a:off x="622300" y="4516412"/>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6"/>
              </a:rPr>
              <a:t>[12] Chklovski A et al. (2023).</a:t>
            </a:r>
          </a:p>
        </p:txBody>
      </p:sp>
      <p:sp>
        <p:nvSpPr>
          <p:cNvPr id="17" name="TextBox 16"/>
          <p:cNvSpPr txBox="1"/>
          <p:nvPr/>
        </p:nvSpPr>
        <p:spPr>
          <a:xfrm>
            <a:off x="622300" y="4741964"/>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6"/>
              </a:rPr>
              <a:t>CheckM2: a rapid, scalable and accurate tool for assessing microbial</a:t>
            </a:r>
          </a:p>
          <a:p>
            <a:pPr>
              <a:lnSpc>
                <a:spcPct val="115000"/>
              </a:lnSpc>
              <a:spcBef>
                <a:spcPts val="0"/>
              </a:spcBef>
              <a:spcAft>
                <a:spcPts val="0"/>
              </a:spcAft>
              <a:defRPr sz="1150" b="0">
                <a:solidFill>
                  <a:srgbClr val="183443"/>
                </a:solidFill>
                <a:latin typeface="DejaVu Sans"/>
              </a:defRPr>
            </a:pPr>
            <a:r>
              <a:rPr>
                <a:hlinkClick r:id="rId6"/>
              </a:rPr>
              <a:t>genome quality using machine learning. Nat Methods 20:1203–1212.</a:t>
            </a:r>
          </a:p>
        </p:txBody>
      </p:sp>
      <p:sp>
        <p:nvSpPr>
          <p:cNvPr id="18" name="TextBox 17"/>
          <p:cNvSpPr txBox="1"/>
          <p:nvPr/>
        </p:nvSpPr>
        <p:spPr>
          <a:xfrm>
            <a:off x="622300" y="5139347"/>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6"/>
              </a:rPr>
              <a:t>DOI: 10.1038/s41592-023-01940-w</a:t>
            </a:r>
          </a:p>
        </p:txBody>
      </p:sp>
      <p:sp>
        <p:nvSpPr>
          <p:cNvPr id="19" name="TextBox 18"/>
          <p:cNvSpPr txBox="1"/>
          <p:nvPr/>
        </p:nvSpPr>
        <p:spPr>
          <a:xfrm>
            <a:off x="622300" y="5428602"/>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7"/>
              </a:rPr>
              <a:t>[13] Orakov A et al. (2021).</a:t>
            </a:r>
          </a:p>
        </p:txBody>
      </p:sp>
      <p:sp>
        <p:nvSpPr>
          <p:cNvPr id="20" name="TextBox 19"/>
          <p:cNvSpPr txBox="1"/>
          <p:nvPr/>
        </p:nvSpPr>
        <p:spPr>
          <a:xfrm>
            <a:off x="622300" y="5654154"/>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7"/>
              </a:rPr>
              <a:t>GUNC: detection of chimerism and contamination in prokaryotic</a:t>
            </a:r>
          </a:p>
          <a:p>
            <a:pPr>
              <a:lnSpc>
                <a:spcPct val="115000"/>
              </a:lnSpc>
              <a:spcBef>
                <a:spcPts val="0"/>
              </a:spcBef>
              <a:spcAft>
                <a:spcPts val="0"/>
              </a:spcAft>
              <a:defRPr sz="1150" b="0">
                <a:solidFill>
                  <a:srgbClr val="183443"/>
                </a:solidFill>
                <a:latin typeface="DejaVu Sans"/>
              </a:defRPr>
            </a:pPr>
            <a:r>
              <a:rPr>
                <a:hlinkClick r:id="rId7"/>
              </a:rPr>
              <a:t>genomes. Genome Biol 22:178.</a:t>
            </a:r>
          </a:p>
        </p:txBody>
      </p:sp>
      <p:sp>
        <p:nvSpPr>
          <p:cNvPr id="21" name="TextBox 20"/>
          <p:cNvSpPr txBox="1"/>
          <p:nvPr/>
        </p:nvSpPr>
        <p:spPr>
          <a:xfrm>
            <a:off x="622300" y="6051537"/>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7"/>
              </a:rPr>
              <a:t>DOI: 10.1186/s13059-021-02393-0</a:t>
            </a:r>
          </a:p>
        </p:txBody>
      </p:sp>
      <p:sp>
        <p:nvSpPr>
          <p:cNvPr id="22" name="TextBox 21"/>
          <p:cNvSpPr txBox="1"/>
          <p:nvPr/>
        </p:nvSpPr>
        <p:spPr>
          <a:xfrm>
            <a:off x="6299200" y="160020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8"/>
              </a:rPr>
              <a:t>[14] Costea PI et al. (2017).</a:t>
            </a:r>
          </a:p>
        </p:txBody>
      </p:sp>
      <p:sp>
        <p:nvSpPr>
          <p:cNvPr id="23" name="TextBox 22"/>
          <p:cNvSpPr txBox="1"/>
          <p:nvPr/>
        </p:nvSpPr>
        <p:spPr>
          <a:xfrm>
            <a:off x="6299200" y="182575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8"/>
              </a:rPr>
              <a:t>Towards standards for human fecal sample processing in</a:t>
            </a:r>
          </a:p>
          <a:p>
            <a:pPr>
              <a:lnSpc>
                <a:spcPct val="115000"/>
              </a:lnSpc>
              <a:spcBef>
                <a:spcPts val="0"/>
              </a:spcBef>
              <a:spcAft>
                <a:spcPts val="0"/>
              </a:spcAft>
              <a:defRPr sz="1150" b="0">
                <a:solidFill>
                  <a:srgbClr val="183443"/>
                </a:solidFill>
                <a:latin typeface="DejaVu Sans"/>
              </a:defRPr>
            </a:pPr>
            <a:r>
              <a:rPr>
                <a:hlinkClick r:id="rId8"/>
              </a:rPr>
              <a:t>metagenomic studies. Nat Biotechnol 35:1069–1076.</a:t>
            </a:r>
          </a:p>
        </p:txBody>
      </p:sp>
      <p:sp>
        <p:nvSpPr>
          <p:cNvPr id="24" name="TextBox 23"/>
          <p:cNvSpPr txBox="1"/>
          <p:nvPr/>
        </p:nvSpPr>
        <p:spPr>
          <a:xfrm>
            <a:off x="6299200" y="2223135"/>
            <a:ext cx="5257800" cy="304800"/>
          </a:xfrm>
          <a:prstGeom prst="rect">
            <a:avLst/>
          </a:prstGeom>
          <a:noFill/>
        </p:spPr>
        <p:txBody>
          <a:bodyPr wrap="none" lIns="0" rIns="0" tIns="0" bIns="0">
            <a:spAutoFit/>
          </a:bodyPr>
          <a:lstStyle/>
          <a:p>
            <a:pPr>
              <a:lnSpc>
                <a:spcPct val="115000"/>
              </a:lnSpc>
              <a:spcBef>
                <a:spcPts val="0"/>
              </a:spcBef>
              <a:spcAft>
                <a:spcPts val="0"/>
              </a:spcAft>
              <a:defRPr sz="1120" b="0">
                <a:solidFill>
                  <a:srgbClr val="57717D"/>
                </a:solidFill>
                <a:latin typeface="DejaVu Sans"/>
              </a:defRPr>
            </a:pPr>
            <a:r>
              <a:rPr>
                <a:hlinkClick r:id="rId9"/>
              </a:rPr>
              <a:t>DOI: 10.1038/nbt.3960</a:t>
            </a:r>
          </a:p>
        </p:txBody>
      </p:sp>
      <p:sp>
        <p:nvSpPr>
          <p:cNvPr id="25" name="TextBox 24"/>
          <p:cNvSpPr txBox="1"/>
          <p:nvPr/>
        </p:nvSpPr>
        <p:spPr>
          <a:xfrm>
            <a:off x="6299200" y="2512390"/>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9"/>
              </a:rPr>
              <a:t>[15] Illumina. Documentación técnica.</a:t>
            </a:r>
          </a:p>
        </p:txBody>
      </p:sp>
      <p:sp>
        <p:nvSpPr>
          <p:cNvPr id="26" name="TextBox 25"/>
          <p:cNvSpPr txBox="1"/>
          <p:nvPr/>
        </p:nvSpPr>
        <p:spPr>
          <a:xfrm>
            <a:off x="6299200" y="2737942"/>
            <a:ext cx="5257800" cy="435483"/>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0"/>
              </a:rPr>
              <a:t>Sequencing technology: sequencing by synthesis. Consulta:</a:t>
            </a:r>
          </a:p>
          <a:p>
            <a:pPr>
              <a:lnSpc>
                <a:spcPct val="115000"/>
              </a:lnSpc>
              <a:spcBef>
                <a:spcPts val="0"/>
              </a:spcBef>
              <a:spcAft>
                <a:spcPts val="0"/>
              </a:spcAft>
              <a:defRPr sz="1150" b="0">
                <a:solidFill>
                  <a:srgbClr val="183443"/>
                </a:solidFill>
                <a:latin typeface="DejaVu Sans"/>
              </a:defRPr>
            </a:pPr>
            <a:r>
              <a:rPr>
                <a:hlinkClick r:id="rId10"/>
              </a:rPr>
              <a:t>28-10-2026.</a:t>
            </a:r>
          </a:p>
        </p:txBody>
      </p:sp>
      <p:sp>
        <p:nvSpPr>
          <p:cNvPr id="27" name="TextBox 26"/>
          <p:cNvSpPr txBox="1"/>
          <p:nvPr/>
        </p:nvSpPr>
        <p:spPr>
          <a:xfrm>
            <a:off x="6299200" y="3236925"/>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0"/>
              </a:rPr>
              <a:t>[16] Illumina. Documentación técnica.</a:t>
            </a:r>
          </a:p>
        </p:txBody>
      </p:sp>
      <p:sp>
        <p:nvSpPr>
          <p:cNvPr id="28" name="TextBox 27"/>
          <p:cNvSpPr txBox="1"/>
          <p:nvPr/>
        </p:nvSpPr>
        <p:spPr>
          <a:xfrm>
            <a:off x="6299200" y="3462477"/>
            <a:ext cx="5257800" cy="304800"/>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1"/>
              </a:rPr>
              <a:t>Unique dual indexes y asignación de muestras. Consulta: 28-10-2026.</a:t>
            </a:r>
          </a:p>
        </p:txBody>
      </p:sp>
      <p:sp>
        <p:nvSpPr>
          <p:cNvPr id="29" name="TextBox 28"/>
          <p:cNvSpPr txBox="1"/>
          <p:nvPr/>
        </p:nvSpPr>
        <p:spPr>
          <a:xfrm>
            <a:off x="6299200" y="3781818"/>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1"/>
              </a:rPr>
              <a:t>[17] Oxford Nanopore Technologies.</a:t>
            </a:r>
          </a:p>
        </p:txBody>
      </p:sp>
      <p:sp>
        <p:nvSpPr>
          <p:cNvPr id="30" name="TextBox 29"/>
          <p:cNvSpPr txBox="1"/>
          <p:nvPr/>
        </p:nvSpPr>
        <p:spPr>
          <a:xfrm>
            <a:off x="6299200" y="4007370"/>
            <a:ext cx="5257800" cy="304800"/>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2"/>
              </a:rPr>
              <a:t>Dorado: basecalling, modelos y duplex. Consulta: 28-10-2026.</a:t>
            </a:r>
          </a:p>
        </p:txBody>
      </p:sp>
      <p:sp>
        <p:nvSpPr>
          <p:cNvPr id="31" name="TextBox 30"/>
          <p:cNvSpPr txBox="1"/>
          <p:nvPr/>
        </p:nvSpPr>
        <p:spPr>
          <a:xfrm>
            <a:off x="6299200" y="4326712"/>
            <a:ext cx="5257800" cy="304800"/>
          </a:xfrm>
          <a:prstGeom prst="rect">
            <a:avLst/>
          </a:prstGeom>
          <a:noFill/>
        </p:spPr>
        <p:txBody>
          <a:bodyPr wrap="none" lIns="0" rIns="0" tIns="0" bIns="0">
            <a:spAutoFit/>
          </a:bodyPr>
          <a:lstStyle/>
          <a:p>
            <a:pPr>
              <a:lnSpc>
                <a:spcPct val="115000"/>
              </a:lnSpc>
              <a:spcBef>
                <a:spcPts val="0"/>
              </a:spcBef>
              <a:spcAft>
                <a:spcPts val="0"/>
              </a:spcAft>
              <a:defRPr sz="1200" b="1">
                <a:solidFill>
                  <a:srgbClr val="007F86"/>
                </a:solidFill>
                <a:latin typeface="DejaVu Sans"/>
              </a:defRPr>
            </a:pPr>
            <a:r>
              <a:rPr>
                <a:hlinkClick r:id="rId12"/>
              </a:rPr>
              <a:t>[18] PacBio. Documentación técnica.</a:t>
            </a:r>
          </a:p>
        </p:txBody>
      </p:sp>
      <p:sp>
        <p:nvSpPr>
          <p:cNvPr id="32" name="TextBox 31"/>
          <p:cNvSpPr txBox="1"/>
          <p:nvPr/>
        </p:nvSpPr>
        <p:spPr>
          <a:xfrm>
            <a:off x="6299200" y="4552264"/>
            <a:ext cx="5257800" cy="304800"/>
          </a:xfrm>
          <a:prstGeom prst="rect">
            <a:avLst/>
          </a:prstGeom>
          <a:noFill/>
        </p:spPr>
        <p:txBody>
          <a:bodyPr wrap="none" lIns="0" rIns="0" tIns="0" bIns="0">
            <a:spAutoFit/>
          </a:bodyPr>
          <a:lstStyle/>
          <a:p>
            <a:pPr>
              <a:lnSpc>
                <a:spcPct val="115000"/>
              </a:lnSpc>
              <a:spcBef>
                <a:spcPts val="0"/>
              </a:spcBef>
              <a:spcAft>
                <a:spcPts val="0"/>
              </a:spcAft>
              <a:defRPr sz="1150" b="0">
                <a:solidFill>
                  <a:srgbClr val="183443"/>
                </a:solidFill>
                <a:latin typeface="DejaVu Sans"/>
              </a:defRPr>
            </a:pPr>
            <a:r>
              <a:rPr>
                <a:hlinkClick r:id="rId12"/>
              </a:rPr>
              <a:t>How HiFi sequencing works. Consulta: 28-10-2026.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