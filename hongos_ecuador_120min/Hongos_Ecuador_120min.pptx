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f7888c4b064bd5" /><Relationship Type="http://schemas.openxmlformats.org/officeDocument/2006/relationships/extended-properties" Target="/docProps/app.xml" Id="R6766e177c5d740d4" /><Relationship Type="http://schemas.openxmlformats.org/officeDocument/2006/relationships/officeDocument" Target="/ppt/presentation.xml" Id="R70556419ff3448ee" /></Relationships>
</file>

<file path=ppt/presentation.xml><?xml version="1.0" encoding="utf-8"?>
<p:presentation xmlns:p="http://schemas.openxmlformats.org/presentationml/2006/main">
  <p:sldMasterIdLst>
    <p:sldMasterId xmlns:r="http://schemas.openxmlformats.org/officeDocument/2006/relationships" id="2147483648" r:id="R5800a7eebaf2412f"/>
  </p:sldMasterIdLst>
  <p:notesMasterIdLst>
    <p:notesMasterId xmlns:r="http://schemas.openxmlformats.org/officeDocument/2006/relationships" r:id="R505b582822af44e8"/>
  </p:notesMasterIdLst>
  <p:sldIdLst>
    <p:sldId xmlns:r="http://schemas.openxmlformats.org/officeDocument/2006/relationships" id="256" r:id="Rfcdd765fdc774bf1"/>
    <p:sldId xmlns:r="http://schemas.openxmlformats.org/officeDocument/2006/relationships" id="257" r:id="R8db12fea6cde4a2b"/>
    <p:sldId xmlns:r="http://schemas.openxmlformats.org/officeDocument/2006/relationships" id="258" r:id="R880f41ed4ac04b67"/>
    <p:sldId xmlns:r="http://schemas.openxmlformats.org/officeDocument/2006/relationships" id="259" r:id="R6f99cc92e69b4963"/>
    <p:sldId xmlns:r="http://schemas.openxmlformats.org/officeDocument/2006/relationships" id="260" r:id="Rd9eaacfde8434dd9"/>
    <p:sldId xmlns:r="http://schemas.openxmlformats.org/officeDocument/2006/relationships" id="261" r:id="R44cdb9fd644e48d0"/>
    <p:sldId xmlns:r="http://schemas.openxmlformats.org/officeDocument/2006/relationships" id="262" r:id="R112e5a58614548a0"/>
    <p:sldId xmlns:r="http://schemas.openxmlformats.org/officeDocument/2006/relationships" id="263" r:id="R0f9a5b1bd79f4216"/>
    <p:sldId xmlns:r="http://schemas.openxmlformats.org/officeDocument/2006/relationships" id="264" r:id="R173eaf4528224cfb"/>
    <p:sldId xmlns:r="http://schemas.openxmlformats.org/officeDocument/2006/relationships" id="265" r:id="Rd6beb58f8ba44343"/>
    <p:sldId xmlns:r="http://schemas.openxmlformats.org/officeDocument/2006/relationships" id="266" r:id="R8972812b3b77450d"/>
    <p:sldId xmlns:r="http://schemas.openxmlformats.org/officeDocument/2006/relationships" id="267" r:id="R491f8fe462d447c9"/>
    <p:sldId xmlns:r="http://schemas.openxmlformats.org/officeDocument/2006/relationships" id="268" r:id="R32a858b4cbbd452e"/>
    <p:sldId xmlns:r="http://schemas.openxmlformats.org/officeDocument/2006/relationships" id="269" r:id="R0e07fc4357da42c9"/>
    <p:sldId xmlns:r="http://schemas.openxmlformats.org/officeDocument/2006/relationships" id="270" r:id="Rd7d9877dde90433c"/>
    <p:sldId xmlns:r="http://schemas.openxmlformats.org/officeDocument/2006/relationships" id="271" r:id="R4594c757cd2d4f2f"/>
    <p:sldId xmlns:r="http://schemas.openxmlformats.org/officeDocument/2006/relationships" id="272" r:id="Rd4d4240f02164596"/>
    <p:sldId xmlns:r="http://schemas.openxmlformats.org/officeDocument/2006/relationships" id="273" r:id="R969c5a8107624985"/>
    <p:sldId xmlns:r="http://schemas.openxmlformats.org/officeDocument/2006/relationships" id="274" r:id="Ra0f7176543ae4916"/>
    <p:sldId xmlns:r="http://schemas.openxmlformats.org/officeDocument/2006/relationships" id="275" r:id="R2da28029c73847cf"/>
    <p:sldId xmlns:r="http://schemas.openxmlformats.org/officeDocument/2006/relationships" id="276" r:id="R3b2dd64c1bd44984"/>
    <p:sldId xmlns:r="http://schemas.openxmlformats.org/officeDocument/2006/relationships" id="277" r:id="Rdf7c80e3f917482d"/>
    <p:sldId xmlns:r="http://schemas.openxmlformats.org/officeDocument/2006/relationships" id="278" r:id="Ree7cab3ef07d4814"/>
    <p:sldId xmlns:r="http://schemas.openxmlformats.org/officeDocument/2006/relationships" id="279" r:id="R0d2fe95d3a7a40fd"/>
    <p:sldId xmlns:r="http://schemas.openxmlformats.org/officeDocument/2006/relationships" id="280" r:id="R4448f876021e4c09"/>
    <p:sldId xmlns:r="http://schemas.openxmlformats.org/officeDocument/2006/relationships" id="281" r:id="Raa5ab0d4920a4513"/>
    <p:sldId xmlns:r="http://schemas.openxmlformats.org/officeDocument/2006/relationships" id="282" r:id="R03a57f648a2742fe"/>
    <p:sldId xmlns:r="http://schemas.openxmlformats.org/officeDocument/2006/relationships" id="283" r:id="R9d0a91e84e724fe1"/>
    <p:sldId xmlns:r="http://schemas.openxmlformats.org/officeDocument/2006/relationships" id="284" r:id="R998ee82d8a7243e5"/>
    <p:sldId xmlns:r="http://schemas.openxmlformats.org/officeDocument/2006/relationships" id="285" r:id="Rbb80170e56374408"/>
    <p:sldId xmlns:r="http://schemas.openxmlformats.org/officeDocument/2006/relationships" id="286" r:id="R9958aebf9b124cc4"/>
    <p:sldId xmlns:r="http://schemas.openxmlformats.org/officeDocument/2006/relationships" id="287" r:id="Reddb9bae111d41c3"/>
    <p:sldId xmlns:r="http://schemas.openxmlformats.org/officeDocument/2006/relationships" id="288" r:id="R696ba89261e54533"/>
    <p:sldId xmlns:r="http://schemas.openxmlformats.org/officeDocument/2006/relationships" id="289" r:id="R84d8cec81e8e4cf5"/>
    <p:sldId xmlns:r="http://schemas.openxmlformats.org/officeDocument/2006/relationships" id="290" r:id="R90ebf6c3892a45fc"/>
    <p:sldId xmlns:r="http://schemas.openxmlformats.org/officeDocument/2006/relationships" id="291" r:id="Rab2863a46e69410c"/>
    <p:sldId xmlns:r="http://schemas.openxmlformats.org/officeDocument/2006/relationships" id="292" r:id="R441e887b44f3442f"/>
    <p:sldId xmlns:r="http://schemas.openxmlformats.org/officeDocument/2006/relationships" id="293" r:id="R601b307bdf38474e"/>
    <p:sldId xmlns:r="http://schemas.openxmlformats.org/officeDocument/2006/relationships" id="294" r:id="R4dabe3eceb5849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40f6ee7ba74592" /><Relationship Type="http://schemas.openxmlformats.org/officeDocument/2006/relationships/slideMaster" Target="/ppt/slideMasters/slideMaster1.xml" Id="R5800a7eebaf2412f" /><Relationship Type="http://schemas.openxmlformats.org/officeDocument/2006/relationships/notesMaster" Target="/ppt/notesMasters/notesMaster1.xml" Id="R505b582822af44e8" /><Relationship Type="http://schemas.openxmlformats.org/officeDocument/2006/relationships/presProps" Target="/ppt/presProps.xml" Id="R752d925efe184f34" /><Relationship Type="http://schemas.openxmlformats.org/officeDocument/2006/relationships/tableStyles" Target="/ppt/tableStyles.xml" Id="R10465c6cbaff4e98" /><Relationship Type="http://schemas.openxmlformats.org/officeDocument/2006/relationships/slide" Target="/ppt/slides/slide1.xml" Id="Rfcdd765fdc774bf1" /><Relationship Type="http://schemas.openxmlformats.org/officeDocument/2006/relationships/slide" Target="/ppt/slides/slide2.xml" Id="R8db12fea6cde4a2b" /><Relationship Type="http://schemas.openxmlformats.org/officeDocument/2006/relationships/slide" Target="/ppt/slides/slide3.xml" Id="R880f41ed4ac04b67" /><Relationship Type="http://schemas.openxmlformats.org/officeDocument/2006/relationships/slide" Target="/ppt/slides/slide4.xml" Id="R6f99cc92e69b4963" /><Relationship Type="http://schemas.openxmlformats.org/officeDocument/2006/relationships/slide" Target="/ppt/slides/slide5.xml" Id="Rd9eaacfde8434dd9" /><Relationship Type="http://schemas.openxmlformats.org/officeDocument/2006/relationships/slide" Target="/ppt/slides/slide6.xml" Id="R44cdb9fd644e48d0" /><Relationship Type="http://schemas.openxmlformats.org/officeDocument/2006/relationships/slide" Target="/ppt/slides/slide7.xml" Id="R112e5a58614548a0" /><Relationship Type="http://schemas.openxmlformats.org/officeDocument/2006/relationships/slide" Target="/ppt/slides/slide8.xml" Id="R0f9a5b1bd79f4216" /><Relationship Type="http://schemas.openxmlformats.org/officeDocument/2006/relationships/slide" Target="/ppt/slides/slide9.xml" Id="R173eaf4528224cfb" /><Relationship Type="http://schemas.openxmlformats.org/officeDocument/2006/relationships/slide" Target="/ppt/slides/slide10.xml" Id="Rd6beb58f8ba44343" /><Relationship Type="http://schemas.openxmlformats.org/officeDocument/2006/relationships/slide" Target="/ppt/slides/slide11.xml" Id="R8972812b3b77450d" /><Relationship Type="http://schemas.openxmlformats.org/officeDocument/2006/relationships/slide" Target="/ppt/slides/slide12.xml" Id="R491f8fe462d447c9" /><Relationship Type="http://schemas.openxmlformats.org/officeDocument/2006/relationships/slide" Target="/ppt/slides/slide13.xml" Id="R32a858b4cbbd452e" /><Relationship Type="http://schemas.openxmlformats.org/officeDocument/2006/relationships/slide" Target="/ppt/slides/slide14.xml" Id="R0e07fc4357da42c9" /><Relationship Type="http://schemas.openxmlformats.org/officeDocument/2006/relationships/slide" Target="/ppt/slides/slide15.xml" Id="Rd7d9877dde90433c" /><Relationship Type="http://schemas.openxmlformats.org/officeDocument/2006/relationships/slide" Target="/ppt/slides/slide16.xml" Id="R4594c757cd2d4f2f" /><Relationship Type="http://schemas.openxmlformats.org/officeDocument/2006/relationships/slide" Target="/ppt/slides/slide17.xml" Id="Rd4d4240f02164596" /><Relationship Type="http://schemas.openxmlformats.org/officeDocument/2006/relationships/slide" Target="/ppt/slides/slide18.xml" Id="R969c5a8107624985" /><Relationship Type="http://schemas.openxmlformats.org/officeDocument/2006/relationships/slide" Target="/ppt/slides/slide19.xml" Id="Ra0f7176543ae4916" /><Relationship Type="http://schemas.openxmlformats.org/officeDocument/2006/relationships/slide" Target="/ppt/slides/slide20.xml" Id="R2da28029c73847cf" /><Relationship Type="http://schemas.openxmlformats.org/officeDocument/2006/relationships/slide" Target="/ppt/slides/slide21.xml" Id="R3b2dd64c1bd44984" /><Relationship Type="http://schemas.openxmlformats.org/officeDocument/2006/relationships/slide" Target="/ppt/slides/slide22.xml" Id="Rdf7c80e3f917482d" /><Relationship Type="http://schemas.openxmlformats.org/officeDocument/2006/relationships/slide" Target="/ppt/slides/slide23.xml" Id="Ree7cab3ef07d4814" /><Relationship Type="http://schemas.openxmlformats.org/officeDocument/2006/relationships/slide" Target="/ppt/slides/slide24.xml" Id="R0d2fe95d3a7a40fd" /><Relationship Type="http://schemas.openxmlformats.org/officeDocument/2006/relationships/slide" Target="/ppt/slides/slide25.xml" Id="R4448f876021e4c09" /><Relationship Type="http://schemas.openxmlformats.org/officeDocument/2006/relationships/slide" Target="/ppt/slides/slide26.xml" Id="Raa5ab0d4920a4513" /><Relationship Type="http://schemas.openxmlformats.org/officeDocument/2006/relationships/slide" Target="/ppt/slides/slide27.xml" Id="R03a57f648a2742fe" /><Relationship Type="http://schemas.openxmlformats.org/officeDocument/2006/relationships/slide" Target="/ppt/slides/slide28.xml" Id="R9d0a91e84e724fe1" /><Relationship Type="http://schemas.openxmlformats.org/officeDocument/2006/relationships/slide" Target="/ppt/slides/slide29.xml" Id="R998ee82d8a7243e5" /><Relationship Type="http://schemas.openxmlformats.org/officeDocument/2006/relationships/slide" Target="/ppt/slides/slide30.xml" Id="Rbb80170e56374408" /><Relationship Type="http://schemas.openxmlformats.org/officeDocument/2006/relationships/slide" Target="/ppt/slides/slide31.xml" Id="R9958aebf9b124cc4" /><Relationship Type="http://schemas.openxmlformats.org/officeDocument/2006/relationships/slide" Target="/ppt/slides/slide32.xml" Id="Reddb9bae111d41c3" /><Relationship Type="http://schemas.openxmlformats.org/officeDocument/2006/relationships/slide" Target="/ppt/slides/slide33.xml" Id="R696ba89261e54533" /><Relationship Type="http://schemas.openxmlformats.org/officeDocument/2006/relationships/slide" Target="/ppt/slides/slide34.xml" Id="R84d8cec81e8e4cf5" /><Relationship Type="http://schemas.openxmlformats.org/officeDocument/2006/relationships/slide" Target="/ppt/slides/slide35.xml" Id="R90ebf6c3892a45fc" /><Relationship Type="http://schemas.openxmlformats.org/officeDocument/2006/relationships/slide" Target="/ppt/slides/slide36.xml" Id="Rab2863a46e69410c" /><Relationship Type="http://schemas.openxmlformats.org/officeDocument/2006/relationships/slide" Target="/ppt/slides/slide37.xml" Id="R441e887b44f3442f" /><Relationship Type="http://schemas.openxmlformats.org/officeDocument/2006/relationships/slide" Target="/ppt/slides/slide38.xml" Id="R601b307bdf38474e" /><Relationship Type="http://schemas.openxmlformats.org/officeDocument/2006/relationships/slide" Target="/ppt/slides/slide39.xml" Id="R4dabe3eceb5849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2e3fc7279347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73103352414943" /><Relationship Type="http://schemas.openxmlformats.org/officeDocument/2006/relationships/notesMaster" Target="/ppt/notesMasters/notesMaster1.xml" Id="Rf0085e01e5934d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41ab06cc884625" /><Relationship Type="http://schemas.openxmlformats.org/officeDocument/2006/relationships/notesMaster" Target="/ppt/notesMasters/notesMaster1.xml" Id="Red6254ea8cc44e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3f41a81d704a78" /><Relationship Type="http://schemas.openxmlformats.org/officeDocument/2006/relationships/notesMaster" Target="/ppt/notesMasters/notesMaster1.xml" Id="R5ed8c6c3a8d848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9c37d9b4af4a9f" /><Relationship Type="http://schemas.openxmlformats.org/officeDocument/2006/relationships/notesMaster" Target="/ppt/notesMasters/notesMaster1.xml" Id="Rd125276be3b048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27aa704cf946ba" /><Relationship Type="http://schemas.openxmlformats.org/officeDocument/2006/relationships/notesMaster" Target="/ppt/notesMasters/notesMaster1.xml" Id="R7a75102ef7f647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f76037a3534cce" /><Relationship Type="http://schemas.openxmlformats.org/officeDocument/2006/relationships/notesMaster" Target="/ppt/notesMasters/notesMaster1.xml" Id="Re02dc47d7d2541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26d76fe871437e" /><Relationship Type="http://schemas.openxmlformats.org/officeDocument/2006/relationships/notesMaster" Target="/ppt/notesMasters/notesMaster1.xml" Id="R90041316473e42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13bac5e6b64459" /><Relationship Type="http://schemas.openxmlformats.org/officeDocument/2006/relationships/notesMaster" Target="/ppt/notesMasters/notesMaster1.xml" Id="Ra28ddfd794984f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3287bcbff248c3" /><Relationship Type="http://schemas.openxmlformats.org/officeDocument/2006/relationships/notesMaster" Target="/ppt/notesMasters/notesMaster1.xml" Id="R90a063dc66aa4a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47ac32c9154a1b" /><Relationship Type="http://schemas.openxmlformats.org/officeDocument/2006/relationships/notesMaster" Target="/ppt/notesMasters/notesMaster1.xml" Id="Rfc149dac398540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ab60617de641fb" /><Relationship Type="http://schemas.openxmlformats.org/officeDocument/2006/relationships/notesMaster" Target="/ppt/notesMasters/notesMaster1.xml" Id="R2ffc1e4be57e47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e533d287bf4994" /><Relationship Type="http://schemas.openxmlformats.org/officeDocument/2006/relationships/notesMaster" Target="/ppt/notesMasters/notesMaster1.xml" Id="Re53f56e4a13846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9d4bd64c0747ad" /><Relationship Type="http://schemas.openxmlformats.org/officeDocument/2006/relationships/notesMaster" Target="/ppt/notesMasters/notesMaster1.xml" Id="Rd431586b710b46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1c115fb96b4ccd" /><Relationship Type="http://schemas.openxmlformats.org/officeDocument/2006/relationships/notesMaster" Target="/ppt/notesMasters/notesMaster1.xml" Id="R116611b4a15047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03ef051b2c4315" /><Relationship Type="http://schemas.openxmlformats.org/officeDocument/2006/relationships/notesMaster" Target="/ppt/notesMasters/notesMaster1.xml" Id="Rc4fb93f0336843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3398226ed92437c" /><Relationship Type="http://schemas.openxmlformats.org/officeDocument/2006/relationships/notesMaster" Target="/ppt/notesMasters/notesMaster1.xml" Id="Rcbc7580cf0994e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6d00a26e09460a" /><Relationship Type="http://schemas.openxmlformats.org/officeDocument/2006/relationships/notesMaster" Target="/ppt/notesMasters/notesMaster1.xml" Id="R23fc429f137745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73b0463c794a61" /><Relationship Type="http://schemas.openxmlformats.org/officeDocument/2006/relationships/notesMaster" Target="/ppt/notesMasters/notesMaster1.xml" Id="R309da33c81c241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d38785025d420f" /><Relationship Type="http://schemas.openxmlformats.org/officeDocument/2006/relationships/notesMaster" Target="/ppt/notesMasters/notesMaster1.xml" Id="R37ce55a611574d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0532a22b054262" /><Relationship Type="http://schemas.openxmlformats.org/officeDocument/2006/relationships/notesMaster" Target="/ppt/notesMasters/notesMaster1.xml" Id="R2394cf91455d47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3e4361e75d4cdd" /><Relationship Type="http://schemas.openxmlformats.org/officeDocument/2006/relationships/notesMaster" Target="/ppt/notesMasters/notesMaster1.xml" Id="R52c66af4910c47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3586b9b0a6442c" /><Relationship Type="http://schemas.openxmlformats.org/officeDocument/2006/relationships/notesMaster" Target="/ppt/notesMasters/notesMaster1.xml" Id="R3c184499de624d4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05b67bc5d74dac" /><Relationship Type="http://schemas.openxmlformats.org/officeDocument/2006/relationships/notesMaster" Target="/ppt/notesMasters/notesMaster1.xml" Id="Re130d576f4de4c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e5f1eb1eae4a29" /><Relationship Type="http://schemas.openxmlformats.org/officeDocument/2006/relationships/notesMaster" Target="/ppt/notesMasters/notesMaster1.xml" Id="Rf7773db8bebf4b3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540e40b2a945ca" /><Relationship Type="http://schemas.openxmlformats.org/officeDocument/2006/relationships/notesMaster" Target="/ppt/notesMasters/notesMaster1.xml" Id="Rf73d9e38449b400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85c7b35cdc4249" /><Relationship Type="http://schemas.openxmlformats.org/officeDocument/2006/relationships/notesMaster" Target="/ppt/notesMasters/notesMaster1.xml" Id="R9c9d518518eb437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165055f312b4c68" /><Relationship Type="http://schemas.openxmlformats.org/officeDocument/2006/relationships/notesMaster" Target="/ppt/notesMasters/notesMaster1.xml" Id="R7e146453c8634e1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c389efe1b4432e" /><Relationship Type="http://schemas.openxmlformats.org/officeDocument/2006/relationships/notesMaster" Target="/ppt/notesMasters/notesMaster1.xml" Id="Rf1075a68b255441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0ac69e3b35645ee" /><Relationship Type="http://schemas.openxmlformats.org/officeDocument/2006/relationships/notesMaster" Target="/ppt/notesMasters/notesMaster1.xml" Id="R63fa6105018d48f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190d14ec1e24a70" /><Relationship Type="http://schemas.openxmlformats.org/officeDocument/2006/relationships/notesMaster" Target="/ppt/notesMasters/notesMaster1.xml" Id="R23433b21f3c84aa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66e6430ca2c4f8c" /><Relationship Type="http://schemas.openxmlformats.org/officeDocument/2006/relationships/notesMaster" Target="/ppt/notesMasters/notesMaster1.xml" Id="R5495c965c7664af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5035d5e4e74c90" /><Relationship Type="http://schemas.openxmlformats.org/officeDocument/2006/relationships/notesMaster" Target="/ppt/notesMasters/notesMaster1.xml" Id="R568adb7ad73d442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ac1f8c8bed44f4a" /><Relationship Type="http://schemas.openxmlformats.org/officeDocument/2006/relationships/notesMaster" Target="/ppt/notesMasters/notesMaster1.xml" Id="R552d8490f5ef49f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fd544bea8d04205" /><Relationship Type="http://schemas.openxmlformats.org/officeDocument/2006/relationships/notesMaster" Target="/ppt/notesMasters/notesMaster1.xml" Id="Ra349a1cddae74c1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527f03c792a4cf9" /><Relationship Type="http://schemas.openxmlformats.org/officeDocument/2006/relationships/notesMaster" Target="/ppt/notesMasters/notesMaster1.xml" Id="R72eee73728e243f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f825ea62ba74bc8" /><Relationship Type="http://schemas.openxmlformats.org/officeDocument/2006/relationships/notesMaster" Target="/ppt/notesMasters/notesMaster1.xml" Id="Rdeca7c8646de4f8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78b580c9c39469b" /><Relationship Type="http://schemas.openxmlformats.org/officeDocument/2006/relationships/notesMaster" Target="/ppt/notesMasters/notesMaster1.xml" Id="Ra9aa077f68474ea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fa8c74269ad4ffe" /><Relationship Type="http://schemas.openxmlformats.org/officeDocument/2006/relationships/notesMaster" Target="/ppt/notesMasters/notesMaster1.xml" Id="Rd3c708e86ec642a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937359a62ba4b0a" /><Relationship Type="http://schemas.openxmlformats.org/officeDocument/2006/relationships/notesMaster" Target="/ppt/notesMasters/notesMaster1.xml" Id="Re44353de6fea4c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Hongos</a:t>
            </a:r>
          </a:p>
          <a:p xmlns:a="http://schemas.openxmlformats.org/drawingml/2006/main">
            <a:r>
              <a:t>Tiempo: 2 minutos. Intervalo: 0–2 minutos.</a:t>
            </a:r>
          </a:p>
          <a:p xmlns:a="http://schemas.openxmlformats.org/drawingml/2006/main">
            <a:r>
              <a:t>Apertura: pide ejemplos de un hongo visible y otro microscópico. Explica que una seta es una estructura reproductiva y que muchos hongos se reconocen mediante sus células o hifas. La clase conecta estructura, reproducción y nutrición con cinco publicaciones realizadas en Ecuador.</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[1] Dube, H. C. (2013). An Introduction to Fungi, 4th ed. Scientific Publishers. Libro compartido por la docente. Consulta de índice y vista previa. https://books.google.com/books?id=ZFA4DwAAQBAJ</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[5] Wijayawardene, N. N., et al. (2024). Classes and phyla of the kingdom Fungi. Fungal Diversity, 128, 1–165. https://doi.org/10.1007/s13225-024-00540-z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Preguntas desde las tres carreras</a:t>
            </a:r>
          </a:p>
          <a:p xmlns:a="http://schemas.openxmlformats.org/drawingml/2006/main">
            <a:r>
              <a:t>Tiempo: 1 minutos. Intervalo: 2–3 minutos.</a:t>
            </a:r>
          </a:p>
          <a:p xmlns:a="http://schemas.openxmlformats.org/drawingml/2006/main">
            <a:r>
              <a:t>Presenta las tres miradas sin asignar intereses fijos a cada carrera. Microbiología: reconocer estructuras, identificar y evaluar cepas. Biología: explicar diversidad, descomposición y asociaciones con plantas. Ciencias Biomédicas: relacionar composición celular, bioactividad y límites de la evidencia. Cada equipo podrá elegir una mirada durante el ejercicio.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a:p xmlns:a="http://schemas.openxmlformats.org/drawingml/2006/main">
            <a:r>
              <a:t>[9] Chóez-Guaranda, I., et al. (2023). Chemical Characterization of Trichoderma spp. Extracts with Antifungal Activity against Cocoa Pathogens. Molecules, 28(7), 3208. https://doi.org/10.3390/molecules28073208</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organismo, distintas escalas</a:t>
            </a:r>
          </a:p>
          <a:p xmlns:a="http://schemas.openxmlformats.org/drawingml/2006/main">
            <a:r>
              <a:t>Tiempo: 2 minutos. Intervalo: 3–5 minutos.</a:t>
            </a:r>
          </a:p>
          <a:p xmlns:a="http://schemas.openxmlformats.org/drawingml/2006/main">
            <a:r>
              <a:t>Señala el micelio en el sustrato, una hifa individual y el basidioma. El micelio es el conjunto de hifas. En un hongo filamentoso el cuerpo fructífero es una estructura especializada; no todo hongo forma una seta. El suelo es un contexto ilustrativo y el mismo principio se aplica a micelios en madera u otros sustratos.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célula fúngica</a:t>
            </a:r>
          </a:p>
          <a:p xmlns:a="http://schemas.openxmlformats.org/drawingml/2006/main">
            <a:r>
              <a:t>Tiempo: 3 minutos. Intervalo: 5–8 minutos.</a:t>
            </a:r>
          </a:p>
          <a:p xmlns:a="http://schemas.openxmlformats.org/drawingml/2006/main">
            <a:r>
              <a:t>Identifica núcleo, vacuola, mitocondrias, pared y membrana. El núcleo contiene ADN; las mitocondrias intervienen en respiración; la vacuola tiene funciones de almacenamiento y equilibrio celular. Las células fúngicas carecen de cloroplastos. El esquema representa una levadura, no la organización exacta de todas las especies.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[3] Gow, N. A. R., &amp; Lenardon, M. D. (2023). Architecture of the dynamic fungal cell wall. Nature Reviews Microbiology, 21, 248–259. https://doi.org/10.1038/s41579-022-00796-9</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Composición de la envoltura</a:t>
            </a:r>
          </a:p>
          <a:p xmlns:a="http://schemas.openxmlformats.org/drawingml/2006/main">
            <a:r>
              <a:t>Tiempo: 3 minutos. Intervalo: 8–11 minutos.</a:t>
            </a:r>
          </a:p>
          <a:p xmlns:a="http://schemas.openxmlformats.org/drawingml/2006/main">
            <a:r>
              <a:t>La pared es una red dinámica y su composición varía entre especies y etapas. El esquema representa una organización frecuente de levaduras: quitina y glucanos aportan soporte y componentes de superficie participan en interacción. El ergosterol se ubica en la membrana, no en la pared. Conecta estas diferencias con el reconocimiento del hospedador y con blancos de antifúngicos sin introducir recomendaciones terapéuticas.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[3] Gow, N. A. R., &amp; Lenardon, M. D. (2023). Architecture of the dynamic fungal cell wall. Nature Reviews Microbiology, 21, 248–259. https://doi.org/10.1038/s41579-022-00796-9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Hifas y crecimiento del micelio</a:t>
            </a:r>
          </a:p>
          <a:p xmlns:a="http://schemas.openxmlformats.org/drawingml/2006/main">
            <a:r>
              <a:t>Tiempo: 3 minutos. Intervalo: 11–14 minutos.</a:t>
            </a:r>
          </a:p>
          <a:p xmlns:a="http://schemas.openxmlformats.org/drawingml/2006/main">
            <a:r>
              <a:t>Explica septo como tabique transversal que puede poseer poro. Compara hifa septada con organización cenocítica, sin tabiques transversales regulares. El número de núcleos varía. El crecimiento de una hifa ocurre principalmente en el extremo mediante aporte de membrana y pared; no es alargamiento uniforme de un tubo inerte. La ramificación permite explorar recursos.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[3] Gow, N. A. R., &amp; Lenardon, M. D. (2023). Architecture of the dynamic fungal cell wall. Nature Reviews Microbiology, 21, 248–259. https://doi.org/10.1038/s41579-022-00796-9</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Levaduras, mohos y dimorfismo</a:t>
            </a:r>
          </a:p>
          <a:p xmlns:a="http://schemas.openxmlformats.org/drawingml/2006/main">
            <a:r>
              <a:t>Tiempo: 2 minutos. Intervalo: 14–16 minutos.</a:t>
            </a:r>
          </a:p>
          <a:p xmlns:a="http://schemas.openxmlformats.org/drawingml/2006/main">
            <a:r>
              <a:t>Levadura describe crecimiento predominantemente unicelular; moho, crecimiento filamentoso. Dimorfismo describe la capacidad de algunas especies para cambiar de forma según las condiciones. La figura reúne ejemplos y no demuestra que toda levadura se transforme en moho. Distingue hifas verdaderas y pseudohifas cuando sea pertinente, sin exigir el detalle diagnóstico en primer semestre.</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[5] Wijayawardene, N. N., et al. (2024). Classes and phyla of the kingdom Fungi. Fungal Diversity, 128, 1–165. https://doi.org/10.1007/s13225-024-00540-z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Partes de un cuerpo fructífero</a:t>
            </a:r>
          </a:p>
          <a:p xmlns:a="http://schemas.openxmlformats.org/drawingml/2006/main">
            <a:r>
              <a:t>Tiempo: 3 minutos. Intervalo: 16–19 minutos.</a:t>
            </a:r>
          </a:p>
          <a:p xmlns:a="http://schemas.openxmlformats.org/drawingml/2006/main">
            <a:r>
              <a:t>Describe píleo o sombrero, himenóforo de láminas, estípite o pie, anillo, volva y micelio. Anillo y volva son estructuras presentes en ciertos grupos y ausentes en muchos otros. El ejemplo es de tipo Amanita y no representa Pleurotus ostreatus. Estas partes sirven para describir y orientar la identificación, no para decidir comestibilidad por sí solas.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[1] Dube, H. C. (2013). An Introduction to Fungi, 4th ed. Scientific Publishers. Libro compartido por la docente. Consulta de índice y vista previa. https://books.google.com/books?id=ZFA4DwAAQBAJ</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Superficies que producen esporas</a:t>
            </a:r>
          </a:p>
          <a:p xmlns:a="http://schemas.openxmlformats.org/drawingml/2006/main">
            <a:r>
              <a:t>Tiempo: 2 minutos. Intervalo: 19–21 minutos.</a:t>
            </a:r>
          </a:p>
          <a:p xmlns:a="http://schemas.openxmlformats.org/drawingml/2006/main">
            <a:r>
              <a:t>Himenio es la capa fértil con células productoras de esporas. Himenóforo es la estructura que lo sostiene. Compara láminas, poros y dientes, así como un basidioma resupinado adherido al sustrato. Resupinado describe la forma del cuerpo fructífero y no es un tipo de poro. No todos los macrohongos tienen sombrero y pie.</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[1] Dube, H. C. (2013). An Introduction to Fungi, 4th ed. Scientific Publishers. Libro compartido por la docente. Consulta de índice y vista previa. https://books.google.com/books?id=ZFA4DwAAQBAJ</a:t>
            </a:r>
          </a:p>
          <a:p xmlns:a="http://schemas.openxmlformats.org/drawingml/2006/main">
            <a:r>
              <a:t>[5] Wijayawardene, N. N., et al. (2024). Classes and phyla of the kingdom Fungi. Fungal Diversity, 128, 1–165. https://doi.org/10.1007/s13225-024-00540-z</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Estructuras de los hongos microscópicos</a:t>
            </a:r>
          </a:p>
          <a:p xmlns:a="http://schemas.openxmlformats.org/drawingml/2006/main">
            <a:r>
              <a:t>Tiempo: 3 minutos. Intervalo: 21–24 minutos.</a:t>
            </a:r>
          </a:p>
          <a:p xmlns:a="http://schemas.openxmlformats.org/drawingml/2006/main">
            <a:r>
              <a:t>Compara organización del conidióforo y posición de las esporas. Aspergillus muestra una vesícula terminal con fiálides y cadenas de conidios; Penicillium presenta disposición de pincel; Rhizopus produce esporangiosporas dentro de un esporangio. El esquema no sustituye medidas, claves ni secuencias para identificar una especie. Las hifas vegetativas de Rhizopus suelen ser cenocíticas.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[1] Dube, H. C. (2013). An Introduction to Fungi, 4th ed. Scientific Publishers. Libro compartido por la docente. Consulta de índice y vista previa. https://books.google.com/books?id=ZFA4DwAAQBAJ</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[6] Lücking, R., et al. (2020). Unambiguous identification of fungi: where do we stand and how accurate and precise is fungal DNA barcoding? IMA Fungus, 11, 14. https://doi.org/10.1186/s43008-020-00033-z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Ascos y basidios</a:t>
            </a:r>
          </a:p>
          <a:p xmlns:a="http://schemas.openxmlformats.org/drawingml/2006/main">
            <a:r>
              <a:t>Tiempo: 3 minutos. Intervalo: 24–27 minutos.</a:t>
            </a:r>
          </a:p>
          <a:p xmlns:a="http://schemas.openxmlformats.org/drawingml/2006/main">
            <a:r>
              <a:t>Ascomycota produce ascosporas en ascos; Basidiomycota produce basidiosporas externamente en basidios. Son ejemplos frecuentes de ocho ascosporas y cuatro basidiosporas, con variación entre especies. No atribuir una estructura sexual visible a todos los cultivos de estos filos. Las estructuras se observan en etapas reproductivas apropiadas.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[1] Dube, H. C. (2013). An Introduction to Fungi, 4th ed. Scientific Publishers. Libro compartido por la docente. Consulta de índice y vista previa. https://books.google.com/books?id=ZFA4DwAAQBAJ</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[5] Wijayawardene, N. N., et al. (2024). Classes and phyla of the kingdom Fungi. Fungal Diversity, 128, 1–165. https://doi.org/10.1007/s13225-024-00540-z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Clasificación del reino Fungi</a:t>
            </a:r>
          </a:p>
          <a:p xmlns:a="http://schemas.openxmlformats.org/drawingml/2006/main">
            <a:r>
              <a:t>Tiempo: 4 minutos. Intervalo: 27–31 minutos.</a:t>
            </a:r>
          </a:p>
          <a:p xmlns:a="http://schemas.openxmlformats.org/drawingml/2006/main">
            <a:r>
              <a:t>Se usa como marco la clasificación filogenómica de Wijayawardene et al. 2024, que reconoce 19 filos. La tabla selecciona cinco para relacionarlos con los ejemplos de la clase y no es una clasificación completa ni un árbol que resuelva sus relaciones internas. Otros esquemas asignan rangos diferentes a algunos linajes. Zygomycota y Deuteromycota son agrupaciones históricas y no se enseñan aquí como filos actuales. Los oomicetos no pertenecen a Fungi.</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[5] Wijayawardene, N. N., et al. (2024). Classes and phyla of the kingdom Fungi. Fungal Diversity, 128, 1–165. https://doi.org/10.1007/s13225-024-00540-z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Macro y micro aparecen en distintos linajes</a:t>
            </a:r>
          </a:p>
          <a:p xmlns:a="http://schemas.openxmlformats.org/drawingml/2006/main">
            <a:r>
              <a:t>Tiempo: 3 minutos. Intervalo: 31–34 minutos.</a:t>
            </a:r>
          </a:p>
          <a:p xmlns:a="http://schemas.openxmlformats.org/drawingml/2006/main">
            <a:r>
              <a:t>Macrohongo y microhongo son categorías descriptivas, no rangos taxonómicos. Un macrohongo también posee hifas y estructuras microscópicas. Ascomycota y Basidiomycota incluyen formas macroscópicas y microscópicas; no todo Ascomycota es micro ni todo Basidiomycota es macro. Los ejemplos son ilustrativos, no una distribución geográfica ni una lista exhaustiva.</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[5] Wijayawardene, N. N., et al. (2024). Classes and phyla of the kingdom Fungi. Fungal Diversity, 128, 1–165. https://doi.org/10.1007/s13225-024-00540-z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ejemplo de clasificación taxonómica</a:t>
            </a:r>
          </a:p>
          <a:p xmlns:a="http://schemas.openxmlformats.org/drawingml/2006/main">
            <a:r>
              <a:t>Tiempo: 1 minutos. Intervalo: 34–35 minutos.</a:t>
            </a:r>
          </a:p>
          <a:p xmlns:a="http://schemas.openxmlformats.org/drawingml/2006/main">
            <a:r>
              <a:t>Revisa los rangos y el nombre binomial. Eukaryota es dominio, Opisthokonta un gran clado eucariota y Fungi el reino. El nombre de especie combina género y epíteto específico. La familia es Pleurotaceae. No equiparar macrohongo con clase ni levadura con filo.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[5] Wijayawardene, N. N., et al. (2024). Classes and phyla of the kingdom Fungi. Fungal Diversity, 128, 1–165. https://doi.org/10.1007/s13225-024-00540-z</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Identificación con evidencias complementarias</a:t>
            </a:r>
          </a:p>
          <a:p xmlns:a="http://schemas.openxmlformats.org/drawingml/2006/main">
            <a:r>
              <a:t>Tiempo: 3 minutos. Intervalo: 35–38 minutos.</a:t>
            </a:r>
          </a:p>
          <a:p xmlns:a="http://schemas.openxmlformats.org/drawingml/2006/main">
            <a:r>
              <a:t>Explica un recorrido de identificación: observar sustrato y cuerpo fructífero o colonia, describir estructuras con microscopía y comparar secuencias con referencias verificadas. ITS es un marcador común y puede requerir marcadores adicionales. Una fotografía o una coincidencia en una base de datos no bastan siempre. Conservar un ejemplar o cultivo de referencia permite volver a comprobar la identificación.</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[6] Lücking, R., et al. (2020). Unambiguous identification of fungi: where do we stand and how accurate and precise is fungal DNA barcoding? IMA Fungus, 11, 14. https://doi.org/10.1186/s43008-020-00033-z</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Reproducción asexual</a:t>
            </a:r>
          </a:p>
          <a:p xmlns:a="http://schemas.openxmlformats.org/drawingml/2006/main">
            <a:r>
              <a:t>Tiempo: 3 minutos. Intervalo: 38–41 minutos.</a:t>
            </a:r>
          </a:p>
          <a:p xmlns:a="http://schemas.openxmlformats.org/drawingml/2006/main">
            <a:r>
              <a:t>Describe tres mecanismos. En gemación se forma una célula hija a partir de una yema; algunas levaduras se dividen por fisión. Fragmentos viables de hifas pueden originar crecimiento. Conidios y esporangiosporas representan esporas asexuales en ejemplos conocidos. La mitosis participa en estos procesos; no requieren la fusión sexual de núcleos. No afirmar que cada hongo utiliza todos los mecanismos.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Reproducción sexual: cambios nucleares</a:t>
            </a:r>
          </a:p>
          <a:p xmlns:a="http://schemas.openxmlformats.org/drawingml/2006/main">
            <a:r>
              <a:t>Tiempo: 3 minutos. Intervalo: 41–44 minutos.</a:t>
            </a:r>
          </a:p>
          <a:p xmlns:a="http://schemas.openxmlformats.org/drawingml/2006/main">
            <a:r>
              <a:t>Plasmogamia es la unión de citoplasmas; cariogamia, la fusión de núcleos; meiosis, la reducción de la dotación cromosómica con recombinación. n expresa dotación haploide por núcleo. n+n representa dos núcleos haploides separados y no un único núcleo diploide. La fase dicariótica y su duración varían entre linajes. El dibujo no es el ciclo completo de todas las especies.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[5] Wijayawardene, N. N., et al. (2024). Classes and phyla of the kingdom Fungi. Fungal Diversity, 128, 1–165. https://doi.org/10.1007/s13225-024-00540-z</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Espora, germinación y micelio</a:t>
            </a:r>
          </a:p>
          <a:p xmlns:a="http://schemas.openxmlformats.org/drawingml/2006/main">
            <a:r>
              <a:t>Tiempo: 2 minutos. Intervalo: 44–46 minutos.</a:t>
            </a:r>
          </a:p>
          <a:p xmlns:a="http://schemas.openxmlformats.org/drawingml/2006/main">
            <a:r>
              <a:t>Señala la espora, el tubo germinativo, la ramificación y el micelio. Las esporas participan en reproducción y dispersión y pueden tener distintas tolerancias ambientales. No equipararlas a endosporas bacterianas ni asumir que toda espora implica patogenicidad. La germinación requiere condiciones apropiadas que dependen de la especie.</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Nutrición por absorción</a:t>
            </a:r>
          </a:p>
          <a:p xmlns:a="http://schemas.openxmlformats.org/drawingml/2006/main">
            <a:r>
              <a:t>Tiempo: 4 minutos. Intervalo: 46–50 minutos.</a:t>
            </a:r>
          </a:p>
          <a:p xmlns:a="http://schemas.openxmlformats.org/drawingml/2006/main">
            <a:r>
              <a:t>Los hongos son heterótrofos y obtienen carbono orgánico. Muchas hifas secretan enzimas que hidrolizan componentes del sustrato. Las moléculas pequeñas resultantes ingresan por transportadores de membrana. Diferencia digestión extracelular, absorción y metabolismo intracelular. No todos los materiales ni todos los hongos requieren las mismas enzimas. Este mecanismo conecta la forma filamentosa con la exploración del sustrato.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Respiración y fermentación</a:t>
            </a:r>
          </a:p>
          <a:p xmlns:a="http://schemas.openxmlformats.org/drawingml/2006/main">
            <a:r>
              <a:t>Tiempo: 3 minutos. Intervalo: 50–53 minutos.</a:t>
            </a:r>
          </a:p>
          <a:p xmlns:a="http://schemas.openxmlformats.org/drawingml/2006/main">
            <a:r>
              <a:t>Distingue obtención de ATP y fuente de carbono. La respiración aerobia incluye procesos mitocondriales y utiliza oxígeno como aceptor final. La fermentación alcohólica es un ejemplo en ciertas levaduras y ocurre en el citosol; no es universal en Fungi. Explica glucólisis como punto común y evita exigir memorizar todas las etapas a primer semestre. En cacao interviene una comunidad, no solo levaduras.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Enzimas y metabolitos</a:t>
            </a:r>
          </a:p>
          <a:p xmlns:a="http://schemas.openxmlformats.org/drawingml/2006/main">
            <a:r>
              <a:t>Tiempo: 2 minutos. Intervalo: 53–55 minutos.</a:t>
            </a:r>
          </a:p>
          <a:p xmlns:a="http://schemas.openxmlformats.org/drawingml/2006/main">
            <a:r>
              <a:t>Celulasas y otras enzimas pueden facilitar el uso de polímeros vegetales. La degradación de lignina implica sistemas oxidativos presentes en ciertos hongos, no en todos. El metabolismo también produce moléculas implicadas en interacción, defensa o señalización. Un metabolito bioactivo puede convertirse en objeto de investigación sin que eso demuestre una aplicación terapéutica o agrícola. No atribuir una molécula concreta al esquema artístico.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[3] Gow, N. A. R., &amp; Lenardon, M. D. (2023). Architecture of the dynamic fungal cell wall. Nature Reviews Microbiology, 21, 248–259. https://doi.org/10.1038/s41579-022-00796-9</a:t>
            </a:r>
          </a:p>
          <a:p xmlns:a="http://schemas.openxmlformats.org/drawingml/2006/main">
            <a:r>
              <a:t>[4] Riquelme, M., et al. (2018). Fungal Morphogenesis, from the Polarized Growth of Hyphae to Complex Reproduction and Infection Structures. Microbiology and Molecular Biology Reviews, 82, e00068-17. https://doi.org/10.1128/MMBR.00068-17</a:t>
            </a:r>
          </a:p>
          <a:p xmlns:a="http://schemas.openxmlformats.org/drawingml/2006/main">
            <a:r>
              <a:t>[9] Chóez-Guaranda, I., et al. (2023). Chemical Characterization of Trichoderma spp. Extracts with Antifungal Activity against Cocoa Pathogens. Molecules, 28(7), 3208. https://doi.org/10.3390/molecules28073208</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Formas de obtener alimento</a:t>
            </a:r>
          </a:p>
          <a:p xmlns:a="http://schemas.openxmlformats.org/drawingml/2006/main">
            <a:r>
              <a:t>Tiempo: 2 minutos. Intervalo: 55–57 minutos.</a:t>
            </a:r>
          </a:p>
          <a:p xmlns:a="http://schemas.openxmlformats.org/drawingml/2006/main">
            <a:r>
              <a:t>Saprotrofía: obtención de nutrientes a partir de materia orgánica muerta. Mutualismo: asociación con beneficios para los participantes bajo determinadas condiciones. Parasitismo: obtención de recursos de un hospedador con efectos perjudiciales. Estos modos no son filos ni categorías absolutamente rígidas. Un mismo linaje puede contener especies con estrategias distintas. Introduce endofitismo como localización y relación que no prueba beneficio.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Descomposición y ciclo de nutrientes</a:t>
            </a:r>
          </a:p>
          <a:p xmlns:a="http://schemas.openxmlformats.org/drawingml/2006/main">
            <a:r>
              <a:t>Tiempo: 3 minutos. Intervalo: 57–60 minutos.</a:t>
            </a:r>
          </a:p>
          <a:p xmlns:a="http://schemas.openxmlformats.org/drawingml/2006/main">
            <a:r>
              <a:t>Relaciona penetración del sustrato y secreción enzimática con transformación de celulosa, hemicelulosas y, en ciertos hongos, lignina. Parte del carbono se incorpora a biomasa y parte se libera por respiración. La materia se transforma y los nutrientes pueden volver a estar disponibles. Los hongos actúan junto con bacterias y otros organismos. No toda madera es degradada por cualquier hongo.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Micorrizas: dos organizaciones distintas</a:t>
            </a:r>
          </a:p>
          <a:p xmlns:a="http://schemas.openxmlformats.org/drawingml/2006/main">
            <a:r>
              <a:t>Tiempo: 4 minutos. Intervalo: 60–64 minutos.</a:t>
            </a:r>
          </a:p>
          <a:p xmlns:a="http://schemas.openxmlformats.org/drawingml/2006/main">
            <a:r>
              <a:t>En micorriza arbuscular, los arbúsculos se desarrollan en células corticales manteniendo una interfaz membranosa con la planta; no están libres en el citosol vegetal. En ectomicorriza, hay manto y red de Hartig entre células. El hongo puede aportar nutrientes minerales y la planta compuestos de carbono. Luginbuehl et al. demostraron transferencia de lípidos desde la planta a hongos arbusculares. El beneficio varía con los participantes y las condiciones.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[5] Wijayawardene, N. N., et al. (2024). Classes and phyla of the kingdom Fungi. Fungal Diversity, 128, 1–165. https://doi.org/10.1007/s13225-024-00540-z</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a:p xmlns:a="http://schemas.openxmlformats.org/drawingml/2006/main">
            <a:r>
              <a:t>[12] Luginbuehl, L. H., et al. (2017). Fatty acids in arbuscular mycorrhizal fungi are synthesized by the host plant. Science, 356, 1175–1178. https://doi.org/10.1126/science.aan0081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Endófitos y líquenes</a:t>
            </a:r>
          </a:p>
          <a:p xmlns:a="http://schemas.openxmlformats.org/drawingml/2006/main">
            <a:r>
              <a:t>Tiempo: 2 minutos. Intervalo: 64–66 minutos.</a:t>
            </a:r>
          </a:p>
          <a:p xmlns:a="http://schemas.openxmlformats.org/drawingml/2006/main">
            <a:r>
              <a:t>Un endófito habita tejidos internos sin síntomas visibles en el momento observado; eso no prueba beneficio permanente. Un liquen es una asociación organizada entre un hongo y uno o más fotobiontes, con otros microorganismos asociados. El fotobionte aporta carbono de la fotosíntesis; el hongo aporta estructura y participa en el acceso a recursos. El hongo del liquen no se vuelve fotosintético.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[2] Parker, N., et al. (2016). Microbiology. Sección 5.3: Fungi. OpenStax. Texto de fundamentos, publicado en noviembre de 2016. https://openstax.org/books/microbiology/pages/5-3-fungi</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a:p xmlns:a="http://schemas.openxmlformats.org/drawingml/2006/main">
            <a:r>
              <a:t>[13] Kavanagh, K. (ed.) (2017). Fungi: Biology and Applications, 3rd ed. Wiley. Referencia adicional de fundamentos y aplicaciones. https://doi.org/10.1002/9781119374312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Cinco estudios realizados en Ecuador</a:t>
            </a:r>
          </a:p>
          <a:p xmlns:a="http://schemas.openxmlformats.org/drawingml/2006/main">
            <a:r>
              <a:t>Tiempo: 1 minutos. Intervalo: 66–67 minutos.</a:t>
            </a:r>
          </a:p>
          <a:p xmlns:a="http://schemas.openxmlformats.org/drawingml/2006/main">
            <a:r>
              <a:t>Localiza cinco contextos de las aplicaciones. La geografía es orientativa y no reproduce los puntos de muestreo. No confundir un estudio hecho en Ecuador con una especie nativa o una cepa nueva. La investigación en hongos combina especies conocidas, cepas conservadas y descripción de biodiversidad. Cartografía: world.geo.json, https://github.com/johan/world.geo.json.</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a:p xmlns:a="http://schemas.openxmlformats.org/drawingml/2006/main">
            <a:r>
              <a:t>[9] Chóez-Guaranda, I., et al. (2023). Chemical Characterization of Trichoderma spp. Extracts with Antifungal Activity against Cocoa Pathogens. Molecules, 28(7), 3208. https://doi.org/10.3390/molecules28073208</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Residuos agrícolas y hongos comestibles</a:t>
            </a:r>
          </a:p>
          <a:p xmlns:a="http://schemas.openxmlformats.org/drawingml/2006/main">
            <a:r>
              <a:t>Tiempo: 4 minutos. Intervalo: 67–71 minutos.</a:t>
            </a:r>
          </a:p>
          <a:p xmlns:a="http://schemas.openxmlformats.org/drawingml/2006/main">
            <a:r>
              <a:t>Cruz et al. compararon una mezcla de cascarilla de café, cascarilla de arroz y aserrín (T1) con aserrín (T2), en un contexto de cultivo artesanal. El texto del artículo reporta fructificación a los 39 y 50 días, respectivamente; esos son los valores redibujados en la gráfica. No son medias con error reportado ni una predicción universal. Relaciona nutrición saprótrofa con aprovechamiento de residuos. El artículo usa una definición de eficiencia biológica que no debe compararse sin revisar la base de masa. No extrapolar sus porcentajes de proteína a hongos frescos ni atribuir efectos terapéuticos.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Levaduras y fermentación de cacao</a:t>
            </a:r>
          </a:p>
          <a:p xmlns:a="http://schemas.openxmlformats.org/drawingml/2006/main">
            <a:r>
              <a:t>Tiempo: 3 minutos. Intervalo: 71–74 minutos.</a:t>
            </a:r>
          </a:p>
          <a:p xmlns:a="http://schemas.openxmlformats.org/drawingml/2006/main">
            <a:r>
              <a:t>Falconí et al. evaluaron un cóctel con Torulaspora delbrueckii y Hanseniaspora uvarum, junto con bacterias lácticas y acéticas. Midieron cambios del proceso y de las poblaciones durante la fermentación de cacao Nacional. La aplicación es el desarrollo de cultivos iniciadores. Al ser una mezcla, el resultado no permite atribuir el efecto completo a una sola levadura. El artículo emplea una combinación taxonómica inconsistente para una bacteria láctica, que se evita reproducir aquí. Se omiten afirmaciones generales de superioridad sensorial no medidas directamente.</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Trichoderma y biocontrol en cacao</a:t>
            </a:r>
          </a:p>
          <a:p xmlns:a="http://schemas.openxmlformats.org/drawingml/2006/main">
            <a:r>
              <a:t>Tiempo: 3 minutos. Intervalo: 74–77 minutos.</a:t>
            </a:r>
          </a:p>
          <a:p xmlns:a="http://schemas.openxmlformats.org/drawingml/2006/main">
            <a:r>
              <a:t>Chóez-Guaranda et al. caracterizaron extractos de cuatro Trichoderma ecuatorianos de la colección CCM-CIBE. El extracto de T. spirale C10 mostró inhibición de crecimiento de Moniliophthora perniciosa; una condición reportó 47.02 ± 1.17% a 10 microgramos por mililitro. Las respuestas variaron según extracto, concentración y patógeno; se observaron incluso estímulos de M. roreri con ciertos extractos. No equivale a eficacia de una cepa viva ni a reducción demostrada de enfermedad en campo. Relaciona metabolitos con interacción y control potencial.</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[9] Chóez-Guaranda, I., et al. (2023). Chemical Characterization of Trichoderma spp. Extracts with Antifungal Activity against Cocoa Pathogens. Molecules, 28(7), 3208. https://doi.org/10.3390/molecules28073208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especie nueva y su bioactividad</a:t>
            </a:r>
          </a:p>
          <a:p xmlns:a="http://schemas.openxmlformats.org/drawingml/2006/main">
            <a:r>
              <a:t>Tiempo: 4 minutos. Intervalo: 77–81 minutos.</a:t>
            </a:r>
          </a:p>
          <a:p xmlns:a="http://schemas.openxmlformats.org/drawingml/2006/main">
            <a:r>
              <a:t>Jaramillo-Riofrío et al. describieron una especie resupinada y corticioide de Cajanuma mediante morfología, ITS y LSU. Evaluaron actividad antibacteriana y observaron respuesta frente a dos cepas de E. coli bajo las condiciones del ensayo. El estudio integra biodiversidad, identificación y búsqueda de bioactividad. No demuestra eficacia clínica ni un antibiótico aprobado, y no identifica por sí solo un compuesto responsable. El esquema no representa fotografías de especímenes del artículo. El año de volumen es 2023 y la publicación electrónica fue en diciembre de 2022.</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[6] Lücking, R., et al. (2020). Unambiguous identification of fungi: where do we stand and how accurate and precise is fungal DNA barcoding? IMA Fungus, 11, 14. https://doi.org/10.1186/s43008-020-00033-z</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Micobioma asociado a Inga en Tiputini</a:t>
            </a:r>
          </a:p>
          <a:p xmlns:a="http://schemas.openxmlformats.org/drawingml/2006/main">
            <a:r>
              <a:t>Tiempo: 2 minutos. Intervalo: 81–83 minutos.</a:t>
            </a:r>
          </a:p>
          <a:p xmlns:a="http://schemas.openxmlformats.org/drawingml/2006/main">
            <a:r>
              <a:t>Arévalo-Granda et al. analizaron comunidades fúngicas de la rizosfera de plántulas de Inga en terra firme y várzea de la Estación de Biodiversidad Tiputini. El estudio molecular describe diversidad y asociaciones con los contextos ambientales. Permite formular preguntas sobre nutrición y restauración, pero no es un ensayo que demuestre que una cepa aumentó el crecimiento o que todo microorganismo detectado sea mutualista. No confundir rizosfera con colonización interna de la raíz.</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Aplicaciones y alcance de la evidencia</a:t>
            </a:r>
          </a:p>
          <a:p xmlns:a="http://schemas.openxmlformats.org/drawingml/2006/main">
            <a:r>
              <a:t>Tiempo: 3 minutos. Intervalo: 83–86 minutos.</a:t>
            </a:r>
          </a:p>
          <a:p xmlns:a="http://schemas.openxmlformats.org/drawingml/2006/main">
            <a:r>
              <a:t>Integra los cinco casos y pide reconocer qué se midió directamente. Cultivo de Pleurotus: producción y tiempos. Cacao: proceso de una mezcla microbiana. Trichoderma: actividad de extractos en laboratorio. G. lojanense: taxonomía y bioactividad in vitro. Inga: comunidad y ambiente. Una conclusión sólida conserva el organismo, el método y la escala del ensayo.</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a:p xmlns:a="http://schemas.openxmlformats.org/drawingml/2006/main">
            <a:r>
              <a:t>[9] Chóez-Guaranda, I., et al. (2023). Chemical Characterization of Trichoderma spp. Extracts with Antifungal Activity against Cocoa Pathogens. Molecules, 28(7), 3208. https://doi.org/10.3390/molecules28073208</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Actividad: estructura, nutrición y evidencia</a:t>
            </a:r>
          </a:p>
          <a:p xmlns:a="http://schemas.openxmlformats.org/drawingml/2006/main">
            <a:r>
              <a:t>Tiempo: 30 minutos. Intervalo: 86–116 minutos.</a:t>
            </a:r>
          </a:p>
          <a:p xmlns:a="http://schemas.openxmlformats.org/drawingml/2006/main">
            <a:r>
              <a:t>Actividad de 30 minutos: 5 para leer y elegir, 12 de análisis, 8 para compartir y 5 de retroalimentación. Entrega la ficha de actividad. Cada equipo conecta una estructura, un proceso metabólico y una aplicación; separa resultado medido de interpretación y propone una comparación adicional con un control. A: extractos de Trichoderma no prueban biocontrol en campo. B: fermentación con un cóctel no permite adjudicar todo el efecto a una levadura. C: especie y halo de inhibición no prueban una terapia. Se puede elegir una mirada de Microbiología, Biología o Ciencias Biomédicas. Es análisis de evidencias, sin cultivo ni manipulación de organismos.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a:p xmlns:a="http://schemas.openxmlformats.org/drawingml/2006/main">
            <a:r>
              <a:t>[9] Chóez-Guaranda, I., et al. (2023). Chemical Characterization of Trichoderma spp. Extracts with Antifungal Activity against Cocoa Pathogens. Molecules, 28(7), 3208. https://doi.org/10.3390/molecules28073208</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una explicación con evidencia</a:t>
            </a:r>
          </a:p>
          <a:p xmlns:a="http://schemas.openxmlformats.org/drawingml/2006/main">
            <a:r>
              <a:t>Tiempo: 4 minutos. Intervalo: 116–120 minutos.</a:t>
            </a:r>
          </a:p>
          <a:p xmlns:a="http://schemas.openxmlformats.org/drawingml/2006/main">
            <a:r>
              <a:t>Solicita una respuesta que conecte una estructura con nutrición o reproducción, ubique un ejemplo en un filo y explique una aplicación ecuatoriana junto con su límite. Pide distinguir macro/micro de clasificación y especie nueva de aplicación demostrada. Recoge dos respuestas y retoma las preguntas de las carreras. No exige memorizar todos los nombres ni las rutas bioquímicas completas.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[3] Gow, N. A. R., &amp; Lenardon, M. D. (2023). Architecture of the dynamic fungal cell wall. Nature Reviews Microbiology, 21, 248–259. https://doi.org/10.1038/s41579-022-00796-9</a:t>
            </a:r>
          </a:p>
          <a:p xmlns:a="http://schemas.openxmlformats.org/drawingml/2006/main">
            <a:r>
              <a:t>[5] Wijayawardene, N. N., et al. (2024). Classes and phyla of the kingdom Fungi. Fungal Diversity, 128, 1–165. https://doi.org/10.1007/s13225-024-00540-z</a:t>
            </a:r>
          </a:p>
          <a:p xmlns:a="http://schemas.openxmlformats.org/drawingml/2006/main">
            <a:r>
              <a:t>[7] Cruz, D., Capa, D., Maza, D., Ojeda, R., &amp; Benítez, Á. (2020). Producción y valor proteico de Pleurotus ostreatus en la región sur de Ecuador. ACI Avances en Ciencias e Ingenierías, 12(2), 34–43. https://doi.org/10.18272/aci.v12i2.1806</a:t>
            </a:r>
          </a:p>
          <a:p xmlns:a="http://schemas.openxmlformats.org/drawingml/2006/main">
            <a:r>
              <a:t>[8] Falconí, C. E., Yánez-Mendizábal, V., Haro, R. J., &amp; Claudio, D. R. (2023). Inoculum of a Native Microbial Starter Cocktail to Optimize Fine-Aroma Cocoa (Theobroma cacao) Bean Fermentation. Agronomy, 13(10), 2572. https://doi.org/10.3390/agronomy13102572</a:t>
            </a:r>
          </a:p>
          <a:p xmlns:a="http://schemas.openxmlformats.org/drawingml/2006/main">
            <a:r>
              <a:t>[9] Chóez-Guaranda, I., et al. (2023). Chemical Characterization of Trichoderma spp. Extracts with Antifungal Activity against Cocoa Pathogens. Molecules, 28(7), 3208. https://doi.org/10.3390/molecules28073208</a:t>
            </a:r>
          </a:p>
          <a:p xmlns:a="http://schemas.openxmlformats.org/drawingml/2006/main">
            <a:r>
              <a:t>[10] Jaramillo-Riofrío, A., et al. (2023). Screening of Antibacterial Activity of Some Resupinate Fungi, Reveal Gloeocystidiellum lojanense sp. nov. (Russulales) against E. coli from Ecuador. Journal of Fungi, 9(1), 54. Publicación electrónica: 29 de diciembre de 2022. https://doi.org/10.3390/jof9010054</a:t>
            </a:r>
          </a:p>
          <a:p xmlns:a="http://schemas.openxmlformats.org/drawingml/2006/main">
            <a:r>
              <a:t>[11] Arévalo-Granda, V., et al. (2023). Exploring the mycobiome and arbuscular mycorrhizal fungi associated with the rizosphere of the genus Inga in the pristine Ecuadorian Amazon. Frontiers in Fungal Biology, 4, 1086194. https://doi.org/10.3389/ffunb.2023.1086194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minutos. Intervalo: 120–120 minutos.</a:t>
            </a:r>
          </a:p>
          <a:p xmlns:a="http://schemas.openxmlformats.org/drawingml/2006/main">
            <a:r>
              <a:t>Diapositiva de consulta fuera del recorrido oral. Los enlaces DOI permiten localizar las publicaciones. El libro de Dube (2013) se usa como referencia histórica de fundamentos y su clasificación se actualiza con fuentes recientes. Kavanagh (2017) es una referencia adicional. Las figuras de esta presentación son originales, no reproducciones de los artículos.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minutos. Intervalo: 120–120 minutos.</a:t>
            </a:r>
          </a:p>
          <a:p xmlns:a="http://schemas.openxmlformats.org/drawingml/2006/main">
            <a:r>
              <a:t>Diapositiva de consulta fuera del recorrido oral. Los enlaces DOI permiten localizar las publicaciones. El libro de Dube (2013) se usa como referencia histórica de fundamentos y su clasificación se actualiza con fuentes recientes. Kavanagh (2017) es una referencia adicional. Las figuras de esta presentación son originales, no reproducciones de los artículos.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minutos. Intervalo: 120–120 minutos.</a:t>
            </a:r>
          </a:p>
          <a:p xmlns:a="http://schemas.openxmlformats.org/drawingml/2006/main">
            <a:r>
              <a:t>Diapositiva de consulta fuera del recorrido oral. Los enlaces DOI permiten localizar las publicaciones. El libro de Dube (2013) se usa como referencia histórica de fundamentos y su clasificación se actualiza con fuentes recientes. Kavanagh (2017) es una referencia adicional. Las figuras de esta presentación son originales, no reproducciones de los artículos.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minutos. Intervalo: 120–120 minutos.</a:t>
            </a:r>
          </a:p>
          <a:p xmlns:a="http://schemas.openxmlformats.org/drawingml/2006/main">
            <a:r>
              <a:t>Diapositiva de consulta fuera del recorrido oral. Los enlaces DOI permiten localizar las publicaciones. El libro de Dube (2013) se usa como referencia histórica de fundamentos y su clasificación se actualiza con fuentes recientes. Kavanagh (2017) es una referencia adicional. Las figuras de esta presentación son originales, no reproducciones de los artículos.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minutos. Intervalo: 120–120 minutos.</a:t>
            </a:r>
          </a:p>
          <a:p xmlns:a="http://schemas.openxmlformats.org/drawingml/2006/main">
            <a:r>
              <a:t>Diapositiva de consulta fuera del recorrido oral. Los enlaces DOI permiten localizar las publicaciones. El libro de Dube (2013) se usa como referencia histórica de fundamentos y su clasificación se actualiza con fuentes recientes. Kavanagh (2017) es una referencia adicional. Las figuras de esta presentación son originales, no reproducciones de los artículos.</a:t>
            </a:r>
          </a:p>
          <a:p xmlns:a="http://schemas.openxmlformats.org/drawingml/2006/main">
            <a:r>
              <a:t/>
            </a:r>
          </a:p>
          <a:p xmlns:a="http://schemas.openxmlformats.org/drawingml/2006/main">
            <a:r>
              <a:t>Las ilustraciones son esquemas conceptuales originales generados con IA, revisados para docencia. No son micrografías, fotografías de los especímenes ni resultados de los experimentos.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705121064047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6545b2db2d47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77b0b02c434b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a094684a0a4f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0f40d1d0f542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6937a0a76c4c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82CCAB-F2D9-453D-BB2B-F4502886E2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2B5D58-12D5-43DC-88B2-3AEB121F10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C0B317-C7A5-4004-9C22-7ECE8F0625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406AB5-8D17-4DC2-809A-E40FA741B9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DA6D94-64E8-4C12-8A46-852636B53D8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401D92-76C1-4CD4-A327-0261A5FCB0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557CBB-3EF8-4FA5-8BB4-493758E09D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EC3520-9ADC-4DE8-AFBD-E8F986C943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FE1750-204D-47A7-98CB-3134929C0F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70D525-68D3-473B-A967-F464403A05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8c56bf17c84a9e" /><Relationship Type="http://schemas.openxmlformats.org/officeDocument/2006/relationships/slideLayout" Target="/ppt/slideLayouts/slideLayout1.xml" Id="R9c593708bcbf4a8b" /><Relationship Type="http://schemas.openxmlformats.org/officeDocument/2006/relationships/slideLayout" Target="/ppt/slideLayouts/slideLayout2.xml" Id="R61bb421e62e64b54" /><Relationship Type="http://schemas.openxmlformats.org/officeDocument/2006/relationships/slideLayout" Target="/ppt/slideLayouts/slideLayout3.xml" Id="Ree51532c5437478c" /><Relationship Type="http://schemas.openxmlformats.org/officeDocument/2006/relationships/slideLayout" Target="/ppt/slideLayouts/slideLayout4.xml" Id="R8399e7c8d88c46b5" /><Relationship Type="http://schemas.openxmlformats.org/officeDocument/2006/relationships/slideLayout" Target="/ppt/slideLayouts/slideLayout5.xml" Id="Ra6fafe1fa1b04425" /><Relationship Type="http://schemas.openxmlformats.org/officeDocument/2006/relationships/slideLayout" Target="/ppt/slideLayouts/slideLayout6.xml" Id="R8f3c644af6cd48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593708bcbf4a8b"/>
    <p:sldLayoutId xmlns:r="http://schemas.openxmlformats.org/officeDocument/2006/relationships" id="2147483650" r:id="R61bb421e62e64b54"/>
    <p:sldLayoutId xmlns:r="http://schemas.openxmlformats.org/officeDocument/2006/relationships" id="2147483651" r:id="Ree51532c5437478c"/>
    <p:sldLayoutId xmlns:r="http://schemas.openxmlformats.org/officeDocument/2006/relationships" id="2147483652" r:id="R8399e7c8d88c46b5"/>
    <p:sldLayoutId xmlns:r="http://schemas.openxmlformats.org/officeDocument/2006/relationships" id="2147483653" r:id="Ra6fafe1fa1b04425"/>
    <p:sldLayoutId xmlns:r="http://schemas.openxmlformats.org/officeDocument/2006/relationships" id="2147483654" r:id="R8f3c644af6cd48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500bc8337a4eb0" /><Relationship Type="http://schemas.openxmlformats.org/officeDocument/2006/relationships/image" Target="/ppt/media/image.jpeg" Id="R601db2b3efb24f40" /><Relationship Type="http://schemas.openxmlformats.org/officeDocument/2006/relationships/notesSlide" Target="/ppt/notesSlides/notesSlide1.xml" Id="R6f33d758a70e42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3ecea7c5e14fce" /><Relationship Type="http://schemas.openxmlformats.org/officeDocument/2006/relationships/notesSlide" Target="/ppt/notesSlides/notesSlide2.xml" Id="R3d9a99feea344e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908401783e49fd" /><Relationship Type="http://schemas.openxmlformats.org/officeDocument/2006/relationships/image" Target="/ppt/media/image2.jpeg" Id="R9272b05d09cd40c3" /><Relationship Type="http://schemas.openxmlformats.org/officeDocument/2006/relationships/notesSlide" Target="/ppt/notesSlides/notesSlide3.xml" Id="R12b03b981ea545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22747f61ae4d94" /><Relationship Type="http://schemas.openxmlformats.org/officeDocument/2006/relationships/image" Target="/ppt/media/image3.jpeg" Id="R0dc7e89ca7af42d8" /><Relationship Type="http://schemas.openxmlformats.org/officeDocument/2006/relationships/notesSlide" Target="/ppt/notesSlides/notesSlide4.xml" Id="R7a9e58c74d4c4a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86e7bc0fc204130" /><Relationship Type="http://schemas.openxmlformats.org/officeDocument/2006/relationships/image" Target="/ppt/media/image4.jpeg" Id="R9b8f6d466aa44f6a" /><Relationship Type="http://schemas.openxmlformats.org/officeDocument/2006/relationships/notesSlide" Target="/ppt/notesSlides/notesSlide5.xml" Id="Rfbc6a0453ead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b35576d06314357" /><Relationship Type="http://schemas.openxmlformats.org/officeDocument/2006/relationships/image" Target="/ppt/media/image5.jpeg" Id="Rbb732c5f35374578" /><Relationship Type="http://schemas.openxmlformats.org/officeDocument/2006/relationships/notesSlide" Target="/ppt/notesSlides/notesSlide6.xml" Id="R405813ade1434765" /></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9b09d6d7ab1f41bf"/><Relationship Type="http://schemas.openxmlformats.org/officeDocument/2006/relationships/image" Target="../media/image5.jpeg" Id="R8b56d1edc00a4578"/><Relationship Type="http://schemas.openxmlformats.org/officeDocument/2006/relationships/notesSlide" Target="/ppt/notesSlides/notesSlide7.xml" Id="Re464fe1b335f4d15"/></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36370389b14b86" /><Relationship Type="http://schemas.openxmlformats.org/officeDocument/2006/relationships/image" Target="/ppt/media/image7.jpeg" Id="R93773d193c054793" /><Relationship Type="http://schemas.openxmlformats.org/officeDocument/2006/relationships/notesSlide" Target="/ppt/notesSlides/notesSlide8.xml" Id="R62f42e7dd8eb43e0" /></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1b921a3ef35b43f2"/><Relationship Type="http://schemas.openxmlformats.org/officeDocument/2006/relationships/image" Target="../media/image5.jpeg" Id="Rb70df67b298e4eb0"/><Relationship Type="http://schemas.openxmlformats.org/officeDocument/2006/relationships/notesSlide" Target="/ppt/notesSlides/notesSlide9.xml" Id="R880b84f4cb7b4e1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7f3876c5405f456e"/><Relationship Type="http://schemas.openxmlformats.org/officeDocument/2006/relationships/image" Target="/ppt/media/image9.jpeg" Id="Ra08452b9e0b94f0d"/><Relationship Type="http://schemas.openxmlformats.org/officeDocument/2006/relationships/image" Target="../media/image9.jpeg" Id="Ra3704f3f978445d7"/><Relationship Type="http://schemas.openxmlformats.org/officeDocument/2006/relationships/image" Target="../media/image9.jpeg" Id="R40d932ac90914f4e"/><Relationship Type="http://schemas.openxmlformats.org/officeDocument/2006/relationships/notesSlide" Target="/ppt/notesSlides/notesSlide10.xml" Id="R2cf12ca7a1574ce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0b51d122cb534f14"/><Relationship Type="http://schemas.openxmlformats.org/officeDocument/2006/relationships/image" Target="/ppt/media/image12.jpeg" Id="Rfbfe708a085a4138"/><Relationship Type="http://schemas.openxmlformats.org/officeDocument/2006/relationships/image" Target="../media/image12.jpeg" Id="R1376251d2c9549e5"/><Relationship Type="http://schemas.openxmlformats.org/officeDocument/2006/relationships/notesSlide" Target="/ppt/notesSlides/notesSlide11.xml" Id="R3fab365f4c174b0a"/></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4b276a529740c2" /><Relationship Type="http://schemas.openxmlformats.org/officeDocument/2006/relationships/notesSlide" Target="/ppt/notesSlides/notesSlide12.xml" Id="R13b640461e5645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a338d865b94dd4" /><Relationship Type="http://schemas.openxmlformats.org/officeDocument/2006/relationships/notesSlide" Target="/ppt/notesSlides/notesSlide13.xml" Id="Rfe11cf9c2d484e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2dd0c39c814994" /><Relationship Type="http://schemas.openxmlformats.org/officeDocument/2006/relationships/notesSlide" Target="/ppt/notesSlides/notesSlide14.xml" Id="R653951d8c7fa4a28"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aaee6c3269c94c28"/><Relationship Type="http://schemas.openxmlformats.org/officeDocument/2006/relationships/image" Target="../media/image2.jpeg" Id="R62a417c195d24fa1"/><Relationship Type="http://schemas.openxmlformats.org/officeDocument/2006/relationships/notesSlide" Target="/ppt/notesSlides/notesSlide15.xml" Id="R0a1e26cf6f2b4c59"/></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603201345614323"/><Relationship Type="http://schemas.openxmlformats.org/officeDocument/2006/relationships/image" Target="../media/image5.jpeg" Id="R690e5b5f3cb3403b"/><Relationship Type="http://schemas.openxmlformats.org/officeDocument/2006/relationships/notesSlide" Target="/ppt/notesSlides/notesSlide16.xml" Id="Rad2efcb426a94cb9"/></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70b7a1009c64819" /><Relationship Type="http://schemas.openxmlformats.org/officeDocument/2006/relationships/image" Target="/ppt/media/image16.jpeg" Id="Rc5108043a4f74ab4" /><Relationship Type="http://schemas.openxmlformats.org/officeDocument/2006/relationships/notesSlide" Target="/ppt/notesSlides/notesSlide17.xml" Id="Rf7e687f07d7a4009" /></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3f59ab9b87b446bd"/><Relationship Type="http://schemas.openxmlformats.org/officeDocument/2006/relationships/image" Target="../media/image2.jpeg" Id="R81f95aef5c594256"/><Relationship Type="http://schemas.openxmlformats.org/officeDocument/2006/relationships/notesSlide" Target="/ppt/notesSlides/notesSlide18.xml" Id="R5dcf823cf14d40d4"/></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b040022e6924934" /><Relationship Type="http://schemas.openxmlformats.org/officeDocument/2006/relationships/image" Target="/ppt/media/image18.jpeg" Id="R8731ea68bb4b4f9c" /><Relationship Type="http://schemas.openxmlformats.org/officeDocument/2006/relationships/notesSlide" Target="/ppt/notesSlides/notesSlide19.xml" Id="Re866a3d32f384d58" /></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07d6445b77454e44"/><Relationship Type="http://schemas.openxmlformats.org/officeDocument/2006/relationships/image" Target="../media/image5.jpeg" Id="R18612bdccae34b4d"/><Relationship Type="http://schemas.openxmlformats.org/officeDocument/2006/relationships/notesSlide" Target="/ppt/notesSlides/notesSlide20.xml" Id="R1026af88bbb74e29"/></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ed6af1a9b744787"/><Relationship Type="http://schemas.openxmlformats.org/officeDocument/2006/relationships/image" Target="../media/image2.jpeg" Id="R3f027d3b354b42df"/><Relationship Type="http://schemas.openxmlformats.org/officeDocument/2006/relationships/notesSlide" Target="/ppt/notesSlides/notesSlide21.xml" Id="R08cc8f7132b34652"/></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da3c4aa946af4407"/><Relationship Type="http://schemas.openxmlformats.org/officeDocument/2006/relationships/image" Target="../media/image2.jpeg" Id="R7f0cb55ea59747ca"/><Relationship Type="http://schemas.openxmlformats.org/officeDocument/2006/relationships/notesSlide" Target="/ppt/notesSlides/notesSlide22.xml" Id="R94d81bdd3e7d49ac"/></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9d756f073ba4481b"/><Relationship Type="http://schemas.openxmlformats.org/officeDocument/2006/relationships/image" Target="../media/image2.jpeg" Id="Rc996f74b994c495f"/><Relationship Type="http://schemas.openxmlformats.org/officeDocument/2006/relationships/notesSlide" Target="/ppt/notesSlides/notesSlide23.xml" Id="Rcde8c6dfee66460c"/></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e9a9cee209c46d9" /><Relationship Type="http://schemas.openxmlformats.org/officeDocument/2006/relationships/image" Target="/ppt/media/image23.jpeg" Id="R836119730bd54d3d" /><Relationship Type="http://schemas.openxmlformats.org/officeDocument/2006/relationships/notesSlide" Target="/ppt/notesSlides/notesSlide24.xml" Id="Rf276730182c4439c" /></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0f9c56351c254838"/><Relationship Type="http://schemas.openxmlformats.org/officeDocument/2006/relationships/image" Target="../media/image5.jpeg" Id="Rbdf5ebbd60764e7b"/><Relationship Type="http://schemas.openxmlformats.org/officeDocument/2006/relationships/notesSlide" Target="/ppt/notesSlides/notesSlide25.xml" Id="R35184f392e054ef3"/></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2a5174127c2412e" /><Relationship Type="http://schemas.openxmlformats.org/officeDocument/2006/relationships/notesSlide" Target="/ppt/notesSlides/notesSlide26.xml" Id="R1485cb4c530c48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5585e4d51d6424d" /><Relationship Type="http://schemas.openxmlformats.org/officeDocument/2006/relationships/image" Target="/ppt/media/image25.jpeg" Id="R6ed87d265af44c31" /><Relationship Type="http://schemas.openxmlformats.org/officeDocument/2006/relationships/chart" Target="/ppt/slides/charts/chart1.xml" Id="R45d1a3801d734129" /><Relationship Type="http://schemas.openxmlformats.org/officeDocument/2006/relationships/notesSlide" Target="/ppt/notesSlides/notesSlide27.xml" Id="R8603bc87f7824b14" /></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b13014b7f96846a7"/><Relationship Type="http://schemas.openxmlformats.org/officeDocument/2006/relationships/image" Target="../media/image25.jpeg" Id="R92cc9fa62a19464b"/><Relationship Type="http://schemas.openxmlformats.org/officeDocument/2006/relationships/notesSlide" Target="/ppt/notesSlides/notesSlide28.xml" Id="Rcd9f932ada4a4a4b"/></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801230cd327e4e2a"/><Relationship Type="http://schemas.openxmlformats.org/officeDocument/2006/relationships/image" Target="../media/image25.jpeg" Id="R1309ac51885d4907"/><Relationship Type="http://schemas.openxmlformats.org/officeDocument/2006/relationships/notesSlide" Target="/ppt/notesSlides/notesSlide29.xml" Id="R413e9b0b63214d31"/></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292a3d7828e447bf"/><Relationship Type="http://schemas.openxmlformats.org/officeDocument/2006/relationships/image" Target="../media/image25.jpeg" Id="R867154f818634c96"/><Relationship Type="http://schemas.openxmlformats.org/officeDocument/2006/relationships/notesSlide" Target="/ppt/notesSlides/notesSlide30.xml" Id="R455fdc7776674909"/></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33b4ef5a5aa5488c"/><Relationship Type="http://schemas.openxmlformats.org/officeDocument/2006/relationships/image" Target="../media/image25.jpeg" Id="R13b0eb2d36e14407"/><Relationship Type="http://schemas.openxmlformats.org/officeDocument/2006/relationships/notesSlide" Target="/ppt/notesSlides/notesSlide31.xml" Id="R9cf999a8cfb8493a"/></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8f8a0bed11e47ed" /><Relationship Type="http://schemas.openxmlformats.org/officeDocument/2006/relationships/notesSlide" Target="/ppt/notesSlides/notesSlide32.xml" Id="R60cd3e84d41b4bc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a7c6e04dc324d9f" /><Relationship Type="http://schemas.openxmlformats.org/officeDocument/2006/relationships/notesSlide" Target="/ppt/notesSlides/notesSlide33.xml" Id="Ree1695a65e9443b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1ca772cb6d24e3f" /><Relationship Type="http://schemas.openxmlformats.org/officeDocument/2006/relationships/notesSlide" Target="/ppt/notesSlides/notesSlide34.xml" Id="R41625484ec97470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f74d02950db452d" /><Relationship Type="http://schemas.openxmlformats.org/officeDocument/2006/relationships/hyperlink" Target="https://books.google.com/books?id=ZFA4DwAAQBAJ" TargetMode="External" Id="R4945f495456f4803" /><Relationship Type="http://schemas.openxmlformats.org/officeDocument/2006/relationships/hyperlink" Target="https://openstax.org/books/microbiology/pages/5-3-fungi" TargetMode="External" Id="R725f871fa92640fc" /><Relationship Type="http://schemas.openxmlformats.org/officeDocument/2006/relationships/hyperlink" Target="https://doi.org/10.1002/9781119374312" TargetMode="External" Id="Rdf92bd767a5c473f" /><Relationship Type="http://schemas.openxmlformats.org/officeDocument/2006/relationships/notesSlide" Target="/ppt/notesSlides/notesSlide35.xml" Id="R05d7bfd31eb147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9676bca9fbc487d" /><Relationship Type="http://schemas.openxmlformats.org/officeDocument/2006/relationships/hyperlink" Target="https://doi.org/10.1038/s41579-022-00796-9" TargetMode="External" Id="Rd3ae1d097ecc4474" /><Relationship Type="http://schemas.openxmlformats.org/officeDocument/2006/relationships/hyperlink" Target="https://doi.org/10.1128/MMBR.00068-17" TargetMode="External" Id="R8068707c977348f8" /><Relationship Type="http://schemas.openxmlformats.org/officeDocument/2006/relationships/hyperlink" Target="https://doi.org/10.1007/s13225-024-00540-z" TargetMode="External" Id="R24cc94a4d2434ce8" /><Relationship Type="http://schemas.openxmlformats.org/officeDocument/2006/relationships/notesSlide" Target="/ppt/notesSlides/notesSlide36.xml" Id="Rf27da95eb82b410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045ced5c19e4c24" /><Relationship Type="http://schemas.openxmlformats.org/officeDocument/2006/relationships/hyperlink" Target="https://doi.org/10.1186/s43008-020-00033-z" TargetMode="External" Id="R9a823743eb9c408c" /><Relationship Type="http://schemas.openxmlformats.org/officeDocument/2006/relationships/hyperlink" Target="https://doi.org/10.1126/science.aan0081" TargetMode="External" Id="Rf56c27adb1264f01" /><Relationship Type="http://schemas.openxmlformats.org/officeDocument/2006/relationships/notesSlide" Target="/ppt/notesSlides/notesSlide37.xml" Id="Ra28469ff611148c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16923acf2a14132" /><Relationship Type="http://schemas.openxmlformats.org/officeDocument/2006/relationships/hyperlink" Target="https://doi.org/10.18272/aci.v12i2.1806" TargetMode="External" Id="R473127033b694a4d" /><Relationship Type="http://schemas.openxmlformats.org/officeDocument/2006/relationships/hyperlink" Target="https://doi.org/10.3390/agronomy13102572" TargetMode="External" Id="R882bd579bc2b4564" /><Relationship Type="http://schemas.openxmlformats.org/officeDocument/2006/relationships/hyperlink" Target="https://doi.org/10.3390/molecules28073208" TargetMode="External" Id="R6e4c631dd72641a1" /><Relationship Type="http://schemas.openxmlformats.org/officeDocument/2006/relationships/notesSlide" Target="/ppt/notesSlides/notesSlide38.xml" Id="R7ace2ad86c1d48d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5e4c5053bae41fc" /><Relationship Type="http://schemas.openxmlformats.org/officeDocument/2006/relationships/hyperlink" Target="https://doi.org/10.3390/jof9010054" TargetMode="External" Id="Re9b675e59f4e4ca4" /><Relationship Type="http://schemas.openxmlformats.org/officeDocument/2006/relationships/hyperlink" Target="https://doi.org/10.3389/ffunb.2023.1086194" TargetMode="External" Id="R9bbbba9803bf4e99" /><Relationship Type="http://schemas.openxmlformats.org/officeDocument/2006/relationships/notesSlide" Target="/ppt/notesSlides/notesSlide39.xml" Id="R662db56b8abc44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203E49"/>
                </a:solidFill>
                <a:latin typeface="DejaVu Sans"/>
                <a:ea typeface="DejaVu Sans"/>
                <a:cs typeface="DejaVu Sans"/>
              </a:rPr>
              <a:t>Fructificación (días)</a:t>
            </a:r>
          </a:p>
        </c:rich>
      </c:tx>
      <c:overlay val="0"/>
      <c:txPr>
        <a:bodyPr xmlns:a="http://schemas.openxmlformats.org/drawingml/2006/main" anchorCtr="1"/>
        <a:lstStyle xmlns:a="http://schemas.openxmlformats.org/drawingml/2006/main"/>
        <a:p xmlns:a="http://schemas.openxmlformats.org/drawingml/2006/main">
          <a:pPr>
            <a:defRPr sz="2025" b="1">
              <a:solidFill>
                <a:srgbClr val="203E49"/>
              </a:solidFill>
              <a:latin typeface="DejaVu Sans"/>
              <a:ea typeface="DejaVu Sans"/>
              <a:cs typeface="DejaVu Sans"/>
            </a:defRPr>
          </a:pPr>
        </a:p>
      </c:txPr>
    </c:title>
    <c:plotArea>
      <c:barChart>
        <c:barDir val="col"/>
        <c:grouping val="clustered"/>
        <c:varyColors val="0"/>
        <c:ser>
          <c:idx val="0"/>
          <c:order val="0"/>
          <c:tx>
            <c:v>Tiempo observado</c:v>
          </c:tx>
          <c:spPr>
            <a:solidFill xmlns:a="http://schemas.openxmlformats.org/drawingml/2006/main">
              <a:srgbClr val="7955A3"/>
            </a:solidFill>
          </c:spPr>
          <c:invertIfNegative val="0"/>
          <c:cat>
            <c:strRef>
              <c:f>'Chart Data'!$A$2:$A$3</c:f>
              <c:strCache>
                <c:ptCount val="2"/>
                <c:pt idx="0">
                  <c:v>Mezcla T1</c:v>
                </c:pt>
                <c:pt idx="1">
                  <c:v>Aserrín T2</c:v>
                </c:pt>
              </c:strCache>
            </c:strRef>
          </c:cat>
          <c:val>
            <c:numRef>
              <c:f>'Chart Data'!$B$2:$B$3</c:f>
              <c:numCache>
                <c:formatCode>0</c:formatCode>
                <c:ptCount val="2"/>
                <c:pt idx="0">
                  <c:v>39</c:v>
                </c:pt>
                <c:pt idx="1">
                  <c:v>50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03E49"/>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7"/>
            </a:solidFill>
            <a:prstDash val="solid"/>
          </a:ln>
        </c:spPr>
        <c:txPr>
          <a:bodyPr xmlns:a="http://schemas.openxmlformats.org/drawingml/2006/main" anchorCtr="1"/>
          <a:lstStyle xmlns:a="http://schemas.openxmlformats.org/drawingml/2006/main"/>
          <a:p xmlns:a="http://schemas.openxmlformats.org/drawingml/2006/main">
            <a:pPr>
              <a:defRPr sz="1725">
                <a:solidFill>
                  <a:srgbClr val="203E49"/>
                </a:solidFill>
                <a:latin typeface="DejaVu Sans"/>
                <a:ea typeface="DejaVu Sans"/>
                <a:cs typeface="DejaVu Sans"/>
              </a:defRPr>
            </a:pPr>
          </a:p>
        </c:txPr>
        <c:crossAx val="48672768"/>
      </c:catAx>
      <c:valAx>
        <c:axId val="48672768"/>
        <c:scaling>
          <c:orientation val="minMax"/>
          <c:max val="60"/>
          <c:min val="0"/>
        </c:scaling>
        <c:delete val="0"/>
        <c:axPos val="l"/>
        <c:majorGridlines>
          <c:spPr>
            <a:ln xmlns:a="http://schemas.openxmlformats.org/drawingml/2006/main" w="9525">
              <a:solidFill>
                <a:srgbClr val="DCE5E7"/>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647A84"/>
                </a:solidFill>
                <a:latin typeface="DejaVu Sans"/>
                <a:ea typeface="DejaVu Sans"/>
                <a:cs typeface="DejaVu Sans"/>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EDCBE4-979D-4568-A600-64E53C5E27CE}"/>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2" name="">
            <a:extLst xmlns:a="http://schemas.openxmlformats.org/drawingml/2006/main">
              <a:ext uri="{FF2B5EF4-FFF2-40B4-BE49-F238E27FC236}">
                <a16:creationId xmlns:a16="http://schemas.microsoft.com/office/drawing/2014/main" id="{CB96BC8A-6542-4F0E-8601-DB69CC6C5D72}"/>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[1] [2] [5]. Ilustraciones conceptuales.</a:t>
            </a:r>
          </a:p>
        </p:txBody>
      </p:sp>
      <p:sp>
        <p:nvSpPr>
          <p:cNvPr id="3" name="">
            <a:extLst xmlns:a="http://schemas.openxmlformats.org/drawingml/2006/main">
              <a:ext uri="{FF2B5EF4-FFF2-40B4-BE49-F238E27FC236}">
                <a16:creationId xmlns:a16="http://schemas.microsoft.com/office/drawing/2014/main" id="{24CD2EA5-6C4B-4273-982F-21564F6CDE6D}"/>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01 / 39</a:t>
            </a:r>
          </a:p>
        </p:txBody>
      </p:sp>
      <p:pic>
        <p:nvPicPr>
          <p:cNvPr id="4" name="">
            <a:extLst xmlns:a="http://schemas.openxmlformats.org/drawingml/2006/main">
              <a:ext uri="{FF2B5EF4-FFF2-40B4-BE49-F238E27FC236}">
                <a16:creationId xmlns:a16="http://schemas.microsoft.com/office/drawing/2014/main" id="{F61B7620-486D-4175-89D0-0B55503D5FC3}"/>
              </a:ext>
            </a:extLst>
          </p:cNvPr>
          <p:cNvPicPr>
            <a:picLocks xmlns:a="http://schemas.openxmlformats.org/drawingml/2006/main" noChangeAspect="1"/>
          </p:cNvPicPr>
          <p:nvPr/>
        </p:nvPicPr>
        <p:blipFill>
          <a:blip xmlns:r="http://schemas.openxmlformats.org/officeDocument/2006/relationships" xmlns:a="http://schemas.openxmlformats.org/drawingml/2006/main" r:embed="R601db2b3efb24f40"/>
          <a:srcRect xmlns:a="http://schemas.openxmlformats.org/drawingml/2006/main" l="0" t="3497" r="0" b="3497"/>
          <a:stretch xmlns:a="http://schemas.openxmlformats.org/drawingml/2006/main">
            <a:fillRect l="0" t="0" r="0" b="0"/>
          </a:stretch>
        </p:blipFill>
        <p:spPr>
          <a:xfrm xmlns:a="http://schemas.openxmlformats.org/drawingml/2006/main">
            <a:off x="0" y="0"/>
            <a:ext cx="12192000" cy="6381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D62071-EA19-4F65-BDA9-A91CB0749141}"/>
              </a:ext>
            </a:extLst>
          </p:cNvPr>
          <p:cNvSpPr>
            <a:spLocks xmlns:a="http://schemas.openxmlformats.org/drawingml/2006/main" noGrp="1"/>
          </p:cNvSpPr>
          <p:nvPr/>
        </p:nvSpPr>
        <p:spPr>
          <a:xfrm xmlns:a="http://schemas.openxmlformats.org/drawingml/2006/main">
            <a:off x="400050" y="666750"/>
            <a:ext cx="4476750" cy="3429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E3ED78-3D99-47CD-8EC4-E9307238243A}"/>
              </a:ext>
            </a:extLst>
          </p:cNvPr>
          <p:cNvSpPr>
            <a:spLocks xmlns:a="http://schemas.openxmlformats.org/drawingml/2006/main" noGrp="1"/>
          </p:cNvSpPr>
          <p:nvPr/>
        </p:nvSpPr>
        <p:spPr>
          <a:xfrm xmlns:a="http://schemas.openxmlformats.org/drawingml/2006/main">
            <a:off x="590550" y="904875"/>
            <a:ext cx="4095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5700" b="1" i="0">
                <a:solidFill>
                  <a:srgbClr val="203E49"/>
                </a:solidFill>
                <a:latin typeface="DejaVu Sans"/>
                <a:ea typeface="DejaVu Sans"/>
                <a:cs typeface="DejaVu Sans"/>
              </a:defRPr>
            </a:defPPr>
          </a:lstStyle>
          <a:p xmlns:a="http://schemas.openxmlformats.org/drawingml/2006/main">
            <a:pPr algn="l">
              <a:lnSpc>
                <a:spcPct val="112000"/>
              </a:lnSpc>
              <a:buNone/>
              <a:defRPr sz="5700" b="1" i="0">
                <a:solidFill>
                  <a:srgbClr val="203E49"/>
                </a:solidFill>
                <a:latin typeface="DejaVu Sans"/>
                <a:ea typeface="DejaVu Sans"/>
                <a:cs typeface="DejaVu Sans"/>
              </a:defRPr>
            </a:pPr>
            <a:r>
              <a:rPr sz="5700" b="1" i="0">
                <a:solidFill>
                  <a:srgbClr val="203E49"/>
                </a:solidFill>
                <a:latin typeface="DejaVu Sans"/>
                <a:ea typeface="DejaVu Sans"/>
                <a:cs typeface="DejaVu Sans"/>
              </a:rPr>
              <a:t>Hongos</a:t>
            </a:r>
          </a:p>
        </p:txBody>
      </p:sp>
      <p:sp>
        <p:nvSpPr>
          <p:cNvPr id="7" name="">
            <a:extLst xmlns:a="http://schemas.openxmlformats.org/drawingml/2006/main">
              <a:ext uri="{FF2B5EF4-FFF2-40B4-BE49-F238E27FC236}">
                <a16:creationId xmlns:a16="http://schemas.microsoft.com/office/drawing/2014/main" id="{68268C1F-3B6A-4CA1-8A06-FB690A2A1C68}"/>
              </a:ext>
            </a:extLst>
          </p:cNvPr>
          <p:cNvSpPr>
            <a:spLocks xmlns:a="http://schemas.openxmlformats.org/drawingml/2006/main" noGrp="1"/>
          </p:cNvSpPr>
          <p:nvPr/>
        </p:nvSpPr>
        <p:spPr>
          <a:xfrm xmlns:a="http://schemas.openxmlformats.org/drawingml/2006/main">
            <a:off x="609600" y="2047875"/>
            <a:ext cx="4000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7955A3"/>
                </a:solidFill>
                <a:latin typeface="DejaVu Sans"/>
                <a:ea typeface="DejaVu Sans"/>
                <a:cs typeface="DejaVu Sans"/>
              </a:defRPr>
            </a:defPPr>
          </a:lstStyle>
          <a:p xmlns:a="http://schemas.openxmlformats.org/drawingml/2006/main">
            <a:pPr algn="l">
              <a:lnSpc>
                <a:spcPct val="112000"/>
              </a:lnSpc>
              <a:buNone/>
              <a:defRPr sz="2100" b="1" i="0">
                <a:solidFill>
                  <a:srgbClr val="7955A3"/>
                </a:solidFill>
                <a:latin typeface="DejaVu Sans"/>
                <a:ea typeface="DejaVu Sans"/>
                <a:cs typeface="DejaVu Sans"/>
              </a:defRPr>
            </a:pPr>
            <a:r>
              <a:rPr sz="2100" b="1" i="0">
                <a:solidFill>
                  <a:srgbClr val="7955A3"/>
                </a:solidFill>
                <a:latin typeface="DejaVu Sans"/>
                <a:ea typeface="DejaVu Sans"/>
                <a:cs typeface="DejaVu Sans"/>
              </a:rPr>
              <a:t>Célula y metabolismo</a:t>
            </a:r>
          </a:p>
          <a:p xmlns:a="http://schemas.openxmlformats.org/drawingml/2006/main">
            <a:pPr algn="l">
              <a:lnSpc>
                <a:spcPct val="112000"/>
              </a:lnSpc>
              <a:buNone/>
              <a:defRPr sz="2100" b="1" i="0">
                <a:solidFill>
                  <a:srgbClr val="7955A3"/>
                </a:solidFill>
                <a:latin typeface="DejaVu Sans"/>
                <a:ea typeface="DejaVu Sans"/>
                <a:cs typeface="DejaVu Sans"/>
              </a:defRPr>
            </a:pPr>
            <a:r>
              <a:rPr sz="2100" b="1" i="0">
                <a:solidFill>
                  <a:srgbClr val="7955A3"/>
                </a:solidFill>
                <a:latin typeface="DejaVu Sans"/>
                <a:ea typeface="DejaVu Sans"/>
                <a:cs typeface="DejaVu Sans"/>
              </a:rPr>
              <a:t>Aplicaciones en Ecuador</a:t>
            </a:r>
          </a:p>
        </p:txBody>
      </p:sp>
      <p:sp>
        <p:nvSpPr>
          <p:cNvPr id="8" name="">
            <a:extLst xmlns:a="http://schemas.openxmlformats.org/drawingml/2006/main">
              <a:ext uri="{FF2B5EF4-FFF2-40B4-BE49-F238E27FC236}">
                <a16:creationId xmlns:a16="http://schemas.microsoft.com/office/drawing/2014/main" id="{5B3D73CF-B5BD-4DCC-AED1-2AA5FC9A1034}"/>
              </a:ext>
            </a:extLst>
          </p:cNvPr>
          <p:cNvSpPr>
            <a:spLocks xmlns:a="http://schemas.openxmlformats.org/drawingml/2006/main" noGrp="1"/>
          </p:cNvSpPr>
          <p:nvPr/>
        </p:nvSpPr>
        <p:spPr>
          <a:xfrm xmlns:a="http://schemas.openxmlformats.org/drawingml/2006/main">
            <a:off x="609600" y="3476625"/>
            <a:ext cx="4000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Primer semestre</a:t>
            </a:r>
          </a:p>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Clase de 120 minutos</a:t>
            </a:r>
          </a:p>
        </p:txBody>
      </p:sp>
    </p:spTree>
    <p:extLst>
      <p:ext uri="{BB962C8B-B14F-4D97-AF65-F5344CB8AC3E}">
        <p14:creationId xmlns:p14="http://schemas.microsoft.com/office/powerpoint/2010/main" val="13144811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8ED730-1D5E-416E-9D18-F67E386AD07F}"/>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Preguntas desde las tres carreras</a:t>
            </a:r>
          </a:p>
        </p:txBody>
      </p:sp>
      <p:sp>
        <p:nvSpPr>
          <p:cNvPr id="2" name="">
            <a:extLst xmlns:a="http://schemas.openxmlformats.org/drawingml/2006/main">
              <a:ext uri="{FF2B5EF4-FFF2-40B4-BE49-F238E27FC236}">
                <a16:creationId xmlns:a16="http://schemas.microsoft.com/office/drawing/2014/main" id="{963CC43B-32FE-43D4-8F5E-8EC089E58A34}"/>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La misma evidencia permite hacer preguntas diferentes.</a:t>
            </a:r>
          </a:p>
        </p:txBody>
      </p:sp>
      <p:sp>
        <p:nvSpPr>
          <p:cNvPr id="3" name="">
            <a:extLst xmlns:a="http://schemas.openxmlformats.org/drawingml/2006/main">
              <a:ext uri="{FF2B5EF4-FFF2-40B4-BE49-F238E27FC236}">
                <a16:creationId xmlns:a16="http://schemas.microsoft.com/office/drawing/2014/main" id="{62128ACA-3F63-4401-A753-EA165258B7D5}"/>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9168DC6F-E0E2-4557-9F4B-6ED13306E446}"/>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[7] [8] [9] [10] [11]. Ilustraciones conceptuales.</a:t>
            </a:r>
          </a:p>
        </p:txBody>
      </p:sp>
      <p:sp>
        <p:nvSpPr>
          <p:cNvPr id="5" name="">
            <a:extLst xmlns:a="http://schemas.openxmlformats.org/drawingml/2006/main">
              <a:ext uri="{FF2B5EF4-FFF2-40B4-BE49-F238E27FC236}">
                <a16:creationId xmlns:a16="http://schemas.microsoft.com/office/drawing/2014/main" id="{52FE4A66-2B12-49A5-BA59-0A2E342BD9A8}"/>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02 / 39</a:t>
            </a:r>
          </a:p>
        </p:txBody>
      </p:sp>
      <p:sp>
        <p:nvSpPr>
          <p:cNvPr id="6" name="">
            <a:extLst xmlns:a="http://schemas.openxmlformats.org/drawingml/2006/main">
              <a:ext uri="{FF2B5EF4-FFF2-40B4-BE49-F238E27FC236}">
                <a16:creationId xmlns:a16="http://schemas.microsoft.com/office/drawing/2014/main" id="{FAE99691-E23D-4FE3-A265-D77F180B9A02}"/>
              </a:ext>
            </a:extLst>
          </p:cNvPr>
          <p:cNvSpPr>
            <a:spLocks xmlns:a="http://schemas.openxmlformats.org/drawingml/2006/main" noGrp="1"/>
          </p:cNvSpPr>
          <p:nvPr/>
        </p:nvSpPr>
        <p:spPr>
          <a:xfrm xmlns:a="http://schemas.openxmlformats.org/drawingml/2006/main">
            <a:off x="619125" y="2286000"/>
            <a:ext cx="3333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Microbiología</a:t>
            </a:r>
          </a:p>
        </p:txBody>
      </p:sp>
      <p:sp>
        <p:nvSpPr>
          <p:cNvPr id="7" name="">
            <a:extLst xmlns:a="http://schemas.openxmlformats.org/drawingml/2006/main">
              <a:ext uri="{FF2B5EF4-FFF2-40B4-BE49-F238E27FC236}">
                <a16:creationId xmlns:a16="http://schemas.microsoft.com/office/drawing/2014/main" id="{58CA5586-A2EB-4A18-ADDF-48077BEDDE29}"/>
              </a:ext>
            </a:extLst>
          </p:cNvPr>
          <p:cNvSpPr>
            <a:spLocks xmlns:a="http://schemas.openxmlformats.org/drawingml/2006/main" noGrp="1"/>
          </p:cNvSpPr>
          <p:nvPr/>
        </p:nvSpPr>
        <p:spPr>
          <a:xfrm xmlns:a="http://schemas.openxmlformats.org/drawingml/2006/main">
            <a:off x="619125" y="35718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i="0">
                <a:solidFill>
                  <a:srgbClr val="203E49"/>
                </a:solidFill>
                <a:latin typeface="DejaVu Sans"/>
                <a:ea typeface="DejaVu Sans"/>
                <a:cs typeface="DejaVu Sans"/>
              </a:defRPr>
            </a:defPPr>
          </a:lstStyle>
          <a:p xmlns:a="http://schemas.openxmlformats.org/drawingml/2006/main">
            <a:pPr algn="l">
              <a:lnSpc>
                <a:spcPct val="112000"/>
              </a:lnSpc>
              <a:buNone/>
              <a:defRPr sz="2175" b="0" i="0">
                <a:solidFill>
                  <a:srgbClr val="203E49"/>
                </a:solidFill>
                <a:latin typeface="DejaVu Sans"/>
                <a:ea typeface="DejaVu Sans"/>
                <a:cs typeface="DejaVu Sans"/>
              </a:defRPr>
            </a:pPr>
            <a:r>
              <a:rPr sz="2175" b="0" i="0">
                <a:solidFill>
                  <a:srgbClr val="203E49"/>
                </a:solidFill>
                <a:latin typeface="DejaVu Sans"/>
                <a:ea typeface="DejaVu Sans"/>
                <a:cs typeface="DejaVu Sans"/>
              </a:rPr>
              <a:t>¿Cómo lo reconozco y</a:t>
            </a:r>
          </a:p>
          <a:p xmlns:a="http://schemas.openxmlformats.org/drawingml/2006/main">
            <a:pPr algn="l">
              <a:lnSpc>
                <a:spcPct val="112000"/>
              </a:lnSpc>
              <a:buNone/>
              <a:defRPr sz="2175" b="0" i="0">
                <a:solidFill>
                  <a:srgbClr val="203E49"/>
                </a:solidFill>
                <a:latin typeface="DejaVu Sans"/>
                <a:ea typeface="DejaVu Sans"/>
                <a:cs typeface="DejaVu Sans"/>
              </a:defRPr>
            </a:pPr>
            <a:r>
              <a:rPr sz="2175" b="0" i="0">
                <a:solidFill>
                  <a:srgbClr val="203E49"/>
                </a:solidFill>
                <a:latin typeface="DejaVu Sans"/>
                <a:ea typeface="DejaVu Sans"/>
                <a:cs typeface="DejaVu Sans"/>
              </a:rPr>
              <a:t>caracterizo?</a:t>
            </a:r>
          </a:p>
        </p:txBody>
      </p:sp>
      <p:sp>
        <p:nvSpPr>
          <p:cNvPr id="8" name="">
            <a:extLst xmlns:a="http://schemas.openxmlformats.org/drawingml/2006/main">
              <a:ext uri="{FF2B5EF4-FFF2-40B4-BE49-F238E27FC236}">
                <a16:creationId xmlns:a16="http://schemas.microsoft.com/office/drawing/2014/main" id="{9FE90650-E644-453A-A40A-88DBDDD97D19}"/>
              </a:ext>
            </a:extLst>
          </p:cNvPr>
          <p:cNvSpPr>
            <a:spLocks xmlns:a="http://schemas.openxmlformats.org/drawingml/2006/main" noGrp="1"/>
          </p:cNvSpPr>
          <p:nvPr/>
        </p:nvSpPr>
        <p:spPr>
          <a:xfrm xmlns:a="http://schemas.openxmlformats.org/drawingml/2006/main">
            <a:off x="4429125" y="2286000"/>
            <a:ext cx="3333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608F42"/>
                </a:solidFill>
                <a:latin typeface="DejaVu Sans"/>
                <a:ea typeface="DejaVu Sans"/>
                <a:cs typeface="DejaVu Sans"/>
              </a:defRPr>
            </a:defPPr>
          </a:lstStyle>
          <a:p xmlns:a="http://schemas.openxmlformats.org/drawingml/2006/main">
            <a:pPr algn="l">
              <a:lnSpc>
                <a:spcPct val="112000"/>
              </a:lnSpc>
              <a:buNone/>
              <a:defRPr sz="2325" b="1" i="0">
                <a:solidFill>
                  <a:srgbClr val="608F42"/>
                </a:solidFill>
                <a:latin typeface="DejaVu Sans"/>
                <a:ea typeface="DejaVu Sans"/>
                <a:cs typeface="DejaVu Sans"/>
              </a:defRPr>
            </a:pPr>
            <a:r>
              <a:rPr sz="2325" b="1" i="0">
                <a:solidFill>
                  <a:srgbClr val="608F42"/>
                </a:solidFill>
                <a:latin typeface="DejaVu Sans"/>
                <a:ea typeface="DejaVu Sans"/>
                <a:cs typeface="DejaVu Sans"/>
              </a:rPr>
              <a:t>Biología</a:t>
            </a:r>
          </a:p>
        </p:txBody>
      </p:sp>
      <p:sp>
        <p:nvSpPr>
          <p:cNvPr id="9" name="">
            <a:extLst xmlns:a="http://schemas.openxmlformats.org/drawingml/2006/main">
              <a:ext uri="{FF2B5EF4-FFF2-40B4-BE49-F238E27FC236}">
                <a16:creationId xmlns:a16="http://schemas.microsoft.com/office/drawing/2014/main" id="{527DCCF1-9C4E-4830-A1F7-19CA4FC4EA73}"/>
              </a:ext>
            </a:extLst>
          </p:cNvPr>
          <p:cNvSpPr>
            <a:spLocks xmlns:a="http://schemas.openxmlformats.org/drawingml/2006/main" noGrp="1"/>
          </p:cNvSpPr>
          <p:nvPr/>
        </p:nvSpPr>
        <p:spPr>
          <a:xfrm xmlns:a="http://schemas.openxmlformats.org/drawingml/2006/main">
            <a:off x="4429125" y="35718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i="0">
                <a:solidFill>
                  <a:srgbClr val="203E49"/>
                </a:solidFill>
                <a:latin typeface="DejaVu Sans"/>
                <a:ea typeface="DejaVu Sans"/>
                <a:cs typeface="DejaVu Sans"/>
              </a:defRPr>
            </a:defPPr>
          </a:lstStyle>
          <a:p xmlns:a="http://schemas.openxmlformats.org/drawingml/2006/main">
            <a:pPr algn="l">
              <a:lnSpc>
                <a:spcPct val="112000"/>
              </a:lnSpc>
              <a:buNone/>
              <a:defRPr sz="2175" b="0" i="0">
                <a:solidFill>
                  <a:srgbClr val="203E49"/>
                </a:solidFill>
                <a:latin typeface="DejaVu Sans"/>
                <a:ea typeface="DejaVu Sans"/>
                <a:cs typeface="DejaVu Sans"/>
              </a:defRPr>
            </a:pPr>
            <a:r>
              <a:rPr sz="2175" b="0" i="0">
                <a:solidFill>
                  <a:srgbClr val="203E49"/>
                </a:solidFill>
                <a:latin typeface="DejaVu Sans"/>
                <a:ea typeface="DejaVu Sans"/>
                <a:cs typeface="DejaVu Sans"/>
              </a:rPr>
              <a:t>¿Cómo obtiene</a:t>
            </a:r>
          </a:p>
          <a:p xmlns:a="http://schemas.openxmlformats.org/drawingml/2006/main">
            <a:pPr algn="l">
              <a:lnSpc>
                <a:spcPct val="112000"/>
              </a:lnSpc>
              <a:buNone/>
              <a:defRPr sz="2175" b="0" i="0">
                <a:solidFill>
                  <a:srgbClr val="203E49"/>
                </a:solidFill>
                <a:latin typeface="DejaVu Sans"/>
                <a:ea typeface="DejaVu Sans"/>
                <a:cs typeface="DejaVu Sans"/>
              </a:defRPr>
            </a:pPr>
            <a:r>
              <a:rPr sz="2175" b="0" i="0">
                <a:solidFill>
                  <a:srgbClr val="203E49"/>
                </a:solidFill>
                <a:latin typeface="DejaVu Sans"/>
                <a:ea typeface="DejaVu Sans"/>
                <a:cs typeface="DejaVu Sans"/>
              </a:rPr>
              <a:t>alimento e interactúa?</a:t>
            </a:r>
          </a:p>
        </p:txBody>
      </p:sp>
      <p:sp>
        <p:nvSpPr>
          <p:cNvPr id="10" name="">
            <a:extLst xmlns:a="http://schemas.openxmlformats.org/drawingml/2006/main">
              <a:ext uri="{FF2B5EF4-FFF2-40B4-BE49-F238E27FC236}">
                <a16:creationId xmlns:a16="http://schemas.microsoft.com/office/drawing/2014/main" id="{E9D5C67D-6519-4EE8-B63E-EE675AD885A6}"/>
              </a:ext>
            </a:extLst>
          </p:cNvPr>
          <p:cNvSpPr>
            <a:spLocks xmlns:a="http://schemas.openxmlformats.org/drawingml/2006/main" noGrp="1"/>
          </p:cNvSpPr>
          <p:nvPr/>
        </p:nvSpPr>
        <p:spPr>
          <a:xfrm xmlns:a="http://schemas.openxmlformats.org/drawingml/2006/main">
            <a:off x="8239125" y="2286000"/>
            <a:ext cx="3333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2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Ciencias</a:t>
            </a:r>
          </a:p>
          <a:p xmlns:a="http://schemas.openxmlformats.org/drawingml/2006/main">
            <a:pPr algn="l">
              <a:lnSpc>
                <a:spcPct val="112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biomédicas</a:t>
            </a:r>
          </a:p>
        </p:txBody>
      </p:sp>
      <p:sp>
        <p:nvSpPr>
          <p:cNvPr id="11" name="">
            <a:extLst xmlns:a="http://schemas.openxmlformats.org/drawingml/2006/main">
              <a:ext uri="{FF2B5EF4-FFF2-40B4-BE49-F238E27FC236}">
                <a16:creationId xmlns:a16="http://schemas.microsoft.com/office/drawing/2014/main" id="{40C3077D-F678-44B8-BECC-469A352506E1}"/>
              </a:ext>
            </a:extLst>
          </p:cNvPr>
          <p:cNvSpPr>
            <a:spLocks xmlns:a="http://schemas.openxmlformats.org/drawingml/2006/main" noGrp="1"/>
          </p:cNvSpPr>
          <p:nvPr/>
        </p:nvSpPr>
        <p:spPr>
          <a:xfrm xmlns:a="http://schemas.openxmlformats.org/drawingml/2006/main">
            <a:off x="8239125" y="35718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0" i="0">
                <a:solidFill>
                  <a:srgbClr val="203E49"/>
                </a:solidFill>
                <a:latin typeface="DejaVu Sans"/>
                <a:ea typeface="DejaVu Sans"/>
                <a:cs typeface="DejaVu Sans"/>
              </a:defRPr>
            </a:defPPr>
          </a:lstStyle>
          <a:p xmlns:a="http://schemas.openxmlformats.org/drawingml/2006/main">
            <a:pPr algn="l">
              <a:lnSpc>
                <a:spcPct val="112000"/>
              </a:lnSpc>
              <a:buNone/>
              <a:defRPr sz="2175" b="0" i="0">
                <a:solidFill>
                  <a:srgbClr val="203E49"/>
                </a:solidFill>
                <a:latin typeface="DejaVu Sans"/>
                <a:ea typeface="DejaVu Sans"/>
                <a:cs typeface="DejaVu Sans"/>
              </a:defRPr>
            </a:pPr>
            <a:r>
              <a:rPr sz="2175" b="0" i="0">
                <a:solidFill>
                  <a:srgbClr val="203E49"/>
                </a:solidFill>
                <a:latin typeface="DejaVu Sans"/>
                <a:ea typeface="DejaVu Sans"/>
                <a:cs typeface="DejaVu Sans"/>
              </a:rPr>
              <a:t>¿Qué demuestra una</a:t>
            </a:r>
          </a:p>
          <a:p xmlns:a="http://schemas.openxmlformats.org/drawingml/2006/main">
            <a:pPr algn="l">
              <a:lnSpc>
                <a:spcPct val="112000"/>
              </a:lnSpc>
              <a:buNone/>
              <a:defRPr sz="2175" b="0" i="0">
                <a:solidFill>
                  <a:srgbClr val="203E49"/>
                </a:solidFill>
                <a:latin typeface="DejaVu Sans"/>
                <a:ea typeface="DejaVu Sans"/>
                <a:cs typeface="DejaVu Sans"/>
              </a:defRPr>
            </a:pPr>
            <a:r>
              <a:rPr sz="2175" b="0" i="0">
                <a:solidFill>
                  <a:srgbClr val="203E49"/>
                </a:solidFill>
                <a:latin typeface="DejaVu Sans"/>
                <a:ea typeface="DejaVu Sans"/>
                <a:cs typeface="DejaVu Sans"/>
              </a:rPr>
              <a:t>actividad biológica?</a:t>
            </a:r>
          </a:p>
        </p:txBody>
      </p:sp>
      <p:sp>
        <p:nvSpPr>
          <p:cNvPr id="12" name="">
            <a:extLst xmlns:a="http://schemas.openxmlformats.org/drawingml/2006/main">
              <a:ext uri="{FF2B5EF4-FFF2-40B4-BE49-F238E27FC236}">
                <a16:creationId xmlns:a16="http://schemas.microsoft.com/office/drawing/2014/main" id="{866761D6-BFD9-42EE-A2CE-D3FFDD48A6D8}"/>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Observar estructuras, explicar procesos y evaluar aplicaciones</a:t>
            </a:r>
          </a:p>
        </p:txBody>
      </p:sp>
    </p:spTree>
    <p:extLst>
      <p:ext uri="{BB962C8B-B14F-4D97-AF65-F5344CB8AC3E}">
        <p14:creationId xmlns:p14="http://schemas.microsoft.com/office/powerpoint/2010/main" val="4858984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236CE5-D325-45A9-A6FB-244AE6BBC8E6}"/>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Un organismo, distintas escalas</a:t>
            </a:r>
          </a:p>
        </p:txBody>
      </p:sp>
      <p:sp>
        <p:nvSpPr>
          <p:cNvPr id="2" name="">
            <a:extLst xmlns:a="http://schemas.openxmlformats.org/drawingml/2006/main">
              <a:ext uri="{FF2B5EF4-FFF2-40B4-BE49-F238E27FC236}">
                <a16:creationId xmlns:a16="http://schemas.microsoft.com/office/drawing/2014/main" id="{5A784DA0-2F0E-4A52-BB77-BCD7354726FC}"/>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El cuerpo vegetativo y la estructura reproductiva.</a:t>
            </a:r>
          </a:p>
        </p:txBody>
      </p:sp>
      <p:sp>
        <p:nvSpPr>
          <p:cNvPr id="3" name="">
            <a:extLst xmlns:a="http://schemas.openxmlformats.org/drawingml/2006/main">
              <a:ext uri="{FF2B5EF4-FFF2-40B4-BE49-F238E27FC236}">
                <a16:creationId xmlns:a16="http://schemas.microsoft.com/office/drawing/2014/main" id="{469DD9DE-96C7-47BC-9792-0407B36C8912}"/>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EC63A298-EAC1-4968-817E-4FD82BF8A4C6}"/>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[4]. Ilustraciones conceptuales.</a:t>
            </a:r>
          </a:p>
        </p:txBody>
      </p:sp>
      <p:sp>
        <p:nvSpPr>
          <p:cNvPr id="5" name="">
            <a:extLst xmlns:a="http://schemas.openxmlformats.org/drawingml/2006/main">
              <a:ext uri="{FF2B5EF4-FFF2-40B4-BE49-F238E27FC236}">
                <a16:creationId xmlns:a16="http://schemas.microsoft.com/office/drawing/2014/main" id="{D50ECF73-390E-4B87-BB25-8F52E91163F3}"/>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03 / 39</a:t>
            </a:r>
          </a:p>
        </p:txBody>
      </p:sp>
      <p:pic>
        <p:nvPicPr>
          <p:cNvPr id="6" name="">
            <a:extLst xmlns:a="http://schemas.openxmlformats.org/drawingml/2006/main">
              <a:ext uri="{FF2B5EF4-FFF2-40B4-BE49-F238E27FC236}">
                <a16:creationId xmlns:a16="http://schemas.microsoft.com/office/drawing/2014/main" id="{6289E7E0-4E07-4E69-BA1C-61AB6BEA6873}"/>
              </a:ext>
            </a:extLst>
          </p:cNvPr>
          <p:cNvPicPr>
            <a:picLocks xmlns:a="http://schemas.openxmlformats.org/drawingml/2006/main" noChangeAspect="1"/>
          </p:cNvPicPr>
          <p:nvPr/>
        </p:nvPicPr>
        <p:blipFill>
          <a:blip xmlns:r="http://schemas.openxmlformats.org/officeDocument/2006/relationships" xmlns:a="http://schemas.openxmlformats.org/drawingml/2006/main" r:embed="R9272b05d09cd40c3"/>
          <a:srcRect xmlns:a="http://schemas.openxmlformats.org/drawingml/2006/main" l="0" t="0" r="66667" b="53000"/>
          <a:stretch xmlns:a="http://schemas.openxmlformats.org/drawingml/2006/main"/>
        </p:blipFill>
        <p:spPr>
          <a:xfrm xmlns:a="http://schemas.openxmlformats.org/drawingml/2006/main">
            <a:off x="1879668" y="1685925"/>
            <a:ext cx="4813165" cy="4524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201C81-AB6A-470B-8790-0A54939477CB}"/>
              </a:ext>
            </a:extLst>
          </p:cNvPr>
          <p:cNvSpPr>
            <a:spLocks xmlns:a="http://schemas.openxmlformats.org/drawingml/2006/main" noGrp="1"/>
          </p:cNvSpPr>
          <p:nvPr/>
        </p:nvSpPr>
        <p:spPr>
          <a:xfrm xmlns:a="http://schemas.openxmlformats.org/drawingml/2006/main">
            <a:off x="8477250" y="2095500"/>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7955A3"/>
                </a:solidFill>
                <a:latin typeface="DejaVu Sans"/>
                <a:ea typeface="DejaVu Sans"/>
                <a:cs typeface="DejaVu Sans"/>
              </a:defRPr>
            </a:defPPr>
          </a:lstStyle>
          <a:p xmlns:a="http://schemas.openxmlformats.org/drawingml/2006/main">
            <a:pPr algn="l">
              <a:lnSpc>
                <a:spcPct val="112000"/>
              </a:lnSpc>
              <a:buNone/>
              <a:defRPr sz="2400" b="1" i="0">
                <a:solidFill>
                  <a:srgbClr val="7955A3"/>
                </a:solidFill>
                <a:latin typeface="DejaVu Sans"/>
                <a:ea typeface="DejaVu Sans"/>
                <a:cs typeface="DejaVu Sans"/>
              </a:defRPr>
            </a:pPr>
            <a:r>
              <a:rPr sz="2400" b="1" i="0">
                <a:solidFill>
                  <a:srgbClr val="7955A3"/>
                </a:solidFill>
                <a:latin typeface="DejaVu Sans"/>
                <a:ea typeface="DejaVu Sans"/>
                <a:cs typeface="DejaVu Sans"/>
              </a:rPr>
              <a:t>Hifa</a:t>
            </a:r>
          </a:p>
        </p:txBody>
      </p:sp>
      <p:sp>
        <p:nvSpPr>
          <p:cNvPr id="8" name="">
            <a:extLst xmlns:a="http://schemas.openxmlformats.org/drawingml/2006/main">
              <a:ext uri="{FF2B5EF4-FFF2-40B4-BE49-F238E27FC236}">
                <a16:creationId xmlns:a16="http://schemas.microsoft.com/office/drawing/2014/main" id="{745652B3-7E95-4AAE-980E-AEEA2F7D2AFD}"/>
              </a:ext>
            </a:extLst>
          </p:cNvPr>
          <p:cNvSpPr>
            <a:spLocks xmlns:a="http://schemas.openxmlformats.org/drawingml/2006/main" noGrp="1"/>
          </p:cNvSpPr>
          <p:nvPr/>
        </p:nvSpPr>
        <p:spPr>
          <a:xfrm xmlns:a="http://schemas.openxmlformats.org/drawingml/2006/main">
            <a:off x="8477250" y="2781300"/>
            <a:ext cx="2952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Micelio: red de hifas</a:t>
            </a:r>
          </a:p>
        </p:txBody>
      </p:sp>
      <p:sp>
        <p:nvSpPr>
          <p:cNvPr id="9" name="">
            <a:extLst xmlns:a="http://schemas.openxmlformats.org/drawingml/2006/main">
              <a:ext uri="{FF2B5EF4-FFF2-40B4-BE49-F238E27FC236}">
                <a16:creationId xmlns:a16="http://schemas.microsoft.com/office/drawing/2014/main" id="{7934D198-646F-4980-A3A4-24389C01DDE8}"/>
              </a:ext>
            </a:extLst>
          </p:cNvPr>
          <p:cNvSpPr>
            <a:spLocks xmlns:a="http://schemas.openxmlformats.org/drawingml/2006/main" noGrp="1"/>
          </p:cNvSpPr>
          <p:nvPr/>
        </p:nvSpPr>
        <p:spPr>
          <a:xfrm xmlns:a="http://schemas.openxmlformats.org/drawingml/2006/main">
            <a:off x="8477250" y="4019550"/>
            <a:ext cx="295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Cuerpo fructífero:</a:t>
            </a:r>
          </a:p>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reproducción</a:t>
            </a:r>
          </a:p>
        </p:txBody>
      </p:sp>
    </p:spTree>
    <p:extLst>
      <p:ext uri="{BB962C8B-B14F-4D97-AF65-F5344CB8AC3E}">
        <p14:creationId xmlns:p14="http://schemas.microsoft.com/office/powerpoint/2010/main" val="19520435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EDD9D07-DAC0-4D29-B33D-0B13A85B00ED}"/>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La célula fúngica</a:t>
            </a:r>
          </a:p>
        </p:txBody>
      </p:sp>
      <p:sp>
        <p:nvSpPr>
          <p:cNvPr id="2" name="">
            <a:extLst xmlns:a="http://schemas.openxmlformats.org/drawingml/2006/main">
              <a:ext uri="{FF2B5EF4-FFF2-40B4-BE49-F238E27FC236}">
                <a16:creationId xmlns:a16="http://schemas.microsoft.com/office/drawing/2014/main" id="{DA920499-12BE-42F2-A10E-D76ABAD8C195}"/>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Una célula eucariota. Ejemplo: levadura en gemación.</a:t>
            </a:r>
          </a:p>
        </p:txBody>
      </p:sp>
      <p:sp>
        <p:nvSpPr>
          <p:cNvPr id="3" name="">
            <a:extLst xmlns:a="http://schemas.openxmlformats.org/drawingml/2006/main">
              <a:ext uri="{FF2B5EF4-FFF2-40B4-BE49-F238E27FC236}">
                <a16:creationId xmlns:a16="http://schemas.microsoft.com/office/drawing/2014/main" id="{E05B6747-538C-4C7F-908A-292C5AE4A9A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E7F70BCE-3ABC-4227-BBA9-A8AEA52D2E91}"/>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[3] [13]. Ilustraciones conceptuales.</a:t>
            </a:r>
          </a:p>
        </p:txBody>
      </p:sp>
      <p:sp>
        <p:nvSpPr>
          <p:cNvPr id="5" name="">
            <a:extLst xmlns:a="http://schemas.openxmlformats.org/drawingml/2006/main">
              <a:ext uri="{FF2B5EF4-FFF2-40B4-BE49-F238E27FC236}">
                <a16:creationId xmlns:a16="http://schemas.microsoft.com/office/drawing/2014/main" id="{D99073C1-CFED-4FF6-9B91-47B0643A4876}"/>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04 / 39</a:t>
            </a:r>
          </a:p>
        </p:txBody>
      </p:sp>
      <p:pic>
        <p:nvPicPr>
          <p:cNvPr id="6" name="">
            <a:extLst xmlns:a="http://schemas.openxmlformats.org/drawingml/2006/main">
              <a:ext uri="{FF2B5EF4-FFF2-40B4-BE49-F238E27FC236}">
                <a16:creationId xmlns:a16="http://schemas.microsoft.com/office/drawing/2014/main" id="{801383BB-7A39-4F3A-8ACC-58D25B682B05}"/>
              </a:ext>
            </a:extLst>
          </p:cNvPr>
          <p:cNvPicPr>
            <a:picLocks xmlns:a="http://schemas.openxmlformats.org/drawingml/2006/main" noChangeAspect="1"/>
          </p:cNvPicPr>
          <p:nvPr/>
        </p:nvPicPr>
        <p:blipFill>
          <a:blip xmlns:r="http://schemas.openxmlformats.org/officeDocument/2006/relationships" xmlns:a="http://schemas.openxmlformats.org/drawingml/2006/main" r:embed="R0dc7e89ca7af42d8"/>
          <a:stretch xmlns:a="http://schemas.openxmlformats.org/drawingml/2006/main"/>
        </p:blipFill>
        <p:spPr>
          <a:xfrm xmlns:a="http://schemas.openxmlformats.org/drawingml/2006/main">
            <a:off x="2499579" y="1809750"/>
            <a:ext cx="7192843"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8DB190F-7CCD-4EE0-AAB4-5A497B2E69FA}"/>
              </a:ext>
            </a:extLst>
          </p:cNvPr>
          <p:cNvSpPr>
            <a:spLocks xmlns:a="http://schemas.openxmlformats.org/drawingml/2006/main" noGrp="1"/>
          </p:cNvSpPr>
          <p:nvPr/>
        </p:nvSpPr>
        <p:spPr>
          <a:xfrm xmlns:a="http://schemas.openxmlformats.org/drawingml/2006/main">
            <a:off x="571500" y="2047875"/>
            <a:ext cx="1752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Núcleo</a:t>
            </a:r>
          </a:p>
        </p:txBody>
      </p:sp>
      <p:sp>
        <p:nvSpPr>
          <p:cNvPr id="8" name="">
            <a:extLst xmlns:a="http://schemas.openxmlformats.org/drawingml/2006/main">
              <a:ext uri="{FF2B5EF4-FFF2-40B4-BE49-F238E27FC236}">
                <a16:creationId xmlns:a16="http://schemas.microsoft.com/office/drawing/2014/main" id="{26F20E2A-6EE0-411B-968A-AA3F3158B8A9}"/>
              </a:ext>
            </a:extLst>
          </p:cNvPr>
          <p:cNvSpPr>
            <a:spLocks xmlns:a="http://schemas.openxmlformats.org/drawingml/2006/main" noGrp="1"/>
          </p:cNvSpPr>
          <p:nvPr/>
        </p:nvSpPr>
        <p:spPr>
          <a:xfrm xmlns:a="http://schemas.openxmlformats.org/drawingml/2006/main">
            <a:off x="2324100" y="2276475"/>
            <a:ext cx="2419350" cy="914400"/>
          </a:xfrm>
          <a:custGeom xmlns:a="http://schemas.openxmlformats.org/drawingml/2006/main">
            <a:pathLst>
              <a:path w="2419350" h="914400">
                <a:moveTo>
                  <a:pt x="0" y="0"/>
                </a:moveTo>
                <a:lnTo>
                  <a:pt x="2419350" y="914400"/>
                </a:lnTo>
              </a:path>
            </a:pathLst>
          </a:custGeom>
          <a:noFill xmlns:a="http://schemas.openxmlformats.org/drawingml/2006/main"/>
          <a:ln xmlns:a="http://schemas.openxmlformats.org/drawingml/2006/main" w="12383">
            <a:solidFill>
              <a:srgbClr val="647A84"/>
            </a:solidFill>
            <a:prstDash val="solid"/>
          </a:ln>
        </p:spPr>
      </p:sp>
      <p:sp>
        <p:nvSpPr>
          <p:cNvPr id="9" name="">
            <a:extLst xmlns:a="http://schemas.openxmlformats.org/drawingml/2006/main">
              <a:ext uri="{FF2B5EF4-FFF2-40B4-BE49-F238E27FC236}">
                <a16:creationId xmlns:a16="http://schemas.microsoft.com/office/drawing/2014/main" id="{495E3ACE-BA87-44E3-A742-021B71765AFB}"/>
              </a:ext>
            </a:extLst>
          </p:cNvPr>
          <p:cNvSpPr>
            <a:spLocks xmlns:a="http://schemas.openxmlformats.org/drawingml/2006/main" noGrp="1"/>
          </p:cNvSpPr>
          <p:nvPr/>
        </p:nvSpPr>
        <p:spPr>
          <a:xfrm xmlns:a="http://schemas.openxmlformats.org/drawingml/2006/main">
            <a:off x="571500" y="3524250"/>
            <a:ext cx="1752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Mitocondria</a:t>
            </a:r>
          </a:p>
        </p:txBody>
      </p:sp>
      <p:sp>
        <p:nvSpPr>
          <p:cNvPr id="10" name="">
            <a:extLst xmlns:a="http://schemas.openxmlformats.org/drawingml/2006/main">
              <a:ext uri="{FF2B5EF4-FFF2-40B4-BE49-F238E27FC236}">
                <a16:creationId xmlns:a16="http://schemas.microsoft.com/office/drawing/2014/main" id="{A4D1BF39-586D-45B3-9FA1-2EC72626F1AC}"/>
              </a:ext>
            </a:extLst>
          </p:cNvPr>
          <p:cNvSpPr>
            <a:spLocks xmlns:a="http://schemas.openxmlformats.org/drawingml/2006/main" noGrp="1"/>
          </p:cNvSpPr>
          <p:nvPr/>
        </p:nvSpPr>
        <p:spPr>
          <a:xfrm xmlns:a="http://schemas.openxmlformats.org/drawingml/2006/main">
            <a:off x="2324100" y="3752850"/>
            <a:ext cx="2057400" cy="704850"/>
          </a:xfrm>
          <a:custGeom xmlns:a="http://schemas.openxmlformats.org/drawingml/2006/main">
            <a:pathLst>
              <a:path w="2057400" h="704850">
                <a:moveTo>
                  <a:pt x="0" y="0"/>
                </a:moveTo>
                <a:lnTo>
                  <a:pt x="2057400" y="704850"/>
                </a:lnTo>
              </a:path>
            </a:pathLst>
          </a:custGeom>
          <a:noFill xmlns:a="http://schemas.openxmlformats.org/drawingml/2006/main"/>
          <a:ln xmlns:a="http://schemas.openxmlformats.org/drawingml/2006/main" w="12383">
            <a:solidFill>
              <a:srgbClr val="647A84"/>
            </a:solidFill>
            <a:prstDash val="solid"/>
          </a:ln>
        </p:spPr>
      </p:sp>
      <p:sp>
        <p:nvSpPr>
          <p:cNvPr id="11" name="">
            <a:extLst xmlns:a="http://schemas.openxmlformats.org/drawingml/2006/main">
              <a:ext uri="{FF2B5EF4-FFF2-40B4-BE49-F238E27FC236}">
                <a16:creationId xmlns:a16="http://schemas.microsoft.com/office/drawing/2014/main" id="{C5203220-529E-4810-B186-06676D38542A}"/>
              </a:ext>
            </a:extLst>
          </p:cNvPr>
          <p:cNvSpPr>
            <a:spLocks xmlns:a="http://schemas.openxmlformats.org/drawingml/2006/main" noGrp="1"/>
          </p:cNvSpPr>
          <p:nvPr/>
        </p:nvSpPr>
        <p:spPr>
          <a:xfrm xmlns:a="http://schemas.openxmlformats.org/drawingml/2006/main">
            <a:off x="571500" y="5000625"/>
            <a:ext cx="1752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Ribosomas</a:t>
            </a:r>
          </a:p>
        </p:txBody>
      </p:sp>
      <p:sp>
        <p:nvSpPr>
          <p:cNvPr id="12" name="">
            <a:extLst xmlns:a="http://schemas.openxmlformats.org/drawingml/2006/main">
              <a:ext uri="{FF2B5EF4-FFF2-40B4-BE49-F238E27FC236}">
                <a16:creationId xmlns:a16="http://schemas.microsoft.com/office/drawing/2014/main" id="{D96C4046-CC72-4B1B-BF89-8D26B6B41C7C}"/>
              </a:ext>
            </a:extLst>
          </p:cNvPr>
          <p:cNvSpPr>
            <a:spLocks xmlns:a="http://schemas.openxmlformats.org/drawingml/2006/main" noGrp="1"/>
          </p:cNvSpPr>
          <p:nvPr/>
        </p:nvSpPr>
        <p:spPr>
          <a:xfrm xmlns:a="http://schemas.openxmlformats.org/drawingml/2006/main">
            <a:off x="2324100" y="4171950"/>
            <a:ext cx="3105150" cy="1057275"/>
          </a:xfrm>
          <a:custGeom xmlns:a="http://schemas.openxmlformats.org/drawingml/2006/main">
            <a:pathLst>
              <a:path w="3105150" h="1057275">
                <a:moveTo>
                  <a:pt x="0" y="1057275"/>
                </a:moveTo>
                <a:lnTo>
                  <a:pt x="3105150" y="0"/>
                </a:lnTo>
              </a:path>
            </a:pathLst>
          </a:custGeom>
          <a:noFill xmlns:a="http://schemas.openxmlformats.org/drawingml/2006/main"/>
          <a:ln xmlns:a="http://schemas.openxmlformats.org/drawingml/2006/main" w="12383">
            <a:solidFill>
              <a:srgbClr val="647A84"/>
            </a:solidFill>
            <a:prstDash val="solid"/>
          </a:ln>
        </p:spPr>
      </p:sp>
      <p:sp>
        <p:nvSpPr>
          <p:cNvPr id="13" name="">
            <a:extLst xmlns:a="http://schemas.openxmlformats.org/drawingml/2006/main">
              <a:ext uri="{FF2B5EF4-FFF2-40B4-BE49-F238E27FC236}">
                <a16:creationId xmlns:a16="http://schemas.microsoft.com/office/drawing/2014/main" id="{FC857D99-5CC7-46A4-A310-45657CAA9BF1}"/>
              </a:ext>
            </a:extLst>
          </p:cNvPr>
          <p:cNvSpPr>
            <a:spLocks xmlns:a="http://schemas.openxmlformats.org/drawingml/2006/main" noGrp="1"/>
          </p:cNvSpPr>
          <p:nvPr/>
        </p:nvSpPr>
        <p:spPr>
          <a:xfrm xmlns:a="http://schemas.openxmlformats.org/drawingml/2006/main">
            <a:off x="10001250" y="223837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Vacuola</a:t>
            </a:r>
          </a:p>
        </p:txBody>
      </p:sp>
      <p:sp>
        <p:nvSpPr>
          <p:cNvPr id="14" name="">
            <a:extLst xmlns:a="http://schemas.openxmlformats.org/drawingml/2006/main">
              <a:ext uri="{FF2B5EF4-FFF2-40B4-BE49-F238E27FC236}">
                <a16:creationId xmlns:a16="http://schemas.microsoft.com/office/drawing/2014/main" id="{E90B34C7-2050-4824-8BE2-B8587C66B0EE}"/>
              </a:ext>
            </a:extLst>
          </p:cNvPr>
          <p:cNvSpPr>
            <a:spLocks xmlns:a="http://schemas.openxmlformats.org/drawingml/2006/main" noGrp="1"/>
          </p:cNvSpPr>
          <p:nvPr/>
        </p:nvSpPr>
        <p:spPr>
          <a:xfrm xmlns:a="http://schemas.openxmlformats.org/drawingml/2006/main">
            <a:off x="7000875" y="2466975"/>
            <a:ext cx="3000375" cy="1533525"/>
          </a:xfrm>
          <a:custGeom xmlns:a="http://schemas.openxmlformats.org/drawingml/2006/main">
            <a:pathLst>
              <a:path w="3000375" h="1533525">
                <a:moveTo>
                  <a:pt x="3000375" y="0"/>
                </a:moveTo>
                <a:lnTo>
                  <a:pt x="0" y="1533525"/>
                </a:lnTo>
              </a:path>
            </a:pathLst>
          </a:custGeom>
          <a:noFill xmlns:a="http://schemas.openxmlformats.org/drawingml/2006/main"/>
          <a:ln xmlns:a="http://schemas.openxmlformats.org/drawingml/2006/main" w="12383">
            <a:solidFill>
              <a:srgbClr val="647A84"/>
            </a:solidFill>
            <a:prstDash val="solid"/>
          </a:ln>
        </p:spPr>
      </p:sp>
      <p:sp>
        <p:nvSpPr>
          <p:cNvPr id="15" name="">
            <a:extLst xmlns:a="http://schemas.openxmlformats.org/drawingml/2006/main">
              <a:ext uri="{FF2B5EF4-FFF2-40B4-BE49-F238E27FC236}">
                <a16:creationId xmlns:a16="http://schemas.microsoft.com/office/drawing/2014/main" id="{E6610E17-09CD-40B7-BAD3-4EFDB6A1021F}"/>
              </a:ext>
            </a:extLst>
          </p:cNvPr>
          <p:cNvSpPr>
            <a:spLocks xmlns:a="http://schemas.openxmlformats.org/drawingml/2006/main" noGrp="1"/>
          </p:cNvSpPr>
          <p:nvPr/>
        </p:nvSpPr>
        <p:spPr>
          <a:xfrm xmlns:a="http://schemas.openxmlformats.org/drawingml/2006/main">
            <a:off x="10001250" y="3838575"/>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Membrana</a:t>
            </a:r>
          </a:p>
        </p:txBody>
      </p:sp>
      <p:sp>
        <p:nvSpPr>
          <p:cNvPr id="16" name="">
            <a:extLst xmlns:a="http://schemas.openxmlformats.org/drawingml/2006/main">
              <a:ext uri="{FF2B5EF4-FFF2-40B4-BE49-F238E27FC236}">
                <a16:creationId xmlns:a16="http://schemas.microsoft.com/office/drawing/2014/main" id="{562257D1-AA3A-4D24-A95C-BF05AF62D450}"/>
              </a:ext>
            </a:extLst>
          </p:cNvPr>
          <p:cNvSpPr>
            <a:spLocks xmlns:a="http://schemas.openxmlformats.org/drawingml/2006/main" noGrp="1"/>
          </p:cNvSpPr>
          <p:nvPr/>
        </p:nvSpPr>
        <p:spPr>
          <a:xfrm xmlns:a="http://schemas.openxmlformats.org/drawingml/2006/main">
            <a:off x="7229475" y="4067175"/>
            <a:ext cx="2771775" cy="762000"/>
          </a:xfrm>
          <a:custGeom xmlns:a="http://schemas.openxmlformats.org/drawingml/2006/main">
            <a:pathLst>
              <a:path w="2771775" h="762000">
                <a:moveTo>
                  <a:pt x="2771775" y="0"/>
                </a:moveTo>
                <a:lnTo>
                  <a:pt x="0" y="762000"/>
                </a:lnTo>
              </a:path>
            </a:pathLst>
          </a:custGeom>
          <a:noFill xmlns:a="http://schemas.openxmlformats.org/drawingml/2006/main"/>
          <a:ln xmlns:a="http://schemas.openxmlformats.org/drawingml/2006/main" w="12383">
            <a:solidFill>
              <a:srgbClr val="647A84"/>
            </a:solidFill>
            <a:prstDash val="solid"/>
          </a:ln>
        </p:spPr>
      </p:sp>
      <p:sp>
        <p:nvSpPr>
          <p:cNvPr id="17" name="">
            <a:extLst xmlns:a="http://schemas.openxmlformats.org/drawingml/2006/main">
              <a:ext uri="{FF2B5EF4-FFF2-40B4-BE49-F238E27FC236}">
                <a16:creationId xmlns:a16="http://schemas.microsoft.com/office/drawing/2014/main" id="{AB91AA98-E704-4EE0-8631-C92BFF845E9C}"/>
              </a:ext>
            </a:extLst>
          </p:cNvPr>
          <p:cNvSpPr>
            <a:spLocks xmlns:a="http://schemas.openxmlformats.org/drawingml/2006/main" noGrp="1"/>
          </p:cNvSpPr>
          <p:nvPr/>
        </p:nvSpPr>
        <p:spPr>
          <a:xfrm xmlns:a="http://schemas.openxmlformats.org/drawingml/2006/main">
            <a:off x="10001250" y="5238750"/>
            <a:ext cx="1638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Pared</a:t>
            </a:r>
          </a:p>
          <a:p xmlns:a="http://schemas.openxmlformats.org/drawingml/2006/main">
            <a:pPr algn="l">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celular</a:t>
            </a:r>
          </a:p>
        </p:txBody>
      </p:sp>
      <p:sp>
        <p:nvSpPr>
          <p:cNvPr id="18" name="">
            <a:extLst xmlns:a="http://schemas.openxmlformats.org/drawingml/2006/main">
              <a:ext uri="{FF2B5EF4-FFF2-40B4-BE49-F238E27FC236}">
                <a16:creationId xmlns:a16="http://schemas.microsoft.com/office/drawing/2014/main" id="{D9C90D9C-2F65-4713-A12F-36A557A3DD74}"/>
              </a:ext>
            </a:extLst>
          </p:cNvPr>
          <p:cNvSpPr>
            <a:spLocks xmlns:a="http://schemas.openxmlformats.org/drawingml/2006/main" noGrp="1"/>
          </p:cNvSpPr>
          <p:nvPr/>
        </p:nvSpPr>
        <p:spPr>
          <a:xfrm xmlns:a="http://schemas.openxmlformats.org/drawingml/2006/main">
            <a:off x="6381750" y="5467350"/>
            <a:ext cx="3619500" cy="953"/>
          </a:xfrm>
          <a:custGeom xmlns:a="http://schemas.openxmlformats.org/drawingml/2006/main">
            <a:pathLst>
              <a:path w="3619500" h="953">
                <a:moveTo>
                  <a:pt x="3619500" y="0"/>
                </a:moveTo>
                <a:lnTo>
                  <a:pt x="0" y="0"/>
                </a:lnTo>
              </a:path>
            </a:pathLst>
          </a:custGeom>
          <a:noFill xmlns:a="http://schemas.openxmlformats.org/drawingml/2006/main"/>
          <a:ln xmlns:a="http://schemas.openxmlformats.org/drawingml/2006/main" w="12383">
            <a:solidFill>
              <a:srgbClr val="647A84"/>
            </a:solidFill>
            <a:prstDash val="solid"/>
          </a:ln>
        </p:spPr>
      </p:sp>
      <p:sp>
        <p:nvSpPr>
          <p:cNvPr id="19" name="">
            <a:extLst xmlns:a="http://schemas.openxmlformats.org/drawingml/2006/main">
              <a:ext uri="{FF2B5EF4-FFF2-40B4-BE49-F238E27FC236}">
                <a16:creationId xmlns:a16="http://schemas.microsoft.com/office/drawing/2014/main" id="{8DE5875C-89DD-4B5E-B24A-DAA8DC437231}"/>
              </a:ext>
            </a:extLst>
          </p:cNvPr>
          <p:cNvSpPr>
            <a:spLocks xmlns:a="http://schemas.openxmlformats.org/drawingml/2006/main" noGrp="1"/>
          </p:cNvSpPr>
          <p:nvPr/>
        </p:nvSpPr>
        <p:spPr>
          <a:xfrm xmlns:a="http://schemas.openxmlformats.org/drawingml/2006/main">
            <a:off x="571500" y="60579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Organización eucariota y nutrición heterótrofa</a:t>
            </a:r>
          </a:p>
        </p:txBody>
      </p:sp>
    </p:spTree>
    <p:extLst>
      <p:ext uri="{BB962C8B-B14F-4D97-AF65-F5344CB8AC3E}">
        <p14:creationId xmlns:p14="http://schemas.microsoft.com/office/powerpoint/2010/main" val="10571987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B854C9-92B9-4AB7-94C6-000C59186C4F}"/>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Composición de la envoltura</a:t>
            </a:r>
          </a:p>
        </p:txBody>
      </p:sp>
      <p:sp>
        <p:nvSpPr>
          <p:cNvPr id="2" name="">
            <a:extLst xmlns:a="http://schemas.openxmlformats.org/drawingml/2006/main">
              <a:ext uri="{FF2B5EF4-FFF2-40B4-BE49-F238E27FC236}">
                <a16:creationId xmlns:a16="http://schemas.microsoft.com/office/drawing/2014/main" id="{9E501194-3F84-4C02-A3F0-9CFFC397CD36}"/>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Pared celular y membrana cumplen funciones diferentes.</a:t>
            </a:r>
          </a:p>
        </p:txBody>
      </p:sp>
      <p:sp>
        <p:nvSpPr>
          <p:cNvPr id="3" name="">
            <a:extLst xmlns:a="http://schemas.openxmlformats.org/drawingml/2006/main">
              <a:ext uri="{FF2B5EF4-FFF2-40B4-BE49-F238E27FC236}">
                <a16:creationId xmlns:a16="http://schemas.microsoft.com/office/drawing/2014/main" id="{D19BA738-B4F6-4BE8-9F6D-6922041B473D}"/>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FFCE1817-5BB0-488A-AB61-29A812035385}"/>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[3]. Ilustraciones conceptuales.</a:t>
            </a:r>
          </a:p>
        </p:txBody>
      </p:sp>
      <p:sp>
        <p:nvSpPr>
          <p:cNvPr id="5" name="">
            <a:extLst xmlns:a="http://schemas.openxmlformats.org/drawingml/2006/main">
              <a:ext uri="{FF2B5EF4-FFF2-40B4-BE49-F238E27FC236}">
                <a16:creationId xmlns:a16="http://schemas.microsoft.com/office/drawing/2014/main" id="{B49E8A4C-93B9-4541-B029-4D8F19B81D3E}"/>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05 / 39</a:t>
            </a:r>
          </a:p>
        </p:txBody>
      </p:sp>
      <p:pic>
        <p:nvPicPr>
          <p:cNvPr id="6" name="">
            <a:extLst xmlns:a="http://schemas.openxmlformats.org/drawingml/2006/main">
              <a:ext uri="{FF2B5EF4-FFF2-40B4-BE49-F238E27FC236}">
                <a16:creationId xmlns:a16="http://schemas.microsoft.com/office/drawing/2014/main" id="{B24825C5-3CB9-4780-91D4-5CDF0AFFBA43}"/>
              </a:ext>
            </a:extLst>
          </p:cNvPr>
          <p:cNvPicPr>
            <a:picLocks xmlns:a="http://schemas.openxmlformats.org/drawingml/2006/main" noChangeAspect="1"/>
          </p:cNvPicPr>
          <p:nvPr/>
        </p:nvPicPr>
        <p:blipFill>
          <a:blip xmlns:r="http://schemas.openxmlformats.org/officeDocument/2006/relationships" xmlns:a="http://schemas.openxmlformats.org/drawingml/2006/main" r:embed="R9b8f6d466aa44f6a"/>
          <a:stretch xmlns:a="http://schemas.openxmlformats.org/drawingml/2006/main"/>
        </p:blipFill>
        <p:spPr>
          <a:xfrm xmlns:a="http://schemas.openxmlformats.org/drawingml/2006/main">
            <a:off x="2711133" y="1762125"/>
            <a:ext cx="6769734" cy="3810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3D0CF19-B024-422A-A934-C0E275915775}"/>
              </a:ext>
            </a:extLst>
          </p:cNvPr>
          <p:cNvSpPr>
            <a:spLocks xmlns:a="http://schemas.openxmlformats.org/drawingml/2006/main" noGrp="1"/>
          </p:cNvSpPr>
          <p:nvPr/>
        </p:nvSpPr>
        <p:spPr>
          <a:xfrm xmlns:a="http://schemas.openxmlformats.org/drawingml/2006/main">
            <a:off x="714375" y="1838325"/>
            <a:ext cx="4381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608F42"/>
                </a:solidFill>
                <a:latin typeface="DejaVu Sans"/>
                <a:ea typeface="DejaVu Sans"/>
                <a:cs typeface="DejaVu Sans"/>
              </a:defRPr>
            </a:defPPr>
          </a:lstStyle>
          <a:p xmlns:a="http://schemas.openxmlformats.org/drawingml/2006/main">
            <a:pPr algn="l">
              <a:lnSpc>
                <a:spcPct val="112000"/>
              </a:lnSpc>
              <a:buNone/>
              <a:defRPr sz="2100" b="1" i="0">
                <a:solidFill>
                  <a:srgbClr val="608F42"/>
                </a:solidFill>
                <a:latin typeface="DejaVu Sans"/>
                <a:ea typeface="DejaVu Sans"/>
                <a:cs typeface="DejaVu Sans"/>
              </a:defRPr>
            </a:pPr>
            <a:r>
              <a:rPr sz="2100" b="1" i="0">
                <a:solidFill>
                  <a:srgbClr val="608F42"/>
                </a:solidFill>
                <a:latin typeface="DejaVu Sans"/>
                <a:ea typeface="DejaVu Sans"/>
                <a:cs typeface="DejaVu Sans"/>
              </a:rPr>
              <a:t>Pared: quitina y β-glucanos</a:t>
            </a:r>
          </a:p>
        </p:txBody>
      </p:sp>
      <p:sp>
        <p:nvSpPr>
          <p:cNvPr id="8" name="">
            <a:extLst xmlns:a="http://schemas.openxmlformats.org/drawingml/2006/main">
              <a:ext uri="{FF2B5EF4-FFF2-40B4-BE49-F238E27FC236}">
                <a16:creationId xmlns:a16="http://schemas.microsoft.com/office/drawing/2014/main" id="{63DD523B-4E59-4466-A438-493D6C2B4C3D}"/>
              </a:ext>
            </a:extLst>
          </p:cNvPr>
          <p:cNvSpPr>
            <a:spLocks xmlns:a="http://schemas.openxmlformats.org/drawingml/2006/main" noGrp="1"/>
          </p:cNvSpPr>
          <p:nvPr/>
        </p:nvSpPr>
        <p:spPr>
          <a:xfrm xmlns:a="http://schemas.openxmlformats.org/drawingml/2006/main">
            <a:off x="7048500" y="1838325"/>
            <a:ext cx="4381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7955A3"/>
                </a:solidFill>
                <a:latin typeface="DejaVu Sans"/>
                <a:ea typeface="DejaVu Sans"/>
                <a:cs typeface="DejaVu Sans"/>
              </a:defRPr>
            </a:defPPr>
          </a:lstStyle>
          <a:p xmlns:a="http://schemas.openxmlformats.org/drawingml/2006/main">
            <a:pPr algn="l">
              <a:lnSpc>
                <a:spcPct val="112000"/>
              </a:lnSpc>
              <a:buNone/>
              <a:defRPr sz="2100" b="1" i="0">
                <a:solidFill>
                  <a:srgbClr val="7955A3"/>
                </a:solidFill>
                <a:latin typeface="DejaVu Sans"/>
                <a:ea typeface="DejaVu Sans"/>
                <a:cs typeface="DejaVu Sans"/>
              </a:defRPr>
            </a:pPr>
            <a:r>
              <a:rPr sz="2100" b="1" i="0">
                <a:solidFill>
                  <a:srgbClr val="7955A3"/>
                </a:solidFill>
                <a:latin typeface="DejaVu Sans"/>
                <a:ea typeface="DejaVu Sans"/>
                <a:cs typeface="DejaVu Sans"/>
              </a:rPr>
              <a:t>Superficie: manoproteínas</a:t>
            </a:r>
          </a:p>
        </p:txBody>
      </p:sp>
      <p:sp>
        <p:nvSpPr>
          <p:cNvPr id="9" name="">
            <a:extLst xmlns:a="http://schemas.openxmlformats.org/drawingml/2006/main">
              <a:ext uri="{FF2B5EF4-FFF2-40B4-BE49-F238E27FC236}">
                <a16:creationId xmlns:a16="http://schemas.microsoft.com/office/drawing/2014/main" id="{0AE46374-F07A-4311-99B8-0D95365F9B4D}"/>
              </a:ext>
            </a:extLst>
          </p:cNvPr>
          <p:cNvSpPr>
            <a:spLocks xmlns:a="http://schemas.openxmlformats.org/drawingml/2006/main" noGrp="1"/>
          </p:cNvSpPr>
          <p:nvPr/>
        </p:nvSpPr>
        <p:spPr>
          <a:xfrm xmlns:a="http://schemas.openxmlformats.org/drawingml/2006/main">
            <a:off x="571500" y="573405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i="0">
                <a:solidFill>
                  <a:srgbClr val="168E91"/>
                </a:solidFill>
                <a:latin typeface="DejaVu Sans"/>
                <a:ea typeface="DejaVu Sans"/>
                <a:cs typeface="DejaVu Sans"/>
              </a:defRPr>
            </a:defPPr>
          </a:lstStyle>
          <a:p xmlns:a="http://schemas.openxmlformats.org/drawingml/2006/main">
            <a:pPr algn="ctr">
              <a:lnSpc>
                <a:spcPct val="112000"/>
              </a:lnSpc>
              <a:buNone/>
              <a:defRPr sz="2175" b="1" i="0">
                <a:solidFill>
                  <a:srgbClr val="168E91"/>
                </a:solidFill>
                <a:latin typeface="DejaVu Sans"/>
                <a:ea typeface="DejaVu Sans"/>
                <a:cs typeface="DejaVu Sans"/>
              </a:defRPr>
            </a:pPr>
            <a:r>
              <a:rPr sz="2175" b="1" i="0">
                <a:solidFill>
                  <a:srgbClr val="168E91"/>
                </a:solidFill>
                <a:latin typeface="DejaVu Sans"/>
                <a:ea typeface="DejaVu Sans"/>
                <a:cs typeface="DejaVu Sans"/>
              </a:rPr>
              <a:t>Membrana con ergosterol</a:t>
            </a:r>
          </a:p>
        </p:txBody>
      </p:sp>
    </p:spTree>
    <p:extLst>
      <p:ext uri="{BB962C8B-B14F-4D97-AF65-F5344CB8AC3E}">
        <p14:creationId xmlns:p14="http://schemas.microsoft.com/office/powerpoint/2010/main" val="17795018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788AA4-C1B2-4BA2-97BC-048DA9164520}"/>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Hifas y crecimiento del micelio</a:t>
            </a:r>
          </a:p>
        </p:txBody>
      </p:sp>
      <p:sp>
        <p:nvSpPr>
          <p:cNvPr id="2" name="">
            <a:extLst xmlns:a="http://schemas.openxmlformats.org/drawingml/2006/main">
              <a:ext uri="{FF2B5EF4-FFF2-40B4-BE49-F238E27FC236}">
                <a16:creationId xmlns:a16="http://schemas.microsoft.com/office/drawing/2014/main" id="{9C9F83C3-61E9-43B1-B86E-694EC8C546F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El crecimiento apical permite explorar el sustrato.</a:t>
            </a:r>
          </a:p>
        </p:txBody>
      </p:sp>
      <p:sp>
        <p:nvSpPr>
          <p:cNvPr id="3" name="">
            <a:extLst xmlns:a="http://schemas.openxmlformats.org/drawingml/2006/main">
              <a:ext uri="{FF2B5EF4-FFF2-40B4-BE49-F238E27FC236}">
                <a16:creationId xmlns:a16="http://schemas.microsoft.com/office/drawing/2014/main" id="{2997E534-7D9F-4AB3-A079-39E5E4EE7DC0}"/>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5E48EF22-B487-47BD-8D4B-883950054231}"/>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[3] [4]. Ilustraciones conceptuales.</a:t>
            </a:r>
          </a:p>
        </p:txBody>
      </p:sp>
      <p:sp>
        <p:nvSpPr>
          <p:cNvPr id="5" name="">
            <a:extLst xmlns:a="http://schemas.openxmlformats.org/drawingml/2006/main">
              <a:ext uri="{FF2B5EF4-FFF2-40B4-BE49-F238E27FC236}">
                <a16:creationId xmlns:a16="http://schemas.microsoft.com/office/drawing/2014/main" id="{737DD75D-74CF-48E6-886D-E5E1A2CA9B04}"/>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06 / 39</a:t>
            </a:r>
          </a:p>
        </p:txBody>
      </p:sp>
      <p:pic>
        <p:nvPicPr>
          <p:cNvPr id="6" name="">
            <a:extLst xmlns:a="http://schemas.openxmlformats.org/drawingml/2006/main">
              <a:ext uri="{FF2B5EF4-FFF2-40B4-BE49-F238E27FC236}">
                <a16:creationId xmlns:a16="http://schemas.microsoft.com/office/drawing/2014/main" id="{41930924-748B-4501-87EF-0F7DA5158A00}"/>
              </a:ext>
            </a:extLst>
          </p:cNvPr>
          <p:cNvPicPr>
            <a:picLocks xmlns:a="http://schemas.openxmlformats.org/drawingml/2006/main" noChangeAspect="1"/>
          </p:cNvPicPr>
          <p:nvPr/>
        </p:nvPicPr>
        <p:blipFill>
          <a:blip xmlns:r="http://schemas.openxmlformats.org/officeDocument/2006/relationships" xmlns:a="http://schemas.openxmlformats.org/drawingml/2006/main" r:embed="Rbb732c5f35374578"/>
          <a:srcRect xmlns:a="http://schemas.openxmlformats.org/drawingml/2006/main" l="0" t="0" r="66667" b="53000"/>
          <a:stretch xmlns:a="http://schemas.openxmlformats.org/drawingml/2006/main"/>
        </p:blipFill>
        <p:spPr>
          <a:xfrm xmlns:a="http://schemas.openxmlformats.org/drawingml/2006/main">
            <a:off x="1885747" y="1714500"/>
            <a:ext cx="4610505"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EF6D585-9D67-4094-85B8-44092FADE908}"/>
              </a:ext>
            </a:extLst>
          </p:cNvPr>
          <p:cNvSpPr>
            <a:spLocks xmlns:a="http://schemas.openxmlformats.org/drawingml/2006/main" noGrp="1"/>
          </p:cNvSpPr>
          <p:nvPr/>
        </p:nvSpPr>
        <p:spPr>
          <a:xfrm xmlns:a="http://schemas.openxmlformats.org/drawingml/2006/main">
            <a:off x="8286750" y="223837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7955A3"/>
                </a:solidFill>
                <a:latin typeface="DejaVu Sans"/>
                <a:ea typeface="DejaVu Sans"/>
                <a:cs typeface="DejaVu Sans"/>
              </a:defRPr>
            </a:defPPr>
          </a:lstStyle>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Septada</a:t>
            </a:r>
          </a:p>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Tabiques con poros</a:t>
            </a:r>
          </a:p>
        </p:txBody>
      </p:sp>
      <p:sp>
        <p:nvSpPr>
          <p:cNvPr id="8" name="">
            <a:extLst xmlns:a="http://schemas.openxmlformats.org/drawingml/2006/main">
              <a:ext uri="{FF2B5EF4-FFF2-40B4-BE49-F238E27FC236}">
                <a16:creationId xmlns:a16="http://schemas.microsoft.com/office/drawing/2014/main" id="{56E0AA26-8FE5-42F4-BB6E-C2A1D04AEA14}"/>
              </a:ext>
            </a:extLst>
          </p:cNvPr>
          <p:cNvSpPr>
            <a:spLocks xmlns:a="http://schemas.openxmlformats.org/drawingml/2006/main" noGrp="1"/>
          </p:cNvSpPr>
          <p:nvPr/>
        </p:nvSpPr>
        <p:spPr>
          <a:xfrm xmlns:a="http://schemas.openxmlformats.org/drawingml/2006/main">
            <a:off x="8286750" y="4000500"/>
            <a:ext cx="3143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168E91"/>
                </a:solidFill>
                <a:latin typeface="DejaVu Sans"/>
                <a:ea typeface="DejaVu Sans"/>
                <a:cs typeface="DejaVu Sans"/>
              </a:defRPr>
            </a:defPPr>
          </a:lstStyle>
          <a:p xmlns:a="http://schemas.openxmlformats.org/drawingml/2006/main">
            <a:pPr algn="l">
              <a:lnSpc>
                <a:spcPct val="112000"/>
              </a:lnSpc>
              <a:buNone/>
              <a:defRPr sz="2175" b="1" i="0">
                <a:solidFill>
                  <a:srgbClr val="168E91"/>
                </a:solidFill>
                <a:latin typeface="DejaVu Sans"/>
                <a:ea typeface="DejaVu Sans"/>
                <a:cs typeface="DejaVu Sans"/>
              </a:defRPr>
            </a:pPr>
            <a:r>
              <a:rPr sz="2175" b="1" i="0">
                <a:solidFill>
                  <a:srgbClr val="168E91"/>
                </a:solidFill>
                <a:latin typeface="DejaVu Sans"/>
                <a:ea typeface="DejaVu Sans"/>
                <a:cs typeface="DejaVu Sans"/>
              </a:rPr>
              <a:t>Cenocítica</a:t>
            </a:r>
          </a:p>
          <a:p xmlns:a="http://schemas.openxmlformats.org/drawingml/2006/main">
            <a:pPr algn="l">
              <a:lnSpc>
                <a:spcPct val="112000"/>
              </a:lnSpc>
              <a:buNone/>
              <a:defRPr sz="2175" b="1" i="0">
                <a:solidFill>
                  <a:srgbClr val="168E91"/>
                </a:solidFill>
                <a:latin typeface="DejaVu Sans"/>
                <a:ea typeface="DejaVu Sans"/>
                <a:cs typeface="DejaVu Sans"/>
              </a:defRPr>
            </a:pPr>
            <a:r>
              <a:rPr sz="2175" b="1" i="0">
                <a:solidFill>
                  <a:srgbClr val="168E91"/>
                </a:solidFill>
                <a:latin typeface="DejaVu Sans"/>
                <a:ea typeface="DejaVu Sans"/>
                <a:cs typeface="DejaVu Sans"/>
              </a:rPr>
              <a:t>Citoplasma</a:t>
            </a:r>
          </a:p>
          <a:p xmlns:a="http://schemas.openxmlformats.org/drawingml/2006/main">
            <a:pPr algn="l">
              <a:lnSpc>
                <a:spcPct val="112000"/>
              </a:lnSpc>
              <a:buNone/>
              <a:defRPr sz="2175" b="1" i="0">
                <a:solidFill>
                  <a:srgbClr val="168E91"/>
                </a:solidFill>
                <a:latin typeface="DejaVu Sans"/>
                <a:ea typeface="DejaVu Sans"/>
                <a:cs typeface="DejaVu Sans"/>
              </a:defRPr>
            </a:pPr>
            <a:r>
              <a:rPr sz="2175" b="1" i="0">
                <a:solidFill>
                  <a:srgbClr val="168E91"/>
                </a:solidFill>
                <a:latin typeface="DejaVu Sans"/>
                <a:ea typeface="DejaVu Sans"/>
                <a:cs typeface="DejaVu Sans"/>
              </a:rPr>
              <a:t>continuo</a:t>
            </a:r>
          </a:p>
        </p:txBody>
      </p:sp>
    </p:spTree>
    <p:extLst>
      <p:ext uri="{BB962C8B-B14F-4D97-AF65-F5344CB8AC3E}">
        <p14:creationId xmlns:p14="http://schemas.microsoft.com/office/powerpoint/2010/main" val="12091674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86E5ED-9BAA-44DB-A160-7D036A07F4AD}"/>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Levaduras, mohos y dimorfismo</a:t>
            </a:r>
          </a:p>
        </p:txBody>
      </p:sp>
      <p:sp>
        <p:nvSpPr>
          <p:cNvPr id="2" name="">
            <a:extLst xmlns:a="http://schemas.openxmlformats.org/drawingml/2006/main">
              <a:ext uri="{FF2B5EF4-FFF2-40B4-BE49-F238E27FC236}">
                <a16:creationId xmlns:a16="http://schemas.microsoft.com/office/drawing/2014/main" id="{0451075B-386C-4E30-82DC-18AED89455AF}"/>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Son formas de crecimiento, no filos taxonómicos.</a:t>
            </a:r>
          </a:p>
        </p:txBody>
      </p:sp>
      <p:sp>
        <p:nvSpPr>
          <p:cNvPr id="3" name="">
            <a:extLst xmlns:a="http://schemas.openxmlformats.org/drawingml/2006/main">
              <a:ext uri="{FF2B5EF4-FFF2-40B4-BE49-F238E27FC236}">
                <a16:creationId xmlns:a16="http://schemas.microsoft.com/office/drawing/2014/main" id="{D6B4F828-4E67-47EC-8032-0422E8479722}"/>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2013DEA0-739F-46A0-8808-8B92E1E26779}"/>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[4] [5]. Ilustraciones conceptuales.</a:t>
            </a:r>
          </a:p>
        </p:txBody>
      </p:sp>
      <p:sp>
        <p:nvSpPr>
          <p:cNvPr id="5" name="">
            <a:extLst xmlns:a="http://schemas.openxmlformats.org/drawingml/2006/main">
              <a:ext uri="{FF2B5EF4-FFF2-40B4-BE49-F238E27FC236}">
                <a16:creationId xmlns:a16="http://schemas.microsoft.com/office/drawing/2014/main" id="{8A1E8F52-B04B-40AE-BFFD-FEDF19DD457A}"/>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07 / 39</a:t>
            </a:r>
          </a:p>
        </p:txBody>
      </p:sp>
      <p:pic>
        <p:nvPicPr>
          <p:cNvPr id="6" name="">
            <a:extLst xmlns:a="http://schemas.openxmlformats.org/drawingml/2006/main">
              <a:ext uri="{FF2B5EF4-FFF2-40B4-BE49-F238E27FC236}">
                <a16:creationId xmlns:a16="http://schemas.microsoft.com/office/drawing/2014/main" id="{3C39C092-066E-4944-9165-C76C921CC19F}"/>
              </a:ext>
            </a:extLst>
          </p:cNvPr>
          <p:cNvPicPr>
            <a:picLocks xmlns:a="http://schemas.openxmlformats.org/drawingml/2006/main" noChangeAspect="1"/>
          </p:cNvPicPr>
          <p:nvPr/>
        </p:nvPicPr>
        <p:blipFill>
          <a:blip xmlns:r="http://schemas.openxmlformats.org/officeDocument/2006/relationships" xmlns:a="http://schemas.openxmlformats.org/drawingml/2006/main" r:embed="R8b56d1edc00a4578"/>
          <a:srcRect xmlns:a="http://schemas.openxmlformats.org/drawingml/2006/main" l="33333" t="0" r="33333" b="53000"/>
          <a:stretch xmlns:a="http://schemas.openxmlformats.org/drawingml/2006/main"/>
        </p:blipFill>
        <p:spPr>
          <a:xfrm xmlns:a="http://schemas.openxmlformats.org/drawingml/2006/main">
            <a:off x="2177577" y="1762125"/>
            <a:ext cx="4407846" cy="4143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B381B12-836F-4AB1-BB28-647F747E7C2E}"/>
              </a:ext>
            </a:extLst>
          </p:cNvPr>
          <p:cNvSpPr>
            <a:spLocks xmlns:a="http://schemas.openxmlformats.org/drawingml/2006/main" noGrp="1"/>
          </p:cNvSpPr>
          <p:nvPr/>
        </p:nvSpPr>
        <p:spPr>
          <a:xfrm xmlns:a="http://schemas.openxmlformats.org/drawingml/2006/main">
            <a:off x="8763000" y="200025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Levadura</a:t>
            </a:r>
          </a:p>
        </p:txBody>
      </p:sp>
      <p:sp>
        <p:nvSpPr>
          <p:cNvPr id="8" name="">
            <a:extLst xmlns:a="http://schemas.openxmlformats.org/drawingml/2006/main">
              <a:ext uri="{FF2B5EF4-FFF2-40B4-BE49-F238E27FC236}">
                <a16:creationId xmlns:a16="http://schemas.microsoft.com/office/drawing/2014/main" id="{D276EB10-E8C5-4607-A829-9CFEF69873C4}"/>
              </a:ext>
            </a:extLst>
          </p:cNvPr>
          <p:cNvSpPr>
            <a:spLocks xmlns:a="http://schemas.openxmlformats.org/drawingml/2006/main" noGrp="1"/>
          </p:cNvSpPr>
          <p:nvPr/>
        </p:nvSpPr>
        <p:spPr>
          <a:xfrm xmlns:a="http://schemas.openxmlformats.org/drawingml/2006/main">
            <a:off x="8763000" y="333375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Moho</a:t>
            </a:r>
          </a:p>
        </p:txBody>
      </p:sp>
      <p:sp>
        <p:nvSpPr>
          <p:cNvPr id="9" name="">
            <a:extLst xmlns:a="http://schemas.openxmlformats.org/drawingml/2006/main">
              <a:ext uri="{FF2B5EF4-FFF2-40B4-BE49-F238E27FC236}">
                <a16:creationId xmlns:a16="http://schemas.microsoft.com/office/drawing/2014/main" id="{638676E5-37E7-4857-BE0C-3D4DFAD93B8B}"/>
              </a:ext>
            </a:extLst>
          </p:cNvPr>
          <p:cNvSpPr>
            <a:spLocks xmlns:a="http://schemas.openxmlformats.org/drawingml/2006/main" noGrp="1"/>
          </p:cNvSpPr>
          <p:nvPr/>
        </p:nvSpPr>
        <p:spPr>
          <a:xfrm xmlns:a="http://schemas.openxmlformats.org/drawingml/2006/main">
            <a:off x="8763000" y="4667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168E91"/>
                </a:solidFill>
                <a:latin typeface="DejaVu Sans"/>
                <a:ea typeface="DejaVu Sans"/>
                <a:cs typeface="DejaVu Sans"/>
              </a:defRPr>
            </a:defPPr>
          </a:lstStyle>
          <a:p xmlns:a="http://schemas.openxmlformats.org/drawingml/2006/main">
            <a:pPr algn="l">
              <a:lnSpc>
                <a:spcPct val="112000"/>
              </a:lnSpc>
              <a:buNone/>
              <a:defRPr sz="2100" b="1" i="0">
                <a:solidFill>
                  <a:srgbClr val="168E91"/>
                </a:solidFill>
                <a:latin typeface="DejaVu Sans"/>
                <a:ea typeface="DejaVu Sans"/>
                <a:cs typeface="DejaVu Sans"/>
              </a:defRPr>
            </a:pPr>
            <a:r>
              <a:rPr sz="2100" b="1" i="0">
                <a:solidFill>
                  <a:srgbClr val="168E91"/>
                </a:solidFill>
                <a:latin typeface="DejaVu Sans"/>
                <a:ea typeface="DejaVu Sans"/>
                <a:cs typeface="DejaVu Sans"/>
              </a:rPr>
              <a:t>Dimorfismo</a:t>
            </a:r>
          </a:p>
          <a:p xmlns:a="http://schemas.openxmlformats.org/drawingml/2006/main">
            <a:pPr algn="l">
              <a:lnSpc>
                <a:spcPct val="112000"/>
              </a:lnSpc>
              <a:buNone/>
              <a:defRPr sz="2100" b="1" i="0">
                <a:solidFill>
                  <a:srgbClr val="168E91"/>
                </a:solidFill>
                <a:latin typeface="DejaVu Sans"/>
                <a:ea typeface="DejaVu Sans"/>
                <a:cs typeface="DejaVu Sans"/>
              </a:defRPr>
            </a:pPr>
            <a:r>
              <a:rPr sz="2100" b="1" i="0">
                <a:solidFill>
                  <a:srgbClr val="168E91"/>
                </a:solidFill>
                <a:latin typeface="DejaVu Sans"/>
                <a:ea typeface="DejaVu Sans"/>
                <a:cs typeface="DejaVu Sans"/>
              </a:rPr>
              <a:t>Según la especie</a:t>
            </a:r>
          </a:p>
        </p:txBody>
      </p:sp>
    </p:spTree>
    <p:extLst>
      <p:ext uri="{BB962C8B-B14F-4D97-AF65-F5344CB8AC3E}">
        <p14:creationId xmlns:p14="http://schemas.microsoft.com/office/powerpoint/2010/main" val="8461476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08B749-0E9A-426D-8907-622AA1DF1697}"/>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Partes de un cuerpo fructífero</a:t>
            </a:r>
          </a:p>
        </p:txBody>
      </p:sp>
      <p:sp>
        <p:nvSpPr>
          <p:cNvPr id="2" name="">
            <a:extLst xmlns:a="http://schemas.openxmlformats.org/drawingml/2006/main">
              <a:ext uri="{FF2B5EF4-FFF2-40B4-BE49-F238E27FC236}">
                <a16:creationId xmlns:a16="http://schemas.microsoft.com/office/drawing/2014/main" id="{41600911-1FC6-42F5-B28F-B6BB1A1B5012}"/>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Ejemplo de seta con láminas, anillo y volva.</a:t>
            </a:r>
          </a:p>
        </p:txBody>
      </p:sp>
      <p:sp>
        <p:nvSpPr>
          <p:cNvPr id="3" name="">
            <a:extLst xmlns:a="http://schemas.openxmlformats.org/drawingml/2006/main">
              <a:ext uri="{FF2B5EF4-FFF2-40B4-BE49-F238E27FC236}">
                <a16:creationId xmlns:a16="http://schemas.microsoft.com/office/drawing/2014/main" id="{476AE547-1900-43EB-87AA-E721626475D5}"/>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11BCAAF-EB47-433C-A882-224B2A8F8E7B}"/>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[1] [2] [13]. Ilustraciones conceptuales.</a:t>
            </a:r>
          </a:p>
        </p:txBody>
      </p:sp>
      <p:sp>
        <p:nvSpPr>
          <p:cNvPr id="5" name="">
            <a:extLst xmlns:a="http://schemas.openxmlformats.org/drawingml/2006/main">
              <a:ext uri="{FF2B5EF4-FFF2-40B4-BE49-F238E27FC236}">
                <a16:creationId xmlns:a16="http://schemas.microsoft.com/office/drawing/2014/main" id="{ED59AE19-A073-46B1-BD33-6C5782658BEC}"/>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08 / 39</a:t>
            </a:r>
          </a:p>
        </p:txBody>
      </p:sp>
      <p:pic>
        <p:nvPicPr>
          <p:cNvPr id="6" name="">
            <a:extLst xmlns:a="http://schemas.openxmlformats.org/drawingml/2006/main">
              <a:ext uri="{FF2B5EF4-FFF2-40B4-BE49-F238E27FC236}">
                <a16:creationId xmlns:a16="http://schemas.microsoft.com/office/drawing/2014/main" id="{89D7BCF2-B77A-44E0-A4C1-C5D8DE2ECC4D}"/>
              </a:ext>
            </a:extLst>
          </p:cNvPr>
          <p:cNvPicPr>
            <a:picLocks xmlns:a="http://schemas.openxmlformats.org/drawingml/2006/main" noChangeAspect="1"/>
          </p:cNvPicPr>
          <p:nvPr/>
        </p:nvPicPr>
        <p:blipFill>
          <a:blip xmlns:r="http://schemas.openxmlformats.org/officeDocument/2006/relationships" xmlns:a="http://schemas.openxmlformats.org/drawingml/2006/main" r:embed="R93773d193c054793"/>
          <a:stretch xmlns:a="http://schemas.openxmlformats.org/drawingml/2006/main"/>
        </p:blipFill>
        <p:spPr>
          <a:xfrm xmlns:a="http://schemas.openxmlformats.org/drawingml/2006/main">
            <a:off x="2476500" y="1868199"/>
            <a:ext cx="7239000" cy="407410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BD8DF7-BA83-4301-8E0D-98BE69E3B283}"/>
              </a:ext>
            </a:extLst>
          </p:cNvPr>
          <p:cNvSpPr>
            <a:spLocks xmlns:a="http://schemas.openxmlformats.org/drawingml/2006/main" noGrp="1"/>
          </p:cNvSpPr>
          <p:nvPr/>
        </p:nvSpPr>
        <p:spPr>
          <a:xfrm xmlns:a="http://schemas.openxmlformats.org/drawingml/2006/main">
            <a:off x="571500" y="20955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2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Píleo</a:t>
            </a:r>
          </a:p>
        </p:txBody>
      </p:sp>
      <p:sp>
        <p:nvSpPr>
          <p:cNvPr id="8" name="">
            <a:extLst xmlns:a="http://schemas.openxmlformats.org/drawingml/2006/main">
              <a:ext uri="{FF2B5EF4-FFF2-40B4-BE49-F238E27FC236}">
                <a16:creationId xmlns:a16="http://schemas.microsoft.com/office/drawing/2014/main" id="{D1DE1512-6072-4034-AF20-B0D54D6A580A}"/>
              </a:ext>
            </a:extLst>
          </p:cNvPr>
          <p:cNvSpPr>
            <a:spLocks xmlns:a="http://schemas.openxmlformats.org/drawingml/2006/main" noGrp="1"/>
          </p:cNvSpPr>
          <p:nvPr/>
        </p:nvSpPr>
        <p:spPr>
          <a:xfrm xmlns:a="http://schemas.openxmlformats.org/drawingml/2006/main">
            <a:off x="2286000" y="2209800"/>
            <a:ext cx="3619500" cy="95250"/>
          </a:xfrm>
          <a:custGeom xmlns:a="http://schemas.openxmlformats.org/drawingml/2006/main">
            <a:pathLst>
              <a:path w="3619500" h="95250">
                <a:moveTo>
                  <a:pt x="0" y="95250"/>
                </a:moveTo>
                <a:lnTo>
                  <a:pt x="3619500" y="0"/>
                </a:lnTo>
              </a:path>
            </a:pathLst>
          </a:custGeom>
          <a:noFill xmlns:a="http://schemas.openxmlformats.org/drawingml/2006/main"/>
          <a:ln xmlns:a="http://schemas.openxmlformats.org/drawingml/2006/main" w="12383">
            <a:solidFill>
              <a:srgbClr val="647A84"/>
            </a:solidFill>
            <a:prstDash val="solid"/>
          </a:ln>
        </p:spPr>
      </p:sp>
      <p:sp>
        <p:nvSpPr>
          <p:cNvPr id="9" name="">
            <a:extLst xmlns:a="http://schemas.openxmlformats.org/drawingml/2006/main">
              <a:ext uri="{FF2B5EF4-FFF2-40B4-BE49-F238E27FC236}">
                <a16:creationId xmlns:a16="http://schemas.microsoft.com/office/drawing/2014/main" id="{07FB6981-6550-42C5-B443-75D0C40EBD16}"/>
              </a:ext>
            </a:extLst>
          </p:cNvPr>
          <p:cNvSpPr>
            <a:spLocks xmlns:a="http://schemas.openxmlformats.org/drawingml/2006/main" noGrp="1"/>
          </p:cNvSpPr>
          <p:nvPr/>
        </p:nvSpPr>
        <p:spPr>
          <a:xfrm xmlns:a="http://schemas.openxmlformats.org/drawingml/2006/main">
            <a:off x="9906000" y="23336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2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Láminas</a:t>
            </a:r>
          </a:p>
        </p:txBody>
      </p:sp>
      <p:sp>
        <p:nvSpPr>
          <p:cNvPr id="10" name="">
            <a:extLst xmlns:a="http://schemas.openxmlformats.org/drawingml/2006/main">
              <a:ext uri="{FF2B5EF4-FFF2-40B4-BE49-F238E27FC236}">
                <a16:creationId xmlns:a16="http://schemas.microsoft.com/office/drawing/2014/main" id="{FD1A4FF7-7C6A-47EB-A879-5CC49AEB99EC}"/>
              </a:ext>
            </a:extLst>
          </p:cNvPr>
          <p:cNvSpPr>
            <a:spLocks xmlns:a="http://schemas.openxmlformats.org/drawingml/2006/main" noGrp="1"/>
          </p:cNvSpPr>
          <p:nvPr/>
        </p:nvSpPr>
        <p:spPr>
          <a:xfrm xmlns:a="http://schemas.openxmlformats.org/drawingml/2006/main">
            <a:off x="7162800" y="2543175"/>
            <a:ext cx="2743200" cy="600075"/>
          </a:xfrm>
          <a:custGeom xmlns:a="http://schemas.openxmlformats.org/drawingml/2006/main">
            <a:pathLst>
              <a:path w="2743200" h="600075">
                <a:moveTo>
                  <a:pt x="2743200" y="0"/>
                </a:moveTo>
                <a:lnTo>
                  <a:pt x="0" y="600075"/>
                </a:lnTo>
              </a:path>
            </a:pathLst>
          </a:custGeom>
          <a:noFill xmlns:a="http://schemas.openxmlformats.org/drawingml/2006/main"/>
          <a:ln xmlns:a="http://schemas.openxmlformats.org/drawingml/2006/main" w="12383">
            <a:solidFill>
              <a:srgbClr val="647A84"/>
            </a:solidFill>
            <a:prstDash val="solid"/>
          </a:ln>
        </p:spPr>
      </p:sp>
      <p:sp>
        <p:nvSpPr>
          <p:cNvPr id="11" name="">
            <a:extLst xmlns:a="http://schemas.openxmlformats.org/drawingml/2006/main">
              <a:ext uri="{FF2B5EF4-FFF2-40B4-BE49-F238E27FC236}">
                <a16:creationId xmlns:a16="http://schemas.microsoft.com/office/drawing/2014/main" id="{B614C9E5-32B1-45BF-BAB7-E73FFB002590}"/>
              </a:ext>
            </a:extLst>
          </p:cNvPr>
          <p:cNvSpPr>
            <a:spLocks xmlns:a="http://schemas.openxmlformats.org/drawingml/2006/main" noGrp="1"/>
          </p:cNvSpPr>
          <p:nvPr/>
        </p:nvSpPr>
        <p:spPr>
          <a:xfrm xmlns:a="http://schemas.openxmlformats.org/drawingml/2006/main">
            <a:off x="571500" y="37147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2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Anillo</a:t>
            </a:r>
          </a:p>
        </p:txBody>
      </p:sp>
      <p:sp>
        <p:nvSpPr>
          <p:cNvPr id="12" name="">
            <a:extLst xmlns:a="http://schemas.openxmlformats.org/drawingml/2006/main">
              <a:ext uri="{FF2B5EF4-FFF2-40B4-BE49-F238E27FC236}">
                <a16:creationId xmlns:a16="http://schemas.microsoft.com/office/drawing/2014/main" id="{1B00DCFE-8975-4D93-A90F-6803C30E9262}"/>
              </a:ext>
            </a:extLst>
          </p:cNvPr>
          <p:cNvSpPr>
            <a:spLocks xmlns:a="http://schemas.openxmlformats.org/drawingml/2006/main" noGrp="1"/>
          </p:cNvSpPr>
          <p:nvPr/>
        </p:nvSpPr>
        <p:spPr>
          <a:xfrm xmlns:a="http://schemas.openxmlformats.org/drawingml/2006/main">
            <a:off x="2286000" y="3705225"/>
            <a:ext cx="3571875" cy="219075"/>
          </a:xfrm>
          <a:custGeom xmlns:a="http://schemas.openxmlformats.org/drawingml/2006/main">
            <a:pathLst>
              <a:path w="3571875" h="219075">
                <a:moveTo>
                  <a:pt x="0" y="219075"/>
                </a:moveTo>
                <a:lnTo>
                  <a:pt x="3571875" y="0"/>
                </a:lnTo>
              </a:path>
            </a:pathLst>
          </a:custGeom>
          <a:noFill xmlns:a="http://schemas.openxmlformats.org/drawingml/2006/main"/>
          <a:ln xmlns:a="http://schemas.openxmlformats.org/drawingml/2006/main" w="12383">
            <a:solidFill>
              <a:srgbClr val="647A84"/>
            </a:solidFill>
            <a:prstDash val="solid"/>
          </a:ln>
        </p:spPr>
      </p:sp>
      <p:sp>
        <p:nvSpPr>
          <p:cNvPr id="13" name="">
            <a:extLst xmlns:a="http://schemas.openxmlformats.org/drawingml/2006/main">
              <a:ext uri="{FF2B5EF4-FFF2-40B4-BE49-F238E27FC236}">
                <a16:creationId xmlns:a16="http://schemas.microsoft.com/office/drawing/2014/main" id="{84837E63-16C1-4543-8610-8DE10399A4EB}"/>
              </a:ext>
            </a:extLst>
          </p:cNvPr>
          <p:cNvSpPr>
            <a:spLocks xmlns:a="http://schemas.openxmlformats.org/drawingml/2006/main" noGrp="1"/>
          </p:cNvSpPr>
          <p:nvPr/>
        </p:nvSpPr>
        <p:spPr>
          <a:xfrm xmlns:a="http://schemas.openxmlformats.org/drawingml/2006/main">
            <a:off x="9906000" y="3952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2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Estípite</a:t>
            </a:r>
          </a:p>
        </p:txBody>
      </p:sp>
      <p:sp>
        <p:nvSpPr>
          <p:cNvPr id="14" name="">
            <a:extLst xmlns:a="http://schemas.openxmlformats.org/drawingml/2006/main">
              <a:ext uri="{FF2B5EF4-FFF2-40B4-BE49-F238E27FC236}">
                <a16:creationId xmlns:a16="http://schemas.microsoft.com/office/drawing/2014/main" id="{60557A04-ABFD-4B47-B775-F766F0F6E64C}"/>
              </a:ext>
            </a:extLst>
          </p:cNvPr>
          <p:cNvSpPr>
            <a:spLocks xmlns:a="http://schemas.openxmlformats.org/drawingml/2006/main" noGrp="1"/>
          </p:cNvSpPr>
          <p:nvPr/>
        </p:nvSpPr>
        <p:spPr>
          <a:xfrm xmlns:a="http://schemas.openxmlformats.org/drawingml/2006/main">
            <a:off x="6191250" y="4162425"/>
            <a:ext cx="3714750" cy="38100"/>
          </a:xfrm>
          <a:custGeom xmlns:a="http://schemas.openxmlformats.org/drawingml/2006/main">
            <a:pathLst>
              <a:path w="3714750" h="38100">
                <a:moveTo>
                  <a:pt x="3714750" y="0"/>
                </a:moveTo>
                <a:lnTo>
                  <a:pt x="0" y="38100"/>
                </a:lnTo>
              </a:path>
            </a:pathLst>
          </a:custGeom>
          <a:noFill xmlns:a="http://schemas.openxmlformats.org/drawingml/2006/main"/>
          <a:ln xmlns:a="http://schemas.openxmlformats.org/drawingml/2006/main" w="12383">
            <a:solidFill>
              <a:srgbClr val="647A84"/>
            </a:solidFill>
            <a:prstDash val="solid"/>
          </a:ln>
        </p:spPr>
      </p:sp>
      <p:sp>
        <p:nvSpPr>
          <p:cNvPr id="15" name="">
            <a:extLst xmlns:a="http://schemas.openxmlformats.org/drawingml/2006/main">
              <a:ext uri="{FF2B5EF4-FFF2-40B4-BE49-F238E27FC236}">
                <a16:creationId xmlns:a16="http://schemas.microsoft.com/office/drawing/2014/main" id="{2D706F1B-C87B-42A6-BEA4-CEA9D53CDB13}"/>
              </a:ext>
            </a:extLst>
          </p:cNvPr>
          <p:cNvSpPr>
            <a:spLocks xmlns:a="http://schemas.openxmlformats.org/drawingml/2006/main" noGrp="1"/>
          </p:cNvSpPr>
          <p:nvPr/>
        </p:nvSpPr>
        <p:spPr>
          <a:xfrm xmlns:a="http://schemas.openxmlformats.org/drawingml/2006/main">
            <a:off x="571500" y="52863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2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Volva</a:t>
            </a:r>
          </a:p>
        </p:txBody>
      </p:sp>
      <p:sp>
        <p:nvSpPr>
          <p:cNvPr id="16" name="">
            <a:extLst xmlns:a="http://schemas.openxmlformats.org/drawingml/2006/main">
              <a:ext uri="{FF2B5EF4-FFF2-40B4-BE49-F238E27FC236}">
                <a16:creationId xmlns:a16="http://schemas.microsoft.com/office/drawing/2014/main" id="{54477EB4-C427-47E3-A80E-C9178162E957}"/>
              </a:ext>
            </a:extLst>
          </p:cNvPr>
          <p:cNvSpPr>
            <a:spLocks xmlns:a="http://schemas.openxmlformats.org/drawingml/2006/main" noGrp="1"/>
          </p:cNvSpPr>
          <p:nvPr/>
        </p:nvSpPr>
        <p:spPr>
          <a:xfrm xmlns:a="http://schemas.openxmlformats.org/drawingml/2006/main">
            <a:off x="2286000" y="4876800"/>
            <a:ext cx="3619500" cy="619125"/>
          </a:xfrm>
          <a:custGeom xmlns:a="http://schemas.openxmlformats.org/drawingml/2006/main">
            <a:pathLst>
              <a:path w="3619500" h="619125">
                <a:moveTo>
                  <a:pt x="0" y="619125"/>
                </a:moveTo>
                <a:lnTo>
                  <a:pt x="3619500" y="0"/>
                </a:lnTo>
              </a:path>
            </a:pathLst>
          </a:custGeom>
          <a:noFill xmlns:a="http://schemas.openxmlformats.org/drawingml/2006/main"/>
          <a:ln xmlns:a="http://schemas.openxmlformats.org/drawingml/2006/main" w="12383">
            <a:solidFill>
              <a:srgbClr val="647A84"/>
            </a:solidFill>
            <a:prstDash val="solid"/>
          </a:ln>
        </p:spPr>
      </p:sp>
      <p:sp>
        <p:nvSpPr>
          <p:cNvPr id="17" name="">
            <a:extLst xmlns:a="http://schemas.openxmlformats.org/drawingml/2006/main">
              <a:ext uri="{FF2B5EF4-FFF2-40B4-BE49-F238E27FC236}">
                <a16:creationId xmlns:a16="http://schemas.microsoft.com/office/drawing/2014/main" id="{38FFB6FB-DBE1-4EE7-87F9-9E9E327F7FD7}"/>
              </a:ext>
            </a:extLst>
          </p:cNvPr>
          <p:cNvSpPr>
            <a:spLocks xmlns:a="http://schemas.openxmlformats.org/drawingml/2006/main" noGrp="1"/>
          </p:cNvSpPr>
          <p:nvPr/>
        </p:nvSpPr>
        <p:spPr>
          <a:xfrm xmlns:a="http://schemas.openxmlformats.org/drawingml/2006/main">
            <a:off x="9906000" y="5429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2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Micelio</a:t>
            </a:r>
          </a:p>
        </p:txBody>
      </p:sp>
      <p:sp>
        <p:nvSpPr>
          <p:cNvPr id="18" name="">
            <a:extLst xmlns:a="http://schemas.openxmlformats.org/drawingml/2006/main">
              <a:ext uri="{FF2B5EF4-FFF2-40B4-BE49-F238E27FC236}">
                <a16:creationId xmlns:a16="http://schemas.microsoft.com/office/drawing/2014/main" id="{C7605D7A-B580-4417-BF92-F9A09E006521}"/>
              </a:ext>
            </a:extLst>
          </p:cNvPr>
          <p:cNvSpPr>
            <a:spLocks xmlns:a="http://schemas.openxmlformats.org/drawingml/2006/main" noGrp="1"/>
          </p:cNvSpPr>
          <p:nvPr/>
        </p:nvSpPr>
        <p:spPr>
          <a:xfrm xmlns:a="http://schemas.openxmlformats.org/drawingml/2006/main">
            <a:off x="7810500" y="5610225"/>
            <a:ext cx="2095500" cy="28575"/>
          </a:xfrm>
          <a:custGeom xmlns:a="http://schemas.openxmlformats.org/drawingml/2006/main">
            <a:pathLst>
              <a:path w="2095500" h="28575">
                <a:moveTo>
                  <a:pt x="2095500" y="28575"/>
                </a:moveTo>
                <a:lnTo>
                  <a:pt x="0" y="0"/>
                </a:lnTo>
              </a:path>
            </a:pathLst>
          </a:custGeom>
          <a:noFill xmlns:a="http://schemas.openxmlformats.org/drawingml/2006/main"/>
          <a:ln xmlns:a="http://schemas.openxmlformats.org/drawingml/2006/main" w="12383">
            <a:solidFill>
              <a:srgbClr val="647A84"/>
            </a:solidFill>
            <a:prstDash val="solid"/>
          </a:ln>
        </p:spPr>
      </p:sp>
    </p:spTree>
    <p:extLst>
      <p:ext uri="{BB962C8B-B14F-4D97-AF65-F5344CB8AC3E}">
        <p14:creationId xmlns:p14="http://schemas.microsoft.com/office/powerpoint/2010/main" val="19727457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80BDEC-9948-4282-9217-3EFD5F6B56D0}"/>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Superficies que producen esporas</a:t>
            </a:r>
          </a:p>
        </p:txBody>
      </p:sp>
      <p:sp>
        <p:nvSpPr>
          <p:cNvPr id="2" name="">
            <a:extLst xmlns:a="http://schemas.openxmlformats.org/drawingml/2006/main">
              <a:ext uri="{FF2B5EF4-FFF2-40B4-BE49-F238E27FC236}">
                <a16:creationId xmlns:a16="http://schemas.microsoft.com/office/drawing/2014/main" id="{56E32346-A5C6-4F7C-A5EA-8D9D8FF780D1}"/>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El himenio puede disponerse sobre distintas estructuras.</a:t>
            </a:r>
          </a:p>
        </p:txBody>
      </p:sp>
      <p:sp>
        <p:nvSpPr>
          <p:cNvPr id="3" name="">
            <a:extLst xmlns:a="http://schemas.openxmlformats.org/drawingml/2006/main">
              <a:ext uri="{FF2B5EF4-FFF2-40B4-BE49-F238E27FC236}">
                <a16:creationId xmlns:a16="http://schemas.microsoft.com/office/drawing/2014/main" id="{2A6D2EFE-44CF-44BD-B5E2-38186267C66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79527061-2677-4D86-A11D-9A8F4EDB1027}"/>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[1] [5] [10]. Ilustraciones conceptuales.</a:t>
            </a:r>
          </a:p>
        </p:txBody>
      </p:sp>
      <p:sp>
        <p:nvSpPr>
          <p:cNvPr id="5" name="">
            <a:extLst xmlns:a="http://schemas.openxmlformats.org/drawingml/2006/main">
              <a:ext uri="{FF2B5EF4-FFF2-40B4-BE49-F238E27FC236}">
                <a16:creationId xmlns:a16="http://schemas.microsoft.com/office/drawing/2014/main" id="{327AC0C9-C345-43C1-BDF1-A62EDDA74E3E}"/>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09 / 39</a:t>
            </a:r>
          </a:p>
        </p:txBody>
      </p:sp>
      <p:pic>
        <p:nvPicPr>
          <p:cNvPr id="6" name="">
            <a:extLst xmlns:a="http://schemas.openxmlformats.org/drawingml/2006/main">
              <a:ext uri="{FF2B5EF4-FFF2-40B4-BE49-F238E27FC236}">
                <a16:creationId xmlns:a16="http://schemas.microsoft.com/office/drawing/2014/main" id="{22C60CF8-B344-41A4-A913-0F6230AA927F}"/>
              </a:ext>
            </a:extLst>
          </p:cNvPr>
          <p:cNvPicPr>
            <a:picLocks xmlns:a="http://schemas.openxmlformats.org/drawingml/2006/main" noChangeAspect="1"/>
          </p:cNvPicPr>
          <p:nvPr/>
        </p:nvPicPr>
        <p:blipFill>
          <a:blip xmlns:r="http://schemas.openxmlformats.org/officeDocument/2006/relationships" xmlns:a="http://schemas.openxmlformats.org/drawingml/2006/main" r:embed="Rb70df67b298e4eb0"/>
          <a:srcRect xmlns:a="http://schemas.openxmlformats.org/drawingml/2006/main" l="66667" t="0" r="0" b="53000"/>
          <a:stretch xmlns:a="http://schemas.openxmlformats.org/drawingml/2006/main"/>
        </p:blipFill>
        <p:spPr>
          <a:xfrm xmlns:a="http://schemas.openxmlformats.org/drawingml/2006/main">
            <a:off x="3866745" y="1695450"/>
            <a:ext cx="4458511"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732C916-F7A4-4B63-9950-94161F755E02}"/>
              </a:ext>
            </a:extLst>
          </p:cNvPr>
          <p:cNvSpPr>
            <a:spLocks xmlns:a="http://schemas.openxmlformats.org/drawingml/2006/main" noGrp="1"/>
          </p:cNvSpPr>
          <p:nvPr/>
        </p:nvSpPr>
        <p:spPr>
          <a:xfrm xmlns:a="http://schemas.openxmlformats.org/drawingml/2006/main">
            <a:off x="600075" y="23336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7955A3"/>
                </a:solidFill>
                <a:latin typeface="DejaVu Sans"/>
                <a:ea typeface="DejaVu Sans"/>
                <a:cs typeface="DejaVu Sans"/>
              </a:defRPr>
            </a:defPPr>
          </a:lstStyle>
          <a:p xmlns:a="http://schemas.openxmlformats.org/drawingml/2006/main">
            <a:pPr algn="l">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Láminas</a:t>
            </a:r>
          </a:p>
        </p:txBody>
      </p:sp>
      <p:sp>
        <p:nvSpPr>
          <p:cNvPr id="8" name="">
            <a:extLst xmlns:a="http://schemas.openxmlformats.org/drawingml/2006/main">
              <a:ext uri="{FF2B5EF4-FFF2-40B4-BE49-F238E27FC236}">
                <a16:creationId xmlns:a16="http://schemas.microsoft.com/office/drawing/2014/main" id="{EF9B1729-2274-43D8-847F-A73EDEC4712A}"/>
              </a:ext>
            </a:extLst>
          </p:cNvPr>
          <p:cNvSpPr>
            <a:spLocks xmlns:a="http://schemas.openxmlformats.org/drawingml/2006/main" noGrp="1"/>
          </p:cNvSpPr>
          <p:nvPr/>
        </p:nvSpPr>
        <p:spPr>
          <a:xfrm xmlns:a="http://schemas.openxmlformats.org/drawingml/2006/main">
            <a:off x="9906000" y="23336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B98B3B"/>
                </a:solidFill>
                <a:latin typeface="DejaVu Sans"/>
                <a:ea typeface="DejaVu Sans"/>
                <a:cs typeface="DejaVu Sans"/>
              </a:defRPr>
            </a:defPPr>
          </a:lstStyle>
          <a:p xmlns:a="http://schemas.openxmlformats.org/drawingml/2006/main">
            <a:pPr algn="l">
              <a:lnSpc>
                <a:spcPct val="112000"/>
              </a:lnSpc>
              <a:buNone/>
              <a:defRPr sz="2025" b="1" i="0">
                <a:solidFill>
                  <a:srgbClr val="B98B3B"/>
                </a:solidFill>
                <a:latin typeface="DejaVu Sans"/>
                <a:ea typeface="DejaVu Sans"/>
                <a:cs typeface="DejaVu Sans"/>
              </a:defRPr>
            </a:pPr>
            <a:r>
              <a:rPr sz="2025" b="1" i="0">
                <a:solidFill>
                  <a:srgbClr val="B98B3B"/>
                </a:solidFill>
                <a:latin typeface="DejaVu Sans"/>
                <a:ea typeface="DejaVu Sans"/>
                <a:cs typeface="DejaVu Sans"/>
              </a:rPr>
              <a:t>Poros</a:t>
            </a:r>
          </a:p>
        </p:txBody>
      </p:sp>
      <p:sp>
        <p:nvSpPr>
          <p:cNvPr id="9" name="">
            <a:extLst xmlns:a="http://schemas.openxmlformats.org/drawingml/2006/main">
              <a:ext uri="{FF2B5EF4-FFF2-40B4-BE49-F238E27FC236}">
                <a16:creationId xmlns:a16="http://schemas.microsoft.com/office/drawing/2014/main" id="{B91CE765-4AD1-4D92-9DD1-C4E7412067C2}"/>
              </a:ext>
            </a:extLst>
          </p:cNvPr>
          <p:cNvSpPr>
            <a:spLocks xmlns:a="http://schemas.openxmlformats.org/drawingml/2006/main" noGrp="1"/>
          </p:cNvSpPr>
          <p:nvPr/>
        </p:nvSpPr>
        <p:spPr>
          <a:xfrm xmlns:a="http://schemas.openxmlformats.org/drawingml/2006/main">
            <a:off x="600075" y="44767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B98B3B"/>
                </a:solidFill>
                <a:latin typeface="DejaVu Sans"/>
                <a:ea typeface="DejaVu Sans"/>
                <a:cs typeface="DejaVu Sans"/>
              </a:defRPr>
            </a:defPPr>
          </a:lstStyle>
          <a:p xmlns:a="http://schemas.openxmlformats.org/drawingml/2006/main">
            <a:pPr algn="l">
              <a:lnSpc>
                <a:spcPct val="112000"/>
              </a:lnSpc>
              <a:buNone/>
              <a:defRPr sz="2025" b="1" i="0">
                <a:solidFill>
                  <a:srgbClr val="B98B3B"/>
                </a:solidFill>
                <a:latin typeface="DejaVu Sans"/>
                <a:ea typeface="DejaVu Sans"/>
                <a:cs typeface="DejaVu Sans"/>
              </a:defRPr>
            </a:pPr>
            <a:r>
              <a:rPr sz="2025" b="1" i="0">
                <a:solidFill>
                  <a:srgbClr val="B98B3B"/>
                </a:solidFill>
                <a:latin typeface="DejaVu Sans"/>
                <a:ea typeface="DejaVu Sans"/>
                <a:cs typeface="DejaVu Sans"/>
              </a:rPr>
              <a:t>Dientes</a:t>
            </a:r>
          </a:p>
        </p:txBody>
      </p:sp>
      <p:sp>
        <p:nvSpPr>
          <p:cNvPr id="10" name="">
            <a:extLst xmlns:a="http://schemas.openxmlformats.org/drawingml/2006/main">
              <a:ext uri="{FF2B5EF4-FFF2-40B4-BE49-F238E27FC236}">
                <a16:creationId xmlns:a16="http://schemas.microsoft.com/office/drawing/2014/main" id="{D6907849-AFE1-4A2F-A05E-487068D61DF9}"/>
              </a:ext>
            </a:extLst>
          </p:cNvPr>
          <p:cNvSpPr>
            <a:spLocks xmlns:a="http://schemas.openxmlformats.org/drawingml/2006/main" noGrp="1"/>
          </p:cNvSpPr>
          <p:nvPr/>
        </p:nvSpPr>
        <p:spPr>
          <a:xfrm xmlns:a="http://schemas.openxmlformats.org/drawingml/2006/main">
            <a:off x="9906000" y="4362450"/>
            <a:ext cx="1714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7955A3"/>
                </a:solidFill>
                <a:latin typeface="DejaVu Sans"/>
                <a:ea typeface="DejaVu Sans"/>
                <a:cs typeface="DejaVu Sans"/>
              </a:defRPr>
            </a:defPPr>
          </a:lstStyle>
          <a:p xmlns:a="http://schemas.openxmlformats.org/drawingml/2006/main">
            <a:pPr algn="l">
              <a:lnSpc>
                <a:spcPct val="112000"/>
              </a:lnSpc>
              <a:buNone/>
              <a:defRPr sz="1875" b="1" i="0">
                <a:solidFill>
                  <a:srgbClr val="7955A3"/>
                </a:solidFill>
                <a:latin typeface="DejaVu Sans"/>
                <a:ea typeface="DejaVu Sans"/>
                <a:cs typeface="DejaVu Sans"/>
              </a:defRPr>
            </a:pPr>
            <a:r>
              <a:rPr sz="1875" b="1" i="0">
                <a:solidFill>
                  <a:srgbClr val="7955A3"/>
                </a:solidFill>
                <a:latin typeface="DejaVu Sans"/>
                <a:ea typeface="DejaVu Sans"/>
                <a:cs typeface="DejaVu Sans"/>
              </a:rPr>
              <a:t>Cuerpo</a:t>
            </a:r>
          </a:p>
          <a:p xmlns:a="http://schemas.openxmlformats.org/drawingml/2006/main">
            <a:pPr algn="l">
              <a:lnSpc>
                <a:spcPct val="112000"/>
              </a:lnSpc>
              <a:buNone/>
              <a:defRPr sz="1875" b="1" i="0">
                <a:solidFill>
                  <a:srgbClr val="7955A3"/>
                </a:solidFill>
                <a:latin typeface="DejaVu Sans"/>
                <a:ea typeface="DejaVu Sans"/>
                <a:cs typeface="DejaVu Sans"/>
              </a:defRPr>
            </a:pPr>
            <a:r>
              <a:rPr sz="1875" b="1" i="0">
                <a:solidFill>
                  <a:srgbClr val="7955A3"/>
                </a:solidFill>
                <a:latin typeface="DejaVu Sans"/>
                <a:ea typeface="DejaVu Sans"/>
                <a:cs typeface="DejaVu Sans"/>
              </a:rPr>
              <a:t>resupinado</a:t>
            </a:r>
          </a:p>
        </p:txBody>
      </p:sp>
      <p:sp>
        <p:nvSpPr>
          <p:cNvPr id="11" name="">
            <a:extLst xmlns:a="http://schemas.openxmlformats.org/drawingml/2006/main">
              <a:ext uri="{FF2B5EF4-FFF2-40B4-BE49-F238E27FC236}">
                <a16:creationId xmlns:a16="http://schemas.microsoft.com/office/drawing/2014/main" id="{2BC61E83-B7EF-407D-8312-B1D6349AEC5C}"/>
              </a:ext>
            </a:extLst>
          </p:cNvPr>
          <p:cNvSpPr>
            <a:spLocks xmlns:a="http://schemas.openxmlformats.org/drawingml/2006/main" noGrp="1"/>
          </p:cNvSpPr>
          <p:nvPr/>
        </p:nvSpPr>
        <p:spPr>
          <a:xfrm xmlns:a="http://schemas.openxmlformats.org/drawingml/2006/main">
            <a:off x="571500" y="60579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superficie fértil aporta caracteres para la identificación</a:t>
            </a:r>
          </a:p>
        </p:txBody>
      </p:sp>
    </p:spTree>
    <p:extLst>
      <p:ext uri="{BB962C8B-B14F-4D97-AF65-F5344CB8AC3E}">
        <p14:creationId xmlns:p14="http://schemas.microsoft.com/office/powerpoint/2010/main" val="2708740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F67A637-CF70-4164-B61C-5B87C25D1851}"/>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Estructuras de los hongos microscópicos</a:t>
            </a:r>
          </a:p>
        </p:txBody>
      </p:sp>
      <p:sp>
        <p:nvSpPr>
          <p:cNvPr id="2" name="">
            <a:extLst xmlns:a="http://schemas.openxmlformats.org/drawingml/2006/main">
              <a:ext uri="{FF2B5EF4-FFF2-40B4-BE49-F238E27FC236}">
                <a16:creationId xmlns:a16="http://schemas.microsoft.com/office/drawing/2014/main" id="{280A44D4-7375-42B6-BBF5-E010F9CD4B3E}"/>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Ejemplos de caracteres que orientan la identificación.</a:t>
            </a:r>
          </a:p>
        </p:txBody>
      </p:sp>
      <p:sp>
        <p:nvSpPr>
          <p:cNvPr id="3" name="">
            <a:extLst xmlns:a="http://schemas.openxmlformats.org/drawingml/2006/main">
              <a:ext uri="{FF2B5EF4-FFF2-40B4-BE49-F238E27FC236}">
                <a16:creationId xmlns:a16="http://schemas.microsoft.com/office/drawing/2014/main" id="{AF995796-01FF-491C-A591-A0D408F668A1}"/>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D5DBAA64-8F24-44D6-B32A-22DD464AC662}"/>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[1] [4] [6]. Ilustraciones conceptuales.</a:t>
            </a:r>
          </a:p>
        </p:txBody>
      </p:sp>
      <p:sp>
        <p:nvSpPr>
          <p:cNvPr id="5" name="">
            <a:extLst xmlns:a="http://schemas.openxmlformats.org/drawingml/2006/main">
              <a:ext uri="{FF2B5EF4-FFF2-40B4-BE49-F238E27FC236}">
                <a16:creationId xmlns:a16="http://schemas.microsoft.com/office/drawing/2014/main" id="{290140D8-D2E2-4C30-8BE1-21612FBC7D4C}"/>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10 / 39</a:t>
            </a:r>
          </a:p>
        </p:txBody>
      </p:sp>
      <p:pic>
        <p:nvPicPr>
          <p:cNvPr id="6" name="">
            <a:extLst xmlns:a="http://schemas.openxmlformats.org/drawingml/2006/main">
              <a:ext uri="{FF2B5EF4-FFF2-40B4-BE49-F238E27FC236}">
                <a16:creationId xmlns:a16="http://schemas.microsoft.com/office/drawing/2014/main" id="{D4EF374F-95B1-4E1D-9619-4B32354B8CF0}"/>
              </a:ext>
            </a:extLst>
          </p:cNvPr>
          <p:cNvPicPr>
            <a:picLocks xmlns:a="http://schemas.openxmlformats.org/drawingml/2006/main" noChangeAspect="1"/>
          </p:cNvPicPr>
          <p:nvPr/>
        </p:nvPicPr>
        <p:blipFill>
          <a:blip xmlns:r="http://schemas.openxmlformats.org/officeDocument/2006/relationships" xmlns:a="http://schemas.openxmlformats.org/drawingml/2006/main" r:embed="Ra08452b9e0b94f0d"/>
          <a:srcRect xmlns:a="http://schemas.openxmlformats.org/drawingml/2006/main" l="0" t="0" r="61000" b="0"/>
          <a:stretch xmlns:a="http://schemas.openxmlformats.org/drawingml/2006/main"/>
        </p:blipFill>
        <p:spPr>
          <a:xfrm xmlns:a="http://schemas.openxmlformats.org/drawingml/2006/main">
            <a:off x="998904" y="1714500"/>
            <a:ext cx="2574191" cy="3714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911461A-B2EE-439E-B8A7-E7F9C9698FDF}"/>
              </a:ext>
            </a:extLst>
          </p:cNvPr>
          <p:cNvPicPr>
            <a:picLocks xmlns:a="http://schemas.openxmlformats.org/drawingml/2006/main" noChangeAspect="1"/>
          </p:cNvPicPr>
          <p:nvPr/>
        </p:nvPicPr>
        <p:blipFill>
          <a:blip xmlns:r="http://schemas.openxmlformats.org/officeDocument/2006/relationships" xmlns:a="http://schemas.openxmlformats.org/drawingml/2006/main" r:embed="Ra3704f3f978445d7"/>
          <a:srcRect xmlns:a="http://schemas.openxmlformats.org/drawingml/2006/main" l="37000" t="0" r="34500" b="0"/>
          <a:stretch xmlns:a="http://schemas.openxmlformats.org/drawingml/2006/main"/>
        </p:blipFill>
        <p:spPr>
          <a:xfrm xmlns:a="http://schemas.openxmlformats.org/drawingml/2006/main">
            <a:off x="5155430" y="1714500"/>
            <a:ext cx="1881140" cy="3714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D332837-A5EB-44A2-A646-7F6F5ED71F86}"/>
              </a:ext>
            </a:extLst>
          </p:cNvPr>
          <p:cNvPicPr>
            <a:picLocks xmlns:a="http://schemas.openxmlformats.org/drawingml/2006/main" noChangeAspect="1"/>
          </p:cNvPicPr>
          <p:nvPr/>
        </p:nvPicPr>
        <p:blipFill>
          <a:blip xmlns:r="http://schemas.openxmlformats.org/officeDocument/2006/relationships" xmlns:a="http://schemas.openxmlformats.org/drawingml/2006/main" r:embed="R40d932ac90914f4e"/>
          <a:srcRect xmlns:a="http://schemas.openxmlformats.org/drawingml/2006/main" l="66000" t="0" r="0" b="0"/>
          <a:stretch xmlns:a="http://schemas.openxmlformats.org/drawingml/2006/main"/>
        </p:blipFill>
        <p:spPr>
          <a:xfrm xmlns:a="http://schemas.openxmlformats.org/drawingml/2006/main">
            <a:off x="8783917" y="1714500"/>
            <a:ext cx="2244167" cy="37147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AB709A8-EAB5-49A1-B3B8-347019C17D9F}"/>
              </a:ext>
            </a:extLst>
          </p:cNvPr>
          <p:cNvSpPr>
            <a:spLocks xmlns:a="http://schemas.openxmlformats.org/drawingml/2006/main" noGrp="1"/>
          </p:cNvSpPr>
          <p:nvPr/>
        </p:nvSpPr>
        <p:spPr>
          <a:xfrm xmlns:a="http://schemas.openxmlformats.org/drawingml/2006/main">
            <a:off x="666750" y="55245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i="1">
                <a:solidFill>
                  <a:srgbClr val="7955A3"/>
                </a:solidFill>
                <a:latin typeface="DejaVu Sans"/>
                <a:ea typeface="DejaVu Sans"/>
                <a:cs typeface="DejaVu Sans"/>
              </a:defRPr>
            </a:defPPr>
          </a:lstStyle>
          <a:p xmlns:a="http://schemas.openxmlformats.org/drawingml/2006/main">
            <a:pPr algn="ctr">
              <a:lnSpc>
                <a:spcPct val="112000"/>
              </a:lnSpc>
              <a:buNone/>
              <a:defRPr sz="2175" b="1" i="1">
                <a:solidFill>
                  <a:srgbClr val="7955A3"/>
                </a:solidFill>
                <a:latin typeface="DejaVu Sans"/>
                <a:ea typeface="DejaVu Sans"/>
                <a:cs typeface="DejaVu Sans"/>
              </a:defRPr>
            </a:pPr>
            <a:r>
              <a:rPr sz="2175" b="1" i="1">
                <a:solidFill>
                  <a:srgbClr val="7955A3"/>
                </a:solidFill>
                <a:latin typeface="DejaVu Sans"/>
                <a:ea typeface="DejaVu Sans"/>
                <a:cs typeface="DejaVu Sans"/>
              </a:rPr>
              <a:t>Aspergillus</a:t>
            </a:r>
          </a:p>
        </p:txBody>
      </p:sp>
      <p:sp>
        <p:nvSpPr>
          <p:cNvPr id="10" name="">
            <a:extLst xmlns:a="http://schemas.openxmlformats.org/drawingml/2006/main">
              <a:ext uri="{FF2B5EF4-FFF2-40B4-BE49-F238E27FC236}">
                <a16:creationId xmlns:a16="http://schemas.microsoft.com/office/drawing/2014/main" id="{199D8629-DA09-47D4-BFFC-0098819A94C9}"/>
              </a:ext>
            </a:extLst>
          </p:cNvPr>
          <p:cNvSpPr>
            <a:spLocks xmlns:a="http://schemas.openxmlformats.org/drawingml/2006/main" noGrp="1"/>
          </p:cNvSpPr>
          <p:nvPr/>
        </p:nvSpPr>
        <p:spPr>
          <a:xfrm xmlns:a="http://schemas.openxmlformats.org/drawingml/2006/main">
            <a:off x="666750" y="59436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0" i="0">
                <a:solidFill>
                  <a:srgbClr val="203E49"/>
                </a:solidFill>
                <a:latin typeface="DejaVu Sans"/>
                <a:ea typeface="DejaVu Sans"/>
                <a:cs typeface="DejaVu Sans"/>
              </a:defRPr>
            </a:defPPr>
          </a:lstStyle>
          <a:p xmlns:a="http://schemas.openxmlformats.org/drawingml/2006/main">
            <a:pPr algn="ctr">
              <a:lnSpc>
                <a:spcPct val="112000"/>
              </a:lnSpc>
              <a:buNone/>
              <a:defRPr sz="1725" b="0" i="0">
                <a:solidFill>
                  <a:srgbClr val="203E49"/>
                </a:solidFill>
                <a:latin typeface="DejaVu Sans"/>
                <a:ea typeface="DejaVu Sans"/>
                <a:cs typeface="DejaVu Sans"/>
              </a:defRPr>
            </a:pPr>
            <a:r>
              <a:rPr sz="1725" b="0" i="0">
                <a:solidFill>
                  <a:srgbClr val="203E49"/>
                </a:solidFill>
                <a:latin typeface="DejaVu Sans"/>
                <a:ea typeface="DejaVu Sans"/>
                <a:cs typeface="DejaVu Sans"/>
              </a:rPr>
              <a:t>Vesícula y conidios</a:t>
            </a:r>
          </a:p>
        </p:txBody>
      </p:sp>
      <p:sp>
        <p:nvSpPr>
          <p:cNvPr id="11" name="">
            <a:extLst xmlns:a="http://schemas.openxmlformats.org/drawingml/2006/main">
              <a:ext uri="{FF2B5EF4-FFF2-40B4-BE49-F238E27FC236}">
                <a16:creationId xmlns:a16="http://schemas.microsoft.com/office/drawing/2014/main" id="{FA7785AE-34C9-4D26-BC30-CEFACC21D744}"/>
              </a:ext>
            </a:extLst>
          </p:cNvPr>
          <p:cNvSpPr>
            <a:spLocks xmlns:a="http://schemas.openxmlformats.org/drawingml/2006/main" noGrp="1"/>
          </p:cNvSpPr>
          <p:nvPr/>
        </p:nvSpPr>
        <p:spPr>
          <a:xfrm xmlns:a="http://schemas.openxmlformats.org/drawingml/2006/main">
            <a:off x="4476750" y="55245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i="1">
                <a:solidFill>
                  <a:srgbClr val="7955A3"/>
                </a:solidFill>
                <a:latin typeface="DejaVu Sans"/>
                <a:ea typeface="DejaVu Sans"/>
                <a:cs typeface="DejaVu Sans"/>
              </a:defRPr>
            </a:defPPr>
          </a:lstStyle>
          <a:p xmlns:a="http://schemas.openxmlformats.org/drawingml/2006/main">
            <a:pPr algn="ctr">
              <a:lnSpc>
                <a:spcPct val="112000"/>
              </a:lnSpc>
              <a:buNone/>
              <a:defRPr sz="2175" b="1" i="1">
                <a:solidFill>
                  <a:srgbClr val="7955A3"/>
                </a:solidFill>
                <a:latin typeface="DejaVu Sans"/>
                <a:ea typeface="DejaVu Sans"/>
                <a:cs typeface="DejaVu Sans"/>
              </a:defRPr>
            </a:pPr>
            <a:r>
              <a:rPr sz="2175" b="1" i="1">
                <a:solidFill>
                  <a:srgbClr val="7955A3"/>
                </a:solidFill>
                <a:latin typeface="DejaVu Sans"/>
                <a:ea typeface="DejaVu Sans"/>
                <a:cs typeface="DejaVu Sans"/>
              </a:rPr>
              <a:t>Penicillium</a:t>
            </a:r>
          </a:p>
        </p:txBody>
      </p:sp>
      <p:sp>
        <p:nvSpPr>
          <p:cNvPr id="12" name="">
            <a:extLst xmlns:a="http://schemas.openxmlformats.org/drawingml/2006/main">
              <a:ext uri="{FF2B5EF4-FFF2-40B4-BE49-F238E27FC236}">
                <a16:creationId xmlns:a16="http://schemas.microsoft.com/office/drawing/2014/main" id="{B93BF889-C01C-4F54-9363-A7475FD545E1}"/>
              </a:ext>
            </a:extLst>
          </p:cNvPr>
          <p:cNvSpPr>
            <a:spLocks xmlns:a="http://schemas.openxmlformats.org/drawingml/2006/main" noGrp="1"/>
          </p:cNvSpPr>
          <p:nvPr/>
        </p:nvSpPr>
        <p:spPr>
          <a:xfrm xmlns:a="http://schemas.openxmlformats.org/drawingml/2006/main">
            <a:off x="4476750" y="59436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0" i="0">
                <a:solidFill>
                  <a:srgbClr val="203E49"/>
                </a:solidFill>
                <a:latin typeface="DejaVu Sans"/>
                <a:ea typeface="DejaVu Sans"/>
                <a:cs typeface="DejaVu Sans"/>
              </a:defRPr>
            </a:defPPr>
          </a:lstStyle>
          <a:p xmlns:a="http://schemas.openxmlformats.org/drawingml/2006/main">
            <a:pPr algn="ctr">
              <a:lnSpc>
                <a:spcPct val="112000"/>
              </a:lnSpc>
              <a:buNone/>
              <a:defRPr sz="1725" b="0" i="0">
                <a:solidFill>
                  <a:srgbClr val="203E49"/>
                </a:solidFill>
                <a:latin typeface="DejaVu Sans"/>
                <a:ea typeface="DejaVu Sans"/>
                <a:cs typeface="DejaVu Sans"/>
              </a:defRPr>
            </a:pPr>
            <a:r>
              <a:rPr sz="1725" b="0" i="0">
                <a:solidFill>
                  <a:srgbClr val="203E49"/>
                </a:solidFill>
                <a:latin typeface="DejaVu Sans"/>
                <a:ea typeface="DejaVu Sans"/>
                <a:cs typeface="DejaVu Sans"/>
              </a:rPr>
              <a:t>Fiálides en pincel</a:t>
            </a:r>
          </a:p>
        </p:txBody>
      </p:sp>
      <p:sp>
        <p:nvSpPr>
          <p:cNvPr id="13" name="">
            <a:extLst xmlns:a="http://schemas.openxmlformats.org/drawingml/2006/main">
              <a:ext uri="{FF2B5EF4-FFF2-40B4-BE49-F238E27FC236}">
                <a16:creationId xmlns:a16="http://schemas.microsoft.com/office/drawing/2014/main" id="{22155567-8CB0-40AE-A988-6ECCFAEAF94E}"/>
              </a:ext>
            </a:extLst>
          </p:cNvPr>
          <p:cNvSpPr>
            <a:spLocks xmlns:a="http://schemas.openxmlformats.org/drawingml/2006/main" noGrp="1"/>
          </p:cNvSpPr>
          <p:nvPr/>
        </p:nvSpPr>
        <p:spPr>
          <a:xfrm xmlns:a="http://schemas.openxmlformats.org/drawingml/2006/main">
            <a:off x="8286750" y="55245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i="1">
                <a:solidFill>
                  <a:srgbClr val="7955A3"/>
                </a:solidFill>
                <a:latin typeface="DejaVu Sans"/>
                <a:ea typeface="DejaVu Sans"/>
                <a:cs typeface="DejaVu Sans"/>
              </a:defRPr>
            </a:defPPr>
          </a:lstStyle>
          <a:p xmlns:a="http://schemas.openxmlformats.org/drawingml/2006/main">
            <a:pPr algn="ctr">
              <a:lnSpc>
                <a:spcPct val="112000"/>
              </a:lnSpc>
              <a:buNone/>
              <a:defRPr sz="2175" b="1" i="1">
                <a:solidFill>
                  <a:srgbClr val="7955A3"/>
                </a:solidFill>
                <a:latin typeface="DejaVu Sans"/>
                <a:ea typeface="DejaVu Sans"/>
                <a:cs typeface="DejaVu Sans"/>
              </a:defRPr>
            </a:pPr>
            <a:r>
              <a:rPr sz="2175" b="1" i="1">
                <a:solidFill>
                  <a:srgbClr val="7955A3"/>
                </a:solidFill>
                <a:latin typeface="DejaVu Sans"/>
                <a:ea typeface="DejaVu Sans"/>
                <a:cs typeface="DejaVu Sans"/>
              </a:rPr>
              <a:t>Rhizopus</a:t>
            </a:r>
          </a:p>
        </p:txBody>
      </p:sp>
      <p:sp>
        <p:nvSpPr>
          <p:cNvPr id="14" name="">
            <a:extLst xmlns:a="http://schemas.openxmlformats.org/drawingml/2006/main">
              <a:ext uri="{FF2B5EF4-FFF2-40B4-BE49-F238E27FC236}">
                <a16:creationId xmlns:a16="http://schemas.microsoft.com/office/drawing/2014/main" id="{73F37D77-8356-4120-BD61-13C1C3032C18}"/>
              </a:ext>
            </a:extLst>
          </p:cNvPr>
          <p:cNvSpPr>
            <a:spLocks xmlns:a="http://schemas.openxmlformats.org/drawingml/2006/main" noGrp="1"/>
          </p:cNvSpPr>
          <p:nvPr/>
        </p:nvSpPr>
        <p:spPr>
          <a:xfrm xmlns:a="http://schemas.openxmlformats.org/drawingml/2006/main">
            <a:off x="8286750" y="5943600"/>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0" i="0">
                <a:solidFill>
                  <a:srgbClr val="203E49"/>
                </a:solidFill>
                <a:latin typeface="DejaVu Sans"/>
                <a:ea typeface="DejaVu Sans"/>
                <a:cs typeface="DejaVu Sans"/>
              </a:defRPr>
            </a:defPPr>
          </a:lstStyle>
          <a:p xmlns:a="http://schemas.openxmlformats.org/drawingml/2006/main">
            <a:pPr algn="ctr">
              <a:lnSpc>
                <a:spcPct val="112000"/>
              </a:lnSpc>
              <a:buNone/>
              <a:defRPr sz="1725" b="0" i="0">
                <a:solidFill>
                  <a:srgbClr val="203E49"/>
                </a:solidFill>
                <a:latin typeface="DejaVu Sans"/>
                <a:ea typeface="DejaVu Sans"/>
                <a:cs typeface="DejaVu Sans"/>
              </a:defRPr>
            </a:pPr>
            <a:r>
              <a:rPr sz="1725" b="0" i="0">
                <a:solidFill>
                  <a:srgbClr val="203E49"/>
                </a:solidFill>
                <a:latin typeface="DejaVu Sans"/>
                <a:ea typeface="DejaVu Sans"/>
                <a:cs typeface="DejaVu Sans"/>
              </a:rPr>
              <a:t>Esporangio y rizoides</a:t>
            </a:r>
          </a:p>
        </p:txBody>
      </p:sp>
    </p:spTree>
    <p:extLst>
      <p:ext uri="{BB962C8B-B14F-4D97-AF65-F5344CB8AC3E}">
        <p14:creationId xmlns:p14="http://schemas.microsoft.com/office/powerpoint/2010/main" val="7620140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D5A1FE-1D95-429B-A285-B40C9EF87D2F}"/>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Ascos y basidios</a:t>
            </a:r>
          </a:p>
        </p:txBody>
      </p:sp>
      <p:sp>
        <p:nvSpPr>
          <p:cNvPr id="2" name="">
            <a:extLst xmlns:a="http://schemas.openxmlformats.org/drawingml/2006/main">
              <a:ext uri="{FF2B5EF4-FFF2-40B4-BE49-F238E27FC236}">
                <a16:creationId xmlns:a16="http://schemas.microsoft.com/office/drawing/2014/main" id="{A9C93F1D-6859-4A2A-8563-17E88CCE86FD}"/>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La posición de las esporas ayuda a interpretar la estructura.</a:t>
            </a:r>
          </a:p>
        </p:txBody>
      </p:sp>
      <p:sp>
        <p:nvSpPr>
          <p:cNvPr id="3" name="">
            <a:extLst xmlns:a="http://schemas.openxmlformats.org/drawingml/2006/main">
              <a:ext uri="{FF2B5EF4-FFF2-40B4-BE49-F238E27FC236}">
                <a16:creationId xmlns:a16="http://schemas.microsoft.com/office/drawing/2014/main" id="{4F658347-7507-489B-8B5E-506212CC330D}"/>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7F517ACC-99AE-4A3B-A7B6-E4FC954B4BED}"/>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[1] [4] [5]. Ilustraciones conceptuales.</a:t>
            </a:r>
          </a:p>
        </p:txBody>
      </p:sp>
      <p:sp>
        <p:nvSpPr>
          <p:cNvPr id="5" name="">
            <a:extLst xmlns:a="http://schemas.openxmlformats.org/drawingml/2006/main">
              <a:ext uri="{FF2B5EF4-FFF2-40B4-BE49-F238E27FC236}">
                <a16:creationId xmlns:a16="http://schemas.microsoft.com/office/drawing/2014/main" id="{6239CDE6-2E0E-40EE-9657-0D3929798DC8}"/>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11 / 39</a:t>
            </a:r>
          </a:p>
        </p:txBody>
      </p:sp>
      <p:pic>
        <p:nvPicPr>
          <p:cNvPr id="6" name="">
            <a:extLst xmlns:a="http://schemas.openxmlformats.org/drawingml/2006/main">
              <a:ext uri="{FF2B5EF4-FFF2-40B4-BE49-F238E27FC236}">
                <a16:creationId xmlns:a16="http://schemas.microsoft.com/office/drawing/2014/main" id="{6771BBBE-201E-497B-AEE0-F05B958E2620}"/>
              </a:ext>
            </a:extLst>
          </p:cNvPr>
          <p:cNvPicPr>
            <a:picLocks xmlns:a="http://schemas.openxmlformats.org/drawingml/2006/main" noChangeAspect="1"/>
          </p:cNvPicPr>
          <p:nvPr/>
        </p:nvPicPr>
        <p:blipFill>
          <a:blip xmlns:r="http://schemas.openxmlformats.org/officeDocument/2006/relationships" xmlns:a="http://schemas.openxmlformats.org/drawingml/2006/main" r:embed="Rfbfe708a085a4138"/>
          <a:srcRect xmlns:a="http://schemas.openxmlformats.org/drawingml/2006/main" l="20000" t="0" r="57000" b="0"/>
          <a:stretch xmlns:a="http://schemas.openxmlformats.org/drawingml/2006/main"/>
        </p:blipFill>
        <p:spPr>
          <a:xfrm xmlns:a="http://schemas.openxmlformats.org/drawingml/2006/main">
            <a:off x="2202393" y="1714500"/>
            <a:ext cx="1595965" cy="39052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0605F6E-1ECE-4CC0-A77A-E77CD19E2F2B}"/>
              </a:ext>
            </a:extLst>
          </p:cNvPr>
          <p:cNvPicPr>
            <a:picLocks xmlns:a="http://schemas.openxmlformats.org/drawingml/2006/main" noChangeAspect="1"/>
          </p:cNvPicPr>
          <p:nvPr/>
        </p:nvPicPr>
        <p:blipFill>
          <a:blip xmlns:r="http://schemas.openxmlformats.org/officeDocument/2006/relationships" xmlns:a="http://schemas.openxmlformats.org/drawingml/2006/main" r:embed="R1376251d2c9549e5"/>
          <a:srcRect xmlns:a="http://schemas.openxmlformats.org/drawingml/2006/main" l="53000" t="0" r="12000" b="0"/>
          <a:stretch xmlns:a="http://schemas.openxmlformats.org/drawingml/2006/main"/>
        </p:blipFill>
        <p:spPr>
          <a:xfrm xmlns:a="http://schemas.openxmlformats.org/drawingml/2006/main">
            <a:off x="7977304" y="1714500"/>
            <a:ext cx="2428642" cy="3905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867C32C-71B0-4DCB-BD72-5068B2AAD034}"/>
              </a:ext>
            </a:extLst>
          </p:cNvPr>
          <p:cNvSpPr>
            <a:spLocks xmlns:a="http://schemas.openxmlformats.org/drawingml/2006/main" noGrp="1"/>
          </p:cNvSpPr>
          <p:nvPr/>
        </p:nvSpPr>
        <p:spPr>
          <a:xfrm xmlns:a="http://schemas.openxmlformats.org/drawingml/2006/main">
            <a:off x="952500" y="5543550"/>
            <a:ext cx="4286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i="0">
                <a:solidFill>
                  <a:srgbClr val="168E91"/>
                </a:solidFill>
                <a:latin typeface="DejaVu Sans"/>
                <a:ea typeface="DejaVu Sans"/>
                <a:cs typeface="DejaVu Sans"/>
              </a:defRPr>
            </a:defPPr>
          </a:lstStyle>
          <a:p xmlns:a="http://schemas.openxmlformats.org/drawingml/2006/main">
            <a:pPr algn="ctr">
              <a:lnSpc>
                <a:spcPct val="112000"/>
              </a:lnSpc>
              <a:buNone/>
              <a:defRPr sz="2475" b="1" i="0">
                <a:solidFill>
                  <a:srgbClr val="168E91"/>
                </a:solidFill>
                <a:latin typeface="DejaVu Sans"/>
                <a:ea typeface="DejaVu Sans"/>
                <a:cs typeface="DejaVu Sans"/>
              </a:defRPr>
            </a:pPr>
            <a:r>
              <a:rPr sz="2475" b="1" i="0">
                <a:solidFill>
                  <a:srgbClr val="168E91"/>
                </a:solidFill>
                <a:latin typeface="DejaVu Sans"/>
                <a:ea typeface="DejaVu Sans"/>
                <a:cs typeface="DejaVu Sans"/>
              </a:rPr>
              <a:t>Asco</a:t>
            </a:r>
          </a:p>
        </p:txBody>
      </p:sp>
      <p:sp>
        <p:nvSpPr>
          <p:cNvPr id="9" name="">
            <a:extLst xmlns:a="http://schemas.openxmlformats.org/drawingml/2006/main">
              <a:ext uri="{FF2B5EF4-FFF2-40B4-BE49-F238E27FC236}">
                <a16:creationId xmlns:a16="http://schemas.microsoft.com/office/drawing/2014/main" id="{3FA314D9-79D8-4752-ACA6-9B7D883B8D40}"/>
              </a:ext>
            </a:extLst>
          </p:cNvPr>
          <p:cNvSpPr>
            <a:spLocks xmlns:a="http://schemas.openxmlformats.org/drawingml/2006/main" noGrp="1"/>
          </p:cNvSpPr>
          <p:nvPr/>
        </p:nvSpPr>
        <p:spPr>
          <a:xfrm xmlns:a="http://schemas.openxmlformats.org/drawingml/2006/main">
            <a:off x="6953250" y="5543550"/>
            <a:ext cx="4286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475" b="1" i="0">
                <a:solidFill>
                  <a:srgbClr val="7955A3"/>
                </a:solidFill>
                <a:latin typeface="DejaVu Sans"/>
                <a:ea typeface="DejaVu Sans"/>
                <a:cs typeface="DejaVu Sans"/>
              </a:defRPr>
            </a:defPPr>
          </a:lstStyle>
          <a:p xmlns:a="http://schemas.openxmlformats.org/drawingml/2006/main">
            <a:pPr algn="ctr">
              <a:lnSpc>
                <a:spcPct val="112000"/>
              </a:lnSpc>
              <a:buNone/>
              <a:defRPr sz="2475" b="1" i="0">
                <a:solidFill>
                  <a:srgbClr val="7955A3"/>
                </a:solidFill>
                <a:latin typeface="DejaVu Sans"/>
                <a:ea typeface="DejaVu Sans"/>
                <a:cs typeface="DejaVu Sans"/>
              </a:defRPr>
            </a:pPr>
            <a:r>
              <a:rPr sz="2475" b="1" i="0">
                <a:solidFill>
                  <a:srgbClr val="7955A3"/>
                </a:solidFill>
                <a:latin typeface="DejaVu Sans"/>
                <a:ea typeface="DejaVu Sans"/>
                <a:cs typeface="DejaVu Sans"/>
              </a:rPr>
              <a:t>Basidio</a:t>
            </a:r>
          </a:p>
        </p:txBody>
      </p:sp>
      <p:sp>
        <p:nvSpPr>
          <p:cNvPr id="10" name="">
            <a:extLst xmlns:a="http://schemas.openxmlformats.org/drawingml/2006/main">
              <a:ext uri="{FF2B5EF4-FFF2-40B4-BE49-F238E27FC236}">
                <a16:creationId xmlns:a16="http://schemas.microsoft.com/office/drawing/2014/main" id="{BEBE44AF-EBF7-4A35-81F8-9CCE45EC8735}"/>
              </a:ext>
            </a:extLst>
          </p:cNvPr>
          <p:cNvSpPr>
            <a:spLocks xmlns:a="http://schemas.openxmlformats.org/drawingml/2006/main" noGrp="1"/>
          </p:cNvSpPr>
          <p:nvPr/>
        </p:nvSpPr>
        <p:spPr>
          <a:xfrm xmlns:a="http://schemas.openxmlformats.org/drawingml/2006/main">
            <a:off x="952500" y="601027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0" i="0">
                <a:solidFill>
                  <a:srgbClr val="203E49"/>
                </a:solidFill>
                <a:latin typeface="DejaVu Sans"/>
                <a:ea typeface="DejaVu Sans"/>
                <a:cs typeface="DejaVu Sans"/>
              </a:defRPr>
            </a:defPPr>
          </a:lstStyle>
          <a:p xmlns:a="http://schemas.openxmlformats.org/drawingml/2006/main">
            <a:pPr algn="ctr">
              <a:lnSpc>
                <a:spcPct val="112000"/>
              </a:lnSpc>
              <a:buNone/>
              <a:defRPr sz="1875" b="0" i="0">
                <a:solidFill>
                  <a:srgbClr val="203E49"/>
                </a:solidFill>
                <a:latin typeface="DejaVu Sans"/>
                <a:ea typeface="DejaVu Sans"/>
                <a:cs typeface="DejaVu Sans"/>
              </a:defRPr>
            </a:pPr>
            <a:r>
              <a:rPr sz="1875" b="0" i="0">
                <a:solidFill>
                  <a:srgbClr val="203E49"/>
                </a:solidFill>
                <a:latin typeface="DejaVu Sans"/>
                <a:ea typeface="DejaVu Sans"/>
                <a:cs typeface="DejaVu Sans"/>
              </a:rPr>
              <a:t>Ascosporas dentro</a:t>
            </a:r>
          </a:p>
        </p:txBody>
      </p:sp>
      <p:sp>
        <p:nvSpPr>
          <p:cNvPr id="11" name="">
            <a:extLst xmlns:a="http://schemas.openxmlformats.org/drawingml/2006/main">
              <a:ext uri="{FF2B5EF4-FFF2-40B4-BE49-F238E27FC236}">
                <a16:creationId xmlns:a16="http://schemas.microsoft.com/office/drawing/2014/main" id="{AB199FAE-8CED-47AD-A7B8-AF3BDB1096CF}"/>
              </a:ext>
            </a:extLst>
          </p:cNvPr>
          <p:cNvSpPr>
            <a:spLocks xmlns:a="http://schemas.openxmlformats.org/drawingml/2006/main" noGrp="1"/>
          </p:cNvSpPr>
          <p:nvPr/>
        </p:nvSpPr>
        <p:spPr>
          <a:xfrm xmlns:a="http://schemas.openxmlformats.org/drawingml/2006/main">
            <a:off x="6953250" y="601027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0" i="0">
                <a:solidFill>
                  <a:srgbClr val="203E49"/>
                </a:solidFill>
                <a:latin typeface="DejaVu Sans"/>
                <a:ea typeface="DejaVu Sans"/>
                <a:cs typeface="DejaVu Sans"/>
              </a:defRPr>
            </a:defPPr>
          </a:lstStyle>
          <a:p xmlns:a="http://schemas.openxmlformats.org/drawingml/2006/main">
            <a:pPr algn="ctr">
              <a:lnSpc>
                <a:spcPct val="112000"/>
              </a:lnSpc>
              <a:buNone/>
              <a:defRPr sz="1875" b="0" i="0">
                <a:solidFill>
                  <a:srgbClr val="203E49"/>
                </a:solidFill>
                <a:latin typeface="DejaVu Sans"/>
                <a:ea typeface="DejaVu Sans"/>
                <a:cs typeface="DejaVu Sans"/>
              </a:defRPr>
            </a:pPr>
            <a:r>
              <a:rPr sz="1875" b="0" i="0">
                <a:solidFill>
                  <a:srgbClr val="203E49"/>
                </a:solidFill>
                <a:latin typeface="DejaVu Sans"/>
                <a:ea typeface="DejaVu Sans"/>
                <a:cs typeface="DejaVu Sans"/>
              </a:rPr>
              <a:t>Basidiosporas fuera</a:t>
            </a:r>
          </a:p>
        </p:txBody>
      </p:sp>
    </p:spTree>
    <p:extLst>
      <p:ext uri="{BB962C8B-B14F-4D97-AF65-F5344CB8AC3E}">
        <p14:creationId xmlns:p14="http://schemas.microsoft.com/office/powerpoint/2010/main" val="17034290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E4E89D-1361-4AB4-86A4-B2E9B49AA981}"/>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Clasificación del reino Fungi</a:t>
            </a:r>
          </a:p>
        </p:txBody>
      </p:sp>
      <p:sp>
        <p:nvSpPr>
          <p:cNvPr id="2" name="">
            <a:extLst xmlns:a="http://schemas.openxmlformats.org/drawingml/2006/main">
              <a:ext uri="{FF2B5EF4-FFF2-40B4-BE49-F238E27FC236}">
                <a16:creationId xmlns:a16="http://schemas.microsoft.com/office/drawing/2014/main" id="{216DD7FE-C9F9-42EF-ACC1-29D403CD0D4D}"/>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Eukaryota, Opisthokonta, Fungi. Selección de filos.</a:t>
            </a:r>
          </a:p>
        </p:txBody>
      </p:sp>
      <p:sp>
        <p:nvSpPr>
          <p:cNvPr id="3" name="">
            <a:extLst xmlns:a="http://schemas.openxmlformats.org/drawingml/2006/main">
              <a:ext uri="{FF2B5EF4-FFF2-40B4-BE49-F238E27FC236}">
                <a16:creationId xmlns:a16="http://schemas.microsoft.com/office/drawing/2014/main" id="{22EA8258-E2CA-4B7F-A6E9-9ADB2F13EB8B}"/>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AB8635A9-731B-4A6C-8289-C46EF7FDF68B}"/>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[5]. Ilustraciones conceptuales.</a:t>
            </a:r>
          </a:p>
        </p:txBody>
      </p:sp>
      <p:sp>
        <p:nvSpPr>
          <p:cNvPr id="5" name="">
            <a:extLst xmlns:a="http://schemas.openxmlformats.org/drawingml/2006/main">
              <a:ext uri="{FF2B5EF4-FFF2-40B4-BE49-F238E27FC236}">
                <a16:creationId xmlns:a16="http://schemas.microsoft.com/office/drawing/2014/main" id="{C24985D8-798A-4CF8-9F3E-B12C00A26803}"/>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12 / 39</a:t>
            </a:r>
          </a:p>
        </p:txBody>
      </p:sp>
      <p:graphicFrame>
        <p:nvGraphicFramePr>
          <p:cNvPr id="6" name="">
            <a:extLst xmlns:a="http://schemas.openxmlformats.org/drawingml/2006/main">
              <a:ext uri="{FF2B5EF4-FFF2-40B4-BE49-F238E27FC236}">
                <a16:creationId xmlns:a16="http://schemas.microsoft.com/office/drawing/2014/main" id="{7F73FBA2-3579-4DBB-9410-0FF801760312}"/>
              </a:ext>
            </a:extLst>
          </p:cNvPr>
          <p:cNvGraphicFramePr/>
          <p:nvPr/>
        </p:nvGraphicFramePr>
        <p:xfrm>
          <a:off xmlns:a="http://schemas.openxmlformats.org/drawingml/2006/main" x="552450" y="1952625"/>
          <a:ext xmlns:a="http://schemas.openxmlformats.org/drawingml/2006/main" cx="11087100" cy="4114800"/>
        </p:xfrm>
        <a:graphic xmlns:a="http://schemas.openxmlformats.org/drawingml/2006/main">
          <a:graphicData uri="http://schemas.openxmlformats.org/drawingml/2006/table">
            <a:tbl>
              <a:tblPr/>
              <a:tblGrid>
                <a:gridCol w="2571750"/>
                <a:gridCol w="4257675"/>
                <a:gridCol w="4257675"/>
              </a:tblGrid>
              <a:tr h="542925">
                <a:tc>
                  <a:txBody>
                    <a:bodyPr lIns="114300" tIns="114300" rIns="114300" bIns="114300"/>
                    <a:lstStyle/>
                    <a:p>
                      <a:pPr>
                        <a:lnSpc>
                          <a:spcPct val="108000"/>
                        </a:lnSpc>
                        <a:buNone/>
                      </a:pPr>
                      <a:r>
                        <a:rPr sz="1725" b="1">
                          <a:solidFill>
                            <a:srgbClr val="FFFFFF"/>
                          </a:solidFill>
                          <a:latin typeface="DejaVu Sans"/>
                          <a:ea typeface="DejaVu Sans"/>
                          <a:cs typeface="DejaVu Sans"/>
                        </a:rPr>
                        <a:t>Filo seleccionado</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1725" b="1">
                          <a:solidFill>
                            <a:srgbClr val="FFFFFF"/>
                          </a:solidFill>
                          <a:latin typeface="DejaVu Sans"/>
                          <a:ea typeface="DejaVu Sans"/>
                          <a:cs typeface="DejaVu Sans"/>
                        </a:rPr>
                        <a:t>Ejemplos</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1725" b="1">
                          <a:solidFill>
                            <a:srgbClr val="FFFFFF"/>
                          </a:solidFill>
                          <a:latin typeface="DejaVu Sans"/>
                          <a:ea typeface="DejaVu Sans"/>
                          <a:cs typeface="DejaVu Sans"/>
                        </a:rPr>
                        <a:t>Rasgo orientador</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714375">
                <a:tc>
                  <a:txBody>
                    <a:bodyPr lIns="114300" tIns="114300" rIns="114300" bIns="114300"/>
                    <a:lstStyle/>
                    <a:p>
                      <a:pPr>
                        <a:lnSpc>
                          <a:spcPct val="108000"/>
                        </a:lnSpc>
                        <a:buNone/>
                      </a:pPr>
                      <a:r>
                        <a:rPr sz="1725" b="1">
                          <a:solidFill>
                            <a:srgbClr val="203E49"/>
                          </a:solidFill>
                          <a:latin typeface="DejaVu Sans"/>
                          <a:ea typeface="DejaVu Sans"/>
                          <a:cs typeface="DejaVu Sans"/>
                        </a:rPr>
                        <a:t>Ascomycota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Levaduras, mohos, colmenillas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Ascos en fase sexual</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14375">
                <a:tc>
                  <a:txBody>
                    <a:bodyPr lIns="114300" tIns="114300" rIns="114300" bIns="114300"/>
                    <a:lstStyle/>
                    <a:p>
                      <a:pPr>
                        <a:lnSpc>
                          <a:spcPct val="108000"/>
                        </a:lnSpc>
                        <a:buNone/>
                      </a:pPr>
                      <a:r>
                        <a:rPr sz="1725" b="1">
                          <a:solidFill>
                            <a:srgbClr val="203E49"/>
                          </a:solidFill>
                          <a:latin typeface="DejaVu Sans"/>
                          <a:ea typeface="DejaVu Sans"/>
                          <a:cs typeface="DejaVu Sans"/>
                        </a:rPr>
                        <a:t>Basidiomycota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Setas, costras, algunas levaduras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Basidios en fase sexual</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14375">
                <a:tc>
                  <a:txBody>
                    <a:bodyPr lIns="114300" tIns="114300" rIns="114300" bIns="114300"/>
                    <a:lstStyle/>
                    <a:p>
                      <a:pPr>
                        <a:lnSpc>
                          <a:spcPct val="108000"/>
                        </a:lnSpc>
                        <a:buNone/>
                      </a:pPr>
                      <a:r>
                        <a:rPr sz="1725" b="1">
                          <a:solidFill>
                            <a:srgbClr val="203E49"/>
                          </a:solidFill>
                          <a:latin typeface="DejaVu Sans"/>
                          <a:ea typeface="DejaVu Sans"/>
                          <a:cs typeface="DejaVu Sans"/>
                        </a:rPr>
                        <a:t>Mucoromycota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Rhizopus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Hifas usualmente cenocíticas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14375">
                <a:tc>
                  <a:txBody>
                    <a:bodyPr lIns="114300" tIns="114300" rIns="114300" bIns="114300"/>
                    <a:lstStyle/>
                    <a:p>
                      <a:pPr>
                        <a:lnSpc>
                          <a:spcPct val="108000"/>
                        </a:lnSpc>
                        <a:buNone/>
                      </a:pPr>
                      <a:r>
                        <a:rPr sz="1725" b="1">
                          <a:solidFill>
                            <a:srgbClr val="203E49"/>
                          </a:solidFill>
                          <a:latin typeface="DejaVu Sans"/>
                          <a:ea typeface="DejaVu Sans"/>
                          <a:cs typeface="DejaVu Sans"/>
                        </a:rPr>
                        <a:t>Glomeromycota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Hongos micorrícicos arbusculares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Asociación con raíces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14375">
                <a:tc>
                  <a:txBody>
                    <a:bodyPr lIns="114300" tIns="114300" rIns="114300" bIns="114300"/>
                    <a:lstStyle/>
                    <a:p>
                      <a:pPr>
                        <a:lnSpc>
                          <a:spcPct val="108000"/>
                        </a:lnSpc>
                        <a:buNone/>
                      </a:pPr>
                      <a:r>
                        <a:rPr sz="1725" b="1">
                          <a:solidFill>
                            <a:srgbClr val="203E49"/>
                          </a:solidFill>
                          <a:latin typeface="DejaVu Sans"/>
                          <a:ea typeface="DejaVu Sans"/>
                          <a:cs typeface="DejaVu Sans"/>
                        </a:rPr>
                        <a:t>Chytridiomycota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Quitridios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Zoosporas flageladas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Tree>
    <p:extLst>
      <p:ext uri="{BB962C8B-B14F-4D97-AF65-F5344CB8AC3E}">
        <p14:creationId xmlns:p14="http://schemas.microsoft.com/office/powerpoint/2010/main" val="5955619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7C29EA-7868-40B6-86FB-48F2423F7CDC}"/>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Macro y micro aparecen en distintos linajes</a:t>
            </a:r>
          </a:p>
        </p:txBody>
      </p:sp>
      <p:sp>
        <p:nvSpPr>
          <p:cNvPr id="2" name="">
            <a:extLst xmlns:a="http://schemas.openxmlformats.org/drawingml/2006/main">
              <a:ext uri="{FF2B5EF4-FFF2-40B4-BE49-F238E27FC236}">
                <a16:creationId xmlns:a16="http://schemas.microsoft.com/office/drawing/2014/main" id="{5C2F08D8-BDF7-4072-99B8-EF585E59BF5C}"/>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El tamaño observable no define un filo.</a:t>
            </a:r>
          </a:p>
        </p:txBody>
      </p:sp>
      <p:sp>
        <p:nvSpPr>
          <p:cNvPr id="3" name="">
            <a:extLst xmlns:a="http://schemas.openxmlformats.org/drawingml/2006/main">
              <a:ext uri="{FF2B5EF4-FFF2-40B4-BE49-F238E27FC236}">
                <a16:creationId xmlns:a16="http://schemas.microsoft.com/office/drawing/2014/main" id="{D0B89E68-B123-4112-B795-37928952563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32C4580E-C508-4A7B-A382-50378CA97390}"/>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[5]. Ilustraciones conceptuales.</a:t>
            </a:r>
          </a:p>
        </p:txBody>
      </p:sp>
      <p:sp>
        <p:nvSpPr>
          <p:cNvPr id="5" name="">
            <a:extLst xmlns:a="http://schemas.openxmlformats.org/drawingml/2006/main">
              <a:ext uri="{FF2B5EF4-FFF2-40B4-BE49-F238E27FC236}">
                <a16:creationId xmlns:a16="http://schemas.microsoft.com/office/drawing/2014/main" id="{4A0F6B37-525D-4263-8908-72B3A5F028EF}"/>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13 / 39</a:t>
            </a:r>
          </a:p>
        </p:txBody>
      </p:sp>
      <p:graphicFrame>
        <p:nvGraphicFramePr>
          <p:cNvPr id="6" name="">
            <a:extLst xmlns:a="http://schemas.openxmlformats.org/drawingml/2006/main">
              <a:ext uri="{FF2B5EF4-FFF2-40B4-BE49-F238E27FC236}">
                <a16:creationId xmlns:a16="http://schemas.microsoft.com/office/drawing/2014/main" id="{3AA2E244-60DA-4F18-8536-9159DF6CE489}"/>
              </a:ext>
            </a:extLst>
          </p:cNvPr>
          <p:cNvGraphicFramePr/>
          <p:nvPr/>
        </p:nvGraphicFramePr>
        <p:xfrm>
          <a:off xmlns:a="http://schemas.openxmlformats.org/drawingml/2006/main" x="552450" y="2190750"/>
          <a:ext xmlns:a="http://schemas.openxmlformats.org/drawingml/2006/main" cx="11087100" cy="3571875"/>
        </p:xfrm>
        <a:graphic xmlns:a="http://schemas.openxmlformats.org/drawingml/2006/main">
          <a:graphicData uri="http://schemas.openxmlformats.org/drawingml/2006/table">
            <a:tbl>
              <a:tblPr/>
              <a:tblGrid>
                <a:gridCol w="2571750"/>
                <a:gridCol w="4257675"/>
                <a:gridCol w="4257675"/>
              </a:tblGrid>
              <a:tr h="619125">
                <a:tc>
                  <a:txBody>
                    <a:bodyPr lIns="114300" tIns="114300" rIns="114300" bIns="114300"/>
                    <a:lstStyle/>
                    <a:p>
                      <a:pPr>
                        <a:lnSpc>
                          <a:spcPct val="108000"/>
                        </a:lnSpc>
                        <a:buNone/>
                      </a:pPr>
                      <a:r>
                        <a:rPr sz="2025" b="1">
                          <a:solidFill>
                            <a:srgbClr val="FFFFFF"/>
                          </a:solidFill>
                          <a:latin typeface="DejaVu Sans"/>
                          <a:ea typeface="DejaVu Sans"/>
                          <a:cs typeface="DejaVu Sans"/>
                        </a:rPr>
                        <a:t>Linaje</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2025" b="1">
                          <a:solidFill>
                            <a:srgbClr val="FFFFFF"/>
                          </a:solidFill>
                          <a:latin typeface="DejaVu Sans"/>
                          <a:ea typeface="DejaVu Sans"/>
                          <a:cs typeface="DejaVu Sans"/>
                        </a:rPr>
                        <a:t>Formas microscópicas</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2025" b="1">
                          <a:solidFill>
                            <a:srgbClr val="FFFFFF"/>
                          </a:solidFill>
                          <a:latin typeface="DejaVu Sans"/>
                          <a:ea typeface="DejaVu Sans"/>
                          <a:cs typeface="DejaVu Sans"/>
                        </a:rPr>
                        <a:t>Cuerpos macroscópicos</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1476375">
                <a:tc>
                  <a:txBody>
                    <a:bodyPr lIns="114300" tIns="114300" rIns="114300" bIns="114300"/>
                    <a:lstStyle/>
                    <a:p>
                      <a:pPr>
                        <a:lnSpc>
                          <a:spcPct val="108000"/>
                        </a:lnSpc>
                        <a:buNone/>
                      </a:pPr>
                      <a:r>
                        <a:rPr sz="2025" b="1">
                          <a:solidFill>
                            <a:srgbClr val="203E49"/>
                          </a:solidFill>
                          <a:latin typeface="DejaVu Sans"/>
                          <a:ea typeface="DejaVu Sans"/>
                          <a:cs typeface="DejaVu Sans"/>
                        </a:rPr>
                        <a:t>Ascomycota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2025" b="0">
                          <a:solidFill>
                            <a:srgbClr val="203E49"/>
                          </a:solidFill>
                          <a:latin typeface="DejaVu Sans"/>
                          <a:ea typeface="DejaVu Sans"/>
                          <a:cs typeface="DejaVu Sans"/>
                        </a:rPr>
                        <a:t>Saccharomyces</a:t>
                      </a:r>
                    </a:p>
                    <a:p>
                      <a:pPr>
                        <a:lnSpc>
                          <a:spcPct val="108000"/>
                        </a:lnSpc>
                        <a:buNone/>
                      </a:pPr>
                      <a:r>
                        <a:rPr sz="2025" b="0">
                          <a:solidFill>
                            <a:srgbClr val="203E49"/>
                          </a:solidFill>
                          <a:latin typeface="DejaVu Sans"/>
                          <a:ea typeface="DejaVu Sans"/>
                          <a:cs typeface="DejaVu Sans"/>
                        </a:rPr>
                        <a:t>Aspergillus</a:t>
                      </a:r>
                    </a:p>
                    <a:p>
                      <a:pPr>
                        <a:lnSpc>
                          <a:spcPct val="108000"/>
                        </a:lnSpc>
                        <a:buNone/>
                      </a:pPr>
                      <a:r>
                        <a:rPr sz="2025" b="0">
                          <a:solidFill>
                            <a:srgbClr val="203E49"/>
                          </a:solidFill>
                          <a:latin typeface="DejaVu Sans"/>
                          <a:ea typeface="DejaVu Sans"/>
                          <a:cs typeface="DejaVu Sans"/>
                        </a:rPr>
                        <a:t>Trichoderma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2025" b="0">
                          <a:solidFill>
                            <a:srgbClr val="203E49"/>
                          </a:solidFill>
                          <a:latin typeface="DejaVu Sans"/>
                          <a:ea typeface="DejaVu Sans"/>
                          <a:cs typeface="DejaVu Sans"/>
                        </a:rPr>
                        <a:t>Morchella</a:t>
                      </a:r>
                    </a:p>
                    <a:p>
                      <a:pPr>
                        <a:lnSpc>
                          <a:spcPct val="108000"/>
                        </a:lnSpc>
                        <a:buNone/>
                      </a:pPr>
                      <a:r>
                        <a:rPr sz="2025" b="0">
                          <a:solidFill>
                            <a:srgbClr val="203E49"/>
                          </a:solidFill>
                          <a:latin typeface="DejaVu Sans"/>
                          <a:ea typeface="DejaVu Sans"/>
                          <a:cs typeface="DejaVu Sans"/>
                        </a:rPr>
                        <a:t>Peziza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1476375">
                <a:tc>
                  <a:txBody>
                    <a:bodyPr lIns="114300" tIns="114300" rIns="114300" bIns="114300"/>
                    <a:lstStyle/>
                    <a:p>
                      <a:pPr>
                        <a:lnSpc>
                          <a:spcPct val="108000"/>
                        </a:lnSpc>
                        <a:buNone/>
                      </a:pPr>
                      <a:r>
                        <a:rPr sz="2025" b="1">
                          <a:solidFill>
                            <a:srgbClr val="203E49"/>
                          </a:solidFill>
                          <a:latin typeface="DejaVu Sans"/>
                          <a:ea typeface="DejaVu Sans"/>
                          <a:cs typeface="DejaVu Sans"/>
                        </a:rPr>
                        <a:t>Basidiomycota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2025" b="0">
                          <a:solidFill>
                            <a:srgbClr val="203E49"/>
                          </a:solidFill>
                          <a:latin typeface="DejaVu Sans"/>
                          <a:ea typeface="DejaVu Sans"/>
                          <a:cs typeface="DejaVu Sans"/>
                        </a:rPr>
                        <a:t>Cryptococcus</a:t>
                      </a:r>
                    </a:p>
                    <a:p>
                      <a:pPr>
                        <a:lnSpc>
                          <a:spcPct val="108000"/>
                        </a:lnSpc>
                        <a:buNone/>
                      </a:pPr>
                      <a:r>
                        <a:rPr sz="2025" b="0">
                          <a:solidFill>
                            <a:srgbClr val="203E49"/>
                          </a:solidFill>
                          <a:latin typeface="DejaVu Sans"/>
                          <a:ea typeface="DejaVu Sans"/>
                          <a:cs typeface="DejaVu Sans"/>
                        </a:rPr>
                        <a:t>Rhodotorula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2025" b="0">
                          <a:solidFill>
                            <a:srgbClr val="203E49"/>
                          </a:solidFill>
                          <a:latin typeface="DejaVu Sans"/>
                          <a:ea typeface="DejaVu Sans"/>
                          <a:cs typeface="DejaVu Sans"/>
                        </a:rPr>
                        <a:t>Pleurotus</a:t>
                      </a:r>
                    </a:p>
                    <a:p>
                      <a:pPr>
                        <a:lnSpc>
                          <a:spcPct val="108000"/>
                        </a:lnSpc>
                        <a:buNone/>
                      </a:pPr>
                      <a:r>
                        <a:rPr sz="2025" b="0">
                          <a:solidFill>
                            <a:srgbClr val="203E49"/>
                          </a:solidFill>
                          <a:latin typeface="DejaVu Sans"/>
                          <a:ea typeface="DejaVu Sans"/>
                          <a:cs typeface="DejaVu Sans"/>
                        </a:rPr>
                        <a:t>Ganoderma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48CDF99-A33D-43D6-A897-85FFD72FF8B4}"/>
              </a:ext>
            </a:extLst>
          </p:cNvPr>
          <p:cNvSpPr>
            <a:spLocks xmlns:a="http://schemas.openxmlformats.org/drawingml/2006/main" noGrp="1"/>
          </p:cNvSpPr>
          <p:nvPr/>
        </p:nvSpPr>
        <p:spPr>
          <a:xfrm xmlns:a="http://schemas.openxmlformats.org/drawingml/2006/main">
            <a:off x="571500" y="606742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7955A3"/>
                </a:solidFill>
                <a:latin typeface="DejaVu Sans"/>
                <a:ea typeface="DejaVu Sans"/>
                <a:cs typeface="DejaVu Sans"/>
              </a:defRPr>
            </a:defPPr>
          </a:lstStyle>
          <a:p xmlns:a="http://schemas.openxmlformats.org/drawingml/2006/main">
            <a:pPr algn="ctr">
              <a:lnSpc>
                <a:spcPct val="112000"/>
              </a:lnSpc>
              <a:buNone/>
              <a:defRPr sz="1875" b="1" i="0">
                <a:solidFill>
                  <a:srgbClr val="7955A3"/>
                </a:solidFill>
                <a:latin typeface="DejaVu Sans"/>
                <a:ea typeface="DejaVu Sans"/>
                <a:cs typeface="DejaVu Sans"/>
              </a:defRPr>
            </a:pPr>
            <a:r>
              <a:rPr sz="1875" b="1" i="0">
                <a:solidFill>
                  <a:srgbClr val="7955A3"/>
                </a:solidFill>
                <a:latin typeface="DejaVu Sans"/>
                <a:ea typeface="DejaVu Sans"/>
                <a:cs typeface="DejaVu Sans"/>
              </a:rPr>
              <a:t>Un cuerpo fructífero macroscópico está formado por hifas</a:t>
            </a:r>
          </a:p>
        </p:txBody>
      </p:sp>
    </p:spTree>
    <p:extLst>
      <p:ext uri="{BB962C8B-B14F-4D97-AF65-F5344CB8AC3E}">
        <p14:creationId xmlns:p14="http://schemas.microsoft.com/office/powerpoint/2010/main" val="20937183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C83663-CB18-4182-8C87-5B142386ED3D}"/>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Un ejemplo de clasificación taxonómica</a:t>
            </a:r>
          </a:p>
        </p:txBody>
      </p:sp>
      <p:sp>
        <p:nvSpPr>
          <p:cNvPr id="2" name="">
            <a:extLst xmlns:a="http://schemas.openxmlformats.org/drawingml/2006/main">
              <a:ext uri="{FF2B5EF4-FFF2-40B4-BE49-F238E27FC236}">
                <a16:creationId xmlns:a16="http://schemas.microsoft.com/office/drawing/2014/main" id="{0E4562DC-B392-48F6-A1FF-C185EDE2EE7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Pleurotus ostreatus: cada rango contiene al siguiente.</a:t>
            </a:r>
          </a:p>
        </p:txBody>
      </p:sp>
      <p:sp>
        <p:nvSpPr>
          <p:cNvPr id="3" name="">
            <a:extLst xmlns:a="http://schemas.openxmlformats.org/drawingml/2006/main">
              <a:ext uri="{FF2B5EF4-FFF2-40B4-BE49-F238E27FC236}">
                <a16:creationId xmlns:a16="http://schemas.microsoft.com/office/drawing/2014/main" id="{FA85BD64-7977-47F7-9B2B-0F6BAEB0BFFC}"/>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D5350576-0B54-45B8-B57E-22C592B4F8AD}"/>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[5] [7]. Ilustraciones conceptuales.</a:t>
            </a:r>
          </a:p>
        </p:txBody>
      </p:sp>
      <p:sp>
        <p:nvSpPr>
          <p:cNvPr id="5" name="">
            <a:extLst xmlns:a="http://schemas.openxmlformats.org/drawingml/2006/main">
              <a:ext uri="{FF2B5EF4-FFF2-40B4-BE49-F238E27FC236}">
                <a16:creationId xmlns:a16="http://schemas.microsoft.com/office/drawing/2014/main" id="{C620A011-C251-4361-BD06-0D4042FD46B5}"/>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14 / 39</a:t>
            </a:r>
          </a:p>
        </p:txBody>
      </p:sp>
      <p:graphicFrame>
        <p:nvGraphicFramePr>
          <p:cNvPr id="6" name="">
            <a:extLst xmlns:a="http://schemas.openxmlformats.org/drawingml/2006/main">
              <a:ext uri="{FF2B5EF4-FFF2-40B4-BE49-F238E27FC236}">
                <a16:creationId xmlns:a16="http://schemas.microsoft.com/office/drawing/2014/main" id="{1A4C818F-96E0-4E51-82B3-E666E0B9725B}"/>
              </a:ext>
            </a:extLst>
          </p:cNvPr>
          <p:cNvGraphicFramePr/>
          <p:nvPr/>
        </p:nvGraphicFramePr>
        <p:xfrm>
          <a:off xmlns:a="http://schemas.openxmlformats.org/drawingml/2006/main" x="1809750" y="1905000"/>
          <a:ext xmlns:a="http://schemas.openxmlformats.org/drawingml/2006/main" cx="8572500" cy="4095750"/>
        </p:xfrm>
        <a:graphic xmlns:a="http://schemas.openxmlformats.org/drawingml/2006/main">
          <a:graphicData uri="http://schemas.openxmlformats.org/drawingml/2006/table">
            <a:tbl>
              <a:tblPr/>
              <a:tblGrid>
                <a:gridCol w="3238500"/>
                <a:gridCol w="5334000"/>
              </a:tblGrid>
              <a:tr h="409575">
                <a:tc>
                  <a:txBody>
                    <a:bodyPr lIns="114300" tIns="114300" rIns="114300" bIns="114300"/>
                    <a:lstStyle/>
                    <a:p>
                      <a:pPr>
                        <a:lnSpc>
                          <a:spcPct val="108000"/>
                        </a:lnSpc>
                        <a:buNone/>
                      </a:pPr>
                      <a:r>
                        <a:rPr sz="1800" b="1">
                          <a:solidFill>
                            <a:srgbClr val="FFFFFF"/>
                          </a:solidFill>
                          <a:latin typeface="DejaVu Sans"/>
                          <a:ea typeface="DejaVu Sans"/>
                          <a:cs typeface="DejaVu Sans"/>
                        </a:rPr>
                        <a:t>Rango</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1800" b="1">
                          <a:solidFill>
                            <a:srgbClr val="FFFFFF"/>
                          </a:solidFill>
                          <a:latin typeface="DejaVu Sans"/>
                          <a:ea typeface="DejaVu Sans"/>
                          <a:cs typeface="DejaVu Sans"/>
                        </a:rPr>
                        <a:t>Nombre</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Dominio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Eukaryota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Clado eucariota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Opisthokonta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Reino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Fungi</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Filo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Basidiomycota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Clase</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Agaricomycetes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Orden</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Agaricales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Familia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Pleurotaceae</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Género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Pleurotus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09575">
                <a:tc>
                  <a:txBody>
                    <a:bodyPr lIns="114300" tIns="114300" rIns="114300" bIns="114300"/>
                    <a:lstStyle/>
                    <a:p>
                      <a:pPr>
                        <a:lnSpc>
                          <a:spcPct val="108000"/>
                        </a:lnSpc>
                        <a:buNone/>
                      </a:pPr>
                      <a:r>
                        <a:rPr sz="1800" b="1">
                          <a:solidFill>
                            <a:srgbClr val="203E49"/>
                          </a:solidFill>
                          <a:latin typeface="DejaVu Sans"/>
                          <a:ea typeface="DejaVu Sans"/>
                          <a:cs typeface="DejaVu Sans"/>
                        </a:rPr>
                        <a:t>Especie</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800" b="0">
                          <a:solidFill>
                            <a:srgbClr val="203E49"/>
                          </a:solidFill>
                          <a:latin typeface="DejaVu Sans"/>
                          <a:ea typeface="DejaVu Sans"/>
                          <a:cs typeface="DejaVu Sans"/>
                        </a:rPr>
                        <a:t>Pleurotus ostreatus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Tree>
    <p:extLst>
      <p:ext uri="{BB962C8B-B14F-4D97-AF65-F5344CB8AC3E}">
        <p14:creationId xmlns:p14="http://schemas.microsoft.com/office/powerpoint/2010/main" val="17648943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3207EF-AC6E-4204-AC40-99716F683C5E}"/>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Identificación con evidencias complementarias</a:t>
            </a:r>
          </a:p>
        </p:txBody>
      </p:sp>
      <p:sp>
        <p:nvSpPr>
          <p:cNvPr id="2" name="">
            <a:extLst xmlns:a="http://schemas.openxmlformats.org/drawingml/2006/main">
              <a:ext uri="{FF2B5EF4-FFF2-40B4-BE49-F238E27FC236}">
                <a16:creationId xmlns:a16="http://schemas.microsoft.com/office/drawing/2014/main" id="{736635E1-7E28-48F7-B3BF-49E91D48A2B8}"/>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Contexto, morfología y secuencias.</a:t>
            </a:r>
          </a:p>
        </p:txBody>
      </p:sp>
      <p:sp>
        <p:nvSpPr>
          <p:cNvPr id="3" name="">
            <a:extLst xmlns:a="http://schemas.openxmlformats.org/drawingml/2006/main">
              <a:ext uri="{FF2B5EF4-FFF2-40B4-BE49-F238E27FC236}">
                <a16:creationId xmlns:a16="http://schemas.microsoft.com/office/drawing/2014/main" id="{19F0210A-28C1-4AFE-BFC6-EA5FDAE3B316}"/>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3AAD9E1D-9D40-4591-9F2A-E725A6B22C4B}"/>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[6] [10]. Ilustraciones conceptuales.</a:t>
            </a:r>
          </a:p>
        </p:txBody>
      </p:sp>
      <p:sp>
        <p:nvSpPr>
          <p:cNvPr id="5" name="">
            <a:extLst xmlns:a="http://schemas.openxmlformats.org/drawingml/2006/main">
              <a:ext uri="{FF2B5EF4-FFF2-40B4-BE49-F238E27FC236}">
                <a16:creationId xmlns:a16="http://schemas.microsoft.com/office/drawing/2014/main" id="{DA534CEA-A439-410E-A343-A37DF3E29E1D}"/>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15 / 39</a:t>
            </a:r>
          </a:p>
        </p:txBody>
      </p:sp>
      <p:pic>
        <p:nvPicPr>
          <p:cNvPr id="6" name="">
            <a:extLst xmlns:a="http://schemas.openxmlformats.org/drawingml/2006/main">
              <a:ext uri="{FF2B5EF4-FFF2-40B4-BE49-F238E27FC236}">
                <a16:creationId xmlns:a16="http://schemas.microsoft.com/office/drawing/2014/main" id="{E6EC6B7C-1D72-4080-A912-31594F87E522}"/>
              </a:ext>
            </a:extLst>
          </p:cNvPr>
          <p:cNvPicPr>
            <a:picLocks xmlns:a="http://schemas.openxmlformats.org/drawingml/2006/main" noChangeAspect="1"/>
          </p:cNvPicPr>
          <p:nvPr/>
        </p:nvPicPr>
        <p:blipFill>
          <a:blip xmlns:r="http://schemas.openxmlformats.org/officeDocument/2006/relationships" xmlns:a="http://schemas.openxmlformats.org/drawingml/2006/main" r:embed="R62a417c195d24fa1"/>
          <a:srcRect xmlns:a="http://schemas.openxmlformats.org/drawingml/2006/main" l="66667" t="50000" r="0" b="0"/>
          <a:stretch xmlns:a="http://schemas.openxmlformats.org/drawingml/2006/main"/>
        </p:blipFill>
        <p:spPr>
          <a:xfrm xmlns:a="http://schemas.openxmlformats.org/drawingml/2006/main">
            <a:off x="1743075" y="1762125"/>
            <a:ext cx="4048125"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9DC3AA8-E583-4E33-9D52-012EF1C7ACD0}"/>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Evidencia integrada</a:t>
            </a:r>
          </a:p>
        </p:txBody>
      </p:sp>
      <p:sp>
        <p:nvSpPr>
          <p:cNvPr id="8" name="">
            <a:extLst xmlns:a="http://schemas.openxmlformats.org/drawingml/2006/main">
              <a:ext uri="{FF2B5EF4-FFF2-40B4-BE49-F238E27FC236}">
                <a16:creationId xmlns:a16="http://schemas.microsoft.com/office/drawing/2014/main" id="{A96BC612-E2A0-4C76-A848-7E712B855404}"/>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Colonia o basidioma</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Microscopía</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ITS y otros marcadores</a:t>
            </a:r>
          </a:p>
        </p:txBody>
      </p:sp>
      <p:sp>
        <p:nvSpPr>
          <p:cNvPr id="9" name="">
            <a:extLst xmlns:a="http://schemas.openxmlformats.org/drawingml/2006/main">
              <a:ext uri="{FF2B5EF4-FFF2-40B4-BE49-F238E27FC236}">
                <a16:creationId xmlns:a16="http://schemas.microsoft.com/office/drawing/2014/main" id="{9B677628-47BD-45F6-B661-BBF6D468B591}"/>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identificación de especie requiere contexto y comparación</a:t>
            </a:r>
          </a:p>
        </p:txBody>
      </p:sp>
    </p:spTree>
    <p:extLst>
      <p:ext uri="{BB962C8B-B14F-4D97-AF65-F5344CB8AC3E}">
        <p14:creationId xmlns:p14="http://schemas.microsoft.com/office/powerpoint/2010/main" val="11733334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BE64DB-C97F-47CA-8E73-D57FB1DA7D0F}"/>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Reproducción asexual</a:t>
            </a:r>
          </a:p>
        </p:txBody>
      </p:sp>
      <p:sp>
        <p:nvSpPr>
          <p:cNvPr id="2" name="">
            <a:extLst xmlns:a="http://schemas.openxmlformats.org/drawingml/2006/main">
              <a:ext uri="{FF2B5EF4-FFF2-40B4-BE49-F238E27FC236}">
                <a16:creationId xmlns:a16="http://schemas.microsoft.com/office/drawing/2014/main" id="{44381E47-54DE-4175-9F46-7F696447E25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Gemación, fragmentación y formación de esporas.</a:t>
            </a:r>
          </a:p>
        </p:txBody>
      </p:sp>
      <p:sp>
        <p:nvSpPr>
          <p:cNvPr id="3" name="">
            <a:extLst xmlns:a="http://schemas.openxmlformats.org/drawingml/2006/main">
              <a:ext uri="{FF2B5EF4-FFF2-40B4-BE49-F238E27FC236}">
                <a16:creationId xmlns:a16="http://schemas.microsoft.com/office/drawing/2014/main" id="{59AC58E4-00AC-41AA-83BB-E499BEE9BBB8}"/>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50A5E358-D2C9-4D5D-9C87-ACB4138DD562}"/>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[4] [13]. Ilustraciones conceptuales.</a:t>
            </a:r>
          </a:p>
        </p:txBody>
      </p:sp>
      <p:sp>
        <p:nvSpPr>
          <p:cNvPr id="5" name="">
            <a:extLst xmlns:a="http://schemas.openxmlformats.org/drawingml/2006/main">
              <a:ext uri="{FF2B5EF4-FFF2-40B4-BE49-F238E27FC236}">
                <a16:creationId xmlns:a16="http://schemas.microsoft.com/office/drawing/2014/main" id="{0562535C-0D48-49CF-A9F6-32F125BE43D9}"/>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16 / 39</a:t>
            </a:r>
          </a:p>
        </p:txBody>
      </p:sp>
      <p:pic>
        <p:nvPicPr>
          <p:cNvPr id="6" name="">
            <a:extLst xmlns:a="http://schemas.openxmlformats.org/drawingml/2006/main">
              <a:ext uri="{FF2B5EF4-FFF2-40B4-BE49-F238E27FC236}">
                <a16:creationId xmlns:a16="http://schemas.microsoft.com/office/drawing/2014/main" id="{87DC803B-BD6F-4096-B1B2-2E0521AC5FA9}"/>
              </a:ext>
            </a:extLst>
          </p:cNvPr>
          <p:cNvPicPr>
            <a:picLocks xmlns:a="http://schemas.openxmlformats.org/drawingml/2006/main" noChangeAspect="1"/>
          </p:cNvPicPr>
          <p:nvPr/>
        </p:nvPicPr>
        <p:blipFill>
          <a:blip xmlns:r="http://schemas.openxmlformats.org/officeDocument/2006/relationships" xmlns:a="http://schemas.openxmlformats.org/drawingml/2006/main" r:embed="R690e5b5f3cb3403b"/>
          <a:srcRect xmlns:a="http://schemas.openxmlformats.org/drawingml/2006/main" l="0" t="50000" r="66667" b="0"/>
          <a:stretch xmlns:a="http://schemas.openxmlformats.org/drawingml/2006/main"/>
        </p:blipFill>
        <p:spPr>
          <a:xfrm xmlns:a="http://schemas.openxmlformats.org/drawingml/2006/main">
            <a:off x="2047875" y="1762125"/>
            <a:ext cx="41910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7DAA12-E7EB-4D96-8AAB-881C85FA1B89}"/>
              </a:ext>
            </a:extLst>
          </p:cNvPr>
          <p:cNvSpPr>
            <a:spLocks xmlns:a="http://schemas.openxmlformats.org/drawingml/2006/main" noGrp="1"/>
          </p:cNvSpPr>
          <p:nvPr/>
        </p:nvSpPr>
        <p:spPr>
          <a:xfrm xmlns:a="http://schemas.openxmlformats.org/drawingml/2006/main">
            <a:off x="8143875" y="21431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Gemación</a:t>
            </a:r>
          </a:p>
        </p:txBody>
      </p:sp>
      <p:sp>
        <p:nvSpPr>
          <p:cNvPr id="8" name="">
            <a:extLst xmlns:a="http://schemas.openxmlformats.org/drawingml/2006/main">
              <a:ext uri="{FF2B5EF4-FFF2-40B4-BE49-F238E27FC236}">
                <a16:creationId xmlns:a16="http://schemas.microsoft.com/office/drawing/2014/main" id="{C280004A-BB4F-4922-B2B3-EA4C11366C0E}"/>
              </a:ext>
            </a:extLst>
          </p:cNvPr>
          <p:cNvSpPr>
            <a:spLocks xmlns:a="http://schemas.openxmlformats.org/drawingml/2006/main" noGrp="1"/>
          </p:cNvSpPr>
          <p:nvPr/>
        </p:nvSpPr>
        <p:spPr>
          <a:xfrm xmlns:a="http://schemas.openxmlformats.org/drawingml/2006/main">
            <a:off x="8143875" y="35052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Fragmentación</a:t>
            </a:r>
          </a:p>
        </p:txBody>
      </p:sp>
      <p:sp>
        <p:nvSpPr>
          <p:cNvPr id="9" name="">
            <a:extLst xmlns:a="http://schemas.openxmlformats.org/drawingml/2006/main">
              <a:ext uri="{FF2B5EF4-FFF2-40B4-BE49-F238E27FC236}">
                <a16:creationId xmlns:a16="http://schemas.microsoft.com/office/drawing/2014/main" id="{01EBBE0B-B683-4A29-8814-863E2ED79012}"/>
              </a:ext>
            </a:extLst>
          </p:cNvPr>
          <p:cNvSpPr>
            <a:spLocks xmlns:a="http://schemas.openxmlformats.org/drawingml/2006/main" noGrp="1"/>
          </p:cNvSpPr>
          <p:nvPr/>
        </p:nvSpPr>
        <p:spPr>
          <a:xfrm xmlns:a="http://schemas.openxmlformats.org/drawingml/2006/main">
            <a:off x="8143875" y="4876800"/>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Esporas asexuales</a:t>
            </a:r>
          </a:p>
        </p:txBody>
      </p:sp>
    </p:spTree>
    <p:extLst>
      <p:ext uri="{BB962C8B-B14F-4D97-AF65-F5344CB8AC3E}">
        <p14:creationId xmlns:p14="http://schemas.microsoft.com/office/powerpoint/2010/main" val="16430628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0D2D20-376A-4E44-9FC8-535E288E386F}"/>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Reproducción sexual: cambios nucleares</a:t>
            </a:r>
          </a:p>
        </p:txBody>
      </p:sp>
      <p:sp>
        <p:nvSpPr>
          <p:cNvPr id="2" name="">
            <a:extLst xmlns:a="http://schemas.openxmlformats.org/drawingml/2006/main">
              <a:ext uri="{FF2B5EF4-FFF2-40B4-BE49-F238E27FC236}">
                <a16:creationId xmlns:a16="http://schemas.microsoft.com/office/drawing/2014/main" id="{9673883E-4820-4D18-BB36-4C52C2EF7898}"/>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Esquema simplificado de procesos frecuentes en Dikarya.</a:t>
            </a:r>
          </a:p>
        </p:txBody>
      </p:sp>
      <p:sp>
        <p:nvSpPr>
          <p:cNvPr id="3" name="">
            <a:extLst xmlns:a="http://schemas.openxmlformats.org/drawingml/2006/main">
              <a:ext uri="{FF2B5EF4-FFF2-40B4-BE49-F238E27FC236}">
                <a16:creationId xmlns:a16="http://schemas.microsoft.com/office/drawing/2014/main" id="{EDC7531E-7B95-40B3-B4F7-F588C50CDF45}"/>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6C44A0CC-B8DC-4C31-A2E8-5EB59B9F02DE}"/>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[4] [5] [13]. Ilustraciones conceptuales.</a:t>
            </a:r>
          </a:p>
        </p:txBody>
      </p:sp>
      <p:sp>
        <p:nvSpPr>
          <p:cNvPr id="5" name="">
            <a:extLst xmlns:a="http://schemas.openxmlformats.org/drawingml/2006/main">
              <a:ext uri="{FF2B5EF4-FFF2-40B4-BE49-F238E27FC236}">
                <a16:creationId xmlns:a16="http://schemas.microsoft.com/office/drawing/2014/main" id="{337689C8-E5DF-4CE3-B189-640BCCDD268F}"/>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17 / 39</a:t>
            </a:r>
          </a:p>
        </p:txBody>
      </p:sp>
      <p:pic>
        <p:nvPicPr>
          <p:cNvPr id="6" name="">
            <a:extLst xmlns:a="http://schemas.openxmlformats.org/drawingml/2006/main">
              <a:ext uri="{FF2B5EF4-FFF2-40B4-BE49-F238E27FC236}">
                <a16:creationId xmlns:a16="http://schemas.microsoft.com/office/drawing/2014/main" id="{605B0C31-DF5D-4F21-B423-614D05239CFF}"/>
              </a:ext>
            </a:extLst>
          </p:cNvPr>
          <p:cNvPicPr>
            <a:picLocks xmlns:a="http://schemas.openxmlformats.org/drawingml/2006/main" noChangeAspect="1"/>
          </p:cNvPicPr>
          <p:nvPr/>
        </p:nvPicPr>
        <p:blipFill>
          <a:blip xmlns:r="http://schemas.openxmlformats.org/officeDocument/2006/relationships" xmlns:a="http://schemas.openxmlformats.org/drawingml/2006/main" r:embed="Rc5108043a4f74ab4"/>
          <a:stretch xmlns:a="http://schemas.openxmlformats.org/drawingml/2006/main"/>
        </p:blipFill>
        <p:spPr>
          <a:xfrm xmlns:a="http://schemas.openxmlformats.org/drawingml/2006/main">
            <a:off x="2795755" y="2000250"/>
            <a:ext cx="6600491"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23DAA09-7E76-42D1-AAD3-FDA7C42F6717}"/>
              </a:ext>
            </a:extLst>
          </p:cNvPr>
          <p:cNvSpPr>
            <a:spLocks xmlns:a="http://schemas.openxmlformats.org/drawingml/2006/main" noGrp="1"/>
          </p:cNvSpPr>
          <p:nvPr/>
        </p:nvSpPr>
        <p:spPr>
          <a:xfrm xmlns:a="http://schemas.openxmlformats.org/drawingml/2006/main">
            <a:off x="571500" y="17240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Plasmogamia</a:t>
            </a:r>
          </a:p>
        </p:txBody>
      </p:sp>
      <p:sp>
        <p:nvSpPr>
          <p:cNvPr id="8" name="">
            <a:extLst xmlns:a="http://schemas.openxmlformats.org/drawingml/2006/main">
              <a:ext uri="{FF2B5EF4-FFF2-40B4-BE49-F238E27FC236}">
                <a16:creationId xmlns:a16="http://schemas.microsoft.com/office/drawing/2014/main" id="{485A79CC-E73B-4EE0-8A36-3C9712CAC175}"/>
              </a:ext>
            </a:extLst>
          </p:cNvPr>
          <p:cNvSpPr>
            <a:spLocks xmlns:a="http://schemas.openxmlformats.org/drawingml/2006/main" noGrp="1"/>
          </p:cNvSpPr>
          <p:nvPr/>
        </p:nvSpPr>
        <p:spPr>
          <a:xfrm xmlns:a="http://schemas.openxmlformats.org/drawingml/2006/main">
            <a:off x="571500" y="5810250"/>
            <a:ext cx="2190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i="0">
                <a:solidFill>
                  <a:srgbClr val="203E49"/>
                </a:solidFill>
                <a:latin typeface="DejaVu Sans"/>
                <a:ea typeface="DejaVu Sans"/>
                <a:cs typeface="DejaVu Sans"/>
              </a:defRPr>
            </a:defPPr>
          </a:lstStyle>
          <a:p xmlns:a="http://schemas.openxmlformats.org/drawingml/2006/main">
            <a:pPr algn="ctr">
              <a:lnSpc>
                <a:spcPct val="112000"/>
              </a:lnSpc>
              <a:buNone/>
              <a:defRPr sz="1650" b="0" i="0">
                <a:solidFill>
                  <a:srgbClr val="203E49"/>
                </a:solidFill>
                <a:latin typeface="DejaVu Sans"/>
                <a:ea typeface="DejaVu Sans"/>
                <a:cs typeface="DejaVu Sans"/>
              </a:defRPr>
            </a:pPr>
            <a:r>
              <a:rPr sz="1650" b="0" i="0">
                <a:solidFill>
                  <a:srgbClr val="203E49"/>
                </a:solidFill>
                <a:latin typeface="DejaVu Sans"/>
                <a:ea typeface="DejaVu Sans"/>
                <a:cs typeface="DejaVu Sans"/>
              </a:rPr>
              <a:t>Unión de</a:t>
            </a:r>
          </a:p>
          <a:p xmlns:a="http://schemas.openxmlformats.org/drawingml/2006/main">
            <a:pPr algn="ctr">
              <a:lnSpc>
                <a:spcPct val="112000"/>
              </a:lnSpc>
              <a:buNone/>
              <a:defRPr sz="1650" b="0" i="0">
                <a:solidFill>
                  <a:srgbClr val="203E49"/>
                </a:solidFill>
                <a:latin typeface="DejaVu Sans"/>
                <a:ea typeface="DejaVu Sans"/>
                <a:cs typeface="DejaVu Sans"/>
              </a:defRPr>
            </a:pPr>
            <a:r>
              <a:rPr sz="1650" b="0" i="0">
                <a:solidFill>
                  <a:srgbClr val="203E49"/>
                </a:solidFill>
                <a:latin typeface="DejaVu Sans"/>
                <a:ea typeface="DejaVu Sans"/>
                <a:cs typeface="DejaVu Sans"/>
              </a:rPr>
              <a:t>citoplasmas</a:t>
            </a:r>
          </a:p>
        </p:txBody>
      </p:sp>
      <p:sp>
        <p:nvSpPr>
          <p:cNvPr id="9" name="">
            <a:extLst xmlns:a="http://schemas.openxmlformats.org/drawingml/2006/main">
              <a:ext uri="{FF2B5EF4-FFF2-40B4-BE49-F238E27FC236}">
                <a16:creationId xmlns:a16="http://schemas.microsoft.com/office/drawing/2014/main" id="{8F056963-F871-4A0A-A581-F27F6F98416F}"/>
              </a:ext>
            </a:extLst>
          </p:cNvPr>
          <p:cNvSpPr>
            <a:spLocks xmlns:a="http://schemas.openxmlformats.org/drawingml/2006/main" noGrp="1"/>
          </p:cNvSpPr>
          <p:nvPr/>
        </p:nvSpPr>
        <p:spPr>
          <a:xfrm xmlns:a="http://schemas.openxmlformats.org/drawingml/2006/main">
            <a:off x="3476625" y="17240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n + n</a:t>
            </a:r>
          </a:p>
        </p:txBody>
      </p:sp>
      <p:sp>
        <p:nvSpPr>
          <p:cNvPr id="10" name="">
            <a:extLst xmlns:a="http://schemas.openxmlformats.org/drawingml/2006/main">
              <a:ext uri="{FF2B5EF4-FFF2-40B4-BE49-F238E27FC236}">
                <a16:creationId xmlns:a16="http://schemas.microsoft.com/office/drawing/2014/main" id="{09A79A04-BBFA-4E5E-ABB3-A2C170198EDA}"/>
              </a:ext>
            </a:extLst>
          </p:cNvPr>
          <p:cNvSpPr>
            <a:spLocks xmlns:a="http://schemas.openxmlformats.org/drawingml/2006/main" noGrp="1"/>
          </p:cNvSpPr>
          <p:nvPr/>
        </p:nvSpPr>
        <p:spPr>
          <a:xfrm xmlns:a="http://schemas.openxmlformats.org/drawingml/2006/main">
            <a:off x="3476625" y="5810250"/>
            <a:ext cx="2190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i="0">
                <a:solidFill>
                  <a:srgbClr val="203E49"/>
                </a:solidFill>
                <a:latin typeface="DejaVu Sans"/>
                <a:ea typeface="DejaVu Sans"/>
                <a:cs typeface="DejaVu Sans"/>
              </a:defRPr>
            </a:defPPr>
          </a:lstStyle>
          <a:p xmlns:a="http://schemas.openxmlformats.org/drawingml/2006/main">
            <a:pPr algn="ctr">
              <a:lnSpc>
                <a:spcPct val="112000"/>
              </a:lnSpc>
              <a:buNone/>
              <a:defRPr sz="1650" b="0" i="0">
                <a:solidFill>
                  <a:srgbClr val="203E49"/>
                </a:solidFill>
                <a:latin typeface="DejaVu Sans"/>
                <a:ea typeface="DejaVu Sans"/>
                <a:cs typeface="DejaVu Sans"/>
              </a:defRPr>
            </a:pPr>
            <a:r>
              <a:rPr sz="1650" b="0" i="0">
                <a:solidFill>
                  <a:srgbClr val="203E49"/>
                </a:solidFill>
                <a:latin typeface="DejaVu Sans"/>
                <a:ea typeface="DejaVu Sans"/>
                <a:cs typeface="DejaVu Sans"/>
              </a:rPr>
              <a:t>Núcleos separados</a:t>
            </a:r>
          </a:p>
        </p:txBody>
      </p:sp>
      <p:sp>
        <p:nvSpPr>
          <p:cNvPr id="11" name="">
            <a:extLst xmlns:a="http://schemas.openxmlformats.org/drawingml/2006/main">
              <a:ext uri="{FF2B5EF4-FFF2-40B4-BE49-F238E27FC236}">
                <a16:creationId xmlns:a16="http://schemas.microsoft.com/office/drawing/2014/main" id="{50AA011C-AF2D-4770-AAA5-C3A127C8C456}"/>
              </a:ext>
            </a:extLst>
          </p:cNvPr>
          <p:cNvSpPr>
            <a:spLocks xmlns:a="http://schemas.openxmlformats.org/drawingml/2006/main" noGrp="1"/>
          </p:cNvSpPr>
          <p:nvPr/>
        </p:nvSpPr>
        <p:spPr>
          <a:xfrm xmlns:a="http://schemas.openxmlformats.org/drawingml/2006/main">
            <a:off x="6715125" y="17240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Cariogamia</a:t>
            </a:r>
          </a:p>
        </p:txBody>
      </p:sp>
      <p:sp>
        <p:nvSpPr>
          <p:cNvPr id="12" name="">
            <a:extLst xmlns:a="http://schemas.openxmlformats.org/drawingml/2006/main">
              <a:ext uri="{FF2B5EF4-FFF2-40B4-BE49-F238E27FC236}">
                <a16:creationId xmlns:a16="http://schemas.microsoft.com/office/drawing/2014/main" id="{A163D88E-0289-4CAA-BF53-C780FC3443E7}"/>
              </a:ext>
            </a:extLst>
          </p:cNvPr>
          <p:cNvSpPr>
            <a:spLocks xmlns:a="http://schemas.openxmlformats.org/drawingml/2006/main" noGrp="1"/>
          </p:cNvSpPr>
          <p:nvPr/>
        </p:nvSpPr>
        <p:spPr>
          <a:xfrm xmlns:a="http://schemas.openxmlformats.org/drawingml/2006/main">
            <a:off x="6715125" y="5810250"/>
            <a:ext cx="2190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i="0">
                <a:solidFill>
                  <a:srgbClr val="203E49"/>
                </a:solidFill>
                <a:latin typeface="DejaVu Sans"/>
                <a:ea typeface="DejaVu Sans"/>
                <a:cs typeface="DejaVu Sans"/>
              </a:defRPr>
            </a:defPPr>
          </a:lstStyle>
          <a:p xmlns:a="http://schemas.openxmlformats.org/drawingml/2006/main">
            <a:pPr algn="ctr">
              <a:lnSpc>
                <a:spcPct val="112000"/>
              </a:lnSpc>
              <a:buNone/>
              <a:defRPr sz="1650" b="0" i="0">
                <a:solidFill>
                  <a:srgbClr val="203E49"/>
                </a:solidFill>
                <a:latin typeface="DejaVu Sans"/>
                <a:ea typeface="DejaVu Sans"/>
                <a:cs typeface="DejaVu Sans"/>
              </a:defRPr>
            </a:pPr>
            <a:r>
              <a:rPr sz="1650" b="0" i="0">
                <a:solidFill>
                  <a:srgbClr val="203E49"/>
                </a:solidFill>
                <a:latin typeface="DejaVu Sans"/>
                <a:ea typeface="DejaVu Sans"/>
                <a:cs typeface="DejaVu Sans"/>
              </a:rPr>
              <a:t>Fusión de núcleos:</a:t>
            </a:r>
          </a:p>
          <a:p xmlns:a="http://schemas.openxmlformats.org/drawingml/2006/main">
            <a:pPr algn="ctr">
              <a:lnSpc>
                <a:spcPct val="112000"/>
              </a:lnSpc>
              <a:buNone/>
              <a:defRPr sz="1650" b="0" i="0">
                <a:solidFill>
                  <a:srgbClr val="203E49"/>
                </a:solidFill>
                <a:latin typeface="DejaVu Sans"/>
                <a:ea typeface="DejaVu Sans"/>
                <a:cs typeface="DejaVu Sans"/>
              </a:defRPr>
            </a:pPr>
            <a:r>
              <a:rPr sz="1650" b="0" i="0">
                <a:solidFill>
                  <a:srgbClr val="203E49"/>
                </a:solidFill>
                <a:latin typeface="DejaVu Sans"/>
                <a:ea typeface="DejaVu Sans"/>
                <a:cs typeface="DejaVu Sans"/>
              </a:rPr>
              <a:t>2n</a:t>
            </a:r>
          </a:p>
        </p:txBody>
      </p:sp>
      <p:sp>
        <p:nvSpPr>
          <p:cNvPr id="13" name="">
            <a:extLst xmlns:a="http://schemas.openxmlformats.org/drawingml/2006/main">
              <a:ext uri="{FF2B5EF4-FFF2-40B4-BE49-F238E27FC236}">
                <a16:creationId xmlns:a16="http://schemas.microsoft.com/office/drawing/2014/main" id="{88635810-58B5-408E-9044-E2FDC79336A1}"/>
              </a:ext>
            </a:extLst>
          </p:cNvPr>
          <p:cNvSpPr>
            <a:spLocks xmlns:a="http://schemas.openxmlformats.org/drawingml/2006/main" noGrp="1"/>
          </p:cNvSpPr>
          <p:nvPr/>
        </p:nvSpPr>
        <p:spPr>
          <a:xfrm xmlns:a="http://schemas.openxmlformats.org/drawingml/2006/main">
            <a:off x="9525000" y="17240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Meiosis</a:t>
            </a:r>
          </a:p>
        </p:txBody>
      </p:sp>
      <p:sp>
        <p:nvSpPr>
          <p:cNvPr id="14" name="">
            <a:extLst xmlns:a="http://schemas.openxmlformats.org/drawingml/2006/main">
              <a:ext uri="{FF2B5EF4-FFF2-40B4-BE49-F238E27FC236}">
                <a16:creationId xmlns:a16="http://schemas.microsoft.com/office/drawing/2014/main" id="{AF762A6D-80C7-44CF-A9B8-55838F3802F5}"/>
              </a:ext>
            </a:extLst>
          </p:cNvPr>
          <p:cNvSpPr>
            <a:spLocks xmlns:a="http://schemas.openxmlformats.org/drawingml/2006/main" noGrp="1"/>
          </p:cNvSpPr>
          <p:nvPr/>
        </p:nvSpPr>
        <p:spPr>
          <a:xfrm xmlns:a="http://schemas.openxmlformats.org/drawingml/2006/main">
            <a:off x="9525000" y="5810250"/>
            <a:ext cx="2190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i="0">
                <a:solidFill>
                  <a:srgbClr val="203E49"/>
                </a:solidFill>
                <a:latin typeface="DejaVu Sans"/>
                <a:ea typeface="DejaVu Sans"/>
                <a:cs typeface="DejaVu Sans"/>
              </a:defRPr>
            </a:defPPr>
          </a:lstStyle>
          <a:p xmlns:a="http://schemas.openxmlformats.org/drawingml/2006/main">
            <a:pPr algn="ctr">
              <a:lnSpc>
                <a:spcPct val="112000"/>
              </a:lnSpc>
              <a:buNone/>
              <a:defRPr sz="1650" b="0" i="0">
                <a:solidFill>
                  <a:srgbClr val="203E49"/>
                </a:solidFill>
                <a:latin typeface="DejaVu Sans"/>
                <a:ea typeface="DejaVu Sans"/>
                <a:cs typeface="DejaVu Sans"/>
              </a:defRPr>
            </a:pPr>
            <a:r>
              <a:rPr sz="1650" b="0" i="0">
                <a:solidFill>
                  <a:srgbClr val="203E49"/>
                </a:solidFill>
                <a:latin typeface="DejaVu Sans"/>
                <a:ea typeface="DejaVu Sans"/>
                <a:cs typeface="DejaVu Sans"/>
              </a:rPr>
              <a:t>Núcleos haploides: n</a:t>
            </a:r>
          </a:p>
        </p:txBody>
      </p:sp>
    </p:spTree>
    <p:extLst>
      <p:ext uri="{BB962C8B-B14F-4D97-AF65-F5344CB8AC3E}">
        <p14:creationId xmlns:p14="http://schemas.microsoft.com/office/powerpoint/2010/main" val="17403537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5E8E27-1B12-4838-A6A0-F3711EC4A8E4}"/>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Espora, germinación y micelio</a:t>
            </a:r>
          </a:p>
        </p:txBody>
      </p:sp>
      <p:sp>
        <p:nvSpPr>
          <p:cNvPr id="2" name="">
            <a:extLst xmlns:a="http://schemas.openxmlformats.org/drawingml/2006/main">
              <a:ext uri="{FF2B5EF4-FFF2-40B4-BE49-F238E27FC236}">
                <a16:creationId xmlns:a16="http://schemas.microsoft.com/office/drawing/2014/main" id="{66131D6F-F2D9-41DC-8031-31482F10B167}"/>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Una espora puede originar crecimiento cuando las condiciones lo permiten.</a:t>
            </a:r>
          </a:p>
        </p:txBody>
      </p:sp>
      <p:sp>
        <p:nvSpPr>
          <p:cNvPr id="3" name="">
            <a:extLst xmlns:a="http://schemas.openxmlformats.org/drawingml/2006/main">
              <a:ext uri="{FF2B5EF4-FFF2-40B4-BE49-F238E27FC236}">
                <a16:creationId xmlns:a16="http://schemas.microsoft.com/office/drawing/2014/main" id="{74DDD21B-F222-4A0C-8CDC-F38C5E830CC2}"/>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EC6F7608-94B7-402B-9301-784CE9D9105E}"/>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[4]. Ilustraciones conceptuales.</a:t>
            </a:r>
          </a:p>
        </p:txBody>
      </p:sp>
      <p:sp>
        <p:nvSpPr>
          <p:cNvPr id="5" name="">
            <a:extLst xmlns:a="http://schemas.openxmlformats.org/drawingml/2006/main">
              <a:ext uri="{FF2B5EF4-FFF2-40B4-BE49-F238E27FC236}">
                <a16:creationId xmlns:a16="http://schemas.microsoft.com/office/drawing/2014/main" id="{78B042C5-2838-49CB-9D2D-DADA15820FDA}"/>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18 / 39</a:t>
            </a:r>
          </a:p>
        </p:txBody>
      </p:sp>
      <p:pic>
        <p:nvPicPr>
          <p:cNvPr id="6" name="">
            <a:extLst xmlns:a="http://schemas.openxmlformats.org/drawingml/2006/main">
              <a:ext uri="{FF2B5EF4-FFF2-40B4-BE49-F238E27FC236}">
                <a16:creationId xmlns:a16="http://schemas.microsoft.com/office/drawing/2014/main" id="{B33A692F-ACF1-4170-8284-38A5C661C3E0}"/>
              </a:ext>
            </a:extLst>
          </p:cNvPr>
          <p:cNvPicPr>
            <a:picLocks xmlns:a="http://schemas.openxmlformats.org/drawingml/2006/main" noChangeAspect="1"/>
          </p:cNvPicPr>
          <p:nvPr/>
        </p:nvPicPr>
        <p:blipFill>
          <a:blip xmlns:r="http://schemas.openxmlformats.org/officeDocument/2006/relationships" xmlns:a="http://schemas.openxmlformats.org/drawingml/2006/main" r:embed="R81f95aef5c594256"/>
          <a:srcRect xmlns:a="http://schemas.openxmlformats.org/drawingml/2006/main" l="0" t="50000" r="66667" b="0"/>
          <a:stretch xmlns:a="http://schemas.openxmlformats.org/drawingml/2006/main"/>
        </p:blipFill>
        <p:spPr>
          <a:xfrm xmlns:a="http://schemas.openxmlformats.org/drawingml/2006/main">
            <a:off x="2024063" y="1762125"/>
            <a:ext cx="4238625"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EF07B5B-294B-40F3-9D9D-5B3A9EBD3357}"/>
              </a:ext>
            </a:extLst>
          </p:cNvPr>
          <p:cNvSpPr>
            <a:spLocks xmlns:a="http://schemas.openxmlformats.org/drawingml/2006/main" noGrp="1"/>
          </p:cNvSpPr>
          <p:nvPr/>
        </p:nvSpPr>
        <p:spPr>
          <a:xfrm xmlns:a="http://schemas.openxmlformats.org/drawingml/2006/main">
            <a:off x="8143875" y="204787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7955A3"/>
                </a:solidFill>
                <a:latin typeface="DejaVu Sans"/>
                <a:ea typeface="DejaVu Sans"/>
                <a:cs typeface="DejaVu Sans"/>
              </a:defRPr>
            </a:defPPr>
          </a:lstStyle>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1. Espora</a:t>
            </a:r>
          </a:p>
        </p:txBody>
      </p:sp>
      <p:sp>
        <p:nvSpPr>
          <p:cNvPr id="8" name="">
            <a:extLst xmlns:a="http://schemas.openxmlformats.org/drawingml/2006/main">
              <a:ext uri="{FF2B5EF4-FFF2-40B4-BE49-F238E27FC236}">
                <a16:creationId xmlns:a16="http://schemas.microsoft.com/office/drawing/2014/main" id="{7E485884-1A9E-4CE3-AE32-F7F99683FF0A}"/>
              </a:ext>
            </a:extLst>
          </p:cNvPr>
          <p:cNvSpPr>
            <a:spLocks xmlns:a="http://schemas.openxmlformats.org/drawingml/2006/main" noGrp="1"/>
          </p:cNvSpPr>
          <p:nvPr/>
        </p:nvSpPr>
        <p:spPr>
          <a:xfrm xmlns:a="http://schemas.openxmlformats.org/drawingml/2006/main">
            <a:off x="8143875" y="30480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7955A3"/>
                </a:solidFill>
                <a:latin typeface="DejaVu Sans"/>
                <a:ea typeface="DejaVu Sans"/>
                <a:cs typeface="DejaVu Sans"/>
              </a:defRPr>
            </a:defPPr>
          </a:lstStyle>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2. Germinación</a:t>
            </a:r>
          </a:p>
        </p:txBody>
      </p:sp>
      <p:sp>
        <p:nvSpPr>
          <p:cNvPr id="9" name="">
            <a:extLst xmlns:a="http://schemas.openxmlformats.org/drawingml/2006/main">
              <a:ext uri="{FF2B5EF4-FFF2-40B4-BE49-F238E27FC236}">
                <a16:creationId xmlns:a16="http://schemas.microsoft.com/office/drawing/2014/main" id="{9A1CAC09-42B5-4FAB-8EBD-812A27C1C8EE}"/>
              </a:ext>
            </a:extLst>
          </p:cNvPr>
          <p:cNvSpPr>
            <a:spLocks xmlns:a="http://schemas.openxmlformats.org/drawingml/2006/main" noGrp="1"/>
          </p:cNvSpPr>
          <p:nvPr/>
        </p:nvSpPr>
        <p:spPr>
          <a:xfrm xmlns:a="http://schemas.openxmlformats.org/drawingml/2006/main">
            <a:off x="8143875" y="4048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7955A3"/>
                </a:solidFill>
                <a:latin typeface="DejaVu Sans"/>
                <a:ea typeface="DejaVu Sans"/>
                <a:cs typeface="DejaVu Sans"/>
              </a:defRPr>
            </a:defPPr>
          </a:lstStyle>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3. Hifa</a:t>
            </a:r>
          </a:p>
        </p:txBody>
      </p:sp>
      <p:sp>
        <p:nvSpPr>
          <p:cNvPr id="10" name="">
            <a:extLst xmlns:a="http://schemas.openxmlformats.org/drawingml/2006/main">
              <a:ext uri="{FF2B5EF4-FFF2-40B4-BE49-F238E27FC236}">
                <a16:creationId xmlns:a16="http://schemas.microsoft.com/office/drawing/2014/main" id="{85A85259-4DC1-4A56-8A6A-A27BAB8FFA1E}"/>
              </a:ext>
            </a:extLst>
          </p:cNvPr>
          <p:cNvSpPr>
            <a:spLocks xmlns:a="http://schemas.openxmlformats.org/drawingml/2006/main" noGrp="1"/>
          </p:cNvSpPr>
          <p:nvPr/>
        </p:nvSpPr>
        <p:spPr>
          <a:xfrm xmlns:a="http://schemas.openxmlformats.org/drawingml/2006/main">
            <a:off x="8143875" y="504825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7955A3"/>
                </a:solidFill>
                <a:latin typeface="DejaVu Sans"/>
                <a:ea typeface="DejaVu Sans"/>
                <a:cs typeface="DejaVu Sans"/>
              </a:defRPr>
            </a:defPPr>
          </a:lstStyle>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4. Micelio</a:t>
            </a:r>
          </a:p>
        </p:txBody>
      </p:sp>
    </p:spTree>
    <p:extLst>
      <p:ext uri="{BB962C8B-B14F-4D97-AF65-F5344CB8AC3E}">
        <p14:creationId xmlns:p14="http://schemas.microsoft.com/office/powerpoint/2010/main" val="13995849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060526-DEF4-4869-9819-12C9375E41F0}"/>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Nutrición por absorción</a:t>
            </a:r>
          </a:p>
        </p:txBody>
      </p:sp>
      <p:sp>
        <p:nvSpPr>
          <p:cNvPr id="2" name="">
            <a:extLst xmlns:a="http://schemas.openxmlformats.org/drawingml/2006/main">
              <a:ext uri="{FF2B5EF4-FFF2-40B4-BE49-F238E27FC236}">
                <a16:creationId xmlns:a16="http://schemas.microsoft.com/office/drawing/2014/main" id="{97BA792A-9B5C-4C0A-9F9B-8EEEB6EBC97F}"/>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La digestión de materiales grandes ocurre fuera de la célula.</a:t>
            </a:r>
          </a:p>
        </p:txBody>
      </p:sp>
      <p:sp>
        <p:nvSpPr>
          <p:cNvPr id="3" name="">
            <a:extLst xmlns:a="http://schemas.openxmlformats.org/drawingml/2006/main">
              <a:ext uri="{FF2B5EF4-FFF2-40B4-BE49-F238E27FC236}">
                <a16:creationId xmlns:a16="http://schemas.microsoft.com/office/drawing/2014/main" id="{368CE3EF-DC13-4E11-BDD6-346827F850BB}"/>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7D42A5FB-5753-4919-9E2A-13BD7AAB3CBF}"/>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[4] [13]. Ilustraciones conceptuales.</a:t>
            </a:r>
          </a:p>
        </p:txBody>
      </p:sp>
      <p:sp>
        <p:nvSpPr>
          <p:cNvPr id="5" name="">
            <a:extLst xmlns:a="http://schemas.openxmlformats.org/drawingml/2006/main">
              <a:ext uri="{FF2B5EF4-FFF2-40B4-BE49-F238E27FC236}">
                <a16:creationId xmlns:a16="http://schemas.microsoft.com/office/drawing/2014/main" id="{99DB6996-541B-46FB-9BB4-6C82BCA70E0C}"/>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19 / 39</a:t>
            </a:r>
          </a:p>
        </p:txBody>
      </p:sp>
      <p:pic>
        <p:nvPicPr>
          <p:cNvPr id="6" name="">
            <a:extLst xmlns:a="http://schemas.openxmlformats.org/drawingml/2006/main">
              <a:ext uri="{FF2B5EF4-FFF2-40B4-BE49-F238E27FC236}">
                <a16:creationId xmlns:a16="http://schemas.microsoft.com/office/drawing/2014/main" id="{C9A25EC4-63D9-466E-AAE5-EC9B013A0E35}"/>
              </a:ext>
            </a:extLst>
          </p:cNvPr>
          <p:cNvPicPr>
            <a:picLocks xmlns:a="http://schemas.openxmlformats.org/drawingml/2006/main" noChangeAspect="1"/>
          </p:cNvPicPr>
          <p:nvPr/>
        </p:nvPicPr>
        <p:blipFill>
          <a:blip xmlns:r="http://schemas.openxmlformats.org/officeDocument/2006/relationships" xmlns:a="http://schemas.openxmlformats.org/drawingml/2006/main" r:embed="R8731ea68bb4b4f9c"/>
          <a:stretch xmlns:a="http://schemas.openxmlformats.org/drawingml/2006/main"/>
        </p:blipFill>
        <p:spPr>
          <a:xfrm xmlns:a="http://schemas.openxmlformats.org/drawingml/2006/main">
            <a:off x="2711133" y="1809750"/>
            <a:ext cx="6769734" cy="3810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F447B72-4591-4653-BC06-8418B92F9684}"/>
              </a:ext>
            </a:extLst>
          </p:cNvPr>
          <p:cNvSpPr>
            <a:spLocks xmlns:a="http://schemas.openxmlformats.org/drawingml/2006/main" noGrp="1"/>
          </p:cNvSpPr>
          <p:nvPr/>
        </p:nvSpPr>
        <p:spPr>
          <a:xfrm xmlns:a="http://schemas.openxmlformats.org/drawingml/2006/main">
            <a:off x="571500" y="5715000"/>
            <a:ext cx="3381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1. Secreción</a:t>
            </a:r>
          </a:p>
        </p:txBody>
      </p:sp>
      <p:sp>
        <p:nvSpPr>
          <p:cNvPr id="8" name="">
            <a:extLst xmlns:a="http://schemas.openxmlformats.org/drawingml/2006/main">
              <a:ext uri="{FF2B5EF4-FFF2-40B4-BE49-F238E27FC236}">
                <a16:creationId xmlns:a16="http://schemas.microsoft.com/office/drawing/2014/main" id="{EB8B9675-873B-4C29-9ABD-1275D3C4935B}"/>
              </a:ext>
            </a:extLst>
          </p:cNvPr>
          <p:cNvSpPr>
            <a:spLocks xmlns:a="http://schemas.openxmlformats.org/drawingml/2006/main" noGrp="1"/>
          </p:cNvSpPr>
          <p:nvPr/>
        </p:nvSpPr>
        <p:spPr>
          <a:xfrm xmlns:a="http://schemas.openxmlformats.org/drawingml/2006/main">
            <a:off x="4381500" y="5715000"/>
            <a:ext cx="3381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2. Digestión externa</a:t>
            </a:r>
          </a:p>
        </p:txBody>
      </p:sp>
      <p:sp>
        <p:nvSpPr>
          <p:cNvPr id="9" name="">
            <a:extLst xmlns:a="http://schemas.openxmlformats.org/drawingml/2006/main">
              <a:ext uri="{FF2B5EF4-FFF2-40B4-BE49-F238E27FC236}">
                <a16:creationId xmlns:a16="http://schemas.microsoft.com/office/drawing/2014/main" id="{C1922265-CE9D-4632-960C-BA16F559E142}"/>
              </a:ext>
            </a:extLst>
          </p:cNvPr>
          <p:cNvSpPr>
            <a:spLocks xmlns:a="http://schemas.openxmlformats.org/drawingml/2006/main" noGrp="1"/>
          </p:cNvSpPr>
          <p:nvPr/>
        </p:nvSpPr>
        <p:spPr>
          <a:xfrm xmlns:a="http://schemas.openxmlformats.org/drawingml/2006/main">
            <a:off x="8191500" y="5715000"/>
            <a:ext cx="3381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7955A3"/>
                </a:solidFill>
                <a:latin typeface="DejaVu Sans"/>
                <a:ea typeface="DejaVu Sans"/>
                <a:cs typeface="DejaVu Sans"/>
              </a:defRPr>
            </a:defPPr>
          </a:lstStyle>
          <a:p xmlns:a="http://schemas.openxmlformats.org/drawingml/2006/main">
            <a:pPr algn="ctr">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3. Absorción</a:t>
            </a:r>
          </a:p>
        </p:txBody>
      </p:sp>
    </p:spTree>
    <p:extLst>
      <p:ext uri="{BB962C8B-B14F-4D97-AF65-F5344CB8AC3E}">
        <p14:creationId xmlns:p14="http://schemas.microsoft.com/office/powerpoint/2010/main" val="12819002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98B1D2-75DA-410C-9F17-1C695BC8CC8A}"/>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Respiración y fermentación</a:t>
            </a:r>
          </a:p>
        </p:txBody>
      </p:sp>
      <p:sp>
        <p:nvSpPr>
          <p:cNvPr id="2" name="">
            <a:extLst xmlns:a="http://schemas.openxmlformats.org/drawingml/2006/main">
              <a:ext uri="{FF2B5EF4-FFF2-40B4-BE49-F238E27FC236}">
                <a16:creationId xmlns:a16="http://schemas.microsoft.com/office/drawing/2014/main" id="{033D7C7B-727D-4BC1-A844-3D69E4BB56D2}"/>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Las rutas dependen de la especie y de las condiciones.</a:t>
            </a:r>
          </a:p>
        </p:txBody>
      </p:sp>
      <p:sp>
        <p:nvSpPr>
          <p:cNvPr id="3" name="">
            <a:extLst xmlns:a="http://schemas.openxmlformats.org/drawingml/2006/main">
              <a:ext uri="{FF2B5EF4-FFF2-40B4-BE49-F238E27FC236}">
                <a16:creationId xmlns:a16="http://schemas.microsoft.com/office/drawing/2014/main" id="{E0D73B07-2412-4B30-86E0-C3830302DEB7}"/>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2ACC1483-3B92-44DF-824C-B8D70E463407}"/>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[8] [13]. Ilustraciones conceptuales.</a:t>
            </a:r>
          </a:p>
        </p:txBody>
      </p:sp>
      <p:sp>
        <p:nvSpPr>
          <p:cNvPr id="5" name="">
            <a:extLst xmlns:a="http://schemas.openxmlformats.org/drawingml/2006/main">
              <a:ext uri="{FF2B5EF4-FFF2-40B4-BE49-F238E27FC236}">
                <a16:creationId xmlns:a16="http://schemas.microsoft.com/office/drawing/2014/main" id="{796A5937-0A2F-4931-B45B-5AD096EACC89}"/>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20 / 39</a:t>
            </a:r>
          </a:p>
        </p:txBody>
      </p:sp>
      <p:pic>
        <p:nvPicPr>
          <p:cNvPr id="6" name="">
            <a:extLst xmlns:a="http://schemas.openxmlformats.org/drawingml/2006/main">
              <a:ext uri="{FF2B5EF4-FFF2-40B4-BE49-F238E27FC236}">
                <a16:creationId xmlns:a16="http://schemas.microsoft.com/office/drawing/2014/main" id="{8279E016-C02E-46A5-AE26-6EB6EC9F9BDA}"/>
              </a:ext>
            </a:extLst>
          </p:cNvPr>
          <p:cNvPicPr>
            <a:picLocks xmlns:a="http://schemas.openxmlformats.org/drawingml/2006/main" noChangeAspect="1"/>
          </p:cNvPicPr>
          <p:nvPr/>
        </p:nvPicPr>
        <p:blipFill>
          <a:blip xmlns:r="http://schemas.openxmlformats.org/officeDocument/2006/relationships" xmlns:a="http://schemas.openxmlformats.org/drawingml/2006/main" r:embed="R18612bdccae34b4d"/>
          <a:srcRect xmlns:a="http://schemas.openxmlformats.org/drawingml/2006/main" l="33333" t="50000" r="33333" b="0"/>
          <a:stretch xmlns:a="http://schemas.openxmlformats.org/drawingml/2006/main"/>
        </p:blipFill>
        <p:spPr>
          <a:xfrm xmlns:a="http://schemas.openxmlformats.org/drawingml/2006/main">
            <a:off x="2238375" y="176212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73A4089-D595-468C-BD15-51A9564367EA}"/>
              </a:ext>
            </a:extLst>
          </p:cNvPr>
          <p:cNvSpPr>
            <a:spLocks xmlns:a="http://schemas.openxmlformats.org/drawingml/2006/main" noGrp="1"/>
          </p:cNvSpPr>
          <p:nvPr/>
        </p:nvSpPr>
        <p:spPr>
          <a:xfrm xmlns:a="http://schemas.openxmlformats.org/drawingml/2006/main">
            <a:off x="8191500" y="20478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2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Respiración</a:t>
            </a:r>
          </a:p>
        </p:txBody>
      </p:sp>
      <p:sp>
        <p:nvSpPr>
          <p:cNvPr id="8" name="">
            <a:extLst xmlns:a="http://schemas.openxmlformats.org/drawingml/2006/main">
              <a:ext uri="{FF2B5EF4-FFF2-40B4-BE49-F238E27FC236}">
                <a16:creationId xmlns:a16="http://schemas.microsoft.com/office/drawing/2014/main" id="{D8E4F2DC-6933-46B6-BCB3-F9E90A6B586D}"/>
              </a:ext>
            </a:extLst>
          </p:cNvPr>
          <p:cNvSpPr>
            <a:spLocks xmlns:a="http://schemas.openxmlformats.org/drawingml/2006/main" noGrp="1"/>
          </p:cNvSpPr>
          <p:nvPr/>
        </p:nvSpPr>
        <p:spPr>
          <a:xfrm xmlns:a="http://schemas.openxmlformats.org/drawingml/2006/main">
            <a:off x="8191500" y="2619375"/>
            <a:ext cx="3333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O₂, mitocondria y ATP</a:t>
            </a:r>
          </a:p>
        </p:txBody>
      </p:sp>
      <p:sp>
        <p:nvSpPr>
          <p:cNvPr id="9" name="">
            <a:extLst xmlns:a="http://schemas.openxmlformats.org/drawingml/2006/main">
              <a:ext uri="{FF2B5EF4-FFF2-40B4-BE49-F238E27FC236}">
                <a16:creationId xmlns:a16="http://schemas.microsoft.com/office/drawing/2014/main" id="{501C5E8C-F4B5-4917-8191-2CE720EFC652}"/>
              </a:ext>
            </a:extLst>
          </p:cNvPr>
          <p:cNvSpPr>
            <a:spLocks xmlns:a="http://schemas.openxmlformats.org/drawingml/2006/main" noGrp="1"/>
          </p:cNvSpPr>
          <p:nvPr/>
        </p:nvSpPr>
        <p:spPr>
          <a:xfrm xmlns:a="http://schemas.openxmlformats.org/drawingml/2006/main">
            <a:off x="8191500" y="40005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Fermentación</a:t>
            </a:r>
          </a:p>
        </p:txBody>
      </p:sp>
      <p:sp>
        <p:nvSpPr>
          <p:cNvPr id="10" name="">
            <a:extLst xmlns:a="http://schemas.openxmlformats.org/drawingml/2006/main">
              <a:ext uri="{FF2B5EF4-FFF2-40B4-BE49-F238E27FC236}">
                <a16:creationId xmlns:a16="http://schemas.microsoft.com/office/drawing/2014/main" id="{38308A7E-5DEF-4994-994E-68CA994C60E6}"/>
              </a:ext>
            </a:extLst>
          </p:cNvPr>
          <p:cNvSpPr>
            <a:spLocks xmlns:a="http://schemas.openxmlformats.org/drawingml/2006/main" noGrp="1"/>
          </p:cNvSpPr>
          <p:nvPr/>
        </p:nvSpPr>
        <p:spPr>
          <a:xfrm xmlns:a="http://schemas.openxmlformats.org/drawingml/2006/main">
            <a:off x="8191500" y="458152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Ejemplo: etanol y CO₂ en</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levaduras</a:t>
            </a:r>
          </a:p>
        </p:txBody>
      </p:sp>
    </p:spTree>
    <p:extLst>
      <p:ext uri="{BB962C8B-B14F-4D97-AF65-F5344CB8AC3E}">
        <p14:creationId xmlns:p14="http://schemas.microsoft.com/office/powerpoint/2010/main" val="18184923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554579-6CFA-4312-A6A7-7DB68D044EF7}"/>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Enzimas y metabolitos</a:t>
            </a:r>
          </a:p>
        </p:txBody>
      </p:sp>
      <p:sp>
        <p:nvSpPr>
          <p:cNvPr id="2" name="">
            <a:extLst xmlns:a="http://schemas.openxmlformats.org/drawingml/2006/main">
              <a:ext uri="{FF2B5EF4-FFF2-40B4-BE49-F238E27FC236}">
                <a16:creationId xmlns:a16="http://schemas.microsoft.com/office/drawing/2014/main" id="{5AFE9714-08BD-4357-A31B-2795D3DC56C0}"/>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El funcionamiento celular conecta nutrición e interacción.</a:t>
            </a:r>
          </a:p>
        </p:txBody>
      </p:sp>
      <p:sp>
        <p:nvSpPr>
          <p:cNvPr id="3" name="">
            <a:extLst xmlns:a="http://schemas.openxmlformats.org/drawingml/2006/main">
              <a:ext uri="{FF2B5EF4-FFF2-40B4-BE49-F238E27FC236}">
                <a16:creationId xmlns:a16="http://schemas.microsoft.com/office/drawing/2014/main" id="{B11D4AAD-D954-4050-92A7-7A0496014D8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6509A8E2-8096-41A6-A126-1AF865664609}"/>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[3] [4] [9] [13]. Ilustraciones conceptuales.</a:t>
            </a:r>
          </a:p>
        </p:txBody>
      </p:sp>
      <p:sp>
        <p:nvSpPr>
          <p:cNvPr id="5" name="">
            <a:extLst xmlns:a="http://schemas.openxmlformats.org/drawingml/2006/main">
              <a:ext uri="{FF2B5EF4-FFF2-40B4-BE49-F238E27FC236}">
                <a16:creationId xmlns:a16="http://schemas.microsoft.com/office/drawing/2014/main" id="{EE8A85CB-278C-4D03-88CD-EED1550BE147}"/>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21 / 39</a:t>
            </a:r>
          </a:p>
        </p:txBody>
      </p:sp>
      <p:pic>
        <p:nvPicPr>
          <p:cNvPr id="6" name="">
            <a:extLst xmlns:a="http://schemas.openxmlformats.org/drawingml/2006/main">
              <a:ext uri="{FF2B5EF4-FFF2-40B4-BE49-F238E27FC236}">
                <a16:creationId xmlns:a16="http://schemas.microsoft.com/office/drawing/2014/main" id="{90B3CB8E-2157-4C61-9E70-C7789F35AB33}"/>
              </a:ext>
            </a:extLst>
          </p:cNvPr>
          <p:cNvPicPr>
            <a:picLocks xmlns:a="http://schemas.openxmlformats.org/drawingml/2006/main" noChangeAspect="1"/>
          </p:cNvPicPr>
          <p:nvPr/>
        </p:nvPicPr>
        <p:blipFill>
          <a:blip xmlns:r="http://schemas.openxmlformats.org/officeDocument/2006/relationships" xmlns:a="http://schemas.openxmlformats.org/drawingml/2006/main" r:embed="R3f027d3b354b42df"/>
          <a:srcRect xmlns:a="http://schemas.openxmlformats.org/drawingml/2006/main" l="33333" t="50000" r="33333" b="0"/>
          <a:stretch xmlns:a="http://schemas.openxmlformats.org/drawingml/2006/main"/>
        </p:blipFill>
        <p:spPr>
          <a:xfrm xmlns:a="http://schemas.openxmlformats.org/drawingml/2006/main">
            <a:off x="1743075" y="1762125"/>
            <a:ext cx="4048125"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05D0894-8469-4509-8675-D489E4431A1B}"/>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Procesos diferentes</a:t>
            </a:r>
          </a:p>
        </p:txBody>
      </p:sp>
      <p:sp>
        <p:nvSpPr>
          <p:cNvPr id="8" name="">
            <a:extLst xmlns:a="http://schemas.openxmlformats.org/drawingml/2006/main">
              <a:ext uri="{FF2B5EF4-FFF2-40B4-BE49-F238E27FC236}">
                <a16:creationId xmlns:a16="http://schemas.microsoft.com/office/drawing/2014/main" id="{A9DE0E72-CFC1-40E0-9673-4E0F19752283}"/>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Enzimas que transforman el</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sustrato</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Metabolitos que participan en</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interacciones</a:t>
            </a:r>
          </a:p>
        </p:txBody>
      </p:sp>
      <p:sp>
        <p:nvSpPr>
          <p:cNvPr id="9" name="">
            <a:extLst xmlns:a="http://schemas.openxmlformats.org/drawingml/2006/main">
              <a:ext uri="{FF2B5EF4-FFF2-40B4-BE49-F238E27FC236}">
                <a16:creationId xmlns:a16="http://schemas.microsoft.com/office/drawing/2014/main" id="{6FCE9460-AEDA-4A92-A98B-9DF7539D77AD}"/>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Las capacidades dependen de la especie y de la cepa</a:t>
            </a:r>
          </a:p>
        </p:txBody>
      </p:sp>
    </p:spTree>
    <p:extLst>
      <p:ext uri="{BB962C8B-B14F-4D97-AF65-F5344CB8AC3E}">
        <p14:creationId xmlns:p14="http://schemas.microsoft.com/office/powerpoint/2010/main" val="370007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A374A1-54DC-4D32-A3B2-1A9D8DE33741}"/>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Formas de obtener alimento</a:t>
            </a:r>
          </a:p>
        </p:txBody>
      </p:sp>
      <p:sp>
        <p:nvSpPr>
          <p:cNvPr id="2" name="">
            <a:extLst xmlns:a="http://schemas.openxmlformats.org/drawingml/2006/main">
              <a:ext uri="{FF2B5EF4-FFF2-40B4-BE49-F238E27FC236}">
                <a16:creationId xmlns:a16="http://schemas.microsoft.com/office/drawing/2014/main" id="{6F788FA9-AFF1-4878-9E44-DA67142906DA}"/>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Los modos de vida pueden cambiar según el contexto.</a:t>
            </a:r>
          </a:p>
        </p:txBody>
      </p:sp>
      <p:sp>
        <p:nvSpPr>
          <p:cNvPr id="3" name="">
            <a:extLst xmlns:a="http://schemas.openxmlformats.org/drawingml/2006/main">
              <a:ext uri="{FF2B5EF4-FFF2-40B4-BE49-F238E27FC236}">
                <a16:creationId xmlns:a16="http://schemas.microsoft.com/office/drawing/2014/main" id="{B3C99142-FE3D-4F6C-B174-CD701BD40C0D}"/>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29B44956-F354-4C85-B17F-09085947CCEF}"/>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[11] [13]. Ilustraciones conceptuales.</a:t>
            </a:r>
          </a:p>
        </p:txBody>
      </p:sp>
      <p:sp>
        <p:nvSpPr>
          <p:cNvPr id="5" name="">
            <a:extLst xmlns:a="http://schemas.openxmlformats.org/drawingml/2006/main">
              <a:ext uri="{FF2B5EF4-FFF2-40B4-BE49-F238E27FC236}">
                <a16:creationId xmlns:a16="http://schemas.microsoft.com/office/drawing/2014/main" id="{5F5A1A70-BC21-4F14-A9F7-7E0E6B6FE63D}"/>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22 / 39</a:t>
            </a:r>
          </a:p>
        </p:txBody>
      </p:sp>
      <p:pic>
        <p:nvPicPr>
          <p:cNvPr id="6" name="">
            <a:extLst xmlns:a="http://schemas.openxmlformats.org/drawingml/2006/main">
              <a:ext uri="{FF2B5EF4-FFF2-40B4-BE49-F238E27FC236}">
                <a16:creationId xmlns:a16="http://schemas.microsoft.com/office/drawing/2014/main" id="{98C8090B-FDA6-49DC-ABB9-F8B78795715F}"/>
              </a:ext>
            </a:extLst>
          </p:cNvPr>
          <p:cNvPicPr>
            <a:picLocks xmlns:a="http://schemas.openxmlformats.org/drawingml/2006/main" noChangeAspect="1"/>
          </p:cNvPicPr>
          <p:nvPr/>
        </p:nvPicPr>
        <p:blipFill>
          <a:blip xmlns:r="http://schemas.openxmlformats.org/officeDocument/2006/relationships" xmlns:a="http://schemas.openxmlformats.org/drawingml/2006/main" r:embed="R7f0cb55ea59747ca"/>
          <a:srcRect xmlns:a="http://schemas.openxmlformats.org/drawingml/2006/main" l="66667" t="0" r="0" b="53000"/>
          <a:stretch xmlns:a="http://schemas.openxmlformats.org/drawingml/2006/main"/>
        </p:blipFill>
        <p:spPr>
          <a:xfrm xmlns:a="http://schemas.openxmlformats.org/drawingml/2006/main">
            <a:off x="3917410" y="1714500"/>
            <a:ext cx="4357181"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50BC5D8-38FC-42D5-94EC-6E66A3EB2038}"/>
              </a:ext>
            </a:extLst>
          </p:cNvPr>
          <p:cNvSpPr>
            <a:spLocks xmlns:a="http://schemas.openxmlformats.org/drawingml/2006/main" noGrp="1"/>
          </p:cNvSpPr>
          <p:nvPr/>
        </p:nvSpPr>
        <p:spPr>
          <a:xfrm xmlns:a="http://schemas.openxmlformats.org/drawingml/2006/main">
            <a:off x="571500" y="2381250"/>
            <a:ext cx="1809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7955A3"/>
                </a:solidFill>
                <a:latin typeface="DejaVu Sans"/>
                <a:ea typeface="DejaVu Sans"/>
                <a:cs typeface="DejaVu Sans"/>
              </a:defRPr>
            </a:defPPr>
          </a:lstStyle>
          <a:p xmlns:a="http://schemas.openxmlformats.org/drawingml/2006/main">
            <a:pPr algn="l">
              <a:lnSpc>
                <a:spcPct val="112000"/>
              </a:lnSpc>
              <a:buNone/>
              <a:defRPr sz="2025" b="1" i="0">
                <a:solidFill>
                  <a:srgbClr val="7955A3"/>
                </a:solidFill>
                <a:latin typeface="DejaVu Sans"/>
                <a:ea typeface="DejaVu Sans"/>
                <a:cs typeface="DejaVu Sans"/>
              </a:defRPr>
            </a:pPr>
            <a:r>
              <a:rPr sz="2025" b="1" i="0">
                <a:solidFill>
                  <a:srgbClr val="7955A3"/>
                </a:solidFill>
                <a:latin typeface="DejaVu Sans"/>
                <a:ea typeface="DejaVu Sans"/>
                <a:cs typeface="DejaVu Sans"/>
              </a:rPr>
              <a:t>Saprotrofía</a:t>
            </a:r>
          </a:p>
        </p:txBody>
      </p:sp>
      <p:sp>
        <p:nvSpPr>
          <p:cNvPr id="8" name="">
            <a:extLst xmlns:a="http://schemas.openxmlformats.org/drawingml/2006/main">
              <a:ext uri="{FF2B5EF4-FFF2-40B4-BE49-F238E27FC236}">
                <a16:creationId xmlns:a16="http://schemas.microsoft.com/office/drawing/2014/main" id="{526C06A8-26E6-4EB3-902C-E5F2BBEE8F1D}"/>
              </a:ext>
            </a:extLst>
          </p:cNvPr>
          <p:cNvSpPr>
            <a:spLocks xmlns:a="http://schemas.openxmlformats.org/drawingml/2006/main" noGrp="1"/>
          </p:cNvSpPr>
          <p:nvPr/>
        </p:nvSpPr>
        <p:spPr>
          <a:xfrm xmlns:a="http://schemas.openxmlformats.org/drawingml/2006/main">
            <a:off x="9953625" y="2952750"/>
            <a:ext cx="171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B98B3B"/>
                </a:solidFill>
                <a:latin typeface="DejaVu Sans"/>
                <a:ea typeface="DejaVu Sans"/>
                <a:cs typeface="DejaVu Sans"/>
              </a:defRPr>
            </a:defPPr>
          </a:lstStyle>
          <a:p xmlns:a="http://schemas.openxmlformats.org/drawingml/2006/main">
            <a:pPr algn="l">
              <a:lnSpc>
                <a:spcPct val="112000"/>
              </a:lnSpc>
              <a:buNone/>
              <a:defRPr sz="1875" b="1" i="0">
                <a:solidFill>
                  <a:srgbClr val="B98B3B"/>
                </a:solidFill>
                <a:latin typeface="DejaVu Sans"/>
                <a:ea typeface="DejaVu Sans"/>
                <a:cs typeface="DejaVu Sans"/>
              </a:defRPr>
            </a:pPr>
            <a:r>
              <a:rPr sz="1875" b="1" i="0">
                <a:solidFill>
                  <a:srgbClr val="B98B3B"/>
                </a:solidFill>
                <a:latin typeface="DejaVu Sans"/>
                <a:ea typeface="DejaVu Sans"/>
                <a:cs typeface="DejaVu Sans"/>
              </a:rPr>
              <a:t>Parasitismo</a:t>
            </a:r>
          </a:p>
        </p:txBody>
      </p:sp>
      <p:sp>
        <p:nvSpPr>
          <p:cNvPr id="9" name="">
            <a:extLst xmlns:a="http://schemas.openxmlformats.org/drawingml/2006/main">
              <a:ext uri="{FF2B5EF4-FFF2-40B4-BE49-F238E27FC236}">
                <a16:creationId xmlns:a16="http://schemas.microsoft.com/office/drawing/2014/main" id="{24A9DBDF-5E13-4639-A188-79257AC5747B}"/>
              </a:ext>
            </a:extLst>
          </p:cNvPr>
          <p:cNvSpPr>
            <a:spLocks xmlns:a="http://schemas.openxmlformats.org/drawingml/2006/main" noGrp="1"/>
          </p:cNvSpPr>
          <p:nvPr/>
        </p:nvSpPr>
        <p:spPr>
          <a:xfrm xmlns:a="http://schemas.openxmlformats.org/drawingml/2006/main">
            <a:off x="571500" y="4667250"/>
            <a:ext cx="1809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608F42"/>
                </a:solidFill>
                <a:latin typeface="DejaVu Sans"/>
                <a:ea typeface="DejaVu Sans"/>
                <a:cs typeface="DejaVu Sans"/>
              </a:defRPr>
            </a:defPPr>
          </a:lstStyle>
          <a:p xmlns:a="http://schemas.openxmlformats.org/drawingml/2006/main">
            <a:pPr algn="l">
              <a:lnSpc>
                <a:spcPct val="112000"/>
              </a:lnSpc>
              <a:buNone/>
              <a:defRPr sz="2025" b="1" i="0">
                <a:solidFill>
                  <a:srgbClr val="608F42"/>
                </a:solidFill>
                <a:latin typeface="DejaVu Sans"/>
                <a:ea typeface="DejaVu Sans"/>
                <a:cs typeface="DejaVu Sans"/>
              </a:defRPr>
            </a:pPr>
            <a:r>
              <a:rPr sz="2025" b="1" i="0">
                <a:solidFill>
                  <a:srgbClr val="608F42"/>
                </a:solidFill>
                <a:latin typeface="DejaVu Sans"/>
                <a:ea typeface="DejaVu Sans"/>
                <a:cs typeface="DejaVu Sans"/>
              </a:rPr>
              <a:t>Mutualismo</a:t>
            </a:r>
          </a:p>
        </p:txBody>
      </p:sp>
      <p:sp>
        <p:nvSpPr>
          <p:cNvPr id="10" name="">
            <a:extLst xmlns:a="http://schemas.openxmlformats.org/drawingml/2006/main">
              <a:ext uri="{FF2B5EF4-FFF2-40B4-BE49-F238E27FC236}">
                <a16:creationId xmlns:a16="http://schemas.microsoft.com/office/drawing/2014/main" id="{2726D3E0-5C91-4FE8-A011-59C96989BF96}"/>
              </a:ext>
            </a:extLst>
          </p:cNvPr>
          <p:cNvSpPr>
            <a:spLocks xmlns:a="http://schemas.openxmlformats.org/drawingml/2006/main" noGrp="1"/>
          </p:cNvSpPr>
          <p:nvPr/>
        </p:nvSpPr>
        <p:spPr>
          <a:xfrm xmlns:a="http://schemas.openxmlformats.org/drawingml/2006/main">
            <a:off x="571500" y="606742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forma de alimentarse ayuda a explicar su papel ambiental</a:t>
            </a:r>
          </a:p>
        </p:txBody>
      </p:sp>
    </p:spTree>
    <p:extLst>
      <p:ext uri="{BB962C8B-B14F-4D97-AF65-F5344CB8AC3E}">
        <p14:creationId xmlns:p14="http://schemas.microsoft.com/office/powerpoint/2010/main" val="12820145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24DDED-292B-474A-B499-B2C1AE1BD0ED}"/>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Descomposición y ciclo de nutrientes</a:t>
            </a:r>
          </a:p>
        </p:txBody>
      </p:sp>
      <p:sp>
        <p:nvSpPr>
          <p:cNvPr id="2" name="">
            <a:extLst xmlns:a="http://schemas.openxmlformats.org/drawingml/2006/main">
              <a:ext uri="{FF2B5EF4-FFF2-40B4-BE49-F238E27FC236}">
                <a16:creationId xmlns:a16="http://schemas.microsoft.com/office/drawing/2014/main" id="{8D2E37E1-6EBC-4AB3-AB24-164C2F9C483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La biomasa vegetal se transforma y el carbono tiene distintos destinos.</a:t>
            </a:r>
          </a:p>
        </p:txBody>
      </p:sp>
      <p:sp>
        <p:nvSpPr>
          <p:cNvPr id="3" name="">
            <a:extLst xmlns:a="http://schemas.openxmlformats.org/drawingml/2006/main">
              <a:ext uri="{FF2B5EF4-FFF2-40B4-BE49-F238E27FC236}">
                <a16:creationId xmlns:a16="http://schemas.microsoft.com/office/drawing/2014/main" id="{B42D9D7B-BFC5-4626-8650-6574BDEC468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2C8E54E-1770-4097-8F38-1D7F6D6A3F51}"/>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[7] [13]. Ilustraciones conceptuales.</a:t>
            </a:r>
          </a:p>
        </p:txBody>
      </p:sp>
      <p:sp>
        <p:nvSpPr>
          <p:cNvPr id="5" name="">
            <a:extLst xmlns:a="http://schemas.openxmlformats.org/drawingml/2006/main">
              <a:ext uri="{FF2B5EF4-FFF2-40B4-BE49-F238E27FC236}">
                <a16:creationId xmlns:a16="http://schemas.microsoft.com/office/drawing/2014/main" id="{0737109E-4CDE-490E-A7A6-096066DB4E84}"/>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23 / 39</a:t>
            </a:r>
          </a:p>
        </p:txBody>
      </p:sp>
      <p:pic>
        <p:nvPicPr>
          <p:cNvPr id="6" name="">
            <a:extLst xmlns:a="http://schemas.openxmlformats.org/drawingml/2006/main">
              <a:ext uri="{FF2B5EF4-FFF2-40B4-BE49-F238E27FC236}">
                <a16:creationId xmlns:a16="http://schemas.microsoft.com/office/drawing/2014/main" id="{63F3684A-4601-4163-A337-469FC09E9B41}"/>
              </a:ext>
            </a:extLst>
          </p:cNvPr>
          <p:cNvPicPr>
            <a:picLocks xmlns:a="http://schemas.openxmlformats.org/drawingml/2006/main" noChangeAspect="1"/>
          </p:cNvPicPr>
          <p:nvPr/>
        </p:nvPicPr>
        <p:blipFill>
          <a:blip xmlns:r="http://schemas.openxmlformats.org/officeDocument/2006/relationships" xmlns:a="http://schemas.openxmlformats.org/drawingml/2006/main" r:embed="Rc996f74b994c495f"/>
          <a:srcRect xmlns:a="http://schemas.openxmlformats.org/drawingml/2006/main" l="33333" t="0" r="33333" b="53000"/>
          <a:stretch xmlns:a="http://schemas.openxmlformats.org/drawingml/2006/main"/>
        </p:blipFill>
        <p:spPr>
          <a:xfrm xmlns:a="http://schemas.openxmlformats.org/drawingml/2006/main">
            <a:off x="1613880" y="1762125"/>
            <a:ext cx="4306516"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99E514C-B48A-4103-8C70-532EF35E0DF1}"/>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Materia orgánica</a:t>
            </a:r>
          </a:p>
        </p:txBody>
      </p:sp>
      <p:sp>
        <p:nvSpPr>
          <p:cNvPr id="8" name="">
            <a:extLst xmlns:a="http://schemas.openxmlformats.org/drawingml/2006/main">
              <a:ext uri="{FF2B5EF4-FFF2-40B4-BE49-F238E27FC236}">
                <a16:creationId xmlns:a16="http://schemas.microsoft.com/office/drawing/2014/main" id="{497AA214-4AB9-4F3B-A99F-1853E068264E}"/>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Transformación enzimática</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Biomasa fúngica</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Respiración y nutrientes</a:t>
            </a:r>
          </a:p>
        </p:txBody>
      </p:sp>
      <p:sp>
        <p:nvSpPr>
          <p:cNvPr id="9" name="">
            <a:extLst xmlns:a="http://schemas.openxmlformats.org/drawingml/2006/main">
              <a:ext uri="{FF2B5EF4-FFF2-40B4-BE49-F238E27FC236}">
                <a16:creationId xmlns:a16="http://schemas.microsoft.com/office/drawing/2014/main" id="{297215FF-DF48-4611-8577-2D4B86379985}"/>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energía fluye y la materia se transforma</a:t>
            </a:r>
          </a:p>
        </p:txBody>
      </p:sp>
    </p:spTree>
    <p:extLst>
      <p:ext uri="{BB962C8B-B14F-4D97-AF65-F5344CB8AC3E}">
        <p14:creationId xmlns:p14="http://schemas.microsoft.com/office/powerpoint/2010/main" val="193564479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A326A63-2033-4033-BA19-5EEFA6099C8C}"/>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Micorrizas: dos organizaciones distintas</a:t>
            </a:r>
          </a:p>
        </p:txBody>
      </p:sp>
      <p:sp>
        <p:nvSpPr>
          <p:cNvPr id="2" name="">
            <a:extLst xmlns:a="http://schemas.openxmlformats.org/drawingml/2006/main">
              <a:ext uri="{FF2B5EF4-FFF2-40B4-BE49-F238E27FC236}">
                <a16:creationId xmlns:a16="http://schemas.microsoft.com/office/drawing/2014/main" id="{04DBC5AA-4040-46EE-839C-B251F997299F}"/>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La estructura ayuda a interpretar el intercambio.</a:t>
            </a:r>
          </a:p>
        </p:txBody>
      </p:sp>
      <p:sp>
        <p:nvSpPr>
          <p:cNvPr id="3" name="">
            <a:extLst xmlns:a="http://schemas.openxmlformats.org/drawingml/2006/main">
              <a:ext uri="{FF2B5EF4-FFF2-40B4-BE49-F238E27FC236}">
                <a16:creationId xmlns:a16="http://schemas.microsoft.com/office/drawing/2014/main" id="{6486C2F9-D9EE-4956-8704-9B5045C818CB}"/>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AA26923E-EE16-4D50-AFED-FDD3B42D3E62}"/>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[5] [11] [12]. Ilustraciones conceptuales.</a:t>
            </a:r>
          </a:p>
        </p:txBody>
      </p:sp>
      <p:sp>
        <p:nvSpPr>
          <p:cNvPr id="5" name="">
            <a:extLst xmlns:a="http://schemas.openxmlformats.org/drawingml/2006/main">
              <a:ext uri="{FF2B5EF4-FFF2-40B4-BE49-F238E27FC236}">
                <a16:creationId xmlns:a16="http://schemas.microsoft.com/office/drawing/2014/main" id="{C9FCD1B9-678F-4FF7-8F2C-E6E61C733FDD}"/>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24 / 39</a:t>
            </a:r>
          </a:p>
        </p:txBody>
      </p:sp>
      <p:pic>
        <p:nvPicPr>
          <p:cNvPr id="6" name="">
            <a:extLst xmlns:a="http://schemas.openxmlformats.org/drawingml/2006/main">
              <a:ext uri="{FF2B5EF4-FFF2-40B4-BE49-F238E27FC236}">
                <a16:creationId xmlns:a16="http://schemas.microsoft.com/office/drawing/2014/main" id="{F7AECCAE-619E-47AF-8873-EDAE1A65B337}"/>
              </a:ext>
            </a:extLst>
          </p:cNvPr>
          <p:cNvPicPr>
            <a:picLocks xmlns:a="http://schemas.openxmlformats.org/drawingml/2006/main" noChangeAspect="1"/>
          </p:cNvPicPr>
          <p:nvPr/>
        </p:nvPicPr>
        <p:blipFill>
          <a:blip xmlns:r="http://schemas.openxmlformats.org/officeDocument/2006/relationships" xmlns:a="http://schemas.openxmlformats.org/drawingml/2006/main" r:embed="R836119730bd54d3d"/>
          <a:stretch xmlns:a="http://schemas.openxmlformats.org/drawingml/2006/main"/>
        </p:blipFill>
        <p:spPr>
          <a:xfrm xmlns:a="http://schemas.openxmlformats.org/drawingml/2006/main">
            <a:off x="2838065" y="1905000"/>
            <a:ext cx="6515869" cy="3667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900724-8932-4F8C-A5B4-DBCE8593F4FB}"/>
              </a:ext>
            </a:extLst>
          </p:cNvPr>
          <p:cNvSpPr>
            <a:spLocks xmlns:a="http://schemas.openxmlformats.org/drawingml/2006/main" noGrp="1"/>
          </p:cNvSpPr>
          <p:nvPr/>
        </p:nvSpPr>
        <p:spPr>
          <a:xfrm xmlns:a="http://schemas.openxmlformats.org/drawingml/2006/main">
            <a:off x="809625" y="1714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325" b="1" i="0">
                <a:solidFill>
                  <a:srgbClr val="7955A3"/>
                </a:solidFill>
                <a:latin typeface="DejaVu Sans"/>
                <a:ea typeface="DejaVu Sans"/>
                <a:cs typeface="DejaVu Sans"/>
              </a:defRPr>
            </a:defPPr>
          </a:lstStyle>
          <a:p xmlns:a="http://schemas.openxmlformats.org/drawingml/2006/main">
            <a:pPr algn="ctr">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Arbuscular</a:t>
            </a:r>
          </a:p>
        </p:txBody>
      </p:sp>
      <p:sp>
        <p:nvSpPr>
          <p:cNvPr id="8" name="">
            <a:extLst xmlns:a="http://schemas.openxmlformats.org/drawingml/2006/main">
              <a:ext uri="{FF2B5EF4-FFF2-40B4-BE49-F238E27FC236}">
                <a16:creationId xmlns:a16="http://schemas.microsoft.com/office/drawing/2014/main" id="{4C1ACBA7-5553-48F8-8B8C-54C09EBF9659}"/>
              </a:ext>
            </a:extLst>
          </p:cNvPr>
          <p:cNvSpPr>
            <a:spLocks xmlns:a="http://schemas.openxmlformats.org/drawingml/2006/main" noGrp="1"/>
          </p:cNvSpPr>
          <p:nvPr/>
        </p:nvSpPr>
        <p:spPr>
          <a:xfrm xmlns:a="http://schemas.openxmlformats.org/drawingml/2006/main">
            <a:off x="6619875" y="1714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325" b="1" i="0">
                <a:solidFill>
                  <a:srgbClr val="7955A3"/>
                </a:solidFill>
                <a:latin typeface="DejaVu Sans"/>
                <a:ea typeface="DejaVu Sans"/>
                <a:cs typeface="DejaVu Sans"/>
              </a:defRPr>
            </a:defPPr>
          </a:lstStyle>
          <a:p xmlns:a="http://schemas.openxmlformats.org/drawingml/2006/main">
            <a:pPr algn="ctr">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Ectomicorriza</a:t>
            </a:r>
          </a:p>
        </p:txBody>
      </p:sp>
      <p:sp>
        <p:nvSpPr>
          <p:cNvPr id="9" name="">
            <a:extLst xmlns:a="http://schemas.openxmlformats.org/drawingml/2006/main">
              <a:ext uri="{FF2B5EF4-FFF2-40B4-BE49-F238E27FC236}">
                <a16:creationId xmlns:a16="http://schemas.microsoft.com/office/drawing/2014/main" id="{A86EE463-EAFC-44D5-A377-721523216DAC}"/>
              </a:ext>
            </a:extLst>
          </p:cNvPr>
          <p:cNvSpPr>
            <a:spLocks xmlns:a="http://schemas.openxmlformats.org/drawingml/2006/main" noGrp="1"/>
          </p:cNvSpPr>
          <p:nvPr/>
        </p:nvSpPr>
        <p:spPr>
          <a:xfrm xmlns:a="http://schemas.openxmlformats.org/drawingml/2006/main">
            <a:off x="952500" y="5657850"/>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i="0">
                <a:solidFill>
                  <a:srgbClr val="203E49"/>
                </a:solidFill>
                <a:latin typeface="DejaVu Sans"/>
                <a:ea typeface="DejaVu Sans"/>
                <a:cs typeface="DejaVu Sans"/>
              </a:defRPr>
            </a:defPPr>
          </a:lstStyle>
          <a:p xmlns:a="http://schemas.openxmlformats.org/drawingml/2006/main">
            <a:pPr algn="ctr">
              <a:lnSpc>
                <a:spcPct val="112000"/>
              </a:lnSpc>
              <a:buNone/>
              <a:defRPr sz="1800" b="0" i="0">
                <a:solidFill>
                  <a:srgbClr val="203E49"/>
                </a:solidFill>
                <a:latin typeface="DejaVu Sans"/>
                <a:ea typeface="DejaVu Sans"/>
                <a:cs typeface="DejaVu Sans"/>
              </a:defRPr>
            </a:pPr>
            <a:r>
              <a:rPr sz="1800" b="0" i="0">
                <a:solidFill>
                  <a:srgbClr val="203E49"/>
                </a:solidFill>
                <a:latin typeface="DejaVu Sans"/>
                <a:ea typeface="DejaVu Sans"/>
                <a:cs typeface="DejaVu Sans"/>
              </a:rPr>
              <a:t>Arbúsculos en la corteza</a:t>
            </a:r>
          </a:p>
        </p:txBody>
      </p:sp>
      <p:sp>
        <p:nvSpPr>
          <p:cNvPr id="10" name="">
            <a:extLst xmlns:a="http://schemas.openxmlformats.org/drawingml/2006/main">
              <a:ext uri="{FF2B5EF4-FFF2-40B4-BE49-F238E27FC236}">
                <a16:creationId xmlns:a16="http://schemas.microsoft.com/office/drawing/2014/main" id="{D150A0C1-129F-4C3B-9CA5-CE415BEAC232}"/>
              </a:ext>
            </a:extLst>
          </p:cNvPr>
          <p:cNvSpPr>
            <a:spLocks xmlns:a="http://schemas.openxmlformats.org/drawingml/2006/main" noGrp="1"/>
          </p:cNvSpPr>
          <p:nvPr/>
        </p:nvSpPr>
        <p:spPr>
          <a:xfrm xmlns:a="http://schemas.openxmlformats.org/drawingml/2006/main">
            <a:off x="6810375" y="5657850"/>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i="0">
                <a:solidFill>
                  <a:srgbClr val="203E49"/>
                </a:solidFill>
                <a:latin typeface="DejaVu Sans"/>
                <a:ea typeface="DejaVu Sans"/>
                <a:cs typeface="DejaVu Sans"/>
              </a:defRPr>
            </a:defPPr>
          </a:lstStyle>
          <a:p xmlns:a="http://schemas.openxmlformats.org/drawingml/2006/main">
            <a:pPr algn="ctr">
              <a:lnSpc>
                <a:spcPct val="112000"/>
              </a:lnSpc>
              <a:buNone/>
              <a:defRPr sz="1800" b="0" i="0">
                <a:solidFill>
                  <a:srgbClr val="203E49"/>
                </a:solidFill>
                <a:latin typeface="DejaVu Sans"/>
                <a:ea typeface="DejaVu Sans"/>
                <a:cs typeface="DejaVu Sans"/>
              </a:defRPr>
            </a:pPr>
            <a:r>
              <a:rPr sz="1800" b="0" i="0">
                <a:solidFill>
                  <a:srgbClr val="203E49"/>
                </a:solidFill>
                <a:latin typeface="DejaVu Sans"/>
                <a:ea typeface="DejaVu Sans"/>
                <a:cs typeface="DejaVu Sans"/>
              </a:rPr>
              <a:t>Manto y red entre células</a:t>
            </a:r>
          </a:p>
        </p:txBody>
      </p:sp>
      <p:sp>
        <p:nvSpPr>
          <p:cNvPr id="11" name="">
            <a:extLst xmlns:a="http://schemas.openxmlformats.org/drawingml/2006/main">
              <a:ext uri="{FF2B5EF4-FFF2-40B4-BE49-F238E27FC236}">
                <a16:creationId xmlns:a16="http://schemas.microsoft.com/office/drawing/2014/main" id="{BB2FB294-CB01-4999-BBD4-92444BAF6C4C}"/>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1" i="0">
                <a:solidFill>
                  <a:srgbClr val="608F42"/>
                </a:solidFill>
                <a:latin typeface="DejaVu Sans"/>
                <a:ea typeface="DejaVu Sans"/>
                <a:cs typeface="DejaVu Sans"/>
              </a:defRPr>
            </a:defPPr>
          </a:lstStyle>
          <a:p xmlns:a="http://schemas.openxmlformats.org/drawingml/2006/main">
            <a:pPr algn="ctr">
              <a:lnSpc>
                <a:spcPct val="112000"/>
              </a:lnSpc>
              <a:buNone/>
              <a:defRPr sz="1725" b="1" i="0">
                <a:solidFill>
                  <a:srgbClr val="608F42"/>
                </a:solidFill>
                <a:latin typeface="DejaVu Sans"/>
                <a:ea typeface="DejaVu Sans"/>
                <a:cs typeface="DejaVu Sans"/>
              </a:defRPr>
            </a:pPr>
            <a:r>
              <a:rPr sz="1725" b="1" i="0">
                <a:solidFill>
                  <a:srgbClr val="608F42"/>
                </a:solidFill>
                <a:latin typeface="DejaVu Sans"/>
                <a:ea typeface="DejaVu Sans"/>
                <a:cs typeface="DejaVu Sans"/>
              </a:rPr>
              <a:t>Carbono de la planta e intercambio de nutrientes</a:t>
            </a:r>
          </a:p>
        </p:txBody>
      </p:sp>
    </p:spTree>
    <p:extLst>
      <p:ext uri="{BB962C8B-B14F-4D97-AF65-F5344CB8AC3E}">
        <p14:creationId xmlns:p14="http://schemas.microsoft.com/office/powerpoint/2010/main" val="32245819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F11360-1C64-4A05-8EF5-AEC275D98C66}"/>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Endófitos y líquenes</a:t>
            </a:r>
          </a:p>
        </p:txBody>
      </p:sp>
      <p:sp>
        <p:nvSpPr>
          <p:cNvPr id="2" name="">
            <a:extLst xmlns:a="http://schemas.openxmlformats.org/drawingml/2006/main">
              <a:ext uri="{FF2B5EF4-FFF2-40B4-BE49-F238E27FC236}">
                <a16:creationId xmlns:a16="http://schemas.microsoft.com/office/drawing/2014/main" id="{775D9C9F-699A-415B-86B0-9033E2FEF903}"/>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Dos relaciones diferentes con otros organismos.</a:t>
            </a:r>
          </a:p>
        </p:txBody>
      </p:sp>
      <p:sp>
        <p:nvSpPr>
          <p:cNvPr id="3" name="">
            <a:extLst xmlns:a="http://schemas.openxmlformats.org/drawingml/2006/main">
              <a:ext uri="{FF2B5EF4-FFF2-40B4-BE49-F238E27FC236}">
                <a16:creationId xmlns:a16="http://schemas.microsoft.com/office/drawing/2014/main" id="{02C7ED9A-EEF2-4F92-A82D-3D0D5B9DBA3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C1AE08FF-E05F-4553-8F4B-A1887A572FA7}"/>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[2] [10] [13]. Ilustraciones conceptuales.</a:t>
            </a:r>
          </a:p>
        </p:txBody>
      </p:sp>
      <p:sp>
        <p:nvSpPr>
          <p:cNvPr id="5" name="">
            <a:extLst xmlns:a="http://schemas.openxmlformats.org/drawingml/2006/main">
              <a:ext uri="{FF2B5EF4-FFF2-40B4-BE49-F238E27FC236}">
                <a16:creationId xmlns:a16="http://schemas.microsoft.com/office/drawing/2014/main" id="{05EBD3E5-8BAA-454F-990D-0D0A0FC06F56}"/>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25 / 39</a:t>
            </a:r>
          </a:p>
        </p:txBody>
      </p:sp>
      <p:pic>
        <p:nvPicPr>
          <p:cNvPr id="6" name="">
            <a:extLst xmlns:a="http://schemas.openxmlformats.org/drawingml/2006/main">
              <a:ext uri="{FF2B5EF4-FFF2-40B4-BE49-F238E27FC236}">
                <a16:creationId xmlns:a16="http://schemas.microsoft.com/office/drawing/2014/main" id="{84DD5FBB-EF9E-4FF1-A570-9F8F5EB698BD}"/>
              </a:ext>
            </a:extLst>
          </p:cNvPr>
          <p:cNvPicPr>
            <a:picLocks xmlns:a="http://schemas.openxmlformats.org/drawingml/2006/main" noChangeAspect="1"/>
          </p:cNvPicPr>
          <p:nvPr/>
        </p:nvPicPr>
        <p:blipFill>
          <a:blip xmlns:r="http://schemas.openxmlformats.org/officeDocument/2006/relationships" xmlns:a="http://schemas.openxmlformats.org/drawingml/2006/main" r:embed="Rbdf5ebbd60764e7b"/>
          <a:srcRect xmlns:a="http://schemas.openxmlformats.org/drawingml/2006/main" l="66667" t="50000" r="0" b="0"/>
          <a:stretch xmlns:a="http://schemas.openxmlformats.org/drawingml/2006/main"/>
        </p:blipFill>
        <p:spPr>
          <a:xfrm xmlns:a="http://schemas.openxmlformats.org/drawingml/2006/main">
            <a:off x="3905250" y="1714500"/>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9C8D0F-F24F-45DA-90EC-324EF86297FC}"/>
              </a:ext>
            </a:extLst>
          </p:cNvPr>
          <p:cNvSpPr>
            <a:spLocks xmlns:a="http://schemas.openxmlformats.org/drawingml/2006/main" noGrp="1"/>
          </p:cNvSpPr>
          <p:nvPr/>
        </p:nvSpPr>
        <p:spPr>
          <a:xfrm xmlns:a="http://schemas.openxmlformats.org/drawingml/2006/main">
            <a:off x="571500" y="2333625"/>
            <a:ext cx="180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7955A3"/>
                </a:solidFill>
                <a:latin typeface="DejaVu Sans"/>
                <a:ea typeface="DejaVu Sans"/>
                <a:cs typeface="DejaVu Sans"/>
              </a:defRPr>
            </a:defPPr>
          </a:lstStyle>
          <a:p xmlns:a="http://schemas.openxmlformats.org/drawingml/2006/main">
            <a:pPr algn="l">
              <a:lnSpc>
                <a:spcPct val="112000"/>
              </a:lnSpc>
              <a:buNone/>
              <a:defRPr sz="2175" b="1" i="0">
                <a:solidFill>
                  <a:srgbClr val="7955A3"/>
                </a:solidFill>
                <a:latin typeface="DejaVu Sans"/>
                <a:ea typeface="DejaVu Sans"/>
                <a:cs typeface="DejaVu Sans"/>
              </a:defRPr>
            </a:pPr>
            <a:r>
              <a:rPr sz="2175" b="1" i="0">
                <a:solidFill>
                  <a:srgbClr val="7955A3"/>
                </a:solidFill>
                <a:latin typeface="DejaVu Sans"/>
                <a:ea typeface="DejaVu Sans"/>
                <a:cs typeface="DejaVu Sans"/>
              </a:rPr>
              <a:t>Endófito</a:t>
            </a:r>
          </a:p>
        </p:txBody>
      </p:sp>
      <p:sp>
        <p:nvSpPr>
          <p:cNvPr id="8" name="">
            <a:extLst xmlns:a="http://schemas.openxmlformats.org/drawingml/2006/main">
              <a:ext uri="{FF2B5EF4-FFF2-40B4-BE49-F238E27FC236}">
                <a16:creationId xmlns:a16="http://schemas.microsoft.com/office/drawing/2014/main" id="{0BCC10B8-BB3E-4F23-91AB-CA8EA87747C2}"/>
              </a:ext>
            </a:extLst>
          </p:cNvPr>
          <p:cNvSpPr>
            <a:spLocks xmlns:a="http://schemas.openxmlformats.org/drawingml/2006/main" noGrp="1"/>
          </p:cNvSpPr>
          <p:nvPr/>
        </p:nvSpPr>
        <p:spPr>
          <a:xfrm xmlns:a="http://schemas.openxmlformats.org/drawingml/2006/main">
            <a:off x="10096500" y="4286250"/>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608F42"/>
                </a:solidFill>
                <a:latin typeface="DejaVu Sans"/>
                <a:ea typeface="DejaVu Sans"/>
                <a:cs typeface="DejaVu Sans"/>
              </a:defRPr>
            </a:defPPr>
          </a:lstStyle>
          <a:p xmlns:a="http://schemas.openxmlformats.org/drawingml/2006/main">
            <a:pPr algn="l">
              <a:lnSpc>
                <a:spcPct val="112000"/>
              </a:lnSpc>
              <a:buNone/>
              <a:defRPr sz="2175" b="1" i="0">
                <a:solidFill>
                  <a:srgbClr val="608F42"/>
                </a:solidFill>
                <a:latin typeface="DejaVu Sans"/>
                <a:ea typeface="DejaVu Sans"/>
                <a:cs typeface="DejaVu Sans"/>
              </a:defRPr>
            </a:pPr>
            <a:r>
              <a:rPr sz="2175" b="1" i="0">
                <a:solidFill>
                  <a:srgbClr val="608F42"/>
                </a:solidFill>
                <a:latin typeface="DejaVu Sans"/>
                <a:ea typeface="DejaVu Sans"/>
                <a:cs typeface="DejaVu Sans"/>
              </a:rPr>
              <a:t>Liquen</a:t>
            </a:r>
          </a:p>
        </p:txBody>
      </p:sp>
      <p:sp>
        <p:nvSpPr>
          <p:cNvPr id="9" name="">
            <a:extLst xmlns:a="http://schemas.openxmlformats.org/drawingml/2006/main">
              <a:ext uri="{FF2B5EF4-FFF2-40B4-BE49-F238E27FC236}">
                <a16:creationId xmlns:a16="http://schemas.microsoft.com/office/drawing/2014/main" id="{4E19D24A-9AA1-46C7-A527-FA5A1CE18513}"/>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2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Habitar una planta y beneficiar a una planta son afirmaciones distintas</a:t>
            </a:r>
          </a:p>
        </p:txBody>
      </p:sp>
    </p:spTree>
    <p:extLst>
      <p:ext uri="{BB962C8B-B14F-4D97-AF65-F5344CB8AC3E}">
        <p14:creationId xmlns:p14="http://schemas.microsoft.com/office/powerpoint/2010/main" val="9598181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BA3E1A-8F90-4877-A399-1F081AD5F451}"/>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Cinco estudios realizados en Ecuador</a:t>
            </a:r>
          </a:p>
        </p:txBody>
      </p:sp>
      <p:sp>
        <p:nvSpPr>
          <p:cNvPr id="2" name="">
            <a:extLst xmlns:a="http://schemas.openxmlformats.org/drawingml/2006/main">
              <a:ext uri="{FF2B5EF4-FFF2-40B4-BE49-F238E27FC236}">
                <a16:creationId xmlns:a16="http://schemas.microsoft.com/office/drawing/2014/main" id="{C30BD852-0491-4B88-8CCE-5741CF52D1BA}"/>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Cultivo, fermentación, biocontrol, diversidad y asociaciones.</a:t>
            </a:r>
          </a:p>
        </p:txBody>
      </p:sp>
      <p:sp>
        <p:nvSpPr>
          <p:cNvPr id="3" name="">
            <a:extLst xmlns:a="http://schemas.openxmlformats.org/drawingml/2006/main">
              <a:ext uri="{FF2B5EF4-FFF2-40B4-BE49-F238E27FC236}">
                <a16:creationId xmlns:a16="http://schemas.microsoft.com/office/drawing/2014/main" id="{4C4DB72E-AADF-4B74-A2E2-38A9F4E51BA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85765B50-B886-4881-BC26-1B84D2AEDAF8}"/>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[7] [8] [9] [10] [11]. Ilustraciones conceptuales.</a:t>
            </a:r>
          </a:p>
        </p:txBody>
      </p:sp>
      <p:sp>
        <p:nvSpPr>
          <p:cNvPr id="5" name="">
            <a:extLst xmlns:a="http://schemas.openxmlformats.org/drawingml/2006/main">
              <a:ext uri="{FF2B5EF4-FFF2-40B4-BE49-F238E27FC236}">
                <a16:creationId xmlns:a16="http://schemas.microsoft.com/office/drawing/2014/main" id="{B9179323-7E2D-4FA5-A93C-72CDF76305A3}"/>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26 / 39</a:t>
            </a:r>
          </a:p>
        </p:txBody>
      </p:sp>
      <p:sp>
        <p:nvSpPr>
          <p:cNvPr id="6" name="">
            <a:extLst xmlns:a="http://schemas.openxmlformats.org/drawingml/2006/main">
              <a:ext uri="{FF2B5EF4-FFF2-40B4-BE49-F238E27FC236}">
                <a16:creationId xmlns:a16="http://schemas.microsoft.com/office/drawing/2014/main" id="{45274A76-F4B2-4233-9997-95E31FEA4673}"/>
              </a:ext>
            </a:extLst>
          </p:cNvPr>
          <p:cNvSpPr>
            <a:spLocks xmlns:a="http://schemas.openxmlformats.org/drawingml/2006/main" noGrp="1"/>
          </p:cNvSpPr>
          <p:nvPr/>
        </p:nvSpPr>
        <p:spPr>
          <a:xfrm xmlns:a="http://schemas.openxmlformats.org/drawingml/2006/main">
            <a:off x="714375" y="1714500"/>
            <a:ext cx="3747332" cy="4143375"/>
          </a:xfrm>
          <a:custGeom xmlns:a="http://schemas.openxmlformats.org/drawingml/2006/main">
            <a:pathLst>
              <a:path w="3747332" h="4143375">
                <a:moveTo>
                  <a:pt x="434727" y="3127621"/>
                </a:moveTo>
                <a:lnTo>
                  <a:pt x="782576" y="2639214"/>
                </a:lnTo>
                <a:lnTo>
                  <a:pt x="641241" y="2353808"/>
                </a:lnTo>
                <a:lnTo>
                  <a:pt x="391448" y="2657282"/>
                </a:lnTo>
                <a:lnTo>
                  <a:pt x="0" y="2370897"/>
                </a:lnTo>
                <a:lnTo>
                  <a:pt x="132639" y="2186672"/>
                </a:lnTo>
                <a:lnTo>
                  <a:pt x="22289" y="1593539"/>
                </a:lnTo>
                <a:lnTo>
                  <a:pt x="251211" y="1494992"/>
                </a:lnTo>
                <a:lnTo>
                  <a:pt x="371489" y="1087873"/>
                </a:lnTo>
                <a:lnTo>
                  <a:pt x="618800" y="666976"/>
                </a:lnTo>
                <a:lnTo>
                  <a:pt x="573242" y="400280"/>
                </a:lnTo>
                <a:lnTo>
                  <a:pt x="931273" y="260093"/>
                </a:lnTo>
                <a:lnTo>
                  <a:pt x="1380573" y="0"/>
                </a:lnTo>
                <a:lnTo>
                  <a:pt x="2034226" y="373161"/>
                </a:lnTo>
                <a:lnTo>
                  <a:pt x="2156074" y="362726"/>
                </a:lnTo>
                <a:lnTo>
                  <a:pt x="2315291" y="643876"/>
                </a:lnTo>
                <a:lnTo>
                  <a:pt x="2869874" y="734553"/>
                </a:lnTo>
                <a:lnTo>
                  <a:pt x="3055518" y="630570"/>
                </a:lnTo>
                <a:lnTo>
                  <a:pt x="3376299" y="847047"/>
                </a:lnTo>
                <a:lnTo>
                  <a:pt x="3656166" y="1001823"/>
                </a:lnTo>
                <a:lnTo>
                  <a:pt x="3747332" y="1498099"/>
                </a:lnTo>
                <a:lnTo>
                  <a:pt x="3543908" y="1923016"/>
                </a:lnTo>
                <a:lnTo>
                  <a:pt x="2831307" y="2607300"/>
                </a:lnTo>
                <a:lnTo>
                  <a:pt x="2045438" y="2865012"/>
                </a:lnTo>
                <a:lnTo>
                  <a:pt x="1644972" y="3433627"/>
                </a:lnTo>
                <a:lnTo>
                  <a:pt x="1521317" y="3874551"/>
                </a:lnTo>
                <a:lnTo>
                  <a:pt x="1151820" y="4143375"/>
                </a:lnTo>
                <a:lnTo>
                  <a:pt x="877542" y="3813391"/>
                </a:lnTo>
                <a:lnTo>
                  <a:pt x="613565" y="3742740"/>
                </a:lnTo>
                <a:lnTo>
                  <a:pt x="343442" y="3794782"/>
                </a:lnTo>
                <a:lnTo>
                  <a:pt x="325762" y="3555307"/>
                </a:lnTo>
                <a:lnTo>
                  <a:pt x="512199" y="3399687"/>
                </a:lnTo>
                <a:lnTo>
                  <a:pt x="434727" y="3127621"/>
                </a:lnTo>
                <a:close/>
              </a:path>
            </a:pathLst>
          </a:custGeom>
          <a:solidFill xmlns:a="http://schemas.openxmlformats.org/drawingml/2006/main">
            <a:srgbClr val="E7EFEB"/>
          </a:solidFill>
          <a:ln xmlns:a="http://schemas.openxmlformats.org/drawingml/2006/main" w="14288">
            <a:solidFill>
              <a:srgbClr val="90A79B"/>
            </a:solidFill>
            <a:prstDash val="solid"/>
          </a:ln>
        </p:spPr>
      </p:sp>
      <p:sp>
        <p:nvSpPr>
          <p:cNvPr id="7" name="">
            <a:extLst xmlns:a="http://schemas.openxmlformats.org/drawingml/2006/main">
              <a:ext uri="{FF2B5EF4-FFF2-40B4-BE49-F238E27FC236}">
                <a16:creationId xmlns:a16="http://schemas.microsoft.com/office/drawing/2014/main" id="{BB69D538-4E25-4DB9-BEBF-4737B2C196E9}"/>
              </a:ext>
            </a:extLst>
          </p:cNvPr>
          <p:cNvSpPr>
            <a:spLocks xmlns:a="http://schemas.openxmlformats.org/drawingml/2006/main" noGrp="1"/>
          </p:cNvSpPr>
          <p:nvPr/>
        </p:nvSpPr>
        <p:spPr>
          <a:xfrm xmlns:a="http://schemas.openxmlformats.org/drawingml/2006/main">
            <a:off x="1975882" y="5226193"/>
            <a:ext cx="114300" cy="114300"/>
          </a:xfrm>
          <a:prstGeom xmlns:a="http://schemas.openxmlformats.org/drawingml/2006/main" prst="ellipse">
            <a:avLst/>
          </a:prstGeom>
          <a:solidFill xmlns:a="http://schemas.openxmlformats.org/drawingml/2006/main">
            <a:srgbClr val="B98B3B"/>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D65E5BE1-E774-4C61-9200-3AAAA5740323}"/>
              </a:ext>
            </a:extLst>
          </p:cNvPr>
          <p:cNvSpPr>
            <a:spLocks xmlns:a="http://schemas.openxmlformats.org/drawingml/2006/main" noGrp="1"/>
          </p:cNvSpPr>
          <p:nvPr/>
        </p:nvSpPr>
        <p:spPr>
          <a:xfrm xmlns:a="http://schemas.openxmlformats.org/drawingml/2006/main">
            <a:off x="1832107" y="5245799"/>
            <a:ext cx="114300" cy="114300"/>
          </a:xfrm>
          <a:prstGeom xmlns:a="http://schemas.openxmlformats.org/drawingml/2006/main" prst="ellipse">
            <a:avLst/>
          </a:prstGeom>
          <a:solidFill xmlns:a="http://schemas.openxmlformats.org/drawingml/2006/main">
            <a:srgbClr val="7955A3"/>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7DE5E85D-7E7F-4039-ACD2-95629B5A1369}"/>
              </a:ext>
            </a:extLst>
          </p:cNvPr>
          <p:cNvSpPr>
            <a:spLocks xmlns:a="http://schemas.openxmlformats.org/drawingml/2006/main" noGrp="1"/>
          </p:cNvSpPr>
          <p:nvPr/>
        </p:nvSpPr>
        <p:spPr>
          <a:xfrm xmlns:a="http://schemas.openxmlformats.org/drawingml/2006/main">
            <a:off x="1355035" y="3964893"/>
            <a:ext cx="114300" cy="114300"/>
          </a:xfrm>
          <a:prstGeom xmlns:a="http://schemas.openxmlformats.org/drawingml/2006/main" prst="ellipse">
            <a:avLst/>
          </a:prstGeom>
          <a:solidFill xmlns:a="http://schemas.openxmlformats.org/drawingml/2006/main">
            <a:srgbClr val="168E91"/>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EA81972A-A4AE-4238-AE72-EB6A9DE507AE}"/>
              </a:ext>
            </a:extLst>
          </p:cNvPr>
          <p:cNvSpPr>
            <a:spLocks xmlns:a="http://schemas.openxmlformats.org/drawingml/2006/main" noGrp="1"/>
          </p:cNvSpPr>
          <p:nvPr/>
        </p:nvSpPr>
        <p:spPr>
          <a:xfrm xmlns:a="http://schemas.openxmlformats.org/drawingml/2006/main">
            <a:off x="3812284" y="2951931"/>
            <a:ext cx="114300" cy="114300"/>
          </a:xfrm>
          <a:prstGeom xmlns:a="http://schemas.openxmlformats.org/drawingml/2006/main" prst="ellipse">
            <a:avLst/>
          </a:prstGeom>
          <a:solidFill xmlns:a="http://schemas.openxmlformats.org/drawingml/2006/main">
            <a:srgbClr val="608F42"/>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6B2BFD71-607B-4619-83C8-E87114E2D0CE}"/>
              </a:ext>
            </a:extLst>
          </p:cNvPr>
          <p:cNvSpPr>
            <a:spLocks xmlns:a="http://schemas.openxmlformats.org/drawingml/2006/main" noGrp="1"/>
          </p:cNvSpPr>
          <p:nvPr/>
        </p:nvSpPr>
        <p:spPr>
          <a:xfrm xmlns:a="http://schemas.openxmlformats.org/drawingml/2006/main">
            <a:off x="5762625" y="1857375"/>
            <a:ext cx="5619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203E49"/>
                </a:solidFill>
                <a:latin typeface="DejaVu Sans"/>
                <a:ea typeface="DejaVu Sans"/>
                <a:cs typeface="DejaVu Sans"/>
              </a:defRPr>
            </a:defPPr>
          </a:lstStyle>
          <a:p xmlns:a="http://schemas.openxmlformats.org/drawingml/2006/main">
            <a:pPr algn="l">
              <a:lnSpc>
                <a:spcPct val="112000"/>
              </a:lnSpc>
              <a:buNone/>
              <a:defRPr sz="2100" b="1" i="0">
                <a:solidFill>
                  <a:srgbClr val="203E49"/>
                </a:solidFill>
                <a:latin typeface="DejaVu Sans"/>
                <a:ea typeface="DejaVu Sans"/>
                <a:cs typeface="DejaVu Sans"/>
              </a:defRPr>
            </a:pPr>
            <a:r>
              <a:rPr sz="2100" b="1" i="0">
                <a:solidFill>
                  <a:srgbClr val="203E49"/>
                </a:solidFill>
                <a:latin typeface="DejaVu Sans"/>
                <a:ea typeface="DejaVu Sans"/>
                <a:cs typeface="DejaVu Sans"/>
              </a:rPr>
              <a:t>Zamora Chinchipe: Pleurotus</a:t>
            </a:r>
          </a:p>
        </p:txBody>
      </p:sp>
      <p:sp>
        <p:nvSpPr>
          <p:cNvPr id="12" name="">
            <a:extLst xmlns:a="http://schemas.openxmlformats.org/drawingml/2006/main">
              <a:ext uri="{FF2B5EF4-FFF2-40B4-BE49-F238E27FC236}">
                <a16:creationId xmlns:a16="http://schemas.microsoft.com/office/drawing/2014/main" id="{AA575DDE-286F-4ED3-A4E9-F2F16FF16B4F}"/>
              </a:ext>
            </a:extLst>
          </p:cNvPr>
          <p:cNvSpPr>
            <a:spLocks xmlns:a="http://schemas.openxmlformats.org/drawingml/2006/main" noGrp="1"/>
          </p:cNvSpPr>
          <p:nvPr/>
        </p:nvSpPr>
        <p:spPr>
          <a:xfrm xmlns:a="http://schemas.openxmlformats.org/drawingml/2006/main">
            <a:off x="5762625" y="2667000"/>
            <a:ext cx="5619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203E49"/>
                </a:solidFill>
                <a:latin typeface="DejaVu Sans"/>
                <a:ea typeface="DejaVu Sans"/>
                <a:cs typeface="DejaVu Sans"/>
              </a:defRPr>
            </a:defPPr>
          </a:lstStyle>
          <a:p xmlns:a="http://schemas.openxmlformats.org/drawingml/2006/main">
            <a:pPr algn="l">
              <a:lnSpc>
                <a:spcPct val="112000"/>
              </a:lnSpc>
              <a:buNone/>
              <a:defRPr sz="2100" b="1" i="0">
                <a:solidFill>
                  <a:srgbClr val="203E49"/>
                </a:solidFill>
                <a:latin typeface="DejaVu Sans"/>
                <a:ea typeface="DejaVu Sans"/>
                <a:cs typeface="DejaVu Sans"/>
              </a:defRPr>
            </a:pPr>
            <a:r>
              <a:rPr sz="2100" b="1" i="0">
                <a:solidFill>
                  <a:srgbClr val="203E49"/>
                </a:solidFill>
                <a:latin typeface="DejaVu Sans"/>
                <a:ea typeface="DejaVu Sans"/>
                <a:cs typeface="DejaVu Sans"/>
              </a:rPr>
              <a:t>Cacao: levaduras y Trichoderma</a:t>
            </a:r>
          </a:p>
        </p:txBody>
      </p:sp>
      <p:sp>
        <p:nvSpPr>
          <p:cNvPr id="13" name="">
            <a:extLst xmlns:a="http://schemas.openxmlformats.org/drawingml/2006/main">
              <a:ext uri="{FF2B5EF4-FFF2-40B4-BE49-F238E27FC236}">
                <a16:creationId xmlns:a16="http://schemas.microsoft.com/office/drawing/2014/main" id="{8ED0A6A7-129B-4954-ACB5-C17D9858E23F}"/>
              </a:ext>
            </a:extLst>
          </p:cNvPr>
          <p:cNvSpPr>
            <a:spLocks xmlns:a="http://schemas.openxmlformats.org/drawingml/2006/main" noGrp="1"/>
          </p:cNvSpPr>
          <p:nvPr/>
        </p:nvSpPr>
        <p:spPr>
          <a:xfrm xmlns:a="http://schemas.openxmlformats.org/drawingml/2006/main">
            <a:off x="5762625" y="3476625"/>
            <a:ext cx="5619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203E49"/>
                </a:solidFill>
                <a:latin typeface="DejaVu Sans"/>
                <a:ea typeface="DejaVu Sans"/>
                <a:cs typeface="DejaVu Sans"/>
              </a:defRPr>
            </a:defPPr>
          </a:lstStyle>
          <a:p xmlns:a="http://schemas.openxmlformats.org/drawingml/2006/main">
            <a:pPr algn="l">
              <a:lnSpc>
                <a:spcPct val="112000"/>
              </a:lnSpc>
              <a:buNone/>
              <a:defRPr sz="2100" b="1" i="0">
                <a:solidFill>
                  <a:srgbClr val="203E49"/>
                </a:solidFill>
                <a:latin typeface="DejaVu Sans"/>
                <a:ea typeface="DejaVu Sans"/>
                <a:cs typeface="DejaVu Sans"/>
              </a:defRPr>
            </a:pPr>
            <a:r>
              <a:rPr sz="2100" b="1" i="0">
                <a:solidFill>
                  <a:srgbClr val="203E49"/>
                </a:solidFill>
                <a:latin typeface="DejaVu Sans"/>
                <a:ea typeface="DejaVu Sans"/>
                <a:cs typeface="DejaVu Sans"/>
              </a:rPr>
              <a:t>Cajanuma: especie y bioactividad</a:t>
            </a:r>
          </a:p>
        </p:txBody>
      </p:sp>
      <p:sp>
        <p:nvSpPr>
          <p:cNvPr id="14" name="">
            <a:extLst xmlns:a="http://schemas.openxmlformats.org/drawingml/2006/main">
              <a:ext uri="{FF2B5EF4-FFF2-40B4-BE49-F238E27FC236}">
                <a16:creationId xmlns:a16="http://schemas.microsoft.com/office/drawing/2014/main" id="{D630F3A2-9337-4D59-964F-3A69DD34CD1B}"/>
              </a:ext>
            </a:extLst>
          </p:cNvPr>
          <p:cNvSpPr>
            <a:spLocks xmlns:a="http://schemas.openxmlformats.org/drawingml/2006/main" noGrp="1"/>
          </p:cNvSpPr>
          <p:nvPr/>
        </p:nvSpPr>
        <p:spPr>
          <a:xfrm xmlns:a="http://schemas.openxmlformats.org/drawingml/2006/main">
            <a:off x="5762625" y="4286250"/>
            <a:ext cx="5619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1" i="0">
                <a:solidFill>
                  <a:srgbClr val="203E49"/>
                </a:solidFill>
                <a:latin typeface="DejaVu Sans"/>
                <a:ea typeface="DejaVu Sans"/>
                <a:cs typeface="DejaVu Sans"/>
              </a:defRPr>
            </a:defPPr>
          </a:lstStyle>
          <a:p xmlns:a="http://schemas.openxmlformats.org/drawingml/2006/main">
            <a:pPr algn="l">
              <a:lnSpc>
                <a:spcPct val="112000"/>
              </a:lnSpc>
              <a:buNone/>
              <a:defRPr sz="2100" b="1" i="0">
                <a:solidFill>
                  <a:srgbClr val="203E49"/>
                </a:solidFill>
                <a:latin typeface="DejaVu Sans"/>
                <a:ea typeface="DejaVu Sans"/>
                <a:cs typeface="DejaVu Sans"/>
              </a:defRPr>
            </a:pPr>
            <a:r>
              <a:rPr sz="2100" b="1" i="0">
                <a:solidFill>
                  <a:srgbClr val="203E49"/>
                </a:solidFill>
                <a:latin typeface="DejaVu Sans"/>
                <a:ea typeface="DejaVu Sans"/>
                <a:cs typeface="DejaVu Sans"/>
              </a:rPr>
              <a:t>Tiputini: micobioma de Inga</a:t>
            </a:r>
          </a:p>
        </p:txBody>
      </p:sp>
      <p:sp>
        <p:nvSpPr>
          <p:cNvPr id="15" name="">
            <a:extLst xmlns:a="http://schemas.openxmlformats.org/drawingml/2006/main">
              <a:ext uri="{FF2B5EF4-FFF2-40B4-BE49-F238E27FC236}">
                <a16:creationId xmlns:a16="http://schemas.microsoft.com/office/drawing/2014/main" id="{CAF5B760-C71F-4F0D-8C35-B563F3C6D1F0}"/>
              </a:ext>
            </a:extLst>
          </p:cNvPr>
          <p:cNvSpPr>
            <a:spLocks xmlns:a="http://schemas.openxmlformats.org/drawingml/2006/main" noGrp="1"/>
          </p:cNvSpPr>
          <p:nvPr/>
        </p:nvSpPr>
        <p:spPr>
          <a:xfrm xmlns:a="http://schemas.openxmlformats.org/drawingml/2006/main">
            <a:off x="714375" y="600075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i="0">
                <a:solidFill>
                  <a:srgbClr val="647A84"/>
                </a:solidFill>
                <a:latin typeface="DejaVu Sans"/>
                <a:ea typeface="DejaVu Sans"/>
                <a:cs typeface="DejaVu Sans"/>
              </a:defRPr>
            </a:defPPr>
          </a:lstStyle>
          <a:p xmlns:a="http://schemas.openxmlformats.org/drawingml/2006/main">
            <a:pPr algn="l">
              <a:lnSpc>
                <a:spcPct val="112000"/>
              </a:lnSpc>
              <a:buNone/>
              <a:defRPr sz="1500" b="0" i="0">
                <a:solidFill>
                  <a:srgbClr val="647A84"/>
                </a:solidFill>
                <a:latin typeface="DejaVu Sans"/>
                <a:ea typeface="DejaVu Sans"/>
                <a:cs typeface="DejaVu Sans"/>
              </a:defRPr>
            </a:pPr>
            <a:r>
              <a:rPr sz="1500" b="0" i="0">
                <a:solidFill>
                  <a:srgbClr val="647A84"/>
                </a:solidFill>
                <a:latin typeface="DejaVu Sans"/>
                <a:ea typeface="DejaVu Sans"/>
                <a:cs typeface="DejaVu Sans"/>
              </a:rPr>
              <a:t>Ubicaciones orientativas</a:t>
            </a:r>
          </a:p>
        </p:txBody>
      </p:sp>
    </p:spTree>
    <p:extLst>
      <p:ext uri="{BB962C8B-B14F-4D97-AF65-F5344CB8AC3E}">
        <p14:creationId xmlns:p14="http://schemas.microsoft.com/office/powerpoint/2010/main" val="59528603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90C488-3FD1-4373-984F-34BD18870D8D}"/>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Residuos agrícolas y hongos comestibles</a:t>
            </a:r>
          </a:p>
        </p:txBody>
      </p:sp>
      <p:sp>
        <p:nvSpPr>
          <p:cNvPr id="2" name="">
            <a:extLst xmlns:a="http://schemas.openxmlformats.org/drawingml/2006/main">
              <a:ext uri="{FF2B5EF4-FFF2-40B4-BE49-F238E27FC236}">
                <a16:creationId xmlns:a16="http://schemas.microsoft.com/office/drawing/2014/main" id="{DDFF31D6-EFA2-49C0-B8C9-C9243F47D14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Pleurotus ostreatus HUTPL-329, Zamora Chinchipe.</a:t>
            </a:r>
          </a:p>
        </p:txBody>
      </p:sp>
      <p:sp>
        <p:nvSpPr>
          <p:cNvPr id="3" name="">
            <a:extLst xmlns:a="http://schemas.openxmlformats.org/drawingml/2006/main">
              <a:ext uri="{FF2B5EF4-FFF2-40B4-BE49-F238E27FC236}">
                <a16:creationId xmlns:a16="http://schemas.microsoft.com/office/drawing/2014/main" id="{72D7F924-B34B-40CC-A016-19157F7532CF}"/>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2143DA2-71A7-4EA3-90E1-0CF5CB661F94}"/>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[7]. Ilustraciones conceptuales.</a:t>
            </a:r>
          </a:p>
        </p:txBody>
      </p:sp>
      <p:sp>
        <p:nvSpPr>
          <p:cNvPr id="5" name="">
            <a:extLst xmlns:a="http://schemas.openxmlformats.org/drawingml/2006/main">
              <a:ext uri="{FF2B5EF4-FFF2-40B4-BE49-F238E27FC236}">
                <a16:creationId xmlns:a16="http://schemas.microsoft.com/office/drawing/2014/main" id="{75A0EBCC-A30C-4841-8DDF-D26BF29F84C7}"/>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27 / 39</a:t>
            </a:r>
          </a:p>
        </p:txBody>
      </p:sp>
      <p:pic>
        <p:nvPicPr>
          <p:cNvPr id="6" name="">
            <a:extLst xmlns:a="http://schemas.openxmlformats.org/drawingml/2006/main">
              <a:ext uri="{FF2B5EF4-FFF2-40B4-BE49-F238E27FC236}">
                <a16:creationId xmlns:a16="http://schemas.microsoft.com/office/drawing/2014/main" id="{E34A080F-FA45-464A-AFFD-F6E9A9B1A235}"/>
              </a:ext>
            </a:extLst>
          </p:cNvPr>
          <p:cNvPicPr>
            <a:picLocks xmlns:a="http://schemas.openxmlformats.org/drawingml/2006/main" noChangeAspect="1"/>
          </p:cNvPicPr>
          <p:nvPr/>
        </p:nvPicPr>
        <p:blipFill>
          <a:blip xmlns:r="http://schemas.openxmlformats.org/officeDocument/2006/relationships" xmlns:a="http://schemas.openxmlformats.org/drawingml/2006/main" r:embed="R6ed87d265af44c31"/>
          <a:srcRect xmlns:a="http://schemas.openxmlformats.org/drawingml/2006/main" l="0" t="0" r="66667" b="53000"/>
          <a:stretch xmlns:a="http://schemas.openxmlformats.org/drawingml/2006/main"/>
        </p:blipFill>
        <p:spPr>
          <a:xfrm xmlns:a="http://schemas.openxmlformats.org/drawingml/2006/main">
            <a:off x="1167319" y="1952625"/>
            <a:ext cx="3951862" cy="3714750"/>
          </a:xfrm>
          <a:prstGeom xmlns:a="http://schemas.openxmlformats.org/drawingml/2006/main" prst="rect">
            <a:avLst/>
          </a:prstGeom>
        </p:spPr>
      </p:pic>
      <p:graphicFrame>
        <p:nvGraphicFramePr>
          <p:cNvPr id="7" name="Chart">
            <a:extLst xmlns:a="http://schemas.openxmlformats.org/drawingml/2006/main">
              <a:ext uri="{FF2B5EF4-FFF2-40B4-BE49-F238E27FC236}">
                <a16:creationId xmlns:a16="http://schemas.microsoft.com/office/drawing/2014/main" id="{7B6B76BA-0EE1-4AAD-A778-81F53364E408}"/>
              </a:ext>
            </a:extLst>
          </p:cNvPr>
          <p:cNvGraphicFramePr/>
          <p:nvPr/>
        </p:nvGraphicFramePr>
        <p:xfrm>
          <a:off xmlns:a="http://schemas.openxmlformats.org/drawingml/2006/main" x="6191250" y="1905000"/>
          <a:ext xmlns:a="http://schemas.openxmlformats.org/drawingml/2006/main" cx="5334000" cy="3381375"/>
        </p:xfrm>
        <a:graphic xmlns:a="http://schemas.openxmlformats.org/drawingml/2006/main">
          <a:graphicData uri="http://schemas.openxmlformats.org/drawingml/2006/chart">
            <c:chart xmlns:r="http://schemas.openxmlformats.org/officeDocument/2006/relationships" xmlns:c="http://schemas.openxmlformats.org/drawingml/2006/chart" r:id="R45d1a3801d734129"/>
          </a:graphicData>
        </a:graphic>
      </p:graphicFrame>
      <p:sp>
        <p:nvSpPr>
          <p:cNvPr id="8" name="">
            <a:extLst xmlns:a="http://schemas.openxmlformats.org/drawingml/2006/main">
              <a:ext uri="{FF2B5EF4-FFF2-40B4-BE49-F238E27FC236}">
                <a16:creationId xmlns:a16="http://schemas.microsoft.com/office/drawing/2014/main" id="{2F32CE3A-6A2A-4668-A655-356E97E41216}"/>
              </a:ext>
            </a:extLst>
          </p:cNvPr>
          <p:cNvSpPr>
            <a:spLocks xmlns:a="http://schemas.openxmlformats.org/drawingml/2006/main" noGrp="1"/>
          </p:cNvSpPr>
          <p:nvPr/>
        </p:nvSpPr>
        <p:spPr>
          <a:xfrm xmlns:a="http://schemas.openxmlformats.org/drawingml/2006/main">
            <a:off x="6191250" y="5476875"/>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i="0">
                <a:solidFill>
                  <a:srgbClr val="647A84"/>
                </a:solidFill>
                <a:latin typeface="DejaVu Sans"/>
                <a:ea typeface="DejaVu Sans"/>
                <a:cs typeface="DejaVu Sans"/>
              </a:defRPr>
            </a:defPPr>
          </a:lstStyle>
          <a:p xmlns:a="http://schemas.openxmlformats.org/drawingml/2006/main">
            <a:pPr algn="l">
              <a:lnSpc>
                <a:spcPct val="112000"/>
              </a:lnSpc>
              <a:buNone/>
              <a:defRPr sz="1725" b="0" i="0">
                <a:solidFill>
                  <a:srgbClr val="647A84"/>
                </a:solidFill>
                <a:latin typeface="DejaVu Sans"/>
                <a:ea typeface="DejaVu Sans"/>
                <a:cs typeface="DejaVu Sans"/>
              </a:defRPr>
            </a:pPr>
            <a:r>
              <a:rPr sz="1725" b="0" i="0">
                <a:solidFill>
                  <a:srgbClr val="647A84"/>
                </a:solidFill>
                <a:latin typeface="DejaVu Sans"/>
                <a:ea typeface="DejaVu Sans"/>
                <a:cs typeface="DejaVu Sans"/>
              </a:rPr>
              <a:t>T1: café, arroz y aserrín</a:t>
            </a:r>
          </a:p>
          <a:p xmlns:a="http://schemas.openxmlformats.org/drawingml/2006/main">
            <a:pPr algn="l">
              <a:lnSpc>
                <a:spcPct val="112000"/>
              </a:lnSpc>
              <a:buNone/>
              <a:defRPr sz="1725" b="0" i="0">
                <a:solidFill>
                  <a:srgbClr val="647A84"/>
                </a:solidFill>
                <a:latin typeface="DejaVu Sans"/>
                <a:ea typeface="DejaVu Sans"/>
                <a:cs typeface="DejaVu Sans"/>
              </a:defRPr>
            </a:pPr>
            <a:r>
              <a:rPr sz="1725" b="0" i="0">
                <a:solidFill>
                  <a:srgbClr val="647A84"/>
                </a:solidFill>
                <a:latin typeface="DejaVu Sans"/>
                <a:ea typeface="DejaVu Sans"/>
                <a:cs typeface="DejaVu Sans"/>
              </a:rPr>
              <a:t>T2: aserrín</a:t>
            </a:r>
          </a:p>
        </p:txBody>
      </p:sp>
      <p:sp>
        <p:nvSpPr>
          <p:cNvPr id="9" name="">
            <a:extLst xmlns:a="http://schemas.openxmlformats.org/drawingml/2006/main">
              <a:ext uri="{FF2B5EF4-FFF2-40B4-BE49-F238E27FC236}">
                <a16:creationId xmlns:a16="http://schemas.microsoft.com/office/drawing/2014/main" id="{2338DCB5-E8F5-4519-855C-D61F33229321}"/>
              </a:ext>
            </a:extLst>
          </p:cNvPr>
          <p:cNvSpPr>
            <a:spLocks xmlns:a="http://schemas.openxmlformats.org/drawingml/2006/main" noGrp="1"/>
          </p:cNvSpPr>
          <p:nvPr/>
        </p:nvSpPr>
        <p:spPr>
          <a:xfrm xmlns:a="http://schemas.openxmlformats.org/drawingml/2006/main">
            <a:off x="571500" y="606742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2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Un ensayo conecta sustrato, metabolismo y producción</a:t>
            </a:r>
          </a:p>
        </p:txBody>
      </p:sp>
    </p:spTree>
    <p:extLst>
      <p:ext uri="{BB962C8B-B14F-4D97-AF65-F5344CB8AC3E}">
        <p14:creationId xmlns:p14="http://schemas.microsoft.com/office/powerpoint/2010/main" val="16875958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E42A03-88AA-4FBE-B74D-0A733C7C0CF2}"/>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Levaduras y fermentación de cacao</a:t>
            </a:r>
          </a:p>
        </p:txBody>
      </p:sp>
      <p:sp>
        <p:nvSpPr>
          <p:cNvPr id="2" name="">
            <a:extLst xmlns:a="http://schemas.openxmlformats.org/drawingml/2006/main">
              <a:ext uri="{FF2B5EF4-FFF2-40B4-BE49-F238E27FC236}">
                <a16:creationId xmlns:a16="http://schemas.microsoft.com/office/drawing/2014/main" id="{4AA73C25-66A5-4DFC-9216-942D7992231C}"/>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Una comunidad iniciadora con microorganismos locales.</a:t>
            </a:r>
          </a:p>
        </p:txBody>
      </p:sp>
      <p:sp>
        <p:nvSpPr>
          <p:cNvPr id="3" name="">
            <a:extLst xmlns:a="http://schemas.openxmlformats.org/drawingml/2006/main">
              <a:ext uri="{FF2B5EF4-FFF2-40B4-BE49-F238E27FC236}">
                <a16:creationId xmlns:a16="http://schemas.microsoft.com/office/drawing/2014/main" id="{7632FC80-E5B7-42F7-8859-55E2F659BB36}"/>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CF7F789-B892-4885-B919-2AD3E4AEAB8D}"/>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[8]. Ilustraciones conceptuales.</a:t>
            </a:r>
          </a:p>
        </p:txBody>
      </p:sp>
      <p:sp>
        <p:nvSpPr>
          <p:cNvPr id="5" name="">
            <a:extLst xmlns:a="http://schemas.openxmlformats.org/drawingml/2006/main">
              <a:ext uri="{FF2B5EF4-FFF2-40B4-BE49-F238E27FC236}">
                <a16:creationId xmlns:a16="http://schemas.microsoft.com/office/drawing/2014/main" id="{171BFED1-E704-43AB-8D27-177DECFDF5E8}"/>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28 / 39</a:t>
            </a:r>
          </a:p>
        </p:txBody>
      </p:sp>
      <p:pic>
        <p:nvPicPr>
          <p:cNvPr id="6" name="">
            <a:extLst xmlns:a="http://schemas.openxmlformats.org/drawingml/2006/main">
              <a:ext uri="{FF2B5EF4-FFF2-40B4-BE49-F238E27FC236}">
                <a16:creationId xmlns:a16="http://schemas.microsoft.com/office/drawing/2014/main" id="{A5D25CFC-C2E4-4426-AB22-F82DE1F0BE64}"/>
              </a:ext>
            </a:extLst>
          </p:cNvPr>
          <p:cNvPicPr>
            <a:picLocks xmlns:a="http://schemas.openxmlformats.org/drawingml/2006/main" noChangeAspect="1"/>
          </p:cNvPicPr>
          <p:nvPr/>
        </p:nvPicPr>
        <p:blipFill>
          <a:blip xmlns:r="http://schemas.openxmlformats.org/officeDocument/2006/relationships" xmlns:a="http://schemas.openxmlformats.org/drawingml/2006/main" r:embed="R92cc9fa62a19464b"/>
          <a:srcRect xmlns:a="http://schemas.openxmlformats.org/drawingml/2006/main" l="33333" t="0" r="33333" b="53000"/>
          <a:stretch xmlns:a="http://schemas.openxmlformats.org/drawingml/2006/main"/>
        </p:blipFill>
        <p:spPr>
          <a:xfrm xmlns:a="http://schemas.openxmlformats.org/drawingml/2006/main">
            <a:off x="1613880" y="1762125"/>
            <a:ext cx="4306516"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DAF95EF-1663-40C9-8295-F95397AF70B3}"/>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Dos levaduras</a:t>
            </a:r>
          </a:p>
        </p:txBody>
      </p:sp>
      <p:sp>
        <p:nvSpPr>
          <p:cNvPr id="8" name="">
            <a:extLst xmlns:a="http://schemas.openxmlformats.org/drawingml/2006/main">
              <a:ext uri="{FF2B5EF4-FFF2-40B4-BE49-F238E27FC236}">
                <a16:creationId xmlns:a16="http://schemas.microsoft.com/office/drawing/2014/main" id="{46F83255-9C9B-46C5-82A9-60D3A6DE981C}"/>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Torulaspora delbrueckii</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Hanseniaspora uvarum</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Junto con bacterias</a:t>
            </a:r>
          </a:p>
        </p:txBody>
      </p:sp>
      <p:sp>
        <p:nvSpPr>
          <p:cNvPr id="9" name="">
            <a:extLst xmlns:a="http://schemas.openxmlformats.org/drawingml/2006/main">
              <a:ext uri="{FF2B5EF4-FFF2-40B4-BE49-F238E27FC236}">
                <a16:creationId xmlns:a16="http://schemas.microsoft.com/office/drawing/2014/main" id="{93A67665-3AA7-4050-9AF4-CCF8CE5531BC}"/>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aplicación depende del consorcio y del proceso</a:t>
            </a:r>
          </a:p>
        </p:txBody>
      </p:sp>
    </p:spTree>
    <p:extLst>
      <p:ext uri="{BB962C8B-B14F-4D97-AF65-F5344CB8AC3E}">
        <p14:creationId xmlns:p14="http://schemas.microsoft.com/office/powerpoint/2010/main" val="1621212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FEFCA2-DF1D-434A-9AAD-5042DA5C8687}"/>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Trichoderma y biocontrol en cacao</a:t>
            </a:r>
          </a:p>
        </p:txBody>
      </p:sp>
      <p:sp>
        <p:nvSpPr>
          <p:cNvPr id="2" name="">
            <a:extLst xmlns:a="http://schemas.openxmlformats.org/drawingml/2006/main">
              <a:ext uri="{FF2B5EF4-FFF2-40B4-BE49-F238E27FC236}">
                <a16:creationId xmlns:a16="http://schemas.microsoft.com/office/drawing/2014/main" id="{4FE7A78D-3262-49F3-AFB1-FCAE0D6BF79A}"/>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Extractos de cepas ecuatorianas y ensayos in vitro.</a:t>
            </a:r>
          </a:p>
        </p:txBody>
      </p:sp>
      <p:sp>
        <p:nvSpPr>
          <p:cNvPr id="3" name="">
            <a:extLst xmlns:a="http://schemas.openxmlformats.org/drawingml/2006/main">
              <a:ext uri="{FF2B5EF4-FFF2-40B4-BE49-F238E27FC236}">
                <a16:creationId xmlns:a16="http://schemas.microsoft.com/office/drawing/2014/main" id="{9BC13E4B-C799-4390-BA99-D79FEB8DA94E}"/>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F4F19541-8336-4ED8-B1D0-CBA57B68616A}"/>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[9]. Ilustraciones conceptuales.</a:t>
            </a:r>
          </a:p>
        </p:txBody>
      </p:sp>
      <p:sp>
        <p:nvSpPr>
          <p:cNvPr id="5" name="">
            <a:extLst xmlns:a="http://schemas.openxmlformats.org/drawingml/2006/main">
              <a:ext uri="{FF2B5EF4-FFF2-40B4-BE49-F238E27FC236}">
                <a16:creationId xmlns:a16="http://schemas.microsoft.com/office/drawing/2014/main" id="{0A461641-A49B-4078-AA80-6AB7A183BB67}"/>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29 / 39</a:t>
            </a:r>
          </a:p>
        </p:txBody>
      </p:sp>
      <p:pic>
        <p:nvPicPr>
          <p:cNvPr id="6" name="">
            <a:extLst xmlns:a="http://schemas.openxmlformats.org/drawingml/2006/main">
              <a:ext uri="{FF2B5EF4-FFF2-40B4-BE49-F238E27FC236}">
                <a16:creationId xmlns:a16="http://schemas.microsoft.com/office/drawing/2014/main" id="{C17D8DB1-7EFC-4A7B-BB7D-693B162C0B50}"/>
              </a:ext>
            </a:extLst>
          </p:cNvPr>
          <p:cNvPicPr>
            <a:picLocks xmlns:a="http://schemas.openxmlformats.org/drawingml/2006/main" noChangeAspect="1"/>
          </p:cNvPicPr>
          <p:nvPr/>
        </p:nvPicPr>
        <p:blipFill>
          <a:blip xmlns:r="http://schemas.openxmlformats.org/officeDocument/2006/relationships" xmlns:a="http://schemas.openxmlformats.org/drawingml/2006/main" r:embed="R1309ac51885d4907"/>
          <a:srcRect xmlns:a="http://schemas.openxmlformats.org/drawingml/2006/main" l="66667" t="0" r="0" b="53000"/>
          <a:stretch xmlns:a="http://schemas.openxmlformats.org/drawingml/2006/main"/>
        </p:blipFill>
        <p:spPr>
          <a:xfrm xmlns:a="http://schemas.openxmlformats.org/drawingml/2006/main">
            <a:off x="1613880" y="1762125"/>
            <a:ext cx="4306516"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7459DB7-D219-4CDF-8E48-E71554F24A07}"/>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Extracto C10</a:t>
            </a:r>
          </a:p>
        </p:txBody>
      </p:sp>
      <p:sp>
        <p:nvSpPr>
          <p:cNvPr id="8" name="">
            <a:extLst xmlns:a="http://schemas.openxmlformats.org/drawingml/2006/main">
              <a:ext uri="{FF2B5EF4-FFF2-40B4-BE49-F238E27FC236}">
                <a16:creationId xmlns:a16="http://schemas.microsoft.com/office/drawing/2014/main" id="{6BB9CF56-2A4C-43CC-92B4-D02F9000C7B3}"/>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Trichoderma spirale</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Inhibición de M. perniciosa en</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laboratorio</a:t>
            </a:r>
          </a:p>
        </p:txBody>
      </p:sp>
      <p:sp>
        <p:nvSpPr>
          <p:cNvPr id="9" name="">
            <a:extLst xmlns:a="http://schemas.openxmlformats.org/drawingml/2006/main">
              <a:ext uri="{FF2B5EF4-FFF2-40B4-BE49-F238E27FC236}">
                <a16:creationId xmlns:a16="http://schemas.microsoft.com/office/drawing/2014/main" id="{40DC688A-B7A0-4CA1-BB4B-B5F66EAACC01}"/>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actividad de un extracto requiere validación en planta</a:t>
            </a:r>
          </a:p>
        </p:txBody>
      </p:sp>
    </p:spTree>
    <p:extLst>
      <p:ext uri="{BB962C8B-B14F-4D97-AF65-F5344CB8AC3E}">
        <p14:creationId xmlns:p14="http://schemas.microsoft.com/office/powerpoint/2010/main" val="17722267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B188F7-8D48-408F-95CF-5F01E19821DA}"/>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Una especie nueva y su bioactividad</a:t>
            </a:r>
          </a:p>
        </p:txBody>
      </p:sp>
      <p:sp>
        <p:nvSpPr>
          <p:cNvPr id="2" name="">
            <a:extLst xmlns:a="http://schemas.openxmlformats.org/drawingml/2006/main">
              <a:ext uri="{FF2B5EF4-FFF2-40B4-BE49-F238E27FC236}">
                <a16:creationId xmlns:a16="http://schemas.microsoft.com/office/drawing/2014/main" id="{6E833A06-E099-4914-92E6-842515C4FB9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Gloeocystidiellum lojanense, bosque montano del sur de Ecuador.</a:t>
            </a:r>
          </a:p>
        </p:txBody>
      </p:sp>
      <p:sp>
        <p:nvSpPr>
          <p:cNvPr id="3" name="">
            <a:extLst xmlns:a="http://schemas.openxmlformats.org/drawingml/2006/main">
              <a:ext uri="{FF2B5EF4-FFF2-40B4-BE49-F238E27FC236}">
                <a16:creationId xmlns:a16="http://schemas.microsoft.com/office/drawing/2014/main" id="{874B63F9-F7EE-4B54-80E7-73C4A41CEA07}"/>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1D5C20DD-1CE4-427C-9B52-B96CB31D29A2}"/>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[6] [10]. Ilustraciones conceptuales.</a:t>
            </a:r>
          </a:p>
        </p:txBody>
      </p:sp>
      <p:sp>
        <p:nvSpPr>
          <p:cNvPr id="5" name="">
            <a:extLst xmlns:a="http://schemas.openxmlformats.org/drawingml/2006/main">
              <a:ext uri="{FF2B5EF4-FFF2-40B4-BE49-F238E27FC236}">
                <a16:creationId xmlns:a16="http://schemas.microsoft.com/office/drawing/2014/main" id="{FBC16DF6-B533-438C-A8FA-23018E6018EB}"/>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30 / 39</a:t>
            </a:r>
          </a:p>
        </p:txBody>
      </p:sp>
      <p:pic>
        <p:nvPicPr>
          <p:cNvPr id="6" name="">
            <a:extLst xmlns:a="http://schemas.openxmlformats.org/drawingml/2006/main">
              <a:ext uri="{FF2B5EF4-FFF2-40B4-BE49-F238E27FC236}">
                <a16:creationId xmlns:a16="http://schemas.microsoft.com/office/drawing/2014/main" id="{E503454D-B300-4F74-B0BF-766A790C9C7D}"/>
              </a:ext>
            </a:extLst>
          </p:cNvPr>
          <p:cNvPicPr>
            <a:picLocks xmlns:a="http://schemas.openxmlformats.org/drawingml/2006/main" noChangeAspect="1"/>
          </p:cNvPicPr>
          <p:nvPr/>
        </p:nvPicPr>
        <p:blipFill>
          <a:blip xmlns:r="http://schemas.openxmlformats.org/officeDocument/2006/relationships" xmlns:a="http://schemas.openxmlformats.org/drawingml/2006/main" r:embed="R867154f818634c96"/>
          <a:srcRect xmlns:a="http://schemas.openxmlformats.org/drawingml/2006/main" l="0" t="50000" r="66667" b="0"/>
          <a:stretch xmlns:a="http://schemas.openxmlformats.org/drawingml/2006/main"/>
        </p:blipFill>
        <p:spPr>
          <a:xfrm xmlns:a="http://schemas.openxmlformats.org/drawingml/2006/main">
            <a:off x="1743075" y="1762125"/>
            <a:ext cx="4048125"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75F08E1-9BC6-4877-9D49-7A26769A24C1}"/>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Tres evidencias</a:t>
            </a:r>
          </a:p>
        </p:txBody>
      </p:sp>
      <p:sp>
        <p:nvSpPr>
          <p:cNvPr id="8" name="">
            <a:extLst xmlns:a="http://schemas.openxmlformats.org/drawingml/2006/main">
              <a:ext uri="{FF2B5EF4-FFF2-40B4-BE49-F238E27FC236}">
                <a16:creationId xmlns:a16="http://schemas.microsoft.com/office/drawing/2014/main" id="{ECE9655B-B4C7-48AD-9B06-1600DB951AB1}"/>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Morfología</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ITS y LSU</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Actividad antibacteriana</a:t>
            </a:r>
          </a:p>
        </p:txBody>
      </p:sp>
      <p:sp>
        <p:nvSpPr>
          <p:cNvPr id="9" name="">
            <a:extLst xmlns:a="http://schemas.openxmlformats.org/drawingml/2006/main">
              <a:ext uri="{FF2B5EF4-FFF2-40B4-BE49-F238E27FC236}">
                <a16:creationId xmlns:a16="http://schemas.microsoft.com/office/drawing/2014/main" id="{6412E9C6-5BF0-4989-968A-A2B7A1EE0532}"/>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Describir una especie y validar un medicamento son pasos distintos</a:t>
            </a:r>
          </a:p>
        </p:txBody>
      </p:sp>
    </p:spTree>
    <p:extLst>
      <p:ext uri="{BB962C8B-B14F-4D97-AF65-F5344CB8AC3E}">
        <p14:creationId xmlns:p14="http://schemas.microsoft.com/office/powerpoint/2010/main" val="55678547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367A37E-089D-45F0-9F7B-6AA0C3E7D399}"/>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Micobioma asociado a Inga en Tiputini</a:t>
            </a:r>
          </a:p>
        </p:txBody>
      </p:sp>
      <p:sp>
        <p:nvSpPr>
          <p:cNvPr id="2" name="">
            <a:extLst xmlns:a="http://schemas.openxmlformats.org/drawingml/2006/main">
              <a:ext uri="{FF2B5EF4-FFF2-40B4-BE49-F238E27FC236}">
                <a16:creationId xmlns:a16="http://schemas.microsoft.com/office/drawing/2014/main" id="{3862044E-9C41-4C52-8C9B-C89EB09BDB14}"/>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Diversidad de hongos en dos ambientes amazónicos vecinos.</a:t>
            </a:r>
          </a:p>
        </p:txBody>
      </p:sp>
      <p:sp>
        <p:nvSpPr>
          <p:cNvPr id="3" name="">
            <a:extLst xmlns:a="http://schemas.openxmlformats.org/drawingml/2006/main">
              <a:ext uri="{FF2B5EF4-FFF2-40B4-BE49-F238E27FC236}">
                <a16:creationId xmlns:a16="http://schemas.microsoft.com/office/drawing/2014/main" id="{87E05403-C08C-4DB5-B035-5757F44A6E41}"/>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4342671F-24CB-48B0-8146-4EAB5567EF87}"/>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[11]. Ilustraciones conceptuales.</a:t>
            </a:r>
          </a:p>
        </p:txBody>
      </p:sp>
      <p:sp>
        <p:nvSpPr>
          <p:cNvPr id="5" name="">
            <a:extLst xmlns:a="http://schemas.openxmlformats.org/drawingml/2006/main">
              <a:ext uri="{FF2B5EF4-FFF2-40B4-BE49-F238E27FC236}">
                <a16:creationId xmlns:a16="http://schemas.microsoft.com/office/drawing/2014/main" id="{AF508F87-AE72-4C9B-97C3-A65FA6E5707E}"/>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31 / 39</a:t>
            </a:r>
          </a:p>
        </p:txBody>
      </p:sp>
      <p:pic>
        <p:nvPicPr>
          <p:cNvPr id="6" name="">
            <a:extLst xmlns:a="http://schemas.openxmlformats.org/drawingml/2006/main">
              <a:ext uri="{FF2B5EF4-FFF2-40B4-BE49-F238E27FC236}">
                <a16:creationId xmlns:a16="http://schemas.microsoft.com/office/drawing/2014/main" id="{B3DA1034-F1A1-4C1E-9E04-C8986F6B3B0B}"/>
              </a:ext>
            </a:extLst>
          </p:cNvPr>
          <p:cNvPicPr>
            <a:picLocks xmlns:a="http://schemas.openxmlformats.org/drawingml/2006/main" noChangeAspect="1"/>
          </p:cNvPicPr>
          <p:nvPr/>
        </p:nvPicPr>
        <p:blipFill>
          <a:blip xmlns:r="http://schemas.openxmlformats.org/officeDocument/2006/relationships" xmlns:a="http://schemas.openxmlformats.org/drawingml/2006/main" r:embed="R13b0eb2d36e14407"/>
          <a:srcRect xmlns:a="http://schemas.openxmlformats.org/drawingml/2006/main" l="33333" t="50000" r="33333" b="0"/>
          <a:stretch xmlns:a="http://schemas.openxmlformats.org/drawingml/2006/main"/>
        </p:blipFill>
        <p:spPr>
          <a:xfrm xmlns:a="http://schemas.openxmlformats.org/drawingml/2006/main">
            <a:off x="1743075" y="1762125"/>
            <a:ext cx="4048125" cy="4048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4BC0101-AE98-458F-BEE1-CB6B9D1D03FB}"/>
              </a:ext>
            </a:extLst>
          </p:cNvPr>
          <p:cNvSpPr>
            <a:spLocks xmlns:a="http://schemas.openxmlformats.org/drawingml/2006/main" noGrp="1"/>
          </p:cNvSpPr>
          <p:nvPr/>
        </p:nvSpPr>
        <p:spPr>
          <a:xfrm xmlns:a="http://schemas.openxmlformats.org/drawingml/2006/main">
            <a:off x="7429500" y="1981200"/>
            <a:ext cx="41148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Comparación ambiental</a:t>
            </a:r>
          </a:p>
        </p:txBody>
      </p:sp>
      <p:sp>
        <p:nvSpPr>
          <p:cNvPr id="8" name="">
            <a:extLst xmlns:a="http://schemas.openxmlformats.org/drawingml/2006/main">
              <a:ext uri="{FF2B5EF4-FFF2-40B4-BE49-F238E27FC236}">
                <a16:creationId xmlns:a16="http://schemas.microsoft.com/office/drawing/2014/main" id="{1D6FC0CF-465C-48EB-B324-1A1C1E0427DA}"/>
              </a:ext>
            </a:extLst>
          </p:cNvPr>
          <p:cNvSpPr>
            <a:spLocks xmlns:a="http://schemas.openxmlformats.org/drawingml/2006/main" noGrp="1"/>
          </p:cNvSpPr>
          <p:nvPr/>
        </p:nvSpPr>
        <p:spPr>
          <a:xfrm xmlns:a="http://schemas.openxmlformats.org/drawingml/2006/main">
            <a:off x="7429500" y="3105150"/>
            <a:ext cx="41148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Terra firme y várzea</a:t>
            </a:r>
          </a:p>
          <a:p xmlns:a="http://schemas.openxmlformats.org/drawingml/2006/main">
            <a:r>
              <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Comunidades de hongos y</a:t>
            </a:r>
          </a:p>
          <a:p xmlns:a="http://schemas.openxmlformats.org/drawingml/2006/main">
            <a:pPr algn="l">
              <a:lnSpc>
                <a:spcPct val="112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micorrícicos</a:t>
            </a:r>
          </a:p>
        </p:txBody>
      </p:sp>
      <p:sp>
        <p:nvSpPr>
          <p:cNvPr id="9" name="">
            <a:extLst xmlns:a="http://schemas.openxmlformats.org/drawingml/2006/main">
              <a:ext uri="{FF2B5EF4-FFF2-40B4-BE49-F238E27FC236}">
                <a16:creationId xmlns:a16="http://schemas.microsoft.com/office/drawing/2014/main" id="{BE9A7C32-9AC6-4A78-A97A-DF4EB44DDCBC}"/>
              </a:ext>
            </a:extLst>
          </p:cNvPr>
          <p:cNvSpPr>
            <a:spLocks xmlns:a="http://schemas.openxmlformats.org/drawingml/2006/main" noGrp="1"/>
          </p:cNvSpPr>
          <p:nvPr/>
        </p:nvSpPr>
        <p:spPr>
          <a:xfrm xmlns:a="http://schemas.openxmlformats.org/drawingml/2006/main">
            <a:off x="571500" y="60483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2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La asociación observada permite proponer nuevas pruebas</a:t>
            </a:r>
          </a:p>
        </p:txBody>
      </p:sp>
    </p:spTree>
    <p:extLst>
      <p:ext uri="{BB962C8B-B14F-4D97-AF65-F5344CB8AC3E}">
        <p14:creationId xmlns:p14="http://schemas.microsoft.com/office/powerpoint/2010/main" val="87840646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B7F62C-DEDD-4AA1-8925-15394A171A4C}"/>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Aplicaciones y alcance de la evidencia</a:t>
            </a:r>
          </a:p>
        </p:txBody>
      </p:sp>
      <p:sp>
        <p:nvSpPr>
          <p:cNvPr id="2" name="">
            <a:extLst xmlns:a="http://schemas.openxmlformats.org/drawingml/2006/main">
              <a:ext uri="{FF2B5EF4-FFF2-40B4-BE49-F238E27FC236}">
                <a16:creationId xmlns:a16="http://schemas.microsoft.com/office/drawing/2014/main" id="{A2E51262-1D7B-407A-8F31-EE29418014F0}"/>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Cada estudio responde una pregunta diferente.</a:t>
            </a:r>
          </a:p>
        </p:txBody>
      </p:sp>
      <p:sp>
        <p:nvSpPr>
          <p:cNvPr id="3" name="">
            <a:extLst xmlns:a="http://schemas.openxmlformats.org/drawingml/2006/main">
              <a:ext uri="{FF2B5EF4-FFF2-40B4-BE49-F238E27FC236}">
                <a16:creationId xmlns:a16="http://schemas.microsoft.com/office/drawing/2014/main" id="{53693CB2-A65A-49BE-BFA0-A19A29B3934E}"/>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EDFBD00-C1C2-4AF0-A4DE-DE465EB2C907}"/>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[7] [8] [9] [10] [11]. Ilustraciones conceptuales.</a:t>
            </a:r>
          </a:p>
        </p:txBody>
      </p:sp>
      <p:sp>
        <p:nvSpPr>
          <p:cNvPr id="5" name="">
            <a:extLst xmlns:a="http://schemas.openxmlformats.org/drawingml/2006/main">
              <a:ext uri="{FF2B5EF4-FFF2-40B4-BE49-F238E27FC236}">
                <a16:creationId xmlns:a16="http://schemas.microsoft.com/office/drawing/2014/main" id="{7E6F39E5-3F8F-4242-ABB3-B593F436409E}"/>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32 / 39</a:t>
            </a:r>
          </a:p>
        </p:txBody>
      </p:sp>
      <p:graphicFrame>
        <p:nvGraphicFramePr>
          <p:cNvPr id="6" name="">
            <a:extLst xmlns:a="http://schemas.openxmlformats.org/drawingml/2006/main">
              <a:ext uri="{FF2B5EF4-FFF2-40B4-BE49-F238E27FC236}">
                <a16:creationId xmlns:a16="http://schemas.microsoft.com/office/drawing/2014/main" id="{D00173FC-32CD-41FE-871F-DB131646B363}"/>
              </a:ext>
            </a:extLst>
          </p:cNvPr>
          <p:cNvGraphicFramePr/>
          <p:nvPr/>
        </p:nvGraphicFramePr>
        <p:xfrm>
          <a:off xmlns:a="http://schemas.openxmlformats.org/drawingml/2006/main" x="552450" y="1971675"/>
          <a:ext xmlns:a="http://schemas.openxmlformats.org/drawingml/2006/main" cx="11087100" cy="4162425"/>
        </p:xfrm>
        <a:graphic xmlns:a="http://schemas.openxmlformats.org/drawingml/2006/main">
          <a:graphicData uri="http://schemas.openxmlformats.org/drawingml/2006/table">
            <a:tbl>
              <a:tblPr/>
              <a:tblGrid>
                <a:gridCol w="2571750"/>
                <a:gridCol w="4257675"/>
                <a:gridCol w="4257675"/>
              </a:tblGrid>
              <a:tr h="542925">
                <a:tc>
                  <a:txBody>
                    <a:bodyPr lIns="114300" tIns="114300" rIns="114300" bIns="114300"/>
                    <a:lstStyle/>
                    <a:p>
                      <a:pPr>
                        <a:lnSpc>
                          <a:spcPct val="108000"/>
                        </a:lnSpc>
                        <a:buNone/>
                      </a:pPr>
                      <a:r>
                        <a:rPr sz="1725" b="1">
                          <a:solidFill>
                            <a:srgbClr val="FFFFFF"/>
                          </a:solidFill>
                          <a:latin typeface="DejaVu Sans"/>
                          <a:ea typeface="DejaVu Sans"/>
                          <a:cs typeface="DejaVu Sans"/>
                        </a:rPr>
                        <a:t>Caso</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1725" b="1">
                          <a:solidFill>
                            <a:srgbClr val="FFFFFF"/>
                          </a:solidFill>
                          <a:latin typeface="DejaVu Sans"/>
                          <a:ea typeface="DejaVu Sans"/>
                          <a:cs typeface="DejaVu Sans"/>
                        </a:rPr>
                        <a:t>Evidencia principal</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14300" tIns="114300" rIns="114300" bIns="114300"/>
                    <a:lstStyle/>
                    <a:p>
                      <a:pPr>
                        <a:lnSpc>
                          <a:spcPct val="108000"/>
                        </a:lnSpc>
                        <a:buNone/>
                      </a:pPr>
                      <a:r>
                        <a:rPr sz="1725" b="1">
                          <a:solidFill>
                            <a:srgbClr val="FFFFFF"/>
                          </a:solidFill>
                          <a:latin typeface="DejaVu Sans"/>
                          <a:ea typeface="DejaVu Sans"/>
                          <a:cs typeface="DejaVu Sans"/>
                        </a:rPr>
                        <a:t>Aplicación investigada</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723900">
                <a:tc>
                  <a:txBody>
                    <a:bodyPr lIns="114300" tIns="114300" rIns="114300" bIns="114300"/>
                    <a:lstStyle/>
                    <a:p>
                      <a:pPr>
                        <a:lnSpc>
                          <a:spcPct val="108000"/>
                        </a:lnSpc>
                        <a:buNone/>
                      </a:pPr>
                      <a:r>
                        <a:rPr sz="1725" b="1">
                          <a:solidFill>
                            <a:srgbClr val="203E49"/>
                          </a:solidFill>
                          <a:latin typeface="DejaVu Sans"/>
                          <a:ea typeface="DejaVu Sans"/>
                          <a:cs typeface="DejaVu Sans"/>
                        </a:rPr>
                        <a:t>Pleurotus</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Cultivo y fructificación</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Alimentos y residuos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23900">
                <a:tc>
                  <a:txBody>
                    <a:bodyPr lIns="114300" tIns="114300" rIns="114300" bIns="114300"/>
                    <a:lstStyle/>
                    <a:p>
                      <a:pPr>
                        <a:lnSpc>
                          <a:spcPct val="108000"/>
                        </a:lnSpc>
                        <a:buNone/>
                      </a:pPr>
                      <a:r>
                        <a:rPr sz="1725" b="1">
                          <a:solidFill>
                            <a:srgbClr val="203E49"/>
                          </a:solidFill>
                          <a:latin typeface="DejaVu Sans"/>
                          <a:ea typeface="DejaVu Sans"/>
                          <a:cs typeface="DejaVu Sans"/>
                        </a:rPr>
                        <a:t>Levaduras de</a:t>
                      </a:r>
                    </a:p>
                    <a:p>
                      <a:pPr>
                        <a:lnSpc>
                          <a:spcPct val="108000"/>
                        </a:lnSpc>
                        <a:buNone/>
                      </a:pPr>
                      <a:r>
                        <a:rPr sz="1725" b="1">
                          <a:solidFill>
                            <a:srgbClr val="203E49"/>
                          </a:solidFill>
                          <a:latin typeface="DejaVu Sans"/>
                          <a:ea typeface="DejaVu Sans"/>
                          <a:cs typeface="DejaVu Sans"/>
                        </a:rPr>
                        <a:t>cacao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Proceso en consorcio</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Fermentación</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23900">
                <a:tc>
                  <a:txBody>
                    <a:bodyPr lIns="114300" tIns="114300" rIns="114300" bIns="114300"/>
                    <a:lstStyle/>
                    <a:p>
                      <a:pPr>
                        <a:lnSpc>
                          <a:spcPct val="108000"/>
                        </a:lnSpc>
                        <a:buNone/>
                      </a:pPr>
                      <a:r>
                        <a:rPr sz="1725" b="1">
                          <a:solidFill>
                            <a:srgbClr val="203E49"/>
                          </a:solidFill>
                          <a:latin typeface="DejaVu Sans"/>
                          <a:ea typeface="DejaVu Sans"/>
                          <a:cs typeface="DejaVu Sans"/>
                        </a:rPr>
                        <a:t>Trichoderma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Extractos in vitro</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Biocontrol potencial</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23900">
                <a:tc>
                  <a:txBody>
                    <a:bodyPr lIns="114300" tIns="114300" rIns="114300" bIns="114300"/>
                    <a:lstStyle/>
                    <a:p>
                      <a:pPr>
                        <a:lnSpc>
                          <a:spcPct val="108000"/>
                        </a:lnSpc>
                        <a:buNone/>
                      </a:pPr>
                      <a:r>
                        <a:rPr sz="1725" b="1">
                          <a:solidFill>
                            <a:srgbClr val="203E49"/>
                          </a:solidFill>
                          <a:latin typeface="DejaVu Sans"/>
                          <a:ea typeface="DejaVu Sans"/>
                          <a:cs typeface="DejaVu Sans"/>
                        </a:rPr>
                        <a:t>G. lojanense</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Especie y bioactividad</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Biodiversidad y compuestos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723900">
                <a:tc>
                  <a:txBody>
                    <a:bodyPr lIns="114300" tIns="114300" rIns="114300" bIns="114300"/>
                    <a:lstStyle/>
                    <a:p>
                      <a:pPr>
                        <a:lnSpc>
                          <a:spcPct val="108000"/>
                        </a:lnSpc>
                        <a:buNone/>
                      </a:pPr>
                      <a:r>
                        <a:rPr sz="1725" b="1">
                          <a:solidFill>
                            <a:srgbClr val="203E49"/>
                          </a:solidFill>
                          <a:latin typeface="DejaVu Sans"/>
                          <a:ea typeface="DejaVu Sans"/>
                          <a:cs typeface="DejaVu Sans"/>
                        </a:rPr>
                        <a:t>Inga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5F1F9"/>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Comunidades y ambiente</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14300" tIns="114300" rIns="114300" bIns="114300"/>
                    <a:lstStyle/>
                    <a:p>
                      <a:pPr>
                        <a:lnSpc>
                          <a:spcPct val="108000"/>
                        </a:lnSpc>
                        <a:buNone/>
                      </a:pPr>
                      <a:r>
                        <a:rPr sz="1725" b="0">
                          <a:solidFill>
                            <a:srgbClr val="203E49"/>
                          </a:solidFill>
                          <a:latin typeface="DejaVu Sans"/>
                          <a:ea typeface="DejaVu Sans"/>
                          <a:cs typeface="DejaVu Sans"/>
                        </a:rPr>
                        <a:t>Ecología de asociaciones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Tree>
    <p:extLst>
      <p:ext uri="{BB962C8B-B14F-4D97-AF65-F5344CB8AC3E}">
        <p14:creationId xmlns:p14="http://schemas.microsoft.com/office/powerpoint/2010/main" val="131768159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DD228D-C721-4DEA-B073-75E5787387FD}"/>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Actividad: estructura, nutrición y evidencia</a:t>
            </a:r>
          </a:p>
        </p:txBody>
      </p:sp>
      <p:sp>
        <p:nvSpPr>
          <p:cNvPr id="2" name="">
            <a:extLst xmlns:a="http://schemas.openxmlformats.org/drawingml/2006/main">
              <a:ext uri="{FF2B5EF4-FFF2-40B4-BE49-F238E27FC236}">
                <a16:creationId xmlns:a16="http://schemas.microsoft.com/office/drawing/2014/main" id="{F5CBB7F9-9A07-4132-A770-A60C8BA7B074}"/>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Equipos de 3–4. Un caso, una conclusión justificada.</a:t>
            </a:r>
          </a:p>
        </p:txBody>
      </p:sp>
      <p:sp>
        <p:nvSpPr>
          <p:cNvPr id="3" name="">
            <a:extLst xmlns:a="http://schemas.openxmlformats.org/drawingml/2006/main">
              <a:ext uri="{FF2B5EF4-FFF2-40B4-BE49-F238E27FC236}">
                <a16:creationId xmlns:a16="http://schemas.microsoft.com/office/drawing/2014/main" id="{5D07C9E4-6F16-408B-B9CC-BAE10740CE3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ED54054-7433-48F9-9BE9-2EB3C84FC34D}"/>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[8] [9] [10]. Ilustraciones conceptuales.</a:t>
            </a:r>
          </a:p>
        </p:txBody>
      </p:sp>
      <p:sp>
        <p:nvSpPr>
          <p:cNvPr id="5" name="">
            <a:extLst xmlns:a="http://schemas.openxmlformats.org/drawingml/2006/main">
              <a:ext uri="{FF2B5EF4-FFF2-40B4-BE49-F238E27FC236}">
                <a16:creationId xmlns:a16="http://schemas.microsoft.com/office/drawing/2014/main" id="{FCA06E8B-C321-45C3-87FC-66372ADFC684}"/>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33 / 39</a:t>
            </a:r>
          </a:p>
        </p:txBody>
      </p:sp>
      <p:sp>
        <p:nvSpPr>
          <p:cNvPr id="6" name="">
            <a:extLst xmlns:a="http://schemas.openxmlformats.org/drawingml/2006/main">
              <a:ext uri="{FF2B5EF4-FFF2-40B4-BE49-F238E27FC236}">
                <a16:creationId xmlns:a16="http://schemas.microsoft.com/office/drawing/2014/main" id="{F9DEC8E4-2BAD-49B8-A566-00031BC9B0ED}"/>
              </a:ext>
            </a:extLst>
          </p:cNvPr>
          <p:cNvSpPr>
            <a:spLocks xmlns:a="http://schemas.openxmlformats.org/drawingml/2006/main" noGrp="1"/>
          </p:cNvSpPr>
          <p:nvPr/>
        </p:nvSpPr>
        <p:spPr>
          <a:xfrm xmlns:a="http://schemas.openxmlformats.org/drawingml/2006/main">
            <a:off x="619125" y="2047875"/>
            <a:ext cx="33337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7955A3"/>
                </a:solidFill>
                <a:latin typeface="DejaVu Sans"/>
                <a:ea typeface="DejaVu Sans"/>
                <a:cs typeface="DejaVu Sans"/>
              </a:defRPr>
            </a:defPPr>
          </a:lstStyle>
          <a:p xmlns:a="http://schemas.openxmlformats.org/drawingml/2006/main">
            <a:pPr algn="l">
              <a:lnSpc>
                <a:spcPct val="112000"/>
              </a:lnSpc>
              <a:buNone/>
              <a:defRPr sz="2325" b="1" i="0">
                <a:solidFill>
                  <a:srgbClr val="7955A3"/>
                </a:solidFill>
                <a:latin typeface="DejaVu Sans"/>
                <a:ea typeface="DejaVu Sans"/>
                <a:cs typeface="DejaVu Sans"/>
              </a:defRPr>
            </a:pPr>
            <a:r>
              <a:rPr sz="2325" b="1" i="0">
                <a:solidFill>
                  <a:srgbClr val="7955A3"/>
                </a:solidFill>
                <a:latin typeface="DejaVu Sans"/>
                <a:ea typeface="DejaVu Sans"/>
                <a:cs typeface="DejaVu Sans"/>
              </a:rPr>
              <a:t>A. Trichoderma</a:t>
            </a:r>
          </a:p>
        </p:txBody>
      </p:sp>
      <p:sp>
        <p:nvSpPr>
          <p:cNvPr id="7" name="">
            <a:extLst xmlns:a="http://schemas.openxmlformats.org/drawingml/2006/main">
              <a:ext uri="{FF2B5EF4-FFF2-40B4-BE49-F238E27FC236}">
                <a16:creationId xmlns:a16="http://schemas.microsoft.com/office/drawing/2014/main" id="{F0212B77-DF02-4642-A9B0-BCFDF7C33D7A}"/>
              </a:ext>
            </a:extLst>
          </p:cNvPr>
          <p:cNvSpPr>
            <a:spLocks xmlns:a="http://schemas.openxmlformats.org/drawingml/2006/main" noGrp="1"/>
          </p:cNvSpPr>
          <p:nvPr/>
        </p:nvSpPr>
        <p:spPr>
          <a:xfrm xmlns:a="http://schemas.openxmlformats.org/drawingml/2006/main">
            <a:off x="619125" y="3381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Extracto activo</a:t>
            </a:r>
          </a:p>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¿Eficacia en la planta?</a:t>
            </a:r>
          </a:p>
        </p:txBody>
      </p:sp>
      <p:sp>
        <p:nvSpPr>
          <p:cNvPr id="8" name="">
            <a:extLst xmlns:a="http://schemas.openxmlformats.org/drawingml/2006/main">
              <a:ext uri="{FF2B5EF4-FFF2-40B4-BE49-F238E27FC236}">
                <a16:creationId xmlns:a16="http://schemas.microsoft.com/office/drawing/2014/main" id="{924EC967-D3AE-4914-925A-4761709EFF66}"/>
              </a:ext>
            </a:extLst>
          </p:cNvPr>
          <p:cNvSpPr>
            <a:spLocks xmlns:a="http://schemas.openxmlformats.org/drawingml/2006/main" noGrp="1"/>
          </p:cNvSpPr>
          <p:nvPr/>
        </p:nvSpPr>
        <p:spPr>
          <a:xfrm xmlns:a="http://schemas.openxmlformats.org/drawingml/2006/main">
            <a:off x="4429125" y="2047875"/>
            <a:ext cx="33337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B98B3B"/>
                </a:solidFill>
                <a:latin typeface="DejaVu Sans"/>
                <a:ea typeface="DejaVu Sans"/>
                <a:cs typeface="DejaVu Sans"/>
              </a:defRPr>
            </a:defPPr>
          </a:lstStyle>
          <a:p xmlns:a="http://schemas.openxmlformats.org/drawingml/2006/main">
            <a:pPr algn="l">
              <a:lnSpc>
                <a:spcPct val="112000"/>
              </a:lnSpc>
              <a:buNone/>
              <a:defRPr sz="2325" b="1" i="0">
                <a:solidFill>
                  <a:srgbClr val="B98B3B"/>
                </a:solidFill>
                <a:latin typeface="DejaVu Sans"/>
                <a:ea typeface="DejaVu Sans"/>
                <a:cs typeface="DejaVu Sans"/>
              </a:defRPr>
            </a:pPr>
            <a:r>
              <a:rPr sz="2325" b="1" i="0">
                <a:solidFill>
                  <a:srgbClr val="B98B3B"/>
                </a:solidFill>
                <a:latin typeface="DejaVu Sans"/>
                <a:ea typeface="DejaVu Sans"/>
                <a:cs typeface="DejaVu Sans"/>
              </a:rPr>
              <a:t>B. Cacao</a:t>
            </a:r>
          </a:p>
        </p:txBody>
      </p:sp>
      <p:sp>
        <p:nvSpPr>
          <p:cNvPr id="9" name="">
            <a:extLst xmlns:a="http://schemas.openxmlformats.org/drawingml/2006/main">
              <a:ext uri="{FF2B5EF4-FFF2-40B4-BE49-F238E27FC236}">
                <a16:creationId xmlns:a16="http://schemas.microsoft.com/office/drawing/2014/main" id="{99232334-698C-4D89-B7FF-8646B268000F}"/>
              </a:ext>
            </a:extLst>
          </p:cNvPr>
          <p:cNvSpPr>
            <a:spLocks xmlns:a="http://schemas.openxmlformats.org/drawingml/2006/main" noGrp="1"/>
          </p:cNvSpPr>
          <p:nvPr/>
        </p:nvSpPr>
        <p:spPr>
          <a:xfrm xmlns:a="http://schemas.openxmlformats.org/drawingml/2006/main">
            <a:off x="4429125" y="3381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Consorcio iniciador</a:t>
            </a:r>
          </a:p>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¿Efecto de una</a:t>
            </a:r>
          </a:p>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levadura?</a:t>
            </a:r>
          </a:p>
        </p:txBody>
      </p:sp>
      <p:sp>
        <p:nvSpPr>
          <p:cNvPr id="10" name="">
            <a:extLst xmlns:a="http://schemas.openxmlformats.org/drawingml/2006/main">
              <a:ext uri="{FF2B5EF4-FFF2-40B4-BE49-F238E27FC236}">
                <a16:creationId xmlns:a16="http://schemas.microsoft.com/office/drawing/2014/main" id="{3574DFB0-1EF2-4553-8C98-9BB2EF1E8E67}"/>
              </a:ext>
            </a:extLst>
          </p:cNvPr>
          <p:cNvSpPr>
            <a:spLocks xmlns:a="http://schemas.openxmlformats.org/drawingml/2006/main" noGrp="1"/>
          </p:cNvSpPr>
          <p:nvPr/>
        </p:nvSpPr>
        <p:spPr>
          <a:xfrm xmlns:a="http://schemas.openxmlformats.org/drawingml/2006/main">
            <a:off x="8239125" y="2047875"/>
            <a:ext cx="33337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2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C. Especie nueva</a:t>
            </a:r>
          </a:p>
        </p:txBody>
      </p:sp>
      <p:sp>
        <p:nvSpPr>
          <p:cNvPr id="11" name="">
            <a:extLst xmlns:a="http://schemas.openxmlformats.org/drawingml/2006/main">
              <a:ext uri="{FF2B5EF4-FFF2-40B4-BE49-F238E27FC236}">
                <a16:creationId xmlns:a16="http://schemas.microsoft.com/office/drawing/2014/main" id="{F488C3BF-1AF4-4B35-B339-BBA583C3A18D}"/>
              </a:ext>
            </a:extLst>
          </p:cNvPr>
          <p:cNvSpPr>
            <a:spLocks xmlns:a="http://schemas.openxmlformats.org/drawingml/2006/main" noGrp="1"/>
          </p:cNvSpPr>
          <p:nvPr/>
        </p:nvSpPr>
        <p:spPr>
          <a:xfrm xmlns:a="http://schemas.openxmlformats.org/drawingml/2006/main">
            <a:off x="8239125" y="3381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Morfología y</a:t>
            </a:r>
          </a:p>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bioactividad</a:t>
            </a:r>
          </a:p>
          <a:p xmlns:a="http://schemas.openxmlformats.org/drawingml/2006/main">
            <a:pPr algn="l">
              <a:lnSpc>
                <a:spcPct val="112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¿Aplicación clínica?</a:t>
            </a:r>
          </a:p>
        </p:txBody>
      </p:sp>
      <p:sp>
        <p:nvSpPr>
          <p:cNvPr id="12" name="">
            <a:extLst xmlns:a="http://schemas.openxmlformats.org/drawingml/2006/main">
              <a:ext uri="{FF2B5EF4-FFF2-40B4-BE49-F238E27FC236}">
                <a16:creationId xmlns:a16="http://schemas.microsoft.com/office/drawing/2014/main" id="{3C0F5F4B-E0D4-47D3-812C-5288FE41D5C6}"/>
              </a:ext>
            </a:extLst>
          </p:cNvPr>
          <p:cNvSpPr>
            <a:spLocks xmlns:a="http://schemas.openxmlformats.org/drawingml/2006/main" noGrp="1"/>
          </p:cNvSpPr>
          <p:nvPr/>
        </p:nvSpPr>
        <p:spPr>
          <a:xfrm xmlns:a="http://schemas.openxmlformats.org/drawingml/2006/main">
            <a:off x="571500" y="55245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i="0">
                <a:solidFill>
                  <a:srgbClr val="203E49"/>
                </a:solidFill>
                <a:latin typeface="DejaVu Sans"/>
                <a:ea typeface="DejaVu Sans"/>
                <a:cs typeface="DejaVu Sans"/>
              </a:defRPr>
            </a:defPPr>
          </a:lstStyle>
          <a:p xmlns:a="http://schemas.openxmlformats.org/drawingml/2006/main">
            <a:pPr algn="ctr">
              <a:lnSpc>
                <a:spcPct val="112000"/>
              </a:lnSpc>
              <a:buNone/>
              <a:defRPr sz="2100" b="1" i="0">
                <a:solidFill>
                  <a:srgbClr val="203E49"/>
                </a:solidFill>
                <a:latin typeface="DejaVu Sans"/>
                <a:ea typeface="DejaVu Sans"/>
                <a:cs typeface="DejaVu Sans"/>
              </a:defRPr>
            </a:pPr>
            <a:r>
              <a:rPr sz="2100" b="1" i="0">
                <a:solidFill>
                  <a:srgbClr val="203E49"/>
                </a:solidFill>
                <a:latin typeface="DejaVu Sans"/>
                <a:ea typeface="DejaVu Sans"/>
                <a:cs typeface="DejaVu Sans"/>
              </a:rPr>
              <a:t>Estructura + proceso + evidencia + siguiente prueba</a:t>
            </a:r>
          </a:p>
        </p:txBody>
      </p:sp>
      <p:sp>
        <p:nvSpPr>
          <p:cNvPr id="13" name="">
            <a:extLst xmlns:a="http://schemas.openxmlformats.org/drawingml/2006/main">
              <a:ext uri="{FF2B5EF4-FFF2-40B4-BE49-F238E27FC236}">
                <a16:creationId xmlns:a16="http://schemas.microsoft.com/office/drawing/2014/main" id="{CEA308CA-C67B-426D-AF7B-FEDB84B2ED6E}"/>
              </a:ext>
            </a:extLst>
          </p:cNvPr>
          <p:cNvSpPr>
            <a:spLocks xmlns:a="http://schemas.openxmlformats.org/drawingml/2006/main" noGrp="1"/>
          </p:cNvSpPr>
          <p:nvPr/>
        </p:nvSpPr>
        <p:spPr>
          <a:xfrm xmlns:a="http://schemas.openxmlformats.org/drawingml/2006/main">
            <a:off x="619125" y="60579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i="0">
                <a:solidFill>
                  <a:srgbClr val="647A84"/>
                </a:solidFill>
                <a:latin typeface="DejaVu Sans"/>
                <a:ea typeface="DejaVu Sans"/>
                <a:cs typeface="DejaVu Sans"/>
              </a:defRPr>
            </a:defPPr>
          </a:lstStyle>
          <a:p xmlns:a="http://schemas.openxmlformats.org/drawingml/2006/main">
            <a:pPr algn="ctr">
              <a:lnSpc>
                <a:spcPct val="112000"/>
              </a:lnSpc>
              <a:buNone/>
              <a:defRPr sz="1650" b="0" i="0">
                <a:solidFill>
                  <a:srgbClr val="647A84"/>
                </a:solidFill>
                <a:latin typeface="DejaVu Sans"/>
                <a:ea typeface="DejaVu Sans"/>
                <a:cs typeface="DejaVu Sans"/>
              </a:defRPr>
            </a:pPr>
            <a:r>
              <a:rPr sz="1650" b="0" i="0">
                <a:solidFill>
                  <a:srgbClr val="647A84"/>
                </a:solidFill>
                <a:latin typeface="DejaVu Sans"/>
                <a:ea typeface="DejaVu Sans"/>
                <a:cs typeface="DejaVu Sans"/>
              </a:rPr>
              <a:t>5 min lectura 12 min análisis 8 min puesta en común 5 min revisión</a:t>
            </a:r>
          </a:p>
        </p:txBody>
      </p:sp>
    </p:spTree>
    <p:extLst>
      <p:ext uri="{BB962C8B-B14F-4D97-AF65-F5344CB8AC3E}">
        <p14:creationId xmlns:p14="http://schemas.microsoft.com/office/powerpoint/2010/main" val="51397600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B0E300-7F95-4885-8458-567FA76C7796}"/>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Cierre: una explicación con evidencia</a:t>
            </a:r>
          </a:p>
        </p:txBody>
      </p:sp>
      <p:sp>
        <p:nvSpPr>
          <p:cNvPr id="2" name="">
            <a:extLst xmlns:a="http://schemas.openxmlformats.org/drawingml/2006/main">
              <a:ext uri="{FF2B5EF4-FFF2-40B4-BE49-F238E27FC236}">
                <a16:creationId xmlns:a16="http://schemas.microsoft.com/office/drawing/2014/main" id="{EFED172C-CFF0-458D-826F-8612EE9F0D08}"/>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Respuesta individual de cuatro minutos.</a:t>
            </a:r>
          </a:p>
        </p:txBody>
      </p:sp>
      <p:sp>
        <p:nvSpPr>
          <p:cNvPr id="3" name="">
            <a:extLst xmlns:a="http://schemas.openxmlformats.org/drawingml/2006/main">
              <a:ext uri="{FF2B5EF4-FFF2-40B4-BE49-F238E27FC236}">
                <a16:creationId xmlns:a16="http://schemas.microsoft.com/office/drawing/2014/main" id="{7C05D04F-BA4C-41FE-B592-85D281275D9C}"/>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27F5A44-BDAC-4059-93E1-44B13FEE4C27}"/>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Fuentes: [3] [5] [7] [8] [9] [10] [11]. Ilustraciones conceptuales.</a:t>
            </a:r>
          </a:p>
        </p:txBody>
      </p:sp>
      <p:sp>
        <p:nvSpPr>
          <p:cNvPr id="5" name="">
            <a:extLst xmlns:a="http://schemas.openxmlformats.org/drawingml/2006/main">
              <a:ext uri="{FF2B5EF4-FFF2-40B4-BE49-F238E27FC236}">
                <a16:creationId xmlns:a16="http://schemas.microsoft.com/office/drawing/2014/main" id="{43C50C28-C8D7-4E63-B6E2-62FE593531AB}"/>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34 / 39</a:t>
            </a:r>
          </a:p>
        </p:txBody>
      </p:sp>
      <p:sp>
        <p:nvSpPr>
          <p:cNvPr id="6" name="">
            <a:extLst xmlns:a="http://schemas.openxmlformats.org/drawingml/2006/main">
              <a:ext uri="{FF2B5EF4-FFF2-40B4-BE49-F238E27FC236}">
                <a16:creationId xmlns:a16="http://schemas.microsoft.com/office/drawing/2014/main" id="{318A203E-8EE1-4FD5-8AFE-24A3B042F09B}"/>
              </a:ext>
            </a:extLst>
          </p:cNvPr>
          <p:cNvSpPr>
            <a:spLocks xmlns:a="http://schemas.openxmlformats.org/drawingml/2006/main" noGrp="1"/>
          </p:cNvSpPr>
          <p:nvPr/>
        </p:nvSpPr>
        <p:spPr>
          <a:xfrm xmlns:a="http://schemas.openxmlformats.org/drawingml/2006/main">
            <a:off x="714375" y="2095500"/>
            <a:ext cx="714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i="0">
                <a:solidFill>
                  <a:srgbClr val="7955A3"/>
                </a:solidFill>
                <a:latin typeface="DejaVu Sans"/>
                <a:ea typeface="DejaVu Sans"/>
                <a:cs typeface="DejaVu Sans"/>
              </a:defRPr>
            </a:defPPr>
          </a:lstStyle>
          <a:p xmlns:a="http://schemas.openxmlformats.org/drawingml/2006/main">
            <a:pPr algn="l">
              <a:lnSpc>
                <a:spcPct val="112000"/>
              </a:lnSpc>
              <a:buNone/>
              <a:defRPr sz="3300" b="1" i="0">
                <a:solidFill>
                  <a:srgbClr val="7955A3"/>
                </a:solidFill>
                <a:latin typeface="DejaVu Sans"/>
                <a:ea typeface="DejaVu Sans"/>
                <a:cs typeface="DejaVu Sans"/>
              </a:defRPr>
            </a:pPr>
            <a:r>
              <a:rPr sz="3300" b="1" i="0">
                <a:solidFill>
                  <a:srgbClr val="7955A3"/>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32D77CFF-AFE7-47E0-93D5-8B8353B8210A}"/>
              </a:ext>
            </a:extLst>
          </p:cNvPr>
          <p:cNvSpPr>
            <a:spLocks xmlns:a="http://schemas.openxmlformats.org/drawingml/2006/main" noGrp="1"/>
          </p:cNvSpPr>
          <p:nvPr/>
        </p:nvSpPr>
        <p:spPr>
          <a:xfrm xmlns:a="http://schemas.openxmlformats.org/drawingml/2006/main">
            <a:off x="1809750" y="2143125"/>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203E49"/>
                </a:solidFill>
                <a:latin typeface="DejaVu Sans"/>
                <a:ea typeface="DejaVu Sans"/>
                <a:cs typeface="DejaVu Sans"/>
              </a:defRPr>
            </a:defPPr>
          </a:lstStyle>
          <a:p xmlns:a="http://schemas.openxmlformats.org/drawingml/2006/main">
            <a:pPr algn="l">
              <a:lnSpc>
                <a:spcPct val="112000"/>
              </a:lnSpc>
              <a:buNone/>
              <a:defRPr sz="2325" b="1" i="0">
                <a:solidFill>
                  <a:srgbClr val="203E49"/>
                </a:solidFill>
                <a:latin typeface="DejaVu Sans"/>
                <a:ea typeface="DejaVu Sans"/>
                <a:cs typeface="DejaVu Sans"/>
              </a:defRPr>
            </a:pPr>
            <a:r>
              <a:rPr sz="2325" b="1" i="0">
                <a:solidFill>
                  <a:srgbClr val="203E49"/>
                </a:solidFill>
                <a:latin typeface="DejaVu Sans"/>
                <a:ea typeface="DejaVu Sans"/>
                <a:cs typeface="DejaVu Sans"/>
              </a:rPr>
              <a:t>Una estructura y su función</a:t>
            </a:r>
          </a:p>
        </p:txBody>
      </p:sp>
      <p:sp>
        <p:nvSpPr>
          <p:cNvPr id="8" name="">
            <a:extLst xmlns:a="http://schemas.openxmlformats.org/drawingml/2006/main">
              <a:ext uri="{FF2B5EF4-FFF2-40B4-BE49-F238E27FC236}">
                <a16:creationId xmlns:a16="http://schemas.microsoft.com/office/drawing/2014/main" id="{E978E63A-1A95-4ECC-AB6C-1B3F7EA7E42E}"/>
              </a:ext>
            </a:extLst>
          </p:cNvPr>
          <p:cNvSpPr>
            <a:spLocks xmlns:a="http://schemas.openxmlformats.org/drawingml/2006/main" noGrp="1"/>
          </p:cNvSpPr>
          <p:nvPr/>
        </p:nvSpPr>
        <p:spPr>
          <a:xfrm xmlns:a="http://schemas.openxmlformats.org/drawingml/2006/main">
            <a:off x="714375" y="3524250"/>
            <a:ext cx="714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i="0">
                <a:solidFill>
                  <a:srgbClr val="7955A3"/>
                </a:solidFill>
                <a:latin typeface="DejaVu Sans"/>
                <a:ea typeface="DejaVu Sans"/>
                <a:cs typeface="DejaVu Sans"/>
              </a:defRPr>
            </a:defPPr>
          </a:lstStyle>
          <a:p xmlns:a="http://schemas.openxmlformats.org/drawingml/2006/main">
            <a:pPr algn="l">
              <a:lnSpc>
                <a:spcPct val="112000"/>
              </a:lnSpc>
              <a:buNone/>
              <a:defRPr sz="3300" b="1" i="0">
                <a:solidFill>
                  <a:srgbClr val="7955A3"/>
                </a:solidFill>
                <a:latin typeface="DejaVu Sans"/>
                <a:ea typeface="DejaVu Sans"/>
                <a:cs typeface="DejaVu Sans"/>
              </a:defRPr>
            </a:pPr>
            <a:r>
              <a:rPr sz="3300" b="1" i="0">
                <a:solidFill>
                  <a:srgbClr val="7955A3"/>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C5CF30F8-3C37-4552-ADA2-5EF6BC14D14F}"/>
              </a:ext>
            </a:extLst>
          </p:cNvPr>
          <p:cNvSpPr>
            <a:spLocks xmlns:a="http://schemas.openxmlformats.org/drawingml/2006/main" noGrp="1"/>
          </p:cNvSpPr>
          <p:nvPr/>
        </p:nvSpPr>
        <p:spPr>
          <a:xfrm xmlns:a="http://schemas.openxmlformats.org/drawingml/2006/main">
            <a:off x="1809750" y="3571875"/>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203E49"/>
                </a:solidFill>
                <a:latin typeface="DejaVu Sans"/>
                <a:ea typeface="DejaVu Sans"/>
                <a:cs typeface="DejaVu Sans"/>
              </a:defRPr>
            </a:defPPr>
          </a:lstStyle>
          <a:p xmlns:a="http://schemas.openxmlformats.org/drawingml/2006/main">
            <a:pPr algn="l">
              <a:lnSpc>
                <a:spcPct val="112000"/>
              </a:lnSpc>
              <a:buNone/>
              <a:defRPr sz="2325" b="1" i="0">
                <a:solidFill>
                  <a:srgbClr val="203E49"/>
                </a:solidFill>
                <a:latin typeface="DejaVu Sans"/>
                <a:ea typeface="DejaVu Sans"/>
                <a:cs typeface="DejaVu Sans"/>
              </a:defRPr>
            </a:pPr>
            <a:r>
              <a:rPr sz="2325" b="1" i="0">
                <a:solidFill>
                  <a:srgbClr val="203E49"/>
                </a:solidFill>
                <a:latin typeface="DejaVu Sans"/>
                <a:ea typeface="DejaVu Sans"/>
                <a:cs typeface="DejaVu Sans"/>
              </a:rPr>
              <a:t>Un ejemplo: filo y forma de crecimiento</a:t>
            </a:r>
          </a:p>
        </p:txBody>
      </p:sp>
      <p:sp>
        <p:nvSpPr>
          <p:cNvPr id="10" name="">
            <a:extLst xmlns:a="http://schemas.openxmlformats.org/drawingml/2006/main">
              <a:ext uri="{FF2B5EF4-FFF2-40B4-BE49-F238E27FC236}">
                <a16:creationId xmlns:a16="http://schemas.microsoft.com/office/drawing/2014/main" id="{F98AD955-C862-4B6D-A5C0-B970AE533A24}"/>
              </a:ext>
            </a:extLst>
          </p:cNvPr>
          <p:cNvSpPr>
            <a:spLocks xmlns:a="http://schemas.openxmlformats.org/drawingml/2006/main" noGrp="1"/>
          </p:cNvSpPr>
          <p:nvPr/>
        </p:nvSpPr>
        <p:spPr>
          <a:xfrm xmlns:a="http://schemas.openxmlformats.org/drawingml/2006/main">
            <a:off x="714375" y="4953000"/>
            <a:ext cx="7143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i="0">
                <a:solidFill>
                  <a:srgbClr val="7955A3"/>
                </a:solidFill>
                <a:latin typeface="DejaVu Sans"/>
                <a:ea typeface="DejaVu Sans"/>
                <a:cs typeface="DejaVu Sans"/>
              </a:defRPr>
            </a:defPPr>
          </a:lstStyle>
          <a:p xmlns:a="http://schemas.openxmlformats.org/drawingml/2006/main">
            <a:pPr algn="l">
              <a:lnSpc>
                <a:spcPct val="112000"/>
              </a:lnSpc>
              <a:buNone/>
              <a:defRPr sz="3300" b="1" i="0">
                <a:solidFill>
                  <a:srgbClr val="7955A3"/>
                </a:solidFill>
                <a:latin typeface="DejaVu Sans"/>
                <a:ea typeface="DejaVu Sans"/>
                <a:cs typeface="DejaVu Sans"/>
              </a:defRPr>
            </a:pPr>
            <a:r>
              <a:rPr sz="3300" b="1" i="0">
                <a:solidFill>
                  <a:srgbClr val="7955A3"/>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A5F3DAFF-0857-4637-B811-E15C118934D5}"/>
              </a:ext>
            </a:extLst>
          </p:cNvPr>
          <p:cNvSpPr>
            <a:spLocks xmlns:a="http://schemas.openxmlformats.org/drawingml/2006/main" noGrp="1"/>
          </p:cNvSpPr>
          <p:nvPr/>
        </p:nvSpPr>
        <p:spPr>
          <a:xfrm xmlns:a="http://schemas.openxmlformats.org/drawingml/2006/main">
            <a:off x="1809750" y="5000625"/>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203E49"/>
                </a:solidFill>
                <a:latin typeface="DejaVu Sans"/>
                <a:ea typeface="DejaVu Sans"/>
                <a:cs typeface="DejaVu Sans"/>
              </a:defRPr>
            </a:defPPr>
          </a:lstStyle>
          <a:p xmlns:a="http://schemas.openxmlformats.org/drawingml/2006/main">
            <a:pPr algn="l">
              <a:lnSpc>
                <a:spcPct val="112000"/>
              </a:lnSpc>
              <a:buNone/>
              <a:defRPr sz="2325" b="1" i="0">
                <a:solidFill>
                  <a:srgbClr val="203E49"/>
                </a:solidFill>
                <a:latin typeface="DejaVu Sans"/>
                <a:ea typeface="DejaVu Sans"/>
                <a:cs typeface="DejaVu Sans"/>
              </a:defRPr>
            </a:pPr>
            <a:r>
              <a:rPr sz="2325" b="1" i="0">
                <a:solidFill>
                  <a:srgbClr val="203E49"/>
                </a:solidFill>
                <a:latin typeface="DejaVu Sans"/>
                <a:ea typeface="DejaVu Sans"/>
                <a:cs typeface="DejaVu Sans"/>
              </a:rPr>
              <a:t>Un estudio de Ecuador y el alcance de su resultado</a:t>
            </a:r>
          </a:p>
        </p:txBody>
      </p:sp>
    </p:spTree>
    <p:extLst>
      <p:ext uri="{BB962C8B-B14F-4D97-AF65-F5344CB8AC3E}">
        <p14:creationId xmlns:p14="http://schemas.microsoft.com/office/powerpoint/2010/main" val="93388564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91BEF26-8DCE-4065-9CD0-D9BC908EF736}"/>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FCD4B6AE-B9A8-4D2A-AA4F-3E3B51834AD5}"/>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Fundamentos, clasificación actualizada y estudios de Ecuador.</a:t>
            </a:r>
          </a:p>
        </p:txBody>
      </p:sp>
      <p:sp>
        <p:nvSpPr>
          <p:cNvPr id="3" name="">
            <a:extLst xmlns:a="http://schemas.openxmlformats.org/drawingml/2006/main">
              <a:ext uri="{FF2B5EF4-FFF2-40B4-BE49-F238E27FC236}">
                <a16:creationId xmlns:a16="http://schemas.microsoft.com/office/drawing/2014/main" id="{23817625-9A32-4049-B1F7-794F68183346}"/>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4F1F884-AFE8-42A5-AE91-D530E1C3648E}"/>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Bibliografía de consulta.</a:t>
            </a:r>
          </a:p>
        </p:txBody>
      </p:sp>
      <p:sp>
        <p:nvSpPr>
          <p:cNvPr id="5" name="">
            <a:extLst xmlns:a="http://schemas.openxmlformats.org/drawingml/2006/main">
              <a:ext uri="{FF2B5EF4-FFF2-40B4-BE49-F238E27FC236}">
                <a16:creationId xmlns:a16="http://schemas.microsoft.com/office/drawing/2014/main" id="{F4FD4A30-D198-4CDE-8EDC-9698E054FC4B}"/>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35 / 39</a:t>
            </a:r>
          </a:p>
        </p:txBody>
      </p:sp>
      <p:sp>
        <p:nvSpPr>
          <p:cNvPr id="6" name="">
            <a:extLst xmlns:a="http://schemas.openxmlformats.org/drawingml/2006/main">
              <a:ext uri="{FF2B5EF4-FFF2-40B4-BE49-F238E27FC236}">
                <a16:creationId xmlns:a16="http://schemas.microsoft.com/office/drawing/2014/main" id="{ECA93C6F-3B34-4E7F-9158-066A0E100C7D}"/>
              </a:ext>
            </a:extLst>
          </p:cNvPr>
          <p:cNvSpPr>
            <a:spLocks xmlns:a="http://schemas.openxmlformats.org/drawingml/2006/main" noGrp="1"/>
          </p:cNvSpPr>
          <p:nvPr/>
        </p:nvSpPr>
        <p:spPr>
          <a:xfrm xmlns:a="http://schemas.openxmlformats.org/drawingml/2006/main">
            <a:off x="552450" y="17145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3BE36257-5AA1-47A1-99FD-D87A57F3F31B}"/>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Dube, H. C. (2013)</a:t>
            </a:r>
          </a:p>
        </p:txBody>
      </p:sp>
      <p:sp>
        <p:nvSpPr>
          <p:cNvPr id="8" name="">
            <a:extLst xmlns:a="http://schemas.openxmlformats.org/drawingml/2006/main">
              <a:ext uri="{FF2B5EF4-FFF2-40B4-BE49-F238E27FC236}">
                <a16:creationId xmlns:a16="http://schemas.microsoft.com/office/drawing/2014/main" id="{FCBEE205-C1ED-4932-A4CD-D4CCBC66AC13}"/>
              </a:ext>
            </a:extLst>
          </p:cNvPr>
          <p:cNvSpPr>
            <a:spLocks xmlns:a="http://schemas.openxmlformats.org/drawingml/2006/main" noGrp="1"/>
          </p:cNvSpPr>
          <p:nvPr/>
        </p:nvSpPr>
        <p:spPr>
          <a:xfrm xmlns:a="http://schemas.openxmlformats.org/drawingml/2006/main">
            <a:off x="1181100" y="20288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An Introduction to Fungi, 4th ed.</a:t>
            </a:r>
          </a:p>
        </p:txBody>
      </p:sp>
      <p:sp>
        <p:nvSpPr>
          <p:cNvPr id="9" name="">
            <a:extLst xmlns:a="http://schemas.openxmlformats.org/drawingml/2006/main">
              <a:ext uri="{FF2B5EF4-FFF2-40B4-BE49-F238E27FC236}">
                <a16:creationId xmlns:a16="http://schemas.microsoft.com/office/drawing/2014/main" id="{B6BE3FA5-9054-4262-9921-68D096AAF98D}"/>
              </a:ext>
            </a:extLst>
          </p:cNvPr>
          <p:cNvSpPr>
            <a:spLocks xmlns:a="http://schemas.openxmlformats.org/drawingml/2006/main" noGrp="1"/>
          </p:cNvSpPr>
          <p:nvPr/>
        </p:nvSpPr>
        <p:spPr>
          <a:xfrm xmlns:a="http://schemas.openxmlformats.org/drawingml/2006/main">
            <a:off x="1181100" y="22955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Scientific Publishers. Libro compartido por la docente. Consulta de índice y vista previa.</a:t>
            </a:r>
          </a:p>
        </p:txBody>
      </p:sp>
      <p:sp>
        <p:nvSpPr>
          <p:cNvPr id="10" name="">
            <a:extLst xmlns:a="http://schemas.openxmlformats.org/drawingml/2006/main">
              <a:ext uri="{FF2B5EF4-FFF2-40B4-BE49-F238E27FC236}">
                <a16:creationId xmlns:a16="http://schemas.microsoft.com/office/drawing/2014/main" id="{954E86E7-A083-44B0-8B4C-CF2C5EDD6B87}"/>
              </a:ext>
            </a:extLst>
          </p:cNvPr>
          <p:cNvSpPr>
            <a:spLocks xmlns:a="http://schemas.openxmlformats.org/drawingml/2006/main" noGrp="1"/>
          </p:cNvSpPr>
          <p:nvPr/>
        </p:nvSpPr>
        <p:spPr>
          <a:xfrm xmlns:a="http://schemas.openxmlformats.org/drawingml/2006/main">
            <a:off x="1181100" y="25336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4945f495456f4803"/>
              </a:rPr>
              <a:t>books.google.com/books?id=ZFA4DwAAQBAJ</a:t>
            </a:r>
          </a:p>
        </p:txBody>
      </p:sp>
      <p:sp>
        <p:nvSpPr>
          <p:cNvPr id="11" name="">
            <a:extLst xmlns:a="http://schemas.openxmlformats.org/drawingml/2006/main">
              <a:ext uri="{FF2B5EF4-FFF2-40B4-BE49-F238E27FC236}">
                <a16:creationId xmlns:a16="http://schemas.microsoft.com/office/drawing/2014/main" id="{F8DC0D31-463B-48A1-990A-11FCE0E94883}"/>
              </a:ext>
            </a:extLst>
          </p:cNvPr>
          <p:cNvSpPr>
            <a:spLocks xmlns:a="http://schemas.openxmlformats.org/drawingml/2006/main" noGrp="1"/>
          </p:cNvSpPr>
          <p:nvPr/>
        </p:nvSpPr>
        <p:spPr>
          <a:xfrm xmlns:a="http://schemas.openxmlformats.org/drawingml/2006/main">
            <a:off x="552450" y="32194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DBD6A501-7DD2-472F-8F74-0BDC4C30ECF0}"/>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Parker, N., et al. (2016)</a:t>
            </a:r>
          </a:p>
        </p:txBody>
      </p:sp>
      <p:sp>
        <p:nvSpPr>
          <p:cNvPr id="13" name="">
            <a:extLst xmlns:a="http://schemas.openxmlformats.org/drawingml/2006/main">
              <a:ext uri="{FF2B5EF4-FFF2-40B4-BE49-F238E27FC236}">
                <a16:creationId xmlns:a16="http://schemas.microsoft.com/office/drawing/2014/main" id="{D91CCECE-747A-494F-947B-70CA672D352F}"/>
              </a:ext>
            </a:extLst>
          </p:cNvPr>
          <p:cNvSpPr>
            <a:spLocks xmlns:a="http://schemas.openxmlformats.org/drawingml/2006/main" noGrp="1"/>
          </p:cNvSpPr>
          <p:nvPr/>
        </p:nvSpPr>
        <p:spPr>
          <a:xfrm xmlns:a="http://schemas.openxmlformats.org/drawingml/2006/main">
            <a:off x="1181100" y="35337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Microbiology. Sección 5.3: Fungi.</a:t>
            </a:r>
          </a:p>
        </p:txBody>
      </p:sp>
      <p:sp>
        <p:nvSpPr>
          <p:cNvPr id="14" name="">
            <a:extLst xmlns:a="http://schemas.openxmlformats.org/drawingml/2006/main">
              <a:ext uri="{FF2B5EF4-FFF2-40B4-BE49-F238E27FC236}">
                <a16:creationId xmlns:a16="http://schemas.microsoft.com/office/drawing/2014/main" id="{F9768F9C-CD18-490B-A9E9-519BBEE1623F}"/>
              </a:ext>
            </a:extLst>
          </p:cNvPr>
          <p:cNvSpPr>
            <a:spLocks xmlns:a="http://schemas.openxmlformats.org/drawingml/2006/main" noGrp="1"/>
          </p:cNvSpPr>
          <p:nvPr/>
        </p:nvSpPr>
        <p:spPr>
          <a:xfrm xmlns:a="http://schemas.openxmlformats.org/drawingml/2006/main">
            <a:off x="1181100" y="38004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OpenStax. Texto de fundamentos, publicado en noviembre de 2016.</a:t>
            </a:r>
          </a:p>
        </p:txBody>
      </p:sp>
      <p:sp>
        <p:nvSpPr>
          <p:cNvPr id="15" name="">
            <a:extLst xmlns:a="http://schemas.openxmlformats.org/drawingml/2006/main">
              <a:ext uri="{FF2B5EF4-FFF2-40B4-BE49-F238E27FC236}">
                <a16:creationId xmlns:a16="http://schemas.microsoft.com/office/drawing/2014/main" id="{D4035ECA-37CE-4CDF-B343-5DF03947FEC9}"/>
              </a:ext>
            </a:extLst>
          </p:cNvPr>
          <p:cNvSpPr>
            <a:spLocks xmlns:a="http://schemas.openxmlformats.org/drawingml/2006/main" noGrp="1"/>
          </p:cNvSpPr>
          <p:nvPr/>
        </p:nvSpPr>
        <p:spPr>
          <a:xfrm xmlns:a="http://schemas.openxmlformats.org/drawingml/2006/main">
            <a:off x="1181100" y="40386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725f871fa92640fc"/>
              </a:rPr>
              <a:t>openstax.org/books/microbiology/pages/5-3-fungi</a:t>
            </a:r>
          </a:p>
        </p:txBody>
      </p:sp>
      <p:sp>
        <p:nvSpPr>
          <p:cNvPr id="16" name="">
            <a:extLst xmlns:a="http://schemas.openxmlformats.org/drawingml/2006/main">
              <a:ext uri="{FF2B5EF4-FFF2-40B4-BE49-F238E27FC236}">
                <a16:creationId xmlns:a16="http://schemas.microsoft.com/office/drawing/2014/main" id="{EDDD64C7-0885-4EC4-B90D-1FF0E1FCF54C}"/>
              </a:ext>
            </a:extLst>
          </p:cNvPr>
          <p:cNvSpPr>
            <a:spLocks xmlns:a="http://schemas.openxmlformats.org/drawingml/2006/main" noGrp="1"/>
          </p:cNvSpPr>
          <p:nvPr/>
        </p:nvSpPr>
        <p:spPr>
          <a:xfrm xmlns:a="http://schemas.openxmlformats.org/drawingml/2006/main">
            <a:off x="552450" y="47244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[13]</a:t>
            </a:r>
          </a:p>
        </p:txBody>
      </p:sp>
      <p:sp>
        <p:nvSpPr>
          <p:cNvPr id="17" name="">
            <a:extLst xmlns:a="http://schemas.openxmlformats.org/drawingml/2006/main">
              <a:ext uri="{FF2B5EF4-FFF2-40B4-BE49-F238E27FC236}">
                <a16:creationId xmlns:a16="http://schemas.microsoft.com/office/drawing/2014/main" id="{86243CC0-460B-4DAD-BDC4-47C7BAD686FE}"/>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Kavanagh, K. (ed.) (2017)</a:t>
            </a:r>
          </a:p>
        </p:txBody>
      </p:sp>
      <p:sp>
        <p:nvSpPr>
          <p:cNvPr id="18" name="">
            <a:extLst xmlns:a="http://schemas.openxmlformats.org/drawingml/2006/main">
              <a:ext uri="{FF2B5EF4-FFF2-40B4-BE49-F238E27FC236}">
                <a16:creationId xmlns:a16="http://schemas.microsoft.com/office/drawing/2014/main" id="{DE8F7300-2802-4FE1-8E06-6C9845C42E80}"/>
              </a:ext>
            </a:extLst>
          </p:cNvPr>
          <p:cNvSpPr>
            <a:spLocks xmlns:a="http://schemas.openxmlformats.org/drawingml/2006/main" noGrp="1"/>
          </p:cNvSpPr>
          <p:nvPr/>
        </p:nvSpPr>
        <p:spPr>
          <a:xfrm xmlns:a="http://schemas.openxmlformats.org/drawingml/2006/main">
            <a:off x="1181100" y="50387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Fungi: Biology and Applications, 3rd ed.</a:t>
            </a:r>
          </a:p>
        </p:txBody>
      </p:sp>
      <p:sp>
        <p:nvSpPr>
          <p:cNvPr id="19" name="">
            <a:extLst xmlns:a="http://schemas.openxmlformats.org/drawingml/2006/main">
              <a:ext uri="{FF2B5EF4-FFF2-40B4-BE49-F238E27FC236}">
                <a16:creationId xmlns:a16="http://schemas.microsoft.com/office/drawing/2014/main" id="{D2ADA06E-9085-4522-972A-9E2C0C0519F8}"/>
              </a:ext>
            </a:extLst>
          </p:cNvPr>
          <p:cNvSpPr>
            <a:spLocks xmlns:a="http://schemas.openxmlformats.org/drawingml/2006/main" noGrp="1"/>
          </p:cNvSpPr>
          <p:nvPr/>
        </p:nvSpPr>
        <p:spPr>
          <a:xfrm xmlns:a="http://schemas.openxmlformats.org/drawingml/2006/main">
            <a:off x="1181100" y="5305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Wiley. Referencia adicional de fundamentos y aplicaciones.</a:t>
            </a:r>
          </a:p>
        </p:txBody>
      </p:sp>
      <p:sp>
        <p:nvSpPr>
          <p:cNvPr id="20" name="">
            <a:extLst xmlns:a="http://schemas.openxmlformats.org/drawingml/2006/main">
              <a:ext uri="{FF2B5EF4-FFF2-40B4-BE49-F238E27FC236}">
                <a16:creationId xmlns:a16="http://schemas.microsoft.com/office/drawing/2014/main" id="{F760D658-2258-4BFF-8853-D7AC928878C9}"/>
              </a:ext>
            </a:extLst>
          </p:cNvPr>
          <p:cNvSpPr>
            <a:spLocks xmlns:a="http://schemas.openxmlformats.org/drawingml/2006/main" noGrp="1"/>
          </p:cNvSpPr>
          <p:nvPr/>
        </p:nvSpPr>
        <p:spPr>
          <a:xfrm xmlns:a="http://schemas.openxmlformats.org/drawingml/2006/main">
            <a:off x="1181100" y="55435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df92bd767a5c473f"/>
              </a:rPr>
              <a:t>doi.org/10.1002/9781119374312</a:t>
            </a:r>
          </a:p>
        </p:txBody>
      </p:sp>
    </p:spTree>
    <p:extLst>
      <p:ext uri="{BB962C8B-B14F-4D97-AF65-F5344CB8AC3E}">
        <p14:creationId xmlns:p14="http://schemas.microsoft.com/office/powerpoint/2010/main" val="100023939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6FA1E91-E99C-4FF2-8292-C4E861EA1E20}"/>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60EA5B2A-1620-4A15-9539-86FFC5C594E6}"/>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Fundamentos, clasificación actualizada y estudios de Ecuador.</a:t>
            </a:r>
          </a:p>
        </p:txBody>
      </p:sp>
      <p:sp>
        <p:nvSpPr>
          <p:cNvPr id="3" name="">
            <a:extLst xmlns:a="http://schemas.openxmlformats.org/drawingml/2006/main">
              <a:ext uri="{FF2B5EF4-FFF2-40B4-BE49-F238E27FC236}">
                <a16:creationId xmlns:a16="http://schemas.microsoft.com/office/drawing/2014/main" id="{9F282BA5-92E7-4F14-B7B3-08261610D35A}"/>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A4332D4D-2E77-4241-AB87-1235256926E1}"/>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Bibliografía de consulta.</a:t>
            </a:r>
          </a:p>
        </p:txBody>
      </p:sp>
      <p:sp>
        <p:nvSpPr>
          <p:cNvPr id="5" name="">
            <a:extLst xmlns:a="http://schemas.openxmlformats.org/drawingml/2006/main">
              <a:ext uri="{FF2B5EF4-FFF2-40B4-BE49-F238E27FC236}">
                <a16:creationId xmlns:a16="http://schemas.microsoft.com/office/drawing/2014/main" id="{E2A69F3C-2834-4516-AFF7-E5CF6068ECF4}"/>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36 / 39</a:t>
            </a:r>
          </a:p>
        </p:txBody>
      </p:sp>
      <p:sp>
        <p:nvSpPr>
          <p:cNvPr id="6" name="">
            <a:extLst xmlns:a="http://schemas.openxmlformats.org/drawingml/2006/main">
              <a:ext uri="{FF2B5EF4-FFF2-40B4-BE49-F238E27FC236}">
                <a16:creationId xmlns:a16="http://schemas.microsoft.com/office/drawing/2014/main" id="{B9E7567F-CEB7-4F70-843C-84039376DB07}"/>
              </a:ext>
            </a:extLst>
          </p:cNvPr>
          <p:cNvSpPr>
            <a:spLocks xmlns:a="http://schemas.openxmlformats.org/drawingml/2006/main" noGrp="1"/>
          </p:cNvSpPr>
          <p:nvPr/>
        </p:nvSpPr>
        <p:spPr>
          <a:xfrm xmlns:a="http://schemas.openxmlformats.org/drawingml/2006/main">
            <a:off x="552450" y="17145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[3]</a:t>
            </a:r>
          </a:p>
        </p:txBody>
      </p:sp>
      <p:sp>
        <p:nvSpPr>
          <p:cNvPr id="7" name="">
            <a:extLst xmlns:a="http://schemas.openxmlformats.org/drawingml/2006/main">
              <a:ext uri="{FF2B5EF4-FFF2-40B4-BE49-F238E27FC236}">
                <a16:creationId xmlns:a16="http://schemas.microsoft.com/office/drawing/2014/main" id="{3646E2E7-46CA-49E5-B882-9403F594555C}"/>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Gow, N. A. R., &amp; Lenardon, M. D. (2023)</a:t>
            </a:r>
          </a:p>
        </p:txBody>
      </p:sp>
      <p:sp>
        <p:nvSpPr>
          <p:cNvPr id="8" name="">
            <a:extLst xmlns:a="http://schemas.openxmlformats.org/drawingml/2006/main">
              <a:ext uri="{FF2B5EF4-FFF2-40B4-BE49-F238E27FC236}">
                <a16:creationId xmlns:a16="http://schemas.microsoft.com/office/drawing/2014/main" id="{10DF8941-F532-4084-8E57-1175D0C32F79}"/>
              </a:ext>
            </a:extLst>
          </p:cNvPr>
          <p:cNvSpPr>
            <a:spLocks xmlns:a="http://schemas.openxmlformats.org/drawingml/2006/main" noGrp="1"/>
          </p:cNvSpPr>
          <p:nvPr/>
        </p:nvSpPr>
        <p:spPr>
          <a:xfrm xmlns:a="http://schemas.openxmlformats.org/drawingml/2006/main">
            <a:off x="1181100" y="20288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Architecture of the dynamic fungal cell wall.</a:t>
            </a:r>
          </a:p>
        </p:txBody>
      </p:sp>
      <p:sp>
        <p:nvSpPr>
          <p:cNvPr id="9" name="">
            <a:extLst xmlns:a="http://schemas.openxmlformats.org/drawingml/2006/main">
              <a:ext uri="{FF2B5EF4-FFF2-40B4-BE49-F238E27FC236}">
                <a16:creationId xmlns:a16="http://schemas.microsoft.com/office/drawing/2014/main" id="{CB69FEBA-114A-41D9-9526-03D54696EABF}"/>
              </a:ext>
            </a:extLst>
          </p:cNvPr>
          <p:cNvSpPr>
            <a:spLocks xmlns:a="http://schemas.openxmlformats.org/drawingml/2006/main" noGrp="1"/>
          </p:cNvSpPr>
          <p:nvPr/>
        </p:nvSpPr>
        <p:spPr>
          <a:xfrm xmlns:a="http://schemas.openxmlformats.org/drawingml/2006/main">
            <a:off x="1181100" y="22955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Nature Reviews Microbiology, 21, 248–259.</a:t>
            </a:r>
          </a:p>
        </p:txBody>
      </p:sp>
      <p:sp>
        <p:nvSpPr>
          <p:cNvPr id="10" name="">
            <a:extLst xmlns:a="http://schemas.openxmlformats.org/drawingml/2006/main">
              <a:ext uri="{FF2B5EF4-FFF2-40B4-BE49-F238E27FC236}">
                <a16:creationId xmlns:a16="http://schemas.microsoft.com/office/drawing/2014/main" id="{301F1F25-33BE-4D52-B62C-384DBB860274}"/>
              </a:ext>
            </a:extLst>
          </p:cNvPr>
          <p:cNvSpPr>
            <a:spLocks xmlns:a="http://schemas.openxmlformats.org/drawingml/2006/main" noGrp="1"/>
          </p:cNvSpPr>
          <p:nvPr/>
        </p:nvSpPr>
        <p:spPr>
          <a:xfrm xmlns:a="http://schemas.openxmlformats.org/drawingml/2006/main">
            <a:off x="1181100" y="25336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d3ae1d097ecc4474"/>
              </a:rPr>
              <a:t>doi.org/10.1038/s41579-022-00796-9</a:t>
            </a:r>
          </a:p>
        </p:txBody>
      </p:sp>
      <p:sp>
        <p:nvSpPr>
          <p:cNvPr id="11" name="">
            <a:extLst xmlns:a="http://schemas.openxmlformats.org/drawingml/2006/main">
              <a:ext uri="{FF2B5EF4-FFF2-40B4-BE49-F238E27FC236}">
                <a16:creationId xmlns:a16="http://schemas.microsoft.com/office/drawing/2014/main" id="{18DCDA96-19B5-4FC9-81FD-A33A7D6ECE11}"/>
              </a:ext>
            </a:extLst>
          </p:cNvPr>
          <p:cNvSpPr>
            <a:spLocks xmlns:a="http://schemas.openxmlformats.org/drawingml/2006/main" noGrp="1"/>
          </p:cNvSpPr>
          <p:nvPr/>
        </p:nvSpPr>
        <p:spPr>
          <a:xfrm xmlns:a="http://schemas.openxmlformats.org/drawingml/2006/main">
            <a:off x="552450" y="32194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[4]</a:t>
            </a:r>
          </a:p>
        </p:txBody>
      </p:sp>
      <p:sp>
        <p:nvSpPr>
          <p:cNvPr id="12" name="">
            <a:extLst xmlns:a="http://schemas.openxmlformats.org/drawingml/2006/main">
              <a:ext uri="{FF2B5EF4-FFF2-40B4-BE49-F238E27FC236}">
                <a16:creationId xmlns:a16="http://schemas.microsoft.com/office/drawing/2014/main" id="{380DD9C8-D612-47EB-8FDF-7BF4514ABA93}"/>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Riquelme, M., et al. (2018)</a:t>
            </a:r>
          </a:p>
        </p:txBody>
      </p:sp>
      <p:sp>
        <p:nvSpPr>
          <p:cNvPr id="13" name="">
            <a:extLst xmlns:a="http://schemas.openxmlformats.org/drawingml/2006/main">
              <a:ext uri="{FF2B5EF4-FFF2-40B4-BE49-F238E27FC236}">
                <a16:creationId xmlns:a16="http://schemas.microsoft.com/office/drawing/2014/main" id="{55B32035-F9EA-47D6-BCBC-C92A43767E03}"/>
              </a:ext>
            </a:extLst>
          </p:cNvPr>
          <p:cNvSpPr>
            <a:spLocks xmlns:a="http://schemas.openxmlformats.org/drawingml/2006/main" noGrp="1"/>
          </p:cNvSpPr>
          <p:nvPr/>
        </p:nvSpPr>
        <p:spPr>
          <a:xfrm xmlns:a="http://schemas.openxmlformats.org/drawingml/2006/main">
            <a:off x="1181100" y="35337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Fungal Morphogenesis, from the Polarized Growth of Hyphae to Complex Reproduction and Infection Structures.</a:t>
            </a:r>
          </a:p>
        </p:txBody>
      </p:sp>
      <p:sp>
        <p:nvSpPr>
          <p:cNvPr id="14" name="">
            <a:extLst xmlns:a="http://schemas.openxmlformats.org/drawingml/2006/main">
              <a:ext uri="{FF2B5EF4-FFF2-40B4-BE49-F238E27FC236}">
                <a16:creationId xmlns:a16="http://schemas.microsoft.com/office/drawing/2014/main" id="{96AB4EF3-7F5D-4907-8D6B-E7D313C1B769}"/>
              </a:ext>
            </a:extLst>
          </p:cNvPr>
          <p:cNvSpPr>
            <a:spLocks xmlns:a="http://schemas.openxmlformats.org/drawingml/2006/main" noGrp="1"/>
          </p:cNvSpPr>
          <p:nvPr/>
        </p:nvSpPr>
        <p:spPr>
          <a:xfrm xmlns:a="http://schemas.openxmlformats.org/drawingml/2006/main">
            <a:off x="1181100" y="38004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Microbiology and Molecular Biology Reviews, 82, e00068-17.</a:t>
            </a:r>
          </a:p>
        </p:txBody>
      </p:sp>
      <p:sp>
        <p:nvSpPr>
          <p:cNvPr id="15" name="">
            <a:extLst xmlns:a="http://schemas.openxmlformats.org/drawingml/2006/main">
              <a:ext uri="{FF2B5EF4-FFF2-40B4-BE49-F238E27FC236}">
                <a16:creationId xmlns:a16="http://schemas.microsoft.com/office/drawing/2014/main" id="{5EE2DCD2-F05F-4101-893D-FDC76EF92E40}"/>
              </a:ext>
            </a:extLst>
          </p:cNvPr>
          <p:cNvSpPr>
            <a:spLocks xmlns:a="http://schemas.openxmlformats.org/drawingml/2006/main" noGrp="1"/>
          </p:cNvSpPr>
          <p:nvPr/>
        </p:nvSpPr>
        <p:spPr>
          <a:xfrm xmlns:a="http://schemas.openxmlformats.org/drawingml/2006/main">
            <a:off x="1181100" y="40386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8068707c977348f8"/>
              </a:rPr>
              <a:t>doi.org/10.1128/MMBR.00068-17</a:t>
            </a:r>
          </a:p>
        </p:txBody>
      </p:sp>
      <p:sp>
        <p:nvSpPr>
          <p:cNvPr id="16" name="">
            <a:extLst xmlns:a="http://schemas.openxmlformats.org/drawingml/2006/main">
              <a:ext uri="{FF2B5EF4-FFF2-40B4-BE49-F238E27FC236}">
                <a16:creationId xmlns:a16="http://schemas.microsoft.com/office/drawing/2014/main" id="{DC0AE433-224E-4830-A25F-7B706A19C1A0}"/>
              </a:ext>
            </a:extLst>
          </p:cNvPr>
          <p:cNvSpPr>
            <a:spLocks xmlns:a="http://schemas.openxmlformats.org/drawingml/2006/main" noGrp="1"/>
          </p:cNvSpPr>
          <p:nvPr/>
        </p:nvSpPr>
        <p:spPr>
          <a:xfrm xmlns:a="http://schemas.openxmlformats.org/drawingml/2006/main">
            <a:off x="552450" y="47244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[5]</a:t>
            </a:r>
          </a:p>
        </p:txBody>
      </p:sp>
      <p:sp>
        <p:nvSpPr>
          <p:cNvPr id="17" name="">
            <a:extLst xmlns:a="http://schemas.openxmlformats.org/drawingml/2006/main">
              <a:ext uri="{FF2B5EF4-FFF2-40B4-BE49-F238E27FC236}">
                <a16:creationId xmlns:a16="http://schemas.microsoft.com/office/drawing/2014/main" id="{FF588456-1EFF-47A4-AC5F-ADB636E51E14}"/>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Wijayawardene, N. N., et al. (2024)</a:t>
            </a:r>
          </a:p>
        </p:txBody>
      </p:sp>
      <p:sp>
        <p:nvSpPr>
          <p:cNvPr id="18" name="">
            <a:extLst xmlns:a="http://schemas.openxmlformats.org/drawingml/2006/main">
              <a:ext uri="{FF2B5EF4-FFF2-40B4-BE49-F238E27FC236}">
                <a16:creationId xmlns:a16="http://schemas.microsoft.com/office/drawing/2014/main" id="{DB8BEE12-6D1B-4478-AACD-50FCA33AB314}"/>
              </a:ext>
            </a:extLst>
          </p:cNvPr>
          <p:cNvSpPr>
            <a:spLocks xmlns:a="http://schemas.openxmlformats.org/drawingml/2006/main" noGrp="1"/>
          </p:cNvSpPr>
          <p:nvPr/>
        </p:nvSpPr>
        <p:spPr>
          <a:xfrm xmlns:a="http://schemas.openxmlformats.org/drawingml/2006/main">
            <a:off x="1181100" y="50387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Classes and phyla of the kingdom Fungi.</a:t>
            </a:r>
          </a:p>
        </p:txBody>
      </p:sp>
      <p:sp>
        <p:nvSpPr>
          <p:cNvPr id="19" name="">
            <a:extLst xmlns:a="http://schemas.openxmlformats.org/drawingml/2006/main">
              <a:ext uri="{FF2B5EF4-FFF2-40B4-BE49-F238E27FC236}">
                <a16:creationId xmlns:a16="http://schemas.microsoft.com/office/drawing/2014/main" id="{BF53DCB1-858E-4D5A-8CF5-A3954F6B5D82}"/>
              </a:ext>
            </a:extLst>
          </p:cNvPr>
          <p:cNvSpPr>
            <a:spLocks xmlns:a="http://schemas.openxmlformats.org/drawingml/2006/main" noGrp="1"/>
          </p:cNvSpPr>
          <p:nvPr/>
        </p:nvSpPr>
        <p:spPr>
          <a:xfrm xmlns:a="http://schemas.openxmlformats.org/drawingml/2006/main">
            <a:off x="1181100" y="5305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Fungal Diversity, 128, 1–165.</a:t>
            </a:r>
          </a:p>
        </p:txBody>
      </p:sp>
      <p:sp>
        <p:nvSpPr>
          <p:cNvPr id="20" name="">
            <a:extLst xmlns:a="http://schemas.openxmlformats.org/drawingml/2006/main">
              <a:ext uri="{FF2B5EF4-FFF2-40B4-BE49-F238E27FC236}">
                <a16:creationId xmlns:a16="http://schemas.microsoft.com/office/drawing/2014/main" id="{F0B624EF-9B38-4E39-914D-4B5B50517D0F}"/>
              </a:ext>
            </a:extLst>
          </p:cNvPr>
          <p:cNvSpPr>
            <a:spLocks xmlns:a="http://schemas.openxmlformats.org/drawingml/2006/main" noGrp="1"/>
          </p:cNvSpPr>
          <p:nvPr/>
        </p:nvSpPr>
        <p:spPr>
          <a:xfrm xmlns:a="http://schemas.openxmlformats.org/drawingml/2006/main">
            <a:off x="1181100" y="55435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24cc94a4d2434ce8"/>
              </a:rPr>
              <a:t>doi.org/10.1007/s13225-024-00540-z</a:t>
            </a:r>
          </a:p>
        </p:txBody>
      </p:sp>
    </p:spTree>
    <p:extLst>
      <p:ext uri="{BB962C8B-B14F-4D97-AF65-F5344CB8AC3E}">
        <p14:creationId xmlns:p14="http://schemas.microsoft.com/office/powerpoint/2010/main" val="7796430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1945169-9AFE-47C7-8B01-A522C4A3C38C}"/>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30226DD9-B789-468A-8799-1F6B355F887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Fundamentos, clasificación actualizada y estudios de Ecuador.</a:t>
            </a:r>
          </a:p>
        </p:txBody>
      </p:sp>
      <p:sp>
        <p:nvSpPr>
          <p:cNvPr id="3" name="">
            <a:extLst xmlns:a="http://schemas.openxmlformats.org/drawingml/2006/main">
              <a:ext uri="{FF2B5EF4-FFF2-40B4-BE49-F238E27FC236}">
                <a16:creationId xmlns:a16="http://schemas.microsoft.com/office/drawing/2014/main" id="{1CC4B1C7-3DB2-4794-B716-C6ACC541739C}"/>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1958C4B9-D865-4778-BF02-C6401B589755}"/>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Bibliografía de consulta.</a:t>
            </a:r>
          </a:p>
        </p:txBody>
      </p:sp>
      <p:sp>
        <p:nvSpPr>
          <p:cNvPr id="5" name="">
            <a:extLst xmlns:a="http://schemas.openxmlformats.org/drawingml/2006/main">
              <a:ext uri="{FF2B5EF4-FFF2-40B4-BE49-F238E27FC236}">
                <a16:creationId xmlns:a16="http://schemas.microsoft.com/office/drawing/2014/main" id="{2278288A-29AF-4AC6-9669-FCFB5E922C6A}"/>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37 / 39</a:t>
            </a:r>
          </a:p>
        </p:txBody>
      </p:sp>
      <p:sp>
        <p:nvSpPr>
          <p:cNvPr id="6" name="">
            <a:extLst xmlns:a="http://schemas.openxmlformats.org/drawingml/2006/main">
              <a:ext uri="{FF2B5EF4-FFF2-40B4-BE49-F238E27FC236}">
                <a16:creationId xmlns:a16="http://schemas.microsoft.com/office/drawing/2014/main" id="{9063A210-5E7D-4386-BF3B-6EE3C3C3E42B}"/>
              </a:ext>
            </a:extLst>
          </p:cNvPr>
          <p:cNvSpPr>
            <a:spLocks xmlns:a="http://schemas.openxmlformats.org/drawingml/2006/main" noGrp="1"/>
          </p:cNvSpPr>
          <p:nvPr/>
        </p:nvSpPr>
        <p:spPr>
          <a:xfrm xmlns:a="http://schemas.openxmlformats.org/drawingml/2006/main">
            <a:off x="552450" y="17145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[6]</a:t>
            </a:r>
          </a:p>
        </p:txBody>
      </p:sp>
      <p:sp>
        <p:nvSpPr>
          <p:cNvPr id="7" name="">
            <a:extLst xmlns:a="http://schemas.openxmlformats.org/drawingml/2006/main">
              <a:ext uri="{FF2B5EF4-FFF2-40B4-BE49-F238E27FC236}">
                <a16:creationId xmlns:a16="http://schemas.microsoft.com/office/drawing/2014/main" id="{17BD6C29-344F-475D-9D26-1C219B4E10A1}"/>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Lücking, R., et al. (2020)</a:t>
            </a:r>
          </a:p>
        </p:txBody>
      </p:sp>
      <p:sp>
        <p:nvSpPr>
          <p:cNvPr id="8" name="">
            <a:extLst xmlns:a="http://schemas.openxmlformats.org/drawingml/2006/main">
              <a:ext uri="{FF2B5EF4-FFF2-40B4-BE49-F238E27FC236}">
                <a16:creationId xmlns:a16="http://schemas.microsoft.com/office/drawing/2014/main" id="{CF465BE5-70F2-43A4-B78B-AAF5344814CF}"/>
              </a:ext>
            </a:extLst>
          </p:cNvPr>
          <p:cNvSpPr>
            <a:spLocks xmlns:a="http://schemas.openxmlformats.org/drawingml/2006/main" noGrp="1"/>
          </p:cNvSpPr>
          <p:nvPr/>
        </p:nvSpPr>
        <p:spPr>
          <a:xfrm xmlns:a="http://schemas.openxmlformats.org/drawingml/2006/main">
            <a:off x="1181100" y="20288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Unambiguous identification of fungi: where do we stand and how accurate and precise is fungal DNA barcoding?</a:t>
            </a:r>
          </a:p>
        </p:txBody>
      </p:sp>
      <p:sp>
        <p:nvSpPr>
          <p:cNvPr id="9" name="">
            <a:extLst xmlns:a="http://schemas.openxmlformats.org/drawingml/2006/main">
              <a:ext uri="{FF2B5EF4-FFF2-40B4-BE49-F238E27FC236}">
                <a16:creationId xmlns:a16="http://schemas.microsoft.com/office/drawing/2014/main" id="{6C4C599F-7A3B-4C5F-AAB7-8AAFD404D1C7}"/>
              </a:ext>
            </a:extLst>
          </p:cNvPr>
          <p:cNvSpPr>
            <a:spLocks xmlns:a="http://schemas.openxmlformats.org/drawingml/2006/main" noGrp="1"/>
          </p:cNvSpPr>
          <p:nvPr/>
        </p:nvSpPr>
        <p:spPr>
          <a:xfrm xmlns:a="http://schemas.openxmlformats.org/drawingml/2006/main">
            <a:off x="1181100" y="22955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IMA Fungus, 11, 14.</a:t>
            </a:r>
          </a:p>
        </p:txBody>
      </p:sp>
      <p:sp>
        <p:nvSpPr>
          <p:cNvPr id="10" name="">
            <a:extLst xmlns:a="http://schemas.openxmlformats.org/drawingml/2006/main">
              <a:ext uri="{FF2B5EF4-FFF2-40B4-BE49-F238E27FC236}">
                <a16:creationId xmlns:a16="http://schemas.microsoft.com/office/drawing/2014/main" id="{44FEBDCC-42F9-4680-9E29-9DB8A676A334}"/>
              </a:ext>
            </a:extLst>
          </p:cNvPr>
          <p:cNvSpPr>
            <a:spLocks xmlns:a="http://schemas.openxmlformats.org/drawingml/2006/main" noGrp="1"/>
          </p:cNvSpPr>
          <p:nvPr/>
        </p:nvSpPr>
        <p:spPr>
          <a:xfrm xmlns:a="http://schemas.openxmlformats.org/drawingml/2006/main">
            <a:off x="1181100" y="25336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9a823743eb9c408c"/>
              </a:rPr>
              <a:t>doi.org/10.1186/s43008-020-00033-z</a:t>
            </a:r>
          </a:p>
        </p:txBody>
      </p:sp>
      <p:sp>
        <p:nvSpPr>
          <p:cNvPr id="11" name="">
            <a:extLst xmlns:a="http://schemas.openxmlformats.org/drawingml/2006/main">
              <a:ext uri="{FF2B5EF4-FFF2-40B4-BE49-F238E27FC236}">
                <a16:creationId xmlns:a16="http://schemas.microsoft.com/office/drawing/2014/main" id="{F70BE813-7EED-4889-9EE2-7540E9F4B62A}"/>
              </a:ext>
            </a:extLst>
          </p:cNvPr>
          <p:cNvSpPr>
            <a:spLocks xmlns:a="http://schemas.openxmlformats.org/drawingml/2006/main" noGrp="1"/>
          </p:cNvSpPr>
          <p:nvPr/>
        </p:nvSpPr>
        <p:spPr>
          <a:xfrm xmlns:a="http://schemas.openxmlformats.org/drawingml/2006/main">
            <a:off x="552450" y="38100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[12]</a:t>
            </a:r>
          </a:p>
        </p:txBody>
      </p:sp>
      <p:sp>
        <p:nvSpPr>
          <p:cNvPr id="12" name="">
            <a:extLst xmlns:a="http://schemas.openxmlformats.org/drawingml/2006/main">
              <a:ext uri="{FF2B5EF4-FFF2-40B4-BE49-F238E27FC236}">
                <a16:creationId xmlns:a16="http://schemas.microsoft.com/office/drawing/2014/main" id="{25CD94C1-C69A-4EA7-A139-F6EA95CF87AE}"/>
              </a:ext>
            </a:extLst>
          </p:cNvPr>
          <p:cNvSpPr>
            <a:spLocks xmlns:a="http://schemas.openxmlformats.org/drawingml/2006/main" noGrp="1"/>
          </p:cNvSpPr>
          <p:nvPr/>
        </p:nvSpPr>
        <p:spPr>
          <a:xfrm xmlns:a="http://schemas.openxmlformats.org/drawingml/2006/main">
            <a:off x="1181100" y="38100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Luginbuehl, L. H., et al. (2017)</a:t>
            </a:r>
          </a:p>
        </p:txBody>
      </p:sp>
      <p:sp>
        <p:nvSpPr>
          <p:cNvPr id="13" name="">
            <a:extLst xmlns:a="http://schemas.openxmlformats.org/drawingml/2006/main">
              <a:ext uri="{FF2B5EF4-FFF2-40B4-BE49-F238E27FC236}">
                <a16:creationId xmlns:a16="http://schemas.microsoft.com/office/drawing/2014/main" id="{B7293A91-3AFE-49B7-A51A-3DEA7528BE43}"/>
              </a:ext>
            </a:extLst>
          </p:cNvPr>
          <p:cNvSpPr>
            <a:spLocks xmlns:a="http://schemas.openxmlformats.org/drawingml/2006/main" noGrp="1"/>
          </p:cNvSpPr>
          <p:nvPr/>
        </p:nvSpPr>
        <p:spPr>
          <a:xfrm xmlns:a="http://schemas.openxmlformats.org/drawingml/2006/main">
            <a:off x="1181100" y="41243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Fatty acids in arbuscular mycorrhizal fungi are synthesized by the host plant.</a:t>
            </a:r>
          </a:p>
        </p:txBody>
      </p:sp>
      <p:sp>
        <p:nvSpPr>
          <p:cNvPr id="14" name="">
            <a:extLst xmlns:a="http://schemas.openxmlformats.org/drawingml/2006/main">
              <a:ext uri="{FF2B5EF4-FFF2-40B4-BE49-F238E27FC236}">
                <a16:creationId xmlns:a16="http://schemas.microsoft.com/office/drawing/2014/main" id="{B577E4B2-58D4-408E-B9A3-DCA4142C041F}"/>
              </a:ext>
            </a:extLst>
          </p:cNvPr>
          <p:cNvSpPr>
            <a:spLocks xmlns:a="http://schemas.openxmlformats.org/drawingml/2006/main" noGrp="1"/>
          </p:cNvSpPr>
          <p:nvPr/>
        </p:nvSpPr>
        <p:spPr>
          <a:xfrm xmlns:a="http://schemas.openxmlformats.org/drawingml/2006/main">
            <a:off x="1181100" y="43910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Science, 356, 1175–1178.</a:t>
            </a:r>
          </a:p>
        </p:txBody>
      </p:sp>
      <p:sp>
        <p:nvSpPr>
          <p:cNvPr id="15" name="">
            <a:extLst xmlns:a="http://schemas.openxmlformats.org/drawingml/2006/main">
              <a:ext uri="{FF2B5EF4-FFF2-40B4-BE49-F238E27FC236}">
                <a16:creationId xmlns:a16="http://schemas.microsoft.com/office/drawing/2014/main" id="{CA71BE52-BC24-4517-9941-03CD80A70387}"/>
              </a:ext>
            </a:extLst>
          </p:cNvPr>
          <p:cNvSpPr>
            <a:spLocks xmlns:a="http://schemas.openxmlformats.org/drawingml/2006/main" noGrp="1"/>
          </p:cNvSpPr>
          <p:nvPr/>
        </p:nvSpPr>
        <p:spPr>
          <a:xfrm xmlns:a="http://schemas.openxmlformats.org/drawingml/2006/main">
            <a:off x="1181100" y="46291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f56c27adb1264f01"/>
              </a:rPr>
              <a:t>doi.org/10.1126/science.aan0081</a:t>
            </a:r>
          </a:p>
        </p:txBody>
      </p:sp>
    </p:spTree>
    <p:extLst>
      <p:ext uri="{BB962C8B-B14F-4D97-AF65-F5344CB8AC3E}">
        <p14:creationId xmlns:p14="http://schemas.microsoft.com/office/powerpoint/2010/main" val="27455599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4167779-59FD-4C55-B1D1-2229DB4E6C7C}"/>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1E279FC4-2258-48C1-A436-BC22EDFC5926}"/>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Fundamentos, clasificación actualizada y estudios de Ecuador.</a:t>
            </a:r>
          </a:p>
        </p:txBody>
      </p:sp>
      <p:sp>
        <p:nvSpPr>
          <p:cNvPr id="3" name="">
            <a:extLst xmlns:a="http://schemas.openxmlformats.org/drawingml/2006/main">
              <a:ext uri="{FF2B5EF4-FFF2-40B4-BE49-F238E27FC236}">
                <a16:creationId xmlns:a16="http://schemas.microsoft.com/office/drawing/2014/main" id="{907A0E2C-C131-44CD-8719-97DA1614AFD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A228432-D2F9-4714-AD1F-7A87089A0C39}"/>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Bibliografía de consulta.</a:t>
            </a:r>
          </a:p>
        </p:txBody>
      </p:sp>
      <p:sp>
        <p:nvSpPr>
          <p:cNvPr id="5" name="">
            <a:extLst xmlns:a="http://schemas.openxmlformats.org/drawingml/2006/main">
              <a:ext uri="{FF2B5EF4-FFF2-40B4-BE49-F238E27FC236}">
                <a16:creationId xmlns:a16="http://schemas.microsoft.com/office/drawing/2014/main" id="{9D3E8613-533F-4CE7-8977-763F5F01955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38 / 39</a:t>
            </a:r>
          </a:p>
        </p:txBody>
      </p:sp>
      <p:sp>
        <p:nvSpPr>
          <p:cNvPr id="6" name="">
            <a:extLst xmlns:a="http://schemas.openxmlformats.org/drawingml/2006/main">
              <a:ext uri="{FF2B5EF4-FFF2-40B4-BE49-F238E27FC236}">
                <a16:creationId xmlns:a16="http://schemas.microsoft.com/office/drawing/2014/main" id="{969E70B8-9785-4C99-932E-512C4560EC4B}"/>
              </a:ext>
            </a:extLst>
          </p:cNvPr>
          <p:cNvSpPr>
            <a:spLocks xmlns:a="http://schemas.openxmlformats.org/drawingml/2006/main" noGrp="1"/>
          </p:cNvSpPr>
          <p:nvPr/>
        </p:nvSpPr>
        <p:spPr>
          <a:xfrm xmlns:a="http://schemas.openxmlformats.org/drawingml/2006/main">
            <a:off x="552450" y="17145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[7]</a:t>
            </a:r>
          </a:p>
        </p:txBody>
      </p:sp>
      <p:sp>
        <p:nvSpPr>
          <p:cNvPr id="7" name="">
            <a:extLst xmlns:a="http://schemas.openxmlformats.org/drawingml/2006/main">
              <a:ext uri="{FF2B5EF4-FFF2-40B4-BE49-F238E27FC236}">
                <a16:creationId xmlns:a16="http://schemas.microsoft.com/office/drawing/2014/main" id="{DEC338D4-AD10-423F-AEF9-32A258E3A5E0}"/>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Cruz, D., Capa, D., Maza, D., Ojeda, R., &amp; Benítez, Á. (2020)</a:t>
            </a:r>
          </a:p>
        </p:txBody>
      </p:sp>
      <p:sp>
        <p:nvSpPr>
          <p:cNvPr id="8" name="">
            <a:extLst xmlns:a="http://schemas.openxmlformats.org/drawingml/2006/main">
              <a:ext uri="{FF2B5EF4-FFF2-40B4-BE49-F238E27FC236}">
                <a16:creationId xmlns:a16="http://schemas.microsoft.com/office/drawing/2014/main" id="{DCD1F20E-E16D-4064-A240-08C9566C59D0}"/>
              </a:ext>
            </a:extLst>
          </p:cNvPr>
          <p:cNvSpPr>
            <a:spLocks xmlns:a="http://schemas.openxmlformats.org/drawingml/2006/main" noGrp="1"/>
          </p:cNvSpPr>
          <p:nvPr/>
        </p:nvSpPr>
        <p:spPr>
          <a:xfrm xmlns:a="http://schemas.openxmlformats.org/drawingml/2006/main">
            <a:off x="1181100" y="20288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Producción y valor proteico de Pleurotus ostreatus en la región sur de Ecuador.</a:t>
            </a:r>
          </a:p>
        </p:txBody>
      </p:sp>
      <p:sp>
        <p:nvSpPr>
          <p:cNvPr id="9" name="">
            <a:extLst xmlns:a="http://schemas.openxmlformats.org/drawingml/2006/main">
              <a:ext uri="{FF2B5EF4-FFF2-40B4-BE49-F238E27FC236}">
                <a16:creationId xmlns:a16="http://schemas.microsoft.com/office/drawing/2014/main" id="{D34411F4-1E66-4D49-956F-15DF5CEA37E9}"/>
              </a:ext>
            </a:extLst>
          </p:cNvPr>
          <p:cNvSpPr>
            <a:spLocks xmlns:a="http://schemas.openxmlformats.org/drawingml/2006/main" noGrp="1"/>
          </p:cNvSpPr>
          <p:nvPr/>
        </p:nvSpPr>
        <p:spPr>
          <a:xfrm xmlns:a="http://schemas.openxmlformats.org/drawingml/2006/main">
            <a:off x="1181100" y="22955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ACI Avances en Ciencias e Ingenierías, 12(2), 34–43.</a:t>
            </a:r>
          </a:p>
        </p:txBody>
      </p:sp>
      <p:sp>
        <p:nvSpPr>
          <p:cNvPr id="10" name="">
            <a:extLst xmlns:a="http://schemas.openxmlformats.org/drawingml/2006/main">
              <a:ext uri="{FF2B5EF4-FFF2-40B4-BE49-F238E27FC236}">
                <a16:creationId xmlns:a16="http://schemas.microsoft.com/office/drawing/2014/main" id="{E5B068AC-7533-4BAC-9A4B-F1166D7F0551}"/>
              </a:ext>
            </a:extLst>
          </p:cNvPr>
          <p:cNvSpPr>
            <a:spLocks xmlns:a="http://schemas.openxmlformats.org/drawingml/2006/main" noGrp="1"/>
          </p:cNvSpPr>
          <p:nvPr/>
        </p:nvSpPr>
        <p:spPr>
          <a:xfrm xmlns:a="http://schemas.openxmlformats.org/drawingml/2006/main">
            <a:off x="1181100" y="25336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473127033b694a4d"/>
              </a:rPr>
              <a:t>doi.org/10.18272/aci.v12i2.1806</a:t>
            </a:r>
          </a:p>
        </p:txBody>
      </p:sp>
      <p:sp>
        <p:nvSpPr>
          <p:cNvPr id="11" name="">
            <a:extLst xmlns:a="http://schemas.openxmlformats.org/drawingml/2006/main">
              <a:ext uri="{FF2B5EF4-FFF2-40B4-BE49-F238E27FC236}">
                <a16:creationId xmlns:a16="http://schemas.microsoft.com/office/drawing/2014/main" id="{F0B70796-7A4D-45F6-9EEA-62EE5261AD60}"/>
              </a:ext>
            </a:extLst>
          </p:cNvPr>
          <p:cNvSpPr>
            <a:spLocks xmlns:a="http://schemas.openxmlformats.org/drawingml/2006/main" noGrp="1"/>
          </p:cNvSpPr>
          <p:nvPr/>
        </p:nvSpPr>
        <p:spPr>
          <a:xfrm xmlns:a="http://schemas.openxmlformats.org/drawingml/2006/main">
            <a:off x="552450" y="32194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[8]</a:t>
            </a:r>
          </a:p>
        </p:txBody>
      </p:sp>
      <p:sp>
        <p:nvSpPr>
          <p:cNvPr id="12" name="">
            <a:extLst xmlns:a="http://schemas.openxmlformats.org/drawingml/2006/main">
              <a:ext uri="{FF2B5EF4-FFF2-40B4-BE49-F238E27FC236}">
                <a16:creationId xmlns:a16="http://schemas.microsoft.com/office/drawing/2014/main" id="{E4CA439C-0987-4E97-BE07-DF5C481F2412}"/>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Falconí, C. E., Yánez-Mendizábal, V., Haro, R. J., &amp; Claudio, D. R. (2023)</a:t>
            </a:r>
          </a:p>
        </p:txBody>
      </p:sp>
      <p:sp>
        <p:nvSpPr>
          <p:cNvPr id="13" name="">
            <a:extLst xmlns:a="http://schemas.openxmlformats.org/drawingml/2006/main">
              <a:ext uri="{FF2B5EF4-FFF2-40B4-BE49-F238E27FC236}">
                <a16:creationId xmlns:a16="http://schemas.microsoft.com/office/drawing/2014/main" id="{DBAE47AE-E0AF-422C-B115-34DAE212BE14}"/>
              </a:ext>
            </a:extLst>
          </p:cNvPr>
          <p:cNvSpPr>
            <a:spLocks xmlns:a="http://schemas.openxmlformats.org/drawingml/2006/main" noGrp="1"/>
          </p:cNvSpPr>
          <p:nvPr/>
        </p:nvSpPr>
        <p:spPr>
          <a:xfrm xmlns:a="http://schemas.openxmlformats.org/drawingml/2006/main">
            <a:off x="1181100" y="3533775"/>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Inoculum of a Native Microbial Starter Cocktail to Optimize Fine-Aroma Cocoa (Theobroma cacao) Bean</a:t>
            </a:r>
          </a:p>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Fermentation.</a:t>
            </a:r>
          </a:p>
        </p:txBody>
      </p:sp>
      <p:sp>
        <p:nvSpPr>
          <p:cNvPr id="14" name="">
            <a:extLst xmlns:a="http://schemas.openxmlformats.org/drawingml/2006/main">
              <a:ext uri="{FF2B5EF4-FFF2-40B4-BE49-F238E27FC236}">
                <a16:creationId xmlns:a16="http://schemas.microsoft.com/office/drawing/2014/main" id="{41B49FD4-10E5-442C-BA46-2504866A2632}"/>
              </a:ext>
            </a:extLst>
          </p:cNvPr>
          <p:cNvSpPr>
            <a:spLocks xmlns:a="http://schemas.openxmlformats.org/drawingml/2006/main" noGrp="1"/>
          </p:cNvSpPr>
          <p:nvPr/>
        </p:nvSpPr>
        <p:spPr>
          <a:xfrm xmlns:a="http://schemas.openxmlformats.org/drawingml/2006/main">
            <a:off x="1181100" y="40100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Agronomy, 13(10), 2572.</a:t>
            </a:r>
          </a:p>
        </p:txBody>
      </p:sp>
      <p:sp>
        <p:nvSpPr>
          <p:cNvPr id="15" name="">
            <a:extLst xmlns:a="http://schemas.openxmlformats.org/drawingml/2006/main">
              <a:ext uri="{FF2B5EF4-FFF2-40B4-BE49-F238E27FC236}">
                <a16:creationId xmlns:a16="http://schemas.microsoft.com/office/drawing/2014/main" id="{D4A47272-5ADB-4F0B-A40A-0828D1C5374B}"/>
              </a:ext>
            </a:extLst>
          </p:cNvPr>
          <p:cNvSpPr>
            <a:spLocks xmlns:a="http://schemas.openxmlformats.org/drawingml/2006/main" noGrp="1"/>
          </p:cNvSpPr>
          <p:nvPr/>
        </p:nvSpPr>
        <p:spPr>
          <a:xfrm xmlns:a="http://schemas.openxmlformats.org/drawingml/2006/main">
            <a:off x="1181100" y="42481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882bd579bc2b4564"/>
              </a:rPr>
              <a:t>doi.org/10.3390/agronomy13102572</a:t>
            </a:r>
          </a:p>
        </p:txBody>
      </p:sp>
      <p:sp>
        <p:nvSpPr>
          <p:cNvPr id="16" name="">
            <a:extLst xmlns:a="http://schemas.openxmlformats.org/drawingml/2006/main">
              <a:ext uri="{FF2B5EF4-FFF2-40B4-BE49-F238E27FC236}">
                <a16:creationId xmlns:a16="http://schemas.microsoft.com/office/drawing/2014/main" id="{24AA8A57-01BA-406C-8AC9-F3E2FBFBDC10}"/>
              </a:ext>
            </a:extLst>
          </p:cNvPr>
          <p:cNvSpPr>
            <a:spLocks xmlns:a="http://schemas.openxmlformats.org/drawingml/2006/main" noGrp="1"/>
          </p:cNvSpPr>
          <p:nvPr/>
        </p:nvSpPr>
        <p:spPr>
          <a:xfrm xmlns:a="http://schemas.openxmlformats.org/drawingml/2006/main">
            <a:off x="552450" y="47244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[9]</a:t>
            </a:r>
          </a:p>
        </p:txBody>
      </p:sp>
      <p:sp>
        <p:nvSpPr>
          <p:cNvPr id="17" name="">
            <a:extLst xmlns:a="http://schemas.openxmlformats.org/drawingml/2006/main">
              <a:ext uri="{FF2B5EF4-FFF2-40B4-BE49-F238E27FC236}">
                <a16:creationId xmlns:a16="http://schemas.microsoft.com/office/drawing/2014/main" id="{873EB9CE-2974-4F76-9A44-406ACBA9C48F}"/>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Chóez-Guaranda, I., et al. (2023)</a:t>
            </a:r>
          </a:p>
        </p:txBody>
      </p:sp>
      <p:sp>
        <p:nvSpPr>
          <p:cNvPr id="18" name="">
            <a:extLst xmlns:a="http://schemas.openxmlformats.org/drawingml/2006/main">
              <a:ext uri="{FF2B5EF4-FFF2-40B4-BE49-F238E27FC236}">
                <a16:creationId xmlns:a16="http://schemas.microsoft.com/office/drawing/2014/main" id="{60FFEA77-ADEC-468F-AF64-540D13A5B373}"/>
              </a:ext>
            </a:extLst>
          </p:cNvPr>
          <p:cNvSpPr>
            <a:spLocks xmlns:a="http://schemas.openxmlformats.org/drawingml/2006/main" noGrp="1"/>
          </p:cNvSpPr>
          <p:nvPr/>
        </p:nvSpPr>
        <p:spPr>
          <a:xfrm xmlns:a="http://schemas.openxmlformats.org/drawingml/2006/main">
            <a:off x="1181100" y="50387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Chemical Characterization of Trichoderma spp. Extracts with Antifungal Activity against Cocoa Pathogens.</a:t>
            </a:r>
          </a:p>
        </p:txBody>
      </p:sp>
      <p:sp>
        <p:nvSpPr>
          <p:cNvPr id="19" name="">
            <a:extLst xmlns:a="http://schemas.openxmlformats.org/drawingml/2006/main">
              <a:ext uri="{FF2B5EF4-FFF2-40B4-BE49-F238E27FC236}">
                <a16:creationId xmlns:a16="http://schemas.microsoft.com/office/drawing/2014/main" id="{37C1862A-0E1F-4B0D-9E10-FC49A5F59715}"/>
              </a:ext>
            </a:extLst>
          </p:cNvPr>
          <p:cNvSpPr>
            <a:spLocks xmlns:a="http://schemas.openxmlformats.org/drawingml/2006/main" noGrp="1"/>
          </p:cNvSpPr>
          <p:nvPr/>
        </p:nvSpPr>
        <p:spPr>
          <a:xfrm xmlns:a="http://schemas.openxmlformats.org/drawingml/2006/main">
            <a:off x="1181100" y="5305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Molecules, 28(7), 3208.</a:t>
            </a:r>
          </a:p>
        </p:txBody>
      </p:sp>
      <p:sp>
        <p:nvSpPr>
          <p:cNvPr id="20" name="">
            <a:extLst xmlns:a="http://schemas.openxmlformats.org/drawingml/2006/main">
              <a:ext uri="{FF2B5EF4-FFF2-40B4-BE49-F238E27FC236}">
                <a16:creationId xmlns:a16="http://schemas.microsoft.com/office/drawing/2014/main" id="{2D7C2D25-51B0-415D-8E43-8E5242615004}"/>
              </a:ext>
            </a:extLst>
          </p:cNvPr>
          <p:cNvSpPr>
            <a:spLocks xmlns:a="http://schemas.openxmlformats.org/drawingml/2006/main" noGrp="1"/>
          </p:cNvSpPr>
          <p:nvPr/>
        </p:nvSpPr>
        <p:spPr>
          <a:xfrm xmlns:a="http://schemas.openxmlformats.org/drawingml/2006/main">
            <a:off x="1181100" y="55435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6e4c631dd72641a1"/>
              </a:rPr>
              <a:t>doi.org/10.3390/molecules28073208</a:t>
            </a:r>
          </a:p>
        </p:txBody>
      </p:sp>
    </p:spTree>
    <p:extLst>
      <p:ext uri="{BB962C8B-B14F-4D97-AF65-F5344CB8AC3E}">
        <p14:creationId xmlns:p14="http://schemas.microsoft.com/office/powerpoint/2010/main" val="89976838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AEC228-38EC-4D0D-855C-8A32E6ADDFEA}"/>
              </a:ext>
            </a:extLst>
          </p:cNvPr>
          <p:cNvSpPr>
            <a:spLocks xmlns:a="http://schemas.openxmlformats.org/drawingml/2006/main" noGrp="1"/>
          </p:cNvSpPr>
          <p:nvPr/>
        </p:nvSpPr>
        <p:spPr>
          <a:xfrm xmlns:a="http://schemas.openxmlformats.org/drawingml/2006/main">
            <a:off x="552450" y="381000"/>
            <a:ext cx="11087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2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618D5F99-0678-4AC6-92A5-8015D243E14C}"/>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47A84"/>
                </a:solidFill>
                <a:latin typeface="DejaVu Sans"/>
                <a:ea typeface="DejaVu Sans"/>
                <a:cs typeface="DejaVu Sans"/>
              </a:defRPr>
            </a:defPPr>
          </a:lstStyle>
          <a:p xmlns:a="http://schemas.openxmlformats.org/drawingml/2006/main">
            <a:pPr algn="l">
              <a:lnSpc>
                <a:spcPct val="112000"/>
              </a:lnSpc>
              <a:buNone/>
              <a:defRPr sz="1800" b="0" i="0">
                <a:solidFill>
                  <a:srgbClr val="647A84"/>
                </a:solidFill>
                <a:latin typeface="DejaVu Sans"/>
                <a:ea typeface="DejaVu Sans"/>
                <a:cs typeface="DejaVu Sans"/>
              </a:defRPr>
            </a:pPr>
            <a:r>
              <a:rPr sz="1800" b="0" i="0">
                <a:solidFill>
                  <a:srgbClr val="647A84"/>
                </a:solidFill>
                <a:latin typeface="DejaVu Sans"/>
                <a:ea typeface="DejaVu Sans"/>
                <a:cs typeface="DejaVu Sans"/>
              </a:rPr>
              <a:t>Fundamentos, clasificación actualizada y estudios de Ecuador.</a:t>
            </a:r>
          </a:p>
        </p:txBody>
      </p:sp>
      <p:sp>
        <p:nvSpPr>
          <p:cNvPr id="3" name="">
            <a:extLst xmlns:a="http://schemas.openxmlformats.org/drawingml/2006/main">
              <a:ext uri="{FF2B5EF4-FFF2-40B4-BE49-F238E27FC236}">
                <a16:creationId xmlns:a16="http://schemas.microsoft.com/office/drawing/2014/main" id="{1FEF12C0-0468-47E6-9F2F-289F867487F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BDF35EE-172A-414A-8F18-CAD05B6ED5F5}"/>
              </a:ext>
            </a:extLst>
          </p:cNvPr>
          <p:cNvSpPr>
            <a:spLocks xmlns:a="http://schemas.openxmlformats.org/drawingml/2006/main" noGrp="1"/>
          </p:cNvSpPr>
          <p:nvPr/>
        </p:nvSpPr>
        <p:spPr>
          <a:xfrm xmlns:a="http://schemas.openxmlformats.org/drawingml/2006/main">
            <a:off x="552450" y="65627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47A84"/>
                </a:solidFill>
                <a:latin typeface="DejaVu Sans"/>
                <a:ea typeface="DejaVu Sans"/>
                <a:cs typeface="DejaVu Sans"/>
              </a:defRPr>
            </a:defPPr>
          </a:lstStyle>
          <a:p xmlns:a="http://schemas.openxmlformats.org/drawingml/2006/main">
            <a:pPr algn="l">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Bibliografía de consulta.</a:t>
            </a:r>
          </a:p>
        </p:txBody>
      </p:sp>
      <p:sp>
        <p:nvSpPr>
          <p:cNvPr id="5" name="">
            <a:extLst xmlns:a="http://schemas.openxmlformats.org/drawingml/2006/main">
              <a:ext uri="{FF2B5EF4-FFF2-40B4-BE49-F238E27FC236}">
                <a16:creationId xmlns:a16="http://schemas.microsoft.com/office/drawing/2014/main" id="{28CDF2B7-3AAA-4104-8024-1D073F38851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47A84"/>
                </a:solidFill>
                <a:latin typeface="DejaVu Sans"/>
                <a:ea typeface="DejaVu Sans"/>
                <a:cs typeface="DejaVu Sans"/>
              </a:defRPr>
            </a:defPPr>
          </a:lstStyle>
          <a:p xmlns:a="http://schemas.openxmlformats.org/drawingml/2006/main">
            <a:pPr algn="r">
              <a:lnSpc>
                <a:spcPct val="112000"/>
              </a:lnSpc>
              <a:buNone/>
              <a:defRPr sz="975" b="0" i="0">
                <a:solidFill>
                  <a:srgbClr val="647A84"/>
                </a:solidFill>
                <a:latin typeface="DejaVu Sans"/>
                <a:ea typeface="DejaVu Sans"/>
                <a:cs typeface="DejaVu Sans"/>
              </a:defRPr>
            </a:pPr>
            <a:r>
              <a:rPr sz="975" b="0" i="0">
                <a:solidFill>
                  <a:srgbClr val="647A84"/>
                </a:solidFill>
                <a:latin typeface="DejaVu Sans"/>
                <a:ea typeface="DejaVu Sans"/>
                <a:cs typeface="DejaVu Sans"/>
              </a:rPr>
              <a:t>39 / 39</a:t>
            </a:r>
          </a:p>
        </p:txBody>
      </p:sp>
      <p:sp>
        <p:nvSpPr>
          <p:cNvPr id="6" name="">
            <a:extLst xmlns:a="http://schemas.openxmlformats.org/drawingml/2006/main">
              <a:ext uri="{FF2B5EF4-FFF2-40B4-BE49-F238E27FC236}">
                <a16:creationId xmlns:a16="http://schemas.microsoft.com/office/drawing/2014/main" id="{1F71574F-3728-4D1A-BF09-C952C5F8F993}"/>
              </a:ext>
            </a:extLst>
          </p:cNvPr>
          <p:cNvSpPr>
            <a:spLocks xmlns:a="http://schemas.openxmlformats.org/drawingml/2006/main" noGrp="1"/>
          </p:cNvSpPr>
          <p:nvPr/>
        </p:nvSpPr>
        <p:spPr>
          <a:xfrm xmlns:a="http://schemas.openxmlformats.org/drawingml/2006/main">
            <a:off x="552450" y="17145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[10]</a:t>
            </a:r>
          </a:p>
        </p:txBody>
      </p:sp>
      <p:sp>
        <p:nvSpPr>
          <p:cNvPr id="7" name="">
            <a:extLst xmlns:a="http://schemas.openxmlformats.org/drawingml/2006/main">
              <a:ext uri="{FF2B5EF4-FFF2-40B4-BE49-F238E27FC236}">
                <a16:creationId xmlns:a16="http://schemas.microsoft.com/office/drawing/2014/main" id="{A0164A08-CC47-4C25-A5DB-6844E35F3027}"/>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Jaramillo-Riofrío, A., et al. (2023)</a:t>
            </a:r>
          </a:p>
        </p:txBody>
      </p:sp>
      <p:sp>
        <p:nvSpPr>
          <p:cNvPr id="8" name="">
            <a:extLst xmlns:a="http://schemas.openxmlformats.org/drawingml/2006/main">
              <a:ext uri="{FF2B5EF4-FFF2-40B4-BE49-F238E27FC236}">
                <a16:creationId xmlns:a16="http://schemas.microsoft.com/office/drawing/2014/main" id="{0E3E31BD-5208-409A-8343-CEE0A0FFEF5A}"/>
              </a:ext>
            </a:extLst>
          </p:cNvPr>
          <p:cNvSpPr>
            <a:spLocks xmlns:a="http://schemas.openxmlformats.org/drawingml/2006/main" noGrp="1"/>
          </p:cNvSpPr>
          <p:nvPr/>
        </p:nvSpPr>
        <p:spPr>
          <a:xfrm xmlns:a="http://schemas.openxmlformats.org/drawingml/2006/main">
            <a:off x="1181100" y="2028825"/>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Screening of Antibacterial Activity of Some Resupinate Fungi, Reveal Gloeocystidiellum lojanense sp. nov.</a:t>
            </a:r>
          </a:p>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(Russulales) against E. coli from Ecuador.</a:t>
            </a:r>
          </a:p>
        </p:txBody>
      </p:sp>
      <p:sp>
        <p:nvSpPr>
          <p:cNvPr id="9" name="">
            <a:extLst xmlns:a="http://schemas.openxmlformats.org/drawingml/2006/main">
              <a:ext uri="{FF2B5EF4-FFF2-40B4-BE49-F238E27FC236}">
                <a16:creationId xmlns:a16="http://schemas.microsoft.com/office/drawing/2014/main" id="{6F6C08DC-0B41-4346-BF53-654DC0D936FC}"/>
              </a:ext>
            </a:extLst>
          </p:cNvPr>
          <p:cNvSpPr>
            <a:spLocks xmlns:a="http://schemas.openxmlformats.org/drawingml/2006/main" noGrp="1"/>
          </p:cNvSpPr>
          <p:nvPr/>
        </p:nvSpPr>
        <p:spPr>
          <a:xfrm xmlns:a="http://schemas.openxmlformats.org/drawingml/2006/main">
            <a:off x="1181100" y="25050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Journal of Fungi, 9(1), 54. Publicación electrónica: 29 de diciembre de 2022.</a:t>
            </a:r>
          </a:p>
        </p:txBody>
      </p:sp>
      <p:sp>
        <p:nvSpPr>
          <p:cNvPr id="10" name="">
            <a:extLst xmlns:a="http://schemas.openxmlformats.org/drawingml/2006/main">
              <a:ext uri="{FF2B5EF4-FFF2-40B4-BE49-F238E27FC236}">
                <a16:creationId xmlns:a16="http://schemas.microsoft.com/office/drawing/2014/main" id="{B02E67A7-2655-4D38-8692-33A8EBCA81F7}"/>
              </a:ext>
            </a:extLst>
          </p:cNvPr>
          <p:cNvSpPr>
            <a:spLocks xmlns:a="http://schemas.openxmlformats.org/drawingml/2006/main" noGrp="1"/>
          </p:cNvSpPr>
          <p:nvPr/>
        </p:nvSpPr>
        <p:spPr>
          <a:xfrm xmlns:a="http://schemas.openxmlformats.org/drawingml/2006/main">
            <a:off x="1181100" y="27432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e9b675e59f4e4ca4"/>
              </a:rPr>
              <a:t>doi.org/10.3390/jof9010054</a:t>
            </a:r>
          </a:p>
        </p:txBody>
      </p:sp>
      <p:sp>
        <p:nvSpPr>
          <p:cNvPr id="11" name="">
            <a:extLst xmlns:a="http://schemas.openxmlformats.org/drawingml/2006/main">
              <a:ext uri="{FF2B5EF4-FFF2-40B4-BE49-F238E27FC236}">
                <a16:creationId xmlns:a16="http://schemas.microsoft.com/office/drawing/2014/main" id="{4BE31856-5237-468B-851E-84AEF16D8B64}"/>
              </a:ext>
            </a:extLst>
          </p:cNvPr>
          <p:cNvSpPr>
            <a:spLocks xmlns:a="http://schemas.openxmlformats.org/drawingml/2006/main" noGrp="1"/>
          </p:cNvSpPr>
          <p:nvPr/>
        </p:nvSpPr>
        <p:spPr>
          <a:xfrm xmlns:a="http://schemas.openxmlformats.org/drawingml/2006/main">
            <a:off x="552450" y="38100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7955A3"/>
                </a:solidFill>
                <a:latin typeface="DejaVu Sans"/>
                <a:ea typeface="DejaVu Sans"/>
                <a:cs typeface="DejaVu Sans"/>
              </a:defRPr>
            </a:defPPr>
          </a:lstStyle>
          <a:p xmlns:a="http://schemas.openxmlformats.org/drawingml/2006/main">
            <a:pPr algn="l">
              <a:lnSpc>
                <a:spcPct val="112000"/>
              </a:lnSpc>
              <a:buNone/>
              <a:defRPr sz="1725" b="1" i="0">
                <a:solidFill>
                  <a:srgbClr val="7955A3"/>
                </a:solidFill>
                <a:latin typeface="DejaVu Sans"/>
                <a:ea typeface="DejaVu Sans"/>
                <a:cs typeface="DejaVu Sans"/>
              </a:defRPr>
            </a:pPr>
            <a:r>
              <a:rPr sz="1725" b="1" i="0">
                <a:solidFill>
                  <a:srgbClr val="7955A3"/>
                </a:solidFill>
                <a:latin typeface="DejaVu Sans"/>
                <a:ea typeface="DejaVu Sans"/>
                <a:cs typeface="DejaVu Sans"/>
              </a:rPr>
              <a:t>[11]</a:t>
            </a:r>
          </a:p>
        </p:txBody>
      </p:sp>
      <p:sp>
        <p:nvSpPr>
          <p:cNvPr id="12" name="">
            <a:extLst xmlns:a="http://schemas.openxmlformats.org/drawingml/2006/main">
              <a:ext uri="{FF2B5EF4-FFF2-40B4-BE49-F238E27FC236}">
                <a16:creationId xmlns:a16="http://schemas.microsoft.com/office/drawing/2014/main" id="{897AE7E1-40A9-493E-AD03-A212F9DDE001}"/>
              </a:ext>
            </a:extLst>
          </p:cNvPr>
          <p:cNvSpPr>
            <a:spLocks xmlns:a="http://schemas.openxmlformats.org/drawingml/2006/main" noGrp="1"/>
          </p:cNvSpPr>
          <p:nvPr/>
        </p:nvSpPr>
        <p:spPr>
          <a:xfrm xmlns:a="http://schemas.openxmlformats.org/drawingml/2006/main">
            <a:off x="1181100" y="38100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2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Arévalo-Granda, V., et al. (2023)</a:t>
            </a:r>
          </a:p>
        </p:txBody>
      </p:sp>
      <p:sp>
        <p:nvSpPr>
          <p:cNvPr id="13" name="">
            <a:extLst xmlns:a="http://schemas.openxmlformats.org/drawingml/2006/main">
              <a:ext uri="{FF2B5EF4-FFF2-40B4-BE49-F238E27FC236}">
                <a16:creationId xmlns:a16="http://schemas.microsoft.com/office/drawing/2014/main" id="{C63CD720-8CD8-45B8-8064-213B164C8FCA}"/>
              </a:ext>
            </a:extLst>
          </p:cNvPr>
          <p:cNvSpPr>
            <a:spLocks xmlns:a="http://schemas.openxmlformats.org/drawingml/2006/main" noGrp="1"/>
          </p:cNvSpPr>
          <p:nvPr/>
        </p:nvSpPr>
        <p:spPr>
          <a:xfrm xmlns:a="http://schemas.openxmlformats.org/drawingml/2006/main">
            <a:off x="1181100" y="4124325"/>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Exploring the mycobiome and arbuscular mycorrhizal fungi associated with the rizosphere of the genus Inga in</a:t>
            </a:r>
          </a:p>
          <a:p xmlns:a="http://schemas.openxmlformats.org/drawingml/2006/main">
            <a:pPr algn="l">
              <a:lnSpc>
                <a:spcPct val="112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the pristine Ecuadorian Amazon.</a:t>
            </a:r>
          </a:p>
        </p:txBody>
      </p:sp>
      <p:sp>
        <p:nvSpPr>
          <p:cNvPr id="14" name="">
            <a:extLst xmlns:a="http://schemas.openxmlformats.org/drawingml/2006/main">
              <a:ext uri="{FF2B5EF4-FFF2-40B4-BE49-F238E27FC236}">
                <a16:creationId xmlns:a16="http://schemas.microsoft.com/office/drawing/2014/main" id="{CAC61867-55A9-4197-9175-B524548F5409}"/>
              </a:ext>
            </a:extLst>
          </p:cNvPr>
          <p:cNvSpPr>
            <a:spLocks xmlns:a="http://schemas.openxmlformats.org/drawingml/2006/main" noGrp="1"/>
          </p:cNvSpPr>
          <p:nvPr/>
        </p:nvSpPr>
        <p:spPr>
          <a:xfrm xmlns:a="http://schemas.openxmlformats.org/drawingml/2006/main">
            <a:off x="1181100" y="46005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47A84"/>
                </a:solidFill>
                <a:latin typeface="DejaVu Sans"/>
                <a:ea typeface="DejaVu Sans"/>
                <a:cs typeface="DejaVu Sans"/>
              </a:defRPr>
            </a:defPPr>
          </a:lstStyle>
          <a:p xmlns:a="http://schemas.openxmlformats.org/drawingml/2006/main">
            <a:pPr algn="l">
              <a:lnSpc>
                <a:spcPct val="112000"/>
              </a:lnSpc>
              <a:buNone/>
              <a:defRPr sz="1275" b="0" i="0">
                <a:solidFill>
                  <a:srgbClr val="647A84"/>
                </a:solidFill>
                <a:latin typeface="DejaVu Sans"/>
                <a:ea typeface="DejaVu Sans"/>
                <a:cs typeface="DejaVu Sans"/>
              </a:defRPr>
            </a:pPr>
            <a:r>
              <a:rPr sz="1275" b="0" i="0">
                <a:solidFill>
                  <a:srgbClr val="647A84"/>
                </a:solidFill>
                <a:latin typeface="DejaVu Sans"/>
                <a:ea typeface="DejaVu Sans"/>
                <a:cs typeface="DejaVu Sans"/>
              </a:rPr>
              <a:t>Frontiers in Fungal Biology, 4, 1086194.</a:t>
            </a:r>
          </a:p>
        </p:txBody>
      </p:sp>
      <p:sp>
        <p:nvSpPr>
          <p:cNvPr id="15" name="">
            <a:extLst xmlns:a="http://schemas.openxmlformats.org/drawingml/2006/main">
              <a:ext uri="{FF2B5EF4-FFF2-40B4-BE49-F238E27FC236}">
                <a16:creationId xmlns:a16="http://schemas.microsoft.com/office/drawing/2014/main" id="{D80A4E0E-2EE7-496B-8D66-E6B2CCB5B983}"/>
              </a:ext>
            </a:extLst>
          </p:cNvPr>
          <p:cNvSpPr>
            <a:spLocks xmlns:a="http://schemas.openxmlformats.org/drawingml/2006/main" noGrp="1"/>
          </p:cNvSpPr>
          <p:nvPr/>
        </p:nvSpPr>
        <p:spPr>
          <a:xfrm xmlns:a="http://schemas.openxmlformats.org/drawingml/2006/main">
            <a:off x="1181100" y="48387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2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9bbbba9803bf4e99"/>
              </a:rPr>
              <a:t>doi.org/10.3389/ffunb.2023.1086194</a:t>
            </a:r>
          </a:p>
        </p:txBody>
      </p:sp>
    </p:spTree>
    <p:extLst>
      <p:ext uri="{BB962C8B-B14F-4D97-AF65-F5344CB8AC3E}">
        <p14:creationId xmlns:p14="http://schemas.microsoft.com/office/powerpoint/2010/main" val="1953416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2026-10-27T15:09:32.2200000Z</dcterms:created>
  <dcterms:modified xsi:type="dcterms:W3CDTF">2026-10-27T15:09:32.2200000Z</dcterms:modified>
</coreProperties>
</file>