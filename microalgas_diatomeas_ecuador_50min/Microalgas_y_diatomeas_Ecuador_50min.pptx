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c5b589f5a884957" /><Relationship Type="http://schemas.openxmlformats.org/officeDocument/2006/relationships/extended-properties" Target="/docProps/app.xml" Id="Rce47e4bab67d4e1b" /><Relationship Type="http://schemas.openxmlformats.org/officeDocument/2006/relationships/officeDocument" Target="/ppt/presentation.xml" Id="R7b8f7000567748b2" /></Relationships>
</file>

<file path=ppt/presentation.xml><?xml version="1.0" encoding="utf-8"?>
<p:presentation xmlns:p="http://schemas.openxmlformats.org/presentationml/2006/main">
  <p:sldMasterIdLst>
    <p:sldMasterId xmlns:r="http://schemas.openxmlformats.org/officeDocument/2006/relationships" id="2147483648" r:id="R2a11ddbcf79d4e08"/>
  </p:sldMasterIdLst>
  <p:notesMasterIdLst>
    <p:notesMasterId xmlns:r="http://schemas.openxmlformats.org/officeDocument/2006/relationships" r:id="Rca6bd09e734944fe"/>
  </p:notesMasterIdLst>
  <p:sldIdLst>
    <p:sldId xmlns:r="http://schemas.openxmlformats.org/officeDocument/2006/relationships" id="256" r:id="Rebdeccdfc8434b99"/>
    <p:sldId xmlns:r="http://schemas.openxmlformats.org/officeDocument/2006/relationships" id="257" r:id="R6c77971604994d81"/>
    <p:sldId xmlns:r="http://schemas.openxmlformats.org/officeDocument/2006/relationships" id="258" r:id="Rb104586c6b7b4201"/>
    <p:sldId xmlns:r="http://schemas.openxmlformats.org/officeDocument/2006/relationships" id="259" r:id="R76defcf7186f4cd6"/>
    <p:sldId xmlns:r="http://schemas.openxmlformats.org/officeDocument/2006/relationships" id="260" r:id="R170aed4912ba4306"/>
    <p:sldId xmlns:r="http://schemas.openxmlformats.org/officeDocument/2006/relationships" id="261" r:id="Rc94f02c9dd6f4db9"/>
    <p:sldId xmlns:r="http://schemas.openxmlformats.org/officeDocument/2006/relationships" id="262" r:id="R4a78f182d229497d"/>
    <p:sldId xmlns:r="http://schemas.openxmlformats.org/officeDocument/2006/relationships" id="263" r:id="R3f00d61b800e4518"/>
    <p:sldId xmlns:r="http://schemas.openxmlformats.org/officeDocument/2006/relationships" id="264" r:id="Rc68f59577c3f4961"/>
    <p:sldId xmlns:r="http://schemas.openxmlformats.org/officeDocument/2006/relationships" id="265" r:id="Rcacda07eda024ec4"/>
    <p:sldId xmlns:r="http://schemas.openxmlformats.org/officeDocument/2006/relationships" id="266" r:id="R5bbd81409b5042d7"/>
    <p:sldId xmlns:r="http://schemas.openxmlformats.org/officeDocument/2006/relationships" id="267" r:id="R8aa5cc0417254e4d"/>
    <p:sldId xmlns:r="http://schemas.openxmlformats.org/officeDocument/2006/relationships" id="268" r:id="Rd244474e02fb4f60"/>
    <p:sldId xmlns:r="http://schemas.openxmlformats.org/officeDocument/2006/relationships" id="269" r:id="R76c11e7e6a1c4375"/>
    <p:sldId xmlns:r="http://schemas.openxmlformats.org/officeDocument/2006/relationships" id="270" r:id="R0c412b04ecc541ce"/>
    <p:sldId xmlns:r="http://schemas.openxmlformats.org/officeDocument/2006/relationships" id="271" r:id="Ra5080c29d6124874"/>
    <p:sldId xmlns:r="http://schemas.openxmlformats.org/officeDocument/2006/relationships" id="272" r:id="R8f795da933954bd3"/>
    <p:sldId xmlns:r="http://schemas.openxmlformats.org/officeDocument/2006/relationships" id="273" r:id="R7303f679aadb4060"/>
    <p:sldId xmlns:r="http://schemas.openxmlformats.org/officeDocument/2006/relationships" id="274" r:id="R8c401ec11ce942a7"/>
    <p:sldId xmlns:r="http://schemas.openxmlformats.org/officeDocument/2006/relationships" id="275" r:id="R339304484c164e25"/>
    <p:sldId xmlns:r="http://schemas.openxmlformats.org/officeDocument/2006/relationships" id="276" r:id="R46f69bca33e54024"/>
    <p:sldId xmlns:r="http://schemas.openxmlformats.org/officeDocument/2006/relationships" id="277" r:id="R1ba286f97f85465d"/>
    <p:sldId xmlns:r="http://schemas.openxmlformats.org/officeDocument/2006/relationships" id="278" r:id="Rf24da4d664dc4d3b"/>
    <p:sldId xmlns:r="http://schemas.openxmlformats.org/officeDocument/2006/relationships" id="279" r:id="R4b2ee11a9f4b4045"/>
    <p:sldId xmlns:r="http://schemas.openxmlformats.org/officeDocument/2006/relationships" id="280" r:id="R5ed4245a923f4549"/>
    <p:sldId xmlns:r="http://schemas.openxmlformats.org/officeDocument/2006/relationships" id="281" r:id="R12313ca8f5134226"/>
    <p:sldId xmlns:r="http://schemas.openxmlformats.org/officeDocument/2006/relationships" id="282" r:id="R80743b176d284d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c9d06cb2bb4a9c" /><Relationship Type="http://schemas.openxmlformats.org/officeDocument/2006/relationships/slideMaster" Target="/ppt/slideMasters/slideMaster1.xml" Id="R2a11ddbcf79d4e08" /><Relationship Type="http://schemas.openxmlformats.org/officeDocument/2006/relationships/notesMaster" Target="/ppt/notesMasters/notesMaster1.xml" Id="Rca6bd09e734944fe" /><Relationship Type="http://schemas.openxmlformats.org/officeDocument/2006/relationships/presProps" Target="/ppt/presProps.xml" Id="R24735b347b104364" /><Relationship Type="http://schemas.openxmlformats.org/officeDocument/2006/relationships/tableStyles" Target="/ppt/tableStyles.xml" Id="R318d3dc68c5b461a" /><Relationship Type="http://schemas.openxmlformats.org/officeDocument/2006/relationships/slide" Target="/ppt/slides/slide1.xml" Id="Rebdeccdfc8434b99" /><Relationship Type="http://schemas.openxmlformats.org/officeDocument/2006/relationships/slide" Target="/ppt/slides/slide2.xml" Id="R6c77971604994d81" /><Relationship Type="http://schemas.openxmlformats.org/officeDocument/2006/relationships/slide" Target="/ppt/slides/slide3.xml" Id="Rb104586c6b7b4201" /><Relationship Type="http://schemas.openxmlformats.org/officeDocument/2006/relationships/slide" Target="/ppt/slides/slide4.xml" Id="R76defcf7186f4cd6" /><Relationship Type="http://schemas.openxmlformats.org/officeDocument/2006/relationships/slide" Target="/ppt/slides/slide5.xml" Id="R170aed4912ba4306" /><Relationship Type="http://schemas.openxmlformats.org/officeDocument/2006/relationships/slide" Target="/ppt/slides/slide6.xml" Id="Rc94f02c9dd6f4db9" /><Relationship Type="http://schemas.openxmlformats.org/officeDocument/2006/relationships/slide" Target="/ppt/slides/slide7.xml" Id="R4a78f182d229497d" /><Relationship Type="http://schemas.openxmlformats.org/officeDocument/2006/relationships/slide" Target="/ppt/slides/slide8.xml" Id="R3f00d61b800e4518" /><Relationship Type="http://schemas.openxmlformats.org/officeDocument/2006/relationships/slide" Target="/ppt/slides/slide9.xml" Id="Rc68f59577c3f4961" /><Relationship Type="http://schemas.openxmlformats.org/officeDocument/2006/relationships/slide" Target="/ppt/slides/slide10.xml" Id="Rcacda07eda024ec4" /><Relationship Type="http://schemas.openxmlformats.org/officeDocument/2006/relationships/slide" Target="/ppt/slides/slide11.xml" Id="R5bbd81409b5042d7" /><Relationship Type="http://schemas.openxmlformats.org/officeDocument/2006/relationships/slide" Target="/ppt/slides/slide12.xml" Id="R8aa5cc0417254e4d" /><Relationship Type="http://schemas.openxmlformats.org/officeDocument/2006/relationships/slide" Target="/ppt/slides/slide13.xml" Id="Rd244474e02fb4f60" /><Relationship Type="http://schemas.openxmlformats.org/officeDocument/2006/relationships/slide" Target="/ppt/slides/slide14.xml" Id="R76c11e7e6a1c4375" /><Relationship Type="http://schemas.openxmlformats.org/officeDocument/2006/relationships/slide" Target="/ppt/slides/slide15.xml" Id="R0c412b04ecc541ce" /><Relationship Type="http://schemas.openxmlformats.org/officeDocument/2006/relationships/slide" Target="/ppt/slides/slide16.xml" Id="Ra5080c29d6124874" /><Relationship Type="http://schemas.openxmlformats.org/officeDocument/2006/relationships/slide" Target="/ppt/slides/slide17.xml" Id="R8f795da933954bd3" /><Relationship Type="http://schemas.openxmlformats.org/officeDocument/2006/relationships/slide" Target="/ppt/slides/slide18.xml" Id="R7303f679aadb4060" /><Relationship Type="http://schemas.openxmlformats.org/officeDocument/2006/relationships/slide" Target="/ppt/slides/slide19.xml" Id="R8c401ec11ce942a7" /><Relationship Type="http://schemas.openxmlformats.org/officeDocument/2006/relationships/slide" Target="/ppt/slides/slide20.xml" Id="R339304484c164e25" /><Relationship Type="http://schemas.openxmlformats.org/officeDocument/2006/relationships/slide" Target="/ppt/slides/slide21.xml" Id="R46f69bca33e54024" /><Relationship Type="http://schemas.openxmlformats.org/officeDocument/2006/relationships/slide" Target="/ppt/slides/slide22.xml" Id="R1ba286f97f85465d" /><Relationship Type="http://schemas.openxmlformats.org/officeDocument/2006/relationships/slide" Target="/ppt/slides/slide23.xml" Id="Rf24da4d664dc4d3b" /><Relationship Type="http://schemas.openxmlformats.org/officeDocument/2006/relationships/slide" Target="/ppt/slides/slide24.xml" Id="R4b2ee11a9f4b4045" /><Relationship Type="http://schemas.openxmlformats.org/officeDocument/2006/relationships/slide" Target="/ppt/slides/slide25.xml" Id="R5ed4245a923f4549" /><Relationship Type="http://schemas.openxmlformats.org/officeDocument/2006/relationships/slide" Target="/ppt/slides/slide26.xml" Id="R12313ca8f5134226" /><Relationship Type="http://schemas.openxmlformats.org/officeDocument/2006/relationships/slide" Target="/ppt/slides/slide27.xml" Id="R80743b176d284d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3e559464404d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d7b38a674e4c92" /><Relationship Type="http://schemas.openxmlformats.org/officeDocument/2006/relationships/notesMaster" Target="/ppt/notesMasters/notesMaster1.xml" Id="Ra02e4abe939e4e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8cf873007a40f7" /><Relationship Type="http://schemas.openxmlformats.org/officeDocument/2006/relationships/notesMaster" Target="/ppt/notesMasters/notesMaster1.xml" Id="R93d790a4b30b41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79d9695a0544cf" /><Relationship Type="http://schemas.openxmlformats.org/officeDocument/2006/relationships/notesMaster" Target="/ppt/notesMasters/notesMaster1.xml" Id="R52ace27076184b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b18b13e8604441" /><Relationship Type="http://schemas.openxmlformats.org/officeDocument/2006/relationships/notesMaster" Target="/ppt/notesMasters/notesMaster1.xml" Id="R3ebec6b761844c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53c73c3817423a" /><Relationship Type="http://schemas.openxmlformats.org/officeDocument/2006/relationships/notesMaster" Target="/ppt/notesMasters/notesMaster1.xml" Id="Rc8dc7c4199c246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ac673f16df4d96" /><Relationship Type="http://schemas.openxmlformats.org/officeDocument/2006/relationships/notesMaster" Target="/ppt/notesMasters/notesMaster1.xml" Id="Rbb901a8791fc43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7e9619fda44746" /><Relationship Type="http://schemas.openxmlformats.org/officeDocument/2006/relationships/notesMaster" Target="/ppt/notesMasters/notesMaster1.xml" Id="R2ff572c6bfca46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5a1386dfac4064" /><Relationship Type="http://schemas.openxmlformats.org/officeDocument/2006/relationships/notesMaster" Target="/ppt/notesMasters/notesMaster1.xml" Id="R0813a4dfa3004b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ce013da4a3474e" /><Relationship Type="http://schemas.openxmlformats.org/officeDocument/2006/relationships/notesMaster" Target="/ppt/notesMasters/notesMaster1.xml" Id="R1d1ce3723f1440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b61504c8204ba3" /><Relationship Type="http://schemas.openxmlformats.org/officeDocument/2006/relationships/notesMaster" Target="/ppt/notesMasters/notesMaster1.xml" Id="R960d02ff161648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64c19a3d1b4d6e" /><Relationship Type="http://schemas.openxmlformats.org/officeDocument/2006/relationships/notesMaster" Target="/ppt/notesMasters/notesMaster1.xml" Id="Rf82318fee87845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8a1558d5614993" /><Relationship Type="http://schemas.openxmlformats.org/officeDocument/2006/relationships/notesMaster" Target="/ppt/notesMasters/notesMaster1.xml" Id="R56811e376bb345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f4c46521864be2" /><Relationship Type="http://schemas.openxmlformats.org/officeDocument/2006/relationships/notesMaster" Target="/ppt/notesMasters/notesMaster1.xml" Id="R2ddafaf21a9041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5d3817bf884aa2" /><Relationship Type="http://schemas.openxmlformats.org/officeDocument/2006/relationships/notesMaster" Target="/ppt/notesMasters/notesMaster1.xml" Id="Rf5aeedf2d3bb48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79cfa2582b48b7" /><Relationship Type="http://schemas.openxmlformats.org/officeDocument/2006/relationships/notesMaster" Target="/ppt/notesMasters/notesMaster1.xml" Id="R6fa6926f35d245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322fe6e1d84412" /><Relationship Type="http://schemas.openxmlformats.org/officeDocument/2006/relationships/notesMaster" Target="/ppt/notesMasters/notesMaster1.xml" Id="R20b136f6d2404d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99889e8bcad4a5d" /><Relationship Type="http://schemas.openxmlformats.org/officeDocument/2006/relationships/notesMaster" Target="/ppt/notesMasters/notesMaster1.xml" Id="R0113e47bab2b468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083afa605844a9" /><Relationship Type="http://schemas.openxmlformats.org/officeDocument/2006/relationships/notesMaster" Target="/ppt/notesMasters/notesMaster1.xml" Id="Ra53b9532857848f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a8fa0ef6cf45c2" /><Relationship Type="http://schemas.openxmlformats.org/officeDocument/2006/relationships/notesMaster" Target="/ppt/notesMasters/notesMaster1.xml" Id="R43b962d04dc54b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c57f73695d47b0" /><Relationship Type="http://schemas.openxmlformats.org/officeDocument/2006/relationships/notesMaster" Target="/ppt/notesMasters/notesMaster1.xml" Id="R7725bd09c9c148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574132673384499" /><Relationship Type="http://schemas.openxmlformats.org/officeDocument/2006/relationships/notesMaster" Target="/ppt/notesMasters/notesMaster1.xml" Id="Ra11ef9299c6542e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7d65d51c704700" /><Relationship Type="http://schemas.openxmlformats.org/officeDocument/2006/relationships/notesMaster" Target="/ppt/notesMasters/notesMaster1.xml" Id="Rf1c83b16e9cf4b2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b3a11606ec4b3d" /><Relationship Type="http://schemas.openxmlformats.org/officeDocument/2006/relationships/notesMaster" Target="/ppt/notesMasters/notesMaster1.xml" Id="R5d0c927f876347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0f50b97e1324081" /><Relationship Type="http://schemas.openxmlformats.org/officeDocument/2006/relationships/notesMaster" Target="/ppt/notesMasters/notesMaster1.xml" Id="Rc240516d50d3431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3ffd616b621403b" /><Relationship Type="http://schemas.openxmlformats.org/officeDocument/2006/relationships/notesMaster" Target="/ppt/notesMasters/notesMaster1.xml" Id="Rf8dafa18b85d493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6c55494ee9f42a9" /><Relationship Type="http://schemas.openxmlformats.org/officeDocument/2006/relationships/notesMaster" Target="/ppt/notesMasters/notesMaster1.xml" Id="Rd697ef22e08a49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51e741b6b9422f" /><Relationship Type="http://schemas.openxmlformats.org/officeDocument/2006/relationships/notesMaster" Target="/ppt/notesMasters/notesMaster1.xml" Id="Ra6ff9f97f4f540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Microalgas y diatomeas</a:t>
            </a:r>
          </a:p>
          <a:p xmlns:a="http://schemas.openxmlformats.org/drawingml/2006/main">
            <a:r>
              <a:t>Tiempo: 1 min. Intervalo: 0–1 min.</a:t>
            </a:r>
          </a:p>
          <a:p xmlns:a="http://schemas.openxmlformats.org/drawingml/2006/main">
            <a:r>
              <a:t>Presenta una célula verde y una diatomea como ejemplos de organismos que convierten energía luminosa en energía química. La clase conecta organización celular y metabolismo con producción primaria y aplicaciones investigadas en Ecuador. Las imágenes son esquemas, no observaciones de las cepas de los artículos.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 Adl, S. M., et al. (2019). Revisions to the Classification, Nomenclature, and Diversity of Eukaryotes. Journal of Eukaryotic Microbiology, 66, 4–119. https://doi.org/10.1111/jeu.12691</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Microalgas eucariotas y cianobacterias</a:t>
            </a:r>
          </a:p>
          <a:p xmlns:a="http://schemas.openxmlformats.org/drawingml/2006/main">
            <a:r>
              <a:t>Tiempo: 2 min. Intervalo: 1–3 min.</a:t>
            </a:r>
          </a:p>
          <a:p xmlns:a="http://schemas.openxmlformats.org/drawingml/2006/main">
            <a:r>
              <a:t>Señala el núcleo y el cloroplasto de la célula eucariota. En la cianobacteria, el ADN no está dentro de un núcleo y los tilacoides no forman un cloroplasto. Algunas aplicaciones usan microalgas en sentido amplio e incluyen cianobacterias. Aquí se estudian microalgas eucariotas y se mantiene a las cianobacterias dentro de Bacteria. Espirulina es el nombre comercial de cianobacterias, no de un alga eucariota.</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 Adl, S. M., et al. (2019). Revisions to the Classification, Nomenclature, and Diversity of Eukaryotes. Journal of Eukaryotic Microbiology, 66, 4–119. https://doi.org/10.1111/jeu.12691</a:t>
            </a:r>
          </a:p>
          <a:p xmlns:a="http://schemas.openxmlformats.org/drawingml/2006/main">
            <a:r>
              <a:t>[2] Burki, F., Roger, A. J., Brown, M. W., &amp; Simpson, A. G. B. (2020). The New Tree of Eukaryotes. Trends in Ecology &amp; Evolution, 35, 43–55. https://doi.org/10.1016/j.tree.2019.08.008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Microalgas en distintos linajes eucariotas</a:t>
            </a:r>
          </a:p>
          <a:p xmlns:a="http://schemas.openxmlformats.org/drawingml/2006/main">
            <a:r>
              <a:t>Tiempo: 2 min. Intervalo: 3–5 min.</a:t>
            </a:r>
          </a:p>
          <a:p xmlns:a="http://schemas.openxmlformats.org/drawingml/2006/main">
            <a:r>
              <a:t>Microalga es una categoría de uso ecológico y biotecnológico, no un taxón monofilético. Recorre los ejemplos de la tabla. Diatomeas y Nannochloropsis son estramenópilos, mientras que Chlorella pertenece a las algas verdes. Haptista, Cryptista y Discoba contienen otros representantes fotosintéticos. Los rangos y algunos nombres cambian entre sistemas. La tabla muestra relaciones seleccionadas, no una filogenia completa ni grupos con el mismo rango.</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 Adl, S. M., et al. (2019). Revisions to the Classification, Nomenclature, and Diversity of Eukaryotes. Journal of Eukaryotic Microbiology, 66, 4–119. https://doi.org/10.1111/jeu.12691</a:t>
            </a:r>
          </a:p>
          <a:p xmlns:a="http://schemas.openxmlformats.org/drawingml/2006/main">
            <a:r>
              <a:t>[2] Burki, F., Roger, A. J., Brown, M. W., &amp; Simpson, A. G. B. (2020). The New Tree of Eukaryotes. Trends in Ecology &amp; Evolution, 35, 43–55. https://doi.org/10.1016/j.tree.2019.08.008</a:t>
            </a:r>
          </a:p>
          <a:p xmlns:a="http://schemas.openxmlformats.org/drawingml/2006/main">
            <a:r>
              <a:t>[3] Jamy, M. / PR2 database (2023). The 9-levels taxonomy. Documentación de PR2. Consulta: 28 de octubre de 2026. https://pr2-database.org/documentation/pr2-taxonomy-9-levels/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Clasificación taxonómica: un ejemplo</a:t>
            </a:r>
          </a:p>
          <a:p xmlns:a="http://schemas.openxmlformats.org/drawingml/2006/main">
            <a:r>
              <a:t>Tiempo: 1 min. Intervalo: 5–6 min.</a:t>
            </a:r>
          </a:p>
          <a:p xmlns:a="http://schemas.openxmlformats.org/drawingml/2006/main">
            <a:r>
              <a:t>Explica la diferencia entre dominio, clado y rangos de clasificación. Lee la jerarquía de lo general a lo particular. Una cepa es una población o aislamiento que se conserva y estudia dentro de una especie, no un rango adicional equivalente a filo o clase. La especie orienta la comparación, pero sus cepas pueden diferir en crecimiento y composición. NCBI y la colección SAG confirman la posición de Chlorella vulgaris.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 Adl, S. M., et al. (2019). Revisions to the Classification, Nomenclature, and Diversity of Eukaryotes. Journal of Eukaryotic Microbiology, 66, 4–119. https://doi.org/10.1111/jeu.12691</a:t>
            </a:r>
          </a:p>
          <a:p xmlns:a="http://schemas.openxmlformats.org/drawingml/2006/main">
            <a:r>
              <a:t>[3] Jamy, M. / PR2 database (2023). The 9-levels taxonomy. Documentación de PR2. Consulta: 28 de octubre de 2026. https://pr2-database.org/documentation/pr2-taxonomy-9-levels/</a:t>
            </a:r>
          </a:p>
          <a:p xmlns:a="http://schemas.openxmlformats.org/drawingml/2006/main">
            <a:r>
              <a:t>[15] NCBI Taxonomy (2026). Chlorella vulgaris, taxón 3077. Registro taxonómico. Consulta: 28 de octubre de 2026. Identidad complementada con SAG 211-11b. https://www.ncbi.nlm.nih.gov/Taxonomy/Browser/wwwtax.cgi?id=3077&amp;mode=info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Célula de una microalga verde</a:t>
            </a:r>
          </a:p>
          <a:p xmlns:a="http://schemas.openxmlformats.org/drawingml/2006/main">
            <a:r>
              <a:t>Tiempo: 2 min. Intervalo: 6–8 min.</a:t>
            </a:r>
          </a:p>
          <a:p xmlns:a="http://schemas.openxmlformats.org/drawingml/2006/main">
            <a:r>
              <a:t>Señala núcleo, cloroplasto, mitocondrias y envoltura. Localiza el pirenoide dentro del cloroplasto, sin confundirlo con el núcleo. El pirenoide concentra maquinaria de fijación de carbono en muchas algas. La pared de Chlorella contiene polímeros cuya composición depende de la especie y cepa. La célula incluye proteínas, carbohidratos, lípidos, pigmentos y ácidos nucleicos.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[5] Yamaoka, Y., Petroutsos, D., Je, S., Yamano, T., &amp; Li-Beisson, Y. (2025). Light, CO2, and carbon storage in microalgae. Current Opinion in Plant Biology, 84, 102696. https://doi.org/10.1016/j.pbi.2025.102696</a:t>
            </a:r>
          </a:p>
          <a:p xmlns:a="http://schemas.openxmlformats.org/drawingml/2006/main">
            <a:r>
              <a:t>[15] NCBI Taxonomy (2026). Chlorella vulgaris, taxón 3077. Registro taxonómico. Consulta: 28 de octubre de 2026. Identidad complementada con SAG 211-11b. https://www.ncbi.nlm.nih.gov/Taxonomy/Browser/wwwtax.cgi?id=3077&amp;mode=info</a:t>
            </a:r>
          </a:p>
          <a:p xmlns:a="http://schemas.openxmlformats.org/drawingml/2006/main">
            <a:r>
              <a:t>[16] Clark, M. A., Douglas, M., &amp; Choi, J. (2018). Biology 2e. Capítulos 8 y 7: fotosíntesis y respiración celular. OpenStax. Texto de fundamentos. https://openstax.org/books/biology-2e/pages/8-introduction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Célula de una diatomea</a:t>
            </a:r>
          </a:p>
          <a:p xmlns:a="http://schemas.openxmlformats.org/drawingml/2006/main">
            <a:r>
              <a:t>Tiempo: 3 min. Intervalo: 8–11 min.</a:t>
            </a:r>
          </a:p>
          <a:p xmlns:a="http://schemas.openxmlformats.org/drawingml/2006/main">
            <a:r>
              <a:t>Reconoce estructuras compartidas con el modelo verde: núcleo, mitocondrias, membrana y cloroplastos. Señala el gran espacio vacuolar y los plastos pardos periféricos. El frústulo es una cubierta externa de sílice hidratada y componentes orgánicos, distinta de la membrana plasmática. La disposición y el número de cloroplastos varían entre especies. Es un modelo céntrico, no una reconstrucción de la cepa ecuatoriana. Bacillariophyta se usa aquí como nombre del grupo de diatomeas dentro de los estramenópilos; el rango de este grupo varía según el sistema de clasificación. En Santa Elena, Galarza et al. (2026) reportaron aislamientos de Conticribra weissflogii y Halamphora coffeiformis.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[6] Matsui, H., Tsuji, Y., &amp; Matsuda, Y. (2025). Review: Molecular mechanisms sustaining highly efficient photosynthesis of marine diatoms. Algal Science and Technology, 18(1), 27–35. https://doi.org/10.20804/algalscitechnol.18.1_27</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a:p xmlns:a="http://schemas.openxmlformats.org/drawingml/2006/main">
            <a:r>
              <a:t>[14] Benoiston, A.-S., et al. (2017). The evolution of diatoms and their biogeochemical functions. Philosophical Transactions of the Royal Society B, 372, 20160397. https://doi.org/10.1098/rstb.2016.0397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Composición y reservas celulares</a:t>
            </a:r>
          </a:p>
          <a:p xmlns:a="http://schemas.openxmlformats.org/drawingml/2006/main">
            <a:r>
              <a:t>Tiempo: 2 min. Intervalo: 11–13 min.</a:t>
            </a:r>
          </a:p>
          <a:p xmlns:a="http://schemas.openxmlformats.org/drawingml/2006/main">
            <a:r>
              <a:t>Compara pigmentos, cubierta y reservas en los ejemplos seleccionados. Las algas verdes suelen presentar clorofilas a y b y acumular almidón. Las diatomeas presentan clorofilas a y c, fucoxantina y reservas como crisolaminarina y lípidos. Proteínas, lípidos y carbohidratos participan en estructura, metabolismo y almacenamiento. Una proporción medida bajo una condición de cultivo no es una constante del grupo.</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[5] Yamaoka, Y., Petroutsos, D., Je, S., Yamano, T., &amp; Li-Beisson, Y. (2025). Light, CO2, and carbon storage in microalgae. Current Opinion in Plant Biology, 84, 102696. https://doi.org/10.1016/j.pbi.2025.102696</a:t>
            </a:r>
          </a:p>
          <a:p xmlns:a="http://schemas.openxmlformats.org/drawingml/2006/main">
            <a:r>
              <a:t>[8] Bossa, R., Di Colandrea, M., Salbitani, G., &amp; Carfagna, S. (2024). Phosphorous Utilization in Microalgae: Physiological Aspects and Applied Implications. Plants, 13(15), 2127. https://doi.org/10.3390/plants13152127</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Vistas y caracteres para identificación</a:t>
            </a:r>
          </a:p>
          <a:p xmlns:a="http://schemas.openxmlformats.org/drawingml/2006/main">
            <a:r>
              <a:t>Tiempo: 2 min. Intervalo: 13–15 min.</a:t>
            </a:r>
          </a:p>
          <a:p xmlns:a="http://schemas.openxmlformats.org/drawingml/2006/main">
            <a:r>
              <a:t>Distingue simetría radial y bilateral en las vistas valvares. Señala estrías, areolas y el rafe en el ejemplo pennado. El rafe aparece en determinadas diatomeas pennadas y se relaciona con deslizamiento. Céntrica y pennada ayudan a describir formas, pero no sustituyen por sí solas la clasificación moderna. Las vistas y estructuras no corresponden necesariamente a una misma especie.</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Fotosíntesis: energía y carbono</a:t>
            </a:r>
          </a:p>
          <a:p xmlns:a="http://schemas.openxmlformats.org/drawingml/2006/main">
            <a:r>
              <a:t>Tiempo: 4 min. Intervalo: 15–19 min.</a:t>
            </a:r>
          </a:p>
          <a:p xmlns:a="http://schemas.openxmlformats.org/drawingml/2006/main">
            <a:r>
              <a:t>Recorre el gráfico de izquierda a derecha. La luz impulsa reacciones en los tilacoides que permiten obtener ATP y NADPH. La oxidación del agua libera oxígeno. El ciclo de Calvin-Benson utiliza CO2, ATP y NADPH para formar compuestos orgánicos. El oxígeno liberado procede del agua. La ecuación global simplifica muchas reacciones, no describe una conversión directa de luz en masa.</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[5] Yamaoka, Y., Petroutsos, D., Je, S., Yamano, T., &amp; Li-Beisson, Y. (2025). Light, CO2, and carbon storage in microalgae. Current Opinion in Plant Biology, 84, 102696. https://doi.org/10.1016/j.pbi.2025.102696</a:t>
            </a:r>
          </a:p>
          <a:p xmlns:a="http://schemas.openxmlformats.org/drawingml/2006/main">
            <a:r>
              <a:t>[6] Matsui, H., Tsuji, Y., &amp; Matsuda, Y. (2025). Review: Molecular mechanisms sustaining highly efficient photosynthesis of marine diatoms. Algal Science and Technology, 18(1), 27–35. https://doi.org/10.20804/algalscitechnol.18.1_27</a:t>
            </a:r>
          </a:p>
          <a:p xmlns:a="http://schemas.openxmlformats.org/drawingml/2006/main">
            <a:r>
              <a:t>[16] Clark, M. A., Douglas, M., &amp; Choi, J. (2018). Biology 2e. Capítulos 8 y 7: fotosíntesis y respiración celular. OpenStax. Texto de fundamentos. https://openstax.org/books/biology-2e/pages/8-introduction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Respiración y diversidad metabólica</a:t>
            </a:r>
          </a:p>
          <a:p xmlns:a="http://schemas.openxmlformats.org/drawingml/2006/main">
            <a:r>
              <a:t>Tiempo: 1 min. Intervalo: 19–20 min.</a:t>
            </a:r>
          </a:p>
          <a:p xmlns:a="http://schemas.openxmlformats.org/drawingml/2006/main">
            <a:r>
              <a:t>Las microalgas respiran, tanto de día como de noche. La respiración utiliza compuestos orgánicos para sostener la producción de ATP. Algunas especies también incorporan carbono orgánico en condiciones heterótrofas o mixótrofas. Fotosíntesis y respiración pueden ocurrir simultáneamente. El dibujo de la mitocondria amplía una estructura celular, no representa un organismo separado. No todas las especies pueden crecer con los mismos sustratos orgánicos.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[5] Yamaoka, Y., Petroutsos, D., Je, S., Yamano, T., &amp; Li-Beisson, Y. (2025). Light, CO2, and carbon storage in microalgae. Current Opinion in Plant Biology, 84, 102696. https://doi.org/10.1016/j.pbi.2025.102696</a:t>
            </a:r>
          </a:p>
          <a:p xmlns:a="http://schemas.openxmlformats.org/drawingml/2006/main">
            <a:r>
              <a:t>[9] Rozenberg, J. M., et al. (2024). Recent advances and fundamentals of microalgae cultivation technology. Biotechnology Journal, 19, e2300725. https://doi.org/10.1002/biot.202300725</a:t>
            </a:r>
          </a:p>
          <a:p xmlns:a="http://schemas.openxmlformats.org/drawingml/2006/main">
            <a:r>
              <a:t>[16] Clark, M. A., Douglas, M., &amp; Choi, J. (2018). Biology 2e. Capítulos 8 y 7: fotosíntesis y respiración celular. OpenStax. Texto de fundamentos. https://openstax.org/books/biology-2e/pages/8-introduction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Asimilación de nitrógeno</a:t>
            </a:r>
          </a:p>
          <a:p xmlns:a="http://schemas.openxmlformats.org/drawingml/2006/main">
            <a:r>
              <a:t>Tiempo: 3 min. Intervalo: 20–23 min.</a:t>
            </a:r>
          </a:p>
          <a:p xmlns:a="http://schemas.openxmlformats.org/drawingml/2006/main">
            <a:r>
              <a:t>El nitrato puede reducirse a nitrito y después a amonio. La incorporación del amonio a aminoácidos implica, entre otras rutas, GS-GOGAT. Después, ese nitrógeno participa en proteínas y otras moléculas. Esta asimilación es diferente de fijar N2 atmosférico. Las microalgas eucariotas no poseen nitrogenasa propia, aunque algunas se asocian con microorganismos fijadores. El exceso de amonio y el pH también pueden limitar el crecimiento.</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[7] Salbitani, G., &amp; Carfagna, S. (2021). Ammonium Utilization in Microalgae: A Sustainable Method for Wastewater Treatment. Sustainability, 13(2), 956. https://doi.org/10.3390/su13020956</a:t>
            </a:r>
          </a:p>
          <a:p xmlns:a="http://schemas.openxmlformats.org/drawingml/2006/main">
            <a:r>
              <a:t>[11] Flores-Zambrano, K., Tapia, W., &amp; Castillejo, P. (2025). Microalgae strains isolated from piggery wastewater in Ecuador: Effective nitrogen compound removal and growth potential in extremophile conditions. Biotechnology Reports, 45, e00883. https://doi.org/10.1016/j.btre.2025.e00883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Fósforo: metabolismo y almacenamiento</a:t>
            </a:r>
          </a:p>
          <a:p xmlns:a="http://schemas.openxmlformats.org/drawingml/2006/main">
            <a:r>
              <a:t>Tiempo: 2 min. Intervalo: 23–25 min.</a:t>
            </a:r>
          </a:p>
          <a:p xmlns:a="http://schemas.openxmlformats.org/drawingml/2006/main">
            <a:r>
              <a:t>Distingue captación desde el agua e incorporación a compuestos celulares. Algunas microalgas acumulan fósforo como polifosfato cuando la oferta supera la demanda inmediata. El contenido celular de fósforo puede cambiar con el estado nutricional. Una disminución de fosfato en el agua no prueba por sí sola que todo terminó dentro de la célula, porque también pueden intervenir precipitación y adsorción.</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[8] Bossa, R., Di Colandrea, M., Salbitani, G., &amp; Carfagna, S. (2024). Phosphorous Utilization in Microalgae: Physiological Aspects and Applied Implications. Plants, 13(15), 2127. https://doi.org/10.3390/plants13152127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Silicio y formación del frústulo</a:t>
            </a:r>
          </a:p>
          <a:p xmlns:a="http://schemas.openxmlformats.org/drawingml/2006/main">
            <a:r>
              <a:t>Tiempo: 1 min. Intervalo: 25–26 min.</a:t>
            </a:r>
          </a:p>
          <a:p xmlns:a="http://schemas.openxmlformats.org/drawingml/2006/main">
            <a:r>
              <a:t>Relaciona entrada de silicio disuelto, vesícula de deposición de sílice y formación de cubierta. La demanda de silicio conecta crecimiento de diatomeas con el ambiente. La dependencia y el grado de silicificación varían, por lo que no se presentan como idénticos en todas las especies. El silicio cumple una función distinta de la del carbono orgánico o del nitrógeno de las proteínas.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[14] Benoiston, A.-S., et al. (2017). The evolution of diatoms and their biogeochemical functions. Philosophical Transactions of the Royal Society B, 372, 20160397. https://doi.org/10.1098/rstb.2016.0397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Producción primaria y redes alimentarias</a:t>
            </a:r>
          </a:p>
          <a:p xmlns:a="http://schemas.openxmlformats.org/drawingml/2006/main">
            <a:r>
              <a:t>Tiempo: 2 min. Intervalo: 26–28 min.</a:t>
            </a:r>
          </a:p>
          <a:p xmlns:a="http://schemas.openxmlformats.org/drawingml/2006/main">
            <a:r>
              <a:t>Sigue la transferencia de materia desde microalgas hacia un consumidor planctónico y luego hacia peces. Explica que el ambiente real contiene una red de interacciones, incluidos bacterias y virus. La energía fluye y parte se disipa en cada transformación. Producción primaria se refiere a la formación de materia orgánica a partir de carbono inorgánico, no simplemente a contar células.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[14] Benoiston, A.-S., et al. (2017). The evolution of diatoms and their biogeochemical functions. Philosophical Transactions of the Royal Society B, 372, 20160397. https://doi.org/10.1098/rstb.2016.0397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Destino del carbono fijado</a:t>
            </a:r>
          </a:p>
          <a:p xmlns:a="http://schemas.openxmlformats.org/drawingml/2006/main">
            <a:r>
              <a:t>Tiempo: 2 min. Intervalo: 28–30 min.</a:t>
            </a:r>
          </a:p>
          <a:p xmlns:a="http://schemas.openxmlformats.org/drawingml/2006/main">
            <a:r>
              <a:t>El carbono puede permanecer en biomasa, transferirse a consumidores, volver al agua como CO2 o hundirse en partículas. La producción primaria neta descuenta la respiración de los productores de la producción bruta. Fijación fotosintética y almacenamiento prolongado de carbono requieren medidas distintas. Parte del material que se hunde se remineraliza antes de llegar a zonas profundas. El esquema no asigna porcentajes ni tiempos de permanencia.</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[14] Benoiston, A.-S., et al. (2017). The evolution of diatoms and their biogeochemical functions. Philosophical Transactions of the Royal Society B, 372, 20160397. https://doi.org/10.1098/rstb.2016.0397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Composición medida en cepas ecuatorianas</a:t>
            </a:r>
          </a:p>
          <a:p xmlns:a="http://schemas.openxmlformats.org/drawingml/2006/main">
            <a:r>
              <a:t>Tiempo: 3 min. Intervalo: 30–33 min.</a:t>
            </a:r>
          </a:p>
          <a:p xmlns:a="http://schemas.openxmlformats.org/drawingml/2006/main">
            <a:r>
              <a:t>Las barras reproducen porcentajes de proteína del resumen de Galarza et al.: Dunaliella sp. 57,28% y Chlorella vulgaris 55,37% de masa seca. No son porcentajes de biomasa fresca ni resultados de alimentación. La figura muestra valores reportados sin barras de error y no permite afirmar una diferencia estadísticamente significativa.</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Selección de cepas para remover nitrógeno</a:t>
            </a:r>
          </a:p>
          <a:p xmlns:a="http://schemas.openxmlformats.org/drawingml/2006/main">
            <a:r>
              <a:t>Tiempo: 2 min. Intervalo: 33–35 min.</a:t>
            </a:r>
          </a:p>
          <a:p xmlns:a="http://schemas.openxmlformats.org/drawingml/2006/main">
            <a:r>
              <a:t>Flores-Zambrano y colaboradores identificaron cuatro aislamientos. Chlorolobion braunii retiró 67,73% del N-amonio y 30,59% del N-nitrato en el ensayo de 12 días. Las concentraciones iniciales fueron diferentes. Es evidencia bajo condiciones del ensayo, no una garantía de depuración de cualquier efluente ni de incorporación de todo el nitrógeno a biomasa.</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[11] Flores-Zambrano, K., Tapia, W., &amp; Castillejo, P. (2025). Microalgae strains isolated from piggery wastewater in Ecuador: Effective nitrogen compound removal and growth potential in extremophile conditions. Biotechnology Reports, 45, e00883. https://doi.org/10.1016/j.btre.2025.e00883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Efluente lácteo, biomasa y plantas</a:t>
            </a:r>
          </a:p>
          <a:p xmlns:a="http://schemas.openxmlformats.org/drawingml/2006/main">
            <a:r>
              <a:t>Tiempo: 2 min. Intervalo: 35–37 min.</a:t>
            </a:r>
          </a:p>
          <a:p xmlns:a="http://schemas.openxmlformats.org/drawingml/2006/main">
            <a:r>
              <a:t>Álvarez-Montero y colaboradores cultivaron Scenedesmus sp. en medio con 80% de efluente lácteo y 20% de agua de mar. Evaluaron remoción de nutrientes, biomasa y aplicaciones como extracto o cultivo en frijol. Los efectos sobre plantas corresponden a sus tratamientos y condiciones. La aplicación propuesta requiere caracterización del producto y validación para otros usos.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[13] Álvarez-Montero, X., Mercado-Reyes, I., Castillo-Chamba, W., &amp; Santos-Ordóñez, E. (2025). Harnessing dairy wastewater to cultivate Scenedesmus sp. for biofertilizer applications in Phaseolus vulgaris L.: a sustainable agro-biotechnological approach. Frontiers in Plant Science, 16, 1568057. https://doi.org/10.3389/fpls.2025.1568057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Aplicación y alcance de la evidencia</a:t>
            </a:r>
          </a:p>
          <a:p xmlns:a="http://schemas.openxmlformats.org/drawingml/2006/main">
            <a:r>
              <a:t>Tiempo: 2 min. Intervalo: 37–39 min.</a:t>
            </a:r>
          </a:p>
          <a:p xmlns:a="http://schemas.openxmlformats.org/drawingml/2006/main">
            <a:r>
              <a:t>Recorre organismo, medida y aplicación de cada estudio. Pregunta qué observación respalda cada conclusión. Un perfil nutricional permite proponer una prueba de alimentación. Un ensayo de remoción no equivale a demostrar un proceso comercial. El desempeño de un consorcio pertenece al sistema medido y un ensayo vegetal corresponde a su producto y dosis.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a:p xmlns:a="http://schemas.openxmlformats.org/drawingml/2006/main">
            <a:r>
              <a:t>[11] Flores-Zambrano, K., Tapia, W., &amp; Castillejo, P. (2025). Microalgae strains isolated from piggery wastewater in Ecuador: Effective nitrogen compound removal and growth potential in extremophile conditions. Biotechnology Reports, 45, e00883. https://doi.org/10.1016/j.btre.2025.e00883</a:t>
            </a:r>
          </a:p>
          <a:p xmlns:a="http://schemas.openxmlformats.org/drawingml/2006/main">
            <a:r>
              <a:t>[12] López-Patiño, A. M., et al. (2024). Native microalgal-bacterial consortia from the Ecuadorian Amazon region: an alternative to domestic wastewater treatment. Frontiers in Bioengineering and Biotechnology, 12, 1338547. https://doi.org/10.3389/fbioe.2024.1338547</a:t>
            </a:r>
          </a:p>
          <a:p xmlns:a="http://schemas.openxmlformats.org/drawingml/2006/main">
            <a:r>
              <a:t>[13] Álvarez-Montero, X., Mercado-Reyes, I., Castillo-Chamba, W., &amp; Santos-Ordóñez, E. (2025). Harnessing dairy wastewater to cultivate Scenedesmus sp. for biofertilizer applications in Phaseolus vulgaris L.: a sustainable agro-biotechnological approach. Frontiers in Plant Science, 16, 1568057. https://doi.org/10.3389/fpls.2025.1568057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Actividad: una aplicación con evidencia</a:t>
            </a:r>
          </a:p>
          <a:p xmlns:a="http://schemas.openxmlformats.org/drawingml/2006/main">
            <a:r>
              <a:t>Tiempo: 10 min. Intervalo: 39–49 min.</a:t>
            </a:r>
          </a:p>
          <a:p xmlns:a="http://schemas.openxmlformats.org/drawingml/2006/main">
            <a:r>
              <a:t>Actividad de 10 minutos: dos de lectura de la ficha, cinco de análisis y tres para compartir. Equipos de 3–4, un caso por equipo. La ficha resume el artículo. Cada equipo identifica una estructura y un proceso, distingue resultado medido de aplicación propuesta y plantea una comparación adicional. A: acuicultura. B: remoción de nitrógeno. C: biomasa y plantas. Se comparten conclusiones de 30 segundos. Análisis documental, sin cultivo ni manipulación de muestras.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a:p xmlns:a="http://schemas.openxmlformats.org/drawingml/2006/main">
            <a:r>
              <a:t>[11] Flores-Zambrano, K., Tapia, W., &amp; Castillejo, P. (2025). Microalgae strains isolated from piggery wastewater in Ecuador: Effective nitrogen compound removal and growth potential in extremophile conditions. Biotechnology Reports, 45, e00883. https://doi.org/10.1016/j.btre.2025.e00883</a:t>
            </a:r>
          </a:p>
          <a:p xmlns:a="http://schemas.openxmlformats.org/drawingml/2006/main">
            <a:r>
              <a:t>[13] Álvarez-Montero, X., Mercado-Reyes, I., Castillo-Chamba, W., &amp; Santos-Ordóñez, E. (2025). Harnessing dairy wastewater to cultivate Scenedesmus sp. for biofertilizer applications in Phaseolus vulgaris L.: a sustainable agro-biotechnological approach. Frontiers in Plant Science, 16, 1568057. https://doi.org/10.3389/fpls.2025.1568057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célula, proceso y aplicación</a:t>
            </a:r>
          </a:p>
          <a:p xmlns:a="http://schemas.openxmlformats.org/drawingml/2006/main">
            <a:r>
              <a:t>Tiempo: 1 min. Intervalo: 49–50 min.</a:t>
            </a:r>
          </a:p>
          <a:p xmlns:a="http://schemas.openxmlformats.org/drawingml/2006/main">
            <a:r>
              <a:t>Pide una frase que conecte organismo, estructura y proceso y que mencione el alcance de una aplicación ecuatoriana. La evaluación prioriza la relación entre conceptos y evidencia. No se espera memorizar toda la nomenclatura o todas las rutas.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[1] Adl, S. M., et al. (2019). Revisions to the Classification, Nomenclature, and Diversity of Eukaryotes. Journal of Eukaryotic Microbiology, 66, 4–119. https://doi.org/10.1111/jeu.12691</a:t>
            </a:r>
          </a:p>
          <a:p xmlns:a="http://schemas.openxmlformats.org/drawingml/2006/main">
            <a:r>
              <a:t>[4] Falciatore, A., Jaubert, M., Bouly, J.-P., Bailleul, B., &amp; Mock, T. (2020). Diatom Molecular Research Comes of Age: Model Species for Studying Phytoplankton Biology and Diversity. The Plant Cell, 32, 547–572. https://doi.org/10.1105/tpc.19.00158</a:t>
            </a:r>
          </a:p>
          <a:p xmlns:a="http://schemas.openxmlformats.org/drawingml/2006/main">
            <a:r>
              <a:t>[5] Yamaoka, Y., Petroutsos, D., Je, S., Yamano, T., &amp; Li-Beisson, Y. (2025). Light, CO2, and carbon storage in microalgae. Current Opinion in Plant Biology, 84, 102696. https://doi.org/10.1016/j.pbi.2025.102696</a:t>
            </a:r>
          </a:p>
          <a:p xmlns:a="http://schemas.openxmlformats.org/drawingml/2006/main">
            <a:r>
              <a:t>[10] Galarza, J. I., et al. (2026). Isolation, Molecular Identification, and Biochemical Profiling of Native Microalgae from the Santa Elena Peninsula (Ecuador) as a Basis for Sustainable Aquaculture. Phycology, 6(2), 60. Publicado el 31 de mayo de 2026. https://doi.org/10.3390/phycology6020060</a:t>
            </a:r>
          </a:p>
          <a:p xmlns:a="http://schemas.openxmlformats.org/drawingml/2006/main">
            <a:r>
              <a:t>[11] Flores-Zambrano, K., Tapia, W., &amp; Castillejo, P. (2025). Microalgae strains isolated from piggery wastewater in Ecuador: Effective nitrogen compound removal and growth potential in extremophile conditions. Biotechnology Reports, 45, e00883. https://doi.org/10.1016/j.btre.2025.e00883</a:t>
            </a:r>
          </a:p>
          <a:p xmlns:a="http://schemas.openxmlformats.org/drawingml/2006/main">
            <a:r>
              <a:t>[13] Álvarez-Montero, X., Mercado-Reyes, I., Castillo-Chamba, W., &amp; Santos-Ordóñez, E. (2025). Harnessing dairy wastewater to cultivate Scenedesmus sp. for biofertilizer applications in Phaseolus vulgaris L.: a sustainable agro-biotechnological approach. Frontiers in Plant Science, 16, 1568057. https://doi.org/10.3389/fpls.2025.1568057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 Intervalo: 50–50 min.</a:t>
            </a:r>
          </a:p>
          <a:p xmlns:a="http://schemas.openxmlformats.org/drawingml/2006/main">
            <a:r>
              <a:t>Referencias de consulta fuera del tiempo de clase. Los enlaces DOI permiten localizar los estudios. La documentación taxonómica se consultó el 28 de octubre de 2026. Las figuras del material son originales y no reproducciones de estos artículos.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 Intervalo: 50–50 min.</a:t>
            </a:r>
          </a:p>
          <a:p xmlns:a="http://schemas.openxmlformats.org/drawingml/2006/main">
            <a:r>
              <a:t>Referencias de consulta fuera del tiempo de clase. Los enlaces DOI permiten localizar los estudios. La documentación taxonómica se consultó el 28 de octubre de 2026. Las figuras del material son originales y no reproducciones de estos artículos.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 Intervalo: 50–50 min.</a:t>
            </a:r>
          </a:p>
          <a:p xmlns:a="http://schemas.openxmlformats.org/drawingml/2006/main">
            <a:r>
              <a:t>Referencias de consulta fuera del tiempo de clase. Los enlaces DOI permiten localizar los estudios. La documentación taxonómica se consultó el 28 de octubre de 2026. Las figuras del material son originales y no reproducciones de estos artículos.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 Intervalo: 50–50 min.</a:t>
            </a:r>
          </a:p>
          <a:p xmlns:a="http://schemas.openxmlformats.org/drawingml/2006/main">
            <a:r>
              <a:t>Referencias de consulta fuera del tiempo de clase. Los enlaces DOI permiten localizar los estudios. La documentación taxonómica se consultó el 28 de octubre de 2026. Las figuras del material son originales y no reproducciones de estos artículos.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 Intervalo: 50–50 min.</a:t>
            </a:r>
          </a:p>
          <a:p xmlns:a="http://schemas.openxmlformats.org/drawingml/2006/main">
            <a:r>
              <a:t>Referencias de consulta fuera del tiempo de clase. Los enlaces DOI permiten localizar los estudios. La documentación taxonómica se consultó el 28 de octubre de 2026. Las figuras del material son originales y no reproducciones de estos artículos.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Bibliografía</a:t>
            </a:r>
          </a:p>
          <a:p xmlns:a="http://schemas.openxmlformats.org/drawingml/2006/main">
            <a:r>
              <a:t>Tiempo: 0 min. Intervalo: 50–50 min.</a:t>
            </a:r>
          </a:p>
          <a:p xmlns:a="http://schemas.openxmlformats.org/drawingml/2006/main">
            <a:r>
              <a:t>Referencias de consulta fuera del tiempo de clase. Los enlaces DOI permiten localizar los estudios. La documentación taxonómica se consultó el 28 de octubre de 2026. Las figuras del material son originales y no reproducciones de estos artículos.</a:t>
            </a:r>
          </a:p>
          <a:p xmlns:a="http://schemas.openxmlformats.org/drawingml/2006/main">
            <a:r>
              <a:t/>
            </a:r>
          </a:p>
          <a:p xmlns:a="http://schemas.openxmlformats.org/drawingml/2006/main">
            <a:r>
              <a:t>Ilustraciones originales generadas con IA y revisadas para docencia. Son esquemas conceptuales, no micrografías ni fotografías de especímenes o resultados de los estudios. No comparten escala.</a:t>
            </a:r>
          </a:p>
          <a:p xmlns:a="http://schemas.openxmlformats.org/drawingml/2006/main">
            <a:r>
              <a:t/>
            </a:r>
          </a:p>
          <a:p xmlns:a="http://schemas.openxmlformats.org/drawingml/2006/main">
            <a:r>
              <a:t>Fuentes: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9097ed52c149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7255ea684346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55ad2241e942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71ded2bf574d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d1636a4e584c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a243dc745242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05C255-57E0-4785-980D-512AD19DF9F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63A101-9109-4CCD-ADA2-3AFC7BDCFE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D5C14F-9C94-4025-8CAE-B3343EDC9B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C951FA-EFD2-4ED2-9C46-6351137FF2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F70B80-ADA7-4467-9E1A-0C5EE4CF55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B94D67-7A33-4C84-A73E-23C9440DAE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AAD773-B5B7-467E-A0B6-5285ECE219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20EFED6-0B26-4926-AB9C-9D4E86835F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8EBDC9-635F-4FC2-B58F-527B9F2F18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2DA774-DDDC-4370-9347-5D930307F9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feb219d4004b34" /><Relationship Type="http://schemas.openxmlformats.org/officeDocument/2006/relationships/slideLayout" Target="/ppt/slideLayouts/slideLayout1.xml" Id="Rd64e2bcec4d64990" /><Relationship Type="http://schemas.openxmlformats.org/officeDocument/2006/relationships/slideLayout" Target="/ppt/slideLayouts/slideLayout2.xml" Id="Rb663f232bf1d4692" /><Relationship Type="http://schemas.openxmlformats.org/officeDocument/2006/relationships/slideLayout" Target="/ppt/slideLayouts/slideLayout3.xml" Id="Rb89bdecd1791481d" /><Relationship Type="http://schemas.openxmlformats.org/officeDocument/2006/relationships/slideLayout" Target="/ppt/slideLayouts/slideLayout4.xml" Id="Rfdd452191da9463f" /><Relationship Type="http://schemas.openxmlformats.org/officeDocument/2006/relationships/slideLayout" Target="/ppt/slideLayouts/slideLayout5.xml" Id="R93637575a94141b4" /><Relationship Type="http://schemas.openxmlformats.org/officeDocument/2006/relationships/slideLayout" Target="/ppt/slideLayouts/slideLayout6.xml" Id="R1f65ab07406c4b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4e2bcec4d64990"/>
    <p:sldLayoutId xmlns:r="http://schemas.openxmlformats.org/officeDocument/2006/relationships" id="2147483650" r:id="Rb663f232bf1d4692"/>
    <p:sldLayoutId xmlns:r="http://schemas.openxmlformats.org/officeDocument/2006/relationships" id="2147483651" r:id="Rb89bdecd1791481d"/>
    <p:sldLayoutId xmlns:r="http://schemas.openxmlformats.org/officeDocument/2006/relationships" id="2147483652" r:id="Rfdd452191da9463f"/>
    <p:sldLayoutId xmlns:r="http://schemas.openxmlformats.org/officeDocument/2006/relationships" id="2147483653" r:id="R93637575a94141b4"/>
    <p:sldLayoutId xmlns:r="http://schemas.openxmlformats.org/officeDocument/2006/relationships" id="2147483654" r:id="R1f65ab07406c4b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76e112245e4a44" /><Relationship Type="http://schemas.openxmlformats.org/officeDocument/2006/relationships/image" Target="/ppt/media/image.jpeg" Id="Ra15a9a2609f949db" /><Relationship Type="http://schemas.openxmlformats.org/officeDocument/2006/relationships/notesSlide" Target="/ppt/notesSlides/notesSlide1.xml" Id="Rf14812064bb74d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c4c12b55a848a8" /><Relationship Type="http://schemas.openxmlformats.org/officeDocument/2006/relationships/image" Target="/ppt/media/image2.jpeg" Id="R1b8db9e926974524" /><Relationship Type="http://schemas.openxmlformats.org/officeDocument/2006/relationships/notesSlide" Target="/ppt/notesSlides/notesSlide2.xml" Id="R728a1788bf454b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07ef8bc24343ed" /><Relationship Type="http://schemas.openxmlformats.org/officeDocument/2006/relationships/notesSlide" Target="/ppt/notesSlides/notesSlide3.xml" Id="Reeb9d690b13d41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cb4c452f444792" /><Relationship Type="http://schemas.openxmlformats.org/officeDocument/2006/relationships/notesSlide" Target="/ppt/notesSlides/notesSlide4.xml" Id="Re7feb88a27324f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0710c218b741f6" /><Relationship Type="http://schemas.openxmlformats.org/officeDocument/2006/relationships/image" Target="/ppt/media/image3.jpeg" Id="R17aa9325082248e9" /><Relationship Type="http://schemas.openxmlformats.org/officeDocument/2006/relationships/notesSlide" Target="/ppt/notesSlides/notesSlide5.xml" Id="Ra6807cd542f240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ff6a7120424cd1" /><Relationship Type="http://schemas.openxmlformats.org/officeDocument/2006/relationships/image" Target="/ppt/media/image4.jpeg" Id="R694f10888e754f49" /><Relationship Type="http://schemas.openxmlformats.org/officeDocument/2006/relationships/notesSlide" Target="/ppt/notesSlides/notesSlide6.xml" Id="Rf63a0e953ad442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c40b6a321044dc0" /><Relationship Type="http://schemas.openxmlformats.org/officeDocument/2006/relationships/notesSlide" Target="/ppt/notesSlides/notesSlide7.xml" Id="R97e2c28ee0f24567"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99fad9eb6b2e412f"/><Relationship Type="http://schemas.openxmlformats.org/officeDocument/2006/relationships/image" Target="/ppt/media/image5.jpeg" Id="Ra1c75948c114467b"/><Relationship Type="http://schemas.openxmlformats.org/officeDocument/2006/relationships/image" Target="../media/image5.jpeg" Id="R893bd20ad0634dc6"/><Relationship Type="http://schemas.openxmlformats.org/officeDocument/2006/relationships/notesSlide" Target="/ppt/notesSlides/notesSlide8.xml" Id="Rf557ff29ae89494c"/></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c12957a79c46be" /><Relationship Type="http://schemas.openxmlformats.org/officeDocument/2006/relationships/image" Target="/ppt/media/image7.jpeg" Id="Rf632d68bf91a45d4" /><Relationship Type="http://schemas.openxmlformats.org/officeDocument/2006/relationships/notesSlide" Target="/ppt/notesSlides/notesSlide9.xml" Id="Rdc9ee8cd09474a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e4a61dc1a3044ef" /><Relationship Type="http://schemas.openxmlformats.org/officeDocument/2006/relationships/image" Target="/ppt/media/image8.jpeg" Id="Ra0fc1c6e23614ff5" /><Relationship Type="http://schemas.openxmlformats.org/officeDocument/2006/relationships/notesSlide" Target="/ppt/notesSlides/notesSlide10.xml" Id="Rdf12e3e1c4e4493f" /></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80c768b86b3e4c4c"/><Relationship Type="http://schemas.openxmlformats.org/officeDocument/2006/relationships/image" Target="../media/image8.jpeg" Id="R9c510276c7014fe3"/><Relationship Type="http://schemas.openxmlformats.org/officeDocument/2006/relationships/notesSlide" Target="/ppt/notesSlides/notesSlide11.xml" Id="Rabc3ff4621b347a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6b4460330aac4980"/><Relationship Type="http://schemas.openxmlformats.org/officeDocument/2006/relationships/image" Target="../media/image8.jpeg" Id="R70c7170192cf4c9b"/><Relationship Type="http://schemas.openxmlformats.org/officeDocument/2006/relationships/notesSlide" Target="/ppt/notesSlides/notesSlide12.xml" Id="R53b8d08eab904531"/></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73b8212eadfe485c"/><Relationship Type="http://schemas.openxmlformats.org/officeDocument/2006/relationships/image" Target="../media/image2.jpeg" Id="Rabb7aaf94c304986"/><Relationship Type="http://schemas.openxmlformats.org/officeDocument/2006/relationships/notesSlide" Target="/ppt/notesSlides/notesSlide13.xml" Id="Rf128e4cca9824b1b"/></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3bf27d56e364657" /><Relationship Type="http://schemas.openxmlformats.org/officeDocument/2006/relationships/image" Target="/ppt/media/image12.jpeg" Id="R42608655f78245c4" /><Relationship Type="http://schemas.openxmlformats.org/officeDocument/2006/relationships/notesSlide" Target="/ppt/notesSlides/notesSlide14.xml" Id="Rea349cdce7a549c7" /></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c9e6175eb1914cf4"/><Relationship Type="http://schemas.openxmlformats.org/officeDocument/2006/relationships/image" Target="../media/image12.jpeg" Id="R0bf9aeb550ec425f"/><Relationship Type="http://schemas.openxmlformats.org/officeDocument/2006/relationships/notesSlide" Target="/ppt/notesSlides/notesSlide15.xml" Id="Re951d998597b4be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2e02bd6ebb184deb"/><Relationship Type="http://schemas.openxmlformats.org/officeDocument/2006/relationships/image" Target="../media/image2.jpeg" Id="Rc2be3df4f1d341b8"/><Relationship Type="http://schemas.openxmlformats.org/officeDocument/2006/relationships/chart" Target="/ppt/slides/charts/chart1.xml" Id="R735d950475d94656"/><Relationship Type="http://schemas.openxmlformats.org/officeDocument/2006/relationships/notesSlide" Target="/ppt/notesSlides/notesSlide16.xml" Id="Rf189ccc494ba4ae5"/></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297e6d1bfc54322" /><Relationship Type="http://schemas.openxmlformats.org/officeDocument/2006/relationships/image" Target="/ppt/media/image15.jpeg" Id="R1577fb8591574e40" /><Relationship Type="http://schemas.openxmlformats.org/officeDocument/2006/relationships/notesSlide" Target="/ppt/notesSlides/notesSlide17.xml" Id="R1015df2e1c1e4dbb" /></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d044e5d3b81c4de9"/><Relationship Type="http://schemas.openxmlformats.org/officeDocument/2006/relationships/image" Target="../media/image15.jpeg" Id="R5316192806a34b74"/><Relationship Type="http://schemas.openxmlformats.org/officeDocument/2006/relationships/notesSlide" Target="/ppt/notesSlides/notesSlide18.xml" Id="R77ff5ca4b13042c7"/></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086780084254a08" /><Relationship Type="http://schemas.openxmlformats.org/officeDocument/2006/relationships/notesSlide" Target="/ppt/notesSlides/notesSlide19.xml" Id="Raefe1b9b77b44e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3f90b9aecdf452c" /><Relationship Type="http://schemas.openxmlformats.org/officeDocument/2006/relationships/notesSlide" Target="/ppt/notesSlides/notesSlide20.xml" Id="R73d28bc5a8704d9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f900dc13e374c70" /><Relationship Type="http://schemas.openxmlformats.org/officeDocument/2006/relationships/notesSlide" Target="/ppt/notesSlides/notesSlide21.xml" Id="R5e33fd466ebc4b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c4b4cc5b00d40e8" /><Relationship Type="http://schemas.openxmlformats.org/officeDocument/2006/relationships/hyperlink" Target="https://doi.org/10.1111/jeu.12691" TargetMode="External" Id="R210e580bcdce4375" /><Relationship Type="http://schemas.openxmlformats.org/officeDocument/2006/relationships/hyperlink" Target="https://doi.org/10.1016/j.tree.2019.08.008" TargetMode="External" Id="R37725b4d6e78419d" /><Relationship Type="http://schemas.openxmlformats.org/officeDocument/2006/relationships/hyperlink" Target="https://pr2-database.org/documentation/pr2-taxonomy-9-levels/" TargetMode="External" Id="R4d58b48259334bd1" /><Relationship Type="http://schemas.openxmlformats.org/officeDocument/2006/relationships/notesSlide" Target="/ppt/notesSlides/notesSlide22.xml" Id="R8bb311cd4f7a46d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cb9442411a24db0" /><Relationship Type="http://schemas.openxmlformats.org/officeDocument/2006/relationships/hyperlink" Target="https://doi.org/10.1105/tpc.19.00158" TargetMode="External" Id="R3e8ecd87b4274df4" /><Relationship Type="http://schemas.openxmlformats.org/officeDocument/2006/relationships/hyperlink" Target="https://doi.org/10.1098/rstb.2016.0397" TargetMode="External" Id="R3d250e133857446d" /><Relationship Type="http://schemas.openxmlformats.org/officeDocument/2006/relationships/hyperlink" Target="https://www.ncbi.nlm.nih.gov/Taxonomy/Browser/wwwtax.cgi?id=3077&amp;mode=info" TargetMode="External" Id="R9ffaa7d294f145b2" /><Relationship Type="http://schemas.openxmlformats.org/officeDocument/2006/relationships/notesSlide" Target="/ppt/notesSlides/notesSlide23.xml" Id="R27764df3d0ab47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8bfbeea99b3492c" /><Relationship Type="http://schemas.openxmlformats.org/officeDocument/2006/relationships/hyperlink" Target="https://doi.org/10.1016/j.pbi.2025.102696" TargetMode="External" Id="R966712931d40494c" /><Relationship Type="http://schemas.openxmlformats.org/officeDocument/2006/relationships/hyperlink" Target="https://doi.org/10.20804/algalscitechnol.18.1_27" TargetMode="External" Id="Rd4dc37e81c19462a" /><Relationship Type="http://schemas.openxmlformats.org/officeDocument/2006/relationships/hyperlink" Target="https://openstax.org/books/biology-2e/pages/8-introduction" TargetMode="External" Id="Rbb1cd1cd2fde40ab" /><Relationship Type="http://schemas.openxmlformats.org/officeDocument/2006/relationships/notesSlide" Target="/ppt/notesSlides/notesSlide24.xml" Id="Rec4bd9ca81444a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e6296eb4b484962" /><Relationship Type="http://schemas.openxmlformats.org/officeDocument/2006/relationships/hyperlink" Target="https://doi.org/10.3390/su13020956" TargetMode="External" Id="R59c133468f654e0b" /><Relationship Type="http://schemas.openxmlformats.org/officeDocument/2006/relationships/hyperlink" Target="https://doi.org/10.3390/plants13152127" TargetMode="External" Id="R22f71483d8294443" /><Relationship Type="http://schemas.openxmlformats.org/officeDocument/2006/relationships/hyperlink" Target="https://doi.org/10.1002/biot.202300725" TargetMode="External" Id="Rfc906548770d43f1" /><Relationship Type="http://schemas.openxmlformats.org/officeDocument/2006/relationships/notesSlide" Target="/ppt/notesSlides/notesSlide25.xml" Id="Rad4b1e6fe729475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ee9d041cb7c4748" /><Relationship Type="http://schemas.openxmlformats.org/officeDocument/2006/relationships/hyperlink" Target="https://doi.org/10.3390/phycology6020060" TargetMode="External" Id="Rf0e3d07ff37745a5" /><Relationship Type="http://schemas.openxmlformats.org/officeDocument/2006/relationships/hyperlink" Target="https://doi.org/10.1016/j.btre.2025.e00883" TargetMode="External" Id="R819c62c620f64890" /><Relationship Type="http://schemas.openxmlformats.org/officeDocument/2006/relationships/notesSlide" Target="/ppt/notesSlides/notesSlide26.xml" Id="Re05da0bd696e4a7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0ef0264c2ef4cbc" /><Relationship Type="http://schemas.openxmlformats.org/officeDocument/2006/relationships/hyperlink" Target="https://doi.org/10.3389/fbioe.2024.1338547" TargetMode="External" Id="Rfc66307fb4c64405" /><Relationship Type="http://schemas.openxmlformats.org/officeDocument/2006/relationships/hyperlink" Target="https://doi.org/10.3389/fpls.2025.1568057" TargetMode="External" Id="Rbe95b6faa6d3433f" /><Relationship Type="http://schemas.openxmlformats.org/officeDocument/2006/relationships/notesSlide" Target="/ppt/notesSlides/notesSlide27.xml" Id="R29200a8c339348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b="1">
                <a:solidFill>
                  <a:srgbClr val="203E49"/>
                </a:solidFill>
                <a:latin typeface="DejaVu Sans"/>
                <a:ea typeface="DejaVu Sans"/>
                <a:cs typeface="DejaVu Sans"/>
              </a:rPr>
              <a:t>Proteína (% de masa seca)</a:t>
            </a:r>
          </a:p>
        </c:rich>
      </c:tx>
      <c:overlay val="0"/>
      <c:txPr>
        <a:bodyPr xmlns:a="http://schemas.openxmlformats.org/drawingml/2006/main" anchorCtr="1"/>
        <a:lstStyle xmlns:a="http://schemas.openxmlformats.org/drawingml/2006/main"/>
        <a:p xmlns:a="http://schemas.openxmlformats.org/drawingml/2006/main">
          <a:pPr>
            <a:defRPr sz="2025" b="1">
              <a:solidFill>
                <a:srgbClr val="203E49"/>
              </a:solidFill>
              <a:latin typeface="DejaVu Sans"/>
              <a:ea typeface="DejaVu Sans"/>
              <a:cs typeface="DejaVu Sans"/>
            </a:defRPr>
          </a:pPr>
        </a:p>
      </c:txPr>
    </c:title>
    <c:plotArea>
      <c:barChart>
        <c:barDir val="col"/>
        <c:grouping val="clustered"/>
        <c:varyColors val="0"/>
        <c:ser>
          <c:idx val="0"/>
          <c:order val="0"/>
          <c:tx>
            <c:v>Proteína reportada</c:v>
          </c:tx>
          <c:spPr>
            <a:solidFill xmlns:a="http://schemas.openxmlformats.org/drawingml/2006/main">
              <a:srgbClr val="168E91"/>
            </a:solidFill>
          </c:spPr>
          <c:invertIfNegative val="0"/>
          <c:cat>
            <c:strRef>
              <c:f>'Chart Data'!$A$2:$A$3</c:f>
              <c:strCache>
                <c:ptCount val="2"/>
                <c:pt idx="0">
                  <c:v>Dunaliella sp.</c:v>
                </c:pt>
                <c:pt idx="1">
                  <c:v>Chlorella vulgaris</c:v>
                </c:pt>
              </c:strCache>
            </c:strRef>
          </c:cat>
          <c:val>
            <c:numRef>
              <c:f>'Chart Data'!$B$2:$B$3</c:f>
              <c:numCache>
                <c:formatCode>0%</c:formatCode>
                <c:ptCount val="2"/>
                <c:pt idx="0">
                  <c:v>0.5728</c:v>
                </c:pt>
                <c:pt idx="1">
                  <c:v>0.5537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203E49"/>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7"/>
            </a:solidFill>
            <a:prstDash val="solid"/>
          </a:ln>
        </c:spPr>
        <c:txPr>
          <a:bodyPr xmlns:a="http://schemas.openxmlformats.org/drawingml/2006/main" anchorCtr="1"/>
          <a:lstStyle xmlns:a="http://schemas.openxmlformats.org/drawingml/2006/main"/>
          <a:p xmlns:a="http://schemas.openxmlformats.org/drawingml/2006/main">
            <a:pPr>
              <a:defRPr sz="1575">
                <a:solidFill>
                  <a:srgbClr val="203E49"/>
                </a:solidFill>
                <a:latin typeface="DejaVu Sans"/>
                <a:ea typeface="DejaVu Sans"/>
                <a:cs typeface="DejaVu Sans"/>
              </a:defRPr>
            </a:pPr>
          </a:p>
        </c:txPr>
        <c:crossAx val="48672768"/>
      </c:catAx>
      <c:valAx>
        <c:axId val="48672768"/>
        <c:scaling>
          <c:orientation val="minMax"/>
          <c:max val="0.7"/>
          <c:min val="0"/>
        </c:scaling>
        <c:delete val="0"/>
        <c:axPos val="l"/>
        <c:majorGridlines>
          <c:spPr>
            <a:ln xmlns:a="http://schemas.openxmlformats.org/drawingml/2006/main" w="9525">
              <a:solidFill>
                <a:srgbClr val="DCE5E7"/>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650">
                <a:solidFill>
                  <a:srgbClr val="637D84"/>
                </a:solidFill>
                <a:latin typeface="DejaVu Sans"/>
                <a:ea typeface="DejaVu Sans"/>
                <a:cs typeface="DejaVu Sans"/>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441C04-15F9-49C8-A23D-2823F0CFA331}"/>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2" name="">
            <a:extLst xmlns:a="http://schemas.openxmlformats.org/drawingml/2006/main">
              <a:ext uri="{FF2B5EF4-FFF2-40B4-BE49-F238E27FC236}">
                <a16:creationId xmlns:a16="http://schemas.microsoft.com/office/drawing/2014/main" id="{7200B72D-877E-4F39-BA68-D26E07FA77BD}"/>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 [4] [10]. Esquemas conceptuales.</a:t>
            </a:r>
          </a:p>
        </p:txBody>
      </p:sp>
      <p:sp>
        <p:nvSpPr>
          <p:cNvPr id="3" name="">
            <a:extLst xmlns:a="http://schemas.openxmlformats.org/drawingml/2006/main">
              <a:ext uri="{FF2B5EF4-FFF2-40B4-BE49-F238E27FC236}">
                <a16:creationId xmlns:a16="http://schemas.microsoft.com/office/drawing/2014/main" id="{D36127FD-094B-4D9D-9979-553943222164}"/>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01 / 27</a:t>
            </a:r>
          </a:p>
        </p:txBody>
      </p:sp>
      <p:pic>
        <p:nvPicPr>
          <p:cNvPr id="4" name="">
            <a:extLst xmlns:a="http://schemas.openxmlformats.org/drawingml/2006/main">
              <a:ext uri="{FF2B5EF4-FFF2-40B4-BE49-F238E27FC236}">
                <a16:creationId xmlns:a16="http://schemas.microsoft.com/office/drawing/2014/main" id="{02DB4305-BA34-4219-9808-DAD30DF79799}"/>
              </a:ext>
            </a:extLst>
          </p:cNvPr>
          <p:cNvPicPr>
            <a:picLocks xmlns:a="http://schemas.openxmlformats.org/drawingml/2006/main" noChangeAspect="1"/>
          </p:cNvPicPr>
          <p:nvPr/>
        </p:nvPicPr>
        <p:blipFill>
          <a:blip xmlns:r="http://schemas.openxmlformats.org/officeDocument/2006/relationships" xmlns:a="http://schemas.openxmlformats.org/drawingml/2006/main" r:embed="Ra15a9a2609f949db"/>
          <a:srcRect xmlns:a="http://schemas.openxmlformats.org/drawingml/2006/main" l="0" t="3497" r="0" b="3497"/>
          <a:stretch xmlns:a="http://schemas.openxmlformats.org/drawingml/2006/main">
            <a:fillRect l="0" t="0" r="0" b="0"/>
          </a:stretch>
        </p:blipFill>
        <p:spPr>
          <a:xfrm xmlns:a="http://schemas.openxmlformats.org/drawingml/2006/main">
            <a:off x="0" y="0"/>
            <a:ext cx="12192000" cy="6381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955B1D2-2037-49C6-8FE5-3EFF8A00B0BC}"/>
              </a:ext>
            </a:extLst>
          </p:cNvPr>
          <p:cNvSpPr>
            <a:spLocks xmlns:a="http://schemas.openxmlformats.org/drawingml/2006/main" noGrp="1"/>
          </p:cNvSpPr>
          <p:nvPr/>
        </p:nvSpPr>
        <p:spPr>
          <a:xfrm xmlns:a="http://schemas.openxmlformats.org/drawingml/2006/main">
            <a:off x="400050" y="809625"/>
            <a:ext cx="4953000" cy="31908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916A61-8606-4D59-A17D-6409612663C7}"/>
              </a:ext>
            </a:extLst>
          </p:cNvPr>
          <p:cNvSpPr>
            <a:spLocks xmlns:a="http://schemas.openxmlformats.org/drawingml/2006/main" noGrp="1"/>
          </p:cNvSpPr>
          <p:nvPr/>
        </p:nvSpPr>
        <p:spPr>
          <a:xfrm xmlns:a="http://schemas.openxmlformats.org/drawingml/2006/main">
            <a:off x="590550" y="952500"/>
            <a:ext cx="476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650" b="1" i="0">
                <a:solidFill>
                  <a:srgbClr val="203E49"/>
                </a:solidFill>
                <a:latin typeface="DejaVu Sans"/>
                <a:ea typeface="DejaVu Sans"/>
                <a:cs typeface="DejaVu Sans"/>
              </a:defRPr>
            </a:defPPr>
          </a:lstStyle>
          <a:p xmlns:a="http://schemas.openxmlformats.org/drawingml/2006/main">
            <a:pPr algn="l">
              <a:lnSpc>
                <a:spcPct val="110000"/>
              </a:lnSpc>
              <a:buNone/>
              <a:defRPr sz="4650" b="1" i="0">
                <a:solidFill>
                  <a:srgbClr val="203E49"/>
                </a:solidFill>
                <a:latin typeface="DejaVu Sans"/>
                <a:ea typeface="DejaVu Sans"/>
                <a:cs typeface="DejaVu Sans"/>
              </a:defRPr>
            </a:pPr>
            <a:r>
              <a:rPr sz="4650" b="1" i="0">
                <a:solidFill>
                  <a:srgbClr val="203E49"/>
                </a:solidFill>
                <a:latin typeface="DejaVu Sans"/>
                <a:ea typeface="DejaVu Sans"/>
                <a:cs typeface="DejaVu Sans"/>
              </a:rPr>
              <a:t>Microalgas</a:t>
            </a:r>
          </a:p>
          <a:p xmlns:a="http://schemas.openxmlformats.org/drawingml/2006/main">
            <a:pPr algn="l">
              <a:lnSpc>
                <a:spcPct val="110000"/>
              </a:lnSpc>
              <a:buNone/>
              <a:defRPr sz="4650" b="1" i="0">
                <a:solidFill>
                  <a:srgbClr val="203E49"/>
                </a:solidFill>
                <a:latin typeface="DejaVu Sans"/>
                <a:ea typeface="DejaVu Sans"/>
                <a:cs typeface="DejaVu Sans"/>
              </a:defRPr>
            </a:pPr>
            <a:r>
              <a:rPr sz="4650" b="1" i="0">
                <a:solidFill>
                  <a:srgbClr val="203E49"/>
                </a:solidFill>
                <a:latin typeface="DejaVu Sans"/>
                <a:ea typeface="DejaVu Sans"/>
                <a:cs typeface="DejaVu Sans"/>
              </a:rPr>
              <a:t>y diatomeas</a:t>
            </a:r>
          </a:p>
        </p:txBody>
      </p:sp>
      <p:sp>
        <p:nvSpPr>
          <p:cNvPr id="7" name="">
            <a:extLst xmlns:a="http://schemas.openxmlformats.org/drawingml/2006/main">
              <a:ext uri="{FF2B5EF4-FFF2-40B4-BE49-F238E27FC236}">
                <a16:creationId xmlns:a16="http://schemas.microsoft.com/office/drawing/2014/main" id="{03BAF46E-EDCC-4C71-BA44-98B157DC543D}"/>
              </a:ext>
            </a:extLst>
          </p:cNvPr>
          <p:cNvSpPr>
            <a:spLocks xmlns:a="http://schemas.openxmlformats.org/drawingml/2006/main" noGrp="1"/>
          </p:cNvSpPr>
          <p:nvPr/>
        </p:nvSpPr>
        <p:spPr>
          <a:xfrm xmlns:a="http://schemas.openxmlformats.org/drawingml/2006/main">
            <a:off x="619125" y="2809875"/>
            <a:ext cx="42862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i="0">
                <a:solidFill>
                  <a:srgbClr val="168E91"/>
                </a:solidFill>
                <a:latin typeface="DejaVu Sans"/>
                <a:ea typeface="DejaVu Sans"/>
                <a:cs typeface="DejaVu Sans"/>
              </a:defRPr>
            </a:defPPr>
          </a:lstStyle>
          <a:p xmlns:a="http://schemas.openxmlformats.org/drawingml/2006/main">
            <a:pPr algn="l">
              <a:lnSpc>
                <a:spcPct val="110000"/>
              </a:lnSpc>
              <a:buNone/>
              <a:defRPr sz="2175" b="1" i="0">
                <a:solidFill>
                  <a:srgbClr val="168E91"/>
                </a:solidFill>
                <a:latin typeface="DejaVu Sans"/>
                <a:ea typeface="DejaVu Sans"/>
                <a:cs typeface="DejaVu Sans"/>
              </a:defRPr>
            </a:pPr>
            <a:r>
              <a:rPr sz="2175" b="1" i="0">
                <a:solidFill>
                  <a:srgbClr val="168E91"/>
                </a:solidFill>
                <a:latin typeface="DejaVu Sans"/>
                <a:ea typeface="DejaVu Sans"/>
                <a:cs typeface="DejaVu Sans"/>
              </a:rPr>
              <a:t>Célula, fotosíntesis</a:t>
            </a:r>
          </a:p>
          <a:p xmlns:a="http://schemas.openxmlformats.org/drawingml/2006/main">
            <a:pPr algn="l">
              <a:lnSpc>
                <a:spcPct val="110000"/>
              </a:lnSpc>
              <a:buNone/>
              <a:defRPr sz="2175" b="1" i="0">
                <a:solidFill>
                  <a:srgbClr val="168E91"/>
                </a:solidFill>
                <a:latin typeface="DejaVu Sans"/>
                <a:ea typeface="DejaVu Sans"/>
                <a:cs typeface="DejaVu Sans"/>
              </a:defRPr>
            </a:pPr>
            <a:r>
              <a:rPr sz="2175" b="1" i="0">
                <a:solidFill>
                  <a:srgbClr val="168E91"/>
                </a:solidFill>
                <a:latin typeface="DejaVu Sans"/>
                <a:ea typeface="DejaVu Sans"/>
                <a:cs typeface="DejaVu Sans"/>
              </a:rPr>
              <a:t>y nutrientes</a:t>
            </a:r>
          </a:p>
        </p:txBody>
      </p:sp>
      <p:sp>
        <p:nvSpPr>
          <p:cNvPr id="8" name="">
            <a:extLst xmlns:a="http://schemas.openxmlformats.org/drawingml/2006/main">
              <a:ext uri="{FF2B5EF4-FFF2-40B4-BE49-F238E27FC236}">
                <a16:creationId xmlns:a16="http://schemas.microsoft.com/office/drawing/2014/main" id="{5F5E2AD8-C6C0-4B14-96B0-6AA40DD0D9B0}"/>
              </a:ext>
            </a:extLst>
          </p:cNvPr>
          <p:cNvSpPr>
            <a:spLocks xmlns:a="http://schemas.openxmlformats.org/drawingml/2006/main" noGrp="1"/>
          </p:cNvSpPr>
          <p:nvPr/>
        </p:nvSpPr>
        <p:spPr>
          <a:xfrm xmlns:a="http://schemas.openxmlformats.org/drawingml/2006/main">
            <a:off x="619125" y="4381500"/>
            <a:ext cx="4286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Primer semestre</a:t>
            </a:r>
          </a:p>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Clase de 50 minutos</a:t>
            </a:r>
          </a:p>
        </p:txBody>
      </p:sp>
    </p:spTree>
    <p:extLst>
      <p:ext uri="{BB962C8B-B14F-4D97-AF65-F5344CB8AC3E}">
        <p14:creationId xmlns:p14="http://schemas.microsoft.com/office/powerpoint/2010/main" val="2961782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1B5A93-3C5F-48DB-9F30-6A1D7BA8C6A1}"/>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Microalgas eucariotas y cianobacterias</a:t>
            </a:r>
          </a:p>
        </p:txBody>
      </p:sp>
      <p:sp>
        <p:nvSpPr>
          <p:cNvPr id="2" name="">
            <a:extLst xmlns:a="http://schemas.openxmlformats.org/drawingml/2006/main">
              <a:ext uri="{FF2B5EF4-FFF2-40B4-BE49-F238E27FC236}">
                <a16:creationId xmlns:a16="http://schemas.microsoft.com/office/drawing/2014/main" id="{9C485F82-2012-4CE6-BCA1-F9BFB7B39609}"/>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La organización celular distingue ambos grupos.</a:t>
            </a:r>
          </a:p>
        </p:txBody>
      </p:sp>
      <p:sp>
        <p:nvSpPr>
          <p:cNvPr id="3" name="">
            <a:extLst xmlns:a="http://schemas.openxmlformats.org/drawingml/2006/main">
              <a:ext uri="{FF2B5EF4-FFF2-40B4-BE49-F238E27FC236}">
                <a16:creationId xmlns:a16="http://schemas.microsoft.com/office/drawing/2014/main" id="{271FEC0D-CF71-4116-9809-344B15FBCE02}"/>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56FE53AF-570F-4822-9E29-6D54B7257104}"/>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 [2]. Esquemas conceptuales.</a:t>
            </a:r>
          </a:p>
        </p:txBody>
      </p:sp>
      <p:sp>
        <p:nvSpPr>
          <p:cNvPr id="5" name="">
            <a:extLst xmlns:a="http://schemas.openxmlformats.org/drawingml/2006/main">
              <a:ext uri="{FF2B5EF4-FFF2-40B4-BE49-F238E27FC236}">
                <a16:creationId xmlns:a16="http://schemas.microsoft.com/office/drawing/2014/main" id="{C5BD1155-93CE-454D-B502-C3F34C51C663}"/>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02 / 27</a:t>
            </a:r>
          </a:p>
        </p:txBody>
      </p:sp>
      <p:pic>
        <p:nvPicPr>
          <p:cNvPr id="6" name="">
            <a:extLst xmlns:a="http://schemas.openxmlformats.org/drawingml/2006/main">
              <a:ext uri="{FF2B5EF4-FFF2-40B4-BE49-F238E27FC236}">
                <a16:creationId xmlns:a16="http://schemas.microsoft.com/office/drawing/2014/main" id="{814F9DCC-2254-4F30-B974-909FF4A22B92}"/>
              </a:ext>
            </a:extLst>
          </p:cNvPr>
          <p:cNvPicPr>
            <a:picLocks xmlns:a="http://schemas.openxmlformats.org/drawingml/2006/main" noChangeAspect="1"/>
          </p:cNvPicPr>
          <p:nvPr/>
        </p:nvPicPr>
        <p:blipFill>
          <a:blip xmlns:r="http://schemas.openxmlformats.org/officeDocument/2006/relationships" xmlns:a="http://schemas.openxmlformats.org/drawingml/2006/main" r:embed="R1b8db9e926974524"/>
          <a:srcRect xmlns:a="http://schemas.openxmlformats.org/drawingml/2006/main" l="0" t="0" r="66667" b="50000"/>
          <a:stretch xmlns:a="http://schemas.openxmlformats.org/drawingml/2006/main"/>
        </p:blipFill>
        <p:spPr>
          <a:xfrm xmlns:a="http://schemas.openxmlformats.org/drawingml/2006/main">
            <a:off x="2190750" y="1695450"/>
            <a:ext cx="419100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A86AEE2-80A4-43D4-B44A-EC4C6E96E70E}"/>
              </a:ext>
            </a:extLst>
          </p:cNvPr>
          <p:cNvSpPr>
            <a:spLocks xmlns:a="http://schemas.openxmlformats.org/drawingml/2006/main" noGrp="1"/>
          </p:cNvSpPr>
          <p:nvPr/>
        </p:nvSpPr>
        <p:spPr>
          <a:xfrm xmlns:a="http://schemas.openxmlformats.org/drawingml/2006/main">
            <a:off x="8477250" y="2333625"/>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i="0">
                <a:solidFill>
                  <a:srgbClr val="568E35"/>
                </a:solidFill>
                <a:latin typeface="DejaVu Sans"/>
                <a:ea typeface="DejaVu Sans"/>
                <a:cs typeface="DejaVu Sans"/>
              </a:defRPr>
            </a:defPPr>
          </a:lstStyle>
          <a:p xmlns:a="http://schemas.openxmlformats.org/drawingml/2006/main">
            <a:pPr algn="l">
              <a:lnSpc>
                <a:spcPct val="110000"/>
              </a:lnSpc>
              <a:buNone/>
              <a:defRPr sz="2400" b="1" i="0">
                <a:solidFill>
                  <a:srgbClr val="568E35"/>
                </a:solidFill>
                <a:latin typeface="DejaVu Sans"/>
                <a:ea typeface="DejaVu Sans"/>
                <a:cs typeface="DejaVu Sans"/>
              </a:defRPr>
            </a:pPr>
            <a:r>
              <a:rPr sz="2400" b="1" i="0">
                <a:solidFill>
                  <a:srgbClr val="568E35"/>
                </a:solidFill>
                <a:latin typeface="DejaVu Sans"/>
                <a:ea typeface="DejaVu Sans"/>
                <a:cs typeface="DejaVu Sans"/>
              </a:rPr>
              <a:t>Eucariota</a:t>
            </a:r>
          </a:p>
        </p:txBody>
      </p:sp>
      <p:sp>
        <p:nvSpPr>
          <p:cNvPr id="8" name="">
            <a:extLst xmlns:a="http://schemas.openxmlformats.org/drawingml/2006/main">
              <a:ext uri="{FF2B5EF4-FFF2-40B4-BE49-F238E27FC236}">
                <a16:creationId xmlns:a16="http://schemas.microsoft.com/office/drawing/2014/main" id="{66E96848-F113-44B3-A29B-3542AE9D8E72}"/>
              </a:ext>
            </a:extLst>
          </p:cNvPr>
          <p:cNvSpPr>
            <a:spLocks xmlns:a="http://schemas.openxmlformats.org/drawingml/2006/main" noGrp="1"/>
          </p:cNvSpPr>
          <p:nvPr/>
        </p:nvSpPr>
        <p:spPr>
          <a:xfrm xmlns:a="http://schemas.openxmlformats.org/drawingml/2006/main">
            <a:off x="8477250" y="2971800"/>
            <a:ext cx="304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i="0">
                <a:solidFill>
                  <a:srgbClr val="203E49"/>
                </a:solidFill>
                <a:latin typeface="DejaVu Sans"/>
                <a:ea typeface="DejaVu Sans"/>
                <a:cs typeface="DejaVu Sans"/>
              </a:defRPr>
            </a:defPPr>
          </a:lstStyle>
          <a:p xmlns:a="http://schemas.openxmlformats.org/drawingml/2006/main">
            <a:pPr algn="l">
              <a:lnSpc>
                <a:spcPct val="110000"/>
              </a:lnSpc>
              <a:buNone/>
              <a:defRPr sz="1950" b="0" i="0">
                <a:solidFill>
                  <a:srgbClr val="203E49"/>
                </a:solidFill>
                <a:latin typeface="DejaVu Sans"/>
                <a:ea typeface="DejaVu Sans"/>
                <a:cs typeface="DejaVu Sans"/>
              </a:defRPr>
            </a:pPr>
            <a:r>
              <a:rPr sz="1950" b="0" i="0">
                <a:solidFill>
                  <a:srgbClr val="203E49"/>
                </a:solidFill>
                <a:latin typeface="DejaVu Sans"/>
                <a:ea typeface="DejaVu Sans"/>
                <a:cs typeface="DejaVu Sans"/>
              </a:rPr>
              <a:t>Núcleo y cloroplasto</a:t>
            </a:r>
          </a:p>
        </p:txBody>
      </p:sp>
      <p:sp>
        <p:nvSpPr>
          <p:cNvPr id="9" name="">
            <a:extLst xmlns:a="http://schemas.openxmlformats.org/drawingml/2006/main">
              <a:ext uri="{FF2B5EF4-FFF2-40B4-BE49-F238E27FC236}">
                <a16:creationId xmlns:a16="http://schemas.microsoft.com/office/drawing/2014/main" id="{32B12C0D-96C4-440D-978E-47BAB47BB426}"/>
              </a:ext>
            </a:extLst>
          </p:cNvPr>
          <p:cNvSpPr>
            <a:spLocks xmlns:a="http://schemas.openxmlformats.org/drawingml/2006/main" noGrp="1"/>
          </p:cNvSpPr>
          <p:nvPr/>
        </p:nvSpPr>
        <p:spPr>
          <a:xfrm xmlns:a="http://schemas.openxmlformats.org/drawingml/2006/main">
            <a:off x="8477250" y="41719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i="0">
                <a:solidFill>
                  <a:srgbClr val="168E91"/>
                </a:solidFill>
                <a:latin typeface="DejaVu Sans"/>
                <a:ea typeface="DejaVu Sans"/>
                <a:cs typeface="DejaVu Sans"/>
              </a:defRPr>
            </a:defPPr>
          </a:lstStyle>
          <a:p xmlns:a="http://schemas.openxmlformats.org/drawingml/2006/main">
            <a:pPr algn="l">
              <a:lnSpc>
                <a:spcPct val="110000"/>
              </a:lnSpc>
              <a:buNone/>
              <a:defRPr sz="2250" b="1" i="0">
                <a:solidFill>
                  <a:srgbClr val="168E91"/>
                </a:solidFill>
                <a:latin typeface="DejaVu Sans"/>
                <a:ea typeface="DejaVu Sans"/>
                <a:cs typeface="DejaVu Sans"/>
              </a:defRPr>
            </a:pPr>
            <a:r>
              <a:rPr sz="2250" b="1" i="0">
                <a:solidFill>
                  <a:srgbClr val="168E91"/>
                </a:solidFill>
                <a:latin typeface="DejaVu Sans"/>
                <a:ea typeface="DejaVu Sans"/>
                <a:cs typeface="DejaVu Sans"/>
              </a:rPr>
              <a:t>Cianobacteria</a:t>
            </a:r>
          </a:p>
        </p:txBody>
      </p:sp>
      <p:sp>
        <p:nvSpPr>
          <p:cNvPr id="10" name="">
            <a:extLst xmlns:a="http://schemas.openxmlformats.org/drawingml/2006/main">
              <a:ext uri="{FF2B5EF4-FFF2-40B4-BE49-F238E27FC236}">
                <a16:creationId xmlns:a16="http://schemas.microsoft.com/office/drawing/2014/main" id="{72446AD2-C9B4-48ED-9602-B2C0BB3323B8}"/>
              </a:ext>
            </a:extLst>
          </p:cNvPr>
          <p:cNvSpPr>
            <a:spLocks xmlns:a="http://schemas.openxmlformats.org/drawingml/2006/main" noGrp="1"/>
          </p:cNvSpPr>
          <p:nvPr/>
        </p:nvSpPr>
        <p:spPr>
          <a:xfrm xmlns:a="http://schemas.openxmlformats.org/drawingml/2006/main">
            <a:off x="8477250" y="4733925"/>
            <a:ext cx="30480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i="0">
                <a:solidFill>
                  <a:srgbClr val="203E49"/>
                </a:solidFill>
                <a:latin typeface="DejaVu Sans"/>
                <a:ea typeface="DejaVu Sans"/>
                <a:cs typeface="DejaVu Sans"/>
              </a:defRPr>
            </a:defPPr>
          </a:lstStyle>
          <a:p xmlns:a="http://schemas.openxmlformats.org/drawingml/2006/main">
            <a:pPr algn="l">
              <a:lnSpc>
                <a:spcPct val="110000"/>
              </a:lnSpc>
              <a:buNone/>
              <a:defRPr sz="1950" b="0" i="0">
                <a:solidFill>
                  <a:srgbClr val="203E49"/>
                </a:solidFill>
                <a:latin typeface="DejaVu Sans"/>
                <a:ea typeface="DejaVu Sans"/>
                <a:cs typeface="DejaVu Sans"/>
              </a:defRPr>
            </a:pPr>
            <a:r>
              <a:rPr sz="1950" b="0" i="0">
                <a:solidFill>
                  <a:srgbClr val="203E49"/>
                </a:solidFill>
                <a:latin typeface="DejaVu Sans"/>
                <a:ea typeface="DejaVu Sans"/>
                <a:cs typeface="DejaVu Sans"/>
              </a:rPr>
              <a:t>ADN sin envoltura</a:t>
            </a:r>
          </a:p>
          <a:p xmlns:a="http://schemas.openxmlformats.org/drawingml/2006/main">
            <a:pPr algn="l">
              <a:lnSpc>
                <a:spcPct val="110000"/>
              </a:lnSpc>
              <a:buNone/>
              <a:defRPr sz="1950" b="0" i="0">
                <a:solidFill>
                  <a:srgbClr val="203E49"/>
                </a:solidFill>
                <a:latin typeface="DejaVu Sans"/>
                <a:ea typeface="DejaVu Sans"/>
                <a:cs typeface="DejaVu Sans"/>
              </a:defRPr>
            </a:pPr>
            <a:r>
              <a:rPr sz="1950" b="0" i="0">
                <a:solidFill>
                  <a:srgbClr val="203E49"/>
                </a:solidFill>
                <a:latin typeface="DejaVu Sans"/>
                <a:ea typeface="DejaVu Sans"/>
                <a:cs typeface="DejaVu Sans"/>
              </a:rPr>
              <a:t>nuclear</a:t>
            </a:r>
          </a:p>
        </p:txBody>
      </p:sp>
    </p:spTree>
    <p:extLst>
      <p:ext uri="{BB962C8B-B14F-4D97-AF65-F5344CB8AC3E}">
        <p14:creationId xmlns:p14="http://schemas.microsoft.com/office/powerpoint/2010/main" val="14559753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2A7ACE-CCD5-4A5B-BA21-B3673AC11D83}"/>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Microalgas en distintos linajes eucariotas</a:t>
            </a:r>
          </a:p>
        </p:txBody>
      </p:sp>
      <p:sp>
        <p:nvSpPr>
          <p:cNvPr id="2" name="">
            <a:extLst xmlns:a="http://schemas.openxmlformats.org/drawingml/2006/main">
              <a:ext uri="{FF2B5EF4-FFF2-40B4-BE49-F238E27FC236}">
                <a16:creationId xmlns:a16="http://schemas.microsoft.com/office/drawing/2014/main" id="{BF1D61F9-3049-4B96-99F5-724B51E266FE}"/>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Selección de grupos y representantes.</a:t>
            </a:r>
          </a:p>
        </p:txBody>
      </p:sp>
      <p:sp>
        <p:nvSpPr>
          <p:cNvPr id="3" name="">
            <a:extLst xmlns:a="http://schemas.openxmlformats.org/drawingml/2006/main">
              <a:ext uri="{FF2B5EF4-FFF2-40B4-BE49-F238E27FC236}">
                <a16:creationId xmlns:a16="http://schemas.microsoft.com/office/drawing/2014/main" id="{55F297C9-38A5-45F0-A303-97563243D9F8}"/>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E5CC087D-75CE-4419-974E-C5406C27CFDB}"/>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 [2] [3]. Esquemas conceptuales.</a:t>
            </a:r>
          </a:p>
        </p:txBody>
      </p:sp>
      <p:sp>
        <p:nvSpPr>
          <p:cNvPr id="5" name="">
            <a:extLst xmlns:a="http://schemas.openxmlformats.org/drawingml/2006/main">
              <a:ext uri="{FF2B5EF4-FFF2-40B4-BE49-F238E27FC236}">
                <a16:creationId xmlns:a16="http://schemas.microsoft.com/office/drawing/2014/main" id="{5FF2F7D5-F540-4E60-B500-5C0028FDEBC3}"/>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03 / 27</a:t>
            </a:r>
          </a:p>
        </p:txBody>
      </p:sp>
      <p:graphicFrame>
        <p:nvGraphicFramePr>
          <p:cNvPr id="6" name="">
            <a:extLst xmlns:a="http://schemas.openxmlformats.org/drawingml/2006/main">
              <a:ext uri="{FF2B5EF4-FFF2-40B4-BE49-F238E27FC236}">
                <a16:creationId xmlns:a16="http://schemas.microsoft.com/office/drawing/2014/main" id="{B81C789E-3202-4CFF-BD09-0C0A3416886E}"/>
              </a:ext>
            </a:extLst>
          </p:cNvPr>
          <p:cNvGraphicFramePr/>
          <p:nvPr/>
        </p:nvGraphicFramePr>
        <p:xfrm>
          <a:off xmlns:a="http://schemas.openxmlformats.org/drawingml/2006/main" x="552450" y="1838325"/>
          <a:ext xmlns:a="http://schemas.openxmlformats.org/drawingml/2006/main" cx="11087100" cy="4248150"/>
        </p:xfrm>
        <a:graphic xmlns:a="http://schemas.openxmlformats.org/drawingml/2006/main">
          <a:graphicData uri="http://schemas.openxmlformats.org/drawingml/2006/table">
            <a:tbl>
              <a:tblPr/>
              <a:tblGrid>
                <a:gridCol w="3114675"/>
                <a:gridCol w="3114675"/>
                <a:gridCol w="4857750"/>
              </a:tblGrid>
              <a:tr h="514350">
                <a:tc>
                  <a:txBody>
                    <a:bodyPr lIns="104775" tIns="104775" rIns="104775" bIns="104775"/>
                    <a:lstStyle/>
                    <a:p>
                      <a:pPr>
                        <a:lnSpc>
                          <a:spcPct val="108000"/>
                        </a:lnSpc>
                        <a:buNone/>
                      </a:pPr>
                      <a:r>
                        <a:rPr sz="1650" b="1">
                          <a:solidFill>
                            <a:srgbClr val="FFFFFF"/>
                          </a:solidFill>
                          <a:latin typeface="DejaVu Sans"/>
                          <a:ea typeface="DejaVu Sans"/>
                          <a:cs typeface="DejaVu Sans"/>
                        </a:rPr>
                        <a:t>Linaje seleccionado</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04775" tIns="104775" rIns="104775" bIns="104775"/>
                    <a:lstStyle/>
                    <a:p>
                      <a:pPr>
                        <a:lnSpc>
                          <a:spcPct val="108000"/>
                        </a:lnSpc>
                        <a:buNone/>
                      </a:pPr>
                      <a:r>
                        <a:rPr sz="1650" b="1">
                          <a:solidFill>
                            <a:srgbClr val="FFFFFF"/>
                          </a:solidFill>
                          <a:latin typeface="DejaVu Sans"/>
                          <a:ea typeface="DejaVu Sans"/>
                          <a:cs typeface="DejaVu Sans"/>
                        </a:rPr>
                        <a:t>Grupo</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04775" tIns="104775" rIns="104775" bIns="104775"/>
                    <a:lstStyle/>
                    <a:p>
                      <a:pPr>
                        <a:lnSpc>
                          <a:spcPct val="108000"/>
                        </a:lnSpc>
                        <a:buNone/>
                      </a:pPr>
                      <a:r>
                        <a:rPr sz="1650" b="1">
                          <a:solidFill>
                            <a:srgbClr val="FFFFFF"/>
                          </a:solidFill>
                          <a:latin typeface="DejaVu Sans"/>
                          <a:ea typeface="DejaVu Sans"/>
                          <a:cs typeface="DejaVu Sans"/>
                        </a:rPr>
                        <a:t>Ejemplos</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533400">
                <a:tc>
                  <a:txBody>
                    <a:bodyPr lIns="104775" tIns="104775" rIns="104775" bIns="104775"/>
                    <a:lstStyle/>
                    <a:p>
                      <a:pPr>
                        <a:lnSpc>
                          <a:spcPct val="108000"/>
                        </a:lnSpc>
                        <a:buNone/>
                      </a:pPr>
                      <a:r>
                        <a:rPr sz="1650" b="1">
                          <a:solidFill>
                            <a:srgbClr val="203E49"/>
                          </a:solidFill>
                          <a:latin typeface="DejaVu Sans"/>
                          <a:ea typeface="DejaVu Sans"/>
                          <a:cs typeface="DejaVu Sans"/>
                        </a:rPr>
                        <a:t>Archaeplastida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Chlorophyta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Chlorella, Dunaliella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533400">
                <a:tc>
                  <a:txBody>
                    <a:bodyPr lIns="104775" tIns="104775" rIns="104775" bIns="104775"/>
                    <a:lstStyle/>
                    <a:p>
                      <a:pPr>
                        <a:lnSpc>
                          <a:spcPct val="108000"/>
                        </a:lnSpc>
                        <a:buNone/>
                      </a:pPr>
                      <a:r>
                        <a:rPr sz="1650" b="1">
                          <a:solidFill>
                            <a:srgbClr val="203E49"/>
                          </a:solidFill>
                          <a:latin typeface="DejaVu Sans"/>
                          <a:ea typeface="DejaVu Sans"/>
                          <a:cs typeface="DejaVu Sans"/>
                        </a:rPr>
                        <a:t>Archaeplastida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Rhodophyta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Porphyridium</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533400">
                <a:tc>
                  <a:txBody>
                    <a:bodyPr lIns="104775" tIns="104775" rIns="104775" bIns="104775"/>
                    <a:lstStyle/>
                    <a:p>
                      <a:pPr>
                        <a:lnSpc>
                          <a:spcPct val="108000"/>
                        </a:lnSpc>
                        <a:buNone/>
                      </a:pPr>
                      <a:r>
                        <a:rPr sz="1650" b="1">
                          <a:solidFill>
                            <a:srgbClr val="203E49"/>
                          </a:solidFill>
                          <a:latin typeface="DejaVu Sans"/>
                          <a:ea typeface="DejaVu Sans"/>
                          <a:cs typeface="DejaVu Sans"/>
                        </a:rPr>
                        <a:t>SAR: Stramenopiles</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Ochrophyta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Diatomeas, Nannochloropsis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533400">
                <a:tc>
                  <a:txBody>
                    <a:bodyPr lIns="104775" tIns="104775" rIns="104775" bIns="104775"/>
                    <a:lstStyle/>
                    <a:p>
                      <a:pPr>
                        <a:lnSpc>
                          <a:spcPct val="108000"/>
                        </a:lnSpc>
                        <a:buNone/>
                      </a:pPr>
                      <a:r>
                        <a:rPr sz="1650" b="1">
                          <a:solidFill>
                            <a:srgbClr val="203E49"/>
                          </a:solidFill>
                          <a:latin typeface="DejaVu Sans"/>
                          <a:ea typeface="DejaVu Sans"/>
                          <a:cs typeface="DejaVu Sans"/>
                        </a:rPr>
                        <a:t>SAR: Alveolata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Dinoflagellata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Dinoflagelados fotosintéticos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533400">
                <a:tc>
                  <a:txBody>
                    <a:bodyPr lIns="104775" tIns="104775" rIns="104775" bIns="104775"/>
                    <a:lstStyle/>
                    <a:p>
                      <a:pPr>
                        <a:lnSpc>
                          <a:spcPct val="108000"/>
                        </a:lnSpc>
                        <a:buNone/>
                      </a:pPr>
                      <a:r>
                        <a:rPr sz="1650" b="1">
                          <a:solidFill>
                            <a:srgbClr val="203E49"/>
                          </a:solidFill>
                          <a:latin typeface="DejaVu Sans"/>
                          <a:ea typeface="DejaVu Sans"/>
                          <a:cs typeface="DejaVu Sans"/>
                        </a:rPr>
                        <a:t>Haptista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Haptophyta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Isochrysis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533400">
                <a:tc>
                  <a:txBody>
                    <a:bodyPr lIns="104775" tIns="104775" rIns="104775" bIns="104775"/>
                    <a:lstStyle/>
                    <a:p>
                      <a:pPr>
                        <a:lnSpc>
                          <a:spcPct val="108000"/>
                        </a:lnSpc>
                        <a:buNone/>
                      </a:pPr>
                      <a:r>
                        <a:rPr sz="1650" b="1">
                          <a:solidFill>
                            <a:srgbClr val="203E49"/>
                          </a:solidFill>
                          <a:latin typeface="DejaVu Sans"/>
                          <a:ea typeface="DejaVu Sans"/>
                          <a:cs typeface="DejaVu Sans"/>
                        </a:rPr>
                        <a:t>Cryptista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Cryptophyta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Cryptomonas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533400">
                <a:tc>
                  <a:txBody>
                    <a:bodyPr lIns="104775" tIns="104775" rIns="104775" bIns="104775"/>
                    <a:lstStyle/>
                    <a:p>
                      <a:pPr>
                        <a:lnSpc>
                          <a:spcPct val="108000"/>
                        </a:lnSpc>
                        <a:buNone/>
                      </a:pPr>
                      <a:r>
                        <a:rPr sz="1650" b="1">
                          <a:solidFill>
                            <a:srgbClr val="203E49"/>
                          </a:solidFill>
                          <a:latin typeface="DejaVu Sans"/>
                          <a:ea typeface="DejaVu Sans"/>
                          <a:cs typeface="DejaVu Sans"/>
                        </a:rPr>
                        <a:t>Discoba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Euglenida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650" b="0">
                          <a:solidFill>
                            <a:srgbClr val="203E49"/>
                          </a:solidFill>
                          <a:latin typeface="DejaVu Sans"/>
                          <a:ea typeface="DejaVu Sans"/>
                          <a:cs typeface="DejaVu Sans"/>
                        </a:rPr>
                        <a:t>Euglena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ADFF884-19B8-4D64-8E7B-3E7A42378B9F}"/>
              </a:ext>
            </a:extLst>
          </p:cNvPr>
          <p:cNvSpPr>
            <a:spLocks xmlns:a="http://schemas.openxmlformats.org/drawingml/2006/main" noGrp="1"/>
          </p:cNvSpPr>
          <p:nvPr/>
        </p:nvSpPr>
        <p:spPr>
          <a:xfrm xmlns:a="http://schemas.openxmlformats.org/drawingml/2006/main">
            <a:off x="571500" y="6191250"/>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1" i="0">
                <a:solidFill>
                  <a:srgbClr val="168E91"/>
                </a:solidFill>
                <a:latin typeface="DejaVu Sans"/>
                <a:ea typeface="DejaVu Sans"/>
                <a:cs typeface="DejaVu Sans"/>
              </a:defRPr>
            </a:defPPr>
          </a:lstStyle>
          <a:p xmlns:a="http://schemas.openxmlformats.org/drawingml/2006/main">
            <a:pPr algn="ctr">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“Microalgas” reúne representantes de varias ramas evolutivas</a:t>
            </a:r>
          </a:p>
        </p:txBody>
      </p:sp>
    </p:spTree>
    <p:extLst>
      <p:ext uri="{BB962C8B-B14F-4D97-AF65-F5344CB8AC3E}">
        <p14:creationId xmlns:p14="http://schemas.microsoft.com/office/powerpoint/2010/main" val="8889745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83643C-FEAB-418B-A081-B699C7490CA5}"/>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Clasificación taxonómica: un ejemplo</a:t>
            </a:r>
          </a:p>
        </p:txBody>
      </p:sp>
      <p:sp>
        <p:nvSpPr>
          <p:cNvPr id="2" name="">
            <a:extLst xmlns:a="http://schemas.openxmlformats.org/drawingml/2006/main">
              <a:ext uri="{FF2B5EF4-FFF2-40B4-BE49-F238E27FC236}">
                <a16:creationId xmlns:a16="http://schemas.microsoft.com/office/drawing/2014/main" id="{1D0C8C06-35AA-4060-B902-26F8AA63EAC3}"/>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Chlorella vulgaris como especie de referencia.</a:t>
            </a:r>
          </a:p>
        </p:txBody>
      </p:sp>
      <p:sp>
        <p:nvSpPr>
          <p:cNvPr id="3" name="">
            <a:extLst xmlns:a="http://schemas.openxmlformats.org/drawingml/2006/main">
              <a:ext uri="{FF2B5EF4-FFF2-40B4-BE49-F238E27FC236}">
                <a16:creationId xmlns:a16="http://schemas.microsoft.com/office/drawing/2014/main" id="{60268381-361B-43D3-9052-D04429AFA994}"/>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8916C9BD-EEC7-4C77-80FF-2F9EA8804886}"/>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 [3] [15]. Esquemas conceptuales.</a:t>
            </a:r>
          </a:p>
        </p:txBody>
      </p:sp>
      <p:sp>
        <p:nvSpPr>
          <p:cNvPr id="5" name="">
            <a:extLst xmlns:a="http://schemas.openxmlformats.org/drawingml/2006/main">
              <a:ext uri="{FF2B5EF4-FFF2-40B4-BE49-F238E27FC236}">
                <a16:creationId xmlns:a16="http://schemas.microsoft.com/office/drawing/2014/main" id="{369ED63F-C0AE-4BD8-A057-B3A590381C6A}"/>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04 / 27</a:t>
            </a:r>
          </a:p>
        </p:txBody>
      </p:sp>
      <p:graphicFrame>
        <p:nvGraphicFramePr>
          <p:cNvPr id="6" name="">
            <a:extLst xmlns:a="http://schemas.openxmlformats.org/drawingml/2006/main">
              <a:ext uri="{FF2B5EF4-FFF2-40B4-BE49-F238E27FC236}">
                <a16:creationId xmlns:a16="http://schemas.microsoft.com/office/drawing/2014/main" id="{A098EE13-92A2-419D-A42A-D0EDF8AB3076}"/>
              </a:ext>
            </a:extLst>
          </p:cNvPr>
          <p:cNvGraphicFramePr/>
          <p:nvPr/>
        </p:nvGraphicFramePr>
        <p:xfrm>
          <a:off xmlns:a="http://schemas.openxmlformats.org/drawingml/2006/main" x="1285875" y="1828800"/>
          <a:ext xmlns:a="http://schemas.openxmlformats.org/drawingml/2006/main" cx="9620250" cy="4200525"/>
        </p:xfrm>
        <a:graphic xmlns:a="http://schemas.openxmlformats.org/drawingml/2006/main">
          <a:graphicData uri="http://schemas.openxmlformats.org/drawingml/2006/table">
            <a:tbl>
              <a:tblPr/>
              <a:tblGrid>
                <a:gridCol w="3524250"/>
                <a:gridCol w="6096000"/>
              </a:tblGrid>
              <a:tr h="466725">
                <a:tc>
                  <a:txBody>
                    <a:bodyPr lIns="104775" tIns="104775" rIns="104775" bIns="104775"/>
                    <a:lstStyle/>
                    <a:p>
                      <a:pPr>
                        <a:lnSpc>
                          <a:spcPct val="108000"/>
                        </a:lnSpc>
                        <a:buNone/>
                      </a:pPr>
                      <a:r>
                        <a:rPr sz="1725" b="1">
                          <a:solidFill>
                            <a:srgbClr val="FFFFFF"/>
                          </a:solidFill>
                          <a:latin typeface="DejaVu Sans"/>
                          <a:ea typeface="DejaVu Sans"/>
                          <a:cs typeface="DejaVu Sans"/>
                        </a:rPr>
                        <a:t>Rango o agrupación</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04775" tIns="104775" rIns="104775" bIns="104775"/>
                    <a:lstStyle/>
                    <a:p>
                      <a:pPr>
                        <a:lnSpc>
                          <a:spcPct val="108000"/>
                        </a:lnSpc>
                        <a:buNone/>
                      </a:pPr>
                      <a:r>
                        <a:rPr sz="1725" b="1">
                          <a:solidFill>
                            <a:srgbClr val="FFFFFF"/>
                          </a:solidFill>
                          <a:latin typeface="DejaVu Sans"/>
                          <a:ea typeface="DejaVu Sans"/>
                          <a:cs typeface="DejaVu Sans"/>
                        </a:rPr>
                        <a:t>Nombre</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Dominio</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Eukaryota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Clados seleccionados</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Archaeplastida, Viridiplantae</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Filo / división</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Chlorophyta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Clase</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Trebouxiophyceae</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Orden</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Chlorellales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Familia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Chlorellaceae</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Género</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Chlorella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466725">
                <a:tc>
                  <a:txBody>
                    <a:bodyPr lIns="104775" tIns="104775" rIns="104775" bIns="104775"/>
                    <a:lstStyle/>
                    <a:p>
                      <a:pPr>
                        <a:lnSpc>
                          <a:spcPct val="108000"/>
                        </a:lnSpc>
                        <a:buNone/>
                      </a:pPr>
                      <a:r>
                        <a:rPr sz="1725" b="1">
                          <a:solidFill>
                            <a:srgbClr val="203E49"/>
                          </a:solidFill>
                          <a:latin typeface="DejaVu Sans"/>
                          <a:ea typeface="DejaVu Sans"/>
                          <a:cs typeface="DejaVu Sans"/>
                        </a:rPr>
                        <a:t>Especie</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Chlorella vulgaris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F285EC3-772E-4510-8ACF-8BCF4DCEFB7F}"/>
              </a:ext>
            </a:extLst>
          </p:cNvPr>
          <p:cNvSpPr>
            <a:spLocks xmlns:a="http://schemas.openxmlformats.org/drawingml/2006/main" noGrp="1"/>
          </p:cNvSpPr>
          <p:nvPr/>
        </p:nvSpPr>
        <p:spPr>
          <a:xfrm xmlns:a="http://schemas.openxmlformats.org/drawingml/2006/main">
            <a:off x="571500" y="61626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1" i="0">
                <a:solidFill>
                  <a:srgbClr val="168E91"/>
                </a:solidFill>
                <a:latin typeface="DejaVu Sans"/>
                <a:ea typeface="DejaVu Sans"/>
                <a:cs typeface="DejaVu Sans"/>
              </a:defRPr>
            </a:defPPr>
          </a:lstStyle>
          <a:p xmlns:a="http://schemas.openxmlformats.org/drawingml/2006/main">
            <a:pPr algn="ctr">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La especie puede incluir cepas con propiedades diferentes</a:t>
            </a:r>
          </a:p>
        </p:txBody>
      </p:sp>
    </p:spTree>
    <p:extLst>
      <p:ext uri="{BB962C8B-B14F-4D97-AF65-F5344CB8AC3E}">
        <p14:creationId xmlns:p14="http://schemas.microsoft.com/office/powerpoint/2010/main" val="4408811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22F4E8C-51A8-4C71-BEC1-E64E1514AF67}"/>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Célula de una microalga verde</a:t>
            </a:r>
          </a:p>
        </p:txBody>
      </p:sp>
      <p:sp>
        <p:nvSpPr>
          <p:cNvPr id="2" name="">
            <a:extLst xmlns:a="http://schemas.openxmlformats.org/drawingml/2006/main">
              <a:ext uri="{FF2B5EF4-FFF2-40B4-BE49-F238E27FC236}">
                <a16:creationId xmlns:a16="http://schemas.microsoft.com/office/drawing/2014/main" id="{2CCB71CE-B0B8-4EFA-8337-22396FBE5899}"/>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Modelo conceptual basado en Chlorella.</a:t>
            </a:r>
          </a:p>
        </p:txBody>
      </p:sp>
      <p:sp>
        <p:nvSpPr>
          <p:cNvPr id="3" name="">
            <a:extLst xmlns:a="http://schemas.openxmlformats.org/drawingml/2006/main">
              <a:ext uri="{FF2B5EF4-FFF2-40B4-BE49-F238E27FC236}">
                <a16:creationId xmlns:a16="http://schemas.microsoft.com/office/drawing/2014/main" id="{0E0A175E-78D0-44E1-93F5-6CE20587194F}"/>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7CE6BA5E-E7E8-4FAB-8CCC-15B91F4601B7}"/>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[5] [15] [16]. Esquemas conceptuales.</a:t>
            </a:r>
          </a:p>
        </p:txBody>
      </p:sp>
      <p:sp>
        <p:nvSpPr>
          <p:cNvPr id="5" name="">
            <a:extLst xmlns:a="http://schemas.openxmlformats.org/drawingml/2006/main">
              <a:ext uri="{FF2B5EF4-FFF2-40B4-BE49-F238E27FC236}">
                <a16:creationId xmlns:a16="http://schemas.microsoft.com/office/drawing/2014/main" id="{F5802AB0-11EA-4586-82E2-DB0C350E78A0}"/>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05 / 27</a:t>
            </a:r>
          </a:p>
        </p:txBody>
      </p:sp>
      <p:pic>
        <p:nvPicPr>
          <p:cNvPr id="6" name="">
            <a:extLst xmlns:a="http://schemas.openxmlformats.org/drawingml/2006/main">
              <a:ext uri="{FF2B5EF4-FFF2-40B4-BE49-F238E27FC236}">
                <a16:creationId xmlns:a16="http://schemas.microsoft.com/office/drawing/2014/main" id="{D4BEC58B-38E0-4B60-ABD3-BFFAFA543874}"/>
              </a:ext>
            </a:extLst>
          </p:cNvPr>
          <p:cNvPicPr>
            <a:picLocks xmlns:a="http://schemas.openxmlformats.org/drawingml/2006/main" noChangeAspect="1"/>
          </p:cNvPicPr>
          <p:nvPr/>
        </p:nvPicPr>
        <p:blipFill>
          <a:blip xmlns:r="http://schemas.openxmlformats.org/officeDocument/2006/relationships" xmlns:a="http://schemas.openxmlformats.org/drawingml/2006/main" r:embed="R17aa9325082248e9"/>
          <a:stretch xmlns:a="http://schemas.openxmlformats.org/drawingml/2006/main"/>
        </p:blipFill>
        <p:spPr>
          <a:xfrm xmlns:a="http://schemas.openxmlformats.org/drawingml/2006/main">
            <a:off x="2220327" y="1695450"/>
            <a:ext cx="7751346" cy="4362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D3AB935-FEE1-4D30-8D4A-77337F39754E}"/>
              </a:ext>
            </a:extLst>
          </p:cNvPr>
          <p:cNvSpPr>
            <a:spLocks xmlns:a="http://schemas.openxmlformats.org/drawingml/2006/main" noGrp="1"/>
          </p:cNvSpPr>
          <p:nvPr/>
        </p:nvSpPr>
        <p:spPr>
          <a:xfrm xmlns:a="http://schemas.openxmlformats.org/drawingml/2006/main">
            <a:off x="552450" y="2019300"/>
            <a:ext cx="171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Cloroplasto</a:t>
            </a:r>
          </a:p>
        </p:txBody>
      </p:sp>
      <p:sp>
        <p:nvSpPr>
          <p:cNvPr id="8" name="">
            <a:extLst xmlns:a="http://schemas.openxmlformats.org/drawingml/2006/main">
              <a:ext uri="{FF2B5EF4-FFF2-40B4-BE49-F238E27FC236}">
                <a16:creationId xmlns:a16="http://schemas.microsoft.com/office/drawing/2014/main" id="{77B066F7-3406-478C-B8CB-8CB81A817764}"/>
              </a:ext>
            </a:extLst>
          </p:cNvPr>
          <p:cNvSpPr>
            <a:spLocks xmlns:a="http://schemas.openxmlformats.org/drawingml/2006/main" noGrp="1"/>
          </p:cNvSpPr>
          <p:nvPr/>
        </p:nvSpPr>
        <p:spPr>
          <a:xfrm xmlns:a="http://schemas.openxmlformats.org/drawingml/2006/main">
            <a:off x="2266950" y="2190750"/>
            <a:ext cx="2619061" cy="686873"/>
          </a:xfrm>
          <a:custGeom xmlns:a="http://schemas.openxmlformats.org/drawingml/2006/main">
            <a:pathLst>
              <a:path w="2619061" h="686873">
                <a:moveTo>
                  <a:pt x="0" y="0"/>
                </a:moveTo>
                <a:lnTo>
                  <a:pt x="2619061" y="686873"/>
                </a:lnTo>
              </a:path>
            </a:pathLst>
          </a:custGeom>
          <a:noFill xmlns:a="http://schemas.openxmlformats.org/drawingml/2006/main"/>
          <a:ln xmlns:a="http://schemas.openxmlformats.org/drawingml/2006/main" w="11430">
            <a:solidFill>
              <a:srgbClr val="637D84"/>
            </a:solidFill>
            <a:prstDash val="solid"/>
          </a:ln>
        </p:spPr>
      </p:sp>
      <p:sp>
        <p:nvSpPr>
          <p:cNvPr id="9" name="">
            <a:extLst xmlns:a="http://schemas.openxmlformats.org/drawingml/2006/main">
              <a:ext uri="{FF2B5EF4-FFF2-40B4-BE49-F238E27FC236}">
                <a16:creationId xmlns:a16="http://schemas.microsoft.com/office/drawing/2014/main" id="{13DC0A23-16D8-4CC7-B286-DE1B098C048F}"/>
              </a:ext>
            </a:extLst>
          </p:cNvPr>
          <p:cNvSpPr>
            <a:spLocks xmlns:a="http://schemas.openxmlformats.org/drawingml/2006/main" noGrp="1"/>
          </p:cNvSpPr>
          <p:nvPr/>
        </p:nvSpPr>
        <p:spPr>
          <a:xfrm xmlns:a="http://schemas.openxmlformats.org/drawingml/2006/main">
            <a:off x="552450" y="3486150"/>
            <a:ext cx="171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Pirenoide</a:t>
            </a:r>
          </a:p>
        </p:txBody>
      </p:sp>
      <p:sp>
        <p:nvSpPr>
          <p:cNvPr id="10" name="">
            <a:extLst xmlns:a="http://schemas.openxmlformats.org/drawingml/2006/main">
              <a:ext uri="{FF2B5EF4-FFF2-40B4-BE49-F238E27FC236}">
                <a16:creationId xmlns:a16="http://schemas.microsoft.com/office/drawing/2014/main" id="{57DC3B0D-B2B2-46D6-B0DC-D0E843721BF2}"/>
              </a:ext>
            </a:extLst>
          </p:cNvPr>
          <p:cNvSpPr>
            <a:spLocks xmlns:a="http://schemas.openxmlformats.org/drawingml/2006/main" noGrp="1"/>
          </p:cNvSpPr>
          <p:nvPr/>
        </p:nvSpPr>
        <p:spPr>
          <a:xfrm xmlns:a="http://schemas.openxmlformats.org/drawingml/2006/main">
            <a:off x="2266950" y="3657600"/>
            <a:ext cx="2734961" cy="610815"/>
          </a:xfrm>
          <a:custGeom xmlns:a="http://schemas.openxmlformats.org/drawingml/2006/main">
            <a:pathLst>
              <a:path w="2734961" h="610815">
                <a:moveTo>
                  <a:pt x="0" y="0"/>
                </a:moveTo>
                <a:lnTo>
                  <a:pt x="2734961" y="610815"/>
                </a:lnTo>
              </a:path>
            </a:pathLst>
          </a:custGeom>
          <a:noFill xmlns:a="http://schemas.openxmlformats.org/drawingml/2006/main"/>
          <a:ln xmlns:a="http://schemas.openxmlformats.org/drawingml/2006/main" w="11430">
            <a:solidFill>
              <a:srgbClr val="637D84"/>
            </a:solidFill>
            <a:prstDash val="solid"/>
          </a:ln>
        </p:spPr>
      </p:sp>
      <p:sp>
        <p:nvSpPr>
          <p:cNvPr id="11" name="">
            <a:extLst xmlns:a="http://schemas.openxmlformats.org/drawingml/2006/main">
              <a:ext uri="{FF2B5EF4-FFF2-40B4-BE49-F238E27FC236}">
                <a16:creationId xmlns:a16="http://schemas.microsoft.com/office/drawing/2014/main" id="{CACC5162-8C2A-411A-8605-5F4782CC0317}"/>
              </a:ext>
            </a:extLst>
          </p:cNvPr>
          <p:cNvSpPr>
            <a:spLocks xmlns:a="http://schemas.openxmlformats.org/drawingml/2006/main" noGrp="1"/>
          </p:cNvSpPr>
          <p:nvPr/>
        </p:nvSpPr>
        <p:spPr>
          <a:xfrm xmlns:a="http://schemas.openxmlformats.org/drawingml/2006/main">
            <a:off x="552450" y="5076825"/>
            <a:ext cx="171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Pared</a:t>
            </a:r>
          </a:p>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celular</a:t>
            </a:r>
          </a:p>
        </p:txBody>
      </p:sp>
      <p:sp>
        <p:nvSpPr>
          <p:cNvPr id="12" name="">
            <a:extLst xmlns:a="http://schemas.openxmlformats.org/drawingml/2006/main">
              <a:ext uri="{FF2B5EF4-FFF2-40B4-BE49-F238E27FC236}">
                <a16:creationId xmlns:a16="http://schemas.microsoft.com/office/drawing/2014/main" id="{54062F55-BBDD-4EF9-BF78-24984F5F5FA3}"/>
              </a:ext>
            </a:extLst>
          </p:cNvPr>
          <p:cNvSpPr>
            <a:spLocks xmlns:a="http://schemas.openxmlformats.org/drawingml/2006/main" noGrp="1"/>
          </p:cNvSpPr>
          <p:nvPr/>
        </p:nvSpPr>
        <p:spPr>
          <a:xfrm xmlns:a="http://schemas.openxmlformats.org/drawingml/2006/main">
            <a:off x="2266950" y="4940631"/>
            <a:ext cx="2132284" cy="307644"/>
          </a:xfrm>
          <a:custGeom xmlns:a="http://schemas.openxmlformats.org/drawingml/2006/main">
            <a:pathLst>
              <a:path w="2132284" h="307644">
                <a:moveTo>
                  <a:pt x="0" y="307644"/>
                </a:moveTo>
                <a:lnTo>
                  <a:pt x="2132284" y="0"/>
                </a:lnTo>
              </a:path>
            </a:pathLst>
          </a:custGeom>
          <a:noFill xmlns:a="http://schemas.openxmlformats.org/drawingml/2006/main"/>
          <a:ln xmlns:a="http://schemas.openxmlformats.org/drawingml/2006/main" w="11430">
            <a:solidFill>
              <a:srgbClr val="637D84"/>
            </a:solidFill>
            <a:prstDash val="solid"/>
          </a:ln>
        </p:spPr>
      </p:sp>
      <p:sp>
        <p:nvSpPr>
          <p:cNvPr id="13" name="">
            <a:extLst xmlns:a="http://schemas.openxmlformats.org/drawingml/2006/main">
              <a:ext uri="{FF2B5EF4-FFF2-40B4-BE49-F238E27FC236}">
                <a16:creationId xmlns:a16="http://schemas.microsoft.com/office/drawing/2014/main" id="{651ABE7E-DD64-40C4-BA43-63E33B261AFC}"/>
              </a:ext>
            </a:extLst>
          </p:cNvPr>
          <p:cNvSpPr>
            <a:spLocks xmlns:a="http://schemas.openxmlformats.org/drawingml/2006/main" noGrp="1"/>
          </p:cNvSpPr>
          <p:nvPr/>
        </p:nvSpPr>
        <p:spPr>
          <a:xfrm xmlns:a="http://schemas.openxmlformats.org/drawingml/2006/main">
            <a:off x="9620250" y="2047875"/>
            <a:ext cx="2000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Mitocondria</a:t>
            </a:r>
          </a:p>
        </p:txBody>
      </p:sp>
      <p:sp>
        <p:nvSpPr>
          <p:cNvPr id="14" name="">
            <a:extLst xmlns:a="http://schemas.openxmlformats.org/drawingml/2006/main">
              <a:ext uri="{FF2B5EF4-FFF2-40B4-BE49-F238E27FC236}">
                <a16:creationId xmlns:a16="http://schemas.microsoft.com/office/drawing/2014/main" id="{62FE88A9-091C-45E5-BB49-C81FBE76805A}"/>
              </a:ext>
            </a:extLst>
          </p:cNvPr>
          <p:cNvSpPr>
            <a:spLocks xmlns:a="http://schemas.openxmlformats.org/drawingml/2006/main" noGrp="1"/>
          </p:cNvSpPr>
          <p:nvPr/>
        </p:nvSpPr>
        <p:spPr>
          <a:xfrm xmlns:a="http://schemas.openxmlformats.org/drawingml/2006/main">
            <a:off x="6754308" y="2219325"/>
            <a:ext cx="2865942" cy="403319"/>
          </a:xfrm>
          <a:custGeom xmlns:a="http://schemas.openxmlformats.org/drawingml/2006/main">
            <a:pathLst>
              <a:path w="2865942" h="403319">
                <a:moveTo>
                  <a:pt x="2865942" y="0"/>
                </a:moveTo>
                <a:lnTo>
                  <a:pt x="0" y="403319"/>
                </a:lnTo>
              </a:path>
            </a:pathLst>
          </a:custGeom>
          <a:noFill xmlns:a="http://schemas.openxmlformats.org/drawingml/2006/main"/>
          <a:ln xmlns:a="http://schemas.openxmlformats.org/drawingml/2006/main" w="11430">
            <a:solidFill>
              <a:srgbClr val="637D84"/>
            </a:solidFill>
            <a:prstDash val="solid"/>
          </a:ln>
        </p:spPr>
      </p:sp>
      <p:sp>
        <p:nvSpPr>
          <p:cNvPr id="15" name="">
            <a:extLst xmlns:a="http://schemas.openxmlformats.org/drawingml/2006/main">
              <a:ext uri="{FF2B5EF4-FFF2-40B4-BE49-F238E27FC236}">
                <a16:creationId xmlns:a16="http://schemas.microsoft.com/office/drawing/2014/main" id="{CF8A7C28-580E-4BCC-9F76-EC240569AAD7}"/>
              </a:ext>
            </a:extLst>
          </p:cNvPr>
          <p:cNvSpPr>
            <a:spLocks xmlns:a="http://schemas.openxmlformats.org/drawingml/2006/main" noGrp="1"/>
          </p:cNvSpPr>
          <p:nvPr/>
        </p:nvSpPr>
        <p:spPr>
          <a:xfrm xmlns:a="http://schemas.openxmlformats.org/drawingml/2006/main">
            <a:off x="9620250" y="3476625"/>
            <a:ext cx="2000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Núcleo</a:t>
            </a:r>
          </a:p>
        </p:txBody>
      </p:sp>
      <p:sp>
        <p:nvSpPr>
          <p:cNvPr id="16" name="">
            <a:extLst xmlns:a="http://schemas.openxmlformats.org/drawingml/2006/main">
              <a:ext uri="{FF2B5EF4-FFF2-40B4-BE49-F238E27FC236}">
                <a16:creationId xmlns:a16="http://schemas.microsoft.com/office/drawing/2014/main" id="{EB93237C-8B8B-4CBC-BE02-10BD6CF28B7E}"/>
              </a:ext>
            </a:extLst>
          </p:cNvPr>
          <p:cNvSpPr>
            <a:spLocks xmlns:a="http://schemas.openxmlformats.org/drawingml/2006/main" noGrp="1"/>
          </p:cNvSpPr>
          <p:nvPr/>
        </p:nvSpPr>
        <p:spPr>
          <a:xfrm xmlns:a="http://schemas.openxmlformats.org/drawingml/2006/main">
            <a:off x="6949019" y="3648075"/>
            <a:ext cx="2671231" cy="110383"/>
          </a:xfrm>
          <a:custGeom xmlns:a="http://schemas.openxmlformats.org/drawingml/2006/main">
            <a:pathLst>
              <a:path w="2671231" h="110383">
                <a:moveTo>
                  <a:pt x="2671231" y="0"/>
                </a:moveTo>
                <a:lnTo>
                  <a:pt x="0" y="110383"/>
                </a:lnTo>
              </a:path>
            </a:pathLst>
          </a:custGeom>
          <a:noFill xmlns:a="http://schemas.openxmlformats.org/drawingml/2006/main"/>
          <a:ln xmlns:a="http://schemas.openxmlformats.org/drawingml/2006/main" w="11430">
            <a:solidFill>
              <a:srgbClr val="637D84"/>
            </a:solidFill>
            <a:prstDash val="solid"/>
          </a:ln>
        </p:spPr>
      </p:sp>
      <p:sp>
        <p:nvSpPr>
          <p:cNvPr id="17" name="">
            <a:extLst xmlns:a="http://schemas.openxmlformats.org/drawingml/2006/main">
              <a:ext uri="{FF2B5EF4-FFF2-40B4-BE49-F238E27FC236}">
                <a16:creationId xmlns:a16="http://schemas.microsoft.com/office/drawing/2014/main" id="{68EBE228-144D-468D-8445-32F34BC61BC4}"/>
              </a:ext>
            </a:extLst>
          </p:cNvPr>
          <p:cNvSpPr>
            <a:spLocks xmlns:a="http://schemas.openxmlformats.org/drawingml/2006/main" noGrp="1"/>
          </p:cNvSpPr>
          <p:nvPr/>
        </p:nvSpPr>
        <p:spPr>
          <a:xfrm xmlns:a="http://schemas.openxmlformats.org/drawingml/2006/main">
            <a:off x="9620250" y="5086350"/>
            <a:ext cx="2000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Membrana</a:t>
            </a:r>
          </a:p>
        </p:txBody>
      </p:sp>
      <p:sp>
        <p:nvSpPr>
          <p:cNvPr id="18" name="">
            <a:extLst xmlns:a="http://schemas.openxmlformats.org/drawingml/2006/main">
              <a:ext uri="{FF2B5EF4-FFF2-40B4-BE49-F238E27FC236}">
                <a16:creationId xmlns:a16="http://schemas.microsoft.com/office/drawing/2014/main" id="{D83E818A-E33A-479B-A630-71D807F9CF9F}"/>
              </a:ext>
            </a:extLst>
          </p:cNvPr>
          <p:cNvSpPr>
            <a:spLocks xmlns:a="http://schemas.openxmlformats.org/drawingml/2006/main" noGrp="1"/>
          </p:cNvSpPr>
          <p:nvPr/>
        </p:nvSpPr>
        <p:spPr>
          <a:xfrm xmlns:a="http://schemas.openxmlformats.org/drawingml/2006/main">
            <a:off x="7829854" y="4801551"/>
            <a:ext cx="1790396" cy="456249"/>
          </a:xfrm>
          <a:custGeom xmlns:a="http://schemas.openxmlformats.org/drawingml/2006/main">
            <a:pathLst>
              <a:path w="1790396" h="456249">
                <a:moveTo>
                  <a:pt x="1790396" y="456249"/>
                </a:moveTo>
                <a:lnTo>
                  <a:pt x="0" y="0"/>
                </a:lnTo>
              </a:path>
            </a:pathLst>
          </a:custGeom>
          <a:noFill xmlns:a="http://schemas.openxmlformats.org/drawingml/2006/main"/>
          <a:ln xmlns:a="http://schemas.openxmlformats.org/drawingml/2006/main" w="11430">
            <a:solidFill>
              <a:srgbClr val="637D84"/>
            </a:solidFill>
            <a:prstDash val="solid"/>
          </a:ln>
        </p:spPr>
      </p:sp>
    </p:spTree>
    <p:extLst>
      <p:ext uri="{BB962C8B-B14F-4D97-AF65-F5344CB8AC3E}">
        <p14:creationId xmlns:p14="http://schemas.microsoft.com/office/powerpoint/2010/main" val="15899202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F53E146-1365-45D4-A5E0-15328240E48C}"/>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Célula de una diatomea</a:t>
            </a:r>
          </a:p>
        </p:txBody>
      </p:sp>
      <p:sp>
        <p:nvSpPr>
          <p:cNvPr id="2" name="">
            <a:extLst xmlns:a="http://schemas.openxmlformats.org/drawingml/2006/main">
              <a:ext uri="{FF2B5EF4-FFF2-40B4-BE49-F238E27FC236}">
                <a16:creationId xmlns:a16="http://schemas.microsoft.com/office/drawing/2014/main" id="{CF41C0E6-A96A-4685-9674-7DB59F98F101}"/>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Diatomeas (Bacillariophyta), dentro de los estramenópilos.</a:t>
            </a:r>
          </a:p>
        </p:txBody>
      </p:sp>
      <p:sp>
        <p:nvSpPr>
          <p:cNvPr id="3" name="">
            <a:extLst xmlns:a="http://schemas.openxmlformats.org/drawingml/2006/main">
              <a:ext uri="{FF2B5EF4-FFF2-40B4-BE49-F238E27FC236}">
                <a16:creationId xmlns:a16="http://schemas.microsoft.com/office/drawing/2014/main" id="{A8C1BCC9-D4FC-4FBF-BF95-B0614EEC6946}"/>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A62DB932-4B16-4685-B55B-5B62A1D7B249}"/>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[4] [6] [10] [14]. Esquemas conceptuales.</a:t>
            </a:r>
          </a:p>
        </p:txBody>
      </p:sp>
      <p:sp>
        <p:nvSpPr>
          <p:cNvPr id="5" name="">
            <a:extLst xmlns:a="http://schemas.openxmlformats.org/drawingml/2006/main">
              <a:ext uri="{FF2B5EF4-FFF2-40B4-BE49-F238E27FC236}">
                <a16:creationId xmlns:a16="http://schemas.microsoft.com/office/drawing/2014/main" id="{EEA69611-ADA5-4A3C-8585-5ECD535292C9}"/>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06 / 27</a:t>
            </a:r>
          </a:p>
        </p:txBody>
      </p:sp>
      <p:pic>
        <p:nvPicPr>
          <p:cNvPr id="6" name="">
            <a:extLst xmlns:a="http://schemas.openxmlformats.org/drawingml/2006/main">
              <a:ext uri="{FF2B5EF4-FFF2-40B4-BE49-F238E27FC236}">
                <a16:creationId xmlns:a16="http://schemas.microsoft.com/office/drawing/2014/main" id="{88C92E3C-FD79-4D0F-9FAA-71DF207B3917}"/>
              </a:ext>
            </a:extLst>
          </p:cNvPr>
          <p:cNvPicPr>
            <a:picLocks xmlns:a="http://schemas.openxmlformats.org/drawingml/2006/main" noChangeAspect="1"/>
          </p:cNvPicPr>
          <p:nvPr/>
        </p:nvPicPr>
        <p:blipFill>
          <a:blip xmlns:r="http://schemas.openxmlformats.org/officeDocument/2006/relationships" xmlns:a="http://schemas.openxmlformats.org/drawingml/2006/main" r:embed="R694f10888e754f49"/>
          <a:stretch xmlns:a="http://schemas.openxmlformats.org/drawingml/2006/main"/>
        </p:blipFill>
        <p:spPr>
          <a:xfrm xmlns:a="http://schemas.openxmlformats.org/drawingml/2006/main">
            <a:off x="2389570" y="1762125"/>
            <a:ext cx="7412859" cy="4171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94D57A-BA71-4736-923B-C02FCB796A53}"/>
              </a:ext>
            </a:extLst>
          </p:cNvPr>
          <p:cNvSpPr>
            <a:spLocks xmlns:a="http://schemas.openxmlformats.org/drawingml/2006/main" noGrp="1"/>
          </p:cNvSpPr>
          <p:nvPr/>
        </p:nvSpPr>
        <p:spPr>
          <a:xfrm xmlns:a="http://schemas.openxmlformats.org/drawingml/2006/main">
            <a:off x="552450" y="2095500"/>
            <a:ext cx="1762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Frústulo</a:t>
            </a:r>
          </a:p>
        </p:txBody>
      </p:sp>
      <p:sp>
        <p:nvSpPr>
          <p:cNvPr id="8" name="">
            <a:extLst xmlns:a="http://schemas.openxmlformats.org/drawingml/2006/main">
              <a:ext uri="{FF2B5EF4-FFF2-40B4-BE49-F238E27FC236}">
                <a16:creationId xmlns:a16="http://schemas.microsoft.com/office/drawing/2014/main" id="{DD56A972-B779-4901-B3C2-FED4FB99C776}"/>
              </a:ext>
            </a:extLst>
          </p:cNvPr>
          <p:cNvSpPr>
            <a:spLocks xmlns:a="http://schemas.openxmlformats.org/drawingml/2006/main" noGrp="1"/>
          </p:cNvSpPr>
          <p:nvPr/>
        </p:nvSpPr>
        <p:spPr>
          <a:xfrm xmlns:a="http://schemas.openxmlformats.org/drawingml/2006/main">
            <a:off x="2314575" y="2266950"/>
            <a:ext cx="2025748" cy="213407"/>
          </a:xfrm>
          <a:custGeom xmlns:a="http://schemas.openxmlformats.org/drawingml/2006/main">
            <a:pathLst>
              <a:path w="2025748" h="213407">
                <a:moveTo>
                  <a:pt x="0" y="0"/>
                </a:moveTo>
                <a:lnTo>
                  <a:pt x="2025748" y="213407"/>
                </a:lnTo>
              </a:path>
            </a:pathLst>
          </a:custGeom>
          <a:noFill xmlns:a="http://schemas.openxmlformats.org/drawingml/2006/main"/>
          <a:ln xmlns:a="http://schemas.openxmlformats.org/drawingml/2006/main" w="11430">
            <a:solidFill>
              <a:srgbClr val="637D84"/>
            </a:solidFill>
            <a:prstDash val="solid"/>
          </a:ln>
        </p:spPr>
      </p:sp>
      <p:sp>
        <p:nvSpPr>
          <p:cNvPr id="9" name="">
            <a:extLst xmlns:a="http://schemas.openxmlformats.org/drawingml/2006/main">
              <a:ext uri="{FF2B5EF4-FFF2-40B4-BE49-F238E27FC236}">
                <a16:creationId xmlns:a16="http://schemas.microsoft.com/office/drawing/2014/main" id="{7A9D88D2-ABB8-443E-8232-A04ED4FA4D1F}"/>
              </a:ext>
            </a:extLst>
          </p:cNvPr>
          <p:cNvSpPr>
            <a:spLocks xmlns:a="http://schemas.openxmlformats.org/drawingml/2006/main" noGrp="1"/>
          </p:cNvSpPr>
          <p:nvPr/>
        </p:nvSpPr>
        <p:spPr>
          <a:xfrm xmlns:a="http://schemas.openxmlformats.org/drawingml/2006/main">
            <a:off x="552450" y="3524250"/>
            <a:ext cx="1762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Vacuola</a:t>
            </a:r>
          </a:p>
        </p:txBody>
      </p:sp>
      <p:sp>
        <p:nvSpPr>
          <p:cNvPr id="10" name="">
            <a:extLst xmlns:a="http://schemas.openxmlformats.org/drawingml/2006/main">
              <a:ext uri="{FF2B5EF4-FFF2-40B4-BE49-F238E27FC236}">
                <a16:creationId xmlns:a16="http://schemas.microsoft.com/office/drawing/2014/main" id="{0DF110DC-DF37-4BBB-8660-AA28FFAA61ED}"/>
              </a:ext>
            </a:extLst>
          </p:cNvPr>
          <p:cNvSpPr>
            <a:spLocks xmlns:a="http://schemas.openxmlformats.org/drawingml/2006/main" noGrp="1"/>
          </p:cNvSpPr>
          <p:nvPr/>
        </p:nvSpPr>
        <p:spPr>
          <a:xfrm xmlns:a="http://schemas.openxmlformats.org/drawingml/2006/main">
            <a:off x="2314575" y="3695700"/>
            <a:ext cx="2646442" cy="61513"/>
          </a:xfrm>
          <a:custGeom xmlns:a="http://schemas.openxmlformats.org/drawingml/2006/main">
            <a:pathLst>
              <a:path w="2646442" h="61513">
                <a:moveTo>
                  <a:pt x="0" y="0"/>
                </a:moveTo>
                <a:lnTo>
                  <a:pt x="2646442" y="61513"/>
                </a:lnTo>
              </a:path>
            </a:pathLst>
          </a:custGeom>
          <a:noFill xmlns:a="http://schemas.openxmlformats.org/drawingml/2006/main"/>
          <a:ln xmlns:a="http://schemas.openxmlformats.org/drawingml/2006/main" w="11430">
            <a:solidFill>
              <a:srgbClr val="637D84"/>
            </a:solidFill>
            <a:prstDash val="solid"/>
          </a:ln>
        </p:spPr>
      </p:sp>
      <p:sp>
        <p:nvSpPr>
          <p:cNvPr id="11" name="">
            <a:extLst xmlns:a="http://schemas.openxmlformats.org/drawingml/2006/main">
              <a:ext uri="{FF2B5EF4-FFF2-40B4-BE49-F238E27FC236}">
                <a16:creationId xmlns:a16="http://schemas.microsoft.com/office/drawing/2014/main" id="{FDD33E82-14C8-4EE9-9C26-C0D013CA879B}"/>
              </a:ext>
            </a:extLst>
          </p:cNvPr>
          <p:cNvSpPr>
            <a:spLocks xmlns:a="http://schemas.openxmlformats.org/drawingml/2006/main" noGrp="1"/>
          </p:cNvSpPr>
          <p:nvPr/>
        </p:nvSpPr>
        <p:spPr>
          <a:xfrm xmlns:a="http://schemas.openxmlformats.org/drawingml/2006/main">
            <a:off x="552450" y="5067300"/>
            <a:ext cx="1762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Mitocondria</a:t>
            </a:r>
          </a:p>
        </p:txBody>
      </p:sp>
      <p:sp>
        <p:nvSpPr>
          <p:cNvPr id="12" name="">
            <a:extLst xmlns:a="http://schemas.openxmlformats.org/drawingml/2006/main">
              <a:ext uri="{FF2B5EF4-FFF2-40B4-BE49-F238E27FC236}">
                <a16:creationId xmlns:a16="http://schemas.microsoft.com/office/drawing/2014/main" id="{57D7DE03-61D1-4D59-B17A-57368CE2DBEC}"/>
              </a:ext>
            </a:extLst>
          </p:cNvPr>
          <p:cNvSpPr>
            <a:spLocks xmlns:a="http://schemas.openxmlformats.org/drawingml/2006/main" noGrp="1"/>
          </p:cNvSpPr>
          <p:nvPr/>
        </p:nvSpPr>
        <p:spPr>
          <a:xfrm xmlns:a="http://schemas.openxmlformats.org/drawingml/2006/main">
            <a:off x="2314575" y="4533080"/>
            <a:ext cx="2681910" cy="705670"/>
          </a:xfrm>
          <a:custGeom xmlns:a="http://schemas.openxmlformats.org/drawingml/2006/main">
            <a:pathLst>
              <a:path w="2681910" h="705670">
                <a:moveTo>
                  <a:pt x="0" y="705670"/>
                </a:moveTo>
                <a:lnTo>
                  <a:pt x="2681910" y="0"/>
                </a:lnTo>
              </a:path>
            </a:pathLst>
          </a:custGeom>
          <a:noFill xmlns:a="http://schemas.openxmlformats.org/drawingml/2006/main"/>
          <a:ln xmlns:a="http://schemas.openxmlformats.org/drawingml/2006/main" w="11430">
            <a:solidFill>
              <a:srgbClr val="637D84"/>
            </a:solidFill>
            <a:prstDash val="solid"/>
          </a:ln>
        </p:spPr>
      </p:sp>
      <p:sp>
        <p:nvSpPr>
          <p:cNvPr id="13" name="">
            <a:extLst xmlns:a="http://schemas.openxmlformats.org/drawingml/2006/main">
              <a:ext uri="{FF2B5EF4-FFF2-40B4-BE49-F238E27FC236}">
                <a16:creationId xmlns:a16="http://schemas.microsoft.com/office/drawing/2014/main" id="{5300E91E-EC5B-4A18-9287-A1830896761E}"/>
              </a:ext>
            </a:extLst>
          </p:cNvPr>
          <p:cNvSpPr>
            <a:spLocks xmlns:a="http://schemas.openxmlformats.org/drawingml/2006/main" noGrp="1"/>
          </p:cNvSpPr>
          <p:nvPr/>
        </p:nvSpPr>
        <p:spPr>
          <a:xfrm xmlns:a="http://schemas.openxmlformats.org/drawingml/2006/main">
            <a:off x="9620250" y="2266950"/>
            <a:ext cx="2000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Cloroplastos</a:t>
            </a:r>
          </a:p>
        </p:txBody>
      </p:sp>
      <p:sp>
        <p:nvSpPr>
          <p:cNvPr id="14" name="">
            <a:extLst xmlns:a="http://schemas.openxmlformats.org/drawingml/2006/main">
              <a:ext uri="{FF2B5EF4-FFF2-40B4-BE49-F238E27FC236}">
                <a16:creationId xmlns:a16="http://schemas.microsoft.com/office/drawing/2014/main" id="{AE1042BB-50FA-4777-9DF4-45D5A4EAC80E}"/>
              </a:ext>
            </a:extLst>
          </p:cNvPr>
          <p:cNvSpPr>
            <a:spLocks xmlns:a="http://schemas.openxmlformats.org/drawingml/2006/main" noGrp="1"/>
          </p:cNvSpPr>
          <p:nvPr/>
        </p:nvSpPr>
        <p:spPr>
          <a:xfrm xmlns:a="http://schemas.openxmlformats.org/drawingml/2006/main">
            <a:off x="7576798" y="2438400"/>
            <a:ext cx="2043452" cy="631616"/>
          </a:xfrm>
          <a:custGeom xmlns:a="http://schemas.openxmlformats.org/drawingml/2006/main">
            <a:pathLst>
              <a:path w="2043452" h="631616">
                <a:moveTo>
                  <a:pt x="2043452" y="0"/>
                </a:moveTo>
                <a:lnTo>
                  <a:pt x="0" y="631616"/>
                </a:lnTo>
              </a:path>
            </a:pathLst>
          </a:custGeom>
          <a:noFill xmlns:a="http://schemas.openxmlformats.org/drawingml/2006/main"/>
          <a:ln xmlns:a="http://schemas.openxmlformats.org/drawingml/2006/main" w="11430">
            <a:solidFill>
              <a:srgbClr val="637D84"/>
            </a:solidFill>
            <a:prstDash val="solid"/>
          </a:ln>
        </p:spPr>
      </p:sp>
      <p:sp>
        <p:nvSpPr>
          <p:cNvPr id="15" name="">
            <a:extLst xmlns:a="http://schemas.openxmlformats.org/drawingml/2006/main">
              <a:ext uri="{FF2B5EF4-FFF2-40B4-BE49-F238E27FC236}">
                <a16:creationId xmlns:a16="http://schemas.microsoft.com/office/drawing/2014/main" id="{9D187814-389D-4CF6-A9C0-6F09E93C4BC0}"/>
              </a:ext>
            </a:extLst>
          </p:cNvPr>
          <p:cNvSpPr>
            <a:spLocks xmlns:a="http://schemas.openxmlformats.org/drawingml/2006/main" noGrp="1"/>
          </p:cNvSpPr>
          <p:nvPr/>
        </p:nvSpPr>
        <p:spPr>
          <a:xfrm xmlns:a="http://schemas.openxmlformats.org/drawingml/2006/main">
            <a:off x="9620250" y="3838575"/>
            <a:ext cx="2000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Núcleo</a:t>
            </a:r>
          </a:p>
        </p:txBody>
      </p:sp>
      <p:sp>
        <p:nvSpPr>
          <p:cNvPr id="16" name="">
            <a:extLst xmlns:a="http://schemas.openxmlformats.org/drawingml/2006/main">
              <a:ext uri="{FF2B5EF4-FFF2-40B4-BE49-F238E27FC236}">
                <a16:creationId xmlns:a16="http://schemas.microsoft.com/office/drawing/2014/main" id="{A227BE03-64FC-4802-9D3E-C90BC24B6C0B}"/>
              </a:ext>
            </a:extLst>
          </p:cNvPr>
          <p:cNvSpPr>
            <a:spLocks xmlns:a="http://schemas.openxmlformats.org/drawingml/2006/main" noGrp="1"/>
          </p:cNvSpPr>
          <p:nvPr/>
        </p:nvSpPr>
        <p:spPr>
          <a:xfrm xmlns:a="http://schemas.openxmlformats.org/drawingml/2006/main">
            <a:off x="6131468" y="3934554"/>
            <a:ext cx="3488782" cy="75471"/>
          </a:xfrm>
          <a:custGeom xmlns:a="http://schemas.openxmlformats.org/drawingml/2006/main">
            <a:pathLst>
              <a:path w="3488782" h="75471">
                <a:moveTo>
                  <a:pt x="3488782" y="75471"/>
                </a:moveTo>
                <a:lnTo>
                  <a:pt x="0" y="0"/>
                </a:lnTo>
              </a:path>
            </a:pathLst>
          </a:custGeom>
          <a:noFill xmlns:a="http://schemas.openxmlformats.org/drawingml/2006/main"/>
          <a:ln xmlns:a="http://schemas.openxmlformats.org/drawingml/2006/main" w="11430">
            <a:solidFill>
              <a:srgbClr val="637D84"/>
            </a:solidFill>
            <a:prstDash val="solid"/>
          </a:ln>
        </p:spPr>
      </p:sp>
      <p:sp>
        <p:nvSpPr>
          <p:cNvPr id="17" name="">
            <a:extLst xmlns:a="http://schemas.openxmlformats.org/drawingml/2006/main">
              <a:ext uri="{FF2B5EF4-FFF2-40B4-BE49-F238E27FC236}">
                <a16:creationId xmlns:a16="http://schemas.microsoft.com/office/drawing/2014/main" id="{FE2C2E43-A5D6-4206-B7F4-4FBC58023BEB}"/>
              </a:ext>
            </a:extLst>
          </p:cNvPr>
          <p:cNvSpPr>
            <a:spLocks xmlns:a="http://schemas.openxmlformats.org/drawingml/2006/main" noGrp="1"/>
          </p:cNvSpPr>
          <p:nvPr/>
        </p:nvSpPr>
        <p:spPr>
          <a:xfrm xmlns:a="http://schemas.openxmlformats.org/drawingml/2006/main">
            <a:off x="9620250" y="5238750"/>
            <a:ext cx="2000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Membrana</a:t>
            </a:r>
          </a:p>
        </p:txBody>
      </p:sp>
      <p:sp>
        <p:nvSpPr>
          <p:cNvPr id="18" name="">
            <a:extLst xmlns:a="http://schemas.openxmlformats.org/drawingml/2006/main">
              <a:ext uri="{FF2B5EF4-FFF2-40B4-BE49-F238E27FC236}">
                <a16:creationId xmlns:a16="http://schemas.microsoft.com/office/drawing/2014/main" id="{3E6A33AF-A649-4A54-92DD-67E1D5D14CB1}"/>
              </a:ext>
            </a:extLst>
          </p:cNvPr>
          <p:cNvSpPr>
            <a:spLocks xmlns:a="http://schemas.openxmlformats.org/drawingml/2006/main" noGrp="1"/>
          </p:cNvSpPr>
          <p:nvPr/>
        </p:nvSpPr>
        <p:spPr>
          <a:xfrm xmlns:a="http://schemas.openxmlformats.org/drawingml/2006/main">
            <a:off x="8175325" y="4267068"/>
            <a:ext cx="1444925" cy="1143132"/>
          </a:xfrm>
          <a:custGeom xmlns:a="http://schemas.openxmlformats.org/drawingml/2006/main">
            <a:pathLst>
              <a:path w="1444925" h="1143132">
                <a:moveTo>
                  <a:pt x="1444925" y="1143132"/>
                </a:moveTo>
                <a:lnTo>
                  <a:pt x="0" y="0"/>
                </a:lnTo>
              </a:path>
            </a:pathLst>
          </a:custGeom>
          <a:noFill xmlns:a="http://schemas.openxmlformats.org/drawingml/2006/main"/>
          <a:ln xmlns:a="http://schemas.openxmlformats.org/drawingml/2006/main" w="11430">
            <a:solidFill>
              <a:srgbClr val="637D84"/>
            </a:solidFill>
            <a:prstDash val="solid"/>
          </a:ln>
        </p:spPr>
      </p:sp>
      <p:sp>
        <p:nvSpPr>
          <p:cNvPr id="19" name="">
            <a:extLst xmlns:a="http://schemas.openxmlformats.org/drawingml/2006/main">
              <a:ext uri="{FF2B5EF4-FFF2-40B4-BE49-F238E27FC236}">
                <a16:creationId xmlns:a16="http://schemas.microsoft.com/office/drawing/2014/main" id="{196818E3-BD9A-4DF4-8864-FC1F1FCE8961}"/>
              </a:ext>
            </a:extLst>
          </p:cNvPr>
          <p:cNvSpPr>
            <a:spLocks xmlns:a="http://schemas.openxmlformats.org/drawingml/2006/main" noGrp="1"/>
          </p:cNvSpPr>
          <p:nvPr/>
        </p:nvSpPr>
        <p:spPr>
          <a:xfrm xmlns:a="http://schemas.openxmlformats.org/drawingml/2006/main">
            <a:off x="571500" y="610552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1" i="0">
                <a:solidFill>
                  <a:srgbClr val="203E49"/>
                </a:solidFill>
                <a:latin typeface="DejaVu Sans"/>
                <a:ea typeface="DejaVu Sans"/>
                <a:cs typeface="DejaVu Sans"/>
              </a:defRPr>
            </a:defPPr>
          </a:lstStyle>
          <a:p xmlns:a="http://schemas.openxmlformats.org/drawingml/2006/main">
            <a:pPr algn="ctr">
              <a:lnSpc>
                <a:spcPct val="110000"/>
              </a:lnSpc>
              <a:buNone/>
              <a:defRPr sz="1725" b="1" i="0">
                <a:solidFill>
                  <a:srgbClr val="203E49"/>
                </a:solidFill>
                <a:latin typeface="DejaVu Sans"/>
                <a:ea typeface="DejaVu Sans"/>
                <a:cs typeface="DejaVu Sans"/>
              </a:defRPr>
            </a:pPr>
            <a:r>
              <a:rPr sz="1725" b="1" i="0">
                <a:solidFill>
                  <a:srgbClr val="203E49"/>
                </a:solidFill>
                <a:latin typeface="DejaVu Sans"/>
                <a:ea typeface="DejaVu Sans"/>
                <a:cs typeface="DejaVu Sans"/>
              </a:rPr>
              <a:t>En Santa Elena: Conticribra weissflogii y Halamphora coffeiformis</a:t>
            </a:r>
          </a:p>
        </p:txBody>
      </p:sp>
    </p:spTree>
    <p:extLst>
      <p:ext uri="{BB962C8B-B14F-4D97-AF65-F5344CB8AC3E}">
        <p14:creationId xmlns:p14="http://schemas.microsoft.com/office/powerpoint/2010/main" val="1706950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4DBFD3-B1B3-4B6A-8DC0-1E69990CFFEB}"/>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Composición y reservas celulares</a:t>
            </a:r>
          </a:p>
        </p:txBody>
      </p:sp>
      <p:sp>
        <p:nvSpPr>
          <p:cNvPr id="2" name="">
            <a:extLst xmlns:a="http://schemas.openxmlformats.org/drawingml/2006/main">
              <a:ext uri="{FF2B5EF4-FFF2-40B4-BE49-F238E27FC236}">
                <a16:creationId xmlns:a16="http://schemas.microsoft.com/office/drawing/2014/main" id="{7BB27E97-88CE-41BE-B9A3-9AF3D07FD9CD}"/>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Las proporciones cambian con la especie y el ambiente.</a:t>
            </a:r>
          </a:p>
        </p:txBody>
      </p:sp>
      <p:sp>
        <p:nvSpPr>
          <p:cNvPr id="3" name="">
            <a:extLst xmlns:a="http://schemas.openxmlformats.org/drawingml/2006/main">
              <a:ext uri="{FF2B5EF4-FFF2-40B4-BE49-F238E27FC236}">
                <a16:creationId xmlns:a16="http://schemas.microsoft.com/office/drawing/2014/main" id="{9C23E636-42BE-4987-ABF9-7384DFFCEA0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3011658-39B9-4FA9-AD5C-185548C3AFCA}"/>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[4] [5] [8] [10]. Esquemas conceptuales.</a:t>
            </a:r>
          </a:p>
        </p:txBody>
      </p:sp>
      <p:sp>
        <p:nvSpPr>
          <p:cNvPr id="5" name="">
            <a:extLst xmlns:a="http://schemas.openxmlformats.org/drawingml/2006/main">
              <a:ext uri="{FF2B5EF4-FFF2-40B4-BE49-F238E27FC236}">
                <a16:creationId xmlns:a16="http://schemas.microsoft.com/office/drawing/2014/main" id="{20E1BA3D-AF2E-4F8A-BE71-C57755EF50CC}"/>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07 / 27</a:t>
            </a:r>
          </a:p>
        </p:txBody>
      </p:sp>
      <p:graphicFrame>
        <p:nvGraphicFramePr>
          <p:cNvPr id="6" name="">
            <a:extLst xmlns:a="http://schemas.openxmlformats.org/drawingml/2006/main">
              <a:ext uri="{FF2B5EF4-FFF2-40B4-BE49-F238E27FC236}">
                <a16:creationId xmlns:a16="http://schemas.microsoft.com/office/drawing/2014/main" id="{66BC0ECC-CC5E-48B4-BECA-37456A5E66A8}"/>
              </a:ext>
            </a:extLst>
          </p:cNvPr>
          <p:cNvGraphicFramePr/>
          <p:nvPr/>
        </p:nvGraphicFramePr>
        <p:xfrm>
          <a:off xmlns:a="http://schemas.openxmlformats.org/drawingml/2006/main" x="552450" y="1971675"/>
          <a:ext xmlns:a="http://schemas.openxmlformats.org/drawingml/2006/main" cx="11087100" cy="4000500"/>
        </p:xfrm>
        <a:graphic xmlns:a="http://schemas.openxmlformats.org/drawingml/2006/main">
          <a:graphicData uri="http://schemas.openxmlformats.org/drawingml/2006/table">
            <a:tbl>
              <a:tblPr/>
              <a:tblGrid>
                <a:gridCol w="2571750"/>
                <a:gridCol w="4257675"/>
                <a:gridCol w="4257675"/>
              </a:tblGrid>
              <a:tr h="552450">
                <a:tc>
                  <a:txBody>
                    <a:bodyPr lIns="104775" tIns="104775" rIns="104775" bIns="104775"/>
                    <a:lstStyle/>
                    <a:p>
                      <a:pPr>
                        <a:lnSpc>
                          <a:spcPct val="108000"/>
                        </a:lnSpc>
                        <a:buNone/>
                      </a:pPr>
                      <a:r>
                        <a:rPr sz="1725" b="1">
                          <a:solidFill>
                            <a:srgbClr val="FFFFFF"/>
                          </a:solidFill>
                          <a:latin typeface="DejaVu Sans"/>
                          <a:ea typeface="DejaVu Sans"/>
                          <a:cs typeface="DejaVu Sans"/>
                        </a:rPr>
                        <a:t>Característica</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04775" tIns="104775" rIns="104775" bIns="104775"/>
                    <a:lstStyle/>
                    <a:p>
                      <a:pPr>
                        <a:lnSpc>
                          <a:spcPct val="108000"/>
                        </a:lnSpc>
                        <a:buNone/>
                      </a:pPr>
                      <a:r>
                        <a:rPr sz="1725" b="1">
                          <a:solidFill>
                            <a:srgbClr val="FFFFFF"/>
                          </a:solidFill>
                          <a:latin typeface="DejaVu Sans"/>
                          <a:ea typeface="DejaVu Sans"/>
                          <a:cs typeface="DejaVu Sans"/>
                        </a:rPr>
                        <a:t>Algas verdes: ejemplos</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04775" tIns="104775" rIns="104775" bIns="104775"/>
                    <a:lstStyle/>
                    <a:p>
                      <a:pPr>
                        <a:lnSpc>
                          <a:spcPct val="108000"/>
                        </a:lnSpc>
                        <a:buNone/>
                      </a:pPr>
                      <a:r>
                        <a:rPr sz="1725" b="1">
                          <a:solidFill>
                            <a:srgbClr val="FFFFFF"/>
                          </a:solidFill>
                          <a:latin typeface="DejaVu Sans"/>
                          <a:ea typeface="DejaVu Sans"/>
                          <a:cs typeface="DejaVu Sans"/>
                        </a:rPr>
                        <a:t>Diatomeas: ejemplos</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819150">
                <a:tc>
                  <a:txBody>
                    <a:bodyPr lIns="104775" tIns="104775" rIns="104775" bIns="104775"/>
                    <a:lstStyle/>
                    <a:p>
                      <a:pPr>
                        <a:lnSpc>
                          <a:spcPct val="108000"/>
                        </a:lnSpc>
                        <a:buNone/>
                      </a:pPr>
                      <a:r>
                        <a:rPr sz="1725" b="1">
                          <a:solidFill>
                            <a:srgbClr val="203E49"/>
                          </a:solidFill>
                          <a:latin typeface="DejaVu Sans"/>
                          <a:ea typeface="DejaVu Sans"/>
                          <a:cs typeface="DejaVu Sans"/>
                        </a:rPr>
                        <a:t>Pigmentos</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Clorofilas a y b</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Clorofilas a y c, fucoxantina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819150">
                <a:tc>
                  <a:txBody>
                    <a:bodyPr lIns="104775" tIns="104775" rIns="104775" bIns="104775"/>
                    <a:lstStyle/>
                    <a:p>
                      <a:pPr>
                        <a:lnSpc>
                          <a:spcPct val="108000"/>
                        </a:lnSpc>
                        <a:buNone/>
                      </a:pPr>
                      <a:r>
                        <a:rPr sz="1725" b="1">
                          <a:solidFill>
                            <a:srgbClr val="203E49"/>
                          </a:solidFill>
                          <a:latin typeface="DejaVu Sans"/>
                          <a:ea typeface="DejaVu Sans"/>
                          <a:cs typeface="DejaVu Sans"/>
                        </a:rPr>
                        <a:t>Reservas</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Almidón y lípidos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Crisolaminarina y lípidos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904875">
                <a:tc>
                  <a:txBody>
                    <a:bodyPr lIns="104775" tIns="104775" rIns="104775" bIns="104775"/>
                    <a:lstStyle/>
                    <a:p>
                      <a:pPr>
                        <a:lnSpc>
                          <a:spcPct val="108000"/>
                        </a:lnSpc>
                        <a:buNone/>
                      </a:pPr>
                      <a:r>
                        <a:rPr sz="1725" b="1">
                          <a:solidFill>
                            <a:srgbClr val="203E49"/>
                          </a:solidFill>
                          <a:latin typeface="DejaVu Sans"/>
                          <a:ea typeface="DejaVu Sans"/>
                          <a:cs typeface="DejaVu Sans"/>
                        </a:rPr>
                        <a:t>Cubierta</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Pared variable o sin pared rígida</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Frústulo de sílice y materia orgánica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904875">
                <a:tc>
                  <a:txBody>
                    <a:bodyPr lIns="104775" tIns="104775" rIns="104775" bIns="104775"/>
                    <a:lstStyle/>
                    <a:p>
                      <a:pPr>
                        <a:lnSpc>
                          <a:spcPct val="108000"/>
                        </a:lnSpc>
                        <a:buNone/>
                      </a:pPr>
                      <a:r>
                        <a:rPr sz="1725" b="1">
                          <a:solidFill>
                            <a:srgbClr val="203E49"/>
                          </a:solidFill>
                          <a:latin typeface="DejaVu Sans"/>
                          <a:ea typeface="DejaVu Sans"/>
                          <a:cs typeface="DejaVu Sans"/>
                        </a:rPr>
                        <a:t>Componentes</a:t>
                      </a:r>
                    </a:p>
                    <a:p>
                      <a:pPr>
                        <a:lnSpc>
                          <a:spcPct val="108000"/>
                        </a:lnSpc>
                        <a:buNone/>
                      </a:pPr>
                      <a:r>
                        <a:rPr sz="1725" b="1">
                          <a:solidFill>
                            <a:srgbClr val="203E49"/>
                          </a:solidFill>
                          <a:latin typeface="DejaVu Sans"/>
                          <a:ea typeface="DejaVu Sans"/>
                          <a:cs typeface="DejaVu Sans"/>
                        </a:rPr>
                        <a:t>comunes</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Proteínas, lípidos, carbohidratos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Proteínas, lípidos, carbohidratos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CF001A6-2BBE-4C90-B443-801ACCDD1DB2}"/>
              </a:ext>
            </a:extLst>
          </p:cNvPr>
          <p:cNvSpPr>
            <a:spLocks xmlns:a="http://schemas.openxmlformats.org/drawingml/2006/main" noGrp="1"/>
          </p:cNvSpPr>
          <p:nvPr/>
        </p:nvSpPr>
        <p:spPr>
          <a:xfrm xmlns:a="http://schemas.openxmlformats.org/drawingml/2006/main">
            <a:off x="571500" y="618172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1" i="0">
                <a:solidFill>
                  <a:srgbClr val="168E91"/>
                </a:solidFill>
                <a:latin typeface="DejaVu Sans"/>
                <a:ea typeface="DejaVu Sans"/>
                <a:cs typeface="DejaVu Sans"/>
              </a:defRPr>
            </a:defPPr>
          </a:lstStyle>
          <a:p xmlns:a="http://schemas.openxmlformats.org/drawingml/2006/main">
            <a:pPr algn="ctr">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La composición responde a la identidad y al estado fisiológico</a:t>
            </a:r>
          </a:p>
        </p:txBody>
      </p:sp>
    </p:spTree>
    <p:extLst>
      <p:ext uri="{BB962C8B-B14F-4D97-AF65-F5344CB8AC3E}">
        <p14:creationId xmlns:p14="http://schemas.microsoft.com/office/powerpoint/2010/main" val="4242809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66D444F-FBED-43AA-8DE9-AD823F7C52BC}"/>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Vistas y caracteres para identificación</a:t>
            </a:r>
          </a:p>
        </p:txBody>
      </p:sp>
      <p:sp>
        <p:nvSpPr>
          <p:cNvPr id="2" name="">
            <a:extLst xmlns:a="http://schemas.openxmlformats.org/drawingml/2006/main">
              <a:ext uri="{FF2B5EF4-FFF2-40B4-BE49-F238E27FC236}">
                <a16:creationId xmlns:a16="http://schemas.microsoft.com/office/drawing/2014/main" id="{DF9A980C-6C4B-497B-BB4D-7C822B032259}"/>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Ejemplos de morfologías céntrica y pennada.</a:t>
            </a:r>
          </a:p>
        </p:txBody>
      </p:sp>
      <p:sp>
        <p:nvSpPr>
          <p:cNvPr id="3" name="">
            <a:extLst xmlns:a="http://schemas.openxmlformats.org/drawingml/2006/main">
              <a:ext uri="{FF2B5EF4-FFF2-40B4-BE49-F238E27FC236}">
                <a16:creationId xmlns:a16="http://schemas.microsoft.com/office/drawing/2014/main" id="{AA4C92BD-5A06-4DE9-97FF-79C304CD6AC0}"/>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63A09364-4AAF-4DF4-B245-582A01103792}"/>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[4] [10]. Esquemas conceptuales.</a:t>
            </a:r>
          </a:p>
        </p:txBody>
      </p:sp>
      <p:sp>
        <p:nvSpPr>
          <p:cNvPr id="5" name="">
            <a:extLst xmlns:a="http://schemas.openxmlformats.org/drawingml/2006/main">
              <a:ext uri="{FF2B5EF4-FFF2-40B4-BE49-F238E27FC236}">
                <a16:creationId xmlns:a16="http://schemas.microsoft.com/office/drawing/2014/main" id="{4D87D051-B133-43E0-A61F-C3160A4EC2F0}"/>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08 / 27</a:t>
            </a:r>
          </a:p>
        </p:txBody>
      </p:sp>
      <p:pic>
        <p:nvPicPr>
          <p:cNvPr id="6" name="">
            <a:extLst xmlns:a="http://schemas.openxmlformats.org/drawingml/2006/main">
              <a:ext uri="{FF2B5EF4-FFF2-40B4-BE49-F238E27FC236}">
                <a16:creationId xmlns:a16="http://schemas.microsoft.com/office/drawing/2014/main" id="{0128E8F4-6B6F-4D6E-B069-4DB4157B707F}"/>
              </a:ext>
            </a:extLst>
          </p:cNvPr>
          <p:cNvPicPr>
            <a:picLocks xmlns:a="http://schemas.openxmlformats.org/drawingml/2006/main" noChangeAspect="1"/>
          </p:cNvPicPr>
          <p:nvPr/>
        </p:nvPicPr>
        <p:blipFill>
          <a:blip xmlns:r="http://schemas.openxmlformats.org/officeDocument/2006/relationships" xmlns:a="http://schemas.openxmlformats.org/drawingml/2006/main" r:embed="Ra1c75948c114467b"/>
          <a:srcRect xmlns:a="http://schemas.openxmlformats.org/drawingml/2006/main" l="39000" t="0" r="40000" b="0"/>
          <a:stretch xmlns:a="http://schemas.openxmlformats.org/drawingml/2006/main"/>
        </p:blipFill>
        <p:spPr>
          <a:xfrm xmlns:a="http://schemas.openxmlformats.org/drawingml/2006/main">
            <a:off x="2908678" y="1714500"/>
            <a:ext cx="1421644" cy="38100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2221CB5-8D70-47C1-A864-47BF2C689967}"/>
              </a:ext>
            </a:extLst>
          </p:cNvPr>
          <p:cNvPicPr>
            <a:picLocks xmlns:a="http://schemas.openxmlformats.org/drawingml/2006/main" noChangeAspect="1"/>
          </p:cNvPicPr>
          <p:nvPr/>
        </p:nvPicPr>
        <p:blipFill>
          <a:blip xmlns:r="http://schemas.openxmlformats.org/officeDocument/2006/relationships" xmlns:a="http://schemas.openxmlformats.org/drawingml/2006/main" r:embed="R893bd20ad0634dc6"/>
          <a:srcRect xmlns:a="http://schemas.openxmlformats.org/drawingml/2006/main" l="62000" t="0" r="0" b="0"/>
          <a:stretch xmlns:a="http://schemas.openxmlformats.org/drawingml/2006/main"/>
        </p:blipFill>
        <p:spPr>
          <a:xfrm xmlns:a="http://schemas.openxmlformats.org/drawingml/2006/main">
            <a:off x="7573829" y="1905000"/>
            <a:ext cx="2283093" cy="3381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EF0244E-5D56-4506-B0C1-28BD708EC4BB}"/>
              </a:ext>
            </a:extLst>
          </p:cNvPr>
          <p:cNvSpPr>
            <a:spLocks xmlns:a="http://schemas.openxmlformats.org/drawingml/2006/main" noGrp="1"/>
          </p:cNvSpPr>
          <p:nvPr/>
        </p:nvSpPr>
        <p:spPr>
          <a:xfrm xmlns:a="http://schemas.openxmlformats.org/drawingml/2006/main">
            <a:off x="1524000" y="5581650"/>
            <a:ext cx="4286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168E91"/>
                </a:solidFill>
                <a:latin typeface="DejaVu Sans"/>
                <a:ea typeface="DejaVu Sans"/>
                <a:cs typeface="DejaVu Sans"/>
              </a:defRPr>
            </a:defPPr>
          </a:lstStyle>
          <a:p xmlns:a="http://schemas.openxmlformats.org/drawingml/2006/main">
            <a:pPr algn="ctr">
              <a:lnSpc>
                <a:spcPct val="110000"/>
              </a:lnSpc>
              <a:buNone/>
              <a:defRPr sz="2025" b="1" i="0">
                <a:solidFill>
                  <a:srgbClr val="168E91"/>
                </a:solidFill>
                <a:latin typeface="DejaVu Sans"/>
                <a:ea typeface="DejaVu Sans"/>
                <a:cs typeface="DejaVu Sans"/>
              </a:defRPr>
            </a:pPr>
            <a:r>
              <a:rPr sz="2025" b="1" i="0">
                <a:solidFill>
                  <a:srgbClr val="168E91"/>
                </a:solidFill>
                <a:latin typeface="DejaVu Sans"/>
                <a:ea typeface="DejaVu Sans"/>
                <a:cs typeface="DejaVu Sans"/>
              </a:rPr>
              <a:t>Pennada</a:t>
            </a:r>
          </a:p>
          <a:p xmlns:a="http://schemas.openxmlformats.org/drawingml/2006/main">
            <a:pPr algn="ctr">
              <a:lnSpc>
                <a:spcPct val="110000"/>
              </a:lnSpc>
              <a:buNone/>
              <a:defRPr sz="2025" b="1" i="0">
                <a:solidFill>
                  <a:srgbClr val="168E91"/>
                </a:solidFill>
                <a:latin typeface="DejaVu Sans"/>
                <a:ea typeface="DejaVu Sans"/>
                <a:cs typeface="DejaVu Sans"/>
              </a:defRPr>
            </a:pPr>
            <a:r>
              <a:rPr sz="2025" b="1" i="0">
                <a:solidFill>
                  <a:srgbClr val="168E91"/>
                </a:solidFill>
                <a:latin typeface="DejaVu Sans"/>
                <a:ea typeface="DejaVu Sans"/>
                <a:cs typeface="DejaVu Sans"/>
              </a:rPr>
              <a:t>Simetría bilateral</a:t>
            </a:r>
          </a:p>
        </p:txBody>
      </p:sp>
      <p:sp>
        <p:nvSpPr>
          <p:cNvPr id="9" name="">
            <a:extLst xmlns:a="http://schemas.openxmlformats.org/drawingml/2006/main">
              <a:ext uri="{FF2B5EF4-FFF2-40B4-BE49-F238E27FC236}">
                <a16:creationId xmlns:a16="http://schemas.microsoft.com/office/drawing/2014/main" id="{5EF025CC-F850-43FB-A88B-E14D5BA0CA1B}"/>
              </a:ext>
            </a:extLst>
          </p:cNvPr>
          <p:cNvSpPr>
            <a:spLocks xmlns:a="http://schemas.openxmlformats.org/drawingml/2006/main" noGrp="1"/>
          </p:cNvSpPr>
          <p:nvPr/>
        </p:nvSpPr>
        <p:spPr>
          <a:xfrm xmlns:a="http://schemas.openxmlformats.org/drawingml/2006/main">
            <a:off x="6762750" y="5581650"/>
            <a:ext cx="4286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B78A37"/>
                </a:solidFill>
                <a:latin typeface="DejaVu Sans"/>
                <a:ea typeface="DejaVu Sans"/>
                <a:cs typeface="DejaVu Sans"/>
              </a:defRPr>
            </a:defPPr>
          </a:lstStyle>
          <a:p xmlns:a="http://schemas.openxmlformats.org/drawingml/2006/main">
            <a:pPr algn="ctr">
              <a:lnSpc>
                <a:spcPct val="110000"/>
              </a:lnSpc>
              <a:buNone/>
              <a:defRPr sz="2025" b="1" i="0">
                <a:solidFill>
                  <a:srgbClr val="B78A37"/>
                </a:solidFill>
                <a:latin typeface="DejaVu Sans"/>
                <a:ea typeface="DejaVu Sans"/>
                <a:cs typeface="DejaVu Sans"/>
              </a:defRPr>
            </a:pPr>
            <a:r>
              <a:rPr sz="2025" b="1" i="0">
                <a:solidFill>
                  <a:srgbClr val="B78A37"/>
                </a:solidFill>
                <a:latin typeface="DejaVu Sans"/>
                <a:ea typeface="DejaVu Sans"/>
                <a:cs typeface="DejaVu Sans"/>
              </a:rPr>
              <a:t>Céntrica</a:t>
            </a:r>
          </a:p>
          <a:p xmlns:a="http://schemas.openxmlformats.org/drawingml/2006/main">
            <a:pPr algn="ctr">
              <a:lnSpc>
                <a:spcPct val="110000"/>
              </a:lnSpc>
              <a:buNone/>
              <a:defRPr sz="2025" b="1" i="0">
                <a:solidFill>
                  <a:srgbClr val="B78A37"/>
                </a:solidFill>
                <a:latin typeface="DejaVu Sans"/>
                <a:ea typeface="DejaVu Sans"/>
                <a:cs typeface="DejaVu Sans"/>
              </a:defRPr>
            </a:pPr>
            <a:r>
              <a:rPr sz="2025" b="1" i="0">
                <a:solidFill>
                  <a:srgbClr val="B78A37"/>
                </a:solidFill>
                <a:latin typeface="DejaVu Sans"/>
                <a:ea typeface="DejaVu Sans"/>
                <a:cs typeface="DejaVu Sans"/>
              </a:rPr>
              <a:t>Simetría radial</a:t>
            </a:r>
          </a:p>
        </p:txBody>
      </p:sp>
      <p:sp>
        <p:nvSpPr>
          <p:cNvPr id="10" name="">
            <a:extLst xmlns:a="http://schemas.openxmlformats.org/drawingml/2006/main">
              <a:ext uri="{FF2B5EF4-FFF2-40B4-BE49-F238E27FC236}">
                <a16:creationId xmlns:a16="http://schemas.microsoft.com/office/drawing/2014/main" id="{876EC902-7F79-487E-9F16-1AB3B816085B}"/>
              </a:ext>
            </a:extLst>
          </p:cNvPr>
          <p:cNvSpPr>
            <a:spLocks xmlns:a="http://schemas.openxmlformats.org/drawingml/2006/main" noGrp="1"/>
          </p:cNvSpPr>
          <p:nvPr/>
        </p:nvSpPr>
        <p:spPr>
          <a:xfrm xmlns:a="http://schemas.openxmlformats.org/drawingml/2006/main">
            <a:off x="619125" y="2952750"/>
            <a:ext cx="17621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Rafe</a:t>
            </a:r>
          </a:p>
        </p:txBody>
      </p:sp>
      <p:sp>
        <p:nvSpPr>
          <p:cNvPr id="11" name="">
            <a:extLst xmlns:a="http://schemas.openxmlformats.org/drawingml/2006/main">
              <a:ext uri="{FF2B5EF4-FFF2-40B4-BE49-F238E27FC236}">
                <a16:creationId xmlns:a16="http://schemas.microsoft.com/office/drawing/2014/main" id="{66963346-C9C0-4BC5-ADC6-A4F1FBA5224D}"/>
              </a:ext>
            </a:extLst>
          </p:cNvPr>
          <p:cNvSpPr>
            <a:spLocks xmlns:a="http://schemas.openxmlformats.org/drawingml/2006/main" noGrp="1"/>
          </p:cNvSpPr>
          <p:nvPr/>
        </p:nvSpPr>
        <p:spPr>
          <a:xfrm xmlns:a="http://schemas.openxmlformats.org/drawingml/2006/main">
            <a:off x="1600200" y="3171825"/>
            <a:ext cx="2000250" cy="257175"/>
          </a:xfrm>
          <a:custGeom xmlns:a="http://schemas.openxmlformats.org/drawingml/2006/main">
            <a:pathLst>
              <a:path w="2000250" h="257175">
                <a:moveTo>
                  <a:pt x="0" y="0"/>
                </a:moveTo>
                <a:lnTo>
                  <a:pt x="2000250" y="257175"/>
                </a:lnTo>
              </a:path>
            </a:pathLst>
          </a:custGeom>
          <a:noFill xmlns:a="http://schemas.openxmlformats.org/drawingml/2006/main"/>
          <a:ln xmlns:a="http://schemas.openxmlformats.org/drawingml/2006/main" w="11430">
            <a:solidFill>
              <a:srgbClr val="637D84"/>
            </a:solidFill>
            <a:prstDash val="solid"/>
          </a:ln>
        </p:spPr>
      </p:sp>
      <p:sp>
        <p:nvSpPr>
          <p:cNvPr id="12" name="">
            <a:extLst xmlns:a="http://schemas.openxmlformats.org/drawingml/2006/main">
              <a:ext uri="{FF2B5EF4-FFF2-40B4-BE49-F238E27FC236}">
                <a16:creationId xmlns:a16="http://schemas.microsoft.com/office/drawing/2014/main" id="{D74E01CE-9834-42C2-943A-C76197B9F1FE}"/>
              </a:ext>
            </a:extLst>
          </p:cNvPr>
          <p:cNvSpPr>
            <a:spLocks xmlns:a="http://schemas.openxmlformats.org/drawingml/2006/main" noGrp="1"/>
          </p:cNvSpPr>
          <p:nvPr/>
        </p:nvSpPr>
        <p:spPr>
          <a:xfrm xmlns:a="http://schemas.openxmlformats.org/drawingml/2006/main">
            <a:off x="9620250" y="1885950"/>
            <a:ext cx="1952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Areolas</a:t>
            </a:r>
          </a:p>
        </p:txBody>
      </p:sp>
      <p:sp>
        <p:nvSpPr>
          <p:cNvPr id="13" name="">
            <a:extLst xmlns:a="http://schemas.openxmlformats.org/drawingml/2006/main">
              <a:ext uri="{FF2B5EF4-FFF2-40B4-BE49-F238E27FC236}">
                <a16:creationId xmlns:a16="http://schemas.microsoft.com/office/drawing/2014/main" id="{2811D15A-A005-4779-9DE1-0BA956E063A6}"/>
              </a:ext>
            </a:extLst>
          </p:cNvPr>
          <p:cNvSpPr>
            <a:spLocks xmlns:a="http://schemas.openxmlformats.org/drawingml/2006/main" noGrp="1"/>
          </p:cNvSpPr>
          <p:nvPr/>
        </p:nvSpPr>
        <p:spPr>
          <a:xfrm xmlns:a="http://schemas.openxmlformats.org/drawingml/2006/main">
            <a:off x="619125" y="479107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203E49"/>
                </a:solidFill>
                <a:latin typeface="DejaVu Sans"/>
                <a:ea typeface="DejaVu Sans"/>
                <a:cs typeface="DejaVu Sans"/>
              </a:defRPr>
            </a:defPPr>
          </a:lstStyle>
          <a:p xmlns:a="http://schemas.openxmlformats.org/drawingml/2006/main">
            <a:pPr algn="l">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Estrías</a:t>
            </a:r>
          </a:p>
        </p:txBody>
      </p:sp>
      <p:sp>
        <p:nvSpPr>
          <p:cNvPr id="14" name="">
            <a:extLst xmlns:a="http://schemas.openxmlformats.org/drawingml/2006/main">
              <a:ext uri="{FF2B5EF4-FFF2-40B4-BE49-F238E27FC236}">
                <a16:creationId xmlns:a16="http://schemas.microsoft.com/office/drawing/2014/main" id="{B28E0076-89A5-4138-899A-4970FE3D77B0}"/>
              </a:ext>
            </a:extLst>
          </p:cNvPr>
          <p:cNvSpPr>
            <a:spLocks xmlns:a="http://schemas.openxmlformats.org/drawingml/2006/main" noGrp="1"/>
          </p:cNvSpPr>
          <p:nvPr/>
        </p:nvSpPr>
        <p:spPr>
          <a:xfrm xmlns:a="http://schemas.openxmlformats.org/drawingml/2006/main">
            <a:off x="1533525" y="4419600"/>
            <a:ext cx="2200275" cy="581025"/>
          </a:xfrm>
          <a:custGeom xmlns:a="http://schemas.openxmlformats.org/drawingml/2006/main">
            <a:pathLst>
              <a:path w="2200275" h="581025">
                <a:moveTo>
                  <a:pt x="0" y="581025"/>
                </a:moveTo>
                <a:lnTo>
                  <a:pt x="2200275" y="0"/>
                </a:lnTo>
              </a:path>
            </a:pathLst>
          </a:custGeom>
          <a:noFill xmlns:a="http://schemas.openxmlformats.org/drawingml/2006/main"/>
          <a:ln xmlns:a="http://schemas.openxmlformats.org/drawingml/2006/main" w="11430">
            <a:solidFill>
              <a:srgbClr val="637D84"/>
            </a:solidFill>
            <a:prstDash val="solid"/>
          </a:ln>
        </p:spPr>
      </p:sp>
    </p:spTree>
    <p:extLst>
      <p:ext uri="{BB962C8B-B14F-4D97-AF65-F5344CB8AC3E}">
        <p14:creationId xmlns:p14="http://schemas.microsoft.com/office/powerpoint/2010/main" val="9198538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E6E3DD-3EF6-4A45-887A-47E3FE22AED1}"/>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Fotosíntesis: energía y carbono</a:t>
            </a:r>
          </a:p>
        </p:txBody>
      </p:sp>
      <p:sp>
        <p:nvSpPr>
          <p:cNvPr id="2" name="">
            <a:extLst xmlns:a="http://schemas.openxmlformats.org/drawingml/2006/main">
              <a:ext uri="{FF2B5EF4-FFF2-40B4-BE49-F238E27FC236}">
                <a16:creationId xmlns:a16="http://schemas.microsoft.com/office/drawing/2014/main" id="{F4FE9FAB-C8D0-460B-ACE9-3FDB272D7181}"/>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Las reacciones luminosas y la fijación de carbono se acoplan.</a:t>
            </a:r>
          </a:p>
        </p:txBody>
      </p:sp>
      <p:sp>
        <p:nvSpPr>
          <p:cNvPr id="3" name="">
            <a:extLst xmlns:a="http://schemas.openxmlformats.org/drawingml/2006/main">
              <a:ext uri="{FF2B5EF4-FFF2-40B4-BE49-F238E27FC236}">
                <a16:creationId xmlns:a16="http://schemas.microsoft.com/office/drawing/2014/main" id="{78E41700-B1DF-4D48-8F48-B7B8DDCC5C5A}"/>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D1E1FB68-4EC1-484F-9943-8E2A96E15A2C}"/>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[5] [6] [16]. Esquemas conceptuales.</a:t>
            </a:r>
          </a:p>
        </p:txBody>
      </p:sp>
      <p:sp>
        <p:nvSpPr>
          <p:cNvPr id="5" name="">
            <a:extLst xmlns:a="http://schemas.openxmlformats.org/drawingml/2006/main">
              <a:ext uri="{FF2B5EF4-FFF2-40B4-BE49-F238E27FC236}">
                <a16:creationId xmlns:a16="http://schemas.microsoft.com/office/drawing/2014/main" id="{B5D8646F-3AD3-492A-BE97-EA2030868540}"/>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09 / 27</a:t>
            </a:r>
          </a:p>
        </p:txBody>
      </p:sp>
      <p:pic>
        <p:nvPicPr>
          <p:cNvPr id="6" name="">
            <a:extLst xmlns:a="http://schemas.openxmlformats.org/drawingml/2006/main">
              <a:ext uri="{FF2B5EF4-FFF2-40B4-BE49-F238E27FC236}">
                <a16:creationId xmlns:a16="http://schemas.microsoft.com/office/drawing/2014/main" id="{35236794-12C0-46B7-8204-6CFAA2C093B2}"/>
              </a:ext>
            </a:extLst>
          </p:cNvPr>
          <p:cNvPicPr>
            <a:picLocks xmlns:a="http://schemas.openxmlformats.org/drawingml/2006/main" noChangeAspect="1"/>
          </p:cNvPicPr>
          <p:nvPr/>
        </p:nvPicPr>
        <p:blipFill>
          <a:blip xmlns:r="http://schemas.openxmlformats.org/officeDocument/2006/relationships" xmlns:a="http://schemas.openxmlformats.org/drawingml/2006/main" r:embed="Rf632d68bf91a45d4"/>
          <a:srcRect xmlns:a="http://schemas.openxmlformats.org/drawingml/2006/main" l="0" t="13000" r="0" b="16000"/>
          <a:stretch xmlns:a="http://schemas.openxmlformats.org/drawingml/2006/main"/>
        </p:blipFill>
        <p:spPr>
          <a:xfrm xmlns:a="http://schemas.openxmlformats.org/drawingml/2006/main">
            <a:off x="1108748" y="2000250"/>
            <a:ext cx="9974505" cy="3981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8575679-6B06-4970-B590-32D7673197A7}"/>
              </a:ext>
            </a:extLst>
          </p:cNvPr>
          <p:cNvSpPr>
            <a:spLocks xmlns:a="http://schemas.openxmlformats.org/drawingml/2006/main" noGrp="1"/>
          </p:cNvSpPr>
          <p:nvPr/>
        </p:nvSpPr>
        <p:spPr>
          <a:xfrm xmlns:a="http://schemas.openxmlformats.org/drawingml/2006/main">
            <a:off x="1381125" y="17621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568E35"/>
                </a:solidFill>
                <a:latin typeface="DejaVu Sans"/>
                <a:ea typeface="DejaVu Sans"/>
                <a:cs typeface="DejaVu Sans"/>
              </a:defRPr>
            </a:defPPr>
          </a:lstStyle>
          <a:p xmlns:a="http://schemas.openxmlformats.org/drawingml/2006/main">
            <a:pPr algn="l">
              <a:lnSpc>
                <a:spcPct val="110000"/>
              </a:lnSpc>
              <a:buNone/>
              <a:defRPr sz="2025" b="1" i="0">
                <a:solidFill>
                  <a:srgbClr val="568E35"/>
                </a:solidFill>
                <a:latin typeface="DejaVu Sans"/>
                <a:ea typeface="DejaVu Sans"/>
                <a:cs typeface="DejaVu Sans"/>
              </a:defRPr>
            </a:pPr>
            <a:r>
              <a:rPr sz="2025" b="1" i="0">
                <a:solidFill>
                  <a:srgbClr val="568E35"/>
                </a:solidFill>
                <a:latin typeface="DejaVu Sans"/>
                <a:ea typeface="DejaVu Sans"/>
                <a:cs typeface="DejaVu Sans"/>
              </a:rPr>
              <a:t>Reacciones luminosas</a:t>
            </a:r>
          </a:p>
        </p:txBody>
      </p:sp>
      <p:sp>
        <p:nvSpPr>
          <p:cNvPr id="8" name="">
            <a:extLst xmlns:a="http://schemas.openxmlformats.org/drawingml/2006/main">
              <a:ext uri="{FF2B5EF4-FFF2-40B4-BE49-F238E27FC236}">
                <a16:creationId xmlns:a16="http://schemas.microsoft.com/office/drawing/2014/main" id="{0963F32E-683B-4243-82C7-0AF679F2D243}"/>
              </a:ext>
            </a:extLst>
          </p:cNvPr>
          <p:cNvSpPr>
            <a:spLocks xmlns:a="http://schemas.openxmlformats.org/drawingml/2006/main" noGrp="1"/>
          </p:cNvSpPr>
          <p:nvPr/>
        </p:nvSpPr>
        <p:spPr>
          <a:xfrm xmlns:a="http://schemas.openxmlformats.org/drawingml/2006/main">
            <a:off x="7715250" y="1762125"/>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1" i="0">
                <a:solidFill>
                  <a:srgbClr val="168E91"/>
                </a:solidFill>
                <a:latin typeface="DejaVu Sans"/>
                <a:ea typeface="DejaVu Sans"/>
                <a:cs typeface="DejaVu Sans"/>
              </a:defRPr>
            </a:defPPr>
          </a:lstStyle>
          <a:p xmlns:a="http://schemas.openxmlformats.org/drawingml/2006/main">
            <a:pPr algn="l">
              <a:lnSpc>
                <a:spcPct val="110000"/>
              </a:lnSpc>
              <a:buNone/>
              <a:defRPr sz="2025" b="1" i="0">
                <a:solidFill>
                  <a:srgbClr val="168E91"/>
                </a:solidFill>
                <a:latin typeface="DejaVu Sans"/>
                <a:ea typeface="DejaVu Sans"/>
                <a:cs typeface="DejaVu Sans"/>
              </a:defRPr>
            </a:pPr>
            <a:r>
              <a:rPr sz="2025" b="1" i="0">
                <a:solidFill>
                  <a:srgbClr val="168E91"/>
                </a:solidFill>
                <a:latin typeface="DejaVu Sans"/>
                <a:ea typeface="DejaVu Sans"/>
                <a:cs typeface="DejaVu Sans"/>
              </a:rPr>
              <a:t>Ciclo de Calvin-Benson</a:t>
            </a:r>
          </a:p>
        </p:txBody>
      </p:sp>
      <p:sp>
        <p:nvSpPr>
          <p:cNvPr id="9" name="">
            <a:extLst xmlns:a="http://schemas.openxmlformats.org/drawingml/2006/main">
              <a:ext uri="{FF2B5EF4-FFF2-40B4-BE49-F238E27FC236}">
                <a16:creationId xmlns:a16="http://schemas.microsoft.com/office/drawing/2014/main" id="{C01F50D7-1A85-42DC-BCEC-D9BD9132389F}"/>
              </a:ext>
            </a:extLst>
          </p:cNvPr>
          <p:cNvSpPr>
            <a:spLocks xmlns:a="http://schemas.openxmlformats.org/drawingml/2006/main" noGrp="1"/>
          </p:cNvSpPr>
          <p:nvPr/>
        </p:nvSpPr>
        <p:spPr>
          <a:xfrm xmlns:a="http://schemas.openxmlformats.org/drawingml/2006/main">
            <a:off x="5524500" y="31527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725" b="1" i="0">
                <a:solidFill>
                  <a:srgbClr val="B78A37"/>
                </a:solidFill>
                <a:latin typeface="DejaVu Sans"/>
                <a:ea typeface="DejaVu Sans"/>
                <a:cs typeface="DejaVu Sans"/>
              </a:defRPr>
            </a:defPPr>
          </a:lstStyle>
          <a:p xmlns:a="http://schemas.openxmlformats.org/drawingml/2006/main">
            <a:pPr algn="ctr">
              <a:lnSpc>
                <a:spcPct val="110000"/>
              </a:lnSpc>
              <a:buNone/>
              <a:defRPr sz="1725" b="1" i="0">
                <a:solidFill>
                  <a:srgbClr val="B78A37"/>
                </a:solidFill>
                <a:latin typeface="DejaVu Sans"/>
                <a:ea typeface="DejaVu Sans"/>
                <a:cs typeface="DejaVu Sans"/>
              </a:defRPr>
            </a:pPr>
            <a:r>
              <a:rPr sz="1725" b="1" i="0">
                <a:solidFill>
                  <a:srgbClr val="B78A37"/>
                </a:solidFill>
                <a:latin typeface="DejaVu Sans"/>
                <a:ea typeface="DejaVu Sans"/>
                <a:cs typeface="DejaVu Sans"/>
              </a:rPr>
              <a:t>ATP + NADPH</a:t>
            </a:r>
          </a:p>
        </p:txBody>
      </p:sp>
      <p:sp>
        <p:nvSpPr>
          <p:cNvPr id="10" name="">
            <a:extLst xmlns:a="http://schemas.openxmlformats.org/drawingml/2006/main">
              <a:ext uri="{FF2B5EF4-FFF2-40B4-BE49-F238E27FC236}">
                <a16:creationId xmlns:a16="http://schemas.microsoft.com/office/drawing/2014/main" id="{F39DB4D7-3D45-4E83-9679-B913345B12B0}"/>
              </a:ext>
            </a:extLst>
          </p:cNvPr>
          <p:cNvSpPr>
            <a:spLocks xmlns:a="http://schemas.openxmlformats.org/drawingml/2006/main" noGrp="1"/>
          </p:cNvSpPr>
          <p:nvPr/>
        </p:nvSpPr>
        <p:spPr>
          <a:xfrm xmlns:a="http://schemas.openxmlformats.org/drawingml/2006/main">
            <a:off x="5314950" y="4810125"/>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00" b="0" i="0">
                <a:solidFill>
                  <a:srgbClr val="637D84"/>
                </a:solidFill>
                <a:latin typeface="DejaVu Sans"/>
                <a:ea typeface="DejaVu Sans"/>
                <a:cs typeface="DejaVu Sans"/>
              </a:defRPr>
            </a:defPPr>
          </a:lstStyle>
          <a:p xmlns:a="http://schemas.openxmlformats.org/drawingml/2006/main">
            <a:pPr algn="ctr">
              <a:lnSpc>
                <a:spcPct val="110000"/>
              </a:lnSpc>
              <a:buNone/>
              <a:defRPr sz="1500" b="0" i="0">
                <a:solidFill>
                  <a:srgbClr val="637D84"/>
                </a:solidFill>
                <a:latin typeface="DejaVu Sans"/>
                <a:ea typeface="DejaVu Sans"/>
                <a:cs typeface="DejaVu Sans"/>
              </a:defRPr>
            </a:pPr>
            <a:r>
              <a:rPr sz="1500" b="0" i="0">
                <a:solidFill>
                  <a:srgbClr val="637D84"/>
                </a:solidFill>
                <a:latin typeface="DejaVu Sans"/>
                <a:ea typeface="DejaVu Sans"/>
                <a:cs typeface="DejaVu Sans"/>
              </a:rPr>
              <a:t>ADP + Pi y NADP⁺</a:t>
            </a:r>
          </a:p>
        </p:txBody>
      </p:sp>
      <p:sp>
        <p:nvSpPr>
          <p:cNvPr id="11" name="">
            <a:extLst xmlns:a="http://schemas.openxmlformats.org/drawingml/2006/main">
              <a:ext uri="{FF2B5EF4-FFF2-40B4-BE49-F238E27FC236}">
                <a16:creationId xmlns:a16="http://schemas.microsoft.com/office/drawing/2014/main" id="{FA9A7F34-D4D6-447E-9993-616DD4A914A5}"/>
              </a:ext>
            </a:extLst>
          </p:cNvPr>
          <p:cNvSpPr>
            <a:spLocks xmlns:a="http://schemas.openxmlformats.org/drawingml/2006/main" noGrp="1"/>
          </p:cNvSpPr>
          <p:nvPr/>
        </p:nvSpPr>
        <p:spPr>
          <a:xfrm xmlns:a="http://schemas.openxmlformats.org/drawingml/2006/main">
            <a:off x="704850" y="5381625"/>
            <a:ext cx="123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168E91"/>
                </a:solidFill>
                <a:latin typeface="DejaVu Sans"/>
                <a:ea typeface="DejaVu Sans"/>
                <a:cs typeface="DejaVu Sans"/>
              </a:defRPr>
            </a:defPPr>
          </a:lstStyle>
          <a:p xmlns:a="http://schemas.openxmlformats.org/drawingml/2006/main">
            <a:pPr algn="l">
              <a:lnSpc>
                <a:spcPct val="110000"/>
              </a:lnSpc>
              <a:buNone/>
              <a:defRPr sz="1950" b="1" i="0">
                <a:solidFill>
                  <a:srgbClr val="168E91"/>
                </a:solidFill>
                <a:latin typeface="DejaVu Sans"/>
                <a:ea typeface="DejaVu Sans"/>
                <a:cs typeface="DejaVu Sans"/>
              </a:defRPr>
            </a:pPr>
            <a:r>
              <a:rPr sz="1950" b="1" i="0">
                <a:solidFill>
                  <a:srgbClr val="168E91"/>
                </a:solidFill>
                <a:latin typeface="DejaVu Sans"/>
                <a:ea typeface="DejaVu Sans"/>
                <a:cs typeface="DejaVu Sans"/>
              </a:rPr>
              <a:t>H₂O</a:t>
            </a:r>
          </a:p>
        </p:txBody>
      </p:sp>
      <p:sp>
        <p:nvSpPr>
          <p:cNvPr id="12" name="">
            <a:extLst xmlns:a="http://schemas.openxmlformats.org/drawingml/2006/main">
              <a:ext uri="{FF2B5EF4-FFF2-40B4-BE49-F238E27FC236}">
                <a16:creationId xmlns:a16="http://schemas.microsoft.com/office/drawing/2014/main" id="{4A389799-159F-4319-ACBC-01059264291A}"/>
              </a:ext>
            </a:extLst>
          </p:cNvPr>
          <p:cNvSpPr>
            <a:spLocks xmlns:a="http://schemas.openxmlformats.org/drawingml/2006/main" noGrp="1"/>
          </p:cNvSpPr>
          <p:nvPr/>
        </p:nvSpPr>
        <p:spPr>
          <a:xfrm xmlns:a="http://schemas.openxmlformats.org/drawingml/2006/main">
            <a:off x="3638550" y="2324100"/>
            <a:ext cx="95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0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O₂</a:t>
            </a:r>
          </a:p>
        </p:txBody>
      </p:sp>
      <p:sp>
        <p:nvSpPr>
          <p:cNvPr id="13" name="">
            <a:extLst xmlns:a="http://schemas.openxmlformats.org/drawingml/2006/main">
              <a:ext uri="{FF2B5EF4-FFF2-40B4-BE49-F238E27FC236}">
                <a16:creationId xmlns:a16="http://schemas.microsoft.com/office/drawing/2014/main" id="{5557068E-5AF0-49C5-B107-F11D808132ED}"/>
              </a:ext>
            </a:extLst>
          </p:cNvPr>
          <p:cNvSpPr>
            <a:spLocks xmlns:a="http://schemas.openxmlformats.org/drawingml/2006/main" noGrp="1"/>
          </p:cNvSpPr>
          <p:nvPr/>
        </p:nvSpPr>
        <p:spPr>
          <a:xfrm xmlns:a="http://schemas.openxmlformats.org/drawingml/2006/main">
            <a:off x="10382250" y="2324100"/>
            <a:ext cx="95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i="0">
                <a:solidFill>
                  <a:srgbClr val="203E49"/>
                </a:solidFill>
                <a:latin typeface="DejaVu Sans"/>
                <a:ea typeface="DejaVu Sans"/>
                <a:cs typeface="DejaVu Sans"/>
              </a:defRPr>
            </a:defPPr>
          </a:lstStyle>
          <a:p xmlns:a="http://schemas.openxmlformats.org/drawingml/2006/main">
            <a:pPr algn="l">
              <a:lnSpc>
                <a:spcPct val="110000"/>
              </a:lnSpc>
              <a:buNone/>
              <a:defRPr sz="1950" b="1" i="0">
                <a:solidFill>
                  <a:srgbClr val="203E49"/>
                </a:solidFill>
                <a:latin typeface="DejaVu Sans"/>
                <a:ea typeface="DejaVu Sans"/>
                <a:cs typeface="DejaVu Sans"/>
              </a:defRPr>
            </a:pPr>
            <a:r>
              <a:rPr sz="1950" b="1" i="0">
                <a:solidFill>
                  <a:srgbClr val="203E49"/>
                </a:solidFill>
                <a:latin typeface="DejaVu Sans"/>
                <a:ea typeface="DejaVu Sans"/>
                <a:cs typeface="DejaVu Sans"/>
              </a:rPr>
              <a:t>CO₂</a:t>
            </a:r>
          </a:p>
        </p:txBody>
      </p:sp>
      <p:sp>
        <p:nvSpPr>
          <p:cNvPr id="14" name="">
            <a:extLst xmlns:a="http://schemas.openxmlformats.org/drawingml/2006/main">
              <a:ext uri="{FF2B5EF4-FFF2-40B4-BE49-F238E27FC236}">
                <a16:creationId xmlns:a16="http://schemas.microsoft.com/office/drawing/2014/main" id="{5D47CBD3-FAE4-48B1-A4FD-B1430CE30455}"/>
              </a:ext>
            </a:extLst>
          </p:cNvPr>
          <p:cNvSpPr>
            <a:spLocks xmlns:a="http://schemas.openxmlformats.org/drawingml/2006/main" noGrp="1"/>
          </p:cNvSpPr>
          <p:nvPr/>
        </p:nvSpPr>
        <p:spPr>
          <a:xfrm xmlns:a="http://schemas.openxmlformats.org/drawingml/2006/main">
            <a:off x="9810750" y="6067425"/>
            <a:ext cx="1714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i="0">
                <a:solidFill>
                  <a:srgbClr val="568E35"/>
                </a:solidFill>
                <a:latin typeface="DejaVu Sans"/>
                <a:ea typeface="DejaVu Sans"/>
                <a:cs typeface="DejaVu Sans"/>
              </a:defRPr>
            </a:defPPr>
          </a:lstStyle>
          <a:p xmlns:a="http://schemas.openxmlformats.org/drawingml/2006/main">
            <a:pPr algn="l">
              <a:lnSpc>
                <a:spcPct val="110000"/>
              </a:lnSpc>
              <a:buNone/>
              <a:defRPr sz="1875" b="1" i="0">
                <a:solidFill>
                  <a:srgbClr val="568E35"/>
                </a:solidFill>
                <a:latin typeface="DejaVu Sans"/>
                <a:ea typeface="DejaVu Sans"/>
                <a:cs typeface="DejaVu Sans"/>
              </a:defRPr>
            </a:pPr>
            <a:r>
              <a:rPr sz="1875" b="1" i="0">
                <a:solidFill>
                  <a:srgbClr val="568E35"/>
                </a:solidFill>
                <a:latin typeface="DejaVu Sans"/>
                <a:ea typeface="DejaVu Sans"/>
                <a:cs typeface="DejaVu Sans"/>
              </a:rPr>
              <a:t>Biomasa</a:t>
            </a:r>
          </a:p>
        </p:txBody>
      </p:sp>
    </p:spTree>
    <p:extLst>
      <p:ext uri="{BB962C8B-B14F-4D97-AF65-F5344CB8AC3E}">
        <p14:creationId xmlns:p14="http://schemas.microsoft.com/office/powerpoint/2010/main" val="1372757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3CDFF5-0996-4BD4-AB16-3BBCF628B84D}"/>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Respiración y diversidad metabólica</a:t>
            </a:r>
          </a:p>
        </p:txBody>
      </p:sp>
      <p:sp>
        <p:nvSpPr>
          <p:cNvPr id="2" name="">
            <a:extLst xmlns:a="http://schemas.openxmlformats.org/drawingml/2006/main">
              <a:ext uri="{FF2B5EF4-FFF2-40B4-BE49-F238E27FC236}">
                <a16:creationId xmlns:a16="http://schemas.microsoft.com/office/drawing/2014/main" id="{6EF3FE4C-C970-4DD5-BE0C-B9202278FBC1}"/>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Las rutas dependen de la especie y de las condiciones.</a:t>
            </a:r>
          </a:p>
        </p:txBody>
      </p:sp>
      <p:sp>
        <p:nvSpPr>
          <p:cNvPr id="3" name="">
            <a:extLst xmlns:a="http://schemas.openxmlformats.org/drawingml/2006/main">
              <a:ext uri="{FF2B5EF4-FFF2-40B4-BE49-F238E27FC236}">
                <a16:creationId xmlns:a16="http://schemas.microsoft.com/office/drawing/2014/main" id="{31FF6B8C-53FD-4753-B92F-09148F4382F2}"/>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89E80FF6-08CA-4822-B0B6-27FCA8456CB6}"/>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[5] [9] [16]. Esquemas conceptuales.</a:t>
            </a:r>
          </a:p>
        </p:txBody>
      </p:sp>
      <p:sp>
        <p:nvSpPr>
          <p:cNvPr id="5" name="">
            <a:extLst xmlns:a="http://schemas.openxmlformats.org/drawingml/2006/main">
              <a:ext uri="{FF2B5EF4-FFF2-40B4-BE49-F238E27FC236}">
                <a16:creationId xmlns:a16="http://schemas.microsoft.com/office/drawing/2014/main" id="{E219EBC6-A831-4351-A7FD-0074C0896CA9}"/>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10 / 27</a:t>
            </a:r>
          </a:p>
        </p:txBody>
      </p:sp>
      <p:pic>
        <p:nvPicPr>
          <p:cNvPr id="6" name="">
            <a:extLst xmlns:a="http://schemas.openxmlformats.org/drawingml/2006/main">
              <a:ext uri="{FF2B5EF4-FFF2-40B4-BE49-F238E27FC236}">
                <a16:creationId xmlns:a16="http://schemas.microsoft.com/office/drawing/2014/main" id="{5E0C8CB5-0526-4250-9658-1375E322FD10}"/>
              </a:ext>
            </a:extLst>
          </p:cNvPr>
          <p:cNvPicPr>
            <a:picLocks xmlns:a="http://schemas.openxmlformats.org/drawingml/2006/main" noChangeAspect="1"/>
          </p:cNvPicPr>
          <p:nvPr/>
        </p:nvPicPr>
        <p:blipFill>
          <a:blip xmlns:r="http://schemas.openxmlformats.org/officeDocument/2006/relationships" xmlns:a="http://schemas.openxmlformats.org/drawingml/2006/main" r:embed="Ra0fc1c6e23614ff5"/>
          <a:srcRect xmlns:a="http://schemas.openxmlformats.org/drawingml/2006/main" l="0" t="50000" r="66667" b="0"/>
          <a:stretch xmlns:a="http://schemas.openxmlformats.org/drawingml/2006/main"/>
        </p:blipFill>
        <p:spPr>
          <a:xfrm xmlns:a="http://schemas.openxmlformats.org/drawingml/2006/main">
            <a:off x="1719263" y="174307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7857970-2A16-4E42-A40C-946E7A322367}"/>
              </a:ext>
            </a:extLst>
          </p:cNvPr>
          <p:cNvSpPr>
            <a:spLocks xmlns:a="http://schemas.openxmlformats.org/drawingml/2006/main" noGrp="1"/>
          </p:cNvSpPr>
          <p:nvPr/>
        </p:nvSpPr>
        <p:spPr>
          <a:xfrm xmlns:a="http://schemas.openxmlformats.org/drawingml/2006/main">
            <a:off x="7429500" y="200025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0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Respiración</a:t>
            </a:r>
          </a:p>
        </p:txBody>
      </p:sp>
      <p:sp>
        <p:nvSpPr>
          <p:cNvPr id="8" name="">
            <a:extLst xmlns:a="http://schemas.openxmlformats.org/drawingml/2006/main">
              <a:ext uri="{FF2B5EF4-FFF2-40B4-BE49-F238E27FC236}">
                <a16:creationId xmlns:a16="http://schemas.microsoft.com/office/drawing/2014/main" id="{CCBB4CDB-F4DF-4BA3-A804-6701F61FE55E}"/>
              </a:ext>
            </a:extLst>
          </p:cNvPr>
          <p:cNvSpPr>
            <a:spLocks xmlns:a="http://schemas.openxmlformats.org/drawingml/2006/main" noGrp="1"/>
          </p:cNvSpPr>
          <p:nvPr/>
        </p:nvSpPr>
        <p:spPr>
          <a:xfrm xmlns:a="http://schemas.openxmlformats.org/drawingml/2006/main">
            <a:off x="7429500" y="3133725"/>
            <a:ext cx="4095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Compuestos orgánicos y</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producción de ATP</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Mixotrofía en algunas especies</a:t>
            </a:r>
          </a:p>
        </p:txBody>
      </p:sp>
      <p:sp>
        <p:nvSpPr>
          <p:cNvPr id="9" name="">
            <a:extLst xmlns:a="http://schemas.openxmlformats.org/drawingml/2006/main">
              <a:ext uri="{FF2B5EF4-FFF2-40B4-BE49-F238E27FC236}">
                <a16:creationId xmlns:a16="http://schemas.microsoft.com/office/drawing/2014/main" id="{910D6C19-91D1-4343-BE9F-F53933D10598}"/>
              </a:ext>
            </a:extLst>
          </p:cNvPr>
          <p:cNvSpPr>
            <a:spLocks xmlns:a="http://schemas.openxmlformats.org/drawingml/2006/main" noGrp="1"/>
          </p:cNvSpPr>
          <p:nvPr/>
        </p:nvSpPr>
        <p:spPr>
          <a:xfrm xmlns:a="http://schemas.openxmlformats.org/drawingml/2006/main">
            <a:off x="571500" y="60483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Fotosíntesis y respiración pueden ocurrir al mismo tiempo</a:t>
            </a:r>
          </a:p>
        </p:txBody>
      </p:sp>
    </p:spTree>
    <p:extLst>
      <p:ext uri="{BB962C8B-B14F-4D97-AF65-F5344CB8AC3E}">
        <p14:creationId xmlns:p14="http://schemas.microsoft.com/office/powerpoint/2010/main" val="13800921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89C690-0148-45A7-8986-62DBADE09536}"/>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Asimilación de nitrógeno</a:t>
            </a:r>
          </a:p>
        </p:txBody>
      </p:sp>
      <p:sp>
        <p:nvSpPr>
          <p:cNvPr id="2" name="">
            <a:extLst xmlns:a="http://schemas.openxmlformats.org/drawingml/2006/main">
              <a:ext uri="{FF2B5EF4-FFF2-40B4-BE49-F238E27FC236}">
                <a16:creationId xmlns:a16="http://schemas.microsoft.com/office/drawing/2014/main" id="{6AFCED73-1D77-4942-9C3E-720FEFB73657}"/>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El nitrógeno del agua se incorpora a moléculas celulares.</a:t>
            </a:r>
          </a:p>
        </p:txBody>
      </p:sp>
      <p:sp>
        <p:nvSpPr>
          <p:cNvPr id="3" name="">
            <a:extLst xmlns:a="http://schemas.openxmlformats.org/drawingml/2006/main">
              <a:ext uri="{FF2B5EF4-FFF2-40B4-BE49-F238E27FC236}">
                <a16:creationId xmlns:a16="http://schemas.microsoft.com/office/drawing/2014/main" id="{6A6F6BC6-0084-4ABA-B05C-C047B0B532E5}"/>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B63401C1-2F6B-454F-B0A4-4C3346E914D0}"/>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[7] [11]. Esquemas conceptuales.</a:t>
            </a:r>
          </a:p>
        </p:txBody>
      </p:sp>
      <p:sp>
        <p:nvSpPr>
          <p:cNvPr id="5" name="">
            <a:extLst xmlns:a="http://schemas.openxmlformats.org/drawingml/2006/main">
              <a:ext uri="{FF2B5EF4-FFF2-40B4-BE49-F238E27FC236}">
                <a16:creationId xmlns:a16="http://schemas.microsoft.com/office/drawing/2014/main" id="{EBC27E44-E9FE-4AB3-B3FF-D0BF4F578941}"/>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11 / 27</a:t>
            </a:r>
          </a:p>
        </p:txBody>
      </p:sp>
      <p:pic>
        <p:nvPicPr>
          <p:cNvPr id="6" name="">
            <a:extLst xmlns:a="http://schemas.openxmlformats.org/drawingml/2006/main">
              <a:ext uri="{FF2B5EF4-FFF2-40B4-BE49-F238E27FC236}">
                <a16:creationId xmlns:a16="http://schemas.microsoft.com/office/drawing/2014/main" id="{087026EE-F2E7-4D88-919F-8CCFE4CEF1AE}"/>
              </a:ext>
            </a:extLst>
          </p:cNvPr>
          <p:cNvPicPr>
            <a:picLocks xmlns:a="http://schemas.openxmlformats.org/drawingml/2006/main" noChangeAspect="1"/>
          </p:cNvPicPr>
          <p:nvPr/>
        </p:nvPicPr>
        <p:blipFill>
          <a:blip xmlns:r="http://schemas.openxmlformats.org/officeDocument/2006/relationships" xmlns:a="http://schemas.openxmlformats.org/drawingml/2006/main" r:embed="R9c510276c7014fe3"/>
          <a:srcRect xmlns:a="http://schemas.openxmlformats.org/drawingml/2006/main" l="33333" t="50000" r="33333" b="0"/>
          <a:stretch xmlns:a="http://schemas.openxmlformats.org/drawingml/2006/main"/>
        </p:blipFill>
        <p:spPr>
          <a:xfrm xmlns:a="http://schemas.openxmlformats.org/drawingml/2006/main">
            <a:off x="1719262" y="174307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DFEA723-2509-4994-AB0D-7875426C70B2}"/>
              </a:ext>
            </a:extLst>
          </p:cNvPr>
          <p:cNvSpPr>
            <a:spLocks xmlns:a="http://schemas.openxmlformats.org/drawingml/2006/main" noGrp="1"/>
          </p:cNvSpPr>
          <p:nvPr/>
        </p:nvSpPr>
        <p:spPr>
          <a:xfrm xmlns:a="http://schemas.openxmlformats.org/drawingml/2006/main">
            <a:off x="7429500" y="200025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0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Nitrato y amonio</a:t>
            </a:r>
          </a:p>
        </p:txBody>
      </p:sp>
      <p:sp>
        <p:nvSpPr>
          <p:cNvPr id="8" name="">
            <a:extLst xmlns:a="http://schemas.openxmlformats.org/drawingml/2006/main">
              <a:ext uri="{FF2B5EF4-FFF2-40B4-BE49-F238E27FC236}">
                <a16:creationId xmlns:a16="http://schemas.microsoft.com/office/drawing/2014/main" id="{13D74EE4-92E6-4748-AB7D-DE3F19DFA524}"/>
              </a:ext>
            </a:extLst>
          </p:cNvPr>
          <p:cNvSpPr>
            <a:spLocks xmlns:a="http://schemas.openxmlformats.org/drawingml/2006/main" noGrp="1"/>
          </p:cNvSpPr>
          <p:nvPr/>
        </p:nvSpPr>
        <p:spPr>
          <a:xfrm xmlns:a="http://schemas.openxmlformats.org/drawingml/2006/main">
            <a:off x="7429500" y="3133725"/>
            <a:ext cx="4095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Reducción del nitrato</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Aminoácidos y proteínas</a:t>
            </a:r>
          </a:p>
        </p:txBody>
      </p:sp>
      <p:sp>
        <p:nvSpPr>
          <p:cNvPr id="9" name="">
            <a:extLst xmlns:a="http://schemas.openxmlformats.org/drawingml/2006/main">
              <a:ext uri="{FF2B5EF4-FFF2-40B4-BE49-F238E27FC236}">
                <a16:creationId xmlns:a16="http://schemas.microsoft.com/office/drawing/2014/main" id="{7EE1D58D-7A49-4313-97B2-ED4D5A774274}"/>
              </a:ext>
            </a:extLst>
          </p:cNvPr>
          <p:cNvSpPr>
            <a:spLocks xmlns:a="http://schemas.openxmlformats.org/drawingml/2006/main" noGrp="1"/>
          </p:cNvSpPr>
          <p:nvPr/>
        </p:nvSpPr>
        <p:spPr>
          <a:xfrm xmlns:a="http://schemas.openxmlformats.org/drawingml/2006/main">
            <a:off x="571500" y="60483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Asimilación de nitrógeno del agua</a:t>
            </a:r>
          </a:p>
        </p:txBody>
      </p:sp>
      <p:sp>
        <p:nvSpPr>
          <p:cNvPr id="10" name="">
            <a:extLst xmlns:a="http://schemas.openxmlformats.org/drawingml/2006/main">
              <a:ext uri="{FF2B5EF4-FFF2-40B4-BE49-F238E27FC236}">
                <a16:creationId xmlns:a16="http://schemas.microsoft.com/office/drawing/2014/main" id="{539AC4A8-1D0B-4B7F-95BF-B8BCB5A4477C}"/>
              </a:ext>
            </a:extLst>
          </p:cNvPr>
          <p:cNvSpPr>
            <a:spLocks xmlns:a="http://schemas.openxmlformats.org/drawingml/2006/main" noGrp="1"/>
          </p:cNvSpPr>
          <p:nvPr/>
        </p:nvSpPr>
        <p:spPr>
          <a:xfrm xmlns:a="http://schemas.openxmlformats.org/drawingml/2006/main">
            <a:off x="7524750" y="5219700"/>
            <a:ext cx="4000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1" i="0">
                <a:solidFill>
                  <a:srgbClr val="168E91"/>
                </a:solidFill>
                <a:latin typeface="DejaVu Sans"/>
                <a:ea typeface="DejaVu Sans"/>
                <a:cs typeface="DejaVu Sans"/>
              </a:defRPr>
            </a:defPPr>
          </a:lstStyle>
          <a:p xmlns:a="http://schemas.openxmlformats.org/drawingml/2006/main">
            <a:pPr algn="l">
              <a:lnSpc>
                <a:spcPct val="110000"/>
              </a:lnSpc>
              <a:buNone/>
              <a:defRPr sz="1800" b="1" i="0">
                <a:solidFill>
                  <a:srgbClr val="168E91"/>
                </a:solidFill>
                <a:latin typeface="DejaVu Sans"/>
                <a:ea typeface="DejaVu Sans"/>
                <a:cs typeface="DejaVu Sans"/>
              </a:defRPr>
            </a:pPr>
            <a:r>
              <a:rPr sz="1800" b="1" i="0">
                <a:solidFill>
                  <a:srgbClr val="168E91"/>
                </a:solidFill>
                <a:latin typeface="DejaVu Sans"/>
                <a:ea typeface="DejaVu Sans"/>
                <a:cs typeface="DejaVu Sans"/>
              </a:rPr>
              <a:t>Fijar N₂ es otro proceso</a:t>
            </a:r>
          </a:p>
        </p:txBody>
      </p:sp>
    </p:spTree>
    <p:extLst>
      <p:ext uri="{BB962C8B-B14F-4D97-AF65-F5344CB8AC3E}">
        <p14:creationId xmlns:p14="http://schemas.microsoft.com/office/powerpoint/2010/main" val="16555590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1E9355-8313-429E-8C6A-93581271229A}"/>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Fósforo: metabolismo y almacenamiento</a:t>
            </a:r>
          </a:p>
        </p:txBody>
      </p:sp>
      <p:sp>
        <p:nvSpPr>
          <p:cNvPr id="2" name="">
            <a:extLst xmlns:a="http://schemas.openxmlformats.org/drawingml/2006/main">
              <a:ext uri="{FF2B5EF4-FFF2-40B4-BE49-F238E27FC236}">
                <a16:creationId xmlns:a16="http://schemas.microsoft.com/office/drawing/2014/main" id="{20C98C06-BAD0-4B0D-80A7-A093654AE881}"/>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El fosfato participa en ATP, ácidos nucleicos y membranas.</a:t>
            </a:r>
          </a:p>
        </p:txBody>
      </p:sp>
      <p:sp>
        <p:nvSpPr>
          <p:cNvPr id="3" name="">
            <a:extLst xmlns:a="http://schemas.openxmlformats.org/drawingml/2006/main">
              <a:ext uri="{FF2B5EF4-FFF2-40B4-BE49-F238E27FC236}">
                <a16:creationId xmlns:a16="http://schemas.microsoft.com/office/drawing/2014/main" id="{3B5C9818-EE57-4C43-BD4D-5AEDAC5DDAC2}"/>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FBC74500-D03F-4EEE-91AD-9CE49570B713}"/>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[8]. Esquemas conceptuales.</a:t>
            </a:r>
          </a:p>
        </p:txBody>
      </p:sp>
      <p:sp>
        <p:nvSpPr>
          <p:cNvPr id="5" name="">
            <a:extLst xmlns:a="http://schemas.openxmlformats.org/drawingml/2006/main">
              <a:ext uri="{FF2B5EF4-FFF2-40B4-BE49-F238E27FC236}">
                <a16:creationId xmlns:a16="http://schemas.microsoft.com/office/drawing/2014/main" id="{51315E8D-9013-4A34-8B86-082CF1C57D81}"/>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12 / 27</a:t>
            </a:r>
          </a:p>
        </p:txBody>
      </p:sp>
      <p:pic>
        <p:nvPicPr>
          <p:cNvPr id="6" name="">
            <a:extLst xmlns:a="http://schemas.openxmlformats.org/drawingml/2006/main">
              <a:ext uri="{FF2B5EF4-FFF2-40B4-BE49-F238E27FC236}">
                <a16:creationId xmlns:a16="http://schemas.microsoft.com/office/drawing/2014/main" id="{FC389EA7-CC8A-4ABD-8DE7-72F467BAD39F}"/>
              </a:ext>
            </a:extLst>
          </p:cNvPr>
          <p:cNvPicPr>
            <a:picLocks xmlns:a="http://schemas.openxmlformats.org/drawingml/2006/main" noChangeAspect="1"/>
          </p:cNvPicPr>
          <p:nvPr/>
        </p:nvPicPr>
        <p:blipFill>
          <a:blip xmlns:r="http://schemas.openxmlformats.org/officeDocument/2006/relationships" xmlns:a="http://schemas.openxmlformats.org/drawingml/2006/main" r:embed="R70c7170192cf4c9b"/>
          <a:srcRect xmlns:a="http://schemas.openxmlformats.org/drawingml/2006/main" l="66667" t="50000" r="0" b="0"/>
          <a:stretch xmlns:a="http://schemas.openxmlformats.org/drawingml/2006/main"/>
        </p:blipFill>
        <p:spPr>
          <a:xfrm xmlns:a="http://schemas.openxmlformats.org/drawingml/2006/main">
            <a:off x="1719263" y="174307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3B364E8-814A-43B3-B313-29AFACB02E02}"/>
              </a:ext>
            </a:extLst>
          </p:cNvPr>
          <p:cNvSpPr>
            <a:spLocks xmlns:a="http://schemas.openxmlformats.org/drawingml/2006/main" noGrp="1"/>
          </p:cNvSpPr>
          <p:nvPr/>
        </p:nvSpPr>
        <p:spPr>
          <a:xfrm xmlns:a="http://schemas.openxmlformats.org/drawingml/2006/main">
            <a:off x="7429500" y="200025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0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Fosfato</a:t>
            </a:r>
          </a:p>
        </p:txBody>
      </p:sp>
      <p:sp>
        <p:nvSpPr>
          <p:cNvPr id="8" name="">
            <a:extLst xmlns:a="http://schemas.openxmlformats.org/drawingml/2006/main">
              <a:ext uri="{FF2B5EF4-FFF2-40B4-BE49-F238E27FC236}">
                <a16:creationId xmlns:a16="http://schemas.microsoft.com/office/drawing/2014/main" id="{CC794C2A-2949-42BB-ACCB-221302B711EB}"/>
              </a:ext>
            </a:extLst>
          </p:cNvPr>
          <p:cNvSpPr>
            <a:spLocks xmlns:a="http://schemas.openxmlformats.org/drawingml/2006/main" noGrp="1"/>
          </p:cNvSpPr>
          <p:nvPr/>
        </p:nvSpPr>
        <p:spPr>
          <a:xfrm xmlns:a="http://schemas.openxmlformats.org/drawingml/2006/main">
            <a:off x="7429500" y="3133725"/>
            <a:ext cx="4095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ATP y ácidos nucleicos</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Membranas celulares</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Reservas de polifosfato</a:t>
            </a:r>
          </a:p>
        </p:txBody>
      </p:sp>
      <p:sp>
        <p:nvSpPr>
          <p:cNvPr id="9" name="">
            <a:extLst xmlns:a="http://schemas.openxmlformats.org/drawingml/2006/main">
              <a:ext uri="{FF2B5EF4-FFF2-40B4-BE49-F238E27FC236}">
                <a16:creationId xmlns:a16="http://schemas.microsoft.com/office/drawing/2014/main" id="{5DC74119-5A51-4557-BAE9-A51105312FD5}"/>
              </a:ext>
            </a:extLst>
          </p:cNvPr>
          <p:cNvSpPr>
            <a:spLocks xmlns:a="http://schemas.openxmlformats.org/drawingml/2006/main" noGrp="1"/>
          </p:cNvSpPr>
          <p:nvPr/>
        </p:nvSpPr>
        <p:spPr>
          <a:xfrm xmlns:a="http://schemas.openxmlformats.org/drawingml/2006/main">
            <a:off x="571500" y="60483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Captación, incorporación y almacenamiento de fósforo</a:t>
            </a:r>
          </a:p>
        </p:txBody>
      </p:sp>
    </p:spTree>
    <p:extLst>
      <p:ext uri="{BB962C8B-B14F-4D97-AF65-F5344CB8AC3E}">
        <p14:creationId xmlns:p14="http://schemas.microsoft.com/office/powerpoint/2010/main" val="6826931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10B144-2307-44A0-B815-DE665B2083D0}"/>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Silicio y formación del frústulo</a:t>
            </a:r>
          </a:p>
        </p:txBody>
      </p:sp>
      <p:sp>
        <p:nvSpPr>
          <p:cNvPr id="2" name="">
            <a:extLst xmlns:a="http://schemas.openxmlformats.org/drawingml/2006/main">
              <a:ext uri="{FF2B5EF4-FFF2-40B4-BE49-F238E27FC236}">
                <a16:creationId xmlns:a16="http://schemas.microsoft.com/office/drawing/2014/main" id="{CB85FBD0-1205-4852-8D2F-667CA116B15E}"/>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Muchas diatomeas necesitan silicio para nuevas valvas.</a:t>
            </a:r>
          </a:p>
        </p:txBody>
      </p:sp>
      <p:sp>
        <p:nvSpPr>
          <p:cNvPr id="3" name="">
            <a:extLst xmlns:a="http://schemas.openxmlformats.org/drawingml/2006/main">
              <a:ext uri="{FF2B5EF4-FFF2-40B4-BE49-F238E27FC236}">
                <a16:creationId xmlns:a16="http://schemas.microsoft.com/office/drawing/2014/main" id="{EB05D626-7C50-4BBC-9067-66C383BC42C4}"/>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F59E03AB-4C54-4756-B1EC-819EE04570B2}"/>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[4] [14]. Esquemas conceptuales.</a:t>
            </a:r>
          </a:p>
        </p:txBody>
      </p:sp>
      <p:sp>
        <p:nvSpPr>
          <p:cNvPr id="5" name="">
            <a:extLst xmlns:a="http://schemas.openxmlformats.org/drawingml/2006/main">
              <a:ext uri="{FF2B5EF4-FFF2-40B4-BE49-F238E27FC236}">
                <a16:creationId xmlns:a16="http://schemas.microsoft.com/office/drawing/2014/main" id="{E833BB56-14B2-4E11-A6FD-AD7F08FCB21B}"/>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13 / 27</a:t>
            </a:r>
          </a:p>
        </p:txBody>
      </p:sp>
      <p:pic>
        <p:nvPicPr>
          <p:cNvPr id="6" name="">
            <a:extLst xmlns:a="http://schemas.openxmlformats.org/drawingml/2006/main">
              <a:ext uri="{FF2B5EF4-FFF2-40B4-BE49-F238E27FC236}">
                <a16:creationId xmlns:a16="http://schemas.microsoft.com/office/drawing/2014/main" id="{E60AFCFF-FE34-4A1C-9FAB-D864B8B20CD2}"/>
              </a:ext>
            </a:extLst>
          </p:cNvPr>
          <p:cNvPicPr>
            <a:picLocks xmlns:a="http://schemas.openxmlformats.org/drawingml/2006/main" noChangeAspect="1"/>
          </p:cNvPicPr>
          <p:nvPr/>
        </p:nvPicPr>
        <p:blipFill>
          <a:blip xmlns:r="http://schemas.openxmlformats.org/officeDocument/2006/relationships" xmlns:a="http://schemas.openxmlformats.org/drawingml/2006/main" r:embed="Rabb7aaf94c304986"/>
          <a:srcRect xmlns:a="http://schemas.openxmlformats.org/drawingml/2006/main" l="66667" t="50000" r="0" b="0"/>
          <a:stretch xmlns:a="http://schemas.openxmlformats.org/drawingml/2006/main"/>
        </p:blipFill>
        <p:spPr>
          <a:xfrm xmlns:a="http://schemas.openxmlformats.org/drawingml/2006/main">
            <a:off x="1719263" y="174307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0A2A4DC-DC18-4346-8E95-5E857F36D2BA}"/>
              </a:ext>
            </a:extLst>
          </p:cNvPr>
          <p:cNvSpPr>
            <a:spLocks xmlns:a="http://schemas.openxmlformats.org/drawingml/2006/main" noGrp="1"/>
          </p:cNvSpPr>
          <p:nvPr/>
        </p:nvSpPr>
        <p:spPr>
          <a:xfrm xmlns:a="http://schemas.openxmlformats.org/drawingml/2006/main">
            <a:off x="7429500" y="200025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0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Silicio disuelto</a:t>
            </a:r>
          </a:p>
        </p:txBody>
      </p:sp>
      <p:sp>
        <p:nvSpPr>
          <p:cNvPr id="8" name="">
            <a:extLst xmlns:a="http://schemas.openxmlformats.org/drawingml/2006/main">
              <a:ext uri="{FF2B5EF4-FFF2-40B4-BE49-F238E27FC236}">
                <a16:creationId xmlns:a16="http://schemas.microsoft.com/office/drawing/2014/main" id="{ACF68A6C-9E70-4B35-B6AC-B9B1F09FEDB3}"/>
              </a:ext>
            </a:extLst>
          </p:cNvPr>
          <p:cNvSpPr>
            <a:spLocks xmlns:a="http://schemas.openxmlformats.org/drawingml/2006/main" noGrp="1"/>
          </p:cNvSpPr>
          <p:nvPr/>
        </p:nvSpPr>
        <p:spPr>
          <a:xfrm xmlns:a="http://schemas.openxmlformats.org/drawingml/2006/main">
            <a:off x="7429500" y="3133725"/>
            <a:ext cx="4095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Depósito de sílice</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Nuevas valvas</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Crecimiento y división</a:t>
            </a:r>
          </a:p>
        </p:txBody>
      </p:sp>
      <p:sp>
        <p:nvSpPr>
          <p:cNvPr id="9" name="">
            <a:extLst xmlns:a="http://schemas.openxmlformats.org/drawingml/2006/main">
              <a:ext uri="{FF2B5EF4-FFF2-40B4-BE49-F238E27FC236}">
                <a16:creationId xmlns:a16="http://schemas.microsoft.com/office/drawing/2014/main" id="{C8841DEC-03A8-4ADC-8275-892DFEC65789}"/>
              </a:ext>
            </a:extLst>
          </p:cNvPr>
          <p:cNvSpPr>
            <a:spLocks xmlns:a="http://schemas.openxmlformats.org/drawingml/2006/main" noGrp="1"/>
          </p:cNvSpPr>
          <p:nvPr/>
        </p:nvSpPr>
        <p:spPr>
          <a:xfrm xmlns:a="http://schemas.openxmlformats.org/drawingml/2006/main">
            <a:off x="571500" y="60483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La demanda de silicio conecta las diatomeas con su ambiente</a:t>
            </a:r>
          </a:p>
        </p:txBody>
      </p:sp>
    </p:spTree>
    <p:extLst>
      <p:ext uri="{BB962C8B-B14F-4D97-AF65-F5344CB8AC3E}">
        <p14:creationId xmlns:p14="http://schemas.microsoft.com/office/powerpoint/2010/main" val="2125453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0A68FE-698D-4C3A-A1F8-02DB4B2CFC9B}"/>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Producción primaria y redes alimentarias</a:t>
            </a:r>
          </a:p>
        </p:txBody>
      </p:sp>
      <p:sp>
        <p:nvSpPr>
          <p:cNvPr id="2" name="">
            <a:extLst xmlns:a="http://schemas.openxmlformats.org/drawingml/2006/main">
              <a:ext uri="{FF2B5EF4-FFF2-40B4-BE49-F238E27FC236}">
                <a16:creationId xmlns:a16="http://schemas.microsoft.com/office/drawing/2014/main" id="{EEE64073-DDF2-4179-9A28-54F63C8C5A08}"/>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El carbono orgánico alimenta a otros organismos.</a:t>
            </a:r>
          </a:p>
        </p:txBody>
      </p:sp>
      <p:sp>
        <p:nvSpPr>
          <p:cNvPr id="3" name="">
            <a:extLst xmlns:a="http://schemas.openxmlformats.org/drawingml/2006/main">
              <a:ext uri="{FF2B5EF4-FFF2-40B4-BE49-F238E27FC236}">
                <a16:creationId xmlns:a16="http://schemas.microsoft.com/office/drawing/2014/main" id="{9147DA37-36E4-4EB3-8B66-33DF97B91CCE}"/>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AFD4C44-8621-478E-B301-7B2D3708D8BE}"/>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[4] [14]. Esquemas conceptuales.</a:t>
            </a:r>
          </a:p>
        </p:txBody>
      </p:sp>
      <p:sp>
        <p:nvSpPr>
          <p:cNvPr id="5" name="">
            <a:extLst xmlns:a="http://schemas.openxmlformats.org/drawingml/2006/main">
              <a:ext uri="{FF2B5EF4-FFF2-40B4-BE49-F238E27FC236}">
                <a16:creationId xmlns:a16="http://schemas.microsoft.com/office/drawing/2014/main" id="{43774BC2-462E-463A-B1B9-717BDD663125}"/>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14 / 27</a:t>
            </a:r>
          </a:p>
        </p:txBody>
      </p:sp>
      <p:pic>
        <p:nvPicPr>
          <p:cNvPr id="6" name="">
            <a:extLst xmlns:a="http://schemas.openxmlformats.org/drawingml/2006/main">
              <a:ext uri="{FF2B5EF4-FFF2-40B4-BE49-F238E27FC236}">
                <a16:creationId xmlns:a16="http://schemas.microsoft.com/office/drawing/2014/main" id="{39612457-0B56-49E2-94CC-E8A1183B9CC1}"/>
              </a:ext>
            </a:extLst>
          </p:cNvPr>
          <p:cNvPicPr>
            <a:picLocks xmlns:a="http://schemas.openxmlformats.org/drawingml/2006/main" noChangeAspect="1"/>
          </p:cNvPicPr>
          <p:nvPr/>
        </p:nvPicPr>
        <p:blipFill>
          <a:blip xmlns:r="http://schemas.openxmlformats.org/officeDocument/2006/relationships" xmlns:a="http://schemas.openxmlformats.org/drawingml/2006/main" r:embed="R42608655f78245c4"/>
          <a:srcRect xmlns:a="http://schemas.openxmlformats.org/drawingml/2006/main" l="0" t="12000" r="66667" b="59000"/>
          <a:stretch xmlns:a="http://schemas.openxmlformats.org/drawingml/2006/main"/>
        </p:blipFill>
        <p:spPr>
          <a:xfrm xmlns:a="http://schemas.openxmlformats.org/drawingml/2006/main">
            <a:off x="3057853" y="1905000"/>
            <a:ext cx="6076293" cy="3524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F5486AA-4B3B-4113-BDF1-F6E040D9872B}"/>
              </a:ext>
            </a:extLst>
          </p:cNvPr>
          <p:cNvSpPr>
            <a:spLocks xmlns:a="http://schemas.openxmlformats.org/drawingml/2006/main" noGrp="1"/>
          </p:cNvSpPr>
          <p:nvPr/>
        </p:nvSpPr>
        <p:spPr>
          <a:xfrm xmlns:a="http://schemas.openxmlformats.org/drawingml/2006/main">
            <a:off x="2714625" y="5591175"/>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168E91"/>
                </a:solidFill>
                <a:latin typeface="DejaVu Sans"/>
                <a:ea typeface="DejaVu Sans"/>
                <a:cs typeface="DejaVu Sans"/>
              </a:defRPr>
            </a:defPPr>
          </a:lstStyle>
          <a:p xmlns:a="http://schemas.openxmlformats.org/drawingml/2006/main">
            <a:pPr algn="ctr">
              <a:lnSpc>
                <a:spcPct val="110000"/>
              </a:lnSpc>
              <a:buNone/>
              <a:defRPr sz="2025" b="1" i="0">
                <a:solidFill>
                  <a:srgbClr val="168E91"/>
                </a:solidFill>
                <a:latin typeface="DejaVu Sans"/>
                <a:ea typeface="DejaVu Sans"/>
                <a:cs typeface="DejaVu Sans"/>
              </a:defRPr>
            </a:pPr>
            <a:r>
              <a:rPr sz="2025" b="1" i="0">
                <a:solidFill>
                  <a:srgbClr val="168E91"/>
                </a:solidFill>
                <a:latin typeface="DejaVu Sans"/>
                <a:ea typeface="DejaVu Sans"/>
                <a:cs typeface="DejaVu Sans"/>
              </a:rPr>
              <a:t>Productores</a:t>
            </a:r>
          </a:p>
        </p:txBody>
      </p:sp>
      <p:sp>
        <p:nvSpPr>
          <p:cNvPr id="8" name="">
            <a:extLst xmlns:a="http://schemas.openxmlformats.org/drawingml/2006/main">
              <a:ext uri="{FF2B5EF4-FFF2-40B4-BE49-F238E27FC236}">
                <a16:creationId xmlns:a16="http://schemas.microsoft.com/office/drawing/2014/main" id="{E6C2A6FB-D8BF-41E9-BED3-231F112C637D}"/>
              </a:ext>
            </a:extLst>
          </p:cNvPr>
          <p:cNvSpPr>
            <a:spLocks xmlns:a="http://schemas.openxmlformats.org/drawingml/2006/main" noGrp="1"/>
          </p:cNvSpPr>
          <p:nvPr/>
        </p:nvSpPr>
        <p:spPr>
          <a:xfrm xmlns:a="http://schemas.openxmlformats.org/drawingml/2006/main">
            <a:off x="5048250" y="5591175"/>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168E91"/>
                </a:solidFill>
                <a:latin typeface="DejaVu Sans"/>
                <a:ea typeface="DejaVu Sans"/>
                <a:cs typeface="DejaVu Sans"/>
              </a:defRPr>
            </a:defPPr>
          </a:lstStyle>
          <a:p xmlns:a="http://schemas.openxmlformats.org/drawingml/2006/main">
            <a:pPr algn="ctr">
              <a:lnSpc>
                <a:spcPct val="110000"/>
              </a:lnSpc>
              <a:buNone/>
              <a:defRPr sz="2025" b="1" i="0">
                <a:solidFill>
                  <a:srgbClr val="168E91"/>
                </a:solidFill>
                <a:latin typeface="DejaVu Sans"/>
                <a:ea typeface="DejaVu Sans"/>
                <a:cs typeface="DejaVu Sans"/>
              </a:defRPr>
            </a:pPr>
            <a:r>
              <a:rPr sz="2025" b="1" i="0">
                <a:solidFill>
                  <a:srgbClr val="168E91"/>
                </a:solidFill>
                <a:latin typeface="DejaVu Sans"/>
                <a:ea typeface="DejaVu Sans"/>
                <a:cs typeface="DejaVu Sans"/>
              </a:rPr>
              <a:t>Consumidores</a:t>
            </a:r>
          </a:p>
        </p:txBody>
      </p:sp>
      <p:sp>
        <p:nvSpPr>
          <p:cNvPr id="9" name="">
            <a:extLst xmlns:a="http://schemas.openxmlformats.org/drawingml/2006/main">
              <a:ext uri="{FF2B5EF4-FFF2-40B4-BE49-F238E27FC236}">
                <a16:creationId xmlns:a16="http://schemas.microsoft.com/office/drawing/2014/main" id="{577D2413-425B-40F7-8E56-45E7F96D66C3}"/>
              </a:ext>
            </a:extLst>
          </p:cNvPr>
          <p:cNvSpPr>
            <a:spLocks xmlns:a="http://schemas.openxmlformats.org/drawingml/2006/main" noGrp="1"/>
          </p:cNvSpPr>
          <p:nvPr/>
        </p:nvSpPr>
        <p:spPr>
          <a:xfrm xmlns:a="http://schemas.openxmlformats.org/drawingml/2006/main">
            <a:off x="7239000" y="5591175"/>
            <a:ext cx="228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025" b="1" i="0">
                <a:solidFill>
                  <a:srgbClr val="168E91"/>
                </a:solidFill>
                <a:latin typeface="DejaVu Sans"/>
                <a:ea typeface="DejaVu Sans"/>
                <a:cs typeface="DejaVu Sans"/>
              </a:defRPr>
            </a:defPPr>
          </a:lstStyle>
          <a:p xmlns:a="http://schemas.openxmlformats.org/drawingml/2006/main">
            <a:pPr algn="ctr">
              <a:lnSpc>
                <a:spcPct val="110000"/>
              </a:lnSpc>
              <a:buNone/>
              <a:defRPr sz="2025" b="1" i="0">
                <a:solidFill>
                  <a:srgbClr val="168E91"/>
                </a:solidFill>
                <a:latin typeface="DejaVu Sans"/>
                <a:ea typeface="DejaVu Sans"/>
                <a:cs typeface="DejaVu Sans"/>
              </a:defRPr>
            </a:pPr>
            <a:r>
              <a:rPr sz="2025" b="1" i="0">
                <a:solidFill>
                  <a:srgbClr val="168E91"/>
                </a:solidFill>
                <a:latin typeface="DejaVu Sans"/>
                <a:ea typeface="DejaVu Sans"/>
                <a:cs typeface="DejaVu Sans"/>
              </a:rPr>
              <a:t>Peces</a:t>
            </a:r>
          </a:p>
        </p:txBody>
      </p:sp>
      <p:sp>
        <p:nvSpPr>
          <p:cNvPr id="10" name="">
            <a:extLst xmlns:a="http://schemas.openxmlformats.org/drawingml/2006/main">
              <a:ext uri="{FF2B5EF4-FFF2-40B4-BE49-F238E27FC236}">
                <a16:creationId xmlns:a16="http://schemas.microsoft.com/office/drawing/2014/main" id="{4A6F83E9-AC74-4A60-85B4-B2BC19BA4C25}"/>
              </a:ext>
            </a:extLst>
          </p:cNvPr>
          <p:cNvSpPr>
            <a:spLocks xmlns:a="http://schemas.openxmlformats.org/drawingml/2006/main" noGrp="1"/>
          </p:cNvSpPr>
          <p:nvPr/>
        </p:nvSpPr>
        <p:spPr>
          <a:xfrm xmlns:a="http://schemas.openxmlformats.org/drawingml/2006/main">
            <a:off x="571500" y="6096000"/>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i="0">
                <a:solidFill>
                  <a:srgbClr val="203E49"/>
                </a:solidFill>
                <a:latin typeface="DejaVu Sans"/>
                <a:ea typeface="DejaVu Sans"/>
                <a:cs typeface="DejaVu Sans"/>
              </a:defRPr>
            </a:defPPr>
          </a:lstStyle>
          <a:p xmlns:a="http://schemas.openxmlformats.org/drawingml/2006/main">
            <a:pPr algn="ctr">
              <a:lnSpc>
                <a:spcPct val="110000"/>
              </a:lnSpc>
              <a:buNone/>
              <a:defRPr sz="1875" b="1" i="0">
                <a:solidFill>
                  <a:srgbClr val="203E49"/>
                </a:solidFill>
                <a:latin typeface="DejaVu Sans"/>
                <a:ea typeface="DejaVu Sans"/>
                <a:cs typeface="DejaVu Sans"/>
              </a:defRPr>
            </a:pPr>
            <a:r>
              <a:rPr sz="1875" b="1" i="0">
                <a:solidFill>
                  <a:srgbClr val="203E49"/>
                </a:solidFill>
                <a:latin typeface="DejaVu Sans"/>
                <a:ea typeface="DejaVu Sans"/>
                <a:cs typeface="DejaVu Sans"/>
              </a:rPr>
              <a:t>Materia orgánica y energía sostienen la red alimentaria</a:t>
            </a:r>
          </a:p>
        </p:txBody>
      </p:sp>
    </p:spTree>
    <p:extLst>
      <p:ext uri="{BB962C8B-B14F-4D97-AF65-F5344CB8AC3E}">
        <p14:creationId xmlns:p14="http://schemas.microsoft.com/office/powerpoint/2010/main" val="6972881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67591D-9EA4-4AB2-AB30-19181A44E7D8}"/>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Destino del carbono fijado</a:t>
            </a:r>
          </a:p>
        </p:txBody>
      </p:sp>
      <p:sp>
        <p:nvSpPr>
          <p:cNvPr id="2" name="">
            <a:extLst xmlns:a="http://schemas.openxmlformats.org/drawingml/2006/main">
              <a:ext uri="{FF2B5EF4-FFF2-40B4-BE49-F238E27FC236}">
                <a16:creationId xmlns:a16="http://schemas.microsoft.com/office/drawing/2014/main" id="{E6F282EE-619A-4C83-A501-CAA1156ADB83}"/>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Consumo, respiración, reciclaje y exportación.</a:t>
            </a:r>
          </a:p>
        </p:txBody>
      </p:sp>
      <p:sp>
        <p:nvSpPr>
          <p:cNvPr id="3" name="">
            <a:extLst xmlns:a="http://schemas.openxmlformats.org/drawingml/2006/main">
              <a:ext uri="{FF2B5EF4-FFF2-40B4-BE49-F238E27FC236}">
                <a16:creationId xmlns:a16="http://schemas.microsoft.com/office/drawing/2014/main" id="{268C6B9D-8FD4-45B8-89A2-B192A79672F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9361B3AF-0F5A-4805-8B87-277396FCB678}"/>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[4] [14]. Esquemas conceptuales.</a:t>
            </a:r>
          </a:p>
        </p:txBody>
      </p:sp>
      <p:sp>
        <p:nvSpPr>
          <p:cNvPr id="5" name="">
            <a:extLst xmlns:a="http://schemas.openxmlformats.org/drawingml/2006/main">
              <a:ext uri="{FF2B5EF4-FFF2-40B4-BE49-F238E27FC236}">
                <a16:creationId xmlns:a16="http://schemas.microsoft.com/office/drawing/2014/main" id="{71894F00-0D67-416D-BE14-D4435AFF5A26}"/>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15 / 27</a:t>
            </a:r>
          </a:p>
        </p:txBody>
      </p:sp>
      <p:pic>
        <p:nvPicPr>
          <p:cNvPr id="6" name="">
            <a:extLst xmlns:a="http://schemas.openxmlformats.org/drawingml/2006/main">
              <a:ext uri="{FF2B5EF4-FFF2-40B4-BE49-F238E27FC236}">
                <a16:creationId xmlns:a16="http://schemas.microsoft.com/office/drawing/2014/main" id="{EDD28796-92D0-4D0E-9EFE-3BD61A092C24}"/>
              </a:ext>
            </a:extLst>
          </p:cNvPr>
          <p:cNvPicPr>
            <a:picLocks xmlns:a="http://schemas.openxmlformats.org/drawingml/2006/main" noChangeAspect="1"/>
          </p:cNvPicPr>
          <p:nvPr/>
        </p:nvPicPr>
        <p:blipFill>
          <a:blip xmlns:r="http://schemas.openxmlformats.org/officeDocument/2006/relationships" xmlns:a="http://schemas.openxmlformats.org/drawingml/2006/main" r:embed="R0bf9aeb550ec425f"/>
          <a:srcRect xmlns:a="http://schemas.openxmlformats.org/drawingml/2006/main" l="33333" t="0" r="33333" b="50000"/>
          <a:stretch xmlns:a="http://schemas.openxmlformats.org/drawingml/2006/main"/>
        </p:blipFill>
        <p:spPr>
          <a:xfrm xmlns:a="http://schemas.openxmlformats.org/drawingml/2006/main">
            <a:off x="1719262" y="174307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3588DF-145D-492E-93D0-7EC29D981947}"/>
              </a:ext>
            </a:extLst>
          </p:cNvPr>
          <p:cNvSpPr>
            <a:spLocks xmlns:a="http://schemas.openxmlformats.org/drawingml/2006/main" noGrp="1"/>
          </p:cNvSpPr>
          <p:nvPr/>
        </p:nvSpPr>
        <p:spPr>
          <a:xfrm xmlns:a="http://schemas.openxmlformats.org/drawingml/2006/main">
            <a:off x="7429500" y="200025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0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Carbono orgánico</a:t>
            </a:r>
          </a:p>
        </p:txBody>
      </p:sp>
      <p:sp>
        <p:nvSpPr>
          <p:cNvPr id="8" name="">
            <a:extLst xmlns:a="http://schemas.openxmlformats.org/drawingml/2006/main">
              <a:ext uri="{FF2B5EF4-FFF2-40B4-BE49-F238E27FC236}">
                <a16:creationId xmlns:a16="http://schemas.microsoft.com/office/drawing/2014/main" id="{5617590E-A57B-447E-A07A-8AFA3D2BF1C2}"/>
              </a:ext>
            </a:extLst>
          </p:cNvPr>
          <p:cNvSpPr>
            <a:spLocks xmlns:a="http://schemas.openxmlformats.org/drawingml/2006/main" noGrp="1"/>
          </p:cNvSpPr>
          <p:nvPr/>
        </p:nvSpPr>
        <p:spPr>
          <a:xfrm xmlns:a="http://schemas.openxmlformats.org/drawingml/2006/main">
            <a:off x="7429500" y="3133725"/>
            <a:ext cx="4095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Biomasa y consumo</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Respiración y reciclaje</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Exportación de partículas</a:t>
            </a:r>
          </a:p>
        </p:txBody>
      </p:sp>
      <p:sp>
        <p:nvSpPr>
          <p:cNvPr id="9" name="">
            <a:extLst xmlns:a="http://schemas.openxmlformats.org/drawingml/2006/main">
              <a:ext uri="{FF2B5EF4-FFF2-40B4-BE49-F238E27FC236}">
                <a16:creationId xmlns:a16="http://schemas.microsoft.com/office/drawing/2014/main" id="{81197F25-9C8D-4E10-83D6-08965F9DA84D}"/>
              </a:ext>
            </a:extLst>
          </p:cNvPr>
          <p:cNvSpPr>
            <a:spLocks xmlns:a="http://schemas.openxmlformats.org/drawingml/2006/main" noGrp="1"/>
          </p:cNvSpPr>
          <p:nvPr/>
        </p:nvSpPr>
        <p:spPr>
          <a:xfrm xmlns:a="http://schemas.openxmlformats.org/drawingml/2006/main">
            <a:off x="571500" y="60483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Fijación de CO₂ y almacenamiento prolongado requieren medidas distintas</a:t>
            </a:r>
          </a:p>
        </p:txBody>
      </p:sp>
    </p:spTree>
    <p:extLst>
      <p:ext uri="{BB962C8B-B14F-4D97-AF65-F5344CB8AC3E}">
        <p14:creationId xmlns:p14="http://schemas.microsoft.com/office/powerpoint/2010/main" val="114654109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C99D7D-C065-4664-94B1-64F9F03C8AA3}"/>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Composición medida en cepas ecuatorianas</a:t>
            </a:r>
          </a:p>
        </p:txBody>
      </p:sp>
      <p:sp>
        <p:nvSpPr>
          <p:cNvPr id="2" name="">
            <a:extLst xmlns:a="http://schemas.openxmlformats.org/drawingml/2006/main">
              <a:ext uri="{FF2B5EF4-FFF2-40B4-BE49-F238E27FC236}">
                <a16:creationId xmlns:a16="http://schemas.microsoft.com/office/drawing/2014/main" id="{311C17FD-A460-4C9C-9506-BE4C1504BCD1}"/>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Proteína en biomasa seca de dos aislamientos de Santa Elena.</a:t>
            </a:r>
          </a:p>
        </p:txBody>
      </p:sp>
      <p:sp>
        <p:nvSpPr>
          <p:cNvPr id="3" name="">
            <a:extLst xmlns:a="http://schemas.openxmlformats.org/drawingml/2006/main">
              <a:ext uri="{FF2B5EF4-FFF2-40B4-BE49-F238E27FC236}">
                <a16:creationId xmlns:a16="http://schemas.microsoft.com/office/drawing/2014/main" id="{05B5EA3A-A1F3-43E7-B7EC-F7C18707D891}"/>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189B5D3E-08E9-4247-B9E2-B239F91413A8}"/>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[10]. Esquemas conceptuales.</a:t>
            </a:r>
          </a:p>
        </p:txBody>
      </p:sp>
      <p:sp>
        <p:nvSpPr>
          <p:cNvPr id="5" name="">
            <a:extLst xmlns:a="http://schemas.openxmlformats.org/drawingml/2006/main">
              <a:ext uri="{FF2B5EF4-FFF2-40B4-BE49-F238E27FC236}">
                <a16:creationId xmlns:a16="http://schemas.microsoft.com/office/drawing/2014/main" id="{E61FF043-3C4D-40F0-8DD0-F0566EAA39F0}"/>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16 / 27</a:t>
            </a:r>
          </a:p>
        </p:txBody>
      </p:sp>
      <p:pic>
        <p:nvPicPr>
          <p:cNvPr id="6" name="">
            <a:extLst xmlns:a="http://schemas.openxmlformats.org/drawingml/2006/main">
              <a:ext uri="{FF2B5EF4-FFF2-40B4-BE49-F238E27FC236}">
                <a16:creationId xmlns:a16="http://schemas.microsoft.com/office/drawing/2014/main" id="{E835F626-9C1D-4635-82B0-28B485DA1705}"/>
              </a:ext>
            </a:extLst>
          </p:cNvPr>
          <p:cNvPicPr>
            <a:picLocks xmlns:a="http://schemas.openxmlformats.org/drawingml/2006/main" noChangeAspect="1"/>
          </p:cNvPicPr>
          <p:nvPr/>
        </p:nvPicPr>
        <p:blipFill>
          <a:blip xmlns:r="http://schemas.openxmlformats.org/officeDocument/2006/relationships" xmlns:a="http://schemas.openxmlformats.org/drawingml/2006/main" r:embed="Rc2be3df4f1d341b8"/>
          <a:srcRect xmlns:a="http://schemas.openxmlformats.org/drawingml/2006/main" l="66667" t="0" r="0" b="50000"/>
          <a:stretch xmlns:a="http://schemas.openxmlformats.org/drawingml/2006/main"/>
        </p:blipFill>
        <p:spPr>
          <a:xfrm xmlns:a="http://schemas.openxmlformats.org/drawingml/2006/main">
            <a:off x="785813" y="1952625"/>
            <a:ext cx="3619500" cy="3619500"/>
          </a:xfrm>
          <a:prstGeom xmlns:a="http://schemas.openxmlformats.org/drawingml/2006/main" prst="rect">
            <a:avLst/>
          </a:prstGeom>
        </p:spPr>
      </p:pic>
      <p:graphicFrame>
        <p:nvGraphicFramePr>
          <p:cNvPr id="7" name="Chart">
            <a:extLst xmlns:a="http://schemas.openxmlformats.org/drawingml/2006/main">
              <a:ext uri="{FF2B5EF4-FFF2-40B4-BE49-F238E27FC236}">
                <a16:creationId xmlns:a16="http://schemas.microsoft.com/office/drawing/2014/main" id="{738EEDDC-13EB-4162-9DCE-09BBD8309CA2}"/>
              </a:ext>
            </a:extLst>
          </p:cNvPr>
          <p:cNvGraphicFramePr/>
          <p:nvPr/>
        </p:nvGraphicFramePr>
        <p:xfrm>
          <a:off xmlns:a="http://schemas.openxmlformats.org/drawingml/2006/main" x="5334000" y="1857375"/>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735d950475d94656"/>
          </a:graphicData>
        </a:graphic>
      </p:graphicFrame>
      <p:sp>
        <p:nvSpPr>
          <p:cNvPr id="8" name="">
            <a:extLst xmlns:a="http://schemas.openxmlformats.org/drawingml/2006/main">
              <a:ext uri="{FF2B5EF4-FFF2-40B4-BE49-F238E27FC236}">
                <a16:creationId xmlns:a16="http://schemas.microsoft.com/office/drawing/2014/main" id="{8400776A-4019-4754-9AEC-93C1A2ACF138}"/>
              </a:ext>
            </a:extLst>
          </p:cNvPr>
          <p:cNvSpPr>
            <a:spLocks xmlns:a="http://schemas.openxmlformats.org/drawingml/2006/main" noGrp="1"/>
          </p:cNvSpPr>
          <p:nvPr/>
        </p:nvSpPr>
        <p:spPr>
          <a:xfrm xmlns:a="http://schemas.openxmlformats.org/drawingml/2006/main">
            <a:off x="5381625" y="5524500"/>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637D84"/>
                </a:solidFill>
                <a:latin typeface="DejaVu Sans"/>
                <a:ea typeface="DejaVu Sans"/>
                <a:cs typeface="DejaVu Sans"/>
              </a:defRPr>
            </a:defPPr>
          </a:lstStyle>
          <a:p xmlns:a="http://schemas.openxmlformats.org/drawingml/2006/main">
            <a:pPr algn="l">
              <a:lnSpc>
                <a:spcPct val="110000"/>
              </a:lnSpc>
              <a:buNone/>
              <a:defRPr sz="1425" b="0" i="0">
                <a:solidFill>
                  <a:srgbClr val="637D84"/>
                </a:solidFill>
                <a:latin typeface="DejaVu Sans"/>
                <a:ea typeface="DejaVu Sans"/>
                <a:cs typeface="DejaVu Sans"/>
              </a:defRPr>
            </a:pPr>
            <a:r>
              <a:rPr sz="1425" b="0" i="0">
                <a:solidFill>
                  <a:srgbClr val="637D84"/>
                </a:solidFill>
                <a:latin typeface="DejaVu Sans"/>
                <a:ea typeface="DejaVu Sans"/>
                <a:cs typeface="DejaVu Sans"/>
              </a:rPr>
              <a:t>Valores reportados por Galarza et al. (2026).</a:t>
            </a:r>
          </a:p>
          <a:p xmlns:a="http://schemas.openxmlformats.org/drawingml/2006/main">
            <a:pPr algn="l">
              <a:lnSpc>
                <a:spcPct val="110000"/>
              </a:lnSpc>
              <a:buNone/>
              <a:defRPr sz="1425" b="0" i="0">
                <a:solidFill>
                  <a:srgbClr val="637D84"/>
                </a:solidFill>
                <a:latin typeface="DejaVu Sans"/>
                <a:ea typeface="DejaVu Sans"/>
                <a:cs typeface="DejaVu Sans"/>
              </a:defRPr>
            </a:pPr>
            <a:r>
              <a:rPr sz="1425" b="0" i="0">
                <a:solidFill>
                  <a:srgbClr val="637D84"/>
                </a:solidFill>
                <a:latin typeface="DejaVu Sans"/>
                <a:ea typeface="DejaVu Sans"/>
                <a:cs typeface="DejaVu Sans"/>
              </a:rPr>
              <a:t>Sin representación de variabilidad.</a:t>
            </a:r>
          </a:p>
        </p:txBody>
      </p:sp>
      <p:sp>
        <p:nvSpPr>
          <p:cNvPr id="9" name="">
            <a:extLst xmlns:a="http://schemas.openxmlformats.org/drawingml/2006/main">
              <a:ext uri="{FF2B5EF4-FFF2-40B4-BE49-F238E27FC236}">
                <a16:creationId xmlns:a16="http://schemas.microsoft.com/office/drawing/2014/main" id="{98358F7D-0F59-43D6-8D6E-DE00B19C9325}"/>
              </a:ext>
            </a:extLst>
          </p:cNvPr>
          <p:cNvSpPr>
            <a:spLocks xmlns:a="http://schemas.openxmlformats.org/drawingml/2006/main" noGrp="1"/>
          </p:cNvSpPr>
          <p:nvPr/>
        </p:nvSpPr>
        <p:spPr>
          <a:xfrm xmlns:a="http://schemas.openxmlformats.org/drawingml/2006/main">
            <a:off x="571500" y="6134100"/>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La composición orienta una prueba de alimentación</a:t>
            </a:r>
          </a:p>
        </p:txBody>
      </p:sp>
    </p:spTree>
    <p:extLst>
      <p:ext uri="{BB962C8B-B14F-4D97-AF65-F5344CB8AC3E}">
        <p14:creationId xmlns:p14="http://schemas.microsoft.com/office/powerpoint/2010/main" val="5277657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AC4AE9-D117-4BAA-B011-6F7735A2F482}"/>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Selección de cepas para remover nitrógeno</a:t>
            </a:r>
          </a:p>
        </p:txBody>
      </p:sp>
      <p:sp>
        <p:nvSpPr>
          <p:cNvPr id="2" name="">
            <a:extLst xmlns:a="http://schemas.openxmlformats.org/drawingml/2006/main">
              <a:ext uri="{FF2B5EF4-FFF2-40B4-BE49-F238E27FC236}">
                <a16:creationId xmlns:a16="http://schemas.microsoft.com/office/drawing/2014/main" id="{14AF00AC-C190-41E5-9054-CE45E7CA021F}"/>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Aislamientos de efluentes porcinos de Ecuador, 2025.</a:t>
            </a:r>
          </a:p>
        </p:txBody>
      </p:sp>
      <p:sp>
        <p:nvSpPr>
          <p:cNvPr id="3" name="">
            <a:extLst xmlns:a="http://schemas.openxmlformats.org/drawingml/2006/main">
              <a:ext uri="{FF2B5EF4-FFF2-40B4-BE49-F238E27FC236}">
                <a16:creationId xmlns:a16="http://schemas.microsoft.com/office/drawing/2014/main" id="{9B8D19B2-5B68-4004-854C-E8A88B17C86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1310D259-5170-4D27-A036-448A1C456A66}"/>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[11]. Esquemas conceptuales.</a:t>
            </a:r>
          </a:p>
        </p:txBody>
      </p:sp>
      <p:sp>
        <p:nvSpPr>
          <p:cNvPr id="5" name="">
            <a:extLst xmlns:a="http://schemas.openxmlformats.org/drawingml/2006/main">
              <a:ext uri="{FF2B5EF4-FFF2-40B4-BE49-F238E27FC236}">
                <a16:creationId xmlns:a16="http://schemas.microsoft.com/office/drawing/2014/main" id="{AB30AAE1-6B00-4263-A206-BC7F6064DE8F}"/>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17 / 27</a:t>
            </a:r>
          </a:p>
        </p:txBody>
      </p:sp>
      <p:pic>
        <p:nvPicPr>
          <p:cNvPr id="6" name="">
            <a:extLst xmlns:a="http://schemas.openxmlformats.org/drawingml/2006/main">
              <a:ext uri="{FF2B5EF4-FFF2-40B4-BE49-F238E27FC236}">
                <a16:creationId xmlns:a16="http://schemas.microsoft.com/office/drawing/2014/main" id="{A74DA3DA-BB67-4D4D-8F75-17F544D42F54}"/>
              </a:ext>
            </a:extLst>
          </p:cNvPr>
          <p:cNvPicPr>
            <a:picLocks xmlns:a="http://schemas.openxmlformats.org/drawingml/2006/main" noChangeAspect="1"/>
          </p:cNvPicPr>
          <p:nvPr/>
        </p:nvPicPr>
        <p:blipFill>
          <a:blip xmlns:r="http://schemas.openxmlformats.org/officeDocument/2006/relationships" xmlns:a="http://schemas.openxmlformats.org/drawingml/2006/main" r:embed="R1577fb8591574e40"/>
          <a:srcRect xmlns:a="http://schemas.openxmlformats.org/drawingml/2006/main" l="33333" t="0" r="33333" b="50000"/>
          <a:stretch xmlns:a="http://schemas.openxmlformats.org/drawingml/2006/main"/>
        </p:blipFill>
        <p:spPr>
          <a:xfrm xmlns:a="http://schemas.openxmlformats.org/drawingml/2006/main">
            <a:off x="1719262" y="174307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6F63A60-349E-4483-A227-6630A5002EDF}"/>
              </a:ext>
            </a:extLst>
          </p:cNvPr>
          <p:cNvSpPr>
            <a:spLocks xmlns:a="http://schemas.openxmlformats.org/drawingml/2006/main" noGrp="1"/>
          </p:cNvSpPr>
          <p:nvPr/>
        </p:nvSpPr>
        <p:spPr>
          <a:xfrm xmlns:a="http://schemas.openxmlformats.org/drawingml/2006/main">
            <a:off x="7429500" y="200025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0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Chlorolobion braunii</a:t>
            </a:r>
          </a:p>
        </p:txBody>
      </p:sp>
      <p:sp>
        <p:nvSpPr>
          <p:cNvPr id="8" name="">
            <a:extLst xmlns:a="http://schemas.openxmlformats.org/drawingml/2006/main">
              <a:ext uri="{FF2B5EF4-FFF2-40B4-BE49-F238E27FC236}">
                <a16:creationId xmlns:a16="http://schemas.microsoft.com/office/drawing/2014/main" id="{EF800085-C5F6-44F6-BB05-88BB8215B34F}"/>
              </a:ext>
            </a:extLst>
          </p:cNvPr>
          <p:cNvSpPr>
            <a:spLocks xmlns:a="http://schemas.openxmlformats.org/drawingml/2006/main" noGrp="1"/>
          </p:cNvSpPr>
          <p:nvPr/>
        </p:nvSpPr>
        <p:spPr>
          <a:xfrm xmlns:a="http://schemas.openxmlformats.org/drawingml/2006/main">
            <a:off x="7429500" y="3133725"/>
            <a:ext cx="4095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67,73% de remoción de</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N-amonio</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Ensayo de 12 días</a:t>
            </a:r>
          </a:p>
        </p:txBody>
      </p:sp>
      <p:sp>
        <p:nvSpPr>
          <p:cNvPr id="9" name="">
            <a:extLst xmlns:a="http://schemas.openxmlformats.org/drawingml/2006/main">
              <a:ext uri="{FF2B5EF4-FFF2-40B4-BE49-F238E27FC236}">
                <a16:creationId xmlns:a16="http://schemas.microsoft.com/office/drawing/2014/main" id="{9C730F75-4E49-4D7A-9FAF-72A5BD197EC9}"/>
              </a:ext>
            </a:extLst>
          </p:cNvPr>
          <p:cNvSpPr>
            <a:spLocks xmlns:a="http://schemas.openxmlformats.org/drawingml/2006/main" noGrp="1"/>
          </p:cNvSpPr>
          <p:nvPr/>
        </p:nvSpPr>
        <p:spPr>
          <a:xfrm xmlns:a="http://schemas.openxmlformats.org/drawingml/2006/main">
            <a:off x="571500" y="60483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Las condiciones del ensayo delimitan la aplicación</a:t>
            </a:r>
          </a:p>
        </p:txBody>
      </p:sp>
    </p:spTree>
    <p:extLst>
      <p:ext uri="{BB962C8B-B14F-4D97-AF65-F5344CB8AC3E}">
        <p14:creationId xmlns:p14="http://schemas.microsoft.com/office/powerpoint/2010/main" val="14809212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FC9A24-D663-43AC-920C-8C9D438DBBD9}"/>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Efluente lácteo, biomasa y plantas</a:t>
            </a:r>
          </a:p>
        </p:txBody>
      </p:sp>
      <p:sp>
        <p:nvSpPr>
          <p:cNvPr id="2" name="">
            <a:extLst xmlns:a="http://schemas.openxmlformats.org/drawingml/2006/main">
              <a:ext uri="{FF2B5EF4-FFF2-40B4-BE49-F238E27FC236}">
                <a16:creationId xmlns:a16="http://schemas.microsoft.com/office/drawing/2014/main" id="{CBF73388-A2F3-467F-8A11-BA51FC5FC785}"/>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Scenedesmus sp. y Phaseolus vulgaris en un estudio de 2025.</a:t>
            </a:r>
          </a:p>
        </p:txBody>
      </p:sp>
      <p:sp>
        <p:nvSpPr>
          <p:cNvPr id="3" name="">
            <a:extLst xmlns:a="http://schemas.openxmlformats.org/drawingml/2006/main">
              <a:ext uri="{FF2B5EF4-FFF2-40B4-BE49-F238E27FC236}">
                <a16:creationId xmlns:a16="http://schemas.microsoft.com/office/drawing/2014/main" id="{8D819BD3-18E5-431B-8528-DB69C4251B03}"/>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AB6A8287-9F91-4889-9967-E6F3E10EB371}"/>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[13]. Esquemas conceptuales.</a:t>
            </a:r>
          </a:p>
        </p:txBody>
      </p:sp>
      <p:sp>
        <p:nvSpPr>
          <p:cNvPr id="5" name="">
            <a:extLst xmlns:a="http://schemas.openxmlformats.org/drawingml/2006/main">
              <a:ext uri="{FF2B5EF4-FFF2-40B4-BE49-F238E27FC236}">
                <a16:creationId xmlns:a16="http://schemas.microsoft.com/office/drawing/2014/main" id="{CB0B220F-4CAB-4EE2-9BDF-7822DA5F894E}"/>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18 / 27</a:t>
            </a:r>
          </a:p>
        </p:txBody>
      </p:sp>
      <p:pic>
        <p:nvPicPr>
          <p:cNvPr id="6" name="">
            <a:extLst xmlns:a="http://schemas.openxmlformats.org/drawingml/2006/main">
              <a:ext uri="{FF2B5EF4-FFF2-40B4-BE49-F238E27FC236}">
                <a16:creationId xmlns:a16="http://schemas.microsoft.com/office/drawing/2014/main" id="{5984F3CB-0446-4766-8391-57DA965290D0}"/>
              </a:ext>
            </a:extLst>
          </p:cNvPr>
          <p:cNvPicPr>
            <a:picLocks xmlns:a="http://schemas.openxmlformats.org/drawingml/2006/main" noChangeAspect="1"/>
          </p:cNvPicPr>
          <p:nvPr/>
        </p:nvPicPr>
        <p:blipFill>
          <a:blip xmlns:r="http://schemas.openxmlformats.org/officeDocument/2006/relationships" xmlns:a="http://schemas.openxmlformats.org/drawingml/2006/main" r:embed="R5316192806a34b74"/>
          <a:srcRect xmlns:a="http://schemas.openxmlformats.org/drawingml/2006/main" l="0" t="50000" r="66667" b="0"/>
          <a:stretch xmlns:a="http://schemas.openxmlformats.org/drawingml/2006/main"/>
        </p:blipFill>
        <p:spPr>
          <a:xfrm xmlns:a="http://schemas.openxmlformats.org/drawingml/2006/main">
            <a:off x="1719263" y="1743075"/>
            <a:ext cx="4095750"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50DD799-EB13-4858-8CC1-DAF9B8B656DA}"/>
              </a:ext>
            </a:extLst>
          </p:cNvPr>
          <p:cNvSpPr>
            <a:spLocks xmlns:a="http://schemas.openxmlformats.org/drawingml/2006/main" noGrp="1"/>
          </p:cNvSpPr>
          <p:nvPr/>
        </p:nvSpPr>
        <p:spPr>
          <a:xfrm xmlns:a="http://schemas.openxmlformats.org/drawingml/2006/main">
            <a:off x="7429500" y="2000250"/>
            <a:ext cx="4095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168E91"/>
                </a:solidFill>
                <a:latin typeface="DejaVu Sans"/>
                <a:ea typeface="DejaVu Sans"/>
                <a:cs typeface="DejaVu Sans"/>
              </a:defRPr>
            </a:defPPr>
          </a:lstStyle>
          <a:p xmlns:a="http://schemas.openxmlformats.org/drawingml/2006/main">
            <a:pPr algn="l">
              <a:lnSpc>
                <a:spcPct val="110000"/>
              </a:lnSpc>
              <a:buNone/>
              <a:defRPr sz="2325" b="1" i="0">
                <a:solidFill>
                  <a:srgbClr val="168E91"/>
                </a:solidFill>
                <a:latin typeface="DejaVu Sans"/>
                <a:ea typeface="DejaVu Sans"/>
                <a:cs typeface="DejaVu Sans"/>
              </a:defRPr>
            </a:pPr>
            <a:r>
              <a:rPr sz="2325" b="1" i="0">
                <a:solidFill>
                  <a:srgbClr val="168E91"/>
                </a:solidFill>
                <a:latin typeface="DejaVu Sans"/>
                <a:ea typeface="DejaVu Sans"/>
                <a:cs typeface="DejaVu Sans"/>
              </a:rPr>
              <a:t>Scenedesmus sp.</a:t>
            </a:r>
          </a:p>
        </p:txBody>
      </p:sp>
      <p:sp>
        <p:nvSpPr>
          <p:cNvPr id="8" name="">
            <a:extLst xmlns:a="http://schemas.openxmlformats.org/drawingml/2006/main">
              <a:ext uri="{FF2B5EF4-FFF2-40B4-BE49-F238E27FC236}">
                <a16:creationId xmlns:a16="http://schemas.microsoft.com/office/drawing/2014/main" id="{6A6AB6AD-76C8-4E99-BE8C-A6A879AFA546}"/>
              </a:ext>
            </a:extLst>
          </p:cNvPr>
          <p:cNvSpPr>
            <a:spLocks xmlns:a="http://schemas.openxmlformats.org/drawingml/2006/main" noGrp="1"/>
          </p:cNvSpPr>
          <p:nvPr/>
        </p:nvSpPr>
        <p:spPr>
          <a:xfrm xmlns:a="http://schemas.openxmlformats.org/drawingml/2006/main">
            <a:off x="7429500" y="3133725"/>
            <a:ext cx="4095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i="0">
                <a:solidFill>
                  <a:srgbClr val="203E49"/>
                </a:solidFill>
                <a:latin typeface="DejaVu Sans"/>
                <a:ea typeface="DejaVu Sans"/>
                <a:cs typeface="DejaVu Sans"/>
              </a:defRPr>
            </a:defPPr>
          </a:lstStyle>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Medio con efluente lácteo</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Biomasa y extractos</a:t>
            </a:r>
          </a:p>
          <a:p xmlns:a="http://schemas.openxmlformats.org/drawingml/2006/main">
            <a:r>
              <a:t/>
            </a:r>
          </a:p>
          <a:p xmlns:a="http://schemas.openxmlformats.org/drawingml/2006/main">
            <a:pPr algn="l">
              <a:lnSpc>
                <a:spcPct val="110000"/>
              </a:lnSpc>
              <a:buNone/>
              <a:defRPr sz="2025" b="0" i="0">
                <a:solidFill>
                  <a:srgbClr val="203E49"/>
                </a:solidFill>
                <a:latin typeface="DejaVu Sans"/>
                <a:ea typeface="DejaVu Sans"/>
                <a:cs typeface="DejaVu Sans"/>
              </a:defRPr>
            </a:pPr>
            <a:r>
              <a:rPr sz="2025" b="0" i="0">
                <a:solidFill>
                  <a:srgbClr val="203E49"/>
                </a:solidFill>
                <a:latin typeface="DejaVu Sans"/>
                <a:ea typeface="DejaVu Sans"/>
                <a:cs typeface="DejaVu Sans"/>
              </a:rPr>
              <a:t>Ensayo en frijol</a:t>
            </a:r>
          </a:p>
        </p:txBody>
      </p:sp>
      <p:sp>
        <p:nvSpPr>
          <p:cNvPr id="9" name="">
            <a:extLst xmlns:a="http://schemas.openxmlformats.org/drawingml/2006/main">
              <a:ext uri="{FF2B5EF4-FFF2-40B4-BE49-F238E27FC236}">
                <a16:creationId xmlns:a16="http://schemas.microsoft.com/office/drawing/2014/main" id="{A957477D-FD04-4123-AF71-45B8A8F0EF0F}"/>
              </a:ext>
            </a:extLst>
          </p:cNvPr>
          <p:cNvSpPr>
            <a:spLocks xmlns:a="http://schemas.openxmlformats.org/drawingml/2006/main" noGrp="1"/>
          </p:cNvSpPr>
          <p:nvPr/>
        </p:nvSpPr>
        <p:spPr>
          <a:xfrm xmlns:a="http://schemas.openxmlformats.org/drawingml/2006/main">
            <a:off x="571500" y="604837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i="0">
                <a:solidFill>
                  <a:srgbClr val="203E49"/>
                </a:solidFill>
                <a:latin typeface="DejaVu Sans"/>
                <a:ea typeface="DejaVu Sans"/>
                <a:cs typeface="DejaVu Sans"/>
              </a:defRPr>
            </a:defPPr>
          </a:lstStyle>
          <a:p xmlns:a="http://schemas.openxmlformats.org/drawingml/2006/main">
            <a:pPr algn="ctr">
              <a:lnSpc>
                <a:spcPct val="110000"/>
              </a:lnSpc>
              <a:buNone/>
              <a:defRPr sz="1800" b="1" i="0">
                <a:solidFill>
                  <a:srgbClr val="203E49"/>
                </a:solidFill>
                <a:latin typeface="DejaVu Sans"/>
                <a:ea typeface="DejaVu Sans"/>
                <a:cs typeface="DejaVu Sans"/>
              </a:defRPr>
            </a:pPr>
            <a:r>
              <a:rPr sz="1800" b="1" i="0">
                <a:solidFill>
                  <a:srgbClr val="203E49"/>
                </a:solidFill>
                <a:latin typeface="DejaVu Sans"/>
                <a:ea typeface="DejaVu Sans"/>
                <a:cs typeface="DejaVu Sans"/>
              </a:rPr>
              <a:t>La evaluación conecta recuperación de nutrientes y respuesta vegetal</a:t>
            </a:r>
          </a:p>
        </p:txBody>
      </p:sp>
    </p:spTree>
    <p:extLst>
      <p:ext uri="{BB962C8B-B14F-4D97-AF65-F5344CB8AC3E}">
        <p14:creationId xmlns:p14="http://schemas.microsoft.com/office/powerpoint/2010/main" val="12205488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6BF603-07FC-4F77-9A95-FD1D887C034B}"/>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Aplicación y alcance de la evidencia</a:t>
            </a:r>
          </a:p>
        </p:txBody>
      </p:sp>
      <p:sp>
        <p:nvSpPr>
          <p:cNvPr id="2" name="">
            <a:extLst xmlns:a="http://schemas.openxmlformats.org/drawingml/2006/main">
              <a:ext uri="{FF2B5EF4-FFF2-40B4-BE49-F238E27FC236}">
                <a16:creationId xmlns:a16="http://schemas.microsoft.com/office/drawing/2014/main" id="{A2599EFE-53A5-498E-BCC2-9E41770FED18}"/>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Cuatro estudios ecuatorianos responden preguntas diferentes.</a:t>
            </a:r>
          </a:p>
        </p:txBody>
      </p:sp>
      <p:sp>
        <p:nvSpPr>
          <p:cNvPr id="3" name="">
            <a:extLst xmlns:a="http://schemas.openxmlformats.org/drawingml/2006/main">
              <a:ext uri="{FF2B5EF4-FFF2-40B4-BE49-F238E27FC236}">
                <a16:creationId xmlns:a16="http://schemas.microsoft.com/office/drawing/2014/main" id="{A225ECAE-5CBA-4CD4-AAAA-A4E2074EE209}"/>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DED3C76-B847-49A8-A6BB-E83CC0496DC7}"/>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[10] [11] [12] [13]. Esquemas conceptuales.</a:t>
            </a:r>
          </a:p>
        </p:txBody>
      </p:sp>
      <p:sp>
        <p:nvSpPr>
          <p:cNvPr id="5" name="">
            <a:extLst xmlns:a="http://schemas.openxmlformats.org/drawingml/2006/main">
              <a:ext uri="{FF2B5EF4-FFF2-40B4-BE49-F238E27FC236}">
                <a16:creationId xmlns:a16="http://schemas.microsoft.com/office/drawing/2014/main" id="{F32706F0-D31E-4259-B135-D5B481F243AD}"/>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19 / 27</a:t>
            </a:r>
          </a:p>
        </p:txBody>
      </p:sp>
      <p:graphicFrame>
        <p:nvGraphicFramePr>
          <p:cNvPr id="6" name="">
            <a:extLst xmlns:a="http://schemas.openxmlformats.org/drawingml/2006/main">
              <a:ext uri="{FF2B5EF4-FFF2-40B4-BE49-F238E27FC236}">
                <a16:creationId xmlns:a16="http://schemas.microsoft.com/office/drawing/2014/main" id="{8CE07D6D-87B9-476E-8CD9-813A5FB51869}"/>
              </a:ext>
            </a:extLst>
          </p:cNvPr>
          <p:cNvGraphicFramePr/>
          <p:nvPr/>
        </p:nvGraphicFramePr>
        <p:xfrm>
          <a:off xmlns:a="http://schemas.openxmlformats.org/drawingml/2006/main" x="552450" y="2047875"/>
          <a:ext xmlns:a="http://schemas.openxmlformats.org/drawingml/2006/main" cx="11087100" cy="4029075"/>
        </p:xfrm>
        <a:graphic xmlns:a="http://schemas.openxmlformats.org/drawingml/2006/main">
          <a:graphicData uri="http://schemas.openxmlformats.org/drawingml/2006/table">
            <a:tbl>
              <a:tblPr/>
              <a:tblGrid>
                <a:gridCol w="2809875"/>
                <a:gridCol w="4095750"/>
                <a:gridCol w="4181475"/>
              </a:tblGrid>
              <a:tr h="561975">
                <a:tc>
                  <a:txBody>
                    <a:bodyPr lIns="104775" tIns="104775" rIns="104775" bIns="104775"/>
                    <a:lstStyle/>
                    <a:p>
                      <a:pPr>
                        <a:lnSpc>
                          <a:spcPct val="108000"/>
                        </a:lnSpc>
                        <a:buNone/>
                      </a:pPr>
                      <a:r>
                        <a:rPr sz="1725" b="1">
                          <a:solidFill>
                            <a:srgbClr val="FFFFFF"/>
                          </a:solidFill>
                          <a:latin typeface="DejaVu Sans"/>
                          <a:ea typeface="DejaVu Sans"/>
                          <a:cs typeface="DejaVu Sans"/>
                        </a:rPr>
                        <a:t>Estudio</a:t>
                      </a:r>
                    </a:p>
                  </a:txBody>
                  <a:tcPr marL="91440" marR="91440" marT="45720" marB="45720" anchor="ctr">
                    <a:lnL w="9525">
                      <a:solidFill>
                        <a:srgbClr val="DCE5E7"/>
                      </a:solidFill>
                      <a:prstDash val="solid"/>
                    </a:lnL>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04775" tIns="104775" rIns="104775" bIns="104775"/>
                    <a:lstStyle/>
                    <a:p>
                      <a:pPr>
                        <a:lnSpc>
                          <a:spcPct val="108000"/>
                        </a:lnSpc>
                        <a:buNone/>
                      </a:pPr>
                      <a:r>
                        <a:rPr sz="1725" b="1">
                          <a:solidFill>
                            <a:srgbClr val="FFFFFF"/>
                          </a:solidFill>
                          <a:latin typeface="DejaVu Sans"/>
                          <a:ea typeface="DejaVu Sans"/>
                          <a:cs typeface="DejaVu Sans"/>
                        </a:rPr>
                        <a:t>Evidencia medida</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c>
                  <a:txBody>
                    <a:bodyPr lIns="104775" tIns="104775" rIns="104775" bIns="104775"/>
                    <a:lstStyle/>
                    <a:p>
                      <a:pPr>
                        <a:lnSpc>
                          <a:spcPct val="108000"/>
                        </a:lnSpc>
                        <a:buNone/>
                      </a:pPr>
                      <a:r>
                        <a:rPr sz="1725" b="1">
                          <a:solidFill>
                            <a:srgbClr val="FFFFFF"/>
                          </a:solidFill>
                          <a:latin typeface="DejaVu Sans"/>
                          <a:ea typeface="DejaVu Sans"/>
                          <a:cs typeface="DejaVu Sans"/>
                        </a:rPr>
                        <a:t>Aplicación investigada</a:t>
                      </a:r>
                    </a:p>
                  </a:txBody>
                  <a:tcPr marL="91440" marR="91440" marT="45720" marB="45720" anchor="ctr">
                    <a:lnR w="9525">
                      <a:solidFill>
                        <a:srgbClr val="DCE5E7"/>
                      </a:solidFill>
                      <a:prstDash val="solid"/>
                    </a:lnR>
                    <a:lnT w="9525">
                      <a:solidFill>
                        <a:srgbClr val="DCE5E7"/>
                      </a:solidFill>
                      <a:prstDash val="solid"/>
                    </a:lnT>
                    <a:lnB w="9525">
                      <a:solidFill>
                        <a:srgbClr val="DCE5E7"/>
                      </a:solidFill>
                      <a:prstDash val="solid"/>
                    </a:lnB>
                    <a:solidFill>
                      <a:srgbClr val="203E49"/>
                    </a:solidFill>
                  </a:tcPr>
                </a:tc>
              </a:tr>
              <a:tr h="866775">
                <a:tc>
                  <a:txBody>
                    <a:bodyPr lIns="104775" tIns="104775" rIns="104775" bIns="104775"/>
                    <a:lstStyle/>
                    <a:p>
                      <a:pPr>
                        <a:lnSpc>
                          <a:spcPct val="108000"/>
                        </a:lnSpc>
                        <a:buNone/>
                      </a:pPr>
                      <a:r>
                        <a:rPr sz="1725" b="1">
                          <a:solidFill>
                            <a:srgbClr val="203E49"/>
                          </a:solidFill>
                          <a:latin typeface="DejaVu Sans"/>
                          <a:ea typeface="DejaVu Sans"/>
                          <a:cs typeface="DejaVu Sans"/>
                        </a:rPr>
                        <a:t>Santa Elena, 2026</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Identidad y composición</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Nutrición acuícola potencial</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866775">
                <a:tc>
                  <a:txBody>
                    <a:bodyPr lIns="104775" tIns="104775" rIns="104775" bIns="104775"/>
                    <a:lstStyle/>
                    <a:p>
                      <a:pPr>
                        <a:lnSpc>
                          <a:spcPct val="108000"/>
                        </a:lnSpc>
                        <a:buNone/>
                      </a:pPr>
                      <a:r>
                        <a:rPr sz="1725" b="1">
                          <a:solidFill>
                            <a:srgbClr val="203E49"/>
                          </a:solidFill>
                          <a:latin typeface="DejaVu Sans"/>
                          <a:ea typeface="DejaVu Sans"/>
                          <a:cs typeface="DejaVu Sans"/>
                        </a:rPr>
                        <a:t>Aislamientos, 2025</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Crecimiento y remoción de N</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Selección para tratamiento</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866775">
                <a:tc>
                  <a:txBody>
                    <a:bodyPr lIns="104775" tIns="104775" rIns="104775" bIns="104775"/>
                    <a:lstStyle/>
                    <a:p>
                      <a:pPr>
                        <a:lnSpc>
                          <a:spcPct val="108000"/>
                        </a:lnSpc>
                        <a:buNone/>
                      </a:pPr>
                      <a:r>
                        <a:rPr sz="1725" b="1">
                          <a:solidFill>
                            <a:srgbClr val="203E49"/>
                          </a:solidFill>
                          <a:latin typeface="DejaVu Sans"/>
                          <a:ea typeface="DejaVu Sans"/>
                          <a:cs typeface="DejaVu Sans"/>
                        </a:rPr>
                        <a:t>Consorcios, 2024</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Biomasa y nutrientes</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Tratamiento con consorcios</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r h="866775">
                <a:tc>
                  <a:txBody>
                    <a:bodyPr lIns="104775" tIns="104775" rIns="104775" bIns="104775"/>
                    <a:lstStyle/>
                    <a:p>
                      <a:pPr>
                        <a:lnSpc>
                          <a:spcPct val="108000"/>
                        </a:lnSpc>
                        <a:buNone/>
                      </a:pPr>
                      <a:r>
                        <a:rPr sz="1725" b="1">
                          <a:solidFill>
                            <a:srgbClr val="203E49"/>
                          </a:solidFill>
                          <a:latin typeface="DejaVu Sans"/>
                          <a:ea typeface="DejaVu Sans"/>
                          <a:cs typeface="DejaVu Sans"/>
                        </a:rPr>
                        <a:t>Scenedesmus, 2025</a:t>
                      </a:r>
                    </a:p>
                  </a:txBody>
                  <a:tcPr marL="91440" marR="91440" marT="45720" marB="45720" anchor="ctr">
                    <a:lnL w="9525">
                      <a:solidFill>
                        <a:srgbClr val="DCE5E7"/>
                      </a:solidFill>
                      <a:prstDash val="solid"/>
                    </a:lnL>
                    <a:lnR w="9525">
                      <a:solidFill>
                        <a:srgbClr val="DCE5E7"/>
                      </a:solidFill>
                      <a:prstDash val="solid"/>
                    </a:lnR>
                    <a:lnB w="9525">
                      <a:solidFill>
                        <a:srgbClr val="DCE5E7"/>
                      </a:solidFill>
                      <a:prstDash val="solid"/>
                    </a:lnB>
                    <a:solidFill>
                      <a:srgbClr val="F1F7EE"/>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Biomasa y respuesta vegetal</a:t>
                      </a:r>
                    </a:p>
                  </a:txBody>
                  <a:tcPr marL="91440" marR="91440" marT="45720" marB="45720" anchor="ctr">
                    <a:lnR w="9525">
                      <a:solidFill>
                        <a:srgbClr val="DCE5E7"/>
                      </a:solidFill>
                      <a:prstDash val="solid"/>
                    </a:lnR>
                    <a:lnB w="9525">
                      <a:solidFill>
                        <a:srgbClr val="DCE5E7"/>
                      </a:solidFill>
                      <a:prstDash val="solid"/>
                    </a:lnB>
                    <a:solidFill>
                      <a:srgbClr val="FFFFFF"/>
                    </a:solidFill>
                  </a:tcPr>
                </a:tc>
                <a:tc>
                  <a:txBody>
                    <a:bodyPr lIns="104775" tIns="104775" rIns="104775" bIns="104775"/>
                    <a:lstStyle/>
                    <a:p>
                      <a:pPr>
                        <a:lnSpc>
                          <a:spcPct val="108000"/>
                        </a:lnSpc>
                        <a:buNone/>
                      </a:pPr>
                      <a:r>
                        <a:rPr sz="1725" b="0">
                          <a:solidFill>
                            <a:srgbClr val="203E49"/>
                          </a:solidFill>
                          <a:latin typeface="DejaVu Sans"/>
                          <a:ea typeface="DejaVu Sans"/>
                          <a:cs typeface="DejaVu Sans"/>
                        </a:rPr>
                        <a:t>Producto para agricultura</a:t>
                      </a:r>
                    </a:p>
                  </a:txBody>
                  <a:tcPr marL="91440" marR="91440" marT="45720" marB="45720" anchor="ctr">
                    <a:lnR w="9525">
                      <a:solidFill>
                        <a:srgbClr val="DCE5E7"/>
                      </a:solidFill>
                      <a:prstDash val="solid"/>
                    </a:lnR>
                    <a:lnB w="9525">
                      <a:solidFill>
                        <a:srgbClr val="DCE5E7"/>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31769A5-2A4E-4F45-A80E-F21DD4EA371F}"/>
              </a:ext>
            </a:extLst>
          </p:cNvPr>
          <p:cNvSpPr>
            <a:spLocks xmlns:a="http://schemas.openxmlformats.org/drawingml/2006/main" noGrp="1"/>
          </p:cNvSpPr>
          <p:nvPr/>
        </p:nvSpPr>
        <p:spPr>
          <a:xfrm xmlns:a="http://schemas.openxmlformats.org/drawingml/2006/main">
            <a:off x="571500" y="6191250"/>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i="0">
                <a:solidFill>
                  <a:srgbClr val="168E91"/>
                </a:solidFill>
                <a:latin typeface="DejaVu Sans"/>
                <a:ea typeface="DejaVu Sans"/>
                <a:cs typeface="DejaVu Sans"/>
              </a:defRPr>
            </a:defPPr>
          </a:lstStyle>
          <a:p xmlns:a="http://schemas.openxmlformats.org/drawingml/2006/main">
            <a:pPr algn="ctr">
              <a:lnSpc>
                <a:spcPct val="110000"/>
              </a:lnSpc>
              <a:buNone/>
              <a:defRPr sz="1650" b="1" i="0">
                <a:solidFill>
                  <a:srgbClr val="168E91"/>
                </a:solidFill>
                <a:latin typeface="DejaVu Sans"/>
                <a:ea typeface="DejaVu Sans"/>
                <a:cs typeface="DejaVu Sans"/>
              </a:defRPr>
            </a:pPr>
            <a:r>
              <a:rPr sz="1650" b="1" i="0">
                <a:solidFill>
                  <a:srgbClr val="168E91"/>
                </a:solidFill>
                <a:latin typeface="DejaVu Sans"/>
                <a:ea typeface="DejaVu Sans"/>
                <a:cs typeface="DejaVu Sans"/>
              </a:rPr>
              <a:t>La medida debe corresponder a la aplicación que se desea demostrar</a:t>
            </a:r>
          </a:p>
        </p:txBody>
      </p:sp>
    </p:spTree>
    <p:extLst>
      <p:ext uri="{BB962C8B-B14F-4D97-AF65-F5344CB8AC3E}">
        <p14:creationId xmlns:p14="http://schemas.microsoft.com/office/powerpoint/2010/main" val="18494809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920202A-D83A-43C9-81BE-B8FEB12F6FE8}"/>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Actividad: una aplicación con evidencia</a:t>
            </a:r>
          </a:p>
        </p:txBody>
      </p:sp>
      <p:sp>
        <p:nvSpPr>
          <p:cNvPr id="2" name="">
            <a:extLst xmlns:a="http://schemas.openxmlformats.org/drawingml/2006/main">
              <a:ext uri="{FF2B5EF4-FFF2-40B4-BE49-F238E27FC236}">
                <a16:creationId xmlns:a16="http://schemas.microsoft.com/office/drawing/2014/main" id="{4C64658D-2CF2-460D-BBAC-9DA835CBC48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Equipos de 3–4. Un artículo por equipo.</a:t>
            </a:r>
          </a:p>
        </p:txBody>
      </p:sp>
      <p:sp>
        <p:nvSpPr>
          <p:cNvPr id="3" name="">
            <a:extLst xmlns:a="http://schemas.openxmlformats.org/drawingml/2006/main">
              <a:ext uri="{FF2B5EF4-FFF2-40B4-BE49-F238E27FC236}">
                <a16:creationId xmlns:a16="http://schemas.microsoft.com/office/drawing/2014/main" id="{D199C284-5778-48FE-8F07-E2BAD9279DAA}"/>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A440D48F-9D38-4285-B28C-2D2679B36A2E}"/>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[10] [11] [13]. Esquemas conceptuales.</a:t>
            </a:r>
          </a:p>
        </p:txBody>
      </p:sp>
      <p:sp>
        <p:nvSpPr>
          <p:cNvPr id="5" name="">
            <a:extLst xmlns:a="http://schemas.openxmlformats.org/drawingml/2006/main">
              <a:ext uri="{FF2B5EF4-FFF2-40B4-BE49-F238E27FC236}">
                <a16:creationId xmlns:a16="http://schemas.microsoft.com/office/drawing/2014/main" id="{C6960783-8450-4FC6-A5BE-EA80BA641688}"/>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20 / 27</a:t>
            </a:r>
          </a:p>
        </p:txBody>
      </p:sp>
      <p:sp>
        <p:nvSpPr>
          <p:cNvPr id="6" name="">
            <a:extLst xmlns:a="http://schemas.openxmlformats.org/drawingml/2006/main">
              <a:ext uri="{FF2B5EF4-FFF2-40B4-BE49-F238E27FC236}">
                <a16:creationId xmlns:a16="http://schemas.microsoft.com/office/drawing/2014/main" id="{B00976D7-62F4-4156-B150-A544F5C0DB4D}"/>
              </a:ext>
            </a:extLst>
          </p:cNvPr>
          <p:cNvSpPr>
            <a:spLocks xmlns:a="http://schemas.openxmlformats.org/drawingml/2006/main" noGrp="1"/>
          </p:cNvSpPr>
          <p:nvPr/>
        </p:nvSpPr>
        <p:spPr>
          <a:xfrm xmlns:a="http://schemas.openxmlformats.org/drawingml/2006/main">
            <a:off x="619125" y="21431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i="0">
                <a:solidFill>
                  <a:srgbClr val="168E91"/>
                </a:solidFill>
                <a:latin typeface="DejaVu Sans"/>
                <a:ea typeface="DejaVu Sans"/>
                <a:cs typeface="DejaVu Sans"/>
              </a:defRPr>
            </a:defPPr>
          </a:lstStyle>
          <a:p xmlns:a="http://schemas.openxmlformats.org/drawingml/2006/main">
            <a:pPr algn="l">
              <a:lnSpc>
                <a:spcPct val="110000"/>
              </a:lnSpc>
              <a:buNone/>
              <a:defRPr sz="2250" b="1" i="0">
                <a:solidFill>
                  <a:srgbClr val="168E91"/>
                </a:solidFill>
                <a:latin typeface="DejaVu Sans"/>
                <a:ea typeface="DejaVu Sans"/>
                <a:cs typeface="DejaVu Sans"/>
              </a:defRPr>
            </a:pPr>
            <a:r>
              <a:rPr sz="2250" b="1" i="0">
                <a:solidFill>
                  <a:srgbClr val="168E91"/>
                </a:solidFill>
                <a:latin typeface="DejaVu Sans"/>
                <a:ea typeface="DejaVu Sans"/>
                <a:cs typeface="DejaVu Sans"/>
              </a:rPr>
              <a:t>A. Acuicultura</a:t>
            </a:r>
          </a:p>
        </p:txBody>
      </p:sp>
      <p:sp>
        <p:nvSpPr>
          <p:cNvPr id="7" name="">
            <a:extLst xmlns:a="http://schemas.openxmlformats.org/drawingml/2006/main">
              <a:ext uri="{FF2B5EF4-FFF2-40B4-BE49-F238E27FC236}">
                <a16:creationId xmlns:a16="http://schemas.microsoft.com/office/drawing/2014/main" id="{05B36CEF-3848-4877-A00F-B09CA63679D7}"/>
              </a:ext>
            </a:extLst>
          </p:cNvPr>
          <p:cNvSpPr>
            <a:spLocks xmlns:a="http://schemas.openxmlformats.org/drawingml/2006/main" noGrp="1"/>
          </p:cNvSpPr>
          <p:nvPr/>
        </p:nvSpPr>
        <p:spPr>
          <a:xfrm xmlns:a="http://schemas.openxmlformats.org/drawingml/2006/main">
            <a:off x="619125" y="352425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0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¿Qué evidencia permite</a:t>
            </a:r>
          </a:p>
          <a:p xmlns:a="http://schemas.openxmlformats.org/drawingml/2006/main">
            <a:pPr algn="l">
              <a:lnSpc>
                <a:spcPct val="110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proponer una dieta?</a:t>
            </a:r>
          </a:p>
        </p:txBody>
      </p:sp>
      <p:sp>
        <p:nvSpPr>
          <p:cNvPr id="8" name="">
            <a:extLst xmlns:a="http://schemas.openxmlformats.org/drawingml/2006/main">
              <a:ext uri="{FF2B5EF4-FFF2-40B4-BE49-F238E27FC236}">
                <a16:creationId xmlns:a16="http://schemas.microsoft.com/office/drawing/2014/main" id="{D843B9C3-445C-48D5-9B24-41E29AFB4196}"/>
              </a:ext>
            </a:extLst>
          </p:cNvPr>
          <p:cNvSpPr>
            <a:spLocks xmlns:a="http://schemas.openxmlformats.org/drawingml/2006/main" noGrp="1"/>
          </p:cNvSpPr>
          <p:nvPr/>
        </p:nvSpPr>
        <p:spPr>
          <a:xfrm xmlns:a="http://schemas.openxmlformats.org/drawingml/2006/main">
            <a:off x="4429125" y="21431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i="0">
                <a:solidFill>
                  <a:srgbClr val="568E35"/>
                </a:solidFill>
                <a:latin typeface="DejaVu Sans"/>
                <a:ea typeface="DejaVu Sans"/>
                <a:cs typeface="DejaVu Sans"/>
              </a:defRPr>
            </a:defPPr>
          </a:lstStyle>
          <a:p xmlns:a="http://schemas.openxmlformats.org/drawingml/2006/main">
            <a:pPr algn="l">
              <a:lnSpc>
                <a:spcPct val="110000"/>
              </a:lnSpc>
              <a:buNone/>
              <a:defRPr sz="2250" b="1" i="0">
                <a:solidFill>
                  <a:srgbClr val="568E35"/>
                </a:solidFill>
                <a:latin typeface="DejaVu Sans"/>
                <a:ea typeface="DejaVu Sans"/>
                <a:cs typeface="DejaVu Sans"/>
              </a:defRPr>
            </a:pPr>
            <a:r>
              <a:rPr sz="2250" b="1" i="0">
                <a:solidFill>
                  <a:srgbClr val="568E35"/>
                </a:solidFill>
                <a:latin typeface="DejaVu Sans"/>
                <a:ea typeface="DejaVu Sans"/>
                <a:cs typeface="DejaVu Sans"/>
              </a:rPr>
              <a:t>B. Nitrógeno</a:t>
            </a:r>
          </a:p>
        </p:txBody>
      </p:sp>
      <p:sp>
        <p:nvSpPr>
          <p:cNvPr id="9" name="">
            <a:extLst xmlns:a="http://schemas.openxmlformats.org/drawingml/2006/main">
              <a:ext uri="{FF2B5EF4-FFF2-40B4-BE49-F238E27FC236}">
                <a16:creationId xmlns:a16="http://schemas.microsoft.com/office/drawing/2014/main" id="{4EA6BB5A-0AE1-4E13-9499-8A3C3F147BF0}"/>
              </a:ext>
            </a:extLst>
          </p:cNvPr>
          <p:cNvSpPr>
            <a:spLocks xmlns:a="http://schemas.openxmlformats.org/drawingml/2006/main" noGrp="1"/>
          </p:cNvSpPr>
          <p:nvPr/>
        </p:nvSpPr>
        <p:spPr>
          <a:xfrm xmlns:a="http://schemas.openxmlformats.org/drawingml/2006/main">
            <a:off x="4429125" y="352425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0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¿Qué explica la</a:t>
            </a:r>
          </a:p>
          <a:p xmlns:a="http://schemas.openxmlformats.org/drawingml/2006/main">
            <a:pPr algn="l">
              <a:lnSpc>
                <a:spcPct val="110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remoción observada?</a:t>
            </a:r>
          </a:p>
        </p:txBody>
      </p:sp>
      <p:sp>
        <p:nvSpPr>
          <p:cNvPr id="10" name="">
            <a:extLst xmlns:a="http://schemas.openxmlformats.org/drawingml/2006/main">
              <a:ext uri="{FF2B5EF4-FFF2-40B4-BE49-F238E27FC236}">
                <a16:creationId xmlns:a16="http://schemas.microsoft.com/office/drawing/2014/main" id="{1A00DFF5-4169-4CF6-B4FE-E8DFBB944C08}"/>
              </a:ext>
            </a:extLst>
          </p:cNvPr>
          <p:cNvSpPr>
            <a:spLocks xmlns:a="http://schemas.openxmlformats.org/drawingml/2006/main" noGrp="1"/>
          </p:cNvSpPr>
          <p:nvPr/>
        </p:nvSpPr>
        <p:spPr>
          <a:xfrm xmlns:a="http://schemas.openxmlformats.org/drawingml/2006/main">
            <a:off x="8239125" y="21431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i="0">
                <a:solidFill>
                  <a:srgbClr val="B78A37"/>
                </a:solidFill>
                <a:latin typeface="DejaVu Sans"/>
                <a:ea typeface="DejaVu Sans"/>
                <a:cs typeface="DejaVu Sans"/>
              </a:defRPr>
            </a:defPPr>
          </a:lstStyle>
          <a:p xmlns:a="http://schemas.openxmlformats.org/drawingml/2006/main">
            <a:pPr algn="l">
              <a:lnSpc>
                <a:spcPct val="110000"/>
              </a:lnSpc>
              <a:buNone/>
              <a:defRPr sz="2250" b="1" i="0">
                <a:solidFill>
                  <a:srgbClr val="B78A37"/>
                </a:solidFill>
                <a:latin typeface="DejaVu Sans"/>
                <a:ea typeface="DejaVu Sans"/>
                <a:cs typeface="DejaVu Sans"/>
              </a:defRPr>
            </a:pPr>
            <a:r>
              <a:rPr sz="2250" b="1" i="0">
                <a:solidFill>
                  <a:srgbClr val="B78A37"/>
                </a:solidFill>
                <a:latin typeface="DejaVu Sans"/>
                <a:ea typeface="DejaVu Sans"/>
                <a:cs typeface="DejaVu Sans"/>
              </a:rPr>
              <a:t>C. Biomasa</a:t>
            </a:r>
          </a:p>
        </p:txBody>
      </p:sp>
      <p:sp>
        <p:nvSpPr>
          <p:cNvPr id="11" name="">
            <a:extLst xmlns:a="http://schemas.openxmlformats.org/drawingml/2006/main">
              <a:ext uri="{FF2B5EF4-FFF2-40B4-BE49-F238E27FC236}">
                <a16:creationId xmlns:a16="http://schemas.microsoft.com/office/drawing/2014/main" id="{DEDA617D-F404-48F5-BAB4-011A209A4D5B}"/>
              </a:ext>
            </a:extLst>
          </p:cNvPr>
          <p:cNvSpPr>
            <a:spLocks xmlns:a="http://schemas.openxmlformats.org/drawingml/2006/main" noGrp="1"/>
          </p:cNvSpPr>
          <p:nvPr/>
        </p:nvSpPr>
        <p:spPr>
          <a:xfrm xmlns:a="http://schemas.openxmlformats.org/drawingml/2006/main">
            <a:off x="8239125" y="3524250"/>
            <a:ext cx="3333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i="0">
                <a:solidFill>
                  <a:srgbClr val="203E49"/>
                </a:solidFill>
                <a:latin typeface="DejaVu Sans"/>
                <a:ea typeface="DejaVu Sans"/>
                <a:cs typeface="DejaVu Sans"/>
              </a:defRPr>
            </a:defPPr>
          </a:lstStyle>
          <a:p xmlns:a="http://schemas.openxmlformats.org/drawingml/2006/main">
            <a:pPr algn="l">
              <a:lnSpc>
                <a:spcPct val="110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¿Qué prueba el ensayo</a:t>
            </a:r>
          </a:p>
          <a:p xmlns:a="http://schemas.openxmlformats.org/drawingml/2006/main">
            <a:pPr algn="l">
              <a:lnSpc>
                <a:spcPct val="110000"/>
              </a:lnSpc>
              <a:buNone/>
              <a:defRPr sz="2100" b="0" i="0">
                <a:solidFill>
                  <a:srgbClr val="203E49"/>
                </a:solidFill>
                <a:latin typeface="DejaVu Sans"/>
                <a:ea typeface="DejaVu Sans"/>
                <a:cs typeface="DejaVu Sans"/>
              </a:defRPr>
            </a:pPr>
            <a:r>
              <a:rPr sz="2100" b="0" i="0">
                <a:solidFill>
                  <a:srgbClr val="203E49"/>
                </a:solidFill>
                <a:latin typeface="DejaVu Sans"/>
                <a:ea typeface="DejaVu Sans"/>
                <a:cs typeface="DejaVu Sans"/>
              </a:rPr>
              <a:t>en plantas?</a:t>
            </a:r>
          </a:p>
        </p:txBody>
      </p:sp>
      <p:sp>
        <p:nvSpPr>
          <p:cNvPr id="12" name="">
            <a:extLst xmlns:a="http://schemas.openxmlformats.org/drawingml/2006/main">
              <a:ext uri="{FF2B5EF4-FFF2-40B4-BE49-F238E27FC236}">
                <a16:creationId xmlns:a16="http://schemas.microsoft.com/office/drawing/2014/main" id="{AB2B48E0-963E-4960-9105-AC3FA1595112}"/>
              </a:ext>
            </a:extLst>
          </p:cNvPr>
          <p:cNvSpPr>
            <a:spLocks xmlns:a="http://schemas.openxmlformats.org/drawingml/2006/main" noGrp="1"/>
          </p:cNvSpPr>
          <p:nvPr/>
        </p:nvSpPr>
        <p:spPr>
          <a:xfrm xmlns:a="http://schemas.openxmlformats.org/drawingml/2006/main">
            <a:off x="571500" y="5457825"/>
            <a:ext cx="11049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i="0">
                <a:solidFill>
                  <a:srgbClr val="203E49"/>
                </a:solidFill>
                <a:latin typeface="DejaVu Sans"/>
                <a:ea typeface="DejaVu Sans"/>
                <a:cs typeface="DejaVu Sans"/>
              </a:defRPr>
            </a:defPPr>
          </a:lstStyle>
          <a:p xmlns:a="http://schemas.openxmlformats.org/drawingml/2006/main">
            <a:pPr algn="ctr">
              <a:lnSpc>
                <a:spcPct val="110000"/>
              </a:lnSpc>
              <a:buNone/>
              <a:defRPr sz="2100" b="1" i="0">
                <a:solidFill>
                  <a:srgbClr val="203E49"/>
                </a:solidFill>
                <a:latin typeface="DejaVu Sans"/>
                <a:ea typeface="DejaVu Sans"/>
                <a:cs typeface="DejaVu Sans"/>
              </a:defRPr>
            </a:pPr>
            <a:r>
              <a:rPr sz="2100" b="1" i="0">
                <a:solidFill>
                  <a:srgbClr val="203E49"/>
                </a:solidFill>
                <a:latin typeface="DejaVu Sans"/>
                <a:ea typeface="DejaVu Sans"/>
                <a:cs typeface="DejaVu Sans"/>
              </a:rPr>
              <a:t>Estructura, proceso, resultado y siguiente comparación</a:t>
            </a:r>
          </a:p>
        </p:txBody>
      </p:sp>
      <p:sp>
        <p:nvSpPr>
          <p:cNvPr id="13" name="">
            <a:extLst xmlns:a="http://schemas.openxmlformats.org/drawingml/2006/main">
              <a:ext uri="{FF2B5EF4-FFF2-40B4-BE49-F238E27FC236}">
                <a16:creationId xmlns:a16="http://schemas.microsoft.com/office/drawing/2014/main" id="{41ED950A-B99C-4C0F-9B13-BB57057B924B}"/>
              </a:ext>
            </a:extLst>
          </p:cNvPr>
          <p:cNvSpPr>
            <a:spLocks xmlns:a="http://schemas.openxmlformats.org/drawingml/2006/main" noGrp="1"/>
          </p:cNvSpPr>
          <p:nvPr/>
        </p:nvSpPr>
        <p:spPr>
          <a:xfrm xmlns:a="http://schemas.openxmlformats.org/drawingml/2006/main">
            <a:off x="619125" y="6048375"/>
            <a:ext cx="10953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0" i="0">
                <a:solidFill>
                  <a:srgbClr val="637D84"/>
                </a:solidFill>
                <a:latin typeface="DejaVu Sans"/>
                <a:ea typeface="DejaVu Sans"/>
                <a:cs typeface="DejaVu Sans"/>
              </a:defRPr>
            </a:defPPr>
          </a:lstStyle>
          <a:p xmlns:a="http://schemas.openxmlformats.org/drawingml/2006/main">
            <a:pPr algn="ctr">
              <a:lnSpc>
                <a:spcPct val="110000"/>
              </a:lnSpc>
              <a:buNone/>
              <a:defRPr sz="1650" b="0" i="0">
                <a:solidFill>
                  <a:srgbClr val="637D84"/>
                </a:solidFill>
                <a:latin typeface="DejaVu Sans"/>
                <a:ea typeface="DejaVu Sans"/>
                <a:cs typeface="DejaVu Sans"/>
              </a:defRPr>
            </a:pPr>
            <a:r>
              <a:rPr sz="1650" b="0" i="0">
                <a:solidFill>
                  <a:srgbClr val="637D84"/>
                </a:solidFill>
                <a:latin typeface="DejaVu Sans"/>
                <a:ea typeface="DejaVu Sans"/>
                <a:cs typeface="DejaVu Sans"/>
              </a:rPr>
              <a:t>2 min lectura 5 min análisis 3 min puesta en común</a:t>
            </a:r>
          </a:p>
        </p:txBody>
      </p:sp>
    </p:spTree>
    <p:extLst>
      <p:ext uri="{BB962C8B-B14F-4D97-AF65-F5344CB8AC3E}">
        <p14:creationId xmlns:p14="http://schemas.microsoft.com/office/powerpoint/2010/main" val="19157267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C4D8A25-B531-45DD-981C-3B8A1B273F1C}"/>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Cierre: célula, proceso y aplicación</a:t>
            </a:r>
          </a:p>
        </p:txBody>
      </p:sp>
      <p:sp>
        <p:nvSpPr>
          <p:cNvPr id="2" name="">
            <a:extLst xmlns:a="http://schemas.openxmlformats.org/drawingml/2006/main">
              <a:ext uri="{FF2B5EF4-FFF2-40B4-BE49-F238E27FC236}">
                <a16:creationId xmlns:a16="http://schemas.microsoft.com/office/drawing/2014/main" id="{140FE33B-0839-4710-A6A6-3423ED4462C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Una explicación individual de un minuto.</a:t>
            </a:r>
          </a:p>
        </p:txBody>
      </p:sp>
      <p:sp>
        <p:nvSpPr>
          <p:cNvPr id="3" name="">
            <a:extLst xmlns:a="http://schemas.openxmlformats.org/drawingml/2006/main">
              <a:ext uri="{FF2B5EF4-FFF2-40B4-BE49-F238E27FC236}">
                <a16:creationId xmlns:a16="http://schemas.microsoft.com/office/drawing/2014/main" id="{4A341F5F-1CB0-4E8B-B75E-482F54CA93F8}"/>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6B9CC19D-BA5B-46E6-8138-35B2DE6B3602}"/>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Fuentes: [1] [4] [5] [10] [11] [13]. Esquemas conceptuales.</a:t>
            </a:r>
          </a:p>
        </p:txBody>
      </p:sp>
      <p:sp>
        <p:nvSpPr>
          <p:cNvPr id="5" name="">
            <a:extLst xmlns:a="http://schemas.openxmlformats.org/drawingml/2006/main">
              <a:ext uri="{FF2B5EF4-FFF2-40B4-BE49-F238E27FC236}">
                <a16:creationId xmlns:a16="http://schemas.microsoft.com/office/drawing/2014/main" id="{A304B5F7-2CBB-48E1-8992-87156286E8E0}"/>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21 / 27</a:t>
            </a:r>
          </a:p>
        </p:txBody>
      </p:sp>
      <p:sp>
        <p:nvSpPr>
          <p:cNvPr id="6" name="">
            <a:extLst xmlns:a="http://schemas.openxmlformats.org/drawingml/2006/main">
              <a:ext uri="{FF2B5EF4-FFF2-40B4-BE49-F238E27FC236}">
                <a16:creationId xmlns:a16="http://schemas.microsoft.com/office/drawing/2014/main" id="{37E5AE87-78DF-460F-BC7C-2310B987A7CD}"/>
              </a:ext>
            </a:extLst>
          </p:cNvPr>
          <p:cNvSpPr>
            <a:spLocks xmlns:a="http://schemas.openxmlformats.org/drawingml/2006/main" noGrp="1"/>
          </p:cNvSpPr>
          <p:nvPr/>
        </p:nvSpPr>
        <p:spPr>
          <a:xfrm xmlns:a="http://schemas.openxmlformats.org/drawingml/2006/main">
            <a:off x="714375" y="2143125"/>
            <a:ext cx="71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i="0">
                <a:solidFill>
                  <a:srgbClr val="168E91"/>
                </a:solidFill>
                <a:latin typeface="DejaVu Sans"/>
                <a:ea typeface="DejaVu Sans"/>
                <a:cs typeface="DejaVu Sans"/>
              </a:defRPr>
            </a:defPPr>
          </a:lstStyle>
          <a:p xmlns:a="http://schemas.openxmlformats.org/drawingml/2006/main">
            <a:pPr algn="l">
              <a:lnSpc>
                <a:spcPct val="110000"/>
              </a:lnSpc>
              <a:buNone/>
              <a:defRPr sz="3300" b="1" i="0">
                <a:solidFill>
                  <a:srgbClr val="168E91"/>
                </a:solidFill>
                <a:latin typeface="DejaVu Sans"/>
                <a:ea typeface="DejaVu Sans"/>
                <a:cs typeface="DejaVu Sans"/>
              </a:defRPr>
            </a:pPr>
            <a:r>
              <a:rPr sz="3300" b="1" i="0">
                <a:solidFill>
                  <a:srgbClr val="168E91"/>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0554B2AC-8E0A-4801-8D91-C388FFF33E91}"/>
              </a:ext>
            </a:extLst>
          </p:cNvPr>
          <p:cNvSpPr>
            <a:spLocks xmlns:a="http://schemas.openxmlformats.org/drawingml/2006/main" noGrp="1"/>
          </p:cNvSpPr>
          <p:nvPr/>
        </p:nvSpPr>
        <p:spPr>
          <a:xfrm xmlns:a="http://schemas.openxmlformats.org/drawingml/2006/main">
            <a:off x="1809750" y="2181225"/>
            <a:ext cx="9525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203E49"/>
                </a:solidFill>
                <a:latin typeface="DejaVu Sans"/>
                <a:ea typeface="DejaVu Sans"/>
                <a:cs typeface="DejaVu Sans"/>
              </a:defRPr>
            </a:defPPr>
          </a:lstStyle>
          <a:p xmlns:a="http://schemas.openxmlformats.org/drawingml/2006/main">
            <a:pPr algn="l">
              <a:lnSpc>
                <a:spcPct val="110000"/>
              </a:lnSpc>
              <a:buNone/>
              <a:defRPr sz="2325" b="1" i="0">
                <a:solidFill>
                  <a:srgbClr val="203E49"/>
                </a:solidFill>
                <a:latin typeface="DejaVu Sans"/>
                <a:ea typeface="DejaVu Sans"/>
                <a:cs typeface="DejaVu Sans"/>
              </a:defRPr>
            </a:pPr>
            <a:r>
              <a:rPr sz="2325" b="1" i="0">
                <a:solidFill>
                  <a:srgbClr val="203E49"/>
                </a:solidFill>
                <a:latin typeface="DejaVu Sans"/>
                <a:ea typeface="DejaVu Sans"/>
                <a:cs typeface="DejaVu Sans"/>
              </a:rPr>
              <a:t>Un organismo y su linaje</a:t>
            </a:r>
          </a:p>
        </p:txBody>
      </p:sp>
      <p:sp>
        <p:nvSpPr>
          <p:cNvPr id="8" name="">
            <a:extLst xmlns:a="http://schemas.openxmlformats.org/drawingml/2006/main">
              <a:ext uri="{FF2B5EF4-FFF2-40B4-BE49-F238E27FC236}">
                <a16:creationId xmlns:a16="http://schemas.microsoft.com/office/drawing/2014/main" id="{E99D434B-1F07-4555-98ED-9A8E8344950A}"/>
              </a:ext>
            </a:extLst>
          </p:cNvPr>
          <p:cNvSpPr>
            <a:spLocks xmlns:a="http://schemas.openxmlformats.org/drawingml/2006/main" noGrp="1"/>
          </p:cNvSpPr>
          <p:nvPr/>
        </p:nvSpPr>
        <p:spPr>
          <a:xfrm xmlns:a="http://schemas.openxmlformats.org/drawingml/2006/main">
            <a:off x="714375" y="3571875"/>
            <a:ext cx="71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i="0">
                <a:solidFill>
                  <a:srgbClr val="168E91"/>
                </a:solidFill>
                <a:latin typeface="DejaVu Sans"/>
                <a:ea typeface="DejaVu Sans"/>
                <a:cs typeface="DejaVu Sans"/>
              </a:defRPr>
            </a:defPPr>
          </a:lstStyle>
          <a:p xmlns:a="http://schemas.openxmlformats.org/drawingml/2006/main">
            <a:pPr algn="l">
              <a:lnSpc>
                <a:spcPct val="110000"/>
              </a:lnSpc>
              <a:buNone/>
              <a:defRPr sz="3300" b="1" i="0">
                <a:solidFill>
                  <a:srgbClr val="168E91"/>
                </a:solidFill>
                <a:latin typeface="DejaVu Sans"/>
                <a:ea typeface="DejaVu Sans"/>
                <a:cs typeface="DejaVu Sans"/>
              </a:defRPr>
            </a:pPr>
            <a:r>
              <a:rPr sz="3300" b="1" i="0">
                <a:solidFill>
                  <a:srgbClr val="168E91"/>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1FE07431-2227-4D58-B3EE-C196291FC502}"/>
              </a:ext>
            </a:extLst>
          </p:cNvPr>
          <p:cNvSpPr>
            <a:spLocks xmlns:a="http://schemas.openxmlformats.org/drawingml/2006/main" noGrp="1"/>
          </p:cNvSpPr>
          <p:nvPr/>
        </p:nvSpPr>
        <p:spPr>
          <a:xfrm xmlns:a="http://schemas.openxmlformats.org/drawingml/2006/main">
            <a:off x="1809750" y="3609975"/>
            <a:ext cx="9525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203E49"/>
                </a:solidFill>
                <a:latin typeface="DejaVu Sans"/>
                <a:ea typeface="DejaVu Sans"/>
                <a:cs typeface="DejaVu Sans"/>
              </a:defRPr>
            </a:defPPr>
          </a:lstStyle>
          <a:p xmlns:a="http://schemas.openxmlformats.org/drawingml/2006/main">
            <a:pPr algn="l">
              <a:lnSpc>
                <a:spcPct val="110000"/>
              </a:lnSpc>
              <a:buNone/>
              <a:defRPr sz="2325" b="1" i="0">
                <a:solidFill>
                  <a:srgbClr val="203E49"/>
                </a:solidFill>
                <a:latin typeface="DejaVu Sans"/>
                <a:ea typeface="DejaVu Sans"/>
                <a:cs typeface="DejaVu Sans"/>
              </a:defRPr>
            </a:pPr>
            <a:r>
              <a:rPr sz="2325" b="1" i="0">
                <a:solidFill>
                  <a:srgbClr val="203E49"/>
                </a:solidFill>
                <a:latin typeface="DejaVu Sans"/>
                <a:ea typeface="DejaVu Sans"/>
                <a:cs typeface="DejaVu Sans"/>
              </a:rPr>
              <a:t>Una estructura y un proceso metabólico</a:t>
            </a:r>
          </a:p>
        </p:txBody>
      </p:sp>
      <p:sp>
        <p:nvSpPr>
          <p:cNvPr id="10" name="">
            <a:extLst xmlns:a="http://schemas.openxmlformats.org/drawingml/2006/main">
              <a:ext uri="{FF2B5EF4-FFF2-40B4-BE49-F238E27FC236}">
                <a16:creationId xmlns:a16="http://schemas.microsoft.com/office/drawing/2014/main" id="{22569A78-185C-4574-BDB6-0C5F670F169A}"/>
              </a:ext>
            </a:extLst>
          </p:cNvPr>
          <p:cNvSpPr>
            <a:spLocks xmlns:a="http://schemas.openxmlformats.org/drawingml/2006/main" noGrp="1"/>
          </p:cNvSpPr>
          <p:nvPr/>
        </p:nvSpPr>
        <p:spPr>
          <a:xfrm xmlns:a="http://schemas.openxmlformats.org/drawingml/2006/main">
            <a:off x="714375" y="5000625"/>
            <a:ext cx="71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300" b="1" i="0">
                <a:solidFill>
                  <a:srgbClr val="168E91"/>
                </a:solidFill>
                <a:latin typeface="DejaVu Sans"/>
                <a:ea typeface="DejaVu Sans"/>
                <a:cs typeface="DejaVu Sans"/>
              </a:defRPr>
            </a:defPPr>
          </a:lstStyle>
          <a:p xmlns:a="http://schemas.openxmlformats.org/drawingml/2006/main">
            <a:pPr algn="l">
              <a:lnSpc>
                <a:spcPct val="110000"/>
              </a:lnSpc>
              <a:buNone/>
              <a:defRPr sz="3300" b="1" i="0">
                <a:solidFill>
                  <a:srgbClr val="168E91"/>
                </a:solidFill>
                <a:latin typeface="DejaVu Sans"/>
                <a:ea typeface="DejaVu Sans"/>
                <a:cs typeface="DejaVu Sans"/>
              </a:defRPr>
            </a:pPr>
            <a:r>
              <a:rPr sz="3300" b="1" i="0">
                <a:solidFill>
                  <a:srgbClr val="168E91"/>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CD214D2E-2F31-4B44-A979-526DAEA93E98}"/>
              </a:ext>
            </a:extLst>
          </p:cNvPr>
          <p:cNvSpPr>
            <a:spLocks xmlns:a="http://schemas.openxmlformats.org/drawingml/2006/main" noGrp="1"/>
          </p:cNvSpPr>
          <p:nvPr/>
        </p:nvSpPr>
        <p:spPr>
          <a:xfrm xmlns:a="http://schemas.openxmlformats.org/drawingml/2006/main">
            <a:off x="1809750" y="5038725"/>
            <a:ext cx="9525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i="0">
                <a:solidFill>
                  <a:srgbClr val="203E49"/>
                </a:solidFill>
                <a:latin typeface="DejaVu Sans"/>
                <a:ea typeface="DejaVu Sans"/>
                <a:cs typeface="DejaVu Sans"/>
              </a:defRPr>
            </a:defPPr>
          </a:lstStyle>
          <a:p xmlns:a="http://schemas.openxmlformats.org/drawingml/2006/main">
            <a:pPr algn="l">
              <a:lnSpc>
                <a:spcPct val="110000"/>
              </a:lnSpc>
              <a:buNone/>
              <a:defRPr sz="2325" b="1" i="0">
                <a:solidFill>
                  <a:srgbClr val="203E49"/>
                </a:solidFill>
                <a:latin typeface="DejaVu Sans"/>
                <a:ea typeface="DejaVu Sans"/>
                <a:cs typeface="DejaVu Sans"/>
              </a:defRPr>
            </a:pPr>
            <a:r>
              <a:rPr sz="2325" b="1" i="0">
                <a:solidFill>
                  <a:srgbClr val="203E49"/>
                </a:solidFill>
                <a:latin typeface="DejaVu Sans"/>
                <a:ea typeface="DejaVu Sans"/>
                <a:cs typeface="DejaVu Sans"/>
              </a:rPr>
              <a:t>Una aplicación de Ecuador y el alcance de su evidencia</a:t>
            </a:r>
          </a:p>
        </p:txBody>
      </p:sp>
    </p:spTree>
    <p:extLst>
      <p:ext uri="{BB962C8B-B14F-4D97-AF65-F5344CB8AC3E}">
        <p14:creationId xmlns:p14="http://schemas.microsoft.com/office/powerpoint/2010/main" val="13141582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C45370C-7799-4181-A09B-AC0F41C156BF}"/>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A93413A1-8F09-4375-BAC7-DB5AC09AFA36}"/>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Fundamentos y publicaciones científicas de 2017–2026.</a:t>
            </a:r>
          </a:p>
        </p:txBody>
      </p:sp>
      <p:sp>
        <p:nvSpPr>
          <p:cNvPr id="3" name="">
            <a:extLst xmlns:a="http://schemas.openxmlformats.org/drawingml/2006/main">
              <a:ext uri="{FF2B5EF4-FFF2-40B4-BE49-F238E27FC236}">
                <a16:creationId xmlns:a16="http://schemas.microsoft.com/office/drawing/2014/main" id="{35AC7914-80AB-48E3-80E4-E98D9F5B0C54}"/>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6592BA86-C488-44F4-80C4-EAA5644F659D}"/>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Referencias de consulta.</a:t>
            </a:r>
          </a:p>
        </p:txBody>
      </p:sp>
      <p:sp>
        <p:nvSpPr>
          <p:cNvPr id="5" name="">
            <a:extLst xmlns:a="http://schemas.openxmlformats.org/drawingml/2006/main">
              <a:ext uri="{FF2B5EF4-FFF2-40B4-BE49-F238E27FC236}">
                <a16:creationId xmlns:a16="http://schemas.microsoft.com/office/drawing/2014/main" id="{4BEE6C7E-405B-49CC-8FBF-54228EE82103}"/>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22 / 27</a:t>
            </a:r>
          </a:p>
        </p:txBody>
      </p:sp>
      <p:sp>
        <p:nvSpPr>
          <p:cNvPr id="6" name="">
            <a:extLst xmlns:a="http://schemas.openxmlformats.org/drawingml/2006/main">
              <a:ext uri="{FF2B5EF4-FFF2-40B4-BE49-F238E27FC236}">
                <a16:creationId xmlns:a16="http://schemas.microsoft.com/office/drawing/2014/main" id="{5A0B7EE8-2989-4462-8B80-02BEF313C60A}"/>
              </a:ext>
            </a:extLst>
          </p:cNvPr>
          <p:cNvSpPr>
            <a:spLocks xmlns:a="http://schemas.openxmlformats.org/drawingml/2006/main" noGrp="1"/>
          </p:cNvSpPr>
          <p:nvPr/>
        </p:nvSpPr>
        <p:spPr>
          <a:xfrm xmlns:a="http://schemas.openxmlformats.org/drawingml/2006/main">
            <a:off x="552450" y="17145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E19E1A2E-EDE9-4256-911C-7C3850B3EFC5}"/>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Adl, S. M., et al. (2019)</a:t>
            </a:r>
          </a:p>
        </p:txBody>
      </p:sp>
      <p:sp>
        <p:nvSpPr>
          <p:cNvPr id="8" name="">
            <a:extLst xmlns:a="http://schemas.openxmlformats.org/drawingml/2006/main">
              <a:ext uri="{FF2B5EF4-FFF2-40B4-BE49-F238E27FC236}">
                <a16:creationId xmlns:a16="http://schemas.microsoft.com/office/drawing/2014/main" id="{35003A44-DBDA-47B4-9EAE-1D46783B33CC}"/>
              </a:ext>
            </a:extLst>
          </p:cNvPr>
          <p:cNvSpPr>
            <a:spLocks xmlns:a="http://schemas.openxmlformats.org/drawingml/2006/main" noGrp="1"/>
          </p:cNvSpPr>
          <p:nvPr/>
        </p:nvSpPr>
        <p:spPr>
          <a:xfrm xmlns:a="http://schemas.openxmlformats.org/drawingml/2006/main">
            <a:off x="1181100" y="20193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Revisions to the Classification, Nomenclature, and Diversity of Eukaryotes.</a:t>
            </a:r>
          </a:p>
        </p:txBody>
      </p:sp>
      <p:sp>
        <p:nvSpPr>
          <p:cNvPr id="9" name="">
            <a:extLst xmlns:a="http://schemas.openxmlformats.org/drawingml/2006/main">
              <a:ext uri="{FF2B5EF4-FFF2-40B4-BE49-F238E27FC236}">
                <a16:creationId xmlns:a16="http://schemas.microsoft.com/office/drawing/2014/main" id="{5009FD84-C440-4F3E-91EF-D38D0A3D40BF}"/>
              </a:ext>
            </a:extLst>
          </p:cNvPr>
          <p:cNvSpPr>
            <a:spLocks xmlns:a="http://schemas.openxmlformats.org/drawingml/2006/main" noGrp="1"/>
          </p:cNvSpPr>
          <p:nvPr/>
        </p:nvSpPr>
        <p:spPr>
          <a:xfrm xmlns:a="http://schemas.openxmlformats.org/drawingml/2006/main">
            <a:off x="1181100" y="22764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Journal of Eukaryotic Microbiology, 66, 4–119.</a:t>
            </a:r>
          </a:p>
        </p:txBody>
      </p:sp>
      <p:sp>
        <p:nvSpPr>
          <p:cNvPr id="10" name="">
            <a:extLst xmlns:a="http://schemas.openxmlformats.org/drawingml/2006/main">
              <a:ext uri="{FF2B5EF4-FFF2-40B4-BE49-F238E27FC236}">
                <a16:creationId xmlns:a16="http://schemas.microsoft.com/office/drawing/2014/main" id="{003FE4C9-B842-4E83-AB07-4791472A6E66}"/>
              </a:ext>
            </a:extLst>
          </p:cNvPr>
          <p:cNvSpPr>
            <a:spLocks xmlns:a="http://schemas.openxmlformats.org/drawingml/2006/main" noGrp="1"/>
          </p:cNvSpPr>
          <p:nvPr/>
        </p:nvSpPr>
        <p:spPr>
          <a:xfrm xmlns:a="http://schemas.openxmlformats.org/drawingml/2006/main">
            <a:off x="1181100" y="25050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210e580bcdce4375"/>
              </a:rPr>
              <a:t>doi.org/10.1111/jeu.12691</a:t>
            </a:r>
          </a:p>
        </p:txBody>
      </p:sp>
      <p:sp>
        <p:nvSpPr>
          <p:cNvPr id="11" name="">
            <a:extLst xmlns:a="http://schemas.openxmlformats.org/drawingml/2006/main">
              <a:ext uri="{FF2B5EF4-FFF2-40B4-BE49-F238E27FC236}">
                <a16:creationId xmlns:a16="http://schemas.microsoft.com/office/drawing/2014/main" id="{ECD02653-F15E-4821-AC49-3872A8419140}"/>
              </a:ext>
            </a:extLst>
          </p:cNvPr>
          <p:cNvSpPr>
            <a:spLocks xmlns:a="http://schemas.openxmlformats.org/drawingml/2006/main" noGrp="1"/>
          </p:cNvSpPr>
          <p:nvPr/>
        </p:nvSpPr>
        <p:spPr>
          <a:xfrm xmlns:a="http://schemas.openxmlformats.org/drawingml/2006/main">
            <a:off x="552450" y="32194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[2]</a:t>
            </a:r>
          </a:p>
        </p:txBody>
      </p:sp>
      <p:sp>
        <p:nvSpPr>
          <p:cNvPr id="12" name="">
            <a:extLst xmlns:a="http://schemas.openxmlformats.org/drawingml/2006/main">
              <a:ext uri="{FF2B5EF4-FFF2-40B4-BE49-F238E27FC236}">
                <a16:creationId xmlns:a16="http://schemas.microsoft.com/office/drawing/2014/main" id="{3655CEDD-3191-411A-AD64-6DDC2B52CABD}"/>
              </a:ext>
            </a:extLst>
          </p:cNvPr>
          <p:cNvSpPr>
            <a:spLocks xmlns:a="http://schemas.openxmlformats.org/drawingml/2006/main" noGrp="1"/>
          </p:cNvSpPr>
          <p:nvPr/>
        </p:nvSpPr>
        <p:spPr>
          <a:xfrm xmlns:a="http://schemas.openxmlformats.org/drawingml/2006/main">
            <a:off x="1181100" y="3219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Burki, F., Roger, A. J., Brown, M. W., &amp; Simpson, A. G. B. (2020)</a:t>
            </a:r>
          </a:p>
        </p:txBody>
      </p:sp>
      <p:sp>
        <p:nvSpPr>
          <p:cNvPr id="13" name="">
            <a:extLst xmlns:a="http://schemas.openxmlformats.org/drawingml/2006/main">
              <a:ext uri="{FF2B5EF4-FFF2-40B4-BE49-F238E27FC236}">
                <a16:creationId xmlns:a16="http://schemas.microsoft.com/office/drawing/2014/main" id="{8C9B1965-C72C-436D-A4A0-A2845FB0D1B1}"/>
              </a:ext>
            </a:extLst>
          </p:cNvPr>
          <p:cNvSpPr>
            <a:spLocks xmlns:a="http://schemas.openxmlformats.org/drawingml/2006/main" noGrp="1"/>
          </p:cNvSpPr>
          <p:nvPr/>
        </p:nvSpPr>
        <p:spPr>
          <a:xfrm xmlns:a="http://schemas.openxmlformats.org/drawingml/2006/main">
            <a:off x="1181100" y="35242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The New Tree of Eukaryotes.</a:t>
            </a:r>
          </a:p>
        </p:txBody>
      </p:sp>
      <p:sp>
        <p:nvSpPr>
          <p:cNvPr id="14" name="">
            <a:extLst xmlns:a="http://schemas.openxmlformats.org/drawingml/2006/main">
              <a:ext uri="{FF2B5EF4-FFF2-40B4-BE49-F238E27FC236}">
                <a16:creationId xmlns:a16="http://schemas.microsoft.com/office/drawing/2014/main" id="{FD4E42CB-E3A6-4B10-B9D3-6E6FEEA53D2E}"/>
              </a:ext>
            </a:extLst>
          </p:cNvPr>
          <p:cNvSpPr>
            <a:spLocks xmlns:a="http://schemas.openxmlformats.org/drawingml/2006/main" noGrp="1"/>
          </p:cNvSpPr>
          <p:nvPr/>
        </p:nvSpPr>
        <p:spPr>
          <a:xfrm xmlns:a="http://schemas.openxmlformats.org/drawingml/2006/main">
            <a:off x="1181100" y="37814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Trends in Ecology &amp; Evolution, 35, 43–55.</a:t>
            </a:r>
          </a:p>
        </p:txBody>
      </p:sp>
      <p:sp>
        <p:nvSpPr>
          <p:cNvPr id="15" name="">
            <a:extLst xmlns:a="http://schemas.openxmlformats.org/drawingml/2006/main">
              <a:ext uri="{FF2B5EF4-FFF2-40B4-BE49-F238E27FC236}">
                <a16:creationId xmlns:a16="http://schemas.microsoft.com/office/drawing/2014/main" id="{452051EC-56D7-46A8-851F-5C617EA087FD}"/>
              </a:ext>
            </a:extLst>
          </p:cNvPr>
          <p:cNvSpPr>
            <a:spLocks xmlns:a="http://schemas.openxmlformats.org/drawingml/2006/main" noGrp="1"/>
          </p:cNvSpPr>
          <p:nvPr/>
        </p:nvSpPr>
        <p:spPr>
          <a:xfrm xmlns:a="http://schemas.openxmlformats.org/drawingml/2006/main">
            <a:off x="1181100" y="40100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37725b4d6e78419d"/>
              </a:rPr>
              <a:t>doi.org/10.1016/j.tree.2019.08.008</a:t>
            </a:r>
          </a:p>
        </p:txBody>
      </p:sp>
      <p:sp>
        <p:nvSpPr>
          <p:cNvPr id="16" name="">
            <a:extLst xmlns:a="http://schemas.openxmlformats.org/drawingml/2006/main">
              <a:ext uri="{FF2B5EF4-FFF2-40B4-BE49-F238E27FC236}">
                <a16:creationId xmlns:a16="http://schemas.microsoft.com/office/drawing/2014/main" id="{0A248FB8-B9FE-476C-B319-E92059748AE2}"/>
              </a:ext>
            </a:extLst>
          </p:cNvPr>
          <p:cNvSpPr>
            <a:spLocks xmlns:a="http://schemas.openxmlformats.org/drawingml/2006/main" noGrp="1"/>
          </p:cNvSpPr>
          <p:nvPr/>
        </p:nvSpPr>
        <p:spPr>
          <a:xfrm xmlns:a="http://schemas.openxmlformats.org/drawingml/2006/main">
            <a:off x="552450" y="47244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[3]</a:t>
            </a:r>
          </a:p>
        </p:txBody>
      </p:sp>
      <p:sp>
        <p:nvSpPr>
          <p:cNvPr id="17" name="">
            <a:extLst xmlns:a="http://schemas.openxmlformats.org/drawingml/2006/main">
              <a:ext uri="{FF2B5EF4-FFF2-40B4-BE49-F238E27FC236}">
                <a16:creationId xmlns:a16="http://schemas.microsoft.com/office/drawing/2014/main" id="{FAB46832-E81C-4CF2-9F02-2824CEE770DE}"/>
              </a:ext>
            </a:extLst>
          </p:cNvPr>
          <p:cNvSpPr>
            <a:spLocks xmlns:a="http://schemas.openxmlformats.org/drawingml/2006/main" noGrp="1"/>
          </p:cNvSpPr>
          <p:nvPr/>
        </p:nvSpPr>
        <p:spPr>
          <a:xfrm xmlns:a="http://schemas.openxmlformats.org/drawingml/2006/main">
            <a:off x="1181100" y="47244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Jamy, M. / PR2 database (2023)</a:t>
            </a:r>
          </a:p>
        </p:txBody>
      </p:sp>
      <p:sp>
        <p:nvSpPr>
          <p:cNvPr id="18" name="">
            <a:extLst xmlns:a="http://schemas.openxmlformats.org/drawingml/2006/main">
              <a:ext uri="{FF2B5EF4-FFF2-40B4-BE49-F238E27FC236}">
                <a16:creationId xmlns:a16="http://schemas.microsoft.com/office/drawing/2014/main" id="{18A193F7-98AE-4FDC-8A9D-90F69F4A46E5}"/>
              </a:ext>
            </a:extLst>
          </p:cNvPr>
          <p:cNvSpPr>
            <a:spLocks xmlns:a="http://schemas.openxmlformats.org/drawingml/2006/main" noGrp="1"/>
          </p:cNvSpPr>
          <p:nvPr/>
        </p:nvSpPr>
        <p:spPr>
          <a:xfrm xmlns:a="http://schemas.openxmlformats.org/drawingml/2006/main">
            <a:off x="1181100" y="50292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The 9-levels taxonomy.</a:t>
            </a:r>
          </a:p>
        </p:txBody>
      </p:sp>
      <p:sp>
        <p:nvSpPr>
          <p:cNvPr id="19" name="">
            <a:extLst xmlns:a="http://schemas.openxmlformats.org/drawingml/2006/main">
              <a:ext uri="{FF2B5EF4-FFF2-40B4-BE49-F238E27FC236}">
                <a16:creationId xmlns:a16="http://schemas.microsoft.com/office/drawing/2014/main" id="{00851347-8307-4A44-B7E8-8ABAEDC1E0DC}"/>
              </a:ext>
            </a:extLst>
          </p:cNvPr>
          <p:cNvSpPr>
            <a:spLocks xmlns:a="http://schemas.openxmlformats.org/drawingml/2006/main" noGrp="1"/>
          </p:cNvSpPr>
          <p:nvPr/>
        </p:nvSpPr>
        <p:spPr>
          <a:xfrm xmlns:a="http://schemas.openxmlformats.org/drawingml/2006/main">
            <a:off x="1181100" y="52863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Documentación de PR2. Consulta: 28 de octubre de 2026.</a:t>
            </a:r>
          </a:p>
        </p:txBody>
      </p:sp>
      <p:sp>
        <p:nvSpPr>
          <p:cNvPr id="20" name="">
            <a:extLst xmlns:a="http://schemas.openxmlformats.org/drawingml/2006/main">
              <a:ext uri="{FF2B5EF4-FFF2-40B4-BE49-F238E27FC236}">
                <a16:creationId xmlns:a16="http://schemas.microsoft.com/office/drawing/2014/main" id="{9B2F8D21-E50B-40D1-8AFC-E3EE071AA35A}"/>
              </a:ext>
            </a:extLst>
          </p:cNvPr>
          <p:cNvSpPr>
            <a:spLocks xmlns:a="http://schemas.openxmlformats.org/drawingml/2006/main" noGrp="1"/>
          </p:cNvSpPr>
          <p:nvPr/>
        </p:nvSpPr>
        <p:spPr>
          <a:xfrm xmlns:a="http://schemas.openxmlformats.org/drawingml/2006/main">
            <a:off x="1181100" y="55149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4d58b48259334bd1"/>
              </a:rPr>
              <a:t>pr2-database.org/documentation/pr2-taxonomy-9-levels/</a:t>
            </a:r>
          </a:p>
        </p:txBody>
      </p:sp>
    </p:spTree>
    <p:extLst>
      <p:ext uri="{BB962C8B-B14F-4D97-AF65-F5344CB8AC3E}">
        <p14:creationId xmlns:p14="http://schemas.microsoft.com/office/powerpoint/2010/main" val="123827607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0A35D7-4049-4494-8AAB-B8A9A1D3CD23}"/>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9752E492-F926-41B1-9211-2954169399C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Fundamentos y publicaciones científicas de 2017–2026.</a:t>
            </a:r>
          </a:p>
        </p:txBody>
      </p:sp>
      <p:sp>
        <p:nvSpPr>
          <p:cNvPr id="3" name="">
            <a:extLst xmlns:a="http://schemas.openxmlformats.org/drawingml/2006/main">
              <a:ext uri="{FF2B5EF4-FFF2-40B4-BE49-F238E27FC236}">
                <a16:creationId xmlns:a16="http://schemas.microsoft.com/office/drawing/2014/main" id="{735DE11F-1C8E-460C-9841-2D48CCF16133}"/>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45D14662-7A2E-49C3-81C8-0387BD606D59}"/>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Referencias de consulta.</a:t>
            </a:r>
          </a:p>
        </p:txBody>
      </p:sp>
      <p:sp>
        <p:nvSpPr>
          <p:cNvPr id="5" name="">
            <a:extLst xmlns:a="http://schemas.openxmlformats.org/drawingml/2006/main">
              <a:ext uri="{FF2B5EF4-FFF2-40B4-BE49-F238E27FC236}">
                <a16:creationId xmlns:a16="http://schemas.microsoft.com/office/drawing/2014/main" id="{FBFC6F99-B106-474F-8137-B5E455A7E345}"/>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23 / 27</a:t>
            </a:r>
          </a:p>
        </p:txBody>
      </p:sp>
      <p:sp>
        <p:nvSpPr>
          <p:cNvPr id="6" name="">
            <a:extLst xmlns:a="http://schemas.openxmlformats.org/drawingml/2006/main">
              <a:ext uri="{FF2B5EF4-FFF2-40B4-BE49-F238E27FC236}">
                <a16:creationId xmlns:a16="http://schemas.microsoft.com/office/drawing/2014/main" id="{63F4E710-6BB1-41FD-984F-C52ADA25AC3C}"/>
              </a:ext>
            </a:extLst>
          </p:cNvPr>
          <p:cNvSpPr>
            <a:spLocks xmlns:a="http://schemas.openxmlformats.org/drawingml/2006/main" noGrp="1"/>
          </p:cNvSpPr>
          <p:nvPr/>
        </p:nvSpPr>
        <p:spPr>
          <a:xfrm xmlns:a="http://schemas.openxmlformats.org/drawingml/2006/main">
            <a:off x="552450" y="17145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[4]</a:t>
            </a:r>
          </a:p>
        </p:txBody>
      </p:sp>
      <p:sp>
        <p:nvSpPr>
          <p:cNvPr id="7" name="">
            <a:extLst xmlns:a="http://schemas.openxmlformats.org/drawingml/2006/main">
              <a:ext uri="{FF2B5EF4-FFF2-40B4-BE49-F238E27FC236}">
                <a16:creationId xmlns:a16="http://schemas.microsoft.com/office/drawing/2014/main" id="{AC21E31C-A89C-47A1-A64D-02021F4CBC4F}"/>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Falciatore, A., Jaubert, M., Bouly, J.-P., Bailleul, B., &amp; Mock, T. (2020)</a:t>
            </a:r>
          </a:p>
        </p:txBody>
      </p:sp>
      <p:sp>
        <p:nvSpPr>
          <p:cNvPr id="8" name="">
            <a:extLst xmlns:a="http://schemas.openxmlformats.org/drawingml/2006/main">
              <a:ext uri="{FF2B5EF4-FFF2-40B4-BE49-F238E27FC236}">
                <a16:creationId xmlns:a16="http://schemas.microsoft.com/office/drawing/2014/main" id="{E06052F0-AEAF-4FE5-805F-AE8E93DF1182}"/>
              </a:ext>
            </a:extLst>
          </p:cNvPr>
          <p:cNvSpPr>
            <a:spLocks xmlns:a="http://schemas.openxmlformats.org/drawingml/2006/main" noGrp="1"/>
          </p:cNvSpPr>
          <p:nvPr/>
        </p:nvSpPr>
        <p:spPr>
          <a:xfrm xmlns:a="http://schemas.openxmlformats.org/drawingml/2006/main">
            <a:off x="1181100" y="20193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Diatom Molecular Research Comes of Age: Model Species for Studying Phytoplankton Biology and Diversity.</a:t>
            </a:r>
          </a:p>
        </p:txBody>
      </p:sp>
      <p:sp>
        <p:nvSpPr>
          <p:cNvPr id="9" name="">
            <a:extLst xmlns:a="http://schemas.openxmlformats.org/drawingml/2006/main">
              <a:ext uri="{FF2B5EF4-FFF2-40B4-BE49-F238E27FC236}">
                <a16:creationId xmlns:a16="http://schemas.microsoft.com/office/drawing/2014/main" id="{824477C9-9AFA-4D8D-9FD7-9B6C296CD89B}"/>
              </a:ext>
            </a:extLst>
          </p:cNvPr>
          <p:cNvSpPr>
            <a:spLocks xmlns:a="http://schemas.openxmlformats.org/drawingml/2006/main" noGrp="1"/>
          </p:cNvSpPr>
          <p:nvPr/>
        </p:nvSpPr>
        <p:spPr>
          <a:xfrm xmlns:a="http://schemas.openxmlformats.org/drawingml/2006/main">
            <a:off x="1181100" y="22764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The Plant Cell, 32, 547–572.</a:t>
            </a:r>
          </a:p>
        </p:txBody>
      </p:sp>
      <p:sp>
        <p:nvSpPr>
          <p:cNvPr id="10" name="">
            <a:extLst xmlns:a="http://schemas.openxmlformats.org/drawingml/2006/main">
              <a:ext uri="{FF2B5EF4-FFF2-40B4-BE49-F238E27FC236}">
                <a16:creationId xmlns:a16="http://schemas.microsoft.com/office/drawing/2014/main" id="{25E5B131-E858-4705-BC70-A029166C3281}"/>
              </a:ext>
            </a:extLst>
          </p:cNvPr>
          <p:cNvSpPr>
            <a:spLocks xmlns:a="http://schemas.openxmlformats.org/drawingml/2006/main" noGrp="1"/>
          </p:cNvSpPr>
          <p:nvPr/>
        </p:nvSpPr>
        <p:spPr>
          <a:xfrm xmlns:a="http://schemas.openxmlformats.org/drawingml/2006/main">
            <a:off x="1181100" y="25050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3e8ecd87b4274df4"/>
              </a:rPr>
              <a:t>doi.org/10.1105/tpc.19.00158</a:t>
            </a:r>
          </a:p>
        </p:txBody>
      </p:sp>
      <p:sp>
        <p:nvSpPr>
          <p:cNvPr id="11" name="">
            <a:extLst xmlns:a="http://schemas.openxmlformats.org/drawingml/2006/main">
              <a:ext uri="{FF2B5EF4-FFF2-40B4-BE49-F238E27FC236}">
                <a16:creationId xmlns:a16="http://schemas.microsoft.com/office/drawing/2014/main" id="{145AFF41-1781-40F0-9F57-DE00064AFFDC}"/>
              </a:ext>
            </a:extLst>
          </p:cNvPr>
          <p:cNvSpPr>
            <a:spLocks xmlns:a="http://schemas.openxmlformats.org/drawingml/2006/main" noGrp="1"/>
          </p:cNvSpPr>
          <p:nvPr/>
        </p:nvSpPr>
        <p:spPr>
          <a:xfrm xmlns:a="http://schemas.openxmlformats.org/drawingml/2006/main">
            <a:off x="552450" y="32194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[14]</a:t>
            </a:r>
          </a:p>
        </p:txBody>
      </p:sp>
      <p:sp>
        <p:nvSpPr>
          <p:cNvPr id="12" name="">
            <a:extLst xmlns:a="http://schemas.openxmlformats.org/drawingml/2006/main">
              <a:ext uri="{FF2B5EF4-FFF2-40B4-BE49-F238E27FC236}">
                <a16:creationId xmlns:a16="http://schemas.microsoft.com/office/drawing/2014/main" id="{4EB5DDC9-169D-48AC-8535-3139503EF5E7}"/>
              </a:ext>
            </a:extLst>
          </p:cNvPr>
          <p:cNvSpPr>
            <a:spLocks xmlns:a="http://schemas.openxmlformats.org/drawingml/2006/main" noGrp="1"/>
          </p:cNvSpPr>
          <p:nvPr/>
        </p:nvSpPr>
        <p:spPr>
          <a:xfrm xmlns:a="http://schemas.openxmlformats.org/drawingml/2006/main">
            <a:off x="1181100" y="3219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Benoiston, A.-S., et al. (2017)</a:t>
            </a:r>
          </a:p>
        </p:txBody>
      </p:sp>
      <p:sp>
        <p:nvSpPr>
          <p:cNvPr id="13" name="">
            <a:extLst xmlns:a="http://schemas.openxmlformats.org/drawingml/2006/main">
              <a:ext uri="{FF2B5EF4-FFF2-40B4-BE49-F238E27FC236}">
                <a16:creationId xmlns:a16="http://schemas.microsoft.com/office/drawing/2014/main" id="{6285BA0C-330D-40D0-9A4C-CF202B108E2B}"/>
              </a:ext>
            </a:extLst>
          </p:cNvPr>
          <p:cNvSpPr>
            <a:spLocks xmlns:a="http://schemas.openxmlformats.org/drawingml/2006/main" noGrp="1"/>
          </p:cNvSpPr>
          <p:nvPr/>
        </p:nvSpPr>
        <p:spPr>
          <a:xfrm xmlns:a="http://schemas.openxmlformats.org/drawingml/2006/main">
            <a:off x="1181100" y="35242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The evolution of diatoms and their biogeochemical functions.</a:t>
            </a:r>
          </a:p>
        </p:txBody>
      </p:sp>
      <p:sp>
        <p:nvSpPr>
          <p:cNvPr id="14" name="">
            <a:extLst xmlns:a="http://schemas.openxmlformats.org/drawingml/2006/main">
              <a:ext uri="{FF2B5EF4-FFF2-40B4-BE49-F238E27FC236}">
                <a16:creationId xmlns:a16="http://schemas.microsoft.com/office/drawing/2014/main" id="{30B9420E-8981-4147-BAEB-5E204922BE32}"/>
              </a:ext>
            </a:extLst>
          </p:cNvPr>
          <p:cNvSpPr>
            <a:spLocks xmlns:a="http://schemas.openxmlformats.org/drawingml/2006/main" noGrp="1"/>
          </p:cNvSpPr>
          <p:nvPr/>
        </p:nvSpPr>
        <p:spPr>
          <a:xfrm xmlns:a="http://schemas.openxmlformats.org/drawingml/2006/main">
            <a:off x="1181100" y="37814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Philosophical Transactions of the Royal Society B, 372, 20160397.</a:t>
            </a:r>
          </a:p>
        </p:txBody>
      </p:sp>
      <p:sp>
        <p:nvSpPr>
          <p:cNvPr id="15" name="">
            <a:extLst xmlns:a="http://schemas.openxmlformats.org/drawingml/2006/main">
              <a:ext uri="{FF2B5EF4-FFF2-40B4-BE49-F238E27FC236}">
                <a16:creationId xmlns:a16="http://schemas.microsoft.com/office/drawing/2014/main" id="{2C481D77-71A4-4E64-A23E-21A255F8BC88}"/>
              </a:ext>
            </a:extLst>
          </p:cNvPr>
          <p:cNvSpPr>
            <a:spLocks xmlns:a="http://schemas.openxmlformats.org/drawingml/2006/main" noGrp="1"/>
          </p:cNvSpPr>
          <p:nvPr/>
        </p:nvSpPr>
        <p:spPr>
          <a:xfrm xmlns:a="http://schemas.openxmlformats.org/drawingml/2006/main">
            <a:off x="1181100" y="40100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3d250e133857446d"/>
              </a:rPr>
              <a:t>doi.org/10.1098/rstb.2016.0397</a:t>
            </a:r>
          </a:p>
        </p:txBody>
      </p:sp>
      <p:sp>
        <p:nvSpPr>
          <p:cNvPr id="16" name="">
            <a:extLst xmlns:a="http://schemas.openxmlformats.org/drawingml/2006/main">
              <a:ext uri="{FF2B5EF4-FFF2-40B4-BE49-F238E27FC236}">
                <a16:creationId xmlns:a16="http://schemas.microsoft.com/office/drawing/2014/main" id="{3B0C66AF-A55E-4CAB-A9C0-C2638E58DF68}"/>
              </a:ext>
            </a:extLst>
          </p:cNvPr>
          <p:cNvSpPr>
            <a:spLocks xmlns:a="http://schemas.openxmlformats.org/drawingml/2006/main" noGrp="1"/>
          </p:cNvSpPr>
          <p:nvPr/>
        </p:nvSpPr>
        <p:spPr>
          <a:xfrm xmlns:a="http://schemas.openxmlformats.org/drawingml/2006/main">
            <a:off x="552450" y="47244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[15]</a:t>
            </a:r>
          </a:p>
        </p:txBody>
      </p:sp>
      <p:sp>
        <p:nvSpPr>
          <p:cNvPr id="17" name="">
            <a:extLst xmlns:a="http://schemas.openxmlformats.org/drawingml/2006/main">
              <a:ext uri="{FF2B5EF4-FFF2-40B4-BE49-F238E27FC236}">
                <a16:creationId xmlns:a16="http://schemas.microsoft.com/office/drawing/2014/main" id="{30EFF820-DE0A-433E-B63B-3E1DA7E1E13D}"/>
              </a:ext>
            </a:extLst>
          </p:cNvPr>
          <p:cNvSpPr>
            <a:spLocks xmlns:a="http://schemas.openxmlformats.org/drawingml/2006/main" noGrp="1"/>
          </p:cNvSpPr>
          <p:nvPr/>
        </p:nvSpPr>
        <p:spPr>
          <a:xfrm xmlns:a="http://schemas.openxmlformats.org/drawingml/2006/main">
            <a:off x="1181100" y="47244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NCBI Taxonomy (2026)</a:t>
            </a:r>
          </a:p>
        </p:txBody>
      </p:sp>
      <p:sp>
        <p:nvSpPr>
          <p:cNvPr id="18" name="">
            <a:extLst xmlns:a="http://schemas.openxmlformats.org/drawingml/2006/main">
              <a:ext uri="{FF2B5EF4-FFF2-40B4-BE49-F238E27FC236}">
                <a16:creationId xmlns:a16="http://schemas.microsoft.com/office/drawing/2014/main" id="{AB91E587-E0A3-47F9-9169-39E69D3ABEE8}"/>
              </a:ext>
            </a:extLst>
          </p:cNvPr>
          <p:cNvSpPr>
            <a:spLocks xmlns:a="http://schemas.openxmlformats.org/drawingml/2006/main" noGrp="1"/>
          </p:cNvSpPr>
          <p:nvPr/>
        </p:nvSpPr>
        <p:spPr>
          <a:xfrm xmlns:a="http://schemas.openxmlformats.org/drawingml/2006/main">
            <a:off x="1181100" y="50292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Chlorella vulgaris, taxón 3077.</a:t>
            </a:r>
          </a:p>
        </p:txBody>
      </p:sp>
      <p:sp>
        <p:nvSpPr>
          <p:cNvPr id="19" name="">
            <a:extLst xmlns:a="http://schemas.openxmlformats.org/drawingml/2006/main">
              <a:ext uri="{FF2B5EF4-FFF2-40B4-BE49-F238E27FC236}">
                <a16:creationId xmlns:a16="http://schemas.microsoft.com/office/drawing/2014/main" id="{CF7B7C62-46EC-4525-9B38-8766901E1D76}"/>
              </a:ext>
            </a:extLst>
          </p:cNvPr>
          <p:cNvSpPr>
            <a:spLocks xmlns:a="http://schemas.openxmlformats.org/drawingml/2006/main" noGrp="1"/>
          </p:cNvSpPr>
          <p:nvPr/>
        </p:nvSpPr>
        <p:spPr>
          <a:xfrm xmlns:a="http://schemas.openxmlformats.org/drawingml/2006/main">
            <a:off x="1181100" y="52863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Registro taxonómico. Consulta: 28 de octubre de 2026. Identidad complementada con SAG 211-11b.</a:t>
            </a:r>
          </a:p>
        </p:txBody>
      </p:sp>
      <p:sp>
        <p:nvSpPr>
          <p:cNvPr id="20" name="">
            <a:extLst xmlns:a="http://schemas.openxmlformats.org/drawingml/2006/main">
              <a:ext uri="{FF2B5EF4-FFF2-40B4-BE49-F238E27FC236}">
                <a16:creationId xmlns:a16="http://schemas.microsoft.com/office/drawing/2014/main" id="{0D99CFED-0FCB-46CA-90E4-264F454877F9}"/>
              </a:ext>
            </a:extLst>
          </p:cNvPr>
          <p:cNvSpPr>
            <a:spLocks xmlns:a="http://schemas.openxmlformats.org/drawingml/2006/main" noGrp="1"/>
          </p:cNvSpPr>
          <p:nvPr/>
        </p:nvSpPr>
        <p:spPr>
          <a:xfrm xmlns:a="http://schemas.openxmlformats.org/drawingml/2006/main">
            <a:off x="1181100" y="55149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9ffaa7d294f145b2"/>
              </a:rPr>
              <a:t>www.ncbi.nlm.nih.gov/Taxonomy/Browser/wwwtax.cgi?id=3077&amp;mode=info</a:t>
            </a:r>
          </a:p>
        </p:txBody>
      </p:sp>
    </p:spTree>
    <p:extLst>
      <p:ext uri="{BB962C8B-B14F-4D97-AF65-F5344CB8AC3E}">
        <p14:creationId xmlns:p14="http://schemas.microsoft.com/office/powerpoint/2010/main" val="99361727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F57A40-F3C9-4A1E-BE66-D7B2F50181CA}"/>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6520FEEA-D120-4CE1-8BAE-C1E0797E87D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Fundamentos y publicaciones científicas de 2017–2026.</a:t>
            </a:r>
          </a:p>
        </p:txBody>
      </p:sp>
      <p:sp>
        <p:nvSpPr>
          <p:cNvPr id="3" name="">
            <a:extLst xmlns:a="http://schemas.openxmlformats.org/drawingml/2006/main">
              <a:ext uri="{FF2B5EF4-FFF2-40B4-BE49-F238E27FC236}">
                <a16:creationId xmlns:a16="http://schemas.microsoft.com/office/drawing/2014/main" id="{0CAB6512-738B-4B45-9417-CCE54DA9BCF3}"/>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55709E8E-E798-49A7-AB96-06651AC675D7}"/>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Referencias de consulta.</a:t>
            </a:r>
          </a:p>
        </p:txBody>
      </p:sp>
      <p:sp>
        <p:nvSpPr>
          <p:cNvPr id="5" name="">
            <a:extLst xmlns:a="http://schemas.openxmlformats.org/drawingml/2006/main">
              <a:ext uri="{FF2B5EF4-FFF2-40B4-BE49-F238E27FC236}">
                <a16:creationId xmlns:a16="http://schemas.microsoft.com/office/drawing/2014/main" id="{5E92E417-9B32-4EF6-A07B-AB908A4C92EF}"/>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24 / 27</a:t>
            </a:r>
          </a:p>
        </p:txBody>
      </p:sp>
      <p:sp>
        <p:nvSpPr>
          <p:cNvPr id="6" name="">
            <a:extLst xmlns:a="http://schemas.openxmlformats.org/drawingml/2006/main">
              <a:ext uri="{FF2B5EF4-FFF2-40B4-BE49-F238E27FC236}">
                <a16:creationId xmlns:a16="http://schemas.microsoft.com/office/drawing/2014/main" id="{BA309E85-06B3-4417-AA17-912B302FDE30}"/>
              </a:ext>
            </a:extLst>
          </p:cNvPr>
          <p:cNvSpPr>
            <a:spLocks xmlns:a="http://schemas.openxmlformats.org/drawingml/2006/main" noGrp="1"/>
          </p:cNvSpPr>
          <p:nvPr/>
        </p:nvSpPr>
        <p:spPr>
          <a:xfrm xmlns:a="http://schemas.openxmlformats.org/drawingml/2006/main">
            <a:off x="552450" y="17145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[5]</a:t>
            </a:r>
          </a:p>
        </p:txBody>
      </p:sp>
      <p:sp>
        <p:nvSpPr>
          <p:cNvPr id="7" name="">
            <a:extLst xmlns:a="http://schemas.openxmlformats.org/drawingml/2006/main">
              <a:ext uri="{FF2B5EF4-FFF2-40B4-BE49-F238E27FC236}">
                <a16:creationId xmlns:a16="http://schemas.microsoft.com/office/drawing/2014/main" id="{044DBFDB-8440-4546-AE3D-B3CF710BFF09}"/>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Yamaoka, Y., Petroutsos, D., Je, S., Yamano, T., &amp; Li-Beisson, Y. (2025)</a:t>
            </a:r>
          </a:p>
        </p:txBody>
      </p:sp>
      <p:sp>
        <p:nvSpPr>
          <p:cNvPr id="8" name="">
            <a:extLst xmlns:a="http://schemas.openxmlformats.org/drawingml/2006/main">
              <a:ext uri="{FF2B5EF4-FFF2-40B4-BE49-F238E27FC236}">
                <a16:creationId xmlns:a16="http://schemas.microsoft.com/office/drawing/2014/main" id="{945679FB-E203-4F54-AF8E-6AF8BFFFDC8C}"/>
              </a:ext>
            </a:extLst>
          </p:cNvPr>
          <p:cNvSpPr>
            <a:spLocks xmlns:a="http://schemas.openxmlformats.org/drawingml/2006/main" noGrp="1"/>
          </p:cNvSpPr>
          <p:nvPr/>
        </p:nvSpPr>
        <p:spPr>
          <a:xfrm xmlns:a="http://schemas.openxmlformats.org/drawingml/2006/main">
            <a:off x="1181100" y="20193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Light, CO2, and carbon storage in microalgae.</a:t>
            </a:r>
          </a:p>
        </p:txBody>
      </p:sp>
      <p:sp>
        <p:nvSpPr>
          <p:cNvPr id="9" name="">
            <a:extLst xmlns:a="http://schemas.openxmlformats.org/drawingml/2006/main">
              <a:ext uri="{FF2B5EF4-FFF2-40B4-BE49-F238E27FC236}">
                <a16:creationId xmlns:a16="http://schemas.microsoft.com/office/drawing/2014/main" id="{F697F226-5C63-4EA8-B523-7F67CBCAB301}"/>
              </a:ext>
            </a:extLst>
          </p:cNvPr>
          <p:cNvSpPr>
            <a:spLocks xmlns:a="http://schemas.openxmlformats.org/drawingml/2006/main" noGrp="1"/>
          </p:cNvSpPr>
          <p:nvPr/>
        </p:nvSpPr>
        <p:spPr>
          <a:xfrm xmlns:a="http://schemas.openxmlformats.org/drawingml/2006/main">
            <a:off x="1181100" y="22764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Current Opinion in Plant Biology, 84, 102696.</a:t>
            </a:r>
          </a:p>
        </p:txBody>
      </p:sp>
      <p:sp>
        <p:nvSpPr>
          <p:cNvPr id="10" name="">
            <a:extLst xmlns:a="http://schemas.openxmlformats.org/drawingml/2006/main">
              <a:ext uri="{FF2B5EF4-FFF2-40B4-BE49-F238E27FC236}">
                <a16:creationId xmlns:a16="http://schemas.microsoft.com/office/drawing/2014/main" id="{2F9F11C9-CB39-4761-AE56-159C0AD5A9D8}"/>
              </a:ext>
            </a:extLst>
          </p:cNvPr>
          <p:cNvSpPr>
            <a:spLocks xmlns:a="http://schemas.openxmlformats.org/drawingml/2006/main" noGrp="1"/>
          </p:cNvSpPr>
          <p:nvPr/>
        </p:nvSpPr>
        <p:spPr>
          <a:xfrm xmlns:a="http://schemas.openxmlformats.org/drawingml/2006/main">
            <a:off x="1181100" y="25050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966712931d40494c"/>
              </a:rPr>
              <a:t>doi.org/10.1016/j.pbi.2025.102696</a:t>
            </a:r>
          </a:p>
        </p:txBody>
      </p:sp>
      <p:sp>
        <p:nvSpPr>
          <p:cNvPr id="11" name="">
            <a:extLst xmlns:a="http://schemas.openxmlformats.org/drawingml/2006/main">
              <a:ext uri="{FF2B5EF4-FFF2-40B4-BE49-F238E27FC236}">
                <a16:creationId xmlns:a16="http://schemas.microsoft.com/office/drawing/2014/main" id="{4F074960-4FB9-49DE-9A1E-1485D42FF808}"/>
              </a:ext>
            </a:extLst>
          </p:cNvPr>
          <p:cNvSpPr>
            <a:spLocks xmlns:a="http://schemas.openxmlformats.org/drawingml/2006/main" noGrp="1"/>
          </p:cNvSpPr>
          <p:nvPr/>
        </p:nvSpPr>
        <p:spPr>
          <a:xfrm xmlns:a="http://schemas.openxmlformats.org/drawingml/2006/main">
            <a:off x="552450" y="32194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[6]</a:t>
            </a:r>
          </a:p>
        </p:txBody>
      </p:sp>
      <p:sp>
        <p:nvSpPr>
          <p:cNvPr id="12" name="">
            <a:extLst xmlns:a="http://schemas.openxmlformats.org/drawingml/2006/main">
              <a:ext uri="{FF2B5EF4-FFF2-40B4-BE49-F238E27FC236}">
                <a16:creationId xmlns:a16="http://schemas.microsoft.com/office/drawing/2014/main" id="{F2CEF661-91EE-4636-B9A9-3C9AC1DC8CD9}"/>
              </a:ext>
            </a:extLst>
          </p:cNvPr>
          <p:cNvSpPr>
            <a:spLocks xmlns:a="http://schemas.openxmlformats.org/drawingml/2006/main" noGrp="1"/>
          </p:cNvSpPr>
          <p:nvPr/>
        </p:nvSpPr>
        <p:spPr>
          <a:xfrm xmlns:a="http://schemas.openxmlformats.org/drawingml/2006/main">
            <a:off x="1181100" y="3219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Matsui, H., Tsuji, Y., &amp; Matsuda, Y. (2025)</a:t>
            </a:r>
          </a:p>
        </p:txBody>
      </p:sp>
      <p:sp>
        <p:nvSpPr>
          <p:cNvPr id="13" name="">
            <a:extLst xmlns:a="http://schemas.openxmlformats.org/drawingml/2006/main">
              <a:ext uri="{FF2B5EF4-FFF2-40B4-BE49-F238E27FC236}">
                <a16:creationId xmlns:a16="http://schemas.microsoft.com/office/drawing/2014/main" id="{8D9F51FB-BC74-4206-A01B-DF0DEAD8F969}"/>
              </a:ext>
            </a:extLst>
          </p:cNvPr>
          <p:cNvSpPr>
            <a:spLocks xmlns:a="http://schemas.openxmlformats.org/drawingml/2006/main" noGrp="1"/>
          </p:cNvSpPr>
          <p:nvPr/>
        </p:nvSpPr>
        <p:spPr>
          <a:xfrm xmlns:a="http://schemas.openxmlformats.org/drawingml/2006/main">
            <a:off x="1181100" y="35242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Review: Molecular mechanisms sustaining highly efficient photosynthesis of marine diatoms.</a:t>
            </a:r>
          </a:p>
        </p:txBody>
      </p:sp>
      <p:sp>
        <p:nvSpPr>
          <p:cNvPr id="14" name="">
            <a:extLst xmlns:a="http://schemas.openxmlformats.org/drawingml/2006/main">
              <a:ext uri="{FF2B5EF4-FFF2-40B4-BE49-F238E27FC236}">
                <a16:creationId xmlns:a16="http://schemas.microsoft.com/office/drawing/2014/main" id="{45F745CD-C537-405A-9359-F704CCDC9A3E}"/>
              </a:ext>
            </a:extLst>
          </p:cNvPr>
          <p:cNvSpPr>
            <a:spLocks xmlns:a="http://schemas.openxmlformats.org/drawingml/2006/main" noGrp="1"/>
          </p:cNvSpPr>
          <p:nvPr/>
        </p:nvSpPr>
        <p:spPr>
          <a:xfrm xmlns:a="http://schemas.openxmlformats.org/drawingml/2006/main">
            <a:off x="1181100" y="37814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Algal Science and Technology, 18(1), 27–35.</a:t>
            </a:r>
          </a:p>
        </p:txBody>
      </p:sp>
      <p:sp>
        <p:nvSpPr>
          <p:cNvPr id="15" name="">
            <a:extLst xmlns:a="http://schemas.openxmlformats.org/drawingml/2006/main">
              <a:ext uri="{FF2B5EF4-FFF2-40B4-BE49-F238E27FC236}">
                <a16:creationId xmlns:a16="http://schemas.microsoft.com/office/drawing/2014/main" id="{071A5651-6110-4EFE-ADD9-292C823C77F2}"/>
              </a:ext>
            </a:extLst>
          </p:cNvPr>
          <p:cNvSpPr>
            <a:spLocks xmlns:a="http://schemas.openxmlformats.org/drawingml/2006/main" noGrp="1"/>
          </p:cNvSpPr>
          <p:nvPr/>
        </p:nvSpPr>
        <p:spPr>
          <a:xfrm xmlns:a="http://schemas.openxmlformats.org/drawingml/2006/main">
            <a:off x="1181100" y="40100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d4dc37e81c19462a"/>
              </a:rPr>
              <a:t>doi.org/10.20804/algalscitechnol.18.1_27</a:t>
            </a:r>
          </a:p>
        </p:txBody>
      </p:sp>
      <p:sp>
        <p:nvSpPr>
          <p:cNvPr id="16" name="">
            <a:extLst xmlns:a="http://schemas.openxmlformats.org/drawingml/2006/main">
              <a:ext uri="{FF2B5EF4-FFF2-40B4-BE49-F238E27FC236}">
                <a16:creationId xmlns:a16="http://schemas.microsoft.com/office/drawing/2014/main" id="{CA452FF6-181A-4963-9CB9-4D155D9C4981}"/>
              </a:ext>
            </a:extLst>
          </p:cNvPr>
          <p:cNvSpPr>
            <a:spLocks xmlns:a="http://schemas.openxmlformats.org/drawingml/2006/main" noGrp="1"/>
          </p:cNvSpPr>
          <p:nvPr/>
        </p:nvSpPr>
        <p:spPr>
          <a:xfrm xmlns:a="http://schemas.openxmlformats.org/drawingml/2006/main">
            <a:off x="552450" y="47244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[16]</a:t>
            </a:r>
          </a:p>
        </p:txBody>
      </p:sp>
      <p:sp>
        <p:nvSpPr>
          <p:cNvPr id="17" name="">
            <a:extLst xmlns:a="http://schemas.openxmlformats.org/drawingml/2006/main">
              <a:ext uri="{FF2B5EF4-FFF2-40B4-BE49-F238E27FC236}">
                <a16:creationId xmlns:a16="http://schemas.microsoft.com/office/drawing/2014/main" id="{6379B1BA-EC8F-4AB8-9B05-DFC31AB2A21E}"/>
              </a:ext>
            </a:extLst>
          </p:cNvPr>
          <p:cNvSpPr>
            <a:spLocks xmlns:a="http://schemas.openxmlformats.org/drawingml/2006/main" noGrp="1"/>
          </p:cNvSpPr>
          <p:nvPr/>
        </p:nvSpPr>
        <p:spPr>
          <a:xfrm xmlns:a="http://schemas.openxmlformats.org/drawingml/2006/main">
            <a:off x="1181100" y="47244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Clark, M. A., Douglas, M., &amp; Choi, J. (2018)</a:t>
            </a:r>
          </a:p>
        </p:txBody>
      </p:sp>
      <p:sp>
        <p:nvSpPr>
          <p:cNvPr id="18" name="">
            <a:extLst xmlns:a="http://schemas.openxmlformats.org/drawingml/2006/main">
              <a:ext uri="{FF2B5EF4-FFF2-40B4-BE49-F238E27FC236}">
                <a16:creationId xmlns:a16="http://schemas.microsoft.com/office/drawing/2014/main" id="{227D6E60-402D-4530-A5C5-CDE7037F0949}"/>
              </a:ext>
            </a:extLst>
          </p:cNvPr>
          <p:cNvSpPr>
            <a:spLocks xmlns:a="http://schemas.openxmlformats.org/drawingml/2006/main" noGrp="1"/>
          </p:cNvSpPr>
          <p:nvPr/>
        </p:nvSpPr>
        <p:spPr>
          <a:xfrm xmlns:a="http://schemas.openxmlformats.org/drawingml/2006/main">
            <a:off x="1181100" y="50292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Biology 2e. Capítulos 8 y 7: fotosíntesis y respiración celular.</a:t>
            </a:r>
          </a:p>
        </p:txBody>
      </p:sp>
      <p:sp>
        <p:nvSpPr>
          <p:cNvPr id="19" name="">
            <a:extLst xmlns:a="http://schemas.openxmlformats.org/drawingml/2006/main">
              <a:ext uri="{FF2B5EF4-FFF2-40B4-BE49-F238E27FC236}">
                <a16:creationId xmlns:a16="http://schemas.microsoft.com/office/drawing/2014/main" id="{40669814-8A7F-4C22-814C-114ABDDA8429}"/>
              </a:ext>
            </a:extLst>
          </p:cNvPr>
          <p:cNvSpPr>
            <a:spLocks xmlns:a="http://schemas.openxmlformats.org/drawingml/2006/main" noGrp="1"/>
          </p:cNvSpPr>
          <p:nvPr/>
        </p:nvSpPr>
        <p:spPr>
          <a:xfrm xmlns:a="http://schemas.openxmlformats.org/drawingml/2006/main">
            <a:off x="1181100" y="52863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OpenStax. Texto de fundamentos.</a:t>
            </a:r>
          </a:p>
        </p:txBody>
      </p:sp>
      <p:sp>
        <p:nvSpPr>
          <p:cNvPr id="20" name="">
            <a:extLst xmlns:a="http://schemas.openxmlformats.org/drawingml/2006/main">
              <a:ext uri="{FF2B5EF4-FFF2-40B4-BE49-F238E27FC236}">
                <a16:creationId xmlns:a16="http://schemas.microsoft.com/office/drawing/2014/main" id="{F7FE5989-18F0-4138-B1BA-5BE894C7CE58}"/>
              </a:ext>
            </a:extLst>
          </p:cNvPr>
          <p:cNvSpPr>
            <a:spLocks xmlns:a="http://schemas.openxmlformats.org/drawingml/2006/main" noGrp="1"/>
          </p:cNvSpPr>
          <p:nvPr/>
        </p:nvSpPr>
        <p:spPr>
          <a:xfrm xmlns:a="http://schemas.openxmlformats.org/drawingml/2006/main">
            <a:off x="1181100" y="55149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bb1cd1cd2fde40ab"/>
              </a:rPr>
              <a:t>openstax.org/books/biology-2e/pages/8-introduction</a:t>
            </a:r>
          </a:p>
        </p:txBody>
      </p:sp>
    </p:spTree>
    <p:extLst>
      <p:ext uri="{BB962C8B-B14F-4D97-AF65-F5344CB8AC3E}">
        <p14:creationId xmlns:p14="http://schemas.microsoft.com/office/powerpoint/2010/main" val="65293047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F5DCD3-E88B-4710-9651-1605A6D6FAE6}"/>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65DF8884-9257-46E4-93D8-EED7B794C269}"/>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Fundamentos y publicaciones científicas de 2017–2026.</a:t>
            </a:r>
          </a:p>
        </p:txBody>
      </p:sp>
      <p:sp>
        <p:nvSpPr>
          <p:cNvPr id="3" name="">
            <a:extLst xmlns:a="http://schemas.openxmlformats.org/drawingml/2006/main">
              <a:ext uri="{FF2B5EF4-FFF2-40B4-BE49-F238E27FC236}">
                <a16:creationId xmlns:a16="http://schemas.microsoft.com/office/drawing/2014/main" id="{FB6B48BD-641D-451B-93D2-55E944EF95A3}"/>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CDE4E72B-0806-403D-AF8D-BD5B9CEEB6E6}"/>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Referencias de consulta.</a:t>
            </a:r>
          </a:p>
        </p:txBody>
      </p:sp>
      <p:sp>
        <p:nvSpPr>
          <p:cNvPr id="5" name="">
            <a:extLst xmlns:a="http://schemas.openxmlformats.org/drawingml/2006/main">
              <a:ext uri="{FF2B5EF4-FFF2-40B4-BE49-F238E27FC236}">
                <a16:creationId xmlns:a16="http://schemas.microsoft.com/office/drawing/2014/main" id="{F9D06860-7524-4C7F-87F1-01B47DA42FF7}"/>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25 / 27</a:t>
            </a:r>
          </a:p>
        </p:txBody>
      </p:sp>
      <p:sp>
        <p:nvSpPr>
          <p:cNvPr id="6" name="">
            <a:extLst xmlns:a="http://schemas.openxmlformats.org/drawingml/2006/main">
              <a:ext uri="{FF2B5EF4-FFF2-40B4-BE49-F238E27FC236}">
                <a16:creationId xmlns:a16="http://schemas.microsoft.com/office/drawing/2014/main" id="{E58B1B8A-2C16-4DD4-B074-A463671AEB02}"/>
              </a:ext>
            </a:extLst>
          </p:cNvPr>
          <p:cNvSpPr>
            <a:spLocks xmlns:a="http://schemas.openxmlformats.org/drawingml/2006/main" noGrp="1"/>
          </p:cNvSpPr>
          <p:nvPr/>
        </p:nvSpPr>
        <p:spPr>
          <a:xfrm xmlns:a="http://schemas.openxmlformats.org/drawingml/2006/main">
            <a:off x="552450" y="17145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[7]</a:t>
            </a:r>
          </a:p>
        </p:txBody>
      </p:sp>
      <p:sp>
        <p:nvSpPr>
          <p:cNvPr id="7" name="">
            <a:extLst xmlns:a="http://schemas.openxmlformats.org/drawingml/2006/main">
              <a:ext uri="{FF2B5EF4-FFF2-40B4-BE49-F238E27FC236}">
                <a16:creationId xmlns:a16="http://schemas.microsoft.com/office/drawing/2014/main" id="{B8A03224-9307-48C0-B621-3EA2C94F2CC7}"/>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Salbitani, G., &amp; Carfagna, S. (2021)</a:t>
            </a:r>
          </a:p>
        </p:txBody>
      </p:sp>
      <p:sp>
        <p:nvSpPr>
          <p:cNvPr id="8" name="">
            <a:extLst xmlns:a="http://schemas.openxmlformats.org/drawingml/2006/main">
              <a:ext uri="{FF2B5EF4-FFF2-40B4-BE49-F238E27FC236}">
                <a16:creationId xmlns:a16="http://schemas.microsoft.com/office/drawing/2014/main" id="{9360B762-2DFE-4956-AC6C-552858E1A012}"/>
              </a:ext>
            </a:extLst>
          </p:cNvPr>
          <p:cNvSpPr>
            <a:spLocks xmlns:a="http://schemas.openxmlformats.org/drawingml/2006/main" noGrp="1"/>
          </p:cNvSpPr>
          <p:nvPr/>
        </p:nvSpPr>
        <p:spPr>
          <a:xfrm xmlns:a="http://schemas.openxmlformats.org/drawingml/2006/main">
            <a:off x="1181100" y="20193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Ammonium Utilization in Microalgae: A Sustainable Method for Wastewater Treatment.</a:t>
            </a:r>
          </a:p>
        </p:txBody>
      </p:sp>
      <p:sp>
        <p:nvSpPr>
          <p:cNvPr id="9" name="">
            <a:extLst xmlns:a="http://schemas.openxmlformats.org/drawingml/2006/main">
              <a:ext uri="{FF2B5EF4-FFF2-40B4-BE49-F238E27FC236}">
                <a16:creationId xmlns:a16="http://schemas.microsoft.com/office/drawing/2014/main" id="{12E25B06-988C-4078-94F3-C88F7444B6E6}"/>
              </a:ext>
            </a:extLst>
          </p:cNvPr>
          <p:cNvSpPr>
            <a:spLocks xmlns:a="http://schemas.openxmlformats.org/drawingml/2006/main" noGrp="1"/>
          </p:cNvSpPr>
          <p:nvPr/>
        </p:nvSpPr>
        <p:spPr>
          <a:xfrm xmlns:a="http://schemas.openxmlformats.org/drawingml/2006/main">
            <a:off x="1181100" y="22764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Sustainability, 13(2), 956.</a:t>
            </a:r>
          </a:p>
        </p:txBody>
      </p:sp>
      <p:sp>
        <p:nvSpPr>
          <p:cNvPr id="10" name="">
            <a:extLst xmlns:a="http://schemas.openxmlformats.org/drawingml/2006/main">
              <a:ext uri="{FF2B5EF4-FFF2-40B4-BE49-F238E27FC236}">
                <a16:creationId xmlns:a16="http://schemas.microsoft.com/office/drawing/2014/main" id="{53AE40F7-94A9-4952-9742-0C0129CFE66B}"/>
              </a:ext>
            </a:extLst>
          </p:cNvPr>
          <p:cNvSpPr>
            <a:spLocks xmlns:a="http://schemas.openxmlformats.org/drawingml/2006/main" noGrp="1"/>
          </p:cNvSpPr>
          <p:nvPr/>
        </p:nvSpPr>
        <p:spPr>
          <a:xfrm xmlns:a="http://schemas.openxmlformats.org/drawingml/2006/main">
            <a:off x="1181100" y="25050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59c133468f654e0b"/>
              </a:rPr>
              <a:t>doi.org/10.3390/su13020956</a:t>
            </a:r>
          </a:p>
        </p:txBody>
      </p:sp>
      <p:sp>
        <p:nvSpPr>
          <p:cNvPr id="11" name="">
            <a:extLst xmlns:a="http://schemas.openxmlformats.org/drawingml/2006/main">
              <a:ext uri="{FF2B5EF4-FFF2-40B4-BE49-F238E27FC236}">
                <a16:creationId xmlns:a16="http://schemas.microsoft.com/office/drawing/2014/main" id="{A15371D5-443E-46B1-A4BD-8B6784B76221}"/>
              </a:ext>
            </a:extLst>
          </p:cNvPr>
          <p:cNvSpPr>
            <a:spLocks xmlns:a="http://schemas.openxmlformats.org/drawingml/2006/main" noGrp="1"/>
          </p:cNvSpPr>
          <p:nvPr/>
        </p:nvSpPr>
        <p:spPr>
          <a:xfrm xmlns:a="http://schemas.openxmlformats.org/drawingml/2006/main">
            <a:off x="552450" y="32194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[8]</a:t>
            </a:r>
          </a:p>
        </p:txBody>
      </p:sp>
      <p:sp>
        <p:nvSpPr>
          <p:cNvPr id="12" name="">
            <a:extLst xmlns:a="http://schemas.openxmlformats.org/drawingml/2006/main">
              <a:ext uri="{FF2B5EF4-FFF2-40B4-BE49-F238E27FC236}">
                <a16:creationId xmlns:a16="http://schemas.microsoft.com/office/drawing/2014/main" id="{75A8FAAF-3BBC-4259-8C6D-9D92CB18C9D8}"/>
              </a:ext>
            </a:extLst>
          </p:cNvPr>
          <p:cNvSpPr>
            <a:spLocks xmlns:a="http://schemas.openxmlformats.org/drawingml/2006/main" noGrp="1"/>
          </p:cNvSpPr>
          <p:nvPr/>
        </p:nvSpPr>
        <p:spPr>
          <a:xfrm xmlns:a="http://schemas.openxmlformats.org/drawingml/2006/main">
            <a:off x="1181100" y="32194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Bossa, R., Di Colandrea, M., Salbitani, G., &amp; Carfagna, S. (2024)</a:t>
            </a:r>
          </a:p>
        </p:txBody>
      </p:sp>
      <p:sp>
        <p:nvSpPr>
          <p:cNvPr id="13" name="">
            <a:extLst xmlns:a="http://schemas.openxmlformats.org/drawingml/2006/main">
              <a:ext uri="{FF2B5EF4-FFF2-40B4-BE49-F238E27FC236}">
                <a16:creationId xmlns:a16="http://schemas.microsoft.com/office/drawing/2014/main" id="{9357F3E4-2115-47F0-B590-041309BF693E}"/>
              </a:ext>
            </a:extLst>
          </p:cNvPr>
          <p:cNvSpPr>
            <a:spLocks xmlns:a="http://schemas.openxmlformats.org/drawingml/2006/main" noGrp="1"/>
          </p:cNvSpPr>
          <p:nvPr/>
        </p:nvSpPr>
        <p:spPr>
          <a:xfrm xmlns:a="http://schemas.openxmlformats.org/drawingml/2006/main">
            <a:off x="1181100" y="35242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Phosphorous Utilization in Microalgae: Physiological Aspects and Applied Implications.</a:t>
            </a:r>
          </a:p>
        </p:txBody>
      </p:sp>
      <p:sp>
        <p:nvSpPr>
          <p:cNvPr id="14" name="">
            <a:extLst xmlns:a="http://schemas.openxmlformats.org/drawingml/2006/main">
              <a:ext uri="{FF2B5EF4-FFF2-40B4-BE49-F238E27FC236}">
                <a16:creationId xmlns:a16="http://schemas.microsoft.com/office/drawing/2014/main" id="{A325D5F7-B43C-4A8F-A4AA-D903D69BA048}"/>
              </a:ext>
            </a:extLst>
          </p:cNvPr>
          <p:cNvSpPr>
            <a:spLocks xmlns:a="http://schemas.openxmlformats.org/drawingml/2006/main" noGrp="1"/>
          </p:cNvSpPr>
          <p:nvPr/>
        </p:nvSpPr>
        <p:spPr>
          <a:xfrm xmlns:a="http://schemas.openxmlformats.org/drawingml/2006/main">
            <a:off x="1181100" y="37814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Plants, 13(15), 2127.</a:t>
            </a:r>
          </a:p>
        </p:txBody>
      </p:sp>
      <p:sp>
        <p:nvSpPr>
          <p:cNvPr id="15" name="">
            <a:extLst xmlns:a="http://schemas.openxmlformats.org/drawingml/2006/main">
              <a:ext uri="{FF2B5EF4-FFF2-40B4-BE49-F238E27FC236}">
                <a16:creationId xmlns:a16="http://schemas.microsoft.com/office/drawing/2014/main" id="{0ADE3E0B-2F48-4FE0-837D-F7C8251EC3A1}"/>
              </a:ext>
            </a:extLst>
          </p:cNvPr>
          <p:cNvSpPr>
            <a:spLocks xmlns:a="http://schemas.openxmlformats.org/drawingml/2006/main" noGrp="1"/>
          </p:cNvSpPr>
          <p:nvPr/>
        </p:nvSpPr>
        <p:spPr>
          <a:xfrm xmlns:a="http://schemas.openxmlformats.org/drawingml/2006/main">
            <a:off x="1181100" y="40100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22f71483d8294443"/>
              </a:rPr>
              <a:t>doi.org/10.3390/plants13152127</a:t>
            </a:r>
          </a:p>
        </p:txBody>
      </p:sp>
      <p:sp>
        <p:nvSpPr>
          <p:cNvPr id="16" name="">
            <a:extLst xmlns:a="http://schemas.openxmlformats.org/drawingml/2006/main">
              <a:ext uri="{FF2B5EF4-FFF2-40B4-BE49-F238E27FC236}">
                <a16:creationId xmlns:a16="http://schemas.microsoft.com/office/drawing/2014/main" id="{EF0EC9B9-05E9-41D6-B073-8BBF3B57F745}"/>
              </a:ext>
            </a:extLst>
          </p:cNvPr>
          <p:cNvSpPr>
            <a:spLocks xmlns:a="http://schemas.openxmlformats.org/drawingml/2006/main" noGrp="1"/>
          </p:cNvSpPr>
          <p:nvPr/>
        </p:nvSpPr>
        <p:spPr>
          <a:xfrm xmlns:a="http://schemas.openxmlformats.org/drawingml/2006/main">
            <a:off x="552450" y="47244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[9]</a:t>
            </a:r>
          </a:p>
        </p:txBody>
      </p:sp>
      <p:sp>
        <p:nvSpPr>
          <p:cNvPr id="17" name="">
            <a:extLst xmlns:a="http://schemas.openxmlformats.org/drawingml/2006/main">
              <a:ext uri="{FF2B5EF4-FFF2-40B4-BE49-F238E27FC236}">
                <a16:creationId xmlns:a16="http://schemas.microsoft.com/office/drawing/2014/main" id="{F4903273-86CF-4373-8FBF-AF7F2495C720}"/>
              </a:ext>
            </a:extLst>
          </p:cNvPr>
          <p:cNvSpPr>
            <a:spLocks xmlns:a="http://schemas.openxmlformats.org/drawingml/2006/main" noGrp="1"/>
          </p:cNvSpPr>
          <p:nvPr/>
        </p:nvSpPr>
        <p:spPr>
          <a:xfrm xmlns:a="http://schemas.openxmlformats.org/drawingml/2006/main">
            <a:off x="1181100" y="47244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Rozenberg, J. M., et al. (2024)</a:t>
            </a:r>
          </a:p>
        </p:txBody>
      </p:sp>
      <p:sp>
        <p:nvSpPr>
          <p:cNvPr id="18" name="">
            <a:extLst xmlns:a="http://schemas.openxmlformats.org/drawingml/2006/main">
              <a:ext uri="{FF2B5EF4-FFF2-40B4-BE49-F238E27FC236}">
                <a16:creationId xmlns:a16="http://schemas.microsoft.com/office/drawing/2014/main" id="{2C57094E-22D2-45C3-8D5D-FBA5FA1C5234}"/>
              </a:ext>
            </a:extLst>
          </p:cNvPr>
          <p:cNvSpPr>
            <a:spLocks xmlns:a="http://schemas.openxmlformats.org/drawingml/2006/main" noGrp="1"/>
          </p:cNvSpPr>
          <p:nvPr/>
        </p:nvSpPr>
        <p:spPr>
          <a:xfrm xmlns:a="http://schemas.openxmlformats.org/drawingml/2006/main">
            <a:off x="1181100" y="502920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Recent advances and fundamentals of microalgae cultivation technology.</a:t>
            </a:r>
          </a:p>
        </p:txBody>
      </p:sp>
      <p:sp>
        <p:nvSpPr>
          <p:cNvPr id="19" name="">
            <a:extLst xmlns:a="http://schemas.openxmlformats.org/drawingml/2006/main">
              <a:ext uri="{FF2B5EF4-FFF2-40B4-BE49-F238E27FC236}">
                <a16:creationId xmlns:a16="http://schemas.microsoft.com/office/drawing/2014/main" id="{6C60EE7F-8565-49B8-83CA-A462BC6A0E2B}"/>
              </a:ext>
            </a:extLst>
          </p:cNvPr>
          <p:cNvSpPr>
            <a:spLocks xmlns:a="http://schemas.openxmlformats.org/drawingml/2006/main" noGrp="1"/>
          </p:cNvSpPr>
          <p:nvPr/>
        </p:nvSpPr>
        <p:spPr>
          <a:xfrm xmlns:a="http://schemas.openxmlformats.org/drawingml/2006/main">
            <a:off x="1181100" y="528637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Biotechnology Journal, 19, e2300725.</a:t>
            </a:r>
          </a:p>
        </p:txBody>
      </p:sp>
      <p:sp>
        <p:nvSpPr>
          <p:cNvPr id="20" name="">
            <a:extLst xmlns:a="http://schemas.openxmlformats.org/drawingml/2006/main">
              <a:ext uri="{FF2B5EF4-FFF2-40B4-BE49-F238E27FC236}">
                <a16:creationId xmlns:a16="http://schemas.microsoft.com/office/drawing/2014/main" id="{17804438-52F8-4DB3-B42A-931A7446F682}"/>
              </a:ext>
            </a:extLst>
          </p:cNvPr>
          <p:cNvSpPr>
            <a:spLocks xmlns:a="http://schemas.openxmlformats.org/drawingml/2006/main" noGrp="1"/>
          </p:cNvSpPr>
          <p:nvPr/>
        </p:nvSpPr>
        <p:spPr>
          <a:xfrm xmlns:a="http://schemas.openxmlformats.org/drawingml/2006/main">
            <a:off x="1181100" y="551497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fc906548770d43f1"/>
              </a:rPr>
              <a:t>doi.org/10.1002/biot.202300725</a:t>
            </a:r>
          </a:p>
        </p:txBody>
      </p:sp>
    </p:spTree>
    <p:extLst>
      <p:ext uri="{BB962C8B-B14F-4D97-AF65-F5344CB8AC3E}">
        <p14:creationId xmlns:p14="http://schemas.microsoft.com/office/powerpoint/2010/main" val="73825238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C8E5D65-54E5-458E-9945-3C61D6D2EAB4}"/>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D1C5D050-0E23-4994-932F-5C84F16D7E2D}"/>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Fundamentos y publicaciones científicas de 2017–2026.</a:t>
            </a:r>
          </a:p>
        </p:txBody>
      </p:sp>
      <p:sp>
        <p:nvSpPr>
          <p:cNvPr id="3" name="">
            <a:extLst xmlns:a="http://schemas.openxmlformats.org/drawingml/2006/main">
              <a:ext uri="{FF2B5EF4-FFF2-40B4-BE49-F238E27FC236}">
                <a16:creationId xmlns:a16="http://schemas.microsoft.com/office/drawing/2014/main" id="{E4E0CE48-0171-477D-87D8-CAE990C68F9A}"/>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844166EF-AA7C-45FF-9603-5B065CA23B30}"/>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Referencias de consulta.</a:t>
            </a:r>
          </a:p>
        </p:txBody>
      </p:sp>
      <p:sp>
        <p:nvSpPr>
          <p:cNvPr id="5" name="">
            <a:extLst xmlns:a="http://schemas.openxmlformats.org/drawingml/2006/main">
              <a:ext uri="{FF2B5EF4-FFF2-40B4-BE49-F238E27FC236}">
                <a16:creationId xmlns:a16="http://schemas.microsoft.com/office/drawing/2014/main" id="{FDAD5E1E-AF9C-4C87-A314-D7C5F494172A}"/>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26 / 27</a:t>
            </a:r>
          </a:p>
        </p:txBody>
      </p:sp>
      <p:sp>
        <p:nvSpPr>
          <p:cNvPr id="6" name="">
            <a:extLst xmlns:a="http://schemas.openxmlformats.org/drawingml/2006/main">
              <a:ext uri="{FF2B5EF4-FFF2-40B4-BE49-F238E27FC236}">
                <a16:creationId xmlns:a16="http://schemas.microsoft.com/office/drawing/2014/main" id="{05142311-45B0-4D71-9180-EDA3AC575533}"/>
              </a:ext>
            </a:extLst>
          </p:cNvPr>
          <p:cNvSpPr>
            <a:spLocks xmlns:a="http://schemas.openxmlformats.org/drawingml/2006/main" noGrp="1"/>
          </p:cNvSpPr>
          <p:nvPr/>
        </p:nvSpPr>
        <p:spPr>
          <a:xfrm xmlns:a="http://schemas.openxmlformats.org/drawingml/2006/main">
            <a:off x="552450" y="17145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[10]</a:t>
            </a:r>
          </a:p>
        </p:txBody>
      </p:sp>
      <p:sp>
        <p:nvSpPr>
          <p:cNvPr id="7" name="">
            <a:extLst xmlns:a="http://schemas.openxmlformats.org/drawingml/2006/main">
              <a:ext uri="{FF2B5EF4-FFF2-40B4-BE49-F238E27FC236}">
                <a16:creationId xmlns:a16="http://schemas.microsoft.com/office/drawing/2014/main" id="{57BB7224-9640-460E-BA8C-F5134068722F}"/>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Galarza, J. I., et al. (2026)</a:t>
            </a:r>
          </a:p>
        </p:txBody>
      </p:sp>
      <p:sp>
        <p:nvSpPr>
          <p:cNvPr id="8" name="">
            <a:extLst xmlns:a="http://schemas.openxmlformats.org/drawingml/2006/main">
              <a:ext uri="{FF2B5EF4-FFF2-40B4-BE49-F238E27FC236}">
                <a16:creationId xmlns:a16="http://schemas.microsoft.com/office/drawing/2014/main" id="{91141342-A735-46A7-80A7-0CE4F80F02CD}"/>
              </a:ext>
            </a:extLst>
          </p:cNvPr>
          <p:cNvSpPr>
            <a:spLocks xmlns:a="http://schemas.openxmlformats.org/drawingml/2006/main" noGrp="1"/>
          </p:cNvSpPr>
          <p:nvPr/>
        </p:nvSpPr>
        <p:spPr>
          <a:xfrm xmlns:a="http://schemas.openxmlformats.org/drawingml/2006/main">
            <a:off x="1181100" y="201930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Isolation, Molecular Identification, and Biochemical Profiling of Native Microalgae from the Santa Elena Peninsula</a:t>
            </a:r>
          </a:p>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(Ecuador) as a Basis for Sustainable Aquaculture.</a:t>
            </a:r>
          </a:p>
        </p:txBody>
      </p:sp>
      <p:sp>
        <p:nvSpPr>
          <p:cNvPr id="9" name="">
            <a:extLst xmlns:a="http://schemas.openxmlformats.org/drawingml/2006/main">
              <a:ext uri="{FF2B5EF4-FFF2-40B4-BE49-F238E27FC236}">
                <a16:creationId xmlns:a16="http://schemas.microsoft.com/office/drawing/2014/main" id="{D98578E3-68EA-4A69-87FE-B8719201E614}"/>
              </a:ext>
            </a:extLst>
          </p:cNvPr>
          <p:cNvSpPr>
            <a:spLocks xmlns:a="http://schemas.openxmlformats.org/drawingml/2006/main" noGrp="1"/>
          </p:cNvSpPr>
          <p:nvPr/>
        </p:nvSpPr>
        <p:spPr>
          <a:xfrm xmlns:a="http://schemas.openxmlformats.org/drawingml/2006/main">
            <a:off x="1181100" y="24860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Phycology, 6(2), 60. Publicado el 31 de mayo de 2026.</a:t>
            </a:r>
          </a:p>
        </p:txBody>
      </p:sp>
      <p:sp>
        <p:nvSpPr>
          <p:cNvPr id="10" name="">
            <a:extLst xmlns:a="http://schemas.openxmlformats.org/drawingml/2006/main">
              <a:ext uri="{FF2B5EF4-FFF2-40B4-BE49-F238E27FC236}">
                <a16:creationId xmlns:a16="http://schemas.microsoft.com/office/drawing/2014/main" id="{2BA773C8-CD5A-455D-A1B4-64C16535C61E}"/>
              </a:ext>
            </a:extLst>
          </p:cNvPr>
          <p:cNvSpPr>
            <a:spLocks xmlns:a="http://schemas.openxmlformats.org/drawingml/2006/main" noGrp="1"/>
          </p:cNvSpPr>
          <p:nvPr/>
        </p:nvSpPr>
        <p:spPr>
          <a:xfrm xmlns:a="http://schemas.openxmlformats.org/drawingml/2006/main">
            <a:off x="1181100" y="27146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f0e3d07ff37745a5"/>
              </a:rPr>
              <a:t>doi.org/10.3390/phycology6020060</a:t>
            </a:r>
          </a:p>
        </p:txBody>
      </p:sp>
      <p:sp>
        <p:nvSpPr>
          <p:cNvPr id="11" name="">
            <a:extLst xmlns:a="http://schemas.openxmlformats.org/drawingml/2006/main">
              <a:ext uri="{FF2B5EF4-FFF2-40B4-BE49-F238E27FC236}">
                <a16:creationId xmlns:a16="http://schemas.microsoft.com/office/drawing/2014/main" id="{2A90CB4B-2AF3-478A-9B09-34F1EE7E8F82}"/>
              </a:ext>
            </a:extLst>
          </p:cNvPr>
          <p:cNvSpPr>
            <a:spLocks xmlns:a="http://schemas.openxmlformats.org/drawingml/2006/main" noGrp="1"/>
          </p:cNvSpPr>
          <p:nvPr/>
        </p:nvSpPr>
        <p:spPr>
          <a:xfrm xmlns:a="http://schemas.openxmlformats.org/drawingml/2006/main">
            <a:off x="552450" y="38100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[11]</a:t>
            </a:r>
          </a:p>
        </p:txBody>
      </p:sp>
      <p:sp>
        <p:nvSpPr>
          <p:cNvPr id="12" name="">
            <a:extLst xmlns:a="http://schemas.openxmlformats.org/drawingml/2006/main">
              <a:ext uri="{FF2B5EF4-FFF2-40B4-BE49-F238E27FC236}">
                <a16:creationId xmlns:a16="http://schemas.microsoft.com/office/drawing/2014/main" id="{1D35ACEA-6A64-4321-BEFD-BD0142FFF927}"/>
              </a:ext>
            </a:extLst>
          </p:cNvPr>
          <p:cNvSpPr>
            <a:spLocks xmlns:a="http://schemas.openxmlformats.org/drawingml/2006/main" noGrp="1"/>
          </p:cNvSpPr>
          <p:nvPr/>
        </p:nvSpPr>
        <p:spPr>
          <a:xfrm xmlns:a="http://schemas.openxmlformats.org/drawingml/2006/main">
            <a:off x="1181100" y="38100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Flores-Zambrano, K., Tapia, W., &amp; Castillejo, P. (2025)</a:t>
            </a:r>
          </a:p>
        </p:txBody>
      </p:sp>
      <p:sp>
        <p:nvSpPr>
          <p:cNvPr id="13" name="">
            <a:extLst xmlns:a="http://schemas.openxmlformats.org/drawingml/2006/main">
              <a:ext uri="{FF2B5EF4-FFF2-40B4-BE49-F238E27FC236}">
                <a16:creationId xmlns:a16="http://schemas.microsoft.com/office/drawing/2014/main" id="{8FBD3FFC-9F4B-44AA-9615-C857C4DE7E23}"/>
              </a:ext>
            </a:extLst>
          </p:cNvPr>
          <p:cNvSpPr>
            <a:spLocks xmlns:a="http://schemas.openxmlformats.org/drawingml/2006/main" noGrp="1"/>
          </p:cNvSpPr>
          <p:nvPr/>
        </p:nvSpPr>
        <p:spPr>
          <a:xfrm xmlns:a="http://schemas.openxmlformats.org/drawingml/2006/main">
            <a:off x="1181100" y="411480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Microalgae strains isolated from piggery wastewater in Ecuador: Effective nitrogen compound removal and</a:t>
            </a:r>
          </a:p>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growth potential in extremophile conditions.</a:t>
            </a:r>
          </a:p>
        </p:txBody>
      </p:sp>
      <p:sp>
        <p:nvSpPr>
          <p:cNvPr id="14" name="">
            <a:extLst xmlns:a="http://schemas.openxmlformats.org/drawingml/2006/main">
              <a:ext uri="{FF2B5EF4-FFF2-40B4-BE49-F238E27FC236}">
                <a16:creationId xmlns:a16="http://schemas.microsoft.com/office/drawing/2014/main" id="{D8B3409B-B91A-42A1-A29B-C142C412606A}"/>
              </a:ext>
            </a:extLst>
          </p:cNvPr>
          <p:cNvSpPr>
            <a:spLocks xmlns:a="http://schemas.openxmlformats.org/drawingml/2006/main" noGrp="1"/>
          </p:cNvSpPr>
          <p:nvPr/>
        </p:nvSpPr>
        <p:spPr>
          <a:xfrm xmlns:a="http://schemas.openxmlformats.org/drawingml/2006/main">
            <a:off x="1181100" y="45815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Biotechnology Reports, 45, e00883.</a:t>
            </a:r>
          </a:p>
        </p:txBody>
      </p:sp>
      <p:sp>
        <p:nvSpPr>
          <p:cNvPr id="15" name="">
            <a:extLst xmlns:a="http://schemas.openxmlformats.org/drawingml/2006/main">
              <a:ext uri="{FF2B5EF4-FFF2-40B4-BE49-F238E27FC236}">
                <a16:creationId xmlns:a16="http://schemas.microsoft.com/office/drawing/2014/main" id="{24A4A00E-C1AE-448A-A39B-6BDF2F4ED0A1}"/>
              </a:ext>
            </a:extLst>
          </p:cNvPr>
          <p:cNvSpPr>
            <a:spLocks xmlns:a="http://schemas.openxmlformats.org/drawingml/2006/main" noGrp="1"/>
          </p:cNvSpPr>
          <p:nvPr/>
        </p:nvSpPr>
        <p:spPr>
          <a:xfrm xmlns:a="http://schemas.openxmlformats.org/drawingml/2006/main">
            <a:off x="1181100" y="48101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819c62c620f64890"/>
              </a:rPr>
              <a:t>doi.org/10.1016/j.btre.2025.e00883</a:t>
            </a:r>
          </a:p>
        </p:txBody>
      </p:sp>
    </p:spTree>
    <p:extLst>
      <p:ext uri="{BB962C8B-B14F-4D97-AF65-F5344CB8AC3E}">
        <p14:creationId xmlns:p14="http://schemas.microsoft.com/office/powerpoint/2010/main" val="14568627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E318F4B-E176-44F8-9E30-EFBDCAE0BD9B}"/>
              </a:ext>
            </a:extLst>
          </p:cNvPr>
          <p:cNvSpPr>
            <a:spLocks xmlns:a="http://schemas.openxmlformats.org/drawingml/2006/main" noGrp="1"/>
          </p:cNvSpPr>
          <p:nvPr/>
        </p:nvSpPr>
        <p:spPr>
          <a:xfrm xmlns:a="http://schemas.openxmlformats.org/drawingml/2006/main">
            <a:off x="552450" y="371475"/>
            <a:ext cx="11087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150" b="1" i="0">
                <a:solidFill>
                  <a:srgbClr val="203E49"/>
                </a:solidFill>
                <a:latin typeface="DejaVu Sans"/>
                <a:ea typeface="DejaVu Sans"/>
                <a:cs typeface="DejaVu Sans"/>
              </a:defRPr>
            </a:defPPr>
          </a:lstStyle>
          <a:p xmlns:a="http://schemas.openxmlformats.org/drawingml/2006/main">
            <a:pPr algn="l">
              <a:lnSpc>
                <a:spcPct val="110000"/>
              </a:lnSpc>
              <a:buNone/>
              <a:defRPr sz="3150" b="1" i="0">
                <a:solidFill>
                  <a:srgbClr val="203E49"/>
                </a:solidFill>
                <a:latin typeface="DejaVu Sans"/>
                <a:ea typeface="DejaVu Sans"/>
                <a:cs typeface="DejaVu Sans"/>
              </a:defRPr>
            </a:pPr>
            <a:r>
              <a:rPr sz="3150" b="1" i="0">
                <a:solidFill>
                  <a:srgbClr val="203E49"/>
                </a:solidFill>
                <a:latin typeface="DejaVu Sans"/>
                <a:ea typeface="DejaVu Sans"/>
                <a:cs typeface="DejaVu Sans"/>
              </a:rPr>
              <a:t>Bibliografía</a:t>
            </a:r>
          </a:p>
        </p:txBody>
      </p:sp>
      <p:sp>
        <p:nvSpPr>
          <p:cNvPr id="2" name="">
            <a:extLst xmlns:a="http://schemas.openxmlformats.org/drawingml/2006/main">
              <a:ext uri="{FF2B5EF4-FFF2-40B4-BE49-F238E27FC236}">
                <a16:creationId xmlns:a16="http://schemas.microsoft.com/office/drawing/2014/main" id="{9FB0234B-7C35-42F6-A9FE-084D1D02407B}"/>
              </a:ext>
            </a:extLst>
          </p:cNvPr>
          <p:cNvSpPr>
            <a:spLocks xmlns:a="http://schemas.openxmlformats.org/drawingml/2006/main" noGrp="1"/>
          </p:cNvSpPr>
          <p:nvPr/>
        </p:nvSpPr>
        <p:spPr>
          <a:xfrm xmlns:a="http://schemas.openxmlformats.org/drawingml/2006/main">
            <a:off x="552450" y="1095375"/>
            <a:ext cx="11087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i="0">
                <a:solidFill>
                  <a:srgbClr val="637D84"/>
                </a:solidFill>
                <a:latin typeface="DejaVu Sans"/>
                <a:ea typeface="DejaVu Sans"/>
                <a:cs typeface="DejaVu Sans"/>
              </a:defRPr>
            </a:defPPr>
          </a:lstStyle>
          <a:p xmlns:a="http://schemas.openxmlformats.org/drawingml/2006/main">
            <a:pPr algn="l">
              <a:lnSpc>
                <a:spcPct val="110000"/>
              </a:lnSpc>
              <a:buNone/>
              <a:defRPr sz="1800" b="0" i="0">
                <a:solidFill>
                  <a:srgbClr val="637D84"/>
                </a:solidFill>
                <a:latin typeface="DejaVu Sans"/>
                <a:ea typeface="DejaVu Sans"/>
                <a:cs typeface="DejaVu Sans"/>
              </a:defRPr>
            </a:pPr>
            <a:r>
              <a:rPr sz="1800" b="0" i="0">
                <a:solidFill>
                  <a:srgbClr val="637D84"/>
                </a:solidFill>
                <a:latin typeface="DejaVu Sans"/>
                <a:ea typeface="DejaVu Sans"/>
                <a:cs typeface="DejaVu Sans"/>
              </a:rPr>
              <a:t>Fundamentos y publicaciones científicas de 2017–2026.</a:t>
            </a:r>
          </a:p>
        </p:txBody>
      </p:sp>
      <p:sp>
        <p:nvSpPr>
          <p:cNvPr id="3" name="">
            <a:extLst xmlns:a="http://schemas.openxmlformats.org/drawingml/2006/main">
              <a:ext uri="{FF2B5EF4-FFF2-40B4-BE49-F238E27FC236}">
                <a16:creationId xmlns:a16="http://schemas.microsoft.com/office/drawing/2014/main" id="{35D88791-8AF6-4E76-BC0C-51446AFD826D}"/>
              </a:ext>
            </a:extLst>
          </p:cNvPr>
          <p:cNvSpPr>
            <a:spLocks xmlns:a="http://schemas.openxmlformats.org/drawingml/2006/main" noGrp="1"/>
          </p:cNvSpPr>
          <p:nvPr/>
        </p:nvSpPr>
        <p:spPr>
          <a:xfrm xmlns:a="http://schemas.openxmlformats.org/drawingml/2006/main">
            <a:off x="552450" y="6477000"/>
            <a:ext cx="11087100" cy="953"/>
          </a:xfrm>
          <a:custGeom xmlns:a="http://schemas.openxmlformats.org/drawingml/2006/main">
            <a:pathLst>
              <a:path w="11087100" h="953">
                <a:moveTo>
                  <a:pt x="0" y="0"/>
                </a:moveTo>
                <a:lnTo>
                  <a:pt x="11087100" y="0"/>
                </a:lnTo>
              </a:path>
            </a:pathLst>
          </a:custGeom>
          <a:noFill xmlns:a="http://schemas.openxmlformats.org/drawingml/2006/main"/>
          <a:ln xmlns:a="http://schemas.openxmlformats.org/drawingml/2006/main" w="9525">
            <a:solidFill>
              <a:srgbClr val="DCE5E7"/>
            </a:solidFill>
            <a:prstDash val="solid"/>
          </a:ln>
        </p:spPr>
      </p:sp>
      <p:sp>
        <p:nvSpPr>
          <p:cNvPr id="4" name="">
            <a:extLst xmlns:a="http://schemas.openxmlformats.org/drawingml/2006/main">
              <a:ext uri="{FF2B5EF4-FFF2-40B4-BE49-F238E27FC236}">
                <a16:creationId xmlns:a16="http://schemas.microsoft.com/office/drawing/2014/main" id="{024B1AD0-E30E-46CC-BF8B-3EB1E13254D9}"/>
              </a:ext>
            </a:extLst>
          </p:cNvPr>
          <p:cNvSpPr>
            <a:spLocks xmlns:a="http://schemas.openxmlformats.org/drawingml/2006/main" noGrp="1"/>
          </p:cNvSpPr>
          <p:nvPr/>
        </p:nvSpPr>
        <p:spPr>
          <a:xfrm xmlns:a="http://schemas.openxmlformats.org/drawingml/2006/main">
            <a:off x="552450" y="65627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i="0">
                <a:solidFill>
                  <a:srgbClr val="637D84"/>
                </a:solidFill>
                <a:latin typeface="DejaVu Sans"/>
                <a:ea typeface="DejaVu Sans"/>
                <a:cs typeface="DejaVu Sans"/>
              </a:defRPr>
            </a:defPPr>
          </a:lstStyle>
          <a:p xmlns:a="http://schemas.openxmlformats.org/drawingml/2006/main">
            <a:pPr algn="l">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Referencias de consulta.</a:t>
            </a:r>
          </a:p>
        </p:txBody>
      </p:sp>
      <p:sp>
        <p:nvSpPr>
          <p:cNvPr id="5" name="">
            <a:extLst xmlns:a="http://schemas.openxmlformats.org/drawingml/2006/main">
              <a:ext uri="{FF2B5EF4-FFF2-40B4-BE49-F238E27FC236}">
                <a16:creationId xmlns:a16="http://schemas.microsoft.com/office/drawing/2014/main" id="{08DA9ACE-6299-42F7-90B8-A239580EC704}"/>
              </a:ext>
            </a:extLst>
          </p:cNvPr>
          <p:cNvSpPr>
            <a:spLocks xmlns:a="http://schemas.openxmlformats.org/drawingml/2006/main" noGrp="1"/>
          </p:cNvSpPr>
          <p:nvPr/>
        </p:nvSpPr>
        <p:spPr>
          <a:xfrm xmlns:a="http://schemas.openxmlformats.org/drawingml/2006/main">
            <a:off x="10991850" y="6562725"/>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975" b="0" i="0">
                <a:solidFill>
                  <a:srgbClr val="637D84"/>
                </a:solidFill>
                <a:latin typeface="DejaVu Sans"/>
                <a:ea typeface="DejaVu Sans"/>
                <a:cs typeface="DejaVu Sans"/>
              </a:defRPr>
            </a:defPPr>
          </a:lstStyle>
          <a:p xmlns:a="http://schemas.openxmlformats.org/drawingml/2006/main">
            <a:pPr algn="r">
              <a:lnSpc>
                <a:spcPct val="110000"/>
              </a:lnSpc>
              <a:buNone/>
              <a:defRPr sz="975" b="0" i="0">
                <a:solidFill>
                  <a:srgbClr val="637D84"/>
                </a:solidFill>
                <a:latin typeface="DejaVu Sans"/>
                <a:ea typeface="DejaVu Sans"/>
                <a:cs typeface="DejaVu Sans"/>
              </a:defRPr>
            </a:pPr>
            <a:r>
              <a:rPr sz="975" b="0" i="0">
                <a:solidFill>
                  <a:srgbClr val="637D84"/>
                </a:solidFill>
                <a:latin typeface="DejaVu Sans"/>
                <a:ea typeface="DejaVu Sans"/>
                <a:cs typeface="DejaVu Sans"/>
              </a:rPr>
              <a:t>27 / 27</a:t>
            </a:r>
          </a:p>
        </p:txBody>
      </p:sp>
      <p:sp>
        <p:nvSpPr>
          <p:cNvPr id="6" name="">
            <a:extLst xmlns:a="http://schemas.openxmlformats.org/drawingml/2006/main">
              <a:ext uri="{FF2B5EF4-FFF2-40B4-BE49-F238E27FC236}">
                <a16:creationId xmlns:a16="http://schemas.microsoft.com/office/drawing/2014/main" id="{8B12D8D4-224B-4466-A61E-981D2DDA3064}"/>
              </a:ext>
            </a:extLst>
          </p:cNvPr>
          <p:cNvSpPr>
            <a:spLocks xmlns:a="http://schemas.openxmlformats.org/drawingml/2006/main" noGrp="1"/>
          </p:cNvSpPr>
          <p:nvPr/>
        </p:nvSpPr>
        <p:spPr>
          <a:xfrm xmlns:a="http://schemas.openxmlformats.org/drawingml/2006/main">
            <a:off x="552450" y="17145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[12]</a:t>
            </a:r>
          </a:p>
        </p:txBody>
      </p:sp>
      <p:sp>
        <p:nvSpPr>
          <p:cNvPr id="7" name="">
            <a:extLst xmlns:a="http://schemas.openxmlformats.org/drawingml/2006/main">
              <a:ext uri="{FF2B5EF4-FFF2-40B4-BE49-F238E27FC236}">
                <a16:creationId xmlns:a16="http://schemas.microsoft.com/office/drawing/2014/main" id="{30AF4B70-CFB2-4CB4-B993-6B77D562C571}"/>
              </a:ext>
            </a:extLst>
          </p:cNvPr>
          <p:cNvSpPr>
            <a:spLocks xmlns:a="http://schemas.openxmlformats.org/drawingml/2006/main" noGrp="1"/>
          </p:cNvSpPr>
          <p:nvPr/>
        </p:nvSpPr>
        <p:spPr>
          <a:xfrm xmlns:a="http://schemas.openxmlformats.org/drawingml/2006/main">
            <a:off x="1181100" y="171450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López-Patiño, A. M., et al. (2024)</a:t>
            </a:r>
          </a:p>
        </p:txBody>
      </p:sp>
      <p:sp>
        <p:nvSpPr>
          <p:cNvPr id="8" name="">
            <a:extLst xmlns:a="http://schemas.openxmlformats.org/drawingml/2006/main">
              <a:ext uri="{FF2B5EF4-FFF2-40B4-BE49-F238E27FC236}">
                <a16:creationId xmlns:a16="http://schemas.microsoft.com/office/drawing/2014/main" id="{22F73B51-6A6B-419A-BECD-4993A9DDB0F5}"/>
              </a:ext>
            </a:extLst>
          </p:cNvPr>
          <p:cNvSpPr>
            <a:spLocks xmlns:a="http://schemas.openxmlformats.org/drawingml/2006/main" noGrp="1"/>
          </p:cNvSpPr>
          <p:nvPr/>
        </p:nvSpPr>
        <p:spPr>
          <a:xfrm xmlns:a="http://schemas.openxmlformats.org/drawingml/2006/main">
            <a:off x="1181100" y="201930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Native microalgal-bacterial consortia from the Ecuadorian Amazon region: an alternative to domestic wastewater</a:t>
            </a:r>
          </a:p>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treatment.</a:t>
            </a:r>
          </a:p>
        </p:txBody>
      </p:sp>
      <p:sp>
        <p:nvSpPr>
          <p:cNvPr id="9" name="">
            <a:extLst xmlns:a="http://schemas.openxmlformats.org/drawingml/2006/main">
              <a:ext uri="{FF2B5EF4-FFF2-40B4-BE49-F238E27FC236}">
                <a16:creationId xmlns:a16="http://schemas.microsoft.com/office/drawing/2014/main" id="{8B6EE0E1-91DF-4474-8506-D34B17EA676B}"/>
              </a:ext>
            </a:extLst>
          </p:cNvPr>
          <p:cNvSpPr>
            <a:spLocks xmlns:a="http://schemas.openxmlformats.org/drawingml/2006/main" noGrp="1"/>
          </p:cNvSpPr>
          <p:nvPr/>
        </p:nvSpPr>
        <p:spPr>
          <a:xfrm xmlns:a="http://schemas.openxmlformats.org/drawingml/2006/main">
            <a:off x="1181100" y="24860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Frontiers in Bioengineering and Biotechnology, 12, 1338547.</a:t>
            </a:r>
          </a:p>
        </p:txBody>
      </p:sp>
      <p:sp>
        <p:nvSpPr>
          <p:cNvPr id="10" name="">
            <a:extLst xmlns:a="http://schemas.openxmlformats.org/drawingml/2006/main">
              <a:ext uri="{FF2B5EF4-FFF2-40B4-BE49-F238E27FC236}">
                <a16:creationId xmlns:a16="http://schemas.microsoft.com/office/drawing/2014/main" id="{1DB7CF23-85F3-49CB-8325-1B79F602E37F}"/>
              </a:ext>
            </a:extLst>
          </p:cNvPr>
          <p:cNvSpPr>
            <a:spLocks xmlns:a="http://schemas.openxmlformats.org/drawingml/2006/main" noGrp="1"/>
          </p:cNvSpPr>
          <p:nvPr/>
        </p:nvSpPr>
        <p:spPr>
          <a:xfrm xmlns:a="http://schemas.openxmlformats.org/drawingml/2006/main">
            <a:off x="1181100" y="27146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fc66307fb4c64405"/>
              </a:rPr>
              <a:t>doi.org/10.3389/fbioe.2024.1338547</a:t>
            </a:r>
          </a:p>
        </p:txBody>
      </p:sp>
      <p:sp>
        <p:nvSpPr>
          <p:cNvPr id="11" name="">
            <a:extLst xmlns:a="http://schemas.openxmlformats.org/drawingml/2006/main">
              <a:ext uri="{FF2B5EF4-FFF2-40B4-BE49-F238E27FC236}">
                <a16:creationId xmlns:a16="http://schemas.microsoft.com/office/drawing/2014/main" id="{BC41D866-55FA-4B7F-BB82-25119A14EB78}"/>
              </a:ext>
            </a:extLst>
          </p:cNvPr>
          <p:cNvSpPr>
            <a:spLocks xmlns:a="http://schemas.openxmlformats.org/drawingml/2006/main" noGrp="1"/>
          </p:cNvSpPr>
          <p:nvPr/>
        </p:nvSpPr>
        <p:spPr>
          <a:xfrm xmlns:a="http://schemas.openxmlformats.org/drawingml/2006/main">
            <a:off x="552450" y="38100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i="0">
                <a:solidFill>
                  <a:srgbClr val="168E91"/>
                </a:solidFill>
                <a:latin typeface="DejaVu Sans"/>
                <a:ea typeface="DejaVu Sans"/>
                <a:cs typeface="DejaVu Sans"/>
              </a:defRPr>
            </a:defPPr>
          </a:lstStyle>
          <a:p xmlns:a="http://schemas.openxmlformats.org/drawingml/2006/main">
            <a:pPr algn="l">
              <a:lnSpc>
                <a:spcPct val="110000"/>
              </a:lnSpc>
              <a:buNone/>
              <a:defRPr sz="1725" b="1" i="0">
                <a:solidFill>
                  <a:srgbClr val="168E91"/>
                </a:solidFill>
                <a:latin typeface="DejaVu Sans"/>
                <a:ea typeface="DejaVu Sans"/>
                <a:cs typeface="DejaVu Sans"/>
              </a:defRPr>
            </a:pPr>
            <a:r>
              <a:rPr sz="1725" b="1" i="0">
                <a:solidFill>
                  <a:srgbClr val="168E91"/>
                </a:solidFill>
                <a:latin typeface="DejaVu Sans"/>
                <a:ea typeface="DejaVu Sans"/>
                <a:cs typeface="DejaVu Sans"/>
              </a:rPr>
              <a:t>[13]</a:t>
            </a:r>
          </a:p>
        </p:txBody>
      </p:sp>
      <p:sp>
        <p:nvSpPr>
          <p:cNvPr id="12" name="">
            <a:extLst xmlns:a="http://schemas.openxmlformats.org/drawingml/2006/main">
              <a:ext uri="{FF2B5EF4-FFF2-40B4-BE49-F238E27FC236}">
                <a16:creationId xmlns:a16="http://schemas.microsoft.com/office/drawing/2014/main" id="{25EE9FBB-7DC5-4DA6-9B48-EAAE8C3C1980}"/>
              </a:ext>
            </a:extLst>
          </p:cNvPr>
          <p:cNvSpPr>
            <a:spLocks xmlns:a="http://schemas.openxmlformats.org/drawingml/2006/main" noGrp="1"/>
          </p:cNvSpPr>
          <p:nvPr/>
        </p:nvSpPr>
        <p:spPr>
          <a:xfrm xmlns:a="http://schemas.openxmlformats.org/drawingml/2006/main">
            <a:off x="1181100" y="3810000"/>
            <a:ext cx="10382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i="0">
                <a:solidFill>
                  <a:srgbClr val="203E49"/>
                </a:solidFill>
                <a:latin typeface="DejaVu Sans"/>
                <a:ea typeface="DejaVu Sans"/>
                <a:cs typeface="DejaVu Sans"/>
              </a:defRPr>
            </a:defPPr>
          </a:lstStyle>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Álvarez-Montero, X., Mercado-Reyes, I., Castillo-Chamba, W., &amp; Santos-Ordóñez, E.</a:t>
            </a:r>
          </a:p>
          <a:p xmlns:a="http://schemas.openxmlformats.org/drawingml/2006/main">
            <a:pPr algn="l">
              <a:lnSpc>
                <a:spcPct val="110000"/>
              </a:lnSpc>
              <a:buNone/>
              <a:defRPr sz="1650" b="1" i="0">
                <a:solidFill>
                  <a:srgbClr val="203E49"/>
                </a:solidFill>
                <a:latin typeface="DejaVu Sans"/>
                <a:ea typeface="DejaVu Sans"/>
                <a:cs typeface="DejaVu Sans"/>
              </a:defRPr>
            </a:pPr>
            <a:r>
              <a:rPr sz="1650" b="1" i="0">
                <a:solidFill>
                  <a:srgbClr val="203E49"/>
                </a:solidFill>
                <a:latin typeface="DejaVu Sans"/>
                <a:ea typeface="DejaVu Sans"/>
                <a:cs typeface="DejaVu Sans"/>
              </a:rPr>
              <a:t>(2025)</a:t>
            </a:r>
          </a:p>
        </p:txBody>
      </p:sp>
      <p:sp>
        <p:nvSpPr>
          <p:cNvPr id="13" name="">
            <a:extLst xmlns:a="http://schemas.openxmlformats.org/drawingml/2006/main">
              <a:ext uri="{FF2B5EF4-FFF2-40B4-BE49-F238E27FC236}">
                <a16:creationId xmlns:a16="http://schemas.microsoft.com/office/drawing/2014/main" id="{71457DC6-E77A-4454-A607-A876F755B9F4}"/>
              </a:ext>
            </a:extLst>
          </p:cNvPr>
          <p:cNvSpPr>
            <a:spLocks xmlns:a="http://schemas.openxmlformats.org/drawingml/2006/main" noGrp="1"/>
          </p:cNvSpPr>
          <p:nvPr/>
        </p:nvSpPr>
        <p:spPr>
          <a:xfrm xmlns:a="http://schemas.openxmlformats.org/drawingml/2006/main">
            <a:off x="1181100" y="4352925"/>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425" b="0" i="0">
                <a:solidFill>
                  <a:srgbClr val="203E49"/>
                </a:solidFill>
                <a:latin typeface="DejaVu Sans"/>
                <a:ea typeface="DejaVu Sans"/>
                <a:cs typeface="DejaVu Sans"/>
              </a:defRPr>
            </a:defPPr>
          </a:lstStyle>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Harnessing dairy wastewater to cultivate Scenedesmus sp. for biofertilizer applications in Phaseolus vulgaris L.: a</a:t>
            </a:r>
          </a:p>
          <a:p xmlns:a="http://schemas.openxmlformats.org/drawingml/2006/main">
            <a:pPr algn="l">
              <a:lnSpc>
                <a:spcPct val="110000"/>
              </a:lnSpc>
              <a:buNone/>
              <a:defRPr sz="1425" b="0" i="0">
                <a:solidFill>
                  <a:srgbClr val="203E49"/>
                </a:solidFill>
                <a:latin typeface="DejaVu Sans"/>
                <a:ea typeface="DejaVu Sans"/>
                <a:cs typeface="DejaVu Sans"/>
              </a:defRPr>
            </a:pPr>
            <a:r>
              <a:rPr sz="1425" b="0" i="0">
                <a:solidFill>
                  <a:srgbClr val="203E49"/>
                </a:solidFill>
                <a:latin typeface="DejaVu Sans"/>
                <a:ea typeface="DejaVu Sans"/>
                <a:cs typeface="DejaVu Sans"/>
              </a:rPr>
              <a:t>sustainable agro-biotechnological approach.</a:t>
            </a:r>
          </a:p>
        </p:txBody>
      </p:sp>
      <p:sp>
        <p:nvSpPr>
          <p:cNvPr id="14" name="">
            <a:extLst xmlns:a="http://schemas.openxmlformats.org/drawingml/2006/main">
              <a:ext uri="{FF2B5EF4-FFF2-40B4-BE49-F238E27FC236}">
                <a16:creationId xmlns:a16="http://schemas.microsoft.com/office/drawing/2014/main" id="{48C92922-897B-4283-BD32-6035A4FA2B7B}"/>
              </a:ext>
            </a:extLst>
          </p:cNvPr>
          <p:cNvSpPr>
            <a:spLocks xmlns:a="http://schemas.openxmlformats.org/drawingml/2006/main" noGrp="1"/>
          </p:cNvSpPr>
          <p:nvPr/>
        </p:nvSpPr>
        <p:spPr>
          <a:xfrm xmlns:a="http://schemas.openxmlformats.org/drawingml/2006/main">
            <a:off x="1181100" y="4819650"/>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637D84"/>
                </a:solidFill>
                <a:latin typeface="DejaVu Sans"/>
                <a:ea typeface="DejaVu Sans"/>
                <a:cs typeface="DejaVu Sans"/>
              </a:defRPr>
            </a:defPPr>
          </a:lstStyle>
          <a:p xmlns:a="http://schemas.openxmlformats.org/drawingml/2006/main">
            <a:pPr algn="l">
              <a:lnSpc>
                <a:spcPct val="110000"/>
              </a:lnSpc>
              <a:buNone/>
              <a:defRPr sz="1275" b="0" i="0">
                <a:solidFill>
                  <a:srgbClr val="637D84"/>
                </a:solidFill>
                <a:latin typeface="DejaVu Sans"/>
                <a:ea typeface="DejaVu Sans"/>
                <a:cs typeface="DejaVu Sans"/>
              </a:defRPr>
            </a:pPr>
            <a:r>
              <a:rPr sz="1275" b="0" i="0">
                <a:solidFill>
                  <a:srgbClr val="637D84"/>
                </a:solidFill>
                <a:latin typeface="DejaVu Sans"/>
                <a:ea typeface="DejaVu Sans"/>
                <a:cs typeface="DejaVu Sans"/>
              </a:rPr>
              <a:t>Frontiers in Plant Science, 16, 1568057.</a:t>
            </a:r>
          </a:p>
        </p:txBody>
      </p:sp>
      <p:sp>
        <p:nvSpPr>
          <p:cNvPr id="15" name="">
            <a:extLst xmlns:a="http://schemas.openxmlformats.org/drawingml/2006/main">
              <a:ext uri="{FF2B5EF4-FFF2-40B4-BE49-F238E27FC236}">
                <a16:creationId xmlns:a16="http://schemas.microsoft.com/office/drawing/2014/main" id="{C0716343-8058-4959-BC6A-13238D8CE2F5}"/>
              </a:ext>
            </a:extLst>
          </p:cNvPr>
          <p:cNvSpPr>
            <a:spLocks xmlns:a="http://schemas.openxmlformats.org/drawingml/2006/main" noGrp="1"/>
          </p:cNvSpPr>
          <p:nvPr/>
        </p:nvSpPr>
        <p:spPr>
          <a:xfrm xmlns:a="http://schemas.openxmlformats.org/drawingml/2006/main">
            <a:off x="1181100" y="5048250"/>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275" b="0" i="0">
                <a:solidFill>
                  <a:srgbClr val="168E91"/>
                </a:solidFill>
                <a:latin typeface="DejaVu Sans"/>
                <a:ea typeface="DejaVu Sans"/>
                <a:cs typeface="DejaVu Sans"/>
              </a:defRPr>
            </a:defPPr>
          </a:lstStyle>
          <a:p xmlns:a="http://schemas.openxmlformats.org/drawingml/2006/main">
            <a:pPr algn="l">
              <a:lnSpc>
                <a:spcPct val="110000"/>
              </a:lnSpc>
              <a:buNone/>
              <a:defRPr sz="1275" b="0" i="0">
                <a:solidFill>
                  <a:srgbClr val="168E91"/>
                </a:solidFill>
                <a:latin typeface="DejaVu Sans"/>
                <a:ea typeface="DejaVu Sans"/>
                <a:cs typeface="DejaVu Sans"/>
              </a:defRPr>
            </a:pPr>
            <a:r>
              <a:rPr sz="1275" b="0" i="0">
                <a:solidFill>
                  <a:srgbClr val="168E91"/>
                </a:solidFill>
                <a:latin typeface="DejaVu Sans"/>
                <a:ea typeface="DejaVu Sans"/>
                <a:cs typeface="DejaVu Sans"/>
                <a:hlinkClick xmlns:r="http://schemas.openxmlformats.org/officeDocument/2006/relationships" r:id="Rbe95b6faa6d3433f"/>
              </a:rPr>
              <a:t>doi.org/10.3389/fpls.2025.1568057</a:t>
            </a:r>
          </a:p>
        </p:txBody>
      </p:sp>
    </p:spTree>
    <p:extLst>
      <p:ext uri="{BB962C8B-B14F-4D97-AF65-F5344CB8AC3E}">
        <p14:creationId xmlns:p14="http://schemas.microsoft.com/office/powerpoint/2010/main" val="2132720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2026-10-28T20:16:50.3120000Z</dcterms:created>
  <dcterms:modified xsi:type="dcterms:W3CDTF">2026-10-28T20:16:50.3150000Z</dcterms:modified>
</coreProperties>
</file>